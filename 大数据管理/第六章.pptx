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</p:sldMasterIdLst>
  <p:notesMasterIdLst>
    <p:notesMasterId r:id="rId15"/>
  </p:notesMasterIdLst>
  <p:sldIdLst>
    <p:sldId id="413" r:id="rId4"/>
    <p:sldId id="420" r:id="rId5"/>
    <p:sldId id="400" r:id="rId6"/>
    <p:sldId id="426" r:id="rId7"/>
    <p:sldId id="360" r:id="rId8"/>
    <p:sldId id="361" r:id="rId9"/>
    <p:sldId id="362" r:id="rId10"/>
    <p:sldId id="363" r:id="rId11"/>
    <p:sldId id="401" r:id="rId12"/>
    <p:sldId id="364" r:id="rId13"/>
    <p:sldId id="365" r:id="rId14"/>
    <p:sldId id="366" r:id="rId16"/>
    <p:sldId id="367" r:id="rId17"/>
    <p:sldId id="478" r:id="rId18"/>
    <p:sldId id="456" r:id="rId19"/>
    <p:sldId id="402" r:id="rId20"/>
    <p:sldId id="368" r:id="rId21"/>
    <p:sldId id="369" r:id="rId22"/>
    <p:sldId id="370" r:id="rId23"/>
    <p:sldId id="371" r:id="rId24"/>
    <p:sldId id="372" r:id="rId25"/>
    <p:sldId id="373" r:id="rId26"/>
    <p:sldId id="374" r:id="rId27"/>
    <p:sldId id="375" r:id="rId28"/>
    <p:sldId id="376" r:id="rId29"/>
    <p:sldId id="450" r:id="rId30"/>
    <p:sldId id="377" r:id="rId31"/>
    <p:sldId id="446" r:id="rId32"/>
    <p:sldId id="378" r:id="rId33"/>
    <p:sldId id="379" r:id="rId34"/>
    <p:sldId id="380" r:id="rId35"/>
    <p:sldId id="381" r:id="rId36"/>
    <p:sldId id="382" r:id="rId37"/>
    <p:sldId id="383" r:id="rId38"/>
    <p:sldId id="384" r:id="rId39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576" autoAdjust="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gs" Target="tags/tag4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A424B-F2C7-4EC9-8DA2-5CFAACF65E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Elastic Compute Cloud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626675"/>
                </a:solidFill>
                <a:effectLst/>
                <a:latin typeface="Arial" panose="020B0604020202020204" pitchFamily="34" charset="0"/>
              </a:rPr>
              <a:t>S3 Simple Storage Service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追随着先驱者们的步伐，</a:t>
            </a:r>
            <a:r>
              <a:rPr lang="en-US" altLang="zh-CN" dirty="0"/>
              <a:t>2009</a:t>
            </a:r>
            <a:r>
              <a:rPr lang="zh-CN" altLang="en-US" dirty="0"/>
              <a:t>年阿里云诞生。几年实验下来，阿里云发现，天猫双</a:t>
            </a:r>
            <a:r>
              <a:rPr lang="en-US" altLang="zh-CN" dirty="0"/>
              <a:t>11</a:t>
            </a:r>
            <a:r>
              <a:rPr lang="zh-CN" altLang="en-US" dirty="0"/>
              <a:t>的流量就像太平洋一样广阔无边，市面上的任何数据库都已无法承接。要想应对这场世界独一无二的挑战，阿里云的数据库就不能再重走老路，而是要另辟赛道，自研基于云的数据库产品。</a:t>
            </a:r>
            <a:endParaRPr lang="zh-CN" altLang="en-US" dirty="0"/>
          </a:p>
          <a:p>
            <a:r>
              <a:rPr lang="en-US" altLang="zh-CN" dirty="0"/>
              <a:t>2017</a:t>
            </a:r>
            <a:r>
              <a:rPr lang="zh-CN" altLang="en-US" dirty="0"/>
              <a:t>年阿里云发布了</a:t>
            </a:r>
            <a:r>
              <a:rPr lang="en-US" altLang="zh-CN" dirty="0" err="1"/>
              <a:t>PolarDB</a:t>
            </a:r>
            <a:r>
              <a:rPr lang="en-US" altLang="zh-CN" dirty="0"/>
              <a:t> 1.0</a:t>
            </a:r>
            <a:r>
              <a:rPr lang="zh-CN" altLang="en-US" dirty="0"/>
              <a:t>后，其性能让行业为之兴奋。它在创建只读副本时，不仅时间缩短了</a:t>
            </a:r>
            <a:r>
              <a:rPr lang="en-US" altLang="zh-CN" dirty="0"/>
              <a:t>2000</a:t>
            </a:r>
            <a:r>
              <a:rPr lang="zh-CN" altLang="en-US" dirty="0"/>
              <a:t>多倍，成本也缩减至十分之一。</a:t>
            </a:r>
            <a:endParaRPr lang="zh-CN" altLang="en-US" dirty="0"/>
          </a:p>
          <a:p>
            <a:pPr eaLnBrk="1" hangingPunct="1"/>
            <a:r>
              <a:rPr lang="zh-CN" altLang="en-US" dirty="0"/>
              <a:t>在云计算新战场，中国数据库开始反守为攻，一举撕开了传统数据库的困局！除了实现阿里核心系统百分百上云，近年来，阿里云的</a:t>
            </a:r>
            <a:r>
              <a:rPr lang="en-US" altLang="zh-CN" dirty="0" err="1"/>
              <a:t>PolarDB</a:t>
            </a:r>
            <a:r>
              <a:rPr lang="zh-CN" altLang="en-US" dirty="0"/>
              <a:t>数据库还将数据统计和分析将能力赋能到其他合作伙伴，帮助几十万企业从传统数据库迁移至云上的数据库。</a:t>
            </a:r>
            <a:endParaRPr lang="zh-CN" altLang="en-US" dirty="0"/>
          </a:p>
          <a:p>
            <a:pPr eaLnBrk="1" hangingPunct="1"/>
            <a:r>
              <a:rPr lang="zh-CN" altLang="en-US" dirty="0"/>
              <a:t>这下，用上中国企业自研数据库的公司不仅不再受限，连使用成本都下降了</a:t>
            </a:r>
            <a:r>
              <a:rPr lang="en-US" altLang="zh-CN" dirty="0"/>
              <a:t>50%</a:t>
            </a:r>
            <a:r>
              <a:rPr lang="zh-CN" altLang="en-US" dirty="0"/>
              <a:t>以上！</a:t>
            </a:r>
            <a:endParaRPr lang="zh-CN" altLang="en-US" dirty="0"/>
          </a:p>
          <a:p>
            <a:pPr eaLnBrk="1" hangingPunct="1"/>
            <a:r>
              <a:rPr lang="en-US" altLang="zh-CN" dirty="0"/>
              <a:t>2018</a:t>
            </a:r>
            <a:r>
              <a:rPr lang="zh-CN" altLang="en-US" dirty="0"/>
              <a:t>年至</a:t>
            </a:r>
            <a:r>
              <a:rPr lang="en-US" altLang="zh-CN" dirty="0"/>
              <a:t>2020</a:t>
            </a:r>
            <a:r>
              <a:rPr lang="zh-CN" altLang="en-US" dirty="0"/>
              <a:t>年，在全球权威的</a:t>
            </a:r>
            <a:r>
              <a:rPr lang="en-US" altLang="zh-CN" dirty="0"/>
              <a:t>Gartner</a:t>
            </a:r>
            <a:r>
              <a:rPr lang="zh-CN" altLang="en-US" dirty="0"/>
              <a:t>数据库魔力象限评选中，阿里云连续三年入选全球数据库魔力象限，今年更是首次挺进全球数据库第一阵营</a:t>
            </a:r>
            <a:r>
              <a:rPr lang="en-US" altLang="zh-CN" dirty="0"/>
              <a:t>——</a:t>
            </a:r>
            <a:r>
              <a:rPr lang="zh-CN" altLang="en-US" dirty="0"/>
              <a:t>领导者象限。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从落后国外</a:t>
            </a:r>
            <a:r>
              <a:rPr lang="en-US" altLang="zh-CN" dirty="0"/>
              <a:t>10</a:t>
            </a:r>
            <a:r>
              <a:rPr lang="zh-CN" altLang="en-US" dirty="0"/>
              <a:t>余年到一步步抢夺回中国市场，中国数据库公司终于凭实力从“挑战者”晋升为“领导者”，与国外科技巨头站在了同一个舞台上竞技，且毫不逊色。如今，以开源、分布式和云计算为主导的新数据库时代已经到来，面对这场新的“世界大战”，中国数据库绝对有实力和底气在全球市场占领一席之地！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1371601"/>
            <a:ext cx="10871200" cy="47545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1371601"/>
            <a:ext cx="10871200" cy="475456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524000" y="76200"/>
            <a:ext cx="10668000" cy="9144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jpe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b="1" dirty="0">
                <a:solidFill>
                  <a:schemeClr val="tx1"/>
                </a:solidFill>
              </a:rPr>
              <a:t>第</a:t>
            </a:r>
            <a:r>
              <a:rPr lang="en-US" altLang="zh-CN" sz="6000" b="1" dirty="0">
                <a:solidFill>
                  <a:schemeClr val="tx1"/>
                </a:solidFill>
              </a:rPr>
              <a:t>6</a:t>
            </a:r>
            <a:r>
              <a:rPr lang="zh-CN" altLang="en-US" sz="6000" b="1" dirty="0">
                <a:solidFill>
                  <a:schemeClr val="tx1"/>
                </a:solidFill>
              </a:rPr>
              <a:t>章 云数据库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4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chemeClr val="tx1"/>
                </a:solidFill>
              </a:rPr>
              <a:t>第</a:t>
            </a:r>
            <a:r>
              <a:rPr lang="en-US" altLang="zh-CN" sz="4400" b="1" dirty="0">
                <a:solidFill>
                  <a:schemeClr val="tx1"/>
                </a:solidFill>
              </a:rPr>
              <a:t>6</a:t>
            </a:r>
            <a:r>
              <a:rPr lang="zh-CN" altLang="en-US" sz="4400" b="1" dirty="0">
                <a:solidFill>
                  <a:schemeClr val="tx1"/>
                </a:solidFill>
              </a:rPr>
              <a:t>章 云数据库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851866" y="1569095"/>
            <a:ext cx="2488267" cy="590550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6.3 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系统架构</a:t>
            </a:r>
            <a:endParaRPr lang="zh-CN" altLang="en-US" sz="2800" b="1" dirty="0"/>
          </a:p>
        </p:txBody>
      </p:sp>
      <p:sp>
        <p:nvSpPr>
          <p:cNvPr id="8" name="圆角矩形 4"/>
          <p:cNvSpPr/>
          <p:nvPr/>
        </p:nvSpPr>
        <p:spPr>
          <a:xfrm>
            <a:off x="838200" y="2612059"/>
            <a:ext cx="1777181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6.1 </a:t>
            </a:r>
            <a:r>
              <a:rPr kumimoji="1" lang="en-US" altLang="en-US" sz="2800" b="1" dirty="0" err="1">
                <a:solidFill>
                  <a:srgbClr val="000000"/>
                </a:solidFill>
                <a:ea typeface="黑体" panose="02010609060101010101" pitchFamily="49" charset="-122"/>
              </a:rPr>
              <a:t>概述</a:t>
            </a:r>
            <a:endParaRPr kumimoji="1" lang="zh-CN" altLang="en-US" sz="2800" b="1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9" name="圆角矩形 5"/>
          <p:cNvSpPr/>
          <p:nvPr/>
        </p:nvSpPr>
        <p:spPr>
          <a:xfrm>
            <a:off x="9283403" y="2612059"/>
            <a:ext cx="2070397" cy="59055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6.2 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产品</a:t>
            </a:r>
            <a:endParaRPr lang="zh-CN" altLang="en-US" sz="2800" b="1" dirty="0"/>
          </a:p>
        </p:txBody>
      </p:sp>
      <p:grpSp>
        <p:nvGrpSpPr>
          <p:cNvPr id="42" name="组合 41"/>
          <p:cNvGrpSpPr/>
          <p:nvPr/>
        </p:nvGrpSpPr>
        <p:grpSpPr>
          <a:xfrm>
            <a:off x="3933382" y="1783011"/>
            <a:ext cx="4483762" cy="4337015"/>
            <a:chOff x="3658078" y="1260492"/>
            <a:chExt cx="4483762" cy="4337015"/>
          </a:xfrm>
        </p:grpSpPr>
        <p:pic>
          <p:nvPicPr>
            <p:cNvPr id="19" name="图形 18" descr="云 纯色填充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58078" y="1260492"/>
              <a:ext cx="4483762" cy="4337015"/>
            </a:xfrm>
            <a:prstGeom prst="rect">
              <a:avLst/>
            </a:prstGeom>
          </p:spPr>
        </p:pic>
        <p:grpSp>
          <p:nvGrpSpPr>
            <p:cNvPr id="41" name="组合 40"/>
            <p:cNvGrpSpPr/>
            <p:nvPr/>
          </p:nvGrpSpPr>
          <p:grpSpPr>
            <a:xfrm>
              <a:off x="4748589" y="3665594"/>
              <a:ext cx="2302740" cy="1805447"/>
              <a:chOff x="8830829" y="2699534"/>
              <a:chExt cx="2302740" cy="2653519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8830830" y="4261668"/>
                <a:ext cx="2302739" cy="1091385"/>
                <a:chOff x="9033877" y="1649192"/>
                <a:chExt cx="1877469" cy="1045188"/>
              </a:xfrm>
            </p:grpSpPr>
            <p:sp>
              <p:nvSpPr>
                <p:cNvPr id="26" name="流程图: 磁盘 25"/>
                <p:cNvSpPr/>
                <p:nvPr/>
              </p:nvSpPr>
              <p:spPr>
                <a:xfrm>
                  <a:off x="9033877" y="1702592"/>
                  <a:ext cx="1877469" cy="991788"/>
                </a:xfrm>
                <a:prstGeom prst="flowChartMagneticDisk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>
                  <a:off x="9033877" y="1649192"/>
                  <a:ext cx="1877469" cy="5297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8830829" y="3480601"/>
                <a:ext cx="2302739" cy="1045188"/>
                <a:chOff x="9033877" y="1649192"/>
                <a:chExt cx="1877469" cy="1045188"/>
              </a:xfrm>
            </p:grpSpPr>
            <p:sp>
              <p:nvSpPr>
                <p:cNvPr id="36" name="流程图: 磁盘 35"/>
                <p:cNvSpPr/>
                <p:nvPr/>
              </p:nvSpPr>
              <p:spPr>
                <a:xfrm>
                  <a:off x="9033877" y="1702592"/>
                  <a:ext cx="1877469" cy="991788"/>
                </a:xfrm>
                <a:prstGeom prst="flowChartMagneticDisk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37" name="椭圆 36"/>
                <p:cNvSpPr/>
                <p:nvPr/>
              </p:nvSpPr>
              <p:spPr>
                <a:xfrm>
                  <a:off x="9033877" y="1649192"/>
                  <a:ext cx="1877469" cy="52979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8830829" y="2699534"/>
                <a:ext cx="2302739" cy="1045188"/>
                <a:chOff x="9033877" y="1649192"/>
                <a:chExt cx="1877469" cy="1045188"/>
              </a:xfrm>
            </p:grpSpPr>
            <p:sp>
              <p:nvSpPr>
                <p:cNvPr id="39" name="流程图: 磁盘 38"/>
                <p:cNvSpPr/>
                <p:nvPr/>
              </p:nvSpPr>
              <p:spPr>
                <a:xfrm>
                  <a:off x="9033877" y="1702592"/>
                  <a:ext cx="1877469" cy="991788"/>
                </a:xfrm>
                <a:prstGeom prst="flowChartMagneticDisk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9033877" y="1649192"/>
                  <a:ext cx="1877469" cy="52979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400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6.1	</a:t>
            </a:r>
            <a:r>
              <a:rPr lang="zh-CN" altLang="en-US" b="1" dirty="0"/>
              <a:t>云数据库概述</a:t>
            </a:r>
            <a:endParaRPr lang="zh-CN" altLang="en-US" b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52052" y="183545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6.1.1	</a:t>
            </a:r>
            <a:r>
              <a:rPr lang="zh-CN" altLang="en-US" dirty="0"/>
              <a:t>云计算是云数据库兴起的基础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6.1.2	</a:t>
            </a:r>
            <a:r>
              <a:rPr lang="zh-CN" altLang="en-US" dirty="0"/>
              <a:t>云数据库概念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6.1.3	</a:t>
            </a:r>
            <a:r>
              <a:rPr lang="zh-CN" altLang="en-US" dirty="0"/>
              <a:t>云数据库的特性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6.1.4	</a:t>
            </a:r>
            <a:r>
              <a:rPr lang="zh-CN" altLang="en-US" dirty="0"/>
              <a:t>云数据库是个性化数据存储需求的理想选择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6.1.5	</a:t>
            </a:r>
            <a:r>
              <a:rPr lang="zh-CN" altLang="en-US" dirty="0"/>
              <a:t>云数据库与其他数据库的关系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6.1.1	</a:t>
            </a:r>
            <a:r>
              <a:rPr lang="en-US" altLang="en-US" b="1" dirty="0" err="1"/>
              <a:t>云计算是云数据库兴起的基础</a:t>
            </a:r>
            <a:endParaRPr lang="zh-CN" altLang="en-US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975850" y="1435281"/>
            <a:ext cx="3468329" cy="5257442"/>
            <a:chOff x="6705600" y="1295400"/>
            <a:chExt cx="3124200" cy="5029200"/>
          </a:xfrm>
        </p:grpSpPr>
        <p:sp>
          <p:nvSpPr>
            <p:cNvPr id="6148" name="AutoShape 20"/>
            <p:cNvSpPr>
              <a:spLocks noChangeArrowheads="1"/>
            </p:cNvSpPr>
            <p:nvPr/>
          </p:nvSpPr>
          <p:spPr bwMode="auto">
            <a:xfrm>
              <a:off x="6705600" y="1295400"/>
              <a:ext cx="3124200" cy="502920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rgbClr val="0099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>
                <a:cs typeface="Arial" panose="020B0604020202020204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010400" y="2032000"/>
              <a:ext cx="2514600" cy="952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buFontTx/>
                <a:buChar char="•"/>
                <a:defRPr/>
              </a:pPr>
              <a:r>
                <a:rPr kumimoji="1"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通过整合、管理、调配分布在网络各处的计算资源，通过互联网以统一界面，同时向大量的用户提供服务</a:t>
              </a:r>
              <a:endParaRPr kumimoji="1"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010400" y="1600200"/>
              <a:ext cx="2514600" cy="376238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>
                  <a:solidFill>
                    <a:srgbClr val="000000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rPr>
                <a:t>云计算概念</a:t>
              </a:r>
              <a:endParaRPr lang="zh-CN" altLang="en-US">
                <a:solidFill>
                  <a:srgbClr val="000000"/>
                </a:solidFill>
                <a:latin typeface="Lucida Sans Unicode" panose="020B0602030504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" name="TextBox 27"/>
            <p:cNvSpPr txBox="1"/>
            <p:nvPr/>
          </p:nvSpPr>
          <p:spPr>
            <a:xfrm>
              <a:off x="7011988" y="3128964"/>
              <a:ext cx="2513012" cy="37623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>
                  <a:solidFill>
                    <a:schemeClr val="tx1"/>
                  </a:solidFill>
                  <a:latin typeface="Lucida Sans Unicode" panose="020B0602030504020204" pitchFamily="34" charset="0"/>
                  <a:ea typeface="黑体" panose="02010609060101010101" pitchFamily="49" charset="-122"/>
                </a:rPr>
                <a:t>云计算特点</a:t>
              </a:r>
              <a:endParaRPr lang="zh-CN" altLang="en-US">
                <a:solidFill>
                  <a:schemeClr val="tx1"/>
                </a:solidFill>
                <a:latin typeface="Lucida Sans Unicode" panose="020B0602030504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TextBox 27"/>
            <p:cNvSpPr txBox="1"/>
            <p:nvPr/>
          </p:nvSpPr>
          <p:spPr>
            <a:xfrm>
              <a:off x="7011988" y="3581400"/>
              <a:ext cx="2513012" cy="952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1400">
                  <a:latin typeface="黑体" panose="02010609060101010101" pitchFamily="49" charset="-122"/>
                  <a:ea typeface="黑体" panose="02010609060101010101" pitchFamily="49" charset="-122"/>
                </a:rPr>
                <a:t>超大规模计算、虚拟化、高可靠性和安全性、通用性、动态扩展性、按需服务、降低成本</a:t>
              </a:r>
              <a:endParaRPr kumimoji="1"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0" name="TextBox 27"/>
            <p:cNvSpPr txBox="1">
              <a:spLocks noChangeArrowheads="1"/>
            </p:cNvSpPr>
            <p:nvPr/>
          </p:nvSpPr>
          <p:spPr bwMode="auto">
            <a:xfrm>
              <a:off x="7010401" y="4724400"/>
              <a:ext cx="2513013" cy="376238"/>
            </a:xfrm>
            <a:prstGeom prst="rect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</a:ln>
            <a:effectLst>
              <a:outerShdw dist="38100" dir="5400000" rotWithShape="0">
                <a:srgbClr val="000000">
                  <a:alpha val="34999"/>
                </a:srgbClr>
              </a:outer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>
                  <a:latin typeface="Lucida Sans Unicode" panose="020B0602030504020204" pitchFamily="34" charset="0"/>
                  <a:ea typeface="黑体" panose="02010609060101010101" pitchFamily="49" charset="-122"/>
                </a:rPr>
                <a:t>云计算应用场景</a:t>
              </a:r>
              <a:endParaRPr lang="zh-CN" altLang="en-US">
                <a:latin typeface="Lucida Sans Unicode" panose="020B0602030504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1" name="TextBox 27"/>
            <p:cNvSpPr txBox="1"/>
            <p:nvPr/>
          </p:nvSpPr>
          <p:spPr>
            <a:xfrm>
              <a:off x="7010401" y="5176838"/>
              <a:ext cx="2513013" cy="952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1400">
                  <a:latin typeface="黑体" panose="02010609060101010101" pitchFamily="49" charset="-122"/>
                  <a:ea typeface="黑体" panose="02010609060101010101" pitchFamily="49" charset="-122"/>
                </a:rPr>
                <a:t>Google</a:t>
              </a:r>
              <a:r>
                <a:rPr kumimoji="1" lang="zh-CN" altLang="en-US" sz="1400">
                  <a:latin typeface="黑体" panose="02010609060101010101" pitchFamily="49" charset="-122"/>
                  <a:ea typeface="黑体" panose="02010609060101010101" pitchFamily="49" charset="-122"/>
                </a:rPr>
                <a:t>个人云服务</a:t>
              </a:r>
              <a:endParaRPr kumimoji="1" lang="zh-CN" altLang="en-US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ct val="50000"/>
                </a:spcBef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zh-CN" altLang="en-US" sz="1400">
                  <a:latin typeface="黑体" panose="02010609060101010101" pitchFamily="49" charset="-122"/>
                  <a:ea typeface="黑体" panose="02010609060101010101" pitchFamily="49" charset="-122"/>
                </a:rPr>
                <a:t>企业应用实例：</a:t>
              </a:r>
              <a:r>
                <a:rPr kumimoji="1" lang="en-US" altLang="zh-CN" sz="1400">
                  <a:latin typeface="黑体" panose="02010609060101010101" pitchFamily="49" charset="-122"/>
                  <a:ea typeface="黑体" panose="02010609060101010101" pitchFamily="49" charset="-122"/>
                </a:rPr>
                <a:t>Animoto</a:t>
              </a:r>
              <a:endParaRPr kumimoji="1" lang="en-US" altLang="zh-CN" sz="140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ct val="50000"/>
                </a:spcBef>
                <a:buSzPct val="50000"/>
                <a:buFont typeface="Wingdings" panose="05000000000000000000" pitchFamily="2" charset="2"/>
                <a:buChar char="n"/>
                <a:defRPr/>
              </a:pPr>
              <a:r>
                <a:rPr kumimoji="1" lang="en-US" altLang="zh-CN" sz="1400">
                  <a:latin typeface="黑体" panose="02010609060101010101" pitchFamily="49" charset="-122"/>
                  <a:ea typeface="黑体" panose="02010609060101010101" pitchFamily="49" charset="-122"/>
                </a:rPr>
                <a:t>Amazon</a:t>
              </a:r>
              <a:endParaRPr kumimoji="1" lang="en-US" altLang="zh-CN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4985780" y="1508547"/>
          <a:ext cx="526926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461"/>
                <a:gridCol w="1642406"/>
                <a:gridCol w="12703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软件使用方式</a:t>
                      </a:r>
                      <a:endParaRPr lang="zh-CN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传统</a:t>
                      </a:r>
                      <a:endParaRPr lang="en-US" altLang="zh-C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云计算</a:t>
                      </a:r>
                      <a:endParaRPr lang="zh-CN" alt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985780" y="5827354"/>
          <a:ext cx="2356461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461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资源利用率</a:t>
                      </a:r>
                      <a:endParaRPr lang="zh-CN" alt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985779" y="3937262"/>
          <a:ext cx="2356461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461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维护、</a:t>
                      </a:r>
                      <a:endParaRPr lang="en-US" altLang="zh-CN" sz="2800" dirty="0"/>
                    </a:p>
                    <a:p>
                      <a:pPr algn="l"/>
                      <a:r>
                        <a:rPr lang="zh-CN" altLang="en-US" sz="2800" dirty="0"/>
                        <a:t>维修、</a:t>
                      </a:r>
                      <a:endParaRPr lang="en-US" altLang="zh-CN" sz="2800" dirty="0"/>
                    </a:p>
                    <a:p>
                      <a:pPr algn="l"/>
                      <a:r>
                        <a:rPr lang="zh-CN" altLang="en-US" sz="2800" dirty="0"/>
                        <a:t>搬迁、</a:t>
                      </a:r>
                      <a:endParaRPr lang="en-US" altLang="zh-CN" sz="2800" dirty="0"/>
                    </a:p>
                    <a:p>
                      <a:pPr algn="l"/>
                      <a:r>
                        <a:rPr lang="zh-CN" altLang="en-US" sz="2800" dirty="0"/>
                        <a:t>扩展</a:t>
                      </a:r>
                      <a:endParaRPr lang="zh-CN" alt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985779" y="2082824"/>
          <a:ext cx="2356461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461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/>
                        <a:t>获取、</a:t>
                      </a:r>
                      <a:endParaRPr lang="en-US" altLang="zh-CN" sz="2800" dirty="0"/>
                    </a:p>
                    <a:p>
                      <a:pPr algn="l"/>
                      <a:r>
                        <a:rPr lang="zh-CN" altLang="en-US" sz="2800" dirty="0"/>
                        <a:t>使用、</a:t>
                      </a:r>
                      <a:endParaRPr lang="en-US" altLang="zh-CN" sz="2800" dirty="0"/>
                    </a:p>
                    <a:p>
                      <a:pPr algn="l"/>
                      <a:r>
                        <a:rPr lang="zh-CN" altLang="en-US" sz="2800" dirty="0"/>
                        <a:t>费用、</a:t>
                      </a:r>
                      <a:endParaRPr lang="en-US" altLang="zh-CN" sz="2800" dirty="0"/>
                    </a:p>
                    <a:p>
                      <a:pPr algn="l"/>
                      <a:r>
                        <a:rPr lang="zh-CN" altLang="en-US" sz="2800" dirty="0"/>
                        <a:t>周期</a:t>
                      </a:r>
                      <a:endParaRPr lang="zh-CN" altLang="en-US" sz="28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342240" y="2082824"/>
          <a:ext cx="2912804" cy="179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2406"/>
                <a:gridCol w="12703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买买买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安装配置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大额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长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买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联网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按需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即用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342262" y="3932134"/>
          <a:ext cx="2912804" cy="1798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2406"/>
                <a:gridCol w="12703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得专业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得更专业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体力活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买买买等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…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en-US" altLang="zh-CN" sz="2800" dirty="0"/>
                        <a:t>…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en-US" altLang="zh-CN" sz="2800" dirty="0"/>
                        <a:t>…</a:t>
                      </a:r>
                      <a:endParaRPr lang="en-US" altLang="zh-CN" sz="2800" dirty="0"/>
                    </a:p>
                    <a:p>
                      <a:pPr algn="ctr"/>
                      <a:r>
                        <a:rPr lang="zh-CN" altLang="en-US" sz="2800" dirty="0"/>
                        <a:t>加购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7342240" y="5822226"/>
          <a:ext cx="2912804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42406"/>
                <a:gridCol w="127039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低</a:t>
                      </a:r>
                      <a:endParaRPr lang="zh-CN" altLang="en-US" sz="2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/>
                        <a:t>高</a:t>
                      </a:r>
                      <a:endParaRPr lang="zh-CN" altLang="en-US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6.1.2	</a:t>
            </a:r>
            <a:r>
              <a:rPr lang="en-US" altLang="en-US" b="1" dirty="0" err="1"/>
              <a:t>云数据库概念</a:t>
            </a:r>
            <a:endParaRPr lang="zh-CN" altLang="en-US" b="1" dirty="0"/>
          </a:p>
        </p:txBody>
      </p:sp>
      <p:pic>
        <p:nvPicPr>
          <p:cNvPr id="717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44" y="2057785"/>
            <a:ext cx="5648129" cy="3709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6677206" y="1763864"/>
            <a:ext cx="5121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部署在云计算环境中的虚拟化数据库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6677206" y="5043103"/>
            <a:ext cx="5121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增强存储、避免重复配置、升级容易，</a:t>
            </a:r>
            <a:endParaRPr lang="en-US" altLang="zh-CN" sz="2400" dirty="0"/>
          </a:p>
          <a:p>
            <a:r>
              <a:rPr lang="zh-CN" altLang="en-US" sz="2400" dirty="0"/>
              <a:t>同时虚拟化了许多后端功能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6677206" y="3305785"/>
            <a:ext cx="5121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允许用户以服务的方式通过网络获得云端数据库的功能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6.1.3	</a:t>
            </a:r>
            <a:r>
              <a:rPr lang="en-US" altLang="en-US" b="1" dirty="0" err="1"/>
              <a:t>云数据库的特性</a:t>
            </a:r>
            <a:endParaRPr lang="zh-CN" alt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558" y="1729724"/>
            <a:ext cx="8710415" cy="4385860"/>
          </a:xfrm>
          <a:prstGeom prst="rect">
            <a:avLst/>
          </a:prstGeom>
        </p:spPr>
      </p:pic>
      <p:sp>
        <p:nvSpPr>
          <p:cNvPr id="8196" name="Rectangle 6"/>
          <p:cNvSpPr>
            <a:spLocks noChangeArrowheads="1"/>
          </p:cNvSpPr>
          <p:nvPr/>
        </p:nvSpPr>
        <p:spPr bwMode="auto">
          <a:xfrm>
            <a:off x="275787" y="1729724"/>
            <a:ext cx="2909771" cy="4532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动态可扩展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高可用性 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较低使用代价 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易用性 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高性能 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免维护 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b="1" dirty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安全  </a:t>
            </a:r>
            <a:endParaRPr lang="zh-CN" altLang="en-US" sz="2800" b="1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/>
              <a:t>6.1.4	 </a:t>
            </a:r>
            <a:r>
              <a:rPr lang="zh-CN" altLang="en-US" sz="3600" b="1" dirty="0"/>
              <a:t>云数据库是个性化数据存储需求的理想选择</a:t>
            </a:r>
            <a:endParaRPr lang="zh-CN" altLang="en-US" sz="3600" b="1" dirty="0"/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1091381" y="1473914"/>
            <a:ext cx="6243484" cy="259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满足不同企业的个性化存储需求：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大企业</a:t>
            </a:r>
            <a:r>
              <a:rPr lang="en-US" altLang="zh-CN" sz="2800" dirty="0"/>
              <a:t>--</a:t>
            </a:r>
            <a:r>
              <a:rPr lang="zh-CN" altLang="en-US" sz="2800" dirty="0"/>
              <a:t>海量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中小企业</a:t>
            </a:r>
            <a:r>
              <a:rPr lang="en-US" altLang="zh-CN" sz="2800" dirty="0"/>
              <a:t>--</a:t>
            </a:r>
            <a:r>
              <a:rPr lang="zh-CN" altLang="en-US" sz="2800" dirty="0"/>
              <a:t>低成本存储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动态变化的数据存储</a:t>
            </a:r>
            <a:endParaRPr lang="zh-CN" altLang="en-US" sz="2800" dirty="0"/>
          </a:p>
        </p:txBody>
      </p:sp>
      <p:sp>
        <p:nvSpPr>
          <p:cNvPr id="9220" name="Rectangle 5"/>
          <p:cNvSpPr>
            <a:spLocks noChangeArrowheads="1"/>
          </p:cNvSpPr>
          <p:nvPr/>
        </p:nvSpPr>
        <p:spPr bwMode="auto">
          <a:xfrm>
            <a:off x="1091381" y="4410261"/>
            <a:ext cx="10166554" cy="1947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自建还是云数据库，取决于企业自身的具体需求 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大型企业：通常采用自建数据库 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/>
              <a:t>财力有限的中小企业：前期零投入、后期免维护的云数据库</a:t>
            </a:r>
            <a:endParaRPr lang="zh-CN" altLang="en-US" sz="2400" dirty="0"/>
          </a:p>
        </p:txBody>
      </p:sp>
      <p:pic>
        <p:nvPicPr>
          <p:cNvPr id="2" name="Picture 3" descr="云计算示意图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212" y="1473914"/>
            <a:ext cx="4973588" cy="2960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19" grpId="1"/>
      <p:bldP spid="9220" grpId="0"/>
      <p:bldP spid="922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6.1.5	</a:t>
            </a:r>
            <a:r>
              <a:rPr lang="zh-CN" altLang="en-US" b="1" dirty="0"/>
              <a:t>云数据库与其他数据库的关系</a:t>
            </a:r>
            <a:endParaRPr lang="zh-CN" altLang="en-US" b="1" dirty="0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513183" y="1865210"/>
            <a:ext cx="4245078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400" dirty="0"/>
              <a:t>从数据模型的角度来说，云数据库并非一种全新的数据库技术，而只是以服务的方式提供数据库功能</a:t>
            </a:r>
            <a:endParaRPr lang="en-US" altLang="zh-CN" sz="2400" dirty="0"/>
          </a:p>
          <a:p>
            <a:pPr>
              <a:buFontTx/>
              <a:buChar char="•"/>
            </a:pPr>
            <a:endParaRPr lang="en-US" altLang="zh-CN" sz="2400" dirty="0"/>
          </a:p>
          <a:p>
            <a:pPr>
              <a:buFontTx/>
              <a:buChar char="•"/>
            </a:pPr>
            <a:endParaRPr lang="en-US" altLang="zh-CN" sz="2400" dirty="0"/>
          </a:p>
          <a:p>
            <a:pPr>
              <a:buFontTx/>
              <a:buChar char="•"/>
            </a:pPr>
            <a:endParaRPr lang="zh-CN" altLang="en-US" sz="2400" dirty="0"/>
          </a:p>
          <a:p>
            <a:pPr>
              <a:buFontTx/>
              <a:buChar char="•"/>
            </a:pPr>
            <a:r>
              <a:rPr lang="zh-CN" altLang="en-US" sz="2400" dirty="0"/>
              <a:t>云数据库并没有专属于自己的数据模型，云数据库所采用的数据模型可以是关系数据库所使用的关系模型</a:t>
            </a:r>
            <a:endParaRPr lang="en-US" altLang="zh-CN" sz="2400" dirty="0"/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156" y="1690688"/>
            <a:ext cx="7017056" cy="4743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	</a:t>
            </a:r>
            <a:r>
              <a:rPr lang="zh-CN" altLang="en-US" b="1" dirty="0"/>
              <a:t>云数据库产品</a:t>
            </a:r>
            <a:endParaRPr lang="zh-CN" altLang="en-US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34065" y="1825625"/>
            <a:ext cx="533165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6.2.1	</a:t>
            </a:r>
            <a:r>
              <a:rPr lang="zh-CN" altLang="en-US" dirty="0"/>
              <a:t>云数据库厂商概述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6.2.2	Amazon</a:t>
            </a:r>
            <a:r>
              <a:rPr lang="zh-CN" altLang="en-US" dirty="0"/>
              <a:t>的云数据库产品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6.2.3	Google</a:t>
            </a:r>
            <a:r>
              <a:rPr lang="zh-CN" altLang="en-US" dirty="0"/>
              <a:t>的云数据库产品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6.2.4	Microsoft</a:t>
            </a:r>
            <a:r>
              <a:rPr lang="zh-CN" altLang="en-US" dirty="0"/>
              <a:t>的云数据库产品</a:t>
            </a:r>
            <a:endParaRPr lang="zh-CN" alt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/>
              <a:t>6.2.5	</a:t>
            </a:r>
            <a:r>
              <a:rPr lang="zh-CN" altLang="en-US" dirty="0"/>
              <a:t>其他云数据库产品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6.2.1	</a:t>
            </a:r>
            <a:r>
              <a:rPr lang="zh-CN" altLang="en-US" b="1" dirty="0"/>
              <a:t>云数据库厂商概述</a:t>
            </a:r>
            <a:endParaRPr lang="zh-CN" altLang="en-US" b="1" dirty="0"/>
          </a:p>
        </p:txBody>
      </p:sp>
      <p:graphicFrame>
        <p:nvGraphicFramePr>
          <p:cNvPr id="16528" name="Group 144"/>
          <p:cNvGraphicFramePr>
            <a:graphicFrameLocks noGrp="1"/>
          </p:cNvGraphicFramePr>
          <p:nvPr/>
        </p:nvGraphicFramePr>
        <p:xfrm>
          <a:off x="3362960" y="1691006"/>
          <a:ext cx="6934200" cy="4359278"/>
        </p:xfrm>
        <a:graphic>
          <a:graphicData uri="http://schemas.openxmlformats.org/drawingml/2006/table">
            <a:tbl>
              <a:tblPr/>
              <a:tblGrid>
                <a:gridCol w="1644121"/>
                <a:gridCol w="5290079"/>
              </a:tblGrid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企业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产品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Microsoft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Microsoft SQL Azure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Oracle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Oracle Cloud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Amazon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Dynamo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SimpleDB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Google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Google Cloud SQL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Yahoo!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PNUTS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阿里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阿里云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RDS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百度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百度云数据库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腾讯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腾讯云数据库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Vertica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Analytic Database v3.0 for the Cloud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8"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EnerpriseDB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/>
                </a:tc>
                <a:tc>
                  <a:txBody>
                    <a:bodyPr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Postgres Plus in the Cloud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/>
                </a:tc>
              </a:tr>
            </a:tbl>
          </a:graphicData>
        </a:graphic>
      </p:graphicFrame>
      <p:sp>
        <p:nvSpPr>
          <p:cNvPr id="4" name="左大括号 3"/>
          <p:cNvSpPr/>
          <p:nvPr/>
        </p:nvSpPr>
        <p:spPr>
          <a:xfrm>
            <a:off x="2850515" y="2077085"/>
            <a:ext cx="258445" cy="7924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63320" y="2026285"/>
            <a:ext cx="14941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传统的数据库厂商</a:t>
            </a:r>
            <a:endParaRPr lang="zh-CN" altLang="en-US" sz="2400"/>
          </a:p>
        </p:txBody>
      </p:sp>
      <p:sp>
        <p:nvSpPr>
          <p:cNvPr id="6" name="左大括号 5"/>
          <p:cNvSpPr/>
          <p:nvPr/>
        </p:nvSpPr>
        <p:spPr>
          <a:xfrm>
            <a:off x="2850515" y="2952750"/>
            <a:ext cx="258445" cy="21640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63320" y="3254375"/>
            <a:ext cx="14941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涉足数据库市场的云数据库厂商</a:t>
            </a:r>
            <a:endParaRPr lang="zh-CN" altLang="en-US" sz="2400"/>
          </a:p>
        </p:txBody>
      </p:sp>
      <p:sp>
        <p:nvSpPr>
          <p:cNvPr id="8" name="左大括号 7"/>
          <p:cNvSpPr/>
          <p:nvPr/>
        </p:nvSpPr>
        <p:spPr>
          <a:xfrm>
            <a:off x="2855595" y="5220335"/>
            <a:ext cx="258445" cy="7924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29360" y="5386705"/>
            <a:ext cx="1494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新兴厂商</a:t>
            </a:r>
            <a:endParaRPr lang="zh-CN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6.2.2	Amazon</a:t>
            </a:r>
            <a:r>
              <a:rPr lang="zh-CN" altLang="en-US" b="1" dirty="0"/>
              <a:t>的云数据库产品</a:t>
            </a:r>
            <a:endParaRPr lang="zh-CN" altLang="en-US" b="1" dirty="0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0" y="2387600"/>
            <a:ext cx="411861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 algn="r" eaLnBrk="1" hangingPunct="1">
              <a:lnSpc>
                <a:spcPct val="200000"/>
              </a:lnSpc>
              <a:buNone/>
            </a:pPr>
            <a:r>
              <a:rPr lang="en-US" altLang="zh-CN" sz="2800" dirty="0"/>
              <a:t>Amazon RDS</a:t>
            </a:r>
            <a:endParaRPr lang="en-US" altLang="zh-CN" sz="2800" dirty="0"/>
          </a:p>
          <a:p>
            <a:pPr indent="0" algn="r" eaLnBrk="1" hangingPunct="1">
              <a:lnSpc>
                <a:spcPct val="200000"/>
              </a:lnSpc>
              <a:buNone/>
            </a:pPr>
            <a:r>
              <a:rPr lang="en-US" altLang="zh-CN" sz="2800" dirty="0"/>
              <a:t>Amazon </a:t>
            </a:r>
            <a:r>
              <a:rPr lang="en-US" altLang="zh-CN" sz="2800" dirty="0" err="1"/>
              <a:t>SimpleDB</a:t>
            </a:r>
            <a:endParaRPr lang="en-US" altLang="zh-CN" sz="2800" dirty="0" err="1"/>
          </a:p>
          <a:p>
            <a:pPr indent="0" algn="r" eaLnBrk="1" hangingPunct="1">
              <a:lnSpc>
                <a:spcPct val="200000"/>
              </a:lnSpc>
              <a:buNone/>
            </a:pPr>
            <a:r>
              <a:rPr lang="en-US" altLang="zh-CN" sz="2800" dirty="0"/>
              <a:t>Amazon DynamoDB</a:t>
            </a:r>
            <a:endParaRPr lang="en-US" altLang="zh-CN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8720674" y="2446557"/>
            <a:ext cx="2573140" cy="25581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dirty="0"/>
              <a:t>百度 </a:t>
            </a:r>
            <a:r>
              <a:rPr lang="en-US" altLang="zh-CN" sz="2800" dirty="0"/>
              <a:t>MySQL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zh-CN" altLang="en-US" sz="2800" dirty="0"/>
              <a:t>百度 </a:t>
            </a:r>
            <a:r>
              <a:rPr lang="en-US" altLang="zh-CN" sz="2800" dirty="0"/>
              <a:t>Redis</a:t>
            </a:r>
            <a:endParaRPr lang="en-US" altLang="zh-CN" sz="2800" dirty="0"/>
          </a:p>
          <a:p>
            <a:pPr>
              <a:lnSpc>
                <a:spcPct val="200000"/>
              </a:lnSpc>
            </a:pPr>
            <a:r>
              <a:rPr lang="zh-CN" altLang="en-US" sz="2800" dirty="0"/>
              <a:t>百度 </a:t>
            </a:r>
            <a:r>
              <a:rPr lang="en-US" altLang="zh-CN" sz="2800" dirty="0"/>
              <a:t>MongoDB</a:t>
            </a:r>
            <a:endParaRPr lang="zh-CN" altLang="en-US" sz="2800" dirty="0"/>
          </a:p>
        </p:txBody>
      </p:sp>
      <p:sp>
        <p:nvSpPr>
          <p:cNvPr id="3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373880" y="2387600"/>
            <a:ext cx="399034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云中的关系数据库</a:t>
            </a:r>
            <a:endParaRPr lang="en-US" altLang="zh-CN" sz="2800" dirty="0"/>
          </a:p>
          <a:p>
            <a:pPr marL="457200" indent="-457200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云中的键值数据库</a:t>
            </a:r>
            <a:endParaRPr lang="en-US" altLang="zh-CN" sz="2800" dirty="0"/>
          </a:p>
          <a:p>
            <a:pPr marL="457200" indent="-457200"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云中的</a:t>
            </a:r>
            <a:r>
              <a:rPr lang="en-US" altLang="zh-CN" sz="2800" dirty="0"/>
              <a:t>NoSQL</a:t>
            </a:r>
            <a:r>
              <a:rPr lang="zh-CN" altLang="en-US" sz="2800" dirty="0"/>
              <a:t>数据库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5" grpId="1"/>
      <p:bldP spid="2" grpId="0"/>
      <p:bldP spid="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6.2.3	Google</a:t>
            </a:r>
            <a:r>
              <a:rPr lang="zh-CN" altLang="en-US" b="1" dirty="0"/>
              <a:t>的云数据库产品</a:t>
            </a:r>
            <a:endParaRPr lang="zh-CN" altLang="en-US" b="1" dirty="0"/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983226" y="2229614"/>
            <a:ext cx="9915832" cy="3538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0">
              <a:buFontTx/>
              <a:buNone/>
            </a:pPr>
            <a:r>
              <a:rPr lang="en-US" altLang="zh-CN" sz="2800" dirty="0"/>
              <a:t>Google Cloud SQL</a:t>
            </a:r>
            <a:r>
              <a:rPr lang="zh-CN" altLang="en-US" sz="2800" dirty="0"/>
              <a:t>是基于</a:t>
            </a:r>
            <a:r>
              <a:rPr lang="en-US" altLang="zh-CN" sz="2800" dirty="0"/>
              <a:t>MySQL</a:t>
            </a:r>
            <a:r>
              <a:rPr lang="zh-CN" altLang="en-US" sz="2800" dirty="0"/>
              <a:t>的云数据库</a:t>
            </a:r>
            <a:endParaRPr lang="zh-CN" altLang="en-US" sz="2800" dirty="0"/>
          </a:p>
          <a:p>
            <a:pPr indent="0">
              <a:buFontTx/>
              <a:buNone/>
            </a:pPr>
            <a:endParaRPr lang="zh-CN" altLang="en-US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使用</a:t>
            </a:r>
            <a:r>
              <a:rPr lang="en-US" altLang="zh-CN" sz="2800" dirty="0"/>
              <a:t>Cloud SQL</a:t>
            </a:r>
            <a:r>
              <a:rPr lang="zh-CN" altLang="en-US" sz="2800" dirty="0"/>
              <a:t>，所有的事务都在云中，并由谷歌管理</a:t>
            </a:r>
            <a:endParaRPr lang="zh-CN" altLang="en-US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提供导入或导出服务</a:t>
            </a:r>
            <a:endParaRPr lang="en-US" altLang="zh-CN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提供用户非常熟悉的</a:t>
            </a:r>
            <a:r>
              <a:rPr lang="en-US" altLang="zh-CN" sz="2800" dirty="0"/>
              <a:t>MySQL</a:t>
            </a:r>
            <a:r>
              <a:rPr lang="zh-CN" altLang="en-US" sz="2800" dirty="0">
                <a:sym typeface="+mn-ea"/>
              </a:rPr>
              <a:t>数据库环境</a:t>
            </a:r>
            <a:endParaRPr lang="zh-CN" altLang="en-US" sz="2800" dirty="0">
              <a:sym typeface="+mn-ea"/>
            </a:endParaRPr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</a:rPr>
              <a:t>Google App Engine</a:t>
            </a:r>
            <a:r>
              <a:rPr lang="zh-CN" altLang="en-US" sz="2800" dirty="0">
                <a:solidFill>
                  <a:schemeClr val="tx1"/>
                </a:solidFill>
              </a:rPr>
              <a:t>集成 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6.2.4	Microsoft</a:t>
            </a:r>
            <a:r>
              <a:rPr lang="zh-CN" altLang="en-US" b="1" dirty="0"/>
              <a:t>的云数据库产品</a:t>
            </a:r>
            <a:endParaRPr lang="zh-CN" altLang="en-US" b="1" dirty="0"/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838200" y="1353185"/>
            <a:ext cx="10515600" cy="5342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dirty="0"/>
              <a:t>SQL Azure</a:t>
            </a:r>
            <a:r>
              <a:rPr lang="zh-CN" altLang="en-US" sz="2400" dirty="0"/>
              <a:t>具有以下特性：</a:t>
            </a:r>
            <a:endParaRPr lang="zh-CN" altLang="en-US" sz="24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400" dirty="0"/>
              <a:t>属于关系型数据库：支持使用</a:t>
            </a:r>
            <a:r>
              <a:rPr lang="en-US" altLang="zh-CN" sz="2400" dirty="0"/>
              <a:t>TSQL</a:t>
            </a:r>
            <a:r>
              <a:rPr lang="zh-CN" altLang="en-US" sz="2400" dirty="0"/>
              <a:t>（</a:t>
            </a:r>
            <a:r>
              <a:rPr lang="en-US" altLang="zh-CN" sz="2400" dirty="0"/>
              <a:t>Transact Structured Query Language</a:t>
            </a:r>
            <a:r>
              <a:rPr lang="zh-CN" altLang="en-US" sz="2400" dirty="0"/>
              <a:t>）来管理、创建和操作云数据库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400" dirty="0"/>
              <a:t>支持存储过程：它的数据类型、存储过程和传统的</a:t>
            </a:r>
            <a:r>
              <a:rPr lang="en-US" altLang="zh-CN" sz="2400" dirty="0"/>
              <a:t>SQL Server</a:t>
            </a:r>
            <a:r>
              <a:rPr lang="zh-CN" altLang="en-US" sz="2400" dirty="0"/>
              <a:t>具有很大的相似性，因此，应用可以在本地进行开发，然后部署到云平台上</a:t>
            </a:r>
            <a:endParaRPr lang="en-US" altLang="zh-CN" sz="2400" dirty="0"/>
          </a:p>
          <a:p>
            <a:pPr indent="0" eaLnBrk="1" hangingPunct="1">
              <a:lnSpc>
                <a:spcPct val="150000"/>
              </a:lnSpc>
              <a:buFontTx/>
              <a:buNone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400" dirty="0"/>
              <a:t>支持大量数据类型：包含了几乎所有典型的</a:t>
            </a:r>
            <a:r>
              <a:rPr lang="en-US" altLang="zh-CN" sz="2400" dirty="0"/>
              <a:t>SQL Server</a:t>
            </a:r>
            <a:r>
              <a:rPr lang="zh-CN" altLang="en-US" sz="2400" dirty="0"/>
              <a:t>的数据类型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endParaRPr lang="zh-CN" altLang="en-US" sz="24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400" dirty="0"/>
              <a:t>支持云中的事务：支持局部事务，但是不支持分布式事务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6.2.4	Microsoft</a:t>
            </a:r>
            <a:r>
              <a:rPr lang="zh-CN" altLang="en-US" b="1" dirty="0"/>
              <a:t>的云数据库产品</a:t>
            </a:r>
            <a:endParaRPr lang="zh-CN" altLang="en-US" b="1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3245" y="1878965"/>
            <a:ext cx="11219815" cy="4098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6.2.5 </a:t>
            </a:r>
            <a:r>
              <a:rPr lang="zh-CN" altLang="en-US" b="1" dirty="0"/>
              <a:t>其它：阿里云的云数据库</a:t>
            </a:r>
            <a:r>
              <a:rPr lang="en-US" altLang="zh-CN" b="1" dirty="0" err="1"/>
              <a:t>PolarDB</a:t>
            </a:r>
            <a:endParaRPr lang="zh-CN" altLang="en-US" b="1" dirty="0"/>
          </a:p>
        </p:txBody>
      </p:sp>
      <p:pic>
        <p:nvPicPr>
          <p:cNvPr id="16388" name="Picture 2" descr="https://pics6.baidu.com/feed/9d82d158ccbf6c8182767fb624841b3232fa4068.png?token=3dcee185e8fa3d5398e7e500a8f6bbd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86" y="1541145"/>
            <a:ext cx="60960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89933" y="5086499"/>
            <a:ext cx="6203173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中国企业自研数据库的公司不仅不再受限，</a:t>
            </a:r>
            <a:endParaRPr lang="en-US" altLang="zh-CN" sz="2000" dirty="0"/>
          </a:p>
          <a:p>
            <a:r>
              <a:rPr lang="zh-CN" altLang="en-US" sz="2000" dirty="0"/>
              <a:t>连使用成本都下降了</a:t>
            </a:r>
            <a:r>
              <a:rPr lang="en-US" altLang="zh-CN" sz="2000" dirty="0"/>
              <a:t>50%</a:t>
            </a:r>
            <a:r>
              <a:rPr lang="zh-CN" altLang="en-US" sz="2000" dirty="0"/>
              <a:t>以上！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根据全球云数据库管理系统魔力象限：</a:t>
            </a:r>
            <a:endParaRPr lang="zh-CN" altLang="en-US" sz="2000" dirty="0"/>
          </a:p>
          <a:p>
            <a:r>
              <a:rPr lang="zh-CN" altLang="en-US" sz="2000" dirty="0"/>
              <a:t>阿里云已连续</a:t>
            </a:r>
            <a:r>
              <a:rPr lang="en-US" altLang="zh-CN" sz="2000" dirty="0"/>
              <a:t>6</a:t>
            </a:r>
            <a:r>
              <a:rPr lang="zh-CN" altLang="en-US" sz="2000" dirty="0"/>
              <a:t>年获评</a:t>
            </a:r>
            <a:r>
              <a:rPr lang="en-US" altLang="zh-CN" sz="2000" dirty="0"/>
              <a:t>“</a:t>
            </a:r>
            <a:r>
              <a:rPr lang="zh-CN" altLang="en-US" sz="2000" dirty="0"/>
              <a:t>领导者</a:t>
            </a:r>
            <a:r>
              <a:rPr lang="en-US" altLang="zh-CN" sz="2000" dirty="0"/>
              <a:t>”</a:t>
            </a:r>
            <a:endParaRPr lang="en-US" altLang="zh-CN" sz="200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6824345" y="1208405"/>
            <a:ext cx="5367655" cy="55092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0528935" y="3417570"/>
            <a:ext cx="902970" cy="23939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	</a:t>
            </a:r>
            <a:r>
              <a:rPr lang="zh-CN" altLang="en-US" b="1" dirty="0"/>
              <a:t>云数据库系统架构</a:t>
            </a:r>
            <a:endParaRPr lang="zh-CN" altLang="en-US" b="1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877580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zh-CN" altLang="en-US" sz="3200" dirty="0"/>
              <a:t>以阿里的</a:t>
            </a:r>
            <a:r>
              <a:rPr lang="en-US" altLang="zh-CN" sz="3200" u="sng" dirty="0"/>
              <a:t>U</a:t>
            </a:r>
            <a:r>
              <a:rPr lang="en-US" altLang="zh-CN" sz="3200" dirty="0"/>
              <a:t>nified </a:t>
            </a:r>
            <a:r>
              <a:rPr lang="en-US" altLang="zh-CN" sz="3200" u="sng" dirty="0"/>
              <a:t>M</a:t>
            </a:r>
            <a:r>
              <a:rPr lang="en-US" altLang="zh-CN" sz="3200" dirty="0"/>
              <a:t>ySQL </a:t>
            </a:r>
            <a:r>
              <a:rPr lang="en-US" altLang="zh-CN" sz="3200" u="sng" dirty="0"/>
              <a:t>P</a:t>
            </a:r>
            <a:r>
              <a:rPr lang="en-US" altLang="zh-CN" sz="3200" dirty="0"/>
              <a:t>latform</a:t>
            </a:r>
            <a:r>
              <a:rPr lang="zh-CN" altLang="en-US" sz="3200" dirty="0"/>
              <a:t>系统为例</a:t>
            </a:r>
            <a:endParaRPr lang="en-US" altLang="zh-CN" sz="3200" dirty="0"/>
          </a:p>
          <a:p>
            <a:pPr>
              <a:lnSpc>
                <a:spcPct val="160000"/>
              </a:lnSpc>
            </a:pPr>
            <a:r>
              <a:rPr lang="en-US" altLang="zh-CN" sz="3200" dirty="0"/>
              <a:t>6.3.1	UMP</a:t>
            </a:r>
            <a:r>
              <a:rPr lang="zh-CN" altLang="en-US" sz="3200" dirty="0"/>
              <a:t>系统概述</a:t>
            </a:r>
            <a:endParaRPr lang="en-US" altLang="zh-CN" sz="3200" dirty="0"/>
          </a:p>
          <a:p>
            <a:pPr>
              <a:lnSpc>
                <a:spcPct val="160000"/>
              </a:lnSpc>
            </a:pPr>
            <a:r>
              <a:rPr lang="en-US" altLang="zh-CN" sz="3200" dirty="0"/>
              <a:t>6.3.2	UMP</a:t>
            </a:r>
            <a:r>
              <a:rPr lang="zh-CN" altLang="en-US" sz="3200" dirty="0"/>
              <a:t>系统架构</a:t>
            </a:r>
            <a:endParaRPr lang="en-US" altLang="zh-CN" sz="3200" dirty="0"/>
          </a:p>
          <a:p>
            <a:pPr>
              <a:lnSpc>
                <a:spcPct val="160000"/>
              </a:lnSpc>
            </a:pPr>
            <a:r>
              <a:rPr lang="en-US" altLang="zh-CN" sz="3200" dirty="0"/>
              <a:t>6.3.3	UMP</a:t>
            </a:r>
            <a:r>
              <a:rPr lang="zh-CN" altLang="en-US" sz="3200" dirty="0"/>
              <a:t>系统功能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6.3.1	UMP</a:t>
            </a:r>
            <a:r>
              <a:rPr lang="zh-CN" altLang="en-US" b="1" dirty="0"/>
              <a:t>系统概述</a:t>
            </a:r>
            <a:endParaRPr lang="zh-CN" altLang="en-US" b="1" dirty="0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1429038" y="2506786"/>
            <a:ext cx="9924762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dirty="0"/>
              <a:t>总的来说，</a:t>
            </a:r>
            <a:r>
              <a:rPr lang="en-US" altLang="zh-CN" sz="2800" dirty="0"/>
              <a:t>UMP</a:t>
            </a:r>
            <a:r>
              <a:rPr lang="zh-CN" altLang="en-US" sz="2800" dirty="0"/>
              <a:t>系统架构设计遵循了以下原则：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单一入口，单一资源池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高可用性：消除单点故障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良好可伸缩性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Tx/>
              <a:buChar char="•"/>
            </a:pPr>
            <a:r>
              <a:rPr lang="zh-CN" altLang="en-US" sz="2800" dirty="0">
                <a:sym typeface="+mn-ea"/>
              </a:rPr>
              <a:t>支持</a:t>
            </a:r>
            <a:r>
              <a:rPr lang="zh-CN" altLang="en-US" sz="2800" dirty="0"/>
              <a:t>多用户</a:t>
            </a:r>
            <a:endParaRPr lang="zh-CN" altLang="en-US" sz="2800" dirty="0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838200" y="1690688"/>
            <a:ext cx="855518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/>
              <a:t>UMP</a:t>
            </a:r>
            <a:r>
              <a:rPr lang="zh-CN" altLang="en-US" sz="2800" dirty="0"/>
              <a:t>系统是低成本和高性能的</a:t>
            </a:r>
            <a:r>
              <a:rPr lang="en-US" altLang="zh-CN" sz="2800" dirty="0"/>
              <a:t>MySQL</a:t>
            </a:r>
            <a:r>
              <a:rPr lang="zh-CN" altLang="en-US" sz="2800" dirty="0"/>
              <a:t>云数据库方案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838200" y="1437041"/>
            <a:ext cx="3917373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UMP</a:t>
            </a:r>
            <a:r>
              <a:rPr lang="zh-CN" altLang="en-US" sz="2400" dirty="0"/>
              <a:t>系统中的角色包括：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Controller</a:t>
            </a:r>
            <a:r>
              <a:rPr lang="zh-CN" altLang="en-US" sz="2400" dirty="0"/>
              <a:t>服务器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Proxy</a:t>
            </a:r>
            <a:r>
              <a:rPr lang="zh-CN" altLang="en-US" sz="2400" dirty="0"/>
              <a:t>服务器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Agent</a:t>
            </a:r>
            <a:r>
              <a:rPr lang="zh-CN" altLang="en-US" sz="2400" dirty="0"/>
              <a:t>服务器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Web</a:t>
            </a:r>
            <a:r>
              <a:rPr lang="zh-CN" altLang="en-US" sz="2400" dirty="0"/>
              <a:t>控制台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日志分析服务器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信息统计服务器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/>
              <a:t>愚公系统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r>
              <a:rPr lang="zh-CN" altLang="en-US" sz="2400" dirty="0"/>
              <a:t>依赖的开源组件包括：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err="1"/>
              <a:t>Mnesia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LVS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/>
              <a:t>RabbitMQ</a:t>
            </a:r>
            <a:endParaRPr lang="en-US" altLang="zh-C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 err="1"/>
              <a:t>ZooKeeper</a:t>
            </a:r>
            <a:r>
              <a:rPr lang="en-US" altLang="zh-CN" sz="2400" dirty="0"/>
              <a:t> </a:t>
            </a:r>
            <a:endParaRPr lang="en-US" altLang="zh-CN" sz="2400" dirty="0"/>
          </a:p>
        </p:txBody>
      </p:sp>
      <p:pic>
        <p:nvPicPr>
          <p:cNvPr id="21508" name="图片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943" y="899415"/>
            <a:ext cx="7245657" cy="5904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1191491" y="1429079"/>
            <a:ext cx="51010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1. </a:t>
            </a:r>
            <a:r>
              <a:rPr lang="zh-CN" altLang="en-US" sz="2800" dirty="0"/>
              <a:t>分布式数据库服务</a:t>
            </a:r>
            <a:r>
              <a:rPr lang="en-US" altLang="zh-CN" sz="2800" dirty="0"/>
              <a:t>--</a:t>
            </a:r>
            <a:r>
              <a:rPr lang="zh-CN" altLang="en-US" sz="2400" dirty="0"/>
              <a:t> </a:t>
            </a:r>
            <a:r>
              <a:rPr lang="en-US" altLang="zh-CN" sz="2800" b="1" dirty="0" err="1"/>
              <a:t>Mnesia</a:t>
            </a:r>
            <a:r>
              <a:rPr lang="en-US" altLang="zh-CN" sz="2800" dirty="0"/>
              <a:t> </a:t>
            </a:r>
            <a:endParaRPr lang="en-US" altLang="zh-CN" sz="2800" dirty="0"/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1540730" y="3285546"/>
            <a:ext cx="9022773" cy="324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特性：</a:t>
            </a:r>
            <a:endParaRPr lang="en-US" altLang="zh-CN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err="1"/>
              <a:t>Mnesia</a:t>
            </a:r>
            <a:r>
              <a:rPr lang="zh-CN" altLang="en-US" sz="2800" dirty="0"/>
              <a:t>支持事务，支持透明的数据分片，利用两阶段锁实现分布式事务，可以线性扩展到至少</a:t>
            </a:r>
            <a:r>
              <a:rPr lang="en-US" altLang="zh-CN" sz="2800" dirty="0"/>
              <a:t>50</a:t>
            </a:r>
            <a:r>
              <a:rPr lang="zh-CN" altLang="en-US" sz="2800" dirty="0"/>
              <a:t>个节点 </a:t>
            </a:r>
            <a:endParaRPr lang="zh-CN" altLang="en-US" sz="2800" dirty="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800" dirty="0" err="1"/>
              <a:t>Mnesia</a:t>
            </a:r>
            <a:r>
              <a:rPr lang="zh-CN" altLang="en-US" sz="2800" dirty="0"/>
              <a:t>的数据库模式</a:t>
            </a:r>
            <a:r>
              <a:rPr lang="en-US" altLang="zh-CN" sz="2800" dirty="0"/>
              <a:t>(schema)</a:t>
            </a:r>
            <a:r>
              <a:rPr lang="zh-CN" altLang="en-US" sz="2800" dirty="0"/>
              <a:t>可在运行时动态重配置，表能被迁移或复制到多个节点来改进容错性</a:t>
            </a:r>
            <a:endParaRPr lang="zh-CN" altLang="en-US" sz="2800" dirty="0"/>
          </a:p>
        </p:txBody>
      </p:sp>
      <p:sp>
        <p:nvSpPr>
          <p:cNvPr id="3" name="文本框 2"/>
          <p:cNvSpPr txBox="1"/>
          <p:nvPr/>
        </p:nvSpPr>
        <p:spPr>
          <a:xfrm>
            <a:off x="2091170" y="1952299"/>
            <a:ext cx="6094268" cy="1319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Char char="•"/>
            </a:pPr>
            <a:r>
              <a:rPr lang="en-US" altLang="zh-CN" sz="2800" dirty="0" err="1"/>
              <a:t>Mnesia</a:t>
            </a:r>
            <a:r>
              <a:rPr lang="zh-CN" altLang="en-US" sz="2800" dirty="0"/>
              <a:t>是一个分布式数据库管理系统</a:t>
            </a:r>
            <a:endParaRPr lang="en-US" altLang="zh-CN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altLang="zh-CN" sz="2800" dirty="0"/>
              <a:t>Erlang</a:t>
            </a:r>
            <a:r>
              <a:rPr lang="zh-CN" altLang="en-US" sz="2800" dirty="0"/>
              <a:t>：高并发、分布式编程语言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/>
      <p:bldP spid="2253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3555" name="Rectangle 4"/>
          <p:cNvSpPr>
            <a:spLocks noChangeArrowheads="1"/>
          </p:cNvSpPr>
          <p:nvPr/>
        </p:nvSpPr>
        <p:spPr bwMode="auto">
          <a:xfrm>
            <a:off x="1059873" y="1538070"/>
            <a:ext cx="41633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2. </a:t>
            </a:r>
            <a:r>
              <a:rPr lang="zh-CN" altLang="en-US" sz="2800" b="1" dirty="0"/>
              <a:t>节点通信 </a:t>
            </a:r>
            <a:r>
              <a:rPr lang="en-US" altLang="zh-CN" sz="2800" b="1" dirty="0"/>
              <a:t>-- RabbitMQ</a:t>
            </a:r>
            <a:endParaRPr lang="en-US" altLang="zh-CN" sz="2800" b="1" dirty="0"/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1465117" y="2725950"/>
            <a:ext cx="8738754" cy="259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/>
              <a:t>RabbitMQ</a:t>
            </a:r>
            <a:r>
              <a:rPr lang="zh-CN" altLang="en-US" sz="2800" dirty="0"/>
              <a:t>是一个工业级的消息队列产品，作为消息传输中间件来使用，可以实现可靠的消息传送。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en-US" altLang="zh-CN" sz="2800" dirty="0"/>
              <a:t>UMP</a:t>
            </a:r>
            <a:r>
              <a:rPr lang="zh-CN" altLang="en-US" sz="2800" dirty="0"/>
              <a:t>集群中各个节点之间的通信，不需要建立专门的连接，都是通过读写队列消息来实现的 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4579" name="Rectangle 4"/>
          <p:cNvSpPr>
            <a:spLocks noChangeArrowheads="1"/>
          </p:cNvSpPr>
          <p:nvPr/>
        </p:nvSpPr>
        <p:spPr bwMode="auto">
          <a:xfrm>
            <a:off x="1019104" y="1363665"/>
            <a:ext cx="48974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3.</a:t>
            </a:r>
            <a:r>
              <a:rPr lang="zh-CN" altLang="en-US" sz="2800" dirty="0"/>
              <a:t>协同工作系统 </a:t>
            </a:r>
            <a:r>
              <a:rPr lang="en-US" altLang="zh-CN" sz="2800" dirty="0"/>
              <a:t>-- </a:t>
            </a:r>
            <a:r>
              <a:rPr lang="en-US" altLang="zh-CN" sz="2800" b="1" dirty="0"/>
              <a:t>Zookeeper</a:t>
            </a:r>
            <a:endParaRPr lang="en-US" altLang="zh-CN" sz="2800" b="1" dirty="0"/>
          </a:p>
        </p:txBody>
      </p:sp>
      <p:sp>
        <p:nvSpPr>
          <p:cNvPr id="24580" name="Rectangle 5"/>
          <p:cNvSpPr>
            <a:spLocks noChangeArrowheads="1"/>
          </p:cNvSpPr>
          <p:nvPr/>
        </p:nvSpPr>
        <p:spPr bwMode="auto">
          <a:xfrm>
            <a:off x="1582882" y="3586120"/>
            <a:ext cx="9026830" cy="2593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/>
              <a:t>在</a:t>
            </a:r>
            <a:r>
              <a:rPr lang="en-US" altLang="zh-CN" sz="2800" dirty="0"/>
              <a:t>UMP</a:t>
            </a:r>
            <a:r>
              <a:rPr lang="zh-CN" altLang="en-US" sz="2800" dirty="0"/>
              <a:t>系统中，</a:t>
            </a:r>
            <a:r>
              <a:rPr lang="en-US" altLang="zh-CN" sz="2800" dirty="0"/>
              <a:t>Zookeeper</a:t>
            </a:r>
            <a:r>
              <a:rPr lang="zh-CN" altLang="en-US" sz="2800" dirty="0"/>
              <a:t>主要发挥三个作用：</a:t>
            </a:r>
            <a:endParaRPr lang="zh-CN" altLang="en-US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作为全局的配置服务器：监听配置变化通知多台服务器 </a:t>
            </a:r>
            <a:endParaRPr lang="zh-CN" altLang="en-US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提供分布式锁：</a:t>
            </a:r>
            <a:r>
              <a:rPr lang="en-US" altLang="zh-CN" sz="2800" dirty="0"/>
              <a:t>Controller</a:t>
            </a:r>
            <a:r>
              <a:rPr lang="zh-CN" altLang="en-US" sz="2800" dirty="0"/>
              <a:t>服务器集群中选“总管”</a:t>
            </a:r>
            <a:endParaRPr lang="zh-CN" altLang="en-US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监控所有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实例：监听临时类型目录节点</a:t>
            </a:r>
            <a:endParaRPr lang="zh-CN" altLang="en-US" sz="2800" dirty="0"/>
          </a:p>
        </p:txBody>
      </p:sp>
      <p:sp>
        <p:nvSpPr>
          <p:cNvPr id="24581" name="Rectangle 6"/>
          <p:cNvSpPr>
            <a:spLocks noChangeArrowheads="1"/>
          </p:cNvSpPr>
          <p:nvPr/>
        </p:nvSpPr>
        <p:spPr bwMode="auto">
          <a:xfrm>
            <a:off x="1582882" y="2044005"/>
            <a:ext cx="960812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/>
              <a:t>提供分布式锁之类的基本服务（比如统一命名服务、状态同步服务、集群管理、分布式应用配置项的管理等），用于构建分布式应用，减轻分布式应用程序所承担的协调任务 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  <p:bldP spid="2458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5603" name="Rectangle 4"/>
          <p:cNvSpPr>
            <a:spLocks noChangeArrowheads="1"/>
          </p:cNvSpPr>
          <p:nvPr/>
        </p:nvSpPr>
        <p:spPr bwMode="auto">
          <a:xfrm>
            <a:off x="1038658" y="1526405"/>
            <a:ext cx="69935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4.</a:t>
            </a:r>
            <a:r>
              <a:rPr lang="zh-CN" altLang="en-US" sz="2800" dirty="0"/>
              <a:t>集群内部的负载均衡 </a:t>
            </a:r>
            <a:r>
              <a:rPr lang="en-US" altLang="zh-CN" sz="2800" dirty="0"/>
              <a:t>-- </a:t>
            </a:r>
            <a:r>
              <a:rPr lang="en-US" altLang="zh-CN" sz="2800" b="1" dirty="0"/>
              <a:t>LVS</a:t>
            </a:r>
            <a:endParaRPr lang="en-US" altLang="zh-CN" sz="2800" b="1" dirty="0"/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1130300" y="2367280"/>
            <a:ext cx="10560050" cy="33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800" dirty="0"/>
              <a:t>LVS(Linux Virtual Server)</a:t>
            </a:r>
            <a:r>
              <a:rPr lang="zh-CN" altLang="en-US" sz="2800" dirty="0"/>
              <a:t> 是一个虚拟的服务器集群系统</a:t>
            </a:r>
            <a:endParaRPr lang="en-US" altLang="zh-CN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en-US" altLang="zh-CN" sz="2800" dirty="0"/>
              <a:t>LVS</a:t>
            </a:r>
            <a:r>
              <a:rPr lang="zh-CN" altLang="en-US" sz="2800" dirty="0"/>
              <a:t>集群采用</a:t>
            </a:r>
            <a:r>
              <a:rPr lang="en-US" altLang="zh-CN" sz="2800" dirty="0"/>
              <a:t>IP</a:t>
            </a:r>
            <a:r>
              <a:rPr lang="zh-CN" altLang="en-US" sz="2800" dirty="0"/>
              <a:t>负载均衡技术和基于内容请求分发技术</a:t>
            </a:r>
            <a:endParaRPr lang="en-US" altLang="zh-CN" sz="2800" dirty="0"/>
          </a:p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800" dirty="0"/>
              <a:t>调度器是</a:t>
            </a:r>
            <a:r>
              <a:rPr lang="en-US" altLang="zh-CN" sz="2800" dirty="0"/>
              <a:t>LVS</a:t>
            </a:r>
            <a:r>
              <a:rPr lang="zh-CN" altLang="en-US" sz="2800" dirty="0"/>
              <a:t>集群系统的唯一入口点，调度器具有很好的吞吐率，将请求均衡地转移到不同的服务器上执行，且调度器自动屏蔽掉服务器的故障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838200" y="1527682"/>
            <a:ext cx="60757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5.</a:t>
            </a:r>
            <a:r>
              <a:rPr lang="zh-CN" altLang="en-US" sz="3200" dirty="0"/>
              <a:t> 管理服务 </a:t>
            </a:r>
            <a:r>
              <a:rPr lang="en-US" altLang="zh-CN" sz="3200" dirty="0"/>
              <a:t>-- </a:t>
            </a:r>
            <a:r>
              <a:rPr lang="en-US" altLang="zh-CN" sz="3200" b="1" dirty="0"/>
              <a:t>Controller</a:t>
            </a:r>
            <a:r>
              <a:rPr lang="zh-CN" altLang="en-US" sz="3200" b="1" dirty="0"/>
              <a:t>服务器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1189990" y="2404745"/>
            <a:ext cx="10163810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400" dirty="0"/>
              <a:t>实现集群成员管理、元数据存储、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实例管理、故障恢复、备份、迁移、扩容等功能</a:t>
            </a:r>
            <a:endParaRPr lang="en-US" altLang="zh-CN" sz="2400" dirty="0"/>
          </a:p>
          <a:p>
            <a:pPr>
              <a:buFontTx/>
              <a:buChar char="•"/>
            </a:pPr>
            <a:endParaRPr lang="zh-CN" altLang="en-US" sz="2400" dirty="0"/>
          </a:p>
          <a:p>
            <a:pPr>
              <a:buFontTx/>
              <a:buChar char="•"/>
            </a:pPr>
            <a:r>
              <a:rPr lang="en-US" altLang="zh-CN" sz="2400" dirty="0"/>
              <a:t>Controller</a:t>
            </a:r>
            <a:r>
              <a:rPr lang="zh-CN" altLang="en-US" sz="2400" dirty="0"/>
              <a:t>服务器上运行了一组</a:t>
            </a:r>
            <a:r>
              <a:rPr lang="en-US" altLang="zh-CN" sz="2400" dirty="0" err="1"/>
              <a:t>Mnesia</a:t>
            </a:r>
            <a:r>
              <a:rPr lang="zh-CN" altLang="en-US" sz="2400" dirty="0"/>
              <a:t>分布式数据库服务，其中存储了各种系统元数据，主要包括集群成员、用户的配置和状态信息，以及用户名到后端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实例地址的映射关系（或称为“路由表”）等。当其它服务器组件需要获取用户数据时，可以向</a:t>
            </a:r>
            <a:r>
              <a:rPr lang="en-US" altLang="zh-CN" sz="2400" dirty="0"/>
              <a:t>Controller</a:t>
            </a:r>
            <a:r>
              <a:rPr lang="zh-CN" altLang="en-US" sz="2400" dirty="0"/>
              <a:t>服务器发送请求获取数据</a:t>
            </a:r>
            <a:endParaRPr lang="en-US" altLang="zh-CN" sz="2400" dirty="0"/>
          </a:p>
          <a:p>
            <a:pPr>
              <a:buFontTx/>
              <a:buChar char="•"/>
            </a:pPr>
            <a:endParaRPr lang="zh-CN" altLang="en-US" sz="2400" dirty="0"/>
          </a:p>
          <a:p>
            <a:pPr>
              <a:buFontTx/>
              <a:buChar char="•"/>
            </a:pPr>
            <a:r>
              <a:rPr lang="zh-CN" altLang="en-US" sz="2400" dirty="0"/>
              <a:t>为了避免单点故障，部署了多台</a:t>
            </a:r>
            <a:r>
              <a:rPr lang="en-US" altLang="zh-CN" sz="2400" dirty="0"/>
              <a:t>Controller</a:t>
            </a:r>
            <a:r>
              <a:rPr lang="zh-CN" altLang="en-US" sz="2400" dirty="0"/>
              <a:t>服务器，由</a:t>
            </a:r>
            <a:r>
              <a:rPr lang="en-US" altLang="zh-CN" sz="2400" dirty="0"/>
              <a:t>Zookeeper</a:t>
            </a:r>
            <a:r>
              <a:rPr lang="zh-CN" altLang="en-US" sz="2400" dirty="0"/>
              <a:t>选出一个“总管”，负责各种系统任务的调度和监控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7651" name="Rectangle 4"/>
          <p:cNvSpPr>
            <a:spLocks noChangeArrowheads="1"/>
          </p:cNvSpPr>
          <p:nvPr/>
        </p:nvSpPr>
        <p:spPr bwMode="auto">
          <a:xfrm>
            <a:off x="639041" y="1504286"/>
            <a:ext cx="10714759" cy="4831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6. Web</a:t>
            </a:r>
            <a:r>
              <a:rPr lang="zh-CN" altLang="en-US" sz="2800" b="1" dirty="0"/>
              <a:t>控制台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Web</a:t>
            </a:r>
            <a:r>
              <a:rPr lang="zh-CN" altLang="en-US" sz="2800" dirty="0"/>
              <a:t>控制台向用户提供系统管理界面</a:t>
            </a:r>
            <a:endParaRPr lang="zh-CN" altLang="en-US" sz="2800" dirty="0"/>
          </a:p>
          <a:p>
            <a:pPr eaLnBrk="1" hangingPunct="1"/>
            <a:endParaRPr lang="zh-CN" altLang="en-US" sz="2800" dirty="0"/>
          </a:p>
          <a:p>
            <a:pPr eaLnBrk="1" hangingPunct="1"/>
            <a:r>
              <a:rPr lang="en-US" altLang="zh-CN" sz="2800" b="1" dirty="0"/>
              <a:t>7. Proxy</a:t>
            </a:r>
            <a:r>
              <a:rPr lang="zh-CN" altLang="en-US" sz="2800" b="1" dirty="0"/>
              <a:t>服务器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数据路由的基本功能：用户可以使用已有的</a:t>
            </a:r>
            <a:r>
              <a:rPr lang="en-US" altLang="zh-CN" sz="2800" dirty="0"/>
              <a:t>MySQL</a:t>
            </a:r>
            <a:r>
              <a:rPr lang="zh-CN" altLang="en-US" sz="2800" dirty="0"/>
              <a:t>客户端连接到</a:t>
            </a:r>
            <a:r>
              <a:rPr lang="en-US" altLang="zh-CN" sz="2800" dirty="0"/>
              <a:t>Proxy</a:t>
            </a:r>
            <a:r>
              <a:rPr lang="zh-CN" altLang="en-US" sz="2800" dirty="0"/>
              <a:t>服务器，</a:t>
            </a:r>
            <a:r>
              <a:rPr lang="en-US" altLang="zh-CN" sz="2800" dirty="0"/>
              <a:t>Proxy</a:t>
            </a:r>
            <a:r>
              <a:rPr lang="zh-CN" altLang="en-US" sz="2800" dirty="0"/>
              <a:t>服务器通过用户名获取到用户的认证信息、资源配额的限制，以及后台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实例的地址，然后，用户的</a:t>
            </a:r>
            <a:r>
              <a:rPr lang="en-US" altLang="zh-CN" sz="2800" dirty="0"/>
              <a:t>SQL</a:t>
            </a:r>
            <a:r>
              <a:rPr lang="zh-CN" altLang="en-US" sz="2800" dirty="0"/>
              <a:t>查询请求会被转发到相应的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实例上。</a:t>
            </a:r>
            <a:endParaRPr lang="zh-CN" altLang="en-US" sz="2800" dirty="0"/>
          </a:p>
          <a:p>
            <a:pPr eaLnBrk="1" hangingPunct="1"/>
            <a:endParaRPr lang="en-US" altLang="zh-CN" sz="2800" dirty="0"/>
          </a:p>
          <a:p>
            <a:pPr eaLnBrk="1" hangingPunct="1"/>
            <a:r>
              <a:rPr lang="zh-CN" altLang="en-US" sz="2800" dirty="0"/>
              <a:t>其它重要的功能：屏蔽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实例故障、读写分离、分库分表、资源隔离、记录用户访问日志等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6.3.2	UMP</a:t>
            </a:r>
            <a:r>
              <a:rPr lang="zh-CN" altLang="en-US" b="1" dirty="0"/>
              <a:t>系统架构</a:t>
            </a:r>
            <a:endParaRPr lang="zh-CN" altLang="en-US" b="1" dirty="0"/>
          </a:p>
        </p:txBody>
      </p:sp>
      <p:sp>
        <p:nvSpPr>
          <p:cNvPr id="28675" name="Rectangle 4"/>
          <p:cNvSpPr>
            <a:spLocks noChangeArrowheads="1"/>
          </p:cNvSpPr>
          <p:nvPr/>
        </p:nvSpPr>
        <p:spPr bwMode="auto">
          <a:xfrm>
            <a:off x="1014845" y="1461353"/>
            <a:ext cx="10338955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667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b="1" dirty="0"/>
              <a:t>8. Agent</a:t>
            </a:r>
            <a:r>
              <a:rPr lang="zh-CN" altLang="en-US" sz="2200" b="1" dirty="0"/>
              <a:t>服务器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    </a:t>
            </a:r>
            <a:r>
              <a:rPr lang="en-US" altLang="zh-CN" sz="2200" dirty="0"/>
              <a:t>Agent</a:t>
            </a:r>
            <a:r>
              <a:rPr lang="zh-CN" altLang="en-US" sz="2200" dirty="0"/>
              <a:t>服务器部署在运行</a:t>
            </a:r>
            <a:r>
              <a:rPr lang="en-US" altLang="zh-CN" sz="2200" dirty="0"/>
              <a:t>MySQL</a:t>
            </a:r>
            <a:r>
              <a:rPr lang="zh-CN" altLang="en-US" sz="2200" dirty="0"/>
              <a:t>进程的机器上，用来管理每台物理机上的</a:t>
            </a:r>
            <a:r>
              <a:rPr lang="en-US" altLang="zh-CN" sz="2200" dirty="0"/>
              <a:t>MySQL</a:t>
            </a:r>
            <a:r>
              <a:rPr lang="zh-CN" altLang="en-US" sz="2200" dirty="0"/>
              <a:t>实例，执行主从切换、创建、删除、备份、迁移等操作，同时，还负责收集和分析</a:t>
            </a:r>
            <a:r>
              <a:rPr lang="en-US" altLang="zh-CN" sz="2200" dirty="0"/>
              <a:t>MySQL</a:t>
            </a:r>
            <a:r>
              <a:rPr lang="zh-CN" altLang="en-US" sz="2200" dirty="0"/>
              <a:t>进程的统计信息、慢查询日志和</a:t>
            </a:r>
            <a:r>
              <a:rPr lang="en-US" altLang="zh-CN" sz="2200" dirty="0"/>
              <a:t>bin-log</a:t>
            </a:r>
            <a:endParaRPr lang="zh-CN" altLang="en-US" sz="2200" dirty="0"/>
          </a:p>
          <a:p>
            <a:pPr eaLnBrk="1" hangingPunct="1"/>
            <a:r>
              <a:rPr lang="en-US" altLang="zh-CN" sz="2200" b="1" dirty="0"/>
              <a:t>9. </a:t>
            </a:r>
            <a:r>
              <a:rPr lang="zh-CN" altLang="en-US" sz="2200" b="1" dirty="0"/>
              <a:t>日志分析服务器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日志分析服务器存储和分析</a:t>
            </a:r>
            <a:r>
              <a:rPr lang="en-US" altLang="zh-CN" sz="2200" dirty="0"/>
              <a:t>Proxy</a:t>
            </a:r>
            <a:r>
              <a:rPr lang="zh-CN" altLang="en-US" sz="2200" dirty="0"/>
              <a:t>服务器传入的用户访问日志，并支持实时查询一段时间内的慢日志和统计报表</a:t>
            </a:r>
            <a:endParaRPr lang="zh-CN" altLang="en-US" sz="2200" dirty="0"/>
          </a:p>
          <a:p>
            <a:pPr eaLnBrk="1" hangingPunct="1"/>
            <a:r>
              <a:rPr lang="en-US" altLang="zh-CN" sz="2200" b="1" dirty="0"/>
              <a:t>10. </a:t>
            </a:r>
            <a:r>
              <a:rPr lang="zh-CN" altLang="en-US" sz="2200" b="1" dirty="0"/>
              <a:t>信息统计服务器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信息统计服务器定期将采集到的用户的连接数、</a:t>
            </a:r>
            <a:r>
              <a:rPr lang="en-US" altLang="zh-CN" sz="2200" dirty="0"/>
              <a:t>QPS</a:t>
            </a:r>
            <a:r>
              <a:rPr lang="zh-CN" altLang="en-US" sz="2200" dirty="0"/>
              <a:t>数值以及</a:t>
            </a:r>
            <a:r>
              <a:rPr lang="en-US" altLang="zh-CN" sz="2200" dirty="0"/>
              <a:t>MySQL</a:t>
            </a:r>
            <a:r>
              <a:rPr lang="zh-CN" altLang="en-US" sz="2200" dirty="0"/>
              <a:t>实例的进程状态用</a:t>
            </a:r>
            <a:r>
              <a:rPr lang="en-US" altLang="zh-CN" sz="2200" dirty="0" err="1"/>
              <a:t>RRDtool</a:t>
            </a:r>
            <a:r>
              <a:rPr lang="zh-CN" altLang="en-US" sz="2200" dirty="0"/>
              <a:t>进行统计，可以在 </a:t>
            </a:r>
            <a:r>
              <a:rPr lang="en-US" altLang="zh-CN" sz="2200" dirty="0"/>
              <a:t>Web</a:t>
            </a:r>
            <a:r>
              <a:rPr lang="zh-CN" altLang="en-US" sz="2200" dirty="0"/>
              <a:t>界面上可视化展示统计结果，也可以把统计结果作为今后实现弹性的资源分配和自动化的</a:t>
            </a:r>
            <a:r>
              <a:rPr lang="en-US" altLang="zh-CN" sz="2200" dirty="0"/>
              <a:t>MySQL</a:t>
            </a:r>
            <a:r>
              <a:rPr lang="zh-CN" altLang="en-US" sz="2200" dirty="0"/>
              <a:t>实例迁移的依据</a:t>
            </a:r>
            <a:endParaRPr lang="zh-CN" altLang="en-US" sz="2200" dirty="0"/>
          </a:p>
          <a:p>
            <a:pPr eaLnBrk="1" hangingPunct="1"/>
            <a:r>
              <a:rPr lang="en-US" altLang="zh-CN" sz="2200" b="1" dirty="0"/>
              <a:t>11. </a:t>
            </a:r>
            <a:r>
              <a:rPr lang="zh-CN" altLang="en-US" sz="2200" b="1" dirty="0"/>
              <a:t>愚公系统</a:t>
            </a:r>
            <a:endParaRPr lang="zh-CN" altLang="en-US" sz="2200" dirty="0"/>
          </a:p>
          <a:p>
            <a:pPr eaLnBrk="1" hangingPunct="1"/>
            <a:r>
              <a:rPr lang="zh-CN" altLang="en-US" sz="2200" dirty="0"/>
              <a:t>愚公系统是一个全量复制结合</a:t>
            </a:r>
            <a:r>
              <a:rPr lang="en-US" altLang="zh-CN" sz="2200" dirty="0"/>
              <a:t>bin-log</a:t>
            </a:r>
            <a:r>
              <a:rPr lang="zh-CN" altLang="en-US" sz="2200" dirty="0"/>
              <a:t>分析进行增量复制的工具，可以实现在不停机的情况下动态扩容、缩容和迁移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0723" name="矩形 3"/>
          <p:cNvSpPr>
            <a:spLocks noChangeArrowheads="1"/>
          </p:cNvSpPr>
          <p:nvPr/>
        </p:nvSpPr>
        <p:spPr bwMode="auto">
          <a:xfrm>
            <a:off x="1288474" y="1600201"/>
            <a:ext cx="9466118" cy="439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/>
              <a:t>UMP</a:t>
            </a:r>
            <a:r>
              <a:rPr lang="zh-CN" altLang="zh-CN" sz="2800" dirty="0"/>
              <a:t>系统是构建在一个大的集群之上的，通过多个组件的协同作业，整个系统实现了对用户透明的</a:t>
            </a:r>
            <a:r>
              <a:rPr lang="zh-CN" altLang="en-US" sz="2800" dirty="0"/>
              <a:t>各种功能：</a:t>
            </a:r>
            <a:endParaRPr lang="zh-CN" altLang="en-US" sz="2800" dirty="0"/>
          </a:p>
          <a:p>
            <a:pPr eaLnBrk="1" hangingPunct="1"/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容灾</a:t>
            </a:r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读写分离</a:t>
            </a:r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分库分表</a:t>
            </a:r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资源管理</a:t>
            </a:r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资源调度</a:t>
            </a:r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资源隔离</a:t>
            </a:r>
            <a:endParaRPr lang="en-US" altLang="zh-CN" sz="2800" dirty="0"/>
          </a:p>
          <a:p>
            <a:pPr marL="457200" indent="-457200" algn="l" eaLnBrk="1" hangingPunct="1">
              <a:buFont typeface="Wingdings" panose="05000000000000000000" charset="0"/>
              <a:buChar char="Ø"/>
            </a:pPr>
            <a:r>
              <a:rPr lang="zh-CN" altLang="zh-CN" sz="2800" dirty="0"/>
              <a:t>数据安全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1747" name="Rectangle 4"/>
          <p:cNvSpPr>
            <a:spLocks noChangeArrowheads="1"/>
          </p:cNvSpPr>
          <p:nvPr/>
        </p:nvSpPr>
        <p:spPr bwMode="auto">
          <a:xfrm>
            <a:off x="838200" y="1429079"/>
            <a:ext cx="1404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1. </a:t>
            </a:r>
            <a:r>
              <a:rPr lang="zh-CN" altLang="en-US" sz="2800" b="1"/>
              <a:t>容灾</a:t>
            </a:r>
            <a:r>
              <a:rPr lang="zh-CN" altLang="en-US" sz="2800"/>
              <a:t> </a:t>
            </a:r>
            <a:endParaRPr lang="zh-CN" altLang="en-US" sz="2800"/>
          </a:p>
        </p:txBody>
      </p:sp>
      <p:sp>
        <p:nvSpPr>
          <p:cNvPr id="31748" name="Rectangle 5"/>
          <p:cNvSpPr>
            <a:spLocks noChangeArrowheads="1"/>
          </p:cNvSpPr>
          <p:nvPr/>
        </p:nvSpPr>
        <p:spPr bwMode="auto">
          <a:xfrm>
            <a:off x="1378528" y="2281744"/>
            <a:ext cx="834707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/>
              <a:t>UMP</a:t>
            </a:r>
            <a:r>
              <a:rPr lang="zh-CN" altLang="en-US" sz="2400" dirty="0"/>
              <a:t>系统会为每个用户创建两个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实例：主库和从库。</a:t>
            </a:r>
            <a:endParaRPr lang="zh-CN" altLang="en-US" sz="2400" dirty="0"/>
          </a:p>
          <a:p>
            <a:r>
              <a:rPr lang="zh-CN" altLang="en-US" sz="2400" dirty="0"/>
              <a:t>主库和从库的状态是由</a:t>
            </a:r>
            <a:r>
              <a:rPr lang="en-US" altLang="zh-CN" sz="2400" dirty="0"/>
              <a:t>Zookeeper</a:t>
            </a:r>
            <a:r>
              <a:rPr lang="zh-CN" altLang="en-US" sz="2400" dirty="0"/>
              <a:t>负责维护的。</a:t>
            </a:r>
            <a:endParaRPr lang="en-US" altLang="zh-CN" sz="2400" dirty="0"/>
          </a:p>
          <a:p>
            <a:endParaRPr lang="en-US" altLang="zh-CN" sz="2400" dirty="0"/>
          </a:p>
          <a:p>
            <a:pPr>
              <a:buFontTx/>
              <a:buChar char="•"/>
            </a:pPr>
            <a:r>
              <a:rPr lang="zh-CN" altLang="en-US" sz="2400" dirty="0"/>
              <a:t>主从切换过程如下：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en-US" altLang="zh-CN" sz="2400" dirty="0"/>
              <a:t>Zookeeper</a:t>
            </a:r>
            <a:r>
              <a:rPr lang="zh-CN" altLang="en-US" sz="2400" dirty="0"/>
              <a:t>探测到主库故障，通知</a:t>
            </a:r>
            <a:r>
              <a:rPr lang="en-US" altLang="zh-CN" sz="2400" dirty="0"/>
              <a:t>Controller</a:t>
            </a:r>
            <a:r>
              <a:rPr lang="zh-CN" altLang="en-US" sz="2400" dirty="0"/>
              <a:t>服务器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en-US" altLang="zh-CN" sz="2400" dirty="0"/>
              <a:t>Controller</a:t>
            </a:r>
            <a:r>
              <a:rPr lang="zh-CN" altLang="en-US" sz="2400" dirty="0"/>
              <a:t>服务器启动主从切换时，会修改“路由表”，即用户名到后端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实例地址的映射关系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zh-CN" altLang="en-US" sz="2400" dirty="0"/>
              <a:t>把主库标记为不可用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zh-CN" altLang="en-US" sz="2400" dirty="0"/>
              <a:t>借助于消息中间件</a:t>
            </a:r>
            <a:r>
              <a:rPr lang="en-US" altLang="zh-CN" sz="2400" dirty="0"/>
              <a:t>RabbitMQ</a:t>
            </a:r>
            <a:r>
              <a:rPr lang="zh-CN" altLang="en-US" sz="2400" dirty="0"/>
              <a:t>通知所有</a:t>
            </a:r>
            <a:r>
              <a:rPr lang="en-US" altLang="zh-CN" sz="2400" dirty="0"/>
              <a:t>Proxy</a:t>
            </a:r>
            <a:r>
              <a:rPr lang="zh-CN" altLang="en-US" sz="2400" dirty="0"/>
              <a:t>服务器修改用户名到后端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实例地址的映射关系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/>
              <a:t>6.3.3	UMP</a:t>
            </a:r>
            <a:r>
              <a:rPr lang="zh-CN" altLang="en-US" b="1"/>
              <a:t>系统功能</a:t>
            </a:r>
            <a:endParaRPr lang="zh-CN" altLang="en-US" b="1"/>
          </a:p>
        </p:txBody>
      </p:sp>
      <p:sp>
        <p:nvSpPr>
          <p:cNvPr id="32771" name="矩形 3"/>
          <p:cNvSpPr>
            <a:spLocks noChangeArrowheads="1"/>
          </p:cNvSpPr>
          <p:nvPr/>
        </p:nvSpPr>
        <p:spPr bwMode="auto">
          <a:xfrm>
            <a:off x="1333499" y="2339109"/>
            <a:ext cx="935874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400" dirty="0"/>
              <a:t>宕机后的主库在进行恢复处理后需要再次上线，过程如下：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zh-CN" altLang="en-US" sz="2400" dirty="0"/>
              <a:t>开始复制从库的更新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zh-CN" altLang="en-US" sz="2400" dirty="0"/>
              <a:t>快完成时，从库被</a:t>
            </a:r>
            <a:r>
              <a:rPr lang="en-US" altLang="zh-CN" sz="2400" dirty="0"/>
              <a:t>Controller</a:t>
            </a:r>
            <a:r>
              <a:rPr lang="zh-CN" altLang="en-US" sz="2400" dirty="0"/>
              <a:t>服务器命令不可写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zh-CN" altLang="en-US" sz="2400" dirty="0"/>
              <a:t>复制完成，</a:t>
            </a:r>
            <a:r>
              <a:rPr lang="en-US" altLang="zh-CN" sz="2400" dirty="0"/>
              <a:t>Controller</a:t>
            </a:r>
            <a:r>
              <a:rPr lang="zh-CN" altLang="en-US" sz="2400" dirty="0"/>
              <a:t>服务器就会发起主从切换操作，并在路由表中把主库标记为可用状态</a:t>
            </a:r>
            <a:endParaRPr lang="en-US" altLang="zh-CN" sz="2400" dirty="0"/>
          </a:p>
          <a:p>
            <a:pPr lvl="1">
              <a:buFontTx/>
              <a:buChar char="•"/>
            </a:pPr>
            <a:r>
              <a:rPr lang="zh-CN" altLang="en-US" sz="2400" dirty="0"/>
              <a:t>通知</a:t>
            </a:r>
            <a:r>
              <a:rPr lang="en-US" altLang="zh-CN" sz="2400" dirty="0"/>
              <a:t>Proxy</a:t>
            </a:r>
            <a:r>
              <a:rPr lang="zh-CN" altLang="en-US" sz="2400" dirty="0"/>
              <a:t>服务器把写操作切回主库上，用户写操作可以继续执行，之后再把从库修改为可写状态</a:t>
            </a:r>
            <a:endParaRPr lang="zh-CN" altLang="en-US" sz="2000" dirty="0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838200" y="1429079"/>
            <a:ext cx="1404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1. </a:t>
            </a:r>
            <a:r>
              <a:rPr lang="zh-CN" altLang="en-US" sz="2800" b="1"/>
              <a:t>容灾</a:t>
            </a:r>
            <a:r>
              <a:rPr lang="zh-CN" altLang="en-US" sz="2800"/>
              <a:t> </a:t>
            </a:r>
            <a:endParaRPr lang="zh-CN" altLang="en-US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1056410" y="1527751"/>
            <a:ext cx="23727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/>
              <a:t>2. </a:t>
            </a:r>
            <a:r>
              <a:rPr lang="zh-CN" altLang="en-US" sz="3200" b="1" dirty="0"/>
              <a:t>读写分离</a:t>
            </a:r>
            <a:r>
              <a:rPr lang="zh-CN" altLang="en-US" sz="2800" dirty="0"/>
              <a:t> </a:t>
            </a:r>
            <a:endParaRPr lang="zh-CN" altLang="en-US" sz="2800" dirty="0"/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1617516" y="2673965"/>
            <a:ext cx="9240983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Char char="•"/>
            </a:pPr>
            <a:r>
              <a:rPr lang="zh-CN" altLang="en-US" sz="2800" dirty="0"/>
              <a:t>充分利用主从库实现用户读写操作的分离，实现负载均衡</a:t>
            </a:r>
            <a:endParaRPr lang="en-US" altLang="zh-CN" sz="2800" dirty="0"/>
          </a:p>
          <a:p>
            <a:pPr>
              <a:buFontTx/>
              <a:buChar char="•"/>
            </a:pPr>
            <a:endParaRPr lang="zh-CN" altLang="en-US" sz="2800" dirty="0"/>
          </a:p>
          <a:p>
            <a:pPr>
              <a:buFontTx/>
              <a:buChar char="•"/>
            </a:pPr>
            <a:r>
              <a:rPr lang="en-US" altLang="zh-CN" sz="2800" dirty="0"/>
              <a:t>UMP</a:t>
            </a:r>
            <a:r>
              <a:rPr lang="zh-CN" altLang="en-US" sz="2800" dirty="0"/>
              <a:t>系统实现了对于用户透明的读写分离功能，当整个功能被开启时，负责向用户提供访问</a:t>
            </a:r>
            <a:r>
              <a:rPr lang="en-US" altLang="zh-CN" sz="2800" dirty="0"/>
              <a:t>MySQL</a:t>
            </a:r>
            <a:r>
              <a:rPr lang="zh-CN" altLang="en-US" sz="2800" dirty="0"/>
              <a:t>数据库服务的</a:t>
            </a:r>
            <a:r>
              <a:rPr lang="en-US" altLang="zh-CN" sz="2800" dirty="0"/>
              <a:t>Proxy</a:t>
            </a:r>
            <a:r>
              <a:rPr lang="zh-CN" altLang="en-US" sz="2800" dirty="0"/>
              <a:t>服务器，就会对用户发起的</a:t>
            </a:r>
            <a:r>
              <a:rPr lang="en-US" altLang="zh-CN" sz="2800" dirty="0"/>
              <a:t>SQL</a:t>
            </a:r>
            <a:r>
              <a:rPr lang="zh-CN" altLang="en-US" sz="2800" dirty="0"/>
              <a:t>语句进行解析，如果属于写操作，就直接发送到主库，如果是读操作，就会被均衡地发送到主库和从库上执行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959428" y="1608793"/>
            <a:ext cx="20265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3. </a:t>
            </a:r>
            <a:r>
              <a:rPr lang="zh-CN" altLang="en-US" sz="2800" b="1" dirty="0"/>
              <a:t>分库分表</a:t>
            </a:r>
            <a:endParaRPr lang="zh-CN" altLang="en-US" sz="2800" b="1" dirty="0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1484313" y="2329190"/>
            <a:ext cx="102210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/>
              <a:t>UMP</a:t>
            </a:r>
            <a:r>
              <a:rPr lang="zh-CN" altLang="en-US" sz="2800" dirty="0"/>
              <a:t>支持对用户透明的分库分表（</a:t>
            </a:r>
            <a:r>
              <a:rPr lang="en-US" altLang="zh-CN" sz="2800" dirty="0"/>
              <a:t>shard / horizontal partition</a:t>
            </a:r>
            <a:r>
              <a:rPr lang="zh-CN" altLang="en-US" sz="2800" dirty="0"/>
              <a:t>）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1484313" y="3231883"/>
            <a:ext cx="992507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/>
              <a:t>当采用分库分表时，系统处理用户查询的过程如下：</a:t>
            </a:r>
            <a:endParaRPr lang="zh-CN" alt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Proxy</a:t>
            </a:r>
            <a:r>
              <a:rPr lang="zh-CN" altLang="en-US" sz="2400" dirty="0"/>
              <a:t>服务器解析用户</a:t>
            </a:r>
            <a:r>
              <a:rPr lang="en-US" altLang="zh-CN" sz="2400" dirty="0"/>
              <a:t>SQL</a:t>
            </a:r>
            <a:r>
              <a:rPr lang="zh-CN" altLang="en-US" sz="2400" dirty="0"/>
              <a:t>语句，提取出重写和分发</a:t>
            </a:r>
            <a:r>
              <a:rPr lang="en-US" altLang="zh-CN" sz="2400" dirty="0"/>
              <a:t>SQL</a:t>
            </a:r>
            <a:r>
              <a:rPr lang="zh-CN" altLang="en-US" sz="2400" dirty="0"/>
              <a:t>语句所需要的信息</a:t>
            </a:r>
            <a:endParaRPr lang="zh-CN" altLang="en-US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对</a:t>
            </a:r>
            <a:r>
              <a:rPr lang="en-US" altLang="zh-CN" sz="2400" dirty="0"/>
              <a:t>SQL</a:t>
            </a:r>
            <a:r>
              <a:rPr lang="zh-CN" altLang="en-US" sz="2400" dirty="0"/>
              <a:t>语句进行重写，得到多个针对相应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实例的子语句，然后把子语句分发到对应的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实例上执行</a:t>
            </a:r>
            <a:endParaRPr lang="zh-CN" altLang="en-US" sz="24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/>
              <a:t>接收来自各个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实例的</a:t>
            </a:r>
            <a:r>
              <a:rPr lang="en-US" altLang="zh-CN" sz="2400" dirty="0"/>
              <a:t>SQL</a:t>
            </a:r>
            <a:r>
              <a:rPr lang="zh-CN" altLang="en-US" sz="2400" dirty="0"/>
              <a:t>语句执行结果，合并得到最终结果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983673" y="1504631"/>
            <a:ext cx="21259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4. </a:t>
            </a:r>
            <a:r>
              <a:rPr lang="zh-CN" altLang="en-US" sz="2800" b="1"/>
              <a:t>资源管理</a:t>
            </a:r>
            <a:r>
              <a:rPr lang="zh-CN" altLang="en-US" sz="2800"/>
              <a:t> </a:t>
            </a:r>
            <a:endParaRPr lang="zh-CN" altLang="en-US" sz="2800"/>
          </a:p>
        </p:txBody>
      </p:sp>
      <p:sp>
        <p:nvSpPr>
          <p:cNvPr id="35844" name="Rectangle 5"/>
          <p:cNvSpPr>
            <a:spLocks noChangeArrowheads="1"/>
          </p:cNvSpPr>
          <p:nvPr/>
        </p:nvSpPr>
        <p:spPr bwMode="auto">
          <a:xfrm>
            <a:off x="1258744" y="2189105"/>
            <a:ext cx="9991147" cy="4154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400" dirty="0"/>
              <a:t>UMP</a:t>
            </a:r>
            <a:r>
              <a:rPr lang="zh-CN" altLang="en-US" sz="2400" dirty="0"/>
              <a:t>系统采用资源池机制来管理数据库服务器上的</a:t>
            </a:r>
            <a:r>
              <a:rPr lang="en-US" altLang="zh-CN" sz="2400" dirty="0"/>
              <a:t>CPU</a:t>
            </a:r>
            <a:r>
              <a:rPr lang="zh-CN" altLang="en-US" sz="2400" dirty="0"/>
              <a:t>、内存、磁盘等计算资源，所有的计算资源都放在资源池内进行统一分配，资源池是为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实例分配资源的基本单位</a:t>
            </a:r>
            <a:endParaRPr lang="en-US" altLang="zh-CN" sz="2400" dirty="0"/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4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/>
              <a:t>整个集群中的所有服务器会根据其机型、所在机房等因素被划分多个资源池，每台服务器会被加入到相应的资源池中</a:t>
            </a:r>
            <a:endParaRPr lang="en-US" altLang="zh-CN" sz="2400" dirty="0"/>
          </a:p>
          <a:p>
            <a:pPr marL="342900" indent="-342900">
              <a:buFont typeface="Wingdings" panose="05000000000000000000" charset="0"/>
              <a:buChar char="Ø"/>
            </a:pPr>
            <a:endParaRPr lang="zh-CN" altLang="en-US" sz="24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/>
              <a:t>对于每个具体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实例，管理员会根据应用部署在哪些机房、需要哪些计算资源等因素，为该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实例具体指定主库和从库所在的资源池，然后，系统的实例管理服务会本着负载均衡的原则，从资源池中选择负载较轻的服务器来创建</a:t>
            </a:r>
            <a:r>
              <a:rPr lang="en-US" altLang="zh-CN" sz="2400" dirty="0"/>
              <a:t>MySQL</a:t>
            </a:r>
            <a:r>
              <a:rPr lang="zh-CN" altLang="en-US" sz="2400" dirty="0"/>
              <a:t>实例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1042555" y="1398301"/>
            <a:ext cx="237276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5. </a:t>
            </a:r>
            <a:r>
              <a:rPr lang="zh-CN" altLang="en-US" sz="3200" b="1"/>
              <a:t>资源调度</a:t>
            </a:r>
            <a:r>
              <a:rPr lang="zh-CN" altLang="en-US" sz="2800"/>
              <a:t> </a:t>
            </a:r>
            <a:endParaRPr lang="zh-CN" altLang="en-US" sz="2800"/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1395845" y="2079136"/>
            <a:ext cx="8922328" cy="4399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/>
              <a:t>UMP</a:t>
            </a:r>
            <a:r>
              <a:rPr lang="zh-CN" altLang="en-US" sz="2800" dirty="0"/>
              <a:t>系统中有三种规格的用户，分别是数据量和流量比较小的用户、中等规模用户以及需要分库分表的用户</a:t>
            </a:r>
            <a:endParaRPr lang="zh-CN" altLang="en-US" sz="2800" dirty="0"/>
          </a:p>
          <a:p>
            <a:pPr eaLnBrk="1" hangingPunct="1">
              <a:lnSpc>
                <a:spcPct val="200000"/>
              </a:lnSpc>
              <a:buFontTx/>
              <a:buChar char="•"/>
            </a:pPr>
            <a:r>
              <a:rPr lang="zh-CN" altLang="en-US" sz="2800" dirty="0"/>
              <a:t>多个小规模用户可以共享同一个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</a:t>
            </a:r>
            <a:endParaRPr lang="zh-CN" altLang="en-US" sz="2800" dirty="0"/>
          </a:p>
          <a:p>
            <a:pPr eaLnBrk="1" hangingPunct="1">
              <a:lnSpc>
                <a:spcPct val="200000"/>
              </a:lnSpc>
              <a:buFontTx/>
              <a:buChar char="•"/>
            </a:pPr>
            <a:r>
              <a:rPr lang="zh-CN" altLang="en-US" sz="2800" dirty="0"/>
              <a:t>对于中等规模的用户，每个用户独占一个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</a:t>
            </a:r>
            <a:endParaRPr lang="zh-CN" altLang="en-US" sz="2800" dirty="0"/>
          </a:p>
          <a:p>
            <a:pPr eaLnBrk="1" hangingPunct="1">
              <a:lnSpc>
                <a:spcPct val="200000"/>
              </a:lnSpc>
              <a:buFontTx/>
              <a:buChar char="•"/>
            </a:pPr>
            <a:r>
              <a:rPr lang="zh-CN" altLang="en-US" sz="2800" dirty="0"/>
              <a:t>对于分库分表的用户，会占有多个独立的</a:t>
            </a:r>
            <a:r>
              <a:rPr lang="en-US" altLang="zh-CN" sz="2800" dirty="0"/>
              <a:t>MySQL</a:t>
            </a:r>
            <a:r>
              <a:rPr lang="zh-CN" altLang="en-US" sz="2800" dirty="0"/>
              <a:t>实例</a:t>
            </a:r>
            <a:endParaRPr lang="zh-CN" altLang="en-US" sz="2800" dirty="0"/>
          </a:p>
          <a:p>
            <a:pPr indent="0" eaLnBrk="1" hangingPunct="1">
              <a:lnSpc>
                <a:spcPct val="200000"/>
              </a:lnSpc>
              <a:buFontTx/>
              <a:buNone/>
            </a:pPr>
            <a:r>
              <a:rPr lang="zh-CN" altLang="en-US" sz="2800" dirty="0"/>
              <a:t>实例的迁移</a:t>
            </a:r>
            <a:r>
              <a:rPr lang="en-US" altLang="zh-CN" sz="2800" dirty="0"/>
              <a:t>--</a:t>
            </a:r>
            <a:r>
              <a:rPr lang="zh-CN" altLang="en-US" sz="2800" dirty="0"/>
              <a:t>愚公系统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1028700" y="1458018"/>
            <a:ext cx="19271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6.</a:t>
            </a:r>
            <a:r>
              <a:rPr lang="zh-CN" altLang="en-US" sz="2800" b="1"/>
              <a:t>资源隔离</a:t>
            </a:r>
            <a:endParaRPr lang="zh-CN" altLang="en-US" sz="2800" b="1"/>
          </a:p>
        </p:txBody>
      </p:sp>
      <p:sp>
        <p:nvSpPr>
          <p:cNvPr id="37892" name="Rectangle 5"/>
          <p:cNvSpPr>
            <a:spLocks noChangeArrowheads="1"/>
          </p:cNvSpPr>
          <p:nvPr/>
        </p:nvSpPr>
        <p:spPr bwMode="auto">
          <a:xfrm>
            <a:off x="3851564" y="1964538"/>
            <a:ext cx="4184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6-4 UMP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采用的两种资源隔离方式</a:t>
            </a:r>
            <a:endParaRPr lang="zh-CN" altLang="en-US" sz="2000" dirty="0"/>
          </a:p>
        </p:txBody>
      </p:sp>
      <p:graphicFrame>
        <p:nvGraphicFramePr>
          <p:cNvPr id="34883" name="Group 67"/>
          <p:cNvGraphicFramePr>
            <a:graphicFrameLocks noGrp="1"/>
          </p:cNvGraphicFramePr>
          <p:nvPr/>
        </p:nvGraphicFramePr>
        <p:xfrm>
          <a:off x="1984663" y="2408240"/>
          <a:ext cx="8077200" cy="4237313"/>
        </p:xfrm>
        <a:graphic>
          <a:graphicData uri="http://schemas.openxmlformats.org/drawingml/2006/table">
            <a:tbl>
              <a:tblPr/>
              <a:tblGrid>
                <a:gridCol w="2120900"/>
                <a:gridCol w="2540000"/>
                <a:gridCol w="3416300"/>
              </a:tblGrid>
              <a:tr h="3968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方法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应用场合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实现方式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05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用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Cgroup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限制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MySQL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进程资源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适用于多个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MySQL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实例共享同一台物理机的情况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可以对用户的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MySQL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进程最大可以使用的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CPU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使用率、内存和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IOPS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等进行限制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96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Proxy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服务器端限制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QPS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适用于多个用户共享同一个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MySQL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实例的情况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Controller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服务器监测用户的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MySQL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实例的资源消耗情况，如果明显超出配额，就通知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Proxy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服务器通过增加延迟的方法去限制用户的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QPS</a:t>
                      </a: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，以减少用户对系统资源的消耗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6.3.3	UMP</a:t>
            </a:r>
            <a:r>
              <a:rPr lang="zh-CN" altLang="en-US" b="1" dirty="0"/>
              <a:t>系统功能</a:t>
            </a:r>
            <a:endParaRPr lang="zh-CN" altLang="en-US" b="1" dirty="0"/>
          </a:p>
        </p:txBody>
      </p:sp>
      <p:sp>
        <p:nvSpPr>
          <p:cNvPr id="38915" name="Rectangle 4"/>
          <p:cNvSpPr>
            <a:spLocks noChangeArrowheads="1"/>
          </p:cNvSpPr>
          <p:nvPr/>
        </p:nvSpPr>
        <p:spPr bwMode="auto">
          <a:xfrm>
            <a:off x="1018310" y="1594686"/>
            <a:ext cx="20265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/>
              <a:t>7. </a:t>
            </a:r>
            <a:r>
              <a:rPr lang="zh-CN" altLang="en-US" sz="2800" b="1" dirty="0"/>
              <a:t>数据安全</a:t>
            </a:r>
            <a:endParaRPr lang="zh-CN" altLang="en-US" sz="2800" b="1" dirty="0"/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1193800" y="2278380"/>
            <a:ext cx="10160000" cy="399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Autofit/>
          </a:bodyPr>
          <a:lstStyle>
            <a:lvl1pPr eaLnBrk="0" hangingPunct="0"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33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多种机制：</a:t>
            </a:r>
            <a:endParaRPr lang="zh-CN" altLang="en-US" sz="2400" dirty="0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en-US" altLang="zh-CN" sz="2400" dirty="0"/>
              <a:t>SSL</a:t>
            </a:r>
            <a:r>
              <a:rPr lang="zh-CN" altLang="en-US" sz="2400" dirty="0"/>
              <a:t>数据库连接：安全套接字协议</a:t>
            </a:r>
            <a:r>
              <a:rPr lang="en-US" altLang="zh-CN" sz="2400" dirty="0"/>
              <a:t>SSL(Secure Sockets Layer)</a:t>
            </a:r>
            <a:r>
              <a:rPr lang="zh-CN" altLang="en-US" sz="2400" dirty="0"/>
              <a:t>，在传输层对网络连接进行加密</a:t>
            </a:r>
            <a:endParaRPr lang="zh-CN" altLang="en-US" sz="2400" dirty="0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zh-CN" altLang="en-US" sz="2400" dirty="0"/>
              <a:t>数据访问</a:t>
            </a:r>
            <a:r>
              <a:rPr lang="en-US" altLang="zh-CN" sz="2400" dirty="0"/>
              <a:t>IP</a:t>
            </a:r>
            <a:r>
              <a:rPr lang="zh-CN" altLang="en-US" sz="2400" dirty="0"/>
              <a:t>白名单：允许访问云数据库的</a:t>
            </a:r>
            <a:r>
              <a:rPr lang="en-US" altLang="zh-CN" sz="2400" dirty="0"/>
              <a:t>IP</a:t>
            </a:r>
            <a:r>
              <a:rPr lang="zh-CN" altLang="en-US" sz="2400" dirty="0"/>
              <a:t>地址放入“白名单”</a:t>
            </a:r>
            <a:endParaRPr lang="zh-CN" altLang="en-US" sz="2400" dirty="0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zh-CN" altLang="en-US" sz="2400" dirty="0"/>
              <a:t>记录用户操作日志：日志分析服务器，检查用户操作记录，发现隐藏的安全漏洞</a:t>
            </a:r>
            <a:endParaRPr lang="zh-CN" altLang="en-US" sz="2400" dirty="0"/>
          </a:p>
          <a:p>
            <a:pPr marL="342900" indent="-342900" eaLnBrk="1" hangingPunct="1">
              <a:lnSpc>
                <a:spcPct val="140000"/>
              </a:lnSpc>
              <a:buFont typeface="Wingdings" panose="05000000000000000000" charset="0"/>
              <a:buChar char="ü"/>
            </a:pPr>
            <a:r>
              <a:rPr lang="en-US" altLang="zh-CN" sz="2400" dirty="0"/>
              <a:t>SQL</a:t>
            </a:r>
            <a:r>
              <a:rPr lang="zh-CN" altLang="en-US" sz="2400" dirty="0"/>
              <a:t>拦截：</a:t>
            </a:r>
            <a:r>
              <a:rPr lang="en-US" altLang="zh-CN" sz="2400" dirty="0"/>
              <a:t>Proxy</a:t>
            </a:r>
            <a:r>
              <a:rPr lang="zh-CN" altLang="en-US" sz="2400" dirty="0"/>
              <a:t>服务器可以根据要求拦截多种类型的</a:t>
            </a:r>
            <a:r>
              <a:rPr lang="en-US" altLang="zh-CN" sz="2400" dirty="0"/>
              <a:t>SQL</a:t>
            </a:r>
            <a:r>
              <a:rPr lang="zh-CN" altLang="en-US" sz="2400" dirty="0"/>
              <a:t>语句，比如全表扫描语句“</a:t>
            </a:r>
            <a:r>
              <a:rPr lang="en-US" altLang="zh-CN" sz="2400" dirty="0"/>
              <a:t>select *”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本章小结</a:t>
            </a:r>
            <a:endParaRPr lang="zh-CN" altLang="en-US" b="1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815234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数据库是在云计算兴起的大背景下发展起来的，在云端为用户提供数据服务，用户不需要自己投资建设软硬件环境，只需要向云数据库服务供应商购买数据库服务，就可以方便、快捷、低成本地实现数据存储和管理功能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云数据库具有动态可扩展、高可用性、低成本、易用性、大规模并行处理等突出优点，是大数据时代企业实现低成本的大规模数据存储的理想选择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云数据库市场有很多代表性的产品可供选择。Amazon是云数据库市场的先行者，谷歌和微软公司都开发了自己的云数据库产品，都在市场上形成了自己的影响力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以UMP系统为例，介绍了</a:t>
            </a:r>
            <a:r>
              <a:rPr lang="zh-CN" altLang="en-US" sz="2000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云数据的系统架构</a:t>
            </a:r>
            <a:endParaRPr lang="zh-CN" altLang="en-US" sz="2000" dirty="0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662.269291338583,&quot;width&quot;:7832.422047244095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2f3251de-34a9-4a23-92c0-b1f3d20de4cd"/>
  <p:tag name="COMMONDATA" val="eyJoZGlkIjoiOTRkNmFmZjRjMzI3MTQ3ZWFlYjhlZWM3YzFkOWNm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5468</Words>
  <Application>WPS 演示</Application>
  <PresentationFormat>宽屏</PresentationFormat>
  <Paragraphs>442</Paragraphs>
  <Slides>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Arial</vt:lpstr>
      <vt:lpstr>宋体</vt:lpstr>
      <vt:lpstr>Wingdings</vt:lpstr>
      <vt:lpstr>黑体</vt:lpstr>
      <vt:lpstr>Lucida Sans Unicode</vt:lpstr>
      <vt:lpstr>Times New Roman</vt:lpstr>
      <vt:lpstr>等线 Light</vt:lpstr>
      <vt:lpstr>等线</vt:lpstr>
      <vt:lpstr>微软雅黑</vt:lpstr>
      <vt:lpstr>Arial Unicode MS</vt:lpstr>
      <vt:lpstr>Wingdings</vt:lpstr>
      <vt:lpstr>Office 主题​​</vt:lpstr>
      <vt:lpstr>1_Office 主题​​</vt:lpstr>
      <vt:lpstr>第6章 云数据库</vt:lpstr>
      <vt:lpstr>第6章 云数据库</vt:lpstr>
      <vt:lpstr>6.1	云数据库概述</vt:lpstr>
      <vt:lpstr>6.1.1	云计算是云数据库兴起的基础</vt:lpstr>
      <vt:lpstr>6.1.2	云数据库概念</vt:lpstr>
      <vt:lpstr>6.1.3	云数据库的特性</vt:lpstr>
      <vt:lpstr>6.1.4	 云数据库是个性化数据存储需求的理想选择</vt:lpstr>
      <vt:lpstr>6.1.5	云数据库与其他数据库的关系</vt:lpstr>
      <vt:lpstr>6.2	云数据库产品</vt:lpstr>
      <vt:lpstr>6.2.1	云数据库厂商概述</vt:lpstr>
      <vt:lpstr>6.2.2	Amazon的云数据库产品</vt:lpstr>
      <vt:lpstr>6.2.3	Google的云数据库产品</vt:lpstr>
      <vt:lpstr>6.2.4	Microsoft的云数据库产品</vt:lpstr>
      <vt:lpstr>6.2.4	Microsoft的云数据库产品</vt:lpstr>
      <vt:lpstr>6.2.5 其它：阿里云的云数据库PolarDB</vt:lpstr>
      <vt:lpstr>6.3	云数据库系统架构</vt:lpstr>
      <vt:lpstr>6.3.1	UMP系统概述</vt:lpstr>
      <vt:lpstr>6.3.2	UMP系统架构</vt:lpstr>
      <vt:lpstr>6.3.2	UMP系统架构</vt:lpstr>
      <vt:lpstr>6.3.2	UMP系统架构</vt:lpstr>
      <vt:lpstr>6.3.2	UMP系统架构</vt:lpstr>
      <vt:lpstr>6.3.2	UMP系统架构</vt:lpstr>
      <vt:lpstr>6.3.2	UMP系统架构</vt:lpstr>
      <vt:lpstr>6.3.2	UMP系统架构</vt:lpstr>
      <vt:lpstr>6.3.2	UMP系统架构</vt:lpstr>
      <vt:lpstr>6.3.3	UMP系统功能</vt:lpstr>
      <vt:lpstr>6.3.3	UMP系统功能</vt:lpstr>
      <vt:lpstr>6.3.3	UMP系统功能</vt:lpstr>
      <vt:lpstr>6.3.3	UMP系统功能</vt:lpstr>
      <vt:lpstr>6.3.3	UMP系统功能</vt:lpstr>
      <vt:lpstr>6.3.3	UMP系统功能</vt:lpstr>
      <vt:lpstr>6.3.3	UMP系统功能</vt:lpstr>
      <vt:lpstr>6.3.3	UMP系统功能</vt:lpstr>
      <vt:lpstr>6.3.3	UMP系统功能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大数据管理</dc:title>
  <dc:creator>zitong chen</dc:creator>
  <cp:lastModifiedBy>大洋儿</cp:lastModifiedBy>
  <cp:revision>80</cp:revision>
  <dcterms:created xsi:type="dcterms:W3CDTF">2023-01-31T13:03:00Z</dcterms:created>
  <dcterms:modified xsi:type="dcterms:W3CDTF">2026-03-30T16:47:54Z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4B63AFE03A304555B6F3FE4A999A38C1</vt:lpwstr>
  </property>
  <property fmtid="{D5CDD505-2E9C-101B-9397-08002B2CF9AE}" pid="3" name="KSOProductBuildVer">
    <vt:lpwstr>2052-12.1.0.25225</vt:lpwstr>
  </property>
</Properties>
</file>