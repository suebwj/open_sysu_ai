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614" r:id="rId3"/>
    <p:sldId id="420" r:id="rId4"/>
    <p:sldId id="505" r:id="rId5"/>
    <p:sldId id="565" r:id="rId6"/>
    <p:sldId id="566" r:id="rId7"/>
    <p:sldId id="506" r:id="rId8"/>
    <p:sldId id="507" r:id="rId9"/>
    <p:sldId id="508" r:id="rId10"/>
    <p:sldId id="510" r:id="rId11"/>
    <p:sldId id="567" r:id="rId13"/>
    <p:sldId id="513" r:id="rId14"/>
    <p:sldId id="516" r:id="rId15"/>
    <p:sldId id="515" r:id="rId16"/>
    <p:sldId id="519" r:id="rId17"/>
    <p:sldId id="521" r:id="rId18"/>
    <p:sldId id="523" r:id="rId19"/>
    <p:sldId id="524" r:id="rId20"/>
    <p:sldId id="532" r:id="rId21"/>
    <p:sldId id="535" r:id="rId22"/>
    <p:sldId id="536" r:id="rId23"/>
    <p:sldId id="662" r:id="rId24"/>
    <p:sldId id="539" r:id="rId25"/>
    <p:sldId id="538" r:id="rId26"/>
    <p:sldId id="542" r:id="rId27"/>
    <p:sldId id="664" r:id="rId28"/>
    <p:sldId id="665" r:id="rId29"/>
    <p:sldId id="545" r:id="rId30"/>
    <p:sldId id="546" r:id="rId31"/>
    <p:sldId id="544" r:id="rId32"/>
    <p:sldId id="547" r:id="rId33"/>
    <p:sldId id="548" r:id="rId34"/>
    <p:sldId id="549" r:id="rId35"/>
    <p:sldId id="550" r:id="rId36"/>
    <p:sldId id="551" r:id="rId37"/>
    <p:sldId id="666" r:id="rId38"/>
    <p:sldId id="552" r:id="rId39"/>
    <p:sldId id="667" r:id="rId40"/>
    <p:sldId id="553" r:id="rId41"/>
    <p:sldId id="554" r:id="rId42"/>
    <p:sldId id="555" r:id="rId43"/>
    <p:sldId id="556" r:id="rId44"/>
    <p:sldId id="557" r:id="rId45"/>
    <p:sldId id="558" r:id="rId46"/>
    <p:sldId id="559" r:id="rId47"/>
    <p:sldId id="560" r:id="rId48"/>
    <p:sldId id="561" r:id="rId49"/>
    <p:sldId id="562" r:id="rId50"/>
    <p:sldId id="563" r:id="rId51"/>
    <p:sldId id="564" r:id="rId52"/>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篇" id="{3E72D914-66BA-4579-8F52-77CB28085651}">
          <p14:sldIdLst>
            <p14:sldId id="614"/>
            <p14:sldId id="420"/>
            <p14:sldId id="505"/>
            <p14:sldId id="565"/>
            <p14:sldId id="566"/>
            <p14:sldId id="506"/>
            <p14:sldId id="507"/>
            <p14:sldId id="508"/>
            <p14:sldId id="510"/>
            <p14:sldId id="567"/>
            <p14:sldId id="513"/>
            <p14:sldId id="516"/>
            <p14:sldId id="515"/>
            <p14:sldId id="519"/>
            <p14:sldId id="521"/>
            <p14:sldId id="523"/>
            <p14:sldId id="524"/>
            <p14:sldId id="532"/>
            <p14:sldId id="535"/>
            <p14:sldId id="536"/>
            <p14:sldId id="662"/>
            <p14:sldId id="539"/>
            <p14:sldId id="538"/>
            <p14:sldId id="542"/>
            <p14:sldId id="664"/>
            <p14:sldId id="665"/>
            <p14:sldId id="545"/>
            <p14:sldId id="546"/>
            <p14:sldId id="544"/>
            <p14:sldId id="547"/>
            <p14:sldId id="548"/>
            <p14:sldId id="549"/>
            <p14:sldId id="550"/>
            <p14:sldId id="551"/>
            <p14:sldId id="666"/>
            <p14:sldId id="552"/>
            <p14:sldId id="667"/>
            <p14:sldId id="553"/>
            <p14:sldId id="554"/>
            <p14:sldId id="555"/>
            <p14:sldId id="556"/>
            <p14:sldId id="557"/>
            <p14:sldId id="558"/>
            <p14:sldId id="559"/>
            <p14:sldId id="560"/>
            <p14:sldId id="561"/>
            <p14:sldId id="562"/>
            <p14:sldId id="563"/>
            <p14:sldId id="5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gs" Target="tags/tag36.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分区：传统的数据库提供分区功能来改善大型表以及具有各种访问模式的表的可伸缩性，可管理性和提高数据库效率。</a:t>
            </a:r>
            <a:endParaRPr lang="zh-CN" altLang="en-US" dirty="0">
              <a:sym typeface="+mn-ea"/>
            </a:endParaRPr>
          </a:p>
          <a:p>
            <a:r>
              <a:rPr lang="en-US" altLang="zh-CN" dirty="0">
                <a:sym typeface="+mn-ea"/>
              </a:rPr>
              <a:t>Hive</a:t>
            </a:r>
            <a:r>
              <a:rPr lang="zh-CN" altLang="en-US" dirty="0">
                <a:sym typeface="+mn-ea"/>
              </a:rPr>
              <a:t>也支持分区功能，</a:t>
            </a:r>
            <a:r>
              <a:rPr lang="en-US" altLang="zh-CN" dirty="0">
                <a:sym typeface="+mn-ea"/>
              </a:rPr>
              <a:t>Hive</a:t>
            </a:r>
            <a:r>
              <a:rPr lang="zh-CN" altLang="en-US" dirty="0">
                <a:sym typeface="+mn-ea"/>
              </a:rPr>
              <a:t>表组织成分区的形式，根据分区列的值对表进行粗略的划分，使用分区可以加快数据的查询速度。</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R="0" defTabSz="914400" eaLnBrk="1" hangingPunct="1">
              <a:buClrTx/>
              <a:buSzTx/>
              <a:buFontTx/>
              <a:buNone/>
              <a:defRPr/>
            </a:pPr>
            <a:r>
              <a:rPr lang="zh-CN" altLang="en-US" noProof="0" dirty="0">
                <a:latin typeface="Arial" panose="020B0604020202020204" pitchFamily="34" charset="0"/>
                <a:ea typeface="宋体" panose="02010600030101010101" pitchFamily="2" charset="-122"/>
                <a:sym typeface="+mn-ea"/>
              </a:rPr>
              <a:t>数据处理过程描述如下：</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buClrTx/>
              <a:buSzTx/>
              <a:buFontTx/>
              <a:buNone/>
              <a:defRPr/>
            </a:pP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Tx/>
              <a:buAutoNum type="arabicPeriod"/>
              <a:defRPr/>
            </a:pPr>
            <a:r>
              <a:rPr lang="en-US" altLang="zh-CN" noProof="0" dirty="0">
                <a:latin typeface="Arial" panose="020B0604020202020204" pitchFamily="34" charset="0"/>
                <a:ea typeface="宋体" panose="02010600030101010101" pitchFamily="2" charset="-122"/>
                <a:sym typeface="+mn-ea"/>
              </a:rPr>
              <a:t>Web</a:t>
            </a:r>
            <a:r>
              <a:rPr lang="zh-CN" altLang="en-US" noProof="0" dirty="0">
                <a:latin typeface="Arial" panose="020B0604020202020204" pitchFamily="34" charset="0"/>
                <a:ea typeface="宋体" panose="02010600030101010101" pitchFamily="2" charset="-122"/>
                <a:sym typeface="+mn-ea"/>
              </a:rPr>
              <a:t>服务器及内部服务产生日志数据。</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Tx/>
              <a:buAutoNum type="arabicPeriod"/>
              <a:defRPr/>
            </a:pPr>
            <a:r>
              <a:rPr lang="en-US" altLang="zh-CN" noProof="0" dirty="0">
                <a:latin typeface="Arial" panose="020B0604020202020204" pitchFamily="34" charset="0"/>
                <a:ea typeface="宋体" panose="02010600030101010101" pitchFamily="2" charset="-122"/>
                <a:sym typeface="+mn-ea"/>
              </a:rPr>
              <a:t>Scribe</a:t>
            </a:r>
            <a:r>
              <a:rPr lang="zh-CN" altLang="en-US" noProof="0" dirty="0">
                <a:latin typeface="Arial" panose="020B0604020202020204" pitchFamily="34" charset="0"/>
                <a:ea typeface="宋体" panose="02010600030101010101" pitchFamily="2" charset="-122"/>
                <a:sym typeface="+mn-ea"/>
              </a:rPr>
              <a:t>服务器把日志数据集存放在</a:t>
            </a:r>
            <a:r>
              <a:rPr lang="en-US" altLang="zh-CN" noProof="0" dirty="0">
                <a:latin typeface="Arial" panose="020B0604020202020204" pitchFamily="34" charset="0"/>
                <a:ea typeface="宋体" panose="02010600030101010101" pitchFamily="2" charset="-122"/>
                <a:sym typeface="+mn-ea"/>
              </a:rPr>
              <a:t>Filers</a:t>
            </a:r>
            <a:r>
              <a:rPr lang="zh-CN" altLang="en-US" noProof="0" dirty="0">
                <a:latin typeface="Arial" panose="020B0604020202020204" pitchFamily="34" charset="0"/>
                <a:ea typeface="宋体" panose="02010600030101010101" pitchFamily="2" charset="-122"/>
                <a:sym typeface="+mn-ea"/>
              </a:rPr>
              <a:t>（网络文件服务器）上。</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Tx/>
              <a:buAutoNum type="arabicPeriod"/>
              <a:defRPr/>
            </a:pPr>
            <a:r>
              <a:rPr lang="en-US" altLang="zh-CN" noProof="0" dirty="0">
                <a:latin typeface="Arial" panose="020B0604020202020204" pitchFamily="34" charset="0"/>
                <a:ea typeface="宋体" panose="02010600030101010101" pitchFamily="2" charset="-122"/>
                <a:sym typeface="+mn-ea"/>
              </a:rPr>
              <a:t>Filers</a:t>
            </a:r>
            <a:r>
              <a:rPr lang="zh-CN" altLang="en-US" noProof="0" dirty="0">
                <a:latin typeface="Arial" panose="020B0604020202020204" pitchFamily="34" charset="0"/>
                <a:ea typeface="宋体" panose="02010600030101010101" pitchFamily="2" charset="-122"/>
                <a:sym typeface="+mn-ea"/>
              </a:rPr>
              <a:t>上的大部分日志文件被复制存放在</a:t>
            </a:r>
            <a:r>
              <a:rPr lang="en-US" altLang="zh-CN" noProof="0" dirty="0">
                <a:latin typeface="Arial" panose="020B0604020202020204" pitchFamily="34" charset="0"/>
                <a:ea typeface="宋体" panose="02010600030101010101" pitchFamily="2" charset="-122"/>
                <a:sym typeface="+mn-ea"/>
              </a:rPr>
              <a:t>HDFS</a:t>
            </a:r>
            <a:r>
              <a:rPr lang="zh-CN" altLang="en-US" noProof="0" dirty="0">
                <a:latin typeface="Arial" panose="020B0604020202020204" pitchFamily="34" charset="0"/>
                <a:ea typeface="宋体" panose="02010600030101010101" pitchFamily="2" charset="-122"/>
                <a:sym typeface="+mn-ea"/>
              </a:rPr>
              <a:t>系统中。并且维度数据也会每天从内部的</a:t>
            </a:r>
            <a:r>
              <a:rPr lang="en-US" altLang="zh-CN" noProof="0" dirty="0" err="1">
                <a:latin typeface="Arial" panose="020B0604020202020204" pitchFamily="34" charset="0"/>
                <a:ea typeface="宋体" panose="02010600030101010101" pitchFamily="2" charset="-122"/>
                <a:sym typeface="+mn-ea"/>
              </a:rPr>
              <a:t>MySQL</a:t>
            </a:r>
            <a:r>
              <a:rPr lang="zh-CN" altLang="en-US" noProof="0" dirty="0">
                <a:latin typeface="Arial" panose="020B0604020202020204" pitchFamily="34" charset="0"/>
                <a:ea typeface="宋体" panose="02010600030101010101" pitchFamily="2" charset="-122"/>
                <a:sym typeface="+mn-ea"/>
              </a:rPr>
              <a:t>数据库上复制到这个</a:t>
            </a:r>
            <a:r>
              <a:rPr lang="en-US" altLang="zh-CN" noProof="0" dirty="0">
                <a:latin typeface="Arial" panose="020B0604020202020204" pitchFamily="34" charset="0"/>
                <a:ea typeface="宋体" panose="02010600030101010101" pitchFamily="2" charset="-122"/>
                <a:sym typeface="+mn-ea"/>
              </a:rPr>
              <a:t>HDFS</a:t>
            </a:r>
            <a:r>
              <a:rPr lang="zh-CN" altLang="en-US" noProof="0" dirty="0">
                <a:latin typeface="Arial" panose="020B0604020202020204" pitchFamily="34" charset="0"/>
                <a:ea typeface="宋体" panose="02010600030101010101" pitchFamily="2" charset="-122"/>
                <a:sym typeface="+mn-ea"/>
              </a:rPr>
              <a:t>中。</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Tx/>
              <a:buAutoNum type="arabicPeriod"/>
              <a:defRPr/>
            </a:pPr>
            <a:r>
              <a:rPr lang="en-US" altLang="zh-CN" noProof="0" dirty="0">
                <a:latin typeface="Arial" panose="020B0604020202020204" pitchFamily="34" charset="0"/>
                <a:ea typeface="宋体" panose="02010600030101010101" pitchFamily="2" charset="-122"/>
                <a:sym typeface="+mn-ea"/>
              </a:rPr>
              <a:t>Hive</a:t>
            </a:r>
            <a:r>
              <a:rPr lang="zh-CN" altLang="en-US" noProof="0" dirty="0">
                <a:latin typeface="Arial" panose="020B0604020202020204" pitchFamily="34" charset="0"/>
                <a:ea typeface="宋体" panose="02010600030101010101" pitchFamily="2" charset="-122"/>
                <a:sym typeface="+mn-ea"/>
              </a:rPr>
              <a:t>为</a:t>
            </a:r>
            <a:r>
              <a:rPr lang="en-US" altLang="zh-CN" noProof="0" dirty="0">
                <a:latin typeface="Arial" panose="020B0604020202020204" pitchFamily="34" charset="0"/>
                <a:ea typeface="宋体" panose="02010600030101010101" pitchFamily="2" charset="-122"/>
                <a:sym typeface="+mn-ea"/>
              </a:rPr>
              <a:t>HDFS</a:t>
            </a:r>
            <a:r>
              <a:rPr lang="zh-CN" altLang="en-US" noProof="0" dirty="0">
                <a:latin typeface="Arial" panose="020B0604020202020204" pitchFamily="34" charset="0"/>
                <a:ea typeface="宋体" panose="02010600030101010101" pitchFamily="2" charset="-122"/>
                <a:sym typeface="+mn-ea"/>
              </a:rPr>
              <a:t>收集所有数据创建一个数据仓库，用户可以通过编写</a:t>
            </a:r>
            <a:r>
              <a:rPr lang="en-US" altLang="zh-CN" noProof="0" dirty="0" err="1">
                <a:latin typeface="Arial" panose="020B0604020202020204" pitchFamily="34" charset="0"/>
                <a:ea typeface="宋体" panose="02010600030101010101" pitchFamily="2" charset="-122"/>
                <a:sym typeface="+mn-ea"/>
              </a:rPr>
              <a:t>HiveQL</a:t>
            </a:r>
            <a:r>
              <a:rPr lang="zh-CN" altLang="en-US" noProof="0" dirty="0">
                <a:latin typeface="Arial" panose="020B0604020202020204" pitchFamily="34" charset="0"/>
                <a:ea typeface="宋体" panose="02010600030101010101" pitchFamily="2" charset="-122"/>
                <a:sym typeface="+mn-ea"/>
              </a:rPr>
              <a:t>语言创建各种概要信息和报表以及数据执行的历史分析，同时内部的</a:t>
            </a:r>
            <a:r>
              <a:rPr lang="en-US" altLang="zh-CN" noProof="0" dirty="0" err="1">
                <a:latin typeface="Arial" panose="020B0604020202020204" pitchFamily="34" charset="0"/>
                <a:ea typeface="宋体" panose="02010600030101010101" pitchFamily="2" charset="-122"/>
                <a:sym typeface="+mn-ea"/>
              </a:rPr>
              <a:t>MySQL</a:t>
            </a:r>
            <a:r>
              <a:rPr lang="zh-CN" altLang="en-US" noProof="0" dirty="0">
                <a:latin typeface="Arial" panose="020B0604020202020204" pitchFamily="34" charset="0"/>
                <a:ea typeface="宋体" panose="02010600030101010101" pitchFamily="2" charset="-122"/>
                <a:sym typeface="+mn-ea"/>
              </a:rPr>
              <a:t>数据库也可以从中获取处理后的数据。</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buClrTx/>
              <a:buSzTx/>
              <a:buFontTx/>
              <a:buAutoNum type="arabicPeriod"/>
              <a:defRPr/>
            </a:pPr>
            <a:r>
              <a:rPr lang="zh-CN" altLang="en-US" noProof="0" dirty="0">
                <a:latin typeface="Arial" panose="020B0604020202020204" pitchFamily="34" charset="0"/>
                <a:ea typeface="宋体" panose="02010600030101010101" pitchFamily="2" charset="-122"/>
                <a:sym typeface="+mn-ea"/>
              </a:rPr>
              <a:t>把需要实时联机访问的数据存放在</a:t>
            </a:r>
            <a:r>
              <a:rPr lang="en-US" altLang="zh-CN" noProof="0" dirty="0">
                <a:latin typeface="Arial" panose="020B0604020202020204" pitchFamily="34" charset="0"/>
                <a:ea typeface="宋体" panose="02010600030101010101" pitchFamily="2" charset="-122"/>
                <a:sym typeface="+mn-ea"/>
              </a:rPr>
              <a:t>Oracle</a:t>
            </a:r>
            <a:r>
              <a:rPr lang="zh-CN" altLang="en-US" noProof="0" dirty="0">
                <a:latin typeface="Arial" panose="020B0604020202020204" pitchFamily="34" charset="0"/>
                <a:ea typeface="宋体" panose="02010600030101010101" pitchFamily="2" charset="-122"/>
                <a:sym typeface="+mn-ea"/>
              </a:rPr>
              <a:t> </a:t>
            </a:r>
            <a:r>
              <a:rPr lang="en-US" altLang="zh-CN" noProof="0" dirty="0">
                <a:latin typeface="Arial" panose="020B0604020202020204" pitchFamily="34" charset="0"/>
                <a:ea typeface="宋体" panose="02010600030101010101" pitchFamily="2" charset="-122"/>
                <a:sym typeface="+mn-ea"/>
              </a:rPr>
              <a:t>RAC</a:t>
            </a:r>
            <a:r>
              <a:rPr lang="zh-CN" altLang="en-US" noProof="0" dirty="0">
                <a:latin typeface="Arial" panose="020B0604020202020204" pitchFamily="34" charset="0"/>
                <a:ea typeface="宋体" panose="02010600030101010101" pitchFamily="2" charset="-122"/>
                <a:sym typeface="+mn-ea"/>
              </a:rPr>
              <a:t>上。</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ANother Tool for Language Recognition</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）利用命令</a:t>
            </a:r>
            <a:r>
              <a:rPr lang="en-US" altLang="zh-CN" dirty="0"/>
              <a:t>create</a:t>
            </a:r>
            <a:r>
              <a:rPr lang="zh-CN" altLang="en-US" dirty="0"/>
              <a:t>创建表</a:t>
            </a:r>
            <a:r>
              <a:rPr lang="en-US" altLang="zh-CN" dirty="0"/>
              <a:t>tempTable</a:t>
            </a:r>
            <a:r>
              <a:rPr lang="zh-CN" altLang="en-US" dirty="0"/>
              <a:t>，表中有</a:t>
            </a:r>
            <a:r>
              <a:rPr lang="en-US" altLang="zh-CN" dirty="0"/>
              <a:t>f1</a:t>
            </a:r>
            <a:r>
              <a:rPr lang="zh-CN" altLang="en-US" dirty="0"/>
              <a:t>，</a:t>
            </a:r>
            <a:r>
              <a:rPr lang="en-US" altLang="zh-CN" dirty="0"/>
              <a:t>f2</a:t>
            </a:r>
            <a:r>
              <a:rPr lang="zh-CN" altLang="en-US" dirty="0"/>
              <a:t>，</a:t>
            </a:r>
            <a:r>
              <a:rPr lang="en-US" altLang="zh-CN" dirty="0"/>
              <a:t>f3</a:t>
            </a:r>
            <a:r>
              <a:rPr lang="zh-CN" altLang="en-US" dirty="0"/>
              <a:t>三个列族</a:t>
            </a:r>
            <a:endParaRPr lang="en-US" altLang="zh-CN" dirty="0"/>
          </a:p>
          <a:p>
            <a:pPr lvl="0"/>
            <a:r>
              <a:rPr lang="zh-CN" altLang="en-US" dirty="0"/>
              <a:t>（</a:t>
            </a:r>
            <a:r>
              <a:rPr lang="en-US" altLang="zh-CN" dirty="0"/>
              <a:t>2</a:t>
            </a:r>
            <a:r>
              <a:rPr lang="zh-CN" altLang="en-US" dirty="0"/>
              <a:t>）利用</a:t>
            </a:r>
            <a:r>
              <a:rPr lang="en-US" altLang="zh-CN" dirty="0"/>
              <a:t>list</a:t>
            </a:r>
            <a:r>
              <a:rPr lang="zh-CN" altLang="en-US" dirty="0"/>
              <a:t>列出</a:t>
            </a:r>
            <a:r>
              <a:rPr lang="en-US" altLang="zh-CN" dirty="0"/>
              <a:t>Hbase</a:t>
            </a:r>
            <a:r>
              <a:rPr lang="zh-CN" altLang="en-US" dirty="0"/>
              <a:t>中所有的表信息</a:t>
            </a:r>
            <a:endParaRPr lang="zh-CN" altLang="en-US" dirty="0"/>
          </a:p>
        </p:txBody>
      </p:sp>
      <p:sp>
        <p:nvSpPr>
          <p:cNvPr id="80900"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）利用命令</a:t>
            </a:r>
            <a:r>
              <a:rPr lang="en-US" altLang="zh-CN" dirty="0"/>
              <a:t>create</a:t>
            </a:r>
            <a:r>
              <a:rPr lang="zh-CN" altLang="en-US" dirty="0"/>
              <a:t>创建表</a:t>
            </a:r>
            <a:r>
              <a:rPr lang="en-US" altLang="zh-CN" dirty="0"/>
              <a:t>tempTable</a:t>
            </a:r>
            <a:r>
              <a:rPr lang="zh-CN" altLang="en-US" dirty="0"/>
              <a:t>，表中有</a:t>
            </a:r>
            <a:r>
              <a:rPr lang="en-US" altLang="zh-CN" dirty="0"/>
              <a:t>f1</a:t>
            </a:r>
            <a:r>
              <a:rPr lang="zh-CN" altLang="en-US" dirty="0"/>
              <a:t>，</a:t>
            </a:r>
            <a:r>
              <a:rPr lang="en-US" altLang="zh-CN" dirty="0"/>
              <a:t>f2</a:t>
            </a:r>
            <a:r>
              <a:rPr lang="zh-CN" altLang="en-US" dirty="0"/>
              <a:t>，</a:t>
            </a:r>
            <a:r>
              <a:rPr lang="en-US" altLang="zh-CN" dirty="0"/>
              <a:t>f3</a:t>
            </a:r>
            <a:r>
              <a:rPr lang="zh-CN" altLang="en-US" dirty="0"/>
              <a:t>三个列族</a:t>
            </a:r>
            <a:endParaRPr lang="en-US" altLang="zh-CN" dirty="0"/>
          </a:p>
          <a:p>
            <a:pPr lvl="0"/>
            <a:r>
              <a:rPr lang="zh-CN" altLang="en-US" dirty="0"/>
              <a:t>（</a:t>
            </a:r>
            <a:r>
              <a:rPr lang="en-US" altLang="zh-CN" dirty="0"/>
              <a:t>2</a:t>
            </a:r>
            <a:r>
              <a:rPr lang="zh-CN" altLang="en-US" dirty="0"/>
              <a:t>）利用</a:t>
            </a:r>
            <a:r>
              <a:rPr lang="en-US" altLang="zh-CN" dirty="0"/>
              <a:t>list</a:t>
            </a:r>
            <a:r>
              <a:rPr lang="zh-CN" altLang="en-US" dirty="0"/>
              <a:t>列出</a:t>
            </a:r>
            <a:r>
              <a:rPr lang="en-US" altLang="zh-CN" dirty="0"/>
              <a:t>Hbase</a:t>
            </a:r>
            <a:r>
              <a:rPr lang="zh-CN" altLang="en-US" dirty="0"/>
              <a:t>中所有的表信息</a:t>
            </a:r>
            <a:endParaRPr lang="zh-CN" altLang="en-US" dirty="0"/>
          </a:p>
        </p:txBody>
      </p:sp>
      <p:sp>
        <p:nvSpPr>
          <p:cNvPr id="81924"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2948"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2948"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3972"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3972"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4996"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6020"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7044"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8068"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89092"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90116"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91140"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p:txBody>
          <a:bodyPr wrap="square" lIns="91440" tIns="45720" rIns="91440" bIns="45720" anchor="t" anchorCtr="0"/>
          <a:lstStyle/>
          <a:p>
            <a:pPr lvl="0"/>
            <a:r>
              <a:rPr lang="zh-CN" altLang="en-US" dirty="0"/>
              <a:t>图片展示的实例：</a:t>
            </a:r>
            <a:endParaRPr lang="en-US" altLang="zh-CN" dirty="0"/>
          </a:p>
          <a:p>
            <a:pPr lvl="0"/>
            <a:r>
              <a:rPr lang="zh-CN" altLang="en-US" dirty="0"/>
              <a:t>（</a:t>
            </a:r>
            <a:r>
              <a:rPr lang="en-US" altLang="zh-CN" dirty="0"/>
              <a:t>1</a:t>
            </a:r>
            <a:r>
              <a:rPr lang="zh-CN" altLang="en-US" dirty="0"/>
              <a:t>）利用</a:t>
            </a:r>
            <a:r>
              <a:rPr lang="en-US" altLang="zh-CN" dirty="0"/>
              <a:t>put</a:t>
            </a:r>
            <a:r>
              <a:rPr lang="zh-CN" altLang="en-US" dirty="0"/>
              <a:t>命令向表</a:t>
            </a:r>
            <a:r>
              <a:rPr lang="en-US" altLang="zh-CN" dirty="0"/>
              <a:t>tempTalble</a:t>
            </a:r>
            <a:r>
              <a:rPr lang="zh-CN" altLang="en-US" dirty="0"/>
              <a:t>，行</a:t>
            </a:r>
            <a:r>
              <a:rPr lang="en-US" altLang="zh-CN" dirty="0"/>
              <a:t>r1</a:t>
            </a:r>
            <a:r>
              <a:rPr lang="zh-CN" altLang="en-US" dirty="0"/>
              <a:t>，列</a:t>
            </a:r>
            <a:r>
              <a:rPr lang="en-US" altLang="zh-CN" dirty="0"/>
              <a:t>f1:c1</a:t>
            </a:r>
            <a:r>
              <a:rPr lang="zh-CN" altLang="en-US" dirty="0"/>
              <a:t>中插入数据</a:t>
            </a:r>
            <a:endParaRPr lang="en-US" altLang="zh-CN" dirty="0"/>
          </a:p>
          <a:p>
            <a:pPr lvl="0"/>
            <a:r>
              <a:rPr lang="zh-CN" altLang="en-US" dirty="0"/>
              <a:t>（</a:t>
            </a:r>
            <a:r>
              <a:rPr lang="en-US" altLang="zh-CN" dirty="0"/>
              <a:t>2</a:t>
            </a:r>
            <a:r>
              <a:rPr lang="zh-CN" altLang="en-US" dirty="0"/>
              <a:t>）利用</a:t>
            </a:r>
            <a:r>
              <a:rPr lang="en-US" altLang="zh-CN" dirty="0"/>
              <a:t>scan</a:t>
            </a:r>
            <a:r>
              <a:rPr lang="zh-CN" altLang="en-US" dirty="0"/>
              <a:t>命令浏览表</a:t>
            </a:r>
            <a:r>
              <a:rPr lang="en-US" altLang="zh-CN" dirty="0"/>
              <a:t>tempTable</a:t>
            </a:r>
            <a:r>
              <a:rPr lang="zh-CN" altLang="en-US" dirty="0"/>
              <a:t>的相关信息</a:t>
            </a:r>
            <a:endParaRPr lang="zh-CN" altLang="en-US" dirty="0"/>
          </a:p>
        </p:txBody>
      </p:sp>
      <p:sp>
        <p:nvSpPr>
          <p:cNvPr id="92164" name="灯片编号占位符 3"/>
          <p:cNvSpPr txBox="1">
            <a:spLocks noGrp="1"/>
          </p:cNvSpP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4" Type="http://schemas.openxmlformats.org/officeDocument/2006/relationships/theme" Target="../theme/theme1.xml"/><Relationship Id="rId33" Type="http://schemas.openxmlformats.org/officeDocument/2006/relationships/image" Target="../media/image1.png"/><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2.xml"/><Relationship Id="rId3" Type="http://schemas.openxmlformats.org/officeDocument/2006/relationships/tags" Target="../tags/tag24.xml"/><Relationship Id="rId2" Type="http://schemas.openxmlformats.org/officeDocument/2006/relationships/image" Target="../media/image14.emf"/><Relationship Id="rId1"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solidFill>
                  <a:srgbClr val="000000"/>
                </a:solidFill>
                <a:effectLst/>
                <a:latin typeface="宋体" panose="02010600030101010101" pitchFamily="2" charset="-122"/>
                <a:ea typeface="宋体" panose="02010600030101010101" pitchFamily="2" charset="-122"/>
                <a:sym typeface="+mn-ea"/>
              </a:rPr>
              <a:t>第</a:t>
            </a:r>
            <a:r>
              <a:rPr lang="en-US" altLang="zh-CN" b="1" dirty="0">
                <a:solidFill>
                  <a:srgbClr val="000000"/>
                </a:solidFill>
                <a:effectLst/>
                <a:latin typeface="宋体" panose="02010600030101010101" pitchFamily="2" charset="-122"/>
                <a:ea typeface="宋体" panose="02010600030101010101" pitchFamily="2" charset="-122"/>
                <a:sym typeface="+mn-ea"/>
              </a:rPr>
              <a:t>9</a:t>
            </a:r>
            <a:r>
              <a:rPr lang="zh-CN" altLang="en-US" b="1" dirty="0">
                <a:solidFill>
                  <a:srgbClr val="000000"/>
                </a:solidFill>
                <a:effectLst/>
                <a:latin typeface="宋体" panose="02010600030101010101" pitchFamily="2" charset="-122"/>
                <a:ea typeface="宋体" panose="02010600030101010101" pitchFamily="2" charset="-122"/>
                <a:sym typeface="+mn-ea"/>
              </a:rPr>
              <a:t>章	数据仓库</a:t>
            </a:r>
            <a:r>
              <a:rPr lang="en-US" altLang="zh-CN" b="1" dirty="0">
                <a:solidFill>
                  <a:srgbClr val="000000"/>
                </a:solidFill>
                <a:effectLst/>
                <a:latin typeface="宋体" panose="02010600030101010101" pitchFamily="2" charset="-122"/>
                <a:ea typeface="宋体" panose="02010600030101010101" pitchFamily="2" charset="-122"/>
                <a:sym typeface="+mn-ea"/>
              </a:rPr>
              <a:t>Hive</a:t>
            </a:r>
            <a:endParaRPr lang="zh-CN" altLang="en-US"/>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92175"/>
          </a:xfrm>
        </p:spPr>
        <p:txBody>
          <a:bodyPr/>
          <a:lstStyle/>
          <a:p>
            <a:r>
              <a:rPr lang="zh-CN" altLang="en-US" sz="4800" b="1" dirty="0">
                <a:solidFill>
                  <a:srgbClr val="000000"/>
                </a:solidFill>
                <a:effectLst/>
                <a:latin typeface="宋体" panose="02010600030101010101" pitchFamily="2" charset="-122"/>
                <a:ea typeface="宋体" panose="02010600030101010101" pitchFamily="2" charset="-122"/>
                <a:sym typeface="+mn-ea"/>
              </a:rPr>
              <a:t>第</a:t>
            </a:r>
            <a:r>
              <a:rPr lang="en-US" altLang="zh-CN" sz="4800" b="1" dirty="0">
                <a:solidFill>
                  <a:srgbClr val="000000"/>
                </a:solidFill>
                <a:effectLst/>
                <a:latin typeface="宋体" panose="02010600030101010101" pitchFamily="2" charset="-122"/>
                <a:ea typeface="宋体" panose="02010600030101010101" pitchFamily="2" charset="-122"/>
                <a:sym typeface="+mn-ea"/>
              </a:rPr>
              <a:t>9</a:t>
            </a:r>
            <a:r>
              <a:rPr lang="zh-CN" altLang="en-US" sz="4800" b="1" dirty="0">
                <a:solidFill>
                  <a:srgbClr val="000000"/>
                </a:solidFill>
                <a:effectLst/>
                <a:latin typeface="宋体" panose="02010600030101010101" pitchFamily="2" charset="-122"/>
                <a:ea typeface="宋体" panose="02010600030101010101" pitchFamily="2" charset="-122"/>
                <a:sym typeface="+mn-ea"/>
              </a:rPr>
              <a:t>章	数据仓库</a:t>
            </a:r>
            <a:r>
              <a:rPr lang="en-US" altLang="zh-CN" sz="4800" b="1" dirty="0">
                <a:solidFill>
                  <a:srgbClr val="000000"/>
                </a:solidFill>
                <a:effectLst/>
                <a:latin typeface="宋体" panose="02010600030101010101" pitchFamily="2" charset="-122"/>
                <a:ea typeface="宋体" panose="02010600030101010101" pitchFamily="2" charset="-122"/>
                <a:sym typeface="+mn-ea"/>
              </a:rPr>
              <a:t>Hive</a:t>
            </a:r>
            <a:endParaRPr lang="en-US" altLang="zh-CN" sz="4800" b="1" dirty="0">
              <a:solidFill>
                <a:srgbClr val="000000"/>
              </a:solidFill>
              <a:effectLst/>
              <a:latin typeface="宋体" panose="02010600030101010101" pitchFamily="2" charset="-122"/>
              <a:ea typeface="宋体" panose="02010600030101010101" pitchFamily="2" charset="-122"/>
              <a:sym typeface="+mn-ea"/>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圆角矩形 4"/>
          <p:cNvSpPr/>
          <p:nvPr/>
        </p:nvSpPr>
        <p:spPr>
          <a:xfrm>
            <a:off x="534670" y="2572385"/>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a:t>9.1 </a:t>
            </a:r>
            <a:r>
              <a:rPr lang="zh-CN" altLang="en-US" sz="2800"/>
              <a:t>概述</a:t>
            </a:r>
            <a:endParaRPr lang="zh-CN" altLang="en-US" sz="2800"/>
          </a:p>
        </p:txBody>
      </p:sp>
      <p:sp>
        <p:nvSpPr>
          <p:cNvPr id="6" name="圆角矩形 5"/>
          <p:cNvSpPr/>
          <p:nvPr/>
        </p:nvSpPr>
        <p:spPr>
          <a:xfrm>
            <a:off x="4309745" y="155321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a:t>9.2 </a:t>
            </a:r>
            <a:r>
              <a:rPr lang="zh-CN" altLang="en-US" sz="2800"/>
              <a:t>系统架构</a:t>
            </a:r>
            <a:endParaRPr lang="zh-CN" altLang="en-US" sz="2800"/>
          </a:p>
        </p:txBody>
      </p:sp>
      <p:sp>
        <p:nvSpPr>
          <p:cNvPr id="7" name="圆角矩形 6"/>
          <p:cNvSpPr/>
          <p:nvPr/>
        </p:nvSpPr>
        <p:spPr>
          <a:xfrm>
            <a:off x="8168005" y="2489200"/>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9.3 </a:t>
            </a:r>
            <a:r>
              <a:rPr lang="zh-CN" altLang="en-US" sz="2800" dirty="0"/>
              <a:t>工作原理</a:t>
            </a:r>
            <a:endParaRPr lang="zh-CN" altLang="en-US" sz="2800" dirty="0"/>
          </a:p>
        </p:txBody>
      </p:sp>
      <p:sp>
        <p:nvSpPr>
          <p:cNvPr id="8" name="圆角矩形 7"/>
          <p:cNvSpPr/>
          <p:nvPr/>
        </p:nvSpPr>
        <p:spPr>
          <a:xfrm>
            <a:off x="8168005" y="4046855"/>
            <a:ext cx="2787015" cy="894715"/>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9.4 Hive HA</a:t>
            </a:r>
            <a:endParaRPr lang="en-US" altLang="zh-CN" sz="2800"/>
          </a:p>
          <a:p>
            <a:pPr algn="ctr"/>
            <a:r>
              <a:rPr lang="zh-CN" altLang="en-US" sz="2800"/>
              <a:t>基本原理</a:t>
            </a:r>
            <a:endParaRPr lang="zh-CN" altLang="en-US" sz="2800"/>
          </a:p>
        </p:txBody>
      </p:sp>
      <p:sp>
        <p:nvSpPr>
          <p:cNvPr id="9" name="圆角矩形 8"/>
          <p:cNvSpPr/>
          <p:nvPr/>
        </p:nvSpPr>
        <p:spPr>
          <a:xfrm>
            <a:off x="4251325" y="5791835"/>
            <a:ext cx="284607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9.5 Impala</a:t>
            </a:r>
            <a:endParaRPr lang="en-US" altLang="zh-CN" sz="2800"/>
          </a:p>
        </p:txBody>
      </p:sp>
      <p:sp>
        <p:nvSpPr>
          <p:cNvPr id="10" name="圆角矩形 9"/>
          <p:cNvSpPr/>
          <p:nvPr/>
        </p:nvSpPr>
        <p:spPr>
          <a:xfrm>
            <a:off x="477520" y="4351655"/>
            <a:ext cx="2910205" cy="590550"/>
          </a:xfrm>
          <a:prstGeom prst="roundRect">
            <a:avLst/>
          </a:prstGeom>
          <a:solidFill>
            <a:schemeClr val="bg2"/>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t>9.6 </a:t>
            </a:r>
            <a:r>
              <a:rPr lang="zh-CN" altLang="en-US" sz="2800"/>
              <a:t>实践编程</a:t>
            </a:r>
            <a:endParaRPr lang="zh-CN" altLang="en-US" sz="2800"/>
          </a:p>
        </p:txBody>
      </p:sp>
      <p:pic>
        <p:nvPicPr>
          <p:cNvPr id="102" name="图片 101"/>
          <p:cNvPicPr/>
          <p:nvPr/>
        </p:nvPicPr>
        <p:blipFill>
          <a:blip r:embed="rId1"/>
          <a:stretch>
            <a:fillRect/>
          </a:stretch>
        </p:blipFill>
        <p:spPr>
          <a:xfrm>
            <a:off x="3547745" y="2573655"/>
            <a:ext cx="4394835" cy="283019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500"/>
                                        <p:tgtEl>
                                          <p:spTgt spid="9"/>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right)">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bldLvl="0" animBg="1"/>
      <p:bldP spid="6" grpId="1" animBg="1"/>
      <p:bldP spid="7" grpId="0" bldLvl="0" animBg="1"/>
      <p:bldP spid="7" grpId="1" animBg="1"/>
      <p:bldP spid="8" grpId="0" bldLvl="0" animBg="1"/>
      <p:bldP spid="8" grpId="1" animBg="1"/>
      <p:bldP spid="9" grpId="0" bldLvl="0" animBg="1"/>
      <p:bldP spid="9" grpId="1" animBg="1"/>
      <p:bldP spid="10" grpId="0" bldLvl="0" animBg="1"/>
      <p:bldP spid="10"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1440" tIns="45720" rIns="91440" bIns="45720" anchor="ctr" anchorCtr="0"/>
          <a:lstStyle/>
          <a:p>
            <a:r>
              <a:rPr lang="en-US" altLang="zh-CN" b="1" dirty="0"/>
              <a:t>9.1	</a:t>
            </a:r>
            <a:r>
              <a:rPr lang="zh-CN" altLang="en-US" b="1" dirty="0"/>
              <a:t>概述</a:t>
            </a:r>
            <a:endParaRPr lang="zh-CN" altLang="en-US" b="1" dirty="0"/>
          </a:p>
        </p:txBody>
      </p:sp>
      <p:sp>
        <p:nvSpPr>
          <p:cNvPr id="14339" name="Rectangle 3"/>
          <p:cNvSpPr>
            <a:spLocks noGrp="1"/>
          </p:cNvSpPr>
          <p:nvPr>
            <p:ph idx="1"/>
          </p:nvPr>
        </p:nvSpPr>
        <p:spPr/>
        <p:txBody>
          <a:bodyPr vert="horz" wrap="square" lIns="91440" tIns="45720" rIns="91440" bIns="45720" anchor="t" anchorCtr="0">
            <a:normAutofit/>
          </a:bodyPr>
          <a:lstStyle/>
          <a:p>
            <a:pPr marL="0" indent="0">
              <a:lnSpc>
                <a:spcPct val="120000"/>
              </a:lnSpc>
              <a:buNone/>
            </a:pPr>
            <a:r>
              <a:rPr lang="en-US" altLang="zh-CN" sz="3300" dirty="0"/>
              <a:t>9.1.1	</a:t>
            </a:r>
            <a:r>
              <a:rPr lang="zh-CN" altLang="en-US" sz="3300" dirty="0"/>
              <a:t>数据仓库概念</a:t>
            </a:r>
            <a:endParaRPr lang="zh-CN" altLang="en-US" sz="3300" dirty="0"/>
          </a:p>
          <a:p>
            <a:pPr marL="0" indent="0">
              <a:lnSpc>
                <a:spcPct val="120000"/>
              </a:lnSpc>
              <a:buNone/>
            </a:pPr>
            <a:r>
              <a:rPr lang="en-US" altLang="zh-CN" sz="3300" dirty="0"/>
              <a:t>9.1.2	</a:t>
            </a:r>
            <a:r>
              <a:rPr lang="zh-CN" altLang="en-US" sz="3300" dirty="0"/>
              <a:t>传统数据仓库面临的挑战</a:t>
            </a:r>
            <a:endParaRPr lang="zh-CN" altLang="en-US" sz="3300" dirty="0"/>
          </a:p>
          <a:p>
            <a:pPr marL="0" indent="0">
              <a:lnSpc>
                <a:spcPct val="120000"/>
              </a:lnSpc>
              <a:buNone/>
            </a:pPr>
            <a:r>
              <a:rPr lang="en-US" altLang="zh-CN" sz="3300" dirty="0">
                <a:sym typeface="+mn-ea"/>
              </a:rPr>
              <a:t>9.1.3	Hive</a:t>
            </a:r>
            <a:r>
              <a:rPr lang="zh-CN" altLang="en-US" sz="3300" dirty="0">
                <a:sym typeface="+mn-ea"/>
              </a:rPr>
              <a:t>简介</a:t>
            </a:r>
            <a:endParaRPr lang="zh-CN" altLang="en-US" sz="3300" dirty="0"/>
          </a:p>
          <a:p>
            <a:pPr marL="0" indent="0">
              <a:lnSpc>
                <a:spcPct val="120000"/>
              </a:lnSpc>
              <a:buNone/>
            </a:pPr>
            <a:r>
              <a:rPr lang="en-US" altLang="zh-CN" sz="3300" dirty="0">
                <a:sym typeface="+mn-ea"/>
              </a:rPr>
              <a:t>9.1.4	Hive</a:t>
            </a:r>
            <a:r>
              <a:rPr lang="zh-CN" altLang="en-US" sz="3300" dirty="0">
                <a:sym typeface="+mn-ea"/>
              </a:rPr>
              <a:t>与</a:t>
            </a:r>
            <a:r>
              <a:rPr lang="en-US" altLang="zh-CN" sz="3300" dirty="0">
                <a:sym typeface="+mn-ea"/>
              </a:rPr>
              <a:t>Hadoop</a:t>
            </a:r>
            <a:r>
              <a:rPr lang="zh-CN" altLang="en-US" sz="3300" dirty="0">
                <a:sym typeface="+mn-ea"/>
              </a:rPr>
              <a:t>生态系统中其他组件的关系</a:t>
            </a:r>
            <a:endParaRPr lang="zh-CN" altLang="en-US" sz="3300" dirty="0"/>
          </a:p>
          <a:p>
            <a:pPr marL="0" indent="0">
              <a:lnSpc>
                <a:spcPct val="120000"/>
              </a:lnSpc>
              <a:buNone/>
            </a:pPr>
            <a:r>
              <a:rPr lang="en-US" altLang="zh-CN" sz="3300" dirty="0"/>
              <a:t>9.1.5	Hive</a:t>
            </a:r>
            <a:r>
              <a:rPr lang="zh-CN" altLang="en-US" sz="3300" dirty="0"/>
              <a:t>与传统数据库的对比分析</a:t>
            </a:r>
            <a:endParaRPr lang="zh-CN" altLang="en-US" sz="3300" dirty="0"/>
          </a:p>
          <a:p>
            <a:pPr marL="0" indent="0">
              <a:lnSpc>
                <a:spcPct val="120000"/>
              </a:lnSpc>
              <a:buNone/>
            </a:pPr>
            <a:r>
              <a:rPr lang="en-US" altLang="zh-CN" sz="3300" dirty="0"/>
              <a:t>9.1.6	Hive</a:t>
            </a:r>
            <a:r>
              <a:rPr lang="zh-CN" altLang="en-US" sz="3300" dirty="0"/>
              <a:t>在企业中的部署案例</a:t>
            </a:r>
            <a:endParaRPr lang="zh-CN" altLang="en-US" sz="3300" dirty="0"/>
          </a:p>
          <a:p>
            <a:pPr>
              <a:buNone/>
            </a:pPr>
            <a:endParaRPr lang="zh-CN" altLang="en-US" sz="2400" dirty="0"/>
          </a:p>
          <a:p>
            <a:endParaRPr lang="zh-CN"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ym typeface="+mn-ea"/>
              </a:rPr>
              <a:t>9.1.1	</a:t>
            </a:r>
            <a:r>
              <a:rPr lang="zh-CN" altLang="en-US" b="1" dirty="0">
                <a:sym typeface="+mn-ea"/>
              </a:rPr>
              <a:t>数据仓库概念</a:t>
            </a:r>
            <a:endParaRPr lang="zh-CN" altLang="en-US" b="1"/>
          </a:p>
        </p:txBody>
      </p:sp>
      <p:sp>
        <p:nvSpPr>
          <p:cNvPr id="3" name="内容占位符 2"/>
          <p:cNvSpPr>
            <a:spLocks noGrp="1"/>
          </p:cNvSpPr>
          <p:nvPr>
            <p:ph idx="1"/>
          </p:nvPr>
        </p:nvSpPr>
        <p:spPr>
          <a:xfrm>
            <a:off x="838200" y="1565910"/>
            <a:ext cx="10515600" cy="915035"/>
          </a:xfrm>
        </p:spPr>
        <p:txBody>
          <a:bodyPr/>
          <a:lstStyle/>
          <a:p>
            <a:pPr marL="0" indent="0">
              <a:buNone/>
            </a:pPr>
            <a:r>
              <a:rPr lang="zh-CN" altLang="en-US"/>
              <a:t>定义：数据仓库是一个面向主题的、集成的、相对稳定的、反映历史变化的数据集合，用于支持管理决策。</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6" name="图片 5" descr="图片7"/>
          <p:cNvPicPr>
            <a:picLocks noChangeAspect="1"/>
          </p:cNvPicPr>
          <p:nvPr/>
        </p:nvPicPr>
        <p:blipFill>
          <a:blip r:embed="rId1"/>
          <a:stretch>
            <a:fillRect/>
          </a:stretch>
        </p:blipFill>
        <p:spPr>
          <a:xfrm>
            <a:off x="1607185" y="2481580"/>
            <a:ext cx="9088755" cy="4239895"/>
          </a:xfrm>
          <a:prstGeom prst="rect">
            <a:avLst/>
          </a:prstGeom>
        </p:spPr>
      </p:pic>
      <p:sp>
        <p:nvSpPr>
          <p:cNvPr id="7" name="矩形 6"/>
          <p:cNvSpPr/>
          <p:nvPr/>
        </p:nvSpPr>
        <p:spPr>
          <a:xfrm>
            <a:off x="640715" y="3316605"/>
            <a:ext cx="676910" cy="233553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3200"/>
              <a:t>体系结构</a:t>
            </a:r>
            <a:endParaRPr lang="zh-CN" altLang="en-US"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ym typeface="+mn-ea"/>
              </a:rPr>
              <a:t>9.1.2	</a:t>
            </a:r>
            <a:r>
              <a:rPr lang="zh-CN" altLang="en-US" b="1" dirty="0">
                <a:sym typeface="+mn-ea"/>
              </a:rPr>
              <a:t>传统数据仓库面临的挑战</a:t>
            </a:r>
            <a:endParaRPr lang="zh-CN" altLang="en-US" b="1"/>
          </a:p>
        </p:txBody>
      </p:sp>
      <p:sp>
        <p:nvSpPr>
          <p:cNvPr id="3" name="内容占位符 2"/>
          <p:cNvSpPr>
            <a:spLocks noGrp="1"/>
          </p:cNvSpPr>
          <p:nvPr>
            <p:ph idx="1"/>
          </p:nvPr>
        </p:nvSpPr>
        <p:spPr>
          <a:xfrm>
            <a:off x="838200" y="1825625"/>
            <a:ext cx="6974840" cy="4351655"/>
          </a:xfrm>
        </p:spPr>
        <p:txBody>
          <a:bodyPr/>
          <a:lstStyle/>
          <a:p>
            <a:r>
              <a:rPr lang="zh-CN" altLang="en-US"/>
              <a:t>无法满足快速增长的海量数据存储需求</a:t>
            </a:r>
            <a:endParaRPr lang="zh-CN" altLang="en-US"/>
          </a:p>
          <a:p>
            <a:endParaRPr lang="zh-CN" altLang="en-US"/>
          </a:p>
          <a:p>
            <a:r>
              <a:rPr lang="zh-CN" altLang="en-US"/>
              <a:t>无法有效处理不同类型的数据</a:t>
            </a:r>
            <a:endParaRPr lang="zh-CN" altLang="en-US"/>
          </a:p>
          <a:p>
            <a:endParaRPr lang="zh-CN" altLang="en-US"/>
          </a:p>
          <a:p>
            <a:r>
              <a:rPr lang="zh-CN" altLang="en-US"/>
              <a:t>计算和处理能力不足</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云形标注 4"/>
          <p:cNvSpPr/>
          <p:nvPr/>
        </p:nvSpPr>
        <p:spPr>
          <a:xfrm>
            <a:off x="7316470" y="3251835"/>
            <a:ext cx="3069590" cy="1765935"/>
          </a:xfrm>
          <a:prstGeom prst="cloudCallout">
            <a:avLst>
              <a:gd name="adj1" fmla="val -12205"/>
              <a:gd name="adj2" fmla="val 31984"/>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3200"/>
              <a:t>大数据</a:t>
            </a:r>
            <a:r>
              <a:rPr lang="en-US" altLang="zh-CN" sz="3200"/>
              <a:t>4V</a:t>
            </a:r>
            <a:endParaRPr lang="en-US" altLang="zh-CN" sz="3200"/>
          </a:p>
        </p:txBody>
      </p:sp>
    </p:spTree>
  </p:cSld>
  <p:clrMapOvr>
    <a:masterClrMapping/>
  </p:clrMapOvr>
  <p:timing>
    <p:tnLst>
      <p:par>
        <p:cTn id="1" dur="indefinite" restart="never" nodeType="tmRoot"/>
      </p:par>
    </p:tnLst>
    <p:bldLst>
      <p:bldP spid="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2"/>
          <p:cNvSpPr>
            <a:spLocks noGrp="1"/>
          </p:cNvSpPr>
          <p:nvPr>
            <p:ph type="title"/>
          </p:nvPr>
        </p:nvSpPr>
        <p:spPr/>
        <p:txBody>
          <a:bodyPr vert="horz" wrap="square" lIns="91440" tIns="45720" rIns="91440" bIns="45720" anchor="ctr" anchorCtr="0"/>
          <a:lstStyle/>
          <a:p>
            <a:r>
              <a:rPr lang="en-US" altLang="zh-CN" b="1" dirty="0"/>
              <a:t>9.1.3 Hive</a:t>
            </a:r>
            <a:r>
              <a:rPr lang="zh-CN" altLang="en-US" b="1" dirty="0"/>
              <a:t>简介</a:t>
            </a:r>
            <a:endParaRPr lang="zh-CN" altLang="en-US" b="1" dirty="0"/>
          </a:p>
        </p:txBody>
      </p:sp>
      <p:sp>
        <p:nvSpPr>
          <p:cNvPr id="15363" name="TextBox 4"/>
          <p:cNvSpPr txBox="1"/>
          <p:nvPr/>
        </p:nvSpPr>
        <p:spPr>
          <a:xfrm>
            <a:off x="967105" y="1524000"/>
            <a:ext cx="9660255" cy="4831080"/>
          </a:xfrm>
          <a:prstGeom prst="rect">
            <a:avLst/>
          </a:prstGeom>
          <a:noFill/>
          <a:ln w="9525">
            <a:noFill/>
          </a:ln>
        </p:spPr>
        <p:txBody>
          <a:bodyPr wrap="square">
            <a:spAutoFit/>
          </a:bodyPr>
          <a:lstStyle/>
          <a:p>
            <a:pPr indent="0" eaLnBrk="1" hangingPunct="1">
              <a:buNone/>
            </a:pPr>
            <a:r>
              <a:rPr lang="en-US" altLang="zh-CN" sz="2800" dirty="0">
                <a:latin typeface="Arial" panose="020B0604020202020204" pitchFamily="34" charset="0"/>
              </a:rPr>
              <a:t>Hive</a:t>
            </a:r>
            <a:r>
              <a:rPr lang="zh-CN" altLang="en-US" sz="2800" dirty="0">
                <a:latin typeface="Arial" panose="020B0604020202020204" pitchFamily="34" charset="0"/>
              </a:rPr>
              <a:t>是一个构建于</a:t>
            </a:r>
            <a:r>
              <a:rPr lang="en-US" altLang="zh-CN" sz="2800" dirty="0">
                <a:latin typeface="Arial" panose="020B0604020202020204" pitchFamily="34" charset="0"/>
              </a:rPr>
              <a:t>Hadoop</a:t>
            </a:r>
            <a:r>
              <a:rPr lang="zh-CN" altLang="en-US" sz="2800" dirty="0">
                <a:latin typeface="Arial" panose="020B0604020202020204" pitchFamily="34" charset="0"/>
              </a:rPr>
              <a:t>顶层的数据仓库工具，</a:t>
            </a:r>
            <a:r>
              <a:rPr lang="zh-CN" altLang="en-US" sz="2800" dirty="0">
                <a:latin typeface="Arial" panose="020B0604020202020204" pitchFamily="34" charset="0"/>
                <a:sym typeface="+mn-ea"/>
              </a:rPr>
              <a:t>是一个可以提供有效、合理、直观组织和使用数据的分析工具</a:t>
            </a:r>
            <a:endParaRPr lang="en-US" altLang="zh-CN" sz="2800" dirty="0">
              <a:latin typeface="Arial" panose="020B0604020202020204" pitchFamily="34" charset="0"/>
            </a:endParaRPr>
          </a:p>
          <a:p>
            <a:pPr indent="0" eaLnBrk="1" hangingPunct="1">
              <a:buNone/>
            </a:pPr>
            <a:endParaRPr lang="zh-CN" altLang="en-US" sz="2800" dirty="0">
              <a:latin typeface="Arial" panose="020B0604020202020204" pitchFamily="34" charset="0"/>
            </a:endParaRPr>
          </a:p>
          <a:p>
            <a:pPr indent="0" eaLnBrk="1" hangingPunct="1">
              <a:buNone/>
            </a:pPr>
            <a:r>
              <a:rPr lang="zh-CN" altLang="en-US" sz="2800" dirty="0">
                <a:latin typeface="Arial" panose="020B0604020202020204" pitchFamily="34" charset="0"/>
              </a:rPr>
              <a:t>存储：</a:t>
            </a:r>
            <a:endParaRPr lang="zh-CN" altLang="en-US" sz="2800" dirty="0">
              <a:latin typeface="Arial" panose="020B0604020202020204" pitchFamily="34" charset="0"/>
            </a:endParaRPr>
          </a:p>
          <a:p>
            <a:pPr eaLnBrk="1" hangingPunct="1">
              <a:buChar char="•"/>
            </a:pPr>
            <a:r>
              <a:rPr lang="zh-CN" altLang="en-US" sz="2800" dirty="0">
                <a:latin typeface="Arial" panose="020B0604020202020204" pitchFamily="34" charset="0"/>
              </a:rPr>
              <a:t>某种程度上可看作用户编程接口，本身不存储和处理数据</a:t>
            </a:r>
            <a:endParaRPr lang="en-US" altLang="zh-CN" sz="2800" dirty="0">
              <a:latin typeface="Arial" panose="020B0604020202020204" pitchFamily="34" charset="0"/>
            </a:endParaRPr>
          </a:p>
          <a:p>
            <a:pPr eaLnBrk="1" hangingPunct="1">
              <a:buChar char="•"/>
            </a:pPr>
            <a:r>
              <a:rPr lang="zh-CN" altLang="en-US" sz="2800" dirty="0">
                <a:latin typeface="Arial" panose="020B0604020202020204" pitchFamily="34" charset="0"/>
              </a:rPr>
              <a:t>依赖分布式文件系统</a:t>
            </a:r>
            <a:r>
              <a:rPr lang="en-US" altLang="zh-CN" sz="2800" dirty="0">
                <a:latin typeface="Arial" panose="020B0604020202020204" pitchFamily="34" charset="0"/>
              </a:rPr>
              <a:t>HDFS</a:t>
            </a:r>
            <a:r>
              <a:rPr lang="zh-CN" altLang="en-US" sz="2800" dirty="0">
                <a:latin typeface="Arial" panose="020B0604020202020204" pitchFamily="34" charset="0"/>
              </a:rPr>
              <a:t>存储数据</a:t>
            </a:r>
            <a:endParaRPr lang="zh-CN" altLang="en-US" sz="2800" dirty="0">
              <a:latin typeface="Arial" panose="020B0604020202020204" pitchFamily="34" charset="0"/>
            </a:endParaRPr>
          </a:p>
          <a:p>
            <a:pPr indent="0" eaLnBrk="1" hangingPunct="1">
              <a:buNone/>
            </a:pPr>
            <a:endParaRPr lang="en-US" altLang="zh-CN" sz="2800" dirty="0">
              <a:latin typeface="Arial" panose="020B0604020202020204" pitchFamily="34" charset="0"/>
            </a:endParaRPr>
          </a:p>
          <a:p>
            <a:pPr indent="0" eaLnBrk="1" hangingPunct="1">
              <a:buNone/>
            </a:pPr>
            <a:r>
              <a:rPr lang="zh-CN" altLang="en-US" sz="2800" dirty="0">
                <a:latin typeface="Arial" panose="020B0604020202020204" pitchFamily="34" charset="0"/>
              </a:rPr>
              <a:t>计算：</a:t>
            </a:r>
            <a:endParaRPr lang="en-US" altLang="zh-CN" sz="2800" dirty="0">
              <a:latin typeface="Arial" panose="020B0604020202020204" pitchFamily="34" charset="0"/>
            </a:endParaRPr>
          </a:p>
          <a:p>
            <a:pPr eaLnBrk="1" hangingPunct="1">
              <a:buChar char="•"/>
            </a:pPr>
            <a:r>
              <a:rPr lang="zh-CN" altLang="en-US" sz="2800" dirty="0">
                <a:latin typeface="Arial" panose="020B0604020202020204" pitchFamily="34" charset="0"/>
              </a:rPr>
              <a:t>依赖</a:t>
            </a:r>
            <a:r>
              <a:rPr lang="zh-CN" altLang="zh-CN" sz="2800" dirty="0">
                <a:latin typeface="Arial" panose="020B0604020202020204" pitchFamily="34" charset="0"/>
              </a:rPr>
              <a:t>分布式并行计算模型</a:t>
            </a:r>
            <a:r>
              <a:rPr lang="en-US" altLang="zh-CN" sz="2800" dirty="0">
                <a:latin typeface="Arial" panose="020B0604020202020204" pitchFamily="34" charset="0"/>
              </a:rPr>
              <a:t>MapReduce</a:t>
            </a:r>
            <a:r>
              <a:rPr lang="zh-CN" altLang="en-US" sz="2800" dirty="0">
                <a:latin typeface="Arial" panose="020B0604020202020204" pitchFamily="34" charset="0"/>
              </a:rPr>
              <a:t>处理数据</a:t>
            </a:r>
            <a:endParaRPr lang="zh-CN" altLang="en-US" sz="2800" dirty="0">
              <a:latin typeface="Arial" panose="020B0604020202020204" pitchFamily="34" charset="0"/>
            </a:endParaRPr>
          </a:p>
          <a:p>
            <a:pPr eaLnBrk="1" hangingPunct="1">
              <a:buChar char="•"/>
            </a:pPr>
            <a:r>
              <a:rPr lang="zh-CN" altLang="en-US" sz="2800" dirty="0">
                <a:latin typeface="Arial" panose="020B0604020202020204" pitchFamily="34" charset="0"/>
              </a:rPr>
              <a:t>定义了简单的类</a:t>
            </a:r>
            <a:r>
              <a:rPr lang="en-US" altLang="zh-CN" sz="2800" dirty="0">
                <a:latin typeface="Arial" panose="020B0604020202020204" pitchFamily="34" charset="0"/>
              </a:rPr>
              <a:t>SQL </a:t>
            </a:r>
            <a:r>
              <a:rPr lang="zh-CN" altLang="en-US" sz="2800" dirty="0">
                <a:latin typeface="Arial" panose="020B0604020202020204" pitchFamily="34" charset="0"/>
              </a:rPr>
              <a:t>查询语言</a:t>
            </a:r>
            <a:r>
              <a:rPr lang="en-US" altLang="zh-CN" sz="2800" dirty="0">
                <a:latin typeface="Arial" panose="020B0604020202020204" pitchFamily="34" charset="0"/>
              </a:rPr>
              <a:t>——HiveQL</a:t>
            </a:r>
            <a:endParaRPr lang="en-US" altLang="zh-CN" sz="2800" dirty="0">
              <a:latin typeface="Arial" panose="020B0604020202020204" pitchFamily="34" charset="0"/>
            </a:endParaRPr>
          </a:p>
          <a:p>
            <a:pPr eaLnBrk="1" hangingPunct="1">
              <a:buChar char="•"/>
            </a:pPr>
            <a:r>
              <a:rPr lang="zh-CN" altLang="en-US" sz="2800" dirty="0">
                <a:latin typeface="Arial" panose="020B0604020202020204" pitchFamily="34" charset="0"/>
              </a:rPr>
              <a:t>用户可以通过编写的</a:t>
            </a:r>
            <a:r>
              <a:rPr lang="en-US" altLang="zh-CN" sz="2800" dirty="0">
                <a:latin typeface="Arial" panose="020B0604020202020204" pitchFamily="34" charset="0"/>
              </a:rPr>
              <a:t>HiveQL</a:t>
            </a:r>
            <a:r>
              <a:rPr lang="zh-CN" altLang="en-US" sz="2800" dirty="0">
                <a:latin typeface="Arial" panose="020B0604020202020204" pitchFamily="34" charset="0"/>
              </a:rPr>
              <a:t>语句运行</a:t>
            </a:r>
            <a:r>
              <a:rPr lang="en-US" altLang="zh-CN" sz="2800" dirty="0">
                <a:latin typeface="Arial" panose="020B0604020202020204" pitchFamily="34" charset="0"/>
              </a:rPr>
              <a:t>MapReduce</a:t>
            </a:r>
            <a:r>
              <a:rPr lang="zh-CN" altLang="en-US" sz="2800" dirty="0">
                <a:latin typeface="Arial" panose="020B0604020202020204" pitchFamily="34" charset="0"/>
              </a:rPr>
              <a:t>任务</a:t>
            </a:r>
            <a:endParaRPr lang="en-US" altLang="zh-CN" sz="28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2"/>
          <p:cNvSpPr>
            <a:spLocks noGrp="1"/>
          </p:cNvSpPr>
          <p:nvPr>
            <p:ph type="title"/>
          </p:nvPr>
        </p:nvSpPr>
        <p:spPr/>
        <p:txBody>
          <a:bodyPr vert="horz" wrap="square" lIns="91440" tIns="45720" rIns="91440" bIns="45720" anchor="ctr" anchorCtr="0"/>
          <a:lstStyle/>
          <a:p>
            <a:r>
              <a:rPr lang="en-US" altLang="zh-CN" b="1" dirty="0"/>
              <a:t>9.1.3 Hive</a:t>
            </a:r>
            <a:r>
              <a:rPr lang="zh-CN" altLang="en-US" b="1" dirty="0"/>
              <a:t>简介</a:t>
            </a:r>
            <a:endParaRPr lang="zh-CN" altLang="en-US" b="1" dirty="0"/>
          </a:p>
        </p:txBody>
      </p:sp>
      <p:sp>
        <p:nvSpPr>
          <p:cNvPr id="16387" name="矩形 3"/>
          <p:cNvSpPr/>
          <p:nvPr/>
        </p:nvSpPr>
        <p:spPr>
          <a:xfrm>
            <a:off x="1177290" y="1358265"/>
            <a:ext cx="7649845" cy="521970"/>
          </a:xfrm>
          <a:prstGeom prst="rect">
            <a:avLst/>
          </a:prstGeom>
          <a:noFill/>
          <a:ln w="9525">
            <a:noFill/>
          </a:ln>
        </p:spPr>
        <p:txBody>
          <a:bodyPr wrap="none">
            <a:spAutoFit/>
          </a:bodyPr>
          <a:lstStyle/>
          <a:p>
            <a:pPr eaLnBrk="1" hangingPunct="1"/>
            <a:r>
              <a:rPr lang="en-US" altLang="zh-CN" sz="2800" dirty="0">
                <a:latin typeface="Arial" panose="020B0604020202020204" pitchFamily="34" charset="0"/>
              </a:rPr>
              <a:t>Hive</a:t>
            </a:r>
            <a:r>
              <a:rPr lang="zh-CN" altLang="en-US" sz="2800" dirty="0">
                <a:latin typeface="Arial" panose="020B0604020202020204" pitchFamily="34" charset="0"/>
              </a:rPr>
              <a:t>具有的特点非常适用于数据仓库应用程序。</a:t>
            </a:r>
            <a:endParaRPr lang="zh-CN" altLang="en-US" sz="2800" dirty="0">
              <a:latin typeface="Arial" panose="020B0604020202020204" pitchFamily="34" charset="0"/>
            </a:endParaRPr>
          </a:p>
        </p:txBody>
      </p:sp>
      <p:sp>
        <p:nvSpPr>
          <p:cNvPr id="16388" name="矩形 4"/>
          <p:cNvSpPr/>
          <p:nvPr/>
        </p:nvSpPr>
        <p:spPr>
          <a:xfrm>
            <a:off x="1249045" y="2006600"/>
            <a:ext cx="9464675" cy="3784600"/>
          </a:xfrm>
          <a:prstGeom prst="rect">
            <a:avLst/>
          </a:prstGeom>
          <a:noFill/>
          <a:ln w="9525">
            <a:noFill/>
          </a:ln>
        </p:spPr>
        <p:txBody>
          <a:bodyPr wrap="square">
            <a:spAutoFit/>
          </a:bodyPr>
          <a:lstStyle/>
          <a:p>
            <a:pPr eaLnBrk="1" hangingPunct="1">
              <a:buChar char="•"/>
            </a:pPr>
            <a:r>
              <a:rPr lang="zh-CN" altLang="en-US" sz="2400" b="1" dirty="0">
                <a:latin typeface="Arial" panose="020B0604020202020204" pitchFamily="34" charset="0"/>
              </a:rPr>
              <a:t>采用批处理方式处理海量数据</a:t>
            </a:r>
            <a:endParaRPr lang="en-US" altLang="zh-CN" sz="2400" b="1" dirty="0">
              <a:latin typeface="Arial" panose="020B0604020202020204" pitchFamily="34" charset="0"/>
            </a:endParaRPr>
          </a:p>
          <a:p>
            <a:pPr eaLnBrk="1" hangingPunct="1"/>
            <a:r>
              <a:rPr lang="en-US" altLang="zh-CN" sz="2400" dirty="0">
                <a:latin typeface="Arial" panose="020B0604020202020204" pitchFamily="34" charset="0"/>
              </a:rPr>
              <a:t>Hive</a:t>
            </a:r>
            <a:r>
              <a:rPr lang="zh-CN" altLang="en-US" sz="2400" dirty="0">
                <a:latin typeface="Arial" panose="020B0604020202020204" pitchFamily="34" charset="0"/>
              </a:rPr>
              <a:t>需要把</a:t>
            </a:r>
            <a:r>
              <a:rPr lang="en-US" altLang="zh-CN" sz="2400" dirty="0">
                <a:latin typeface="Arial" panose="020B0604020202020204" pitchFamily="34" charset="0"/>
              </a:rPr>
              <a:t>HiveQL</a:t>
            </a:r>
            <a:r>
              <a:rPr lang="zh-CN" altLang="en-US" sz="2400" dirty="0">
                <a:latin typeface="Arial" panose="020B0604020202020204" pitchFamily="34" charset="0"/>
              </a:rPr>
              <a:t>语句转换成</a:t>
            </a:r>
            <a:r>
              <a:rPr lang="en-US" altLang="zh-CN" sz="2400" dirty="0">
                <a:latin typeface="Arial" panose="020B0604020202020204" pitchFamily="34" charset="0"/>
              </a:rPr>
              <a:t>MapReduce</a:t>
            </a:r>
            <a:r>
              <a:rPr lang="zh-CN" altLang="en-US" sz="2400" dirty="0">
                <a:latin typeface="Arial" panose="020B0604020202020204" pitchFamily="34" charset="0"/>
              </a:rPr>
              <a:t>任务进行运行；</a:t>
            </a:r>
            <a:endParaRPr lang="en-US" altLang="zh-CN" sz="2400" dirty="0">
              <a:latin typeface="Arial" panose="020B0604020202020204" pitchFamily="34" charset="0"/>
            </a:endParaRPr>
          </a:p>
          <a:p>
            <a:pPr eaLnBrk="1" hangingPunct="1"/>
            <a:r>
              <a:rPr lang="zh-CN" altLang="en-US" sz="2400" dirty="0">
                <a:latin typeface="Arial" panose="020B0604020202020204" pitchFamily="34" charset="0"/>
              </a:rPr>
              <a:t>数据仓库存储的是</a:t>
            </a:r>
            <a:r>
              <a:rPr lang="zh-CN" altLang="en-US" sz="2400" dirty="0">
                <a:solidFill>
                  <a:srgbClr val="FF0000"/>
                </a:solidFill>
                <a:latin typeface="Arial" panose="020B0604020202020204" pitchFamily="34" charset="0"/>
              </a:rPr>
              <a:t>静态数据</a:t>
            </a:r>
            <a:r>
              <a:rPr lang="zh-CN" altLang="en-US" sz="2400" dirty="0">
                <a:latin typeface="Arial" panose="020B0604020202020204" pitchFamily="34" charset="0"/>
              </a:rPr>
              <a:t>，对静态数据的分析适合采用批处理方式，不需要快速响应给出结果，而且数据本身也不会频繁变化。</a:t>
            </a:r>
            <a:endParaRPr lang="zh-CN" altLang="en-US" sz="2400" dirty="0">
              <a:latin typeface="Arial" panose="020B0604020202020204" pitchFamily="34" charset="0"/>
            </a:endParaRPr>
          </a:p>
          <a:p>
            <a:pPr eaLnBrk="1" hangingPunct="1"/>
            <a:endParaRPr lang="zh-CN" altLang="en-US" sz="2400" dirty="0">
              <a:latin typeface="Arial" panose="020B0604020202020204" pitchFamily="34" charset="0"/>
            </a:endParaRPr>
          </a:p>
          <a:p>
            <a:pPr eaLnBrk="1" hangingPunct="1">
              <a:buChar char="•"/>
            </a:pPr>
            <a:r>
              <a:rPr lang="zh-CN" altLang="en-US" sz="2400" b="1" dirty="0">
                <a:latin typeface="Arial" panose="020B0604020202020204" pitchFamily="34" charset="0"/>
              </a:rPr>
              <a:t>提供适合数据仓库操作的工具</a:t>
            </a:r>
            <a:endParaRPr lang="zh-CN" altLang="en-US" sz="2400" b="1" dirty="0">
              <a:latin typeface="Arial" panose="020B0604020202020204" pitchFamily="34" charset="0"/>
            </a:endParaRPr>
          </a:p>
          <a:p>
            <a:pPr eaLnBrk="1" hangingPunct="1"/>
            <a:r>
              <a:rPr lang="en-US" altLang="zh-CN" sz="2400" dirty="0">
                <a:latin typeface="Arial" panose="020B0604020202020204" pitchFamily="34" charset="0"/>
              </a:rPr>
              <a:t>Hive</a:t>
            </a:r>
            <a:r>
              <a:rPr lang="zh-CN" altLang="en-US" sz="2400" dirty="0">
                <a:latin typeface="Arial" panose="020B0604020202020204" pitchFamily="34" charset="0"/>
              </a:rPr>
              <a:t>本身提供了一系列对数据进行</a:t>
            </a:r>
            <a:r>
              <a:rPr lang="zh-CN" altLang="en-US" sz="2400" dirty="0">
                <a:solidFill>
                  <a:srgbClr val="FF0000"/>
                </a:solidFill>
                <a:latin typeface="Arial" panose="020B0604020202020204" pitchFamily="34" charset="0"/>
              </a:rPr>
              <a:t>提取转化加载</a:t>
            </a:r>
            <a:r>
              <a:rPr lang="zh-CN" altLang="en-US" sz="2400" dirty="0">
                <a:latin typeface="Arial" panose="020B0604020202020204" pitchFamily="34" charset="0"/>
              </a:rPr>
              <a:t>的工具，可以存储、查询和分析存储在</a:t>
            </a:r>
            <a:r>
              <a:rPr lang="en-US" altLang="zh-CN" sz="2400" dirty="0">
                <a:latin typeface="Arial" panose="020B0604020202020204" pitchFamily="34" charset="0"/>
              </a:rPr>
              <a:t>Hadoop</a:t>
            </a:r>
            <a:r>
              <a:rPr lang="zh-CN" altLang="en-US" sz="2400" dirty="0">
                <a:latin typeface="Arial" panose="020B0604020202020204" pitchFamily="34" charset="0"/>
              </a:rPr>
              <a:t>中的大规模数据；</a:t>
            </a:r>
            <a:endParaRPr lang="en-US" altLang="zh-CN" sz="2400" dirty="0">
              <a:latin typeface="Arial" panose="020B0604020202020204" pitchFamily="34" charset="0"/>
            </a:endParaRPr>
          </a:p>
          <a:p>
            <a:pPr eaLnBrk="1" hangingPunct="1"/>
            <a:r>
              <a:rPr lang="zh-CN" altLang="en-US" sz="2400" dirty="0">
                <a:latin typeface="Arial" panose="020B0604020202020204" pitchFamily="34" charset="0"/>
              </a:rPr>
              <a:t>非常适合数据仓库应用程序维护海量数据、对数据进行挖掘、形成意见和报告等。</a:t>
            </a:r>
            <a:endParaRPr lang="zh-CN" altLang="en-US" sz="2400"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2"/>
          <p:cNvSpPr>
            <a:spLocks noGrp="1"/>
          </p:cNvSpPr>
          <p:nvPr>
            <p:ph type="title"/>
          </p:nvPr>
        </p:nvSpPr>
        <p:spPr/>
        <p:txBody>
          <a:bodyPr vert="horz" wrap="square" lIns="91440" tIns="45720" rIns="91440" bIns="45720" anchor="ctr" anchorCtr="0"/>
          <a:lstStyle/>
          <a:p>
            <a:r>
              <a:rPr lang="en-US" altLang="en-US" sz="3600" b="1" dirty="0"/>
              <a:t>9.1.4 </a:t>
            </a:r>
            <a:r>
              <a:rPr lang="en-US" altLang="zh-CN" sz="3600" b="1" dirty="0"/>
              <a:t>Hive</a:t>
            </a:r>
            <a:r>
              <a:rPr lang="zh-CN" altLang="en-US" sz="3600" b="1" dirty="0"/>
              <a:t>与</a:t>
            </a:r>
            <a:r>
              <a:rPr lang="en-US" altLang="zh-CN" sz="3600" b="1" dirty="0"/>
              <a:t>Hadoop</a:t>
            </a:r>
            <a:r>
              <a:rPr lang="zh-CN" altLang="en-US" sz="3600" b="1" dirty="0"/>
              <a:t>生态系统中其他组件的关系</a:t>
            </a:r>
            <a:endParaRPr lang="zh-CN" altLang="en-US" sz="3600" b="1" dirty="0"/>
          </a:p>
        </p:txBody>
      </p:sp>
      <p:pic>
        <p:nvPicPr>
          <p:cNvPr id="17412" name="Picture 7" descr="C:\Users\admin\AppData\Local\Temp\ksohtml\wps6152.tmp.png"/>
          <p:cNvPicPr>
            <a:picLocks noChangeAspect="1"/>
          </p:cNvPicPr>
          <p:nvPr/>
        </p:nvPicPr>
        <p:blipFill>
          <a:blip r:embed="rId1"/>
          <a:stretch>
            <a:fillRect/>
          </a:stretch>
        </p:blipFill>
        <p:spPr>
          <a:xfrm>
            <a:off x="583565" y="1691005"/>
            <a:ext cx="5179695" cy="4442460"/>
          </a:xfrm>
          <a:prstGeom prst="rect">
            <a:avLst/>
          </a:prstGeom>
          <a:noFill/>
          <a:ln w="9525">
            <a:noFill/>
          </a:ln>
        </p:spPr>
      </p:pic>
      <p:sp>
        <p:nvSpPr>
          <p:cNvPr id="18435" name="TextBox 3"/>
          <p:cNvSpPr txBox="1"/>
          <p:nvPr/>
        </p:nvSpPr>
        <p:spPr>
          <a:xfrm>
            <a:off x="6130290" y="2158365"/>
            <a:ext cx="5070475" cy="3507740"/>
          </a:xfrm>
          <a:prstGeom prst="rect">
            <a:avLst/>
          </a:prstGeom>
          <a:noFill/>
          <a:ln w="9525">
            <a:noFill/>
          </a:ln>
        </p:spPr>
        <p:txBody>
          <a:bodyPr wrap="square">
            <a:spAutoFit/>
          </a:bodyPr>
          <a:lstStyle/>
          <a:p>
            <a:pPr eaLnBrk="1" hangingPunct="1">
              <a:lnSpc>
                <a:spcPct val="200000"/>
              </a:lnSpc>
              <a:spcBef>
                <a:spcPts val="600"/>
              </a:spcBef>
              <a:spcAft>
                <a:spcPts val="600"/>
              </a:spcAft>
              <a:buChar char="•"/>
            </a:pPr>
            <a:r>
              <a:rPr lang="en-US" altLang="zh-CN" sz="2400" dirty="0">
                <a:latin typeface="Arial" panose="020B0604020202020204" pitchFamily="34" charset="0"/>
              </a:rPr>
              <a:t>Hive</a:t>
            </a:r>
            <a:r>
              <a:rPr lang="zh-CN" altLang="en-US" sz="2400" dirty="0">
                <a:latin typeface="Arial" panose="020B0604020202020204" pitchFamily="34" charset="0"/>
              </a:rPr>
              <a:t>依赖于</a:t>
            </a:r>
            <a:r>
              <a:rPr lang="en-US" altLang="zh-CN" sz="2400" dirty="0">
                <a:latin typeface="Arial" panose="020B0604020202020204" pitchFamily="34" charset="0"/>
              </a:rPr>
              <a:t>HDFS </a:t>
            </a:r>
            <a:r>
              <a:rPr lang="zh-CN" altLang="en-US" sz="2400" dirty="0">
                <a:latin typeface="Arial" panose="020B0604020202020204" pitchFamily="34" charset="0"/>
              </a:rPr>
              <a:t>存储数据</a:t>
            </a:r>
            <a:endParaRPr lang="en-US" altLang="zh-CN" sz="2400" dirty="0">
              <a:latin typeface="Arial" panose="020B0604020202020204" pitchFamily="34" charset="0"/>
            </a:endParaRPr>
          </a:p>
          <a:p>
            <a:pPr eaLnBrk="1" hangingPunct="1">
              <a:lnSpc>
                <a:spcPct val="200000"/>
              </a:lnSpc>
              <a:spcBef>
                <a:spcPts val="600"/>
              </a:spcBef>
              <a:spcAft>
                <a:spcPts val="600"/>
              </a:spcAft>
              <a:buChar char="•"/>
            </a:pPr>
            <a:r>
              <a:rPr lang="en-US" altLang="zh-CN" sz="2400" dirty="0">
                <a:latin typeface="Arial" panose="020B0604020202020204" pitchFamily="34" charset="0"/>
              </a:rPr>
              <a:t>Hive</a:t>
            </a:r>
            <a:r>
              <a:rPr lang="zh-CN" altLang="en-US" sz="2400" dirty="0">
                <a:latin typeface="Arial" panose="020B0604020202020204" pitchFamily="34" charset="0"/>
              </a:rPr>
              <a:t>依赖于</a:t>
            </a:r>
            <a:r>
              <a:rPr lang="en-US" altLang="zh-CN" sz="2400" dirty="0">
                <a:latin typeface="Arial" panose="020B0604020202020204" pitchFamily="34" charset="0"/>
              </a:rPr>
              <a:t>MapReduce </a:t>
            </a:r>
            <a:r>
              <a:rPr lang="zh-CN" altLang="en-US" sz="2400" dirty="0">
                <a:latin typeface="Arial" panose="020B0604020202020204" pitchFamily="34" charset="0"/>
              </a:rPr>
              <a:t>处理数据</a:t>
            </a:r>
            <a:endParaRPr lang="en-US" altLang="zh-CN" sz="2400" dirty="0">
              <a:latin typeface="Arial" panose="020B0604020202020204" pitchFamily="34" charset="0"/>
            </a:endParaRPr>
          </a:p>
          <a:p>
            <a:pPr eaLnBrk="1" hangingPunct="1">
              <a:lnSpc>
                <a:spcPct val="200000"/>
              </a:lnSpc>
              <a:spcBef>
                <a:spcPts val="600"/>
              </a:spcBef>
              <a:spcAft>
                <a:spcPts val="600"/>
              </a:spcAft>
              <a:buChar char="•"/>
            </a:pPr>
            <a:r>
              <a:rPr lang="en-US" altLang="zh-CN" sz="2400" dirty="0">
                <a:latin typeface="Arial" panose="020B0604020202020204" pitchFamily="34" charset="0"/>
              </a:rPr>
              <a:t>Pig</a:t>
            </a:r>
            <a:r>
              <a:rPr lang="zh-CN" altLang="en-US" sz="2400" dirty="0">
                <a:latin typeface="Arial" panose="020B0604020202020204" pitchFamily="34" charset="0"/>
              </a:rPr>
              <a:t>可以作为</a:t>
            </a:r>
            <a:r>
              <a:rPr lang="en-US" altLang="zh-CN" sz="2400" dirty="0">
                <a:latin typeface="Arial" panose="020B0604020202020204" pitchFamily="34" charset="0"/>
              </a:rPr>
              <a:t>Hive</a:t>
            </a:r>
            <a:r>
              <a:rPr lang="zh-CN" altLang="en-US" sz="2400" dirty="0">
                <a:latin typeface="Arial" panose="020B0604020202020204" pitchFamily="34" charset="0"/>
              </a:rPr>
              <a:t>的替代工具</a:t>
            </a:r>
            <a:endParaRPr lang="en-US" altLang="zh-CN" sz="2400" dirty="0">
              <a:latin typeface="Arial" panose="020B0604020202020204" pitchFamily="34" charset="0"/>
            </a:endParaRPr>
          </a:p>
          <a:p>
            <a:pPr eaLnBrk="1" hangingPunct="1">
              <a:lnSpc>
                <a:spcPct val="200000"/>
              </a:lnSpc>
              <a:spcBef>
                <a:spcPts val="600"/>
              </a:spcBef>
              <a:spcAft>
                <a:spcPts val="600"/>
              </a:spcAft>
              <a:buChar char="•"/>
            </a:pPr>
            <a:r>
              <a:rPr lang="en-US" altLang="zh-CN" sz="2400" dirty="0">
                <a:latin typeface="Arial" panose="020B0604020202020204" pitchFamily="34" charset="0"/>
              </a:rPr>
              <a:t>HBase </a:t>
            </a:r>
            <a:r>
              <a:rPr lang="zh-CN" altLang="en-US" sz="2400" dirty="0">
                <a:latin typeface="Arial" panose="020B0604020202020204" pitchFamily="34" charset="0"/>
              </a:rPr>
              <a:t>提供数据的实时访问</a:t>
            </a:r>
            <a:endParaRPr lang="zh-CN" altLang="en-US" sz="240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p:txBody>
          <a:bodyPr vert="horz" wrap="square" lIns="91440" tIns="45720" rIns="91440" bIns="45720" anchor="ctr" anchorCtr="0"/>
          <a:lstStyle/>
          <a:p>
            <a:r>
              <a:rPr lang="en-US" altLang="zh-CN" b="1" dirty="0"/>
              <a:t>9.1.5</a:t>
            </a:r>
            <a:r>
              <a:rPr lang="zh-CN" altLang="en-US" b="1" dirty="0"/>
              <a:t> </a:t>
            </a:r>
            <a:r>
              <a:rPr lang="en-US" altLang="zh-CN" b="1" dirty="0"/>
              <a:t>Hive</a:t>
            </a:r>
            <a:r>
              <a:rPr lang="zh-CN" altLang="en-US" b="1" dirty="0"/>
              <a:t>与传统数据库的对比分析</a:t>
            </a:r>
            <a:endParaRPr lang="zh-CN" altLang="en-US" dirty="0"/>
          </a:p>
        </p:txBody>
      </p:sp>
      <p:graphicFrame>
        <p:nvGraphicFramePr>
          <p:cNvPr id="4" name="表格 3"/>
          <p:cNvGraphicFramePr>
            <a:graphicFrameLocks noGrp="1"/>
          </p:cNvGraphicFramePr>
          <p:nvPr>
            <p:custDataLst>
              <p:tags r:id="rId1"/>
            </p:custDataLst>
          </p:nvPr>
        </p:nvGraphicFramePr>
        <p:xfrm>
          <a:off x="2420620" y="1691005"/>
          <a:ext cx="7139305" cy="4465320"/>
        </p:xfrm>
        <a:graphic>
          <a:graphicData uri="http://schemas.openxmlformats.org/drawingml/2006/table">
            <a:tbl>
              <a:tblPr/>
              <a:tblGrid>
                <a:gridCol w="2378710"/>
                <a:gridCol w="2379980"/>
                <a:gridCol w="2380615"/>
              </a:tblGrid>
              <a:tr h="604520">
                <a:tc>
                  <a:txBody>
                    <a:bodyPr/>
                    <a:lstStyle/>
                    <a:p>
                      <a:pPr marL="0" marR="0" algn="ctr">
                        <a:spcBef>
                          <a:spcPts val="0"/>
                        </a:spcBef>
                        <a:spcAft>
                          <a:spcPts val="0"/>
                        </a:spcAft>
                      </a:pPr>
                      <a:r>
                        <a:rPr lang="zh-CN" altLang="en-US" sz="2800" b="1" kern="100" dirty="0">
                          <a:solidFill>
                            <a:schemeClr val="bg1"/>
                          </a:solidFill>
                          <a:latin typeface="宋体" panose="02010600030101010101" pitchFamily="2" charset="-122"/>
                          <a:ea typeface="宋体" panose="02010600030101010101" pitchFamily="2" charset="-122"/>
                          <a:cs typeface="Times New Roman" panose="02020603050405020304"/>
                        </a:rPr>
                        <a:t>对比项目</a:t>
                      </a:r>
                      <a:endParaRPr lang="zh-CN" altLang="en-US" sz="2800" b="1" kern="100" dirty="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en-US" sz="2800" b="1" kern="100">
                          <a:solidFill>
                            <a:schemeClr val="bg1"/>
                          </a:solidFill>
                          <a:latin typeface="宋体" panose="02010600030101010101" pitchFamily="2" charset="-122"/>
                          <a:ea typeface="宋体" panose="02010600030101010101" pitchFamily="2" charset="-122"/>
                          <a:cs typeface="Times New Roman" panose="02020603050405020304"/>
                        </a:rPr>
                        <a:t>Hive</a:t>
                      </a:r>
                      <a:endParaRPr 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rPr>
                        <a:t>传统数据库</a:t>
                      </a:r>
                      <a:endPar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r>
              <a:tr h="569595">
                <a:tc>
                  <a:txBody>
                    <a:bodyPr/>
                    <a:lstStyle/>
                    <a:p>
                      <a:pPr marL="0" marR="0" algn="ctr">
                        <a:spcBef>
                          <a:spcPts val="0"/>
                        </a:spcBef>
                        <a:spcAft>
                          <a:spcPts val="0"/>
                        </a:spcAft>
                      </a:pPr>
                      <a:r>
                        <a:rPr lang="zh-CN" altLang="en-US" sz="2800" b="1" kern="100" dirty="0">
                          <a:solidFill>
                            <a:schemeClr val="bg1"/>
                          </a:solidFill>
                          <a:latin typeface="宋体" panose="02010600030101010101" pitchFamily="2" charset="-122"/>
                          <a:ea typeface="宋体" panose="02010600030101010101" pitchFamily="2" charset="-122"/>
                          <a:cs typeface="Times New Roman" panose="02020603050405020304"/>
                        </a:rPr>
                        <a:t>数据存储</a:t>
                      </a:r>
                      <a:endParaRPr lang="zh-CN" altLang="en-US" sz="2800" b="1" kern="100" dirty="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en-US" altLang="zh-CN" sz="2800" kern="100" dirty="0">
                          <a:latin typeface="宋体" panose="02010600030101010101" pitchFamily="2" charset="-122"/>
                          <a:ea typeface="宋体" panose="02010600030101010101" pitchFamily="2" charset="-122"/>
                          <a:cs typeface="Times New Roman" panose="02020603050405020304"/>
                        </a:rPr>
                        <a:t>HDFS</a:t>
                      </a:r>
                      <a:endParaRPr lang="en-US" altLang="zh-CN"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zh-CN" altLang="en-US" sz="2800" kern="100">
                          <a:latin typeface="宋体" panose="02010600030101010101" pitchFamily="2" charset="-122"/>
                          <a:ea typeface="宋体" panose="02010600030101010101" pitchFamily="2" charset="-122"/>
                          <a:cs typeface="Times New Roman" panose="02020603050405020304"/>
                        </a:rPr>
                        <a:t>本地</a:t>
                      </a:r>
                      <a:endParaRPr lang="zh-CN" altLang="en-US" sz="2800" kern="10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32460">
                <a:tc>
                  <a:txBody>
                    <a:bodyPr/>
                    <a:lstStyle/>
                    <a:p>
                      <a:pPr marL="0" marR="0" algn="ctr">
                        <a:spcBef>
                          <a:spcPts val="0"/>
                        </a:spcBef>
                        <a:spcAft>
                          <a:spcPts val="0"/>
                        </a:spcAft>
                      </a:pPr>
                      <a:r>
                        <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rPr>
                        <a:t>索引</a:t>
                      </a:r>
                      <a:endPar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zh-CN" altLang="en-US" sz="2800" kern="100" dirty="0">
                          <a:latin typeface="宋体" panose="02010600030101010101" pitchFamily="2" charset="-122"/>
                          <a:ea typeface="宋体" panose="02010600030101010101" pitchFamily="2" charset="-122"/>
                          <a:cs typeface="Times New Roman" panose="02020603050405020304"/>
                        </a:rPr>
                        <a:t>支持有限索引</a:t>
                      </a:r>
                      <a:endParaRPr lang="zh-CN" altLang="en-US"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zh-CN" altLang="en-US" sz="2800" kern="100" dirty="0">
                          <a:latin typeface="宋体" panose="02010600030101010101" pitchFamily="2" charset="-122"/>
                          <a:ea typeface="宋体" panose="02010600030101010101" pitchFamily="2" charset="-122"/>
                          <a:cs typeface="Times New Roman" panose="02020603050405020304"/>
                        </a:rPr>
                        <a:t>支持复杂索引</a:t>
                      </a:r>
                      <a:endParaRPr lang="zh-CN" altLang="en-US"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8160">
                <a:tc>
                  <a:txBody>
                    <a:bodyPr/>
                    <a:lstStyle/>
                    <a:p>
                      <a:pPr marL="0" marR="0" algn="ctr">
                        <a:spcBef>
                          <a:spcPts val="0"/>
                        </a:spcBef>
                        <a:spcAft>
                          <a:spcPts val="0"/>
                        </a:spcAft>
                      </a:pPr>
                      <a:r>
                        <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rPr>
                        <a:t>分区</a:t>
                      </a:r>
                      <a:endPar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zh-CN" altLang="en-US" sz="2800" kern="100">
                          <a:latin typeface="宋体" panose="02010600030101010101" pitchFamily="2" charset="-122"/>
                          <a:ea typeface="宋体" panose="02010600030101010101" pitchFamily="2" charset="-122"/>
                          <a:cs typeface="Times New Roman" panose="02020603050405020304"/>
                        </a:rPr>
                        <a:t>支持</a:t>
                      </a:r>
                      <a:endParaRPr lang="zh-CN" altLang="en-US" sz="2800" kern="10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zh-CN" altLang="en-US" sz="2800" kern="100" dirty="0">
                          <a:latin typeface="宋体" panose="02010600030101010101" pitchFamily="2" charset="-122"/>
                          <a:ea typeface="宋体" panose="02010600030101010101" pitchFamily="2" charset="-122"/>
                          <a:cs typeface="Times New Roman" panose="02020603050405020304"/>
                        </a:rPr>
                        <a:t>支持</a:t>
                      </a:r>
                      <a:endParaRPr lang="zh-CN" altLang="en-US"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86105">
                <a:tc>
                  <a:txBody>
                    <a:bodyPr/>
                    <a:lstStyle/>
                    <a:p>
                      <a:pPr marL="0" marR="0" algn="ctr">
                        <a:spcBef>
                          <a:spcPts val="0"/>
                        </a:spcBef>
                        <a:spcAft>
                          <a:spcPts val="0"/>
                        </a:spcAft>
                        <a:buNone/>
                      </a:pPr>
                      <a:r>
                        <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rPr>
                        <a:t>执行引擎</a:t>
                      </a:r>
                      <a:endPar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buNone/>
                      </a:pPr>
                      <a:r>
                        <a:rPr lang="en-US" altLang="zh-CN" sz="2800" kern="100">
                          <a:latin typeface="宋体" panose="02010600030101010101" pitchFamily="2" charset="-122"/>
                          <a:ea typeface="宋体" panose="02010600030101010101" pitchFamily="2" charset="-122"/>
                          <a:cs typeface="Times New Roman" panose="02020603050405020304"/>
                        </a:rPr>
                        <a:t>MapReduce</a:t>
                      </a:r>
                      <a:r>
                        <a:rPr lang="zh-CN" altLang="en-US" sz="2800" kern="100">
                          <a:latin typeface="宋体" panose="02010600030101010101" pitchFamily="2" charset="-122"/>
                          <a:ea typeface="宋体" panose="02010600030101010101" pitchFamily="2" charset="-122"/>
                          <a:cs typeface="Times New Roman" panose="02020603050405020304"/>
                        </a:rPr>
                        <a:t>等</a:t>
                      </a:r>
                      <a:endParaRPr lang="zh-CN" altLang="en-US" sz="2800" kern="10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buNone/>
                      </a:pPr>
                      <a:r>
                        <a:rPr lang="zh-CN" altLang="en-US" sz="2800" kern="100" dirty="0">
                          <a:latin typeface="宋体" panose="02010600030101010101" pitchFamily="2" charset="-122"/>
                          <a:ea typeface="宋体" panose="02010600030101010101" pitchFamily="2" charset="-122"/>
                          <a:cs typeface="Times New Roman" panose="02020603050405020304"/>
                        </a:rPr>
                        <a:t>自身</a:t>
                      </a:r>
                      <a:endParaRPr lang="zh-CN" altLang="en-US"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8160">
                <a:tc>
                  <a:txBody>
                    <a:bodyPr/>
                    <a:lstStyle/>
                    <a:p>
                      <a:pPr marL="0" marR="0" algn="ctr">
                        <a:spcBef>
                          <a:spcPts val="0"/>
                        </a:spcBef>
                        <a:spcAft>
                          <a:spcPts val="0"/>
                        </a:spcAft>
                      </a:pPr>
                      <a:r>
                        <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rPr>
                        <a:t>执行延迟</a:t>
                      </a:r>
                      <a:endPar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zh-CN" altLang="en-US" sz="2800" kern="100">
                          <a:latin typeface="宋体" panose="02010600030101010101" pitchFamily="2" charset="-122"/>
                          <a:ea typeface="宋体" panose="02010600030101010101" pitchFamily="2" charset="-122"/>
                          <a:cs typeface="Times New Roman" panose="02020603050405020304"/>
                        </a:rPr>
                        <a:t>高</a:t>
                      </a:r>
                      <a:endParaRPr lang="zh-CN" altLang="en-US" sz="2800" kern="10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zh-CN" altLang="en-US" sz="2800" kern="100" dirty="0">
                          <a:latin typeface="宋体" panose="02010600030101010101" pitchFamily="2" charset="-122"/>
                          <a:ea typeface="宋体" panose="02010600030101010101" pitchFamily="2" charset="-122"/>
                          <a:cs typeface="Times New Roman" panose="02020603050405020304"/>
                        </a:rPr>
                        <a:t>低</a:t>
                      </a:r>
                      <a:endParaRPr lang="zh-CN" altLang="en-US"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8160">
                <a:tc>
                  <a:txBody>
                    <a:bodyPr/>
                    <a:lstStyle/>
                    <a:p>
                      <a:pPr marL="0" marR="0" algn="ctr">
                        <a:spcBef>
                          <a:spcPts val="0"/>
                        </a:spcBef>
                        <a:spcAft>
                          <a:spcPts val="0"/>
                        </a:spcAft>
                      </a:pPr>
                      <a:r>
                        <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rPr>
                        <a:t>扩展性</a:t>
                      </a:r>
                      <a:endParaRPr lang="zh-CN" altLang="en-US" sz="2800" b="1" kern="100">
                        <a:solidFill>
                          <a:schemeClr val="bg1"/>
                        </a:solidFill>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pPr>
                      <a:r>
                        <a:rPr lang="zh-CN" altLang="en-US" sz="2800" kern="100">
                          <a:latin typeface="宋体" panose="02010600030101010101" pitchFamily="2" charset="-122"/>
                          <a:ea typeface="宋体" panose="02010600030101010101" pitchFamily="2" charset="-122"/>
                          <a:cs typeface="Times New Roman" panose="02020603050405020304"/>
                        </a:rPr>
                        <a:t>好</a:t>
                      </a:r>
                      <a:endParaRPr lang="zh-CN" altLang="en-US" sz="2800" kern="10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zh-CN" altLang="en-US" sz="2800" kern="100" dirty="0">
                          <a:latin typeface="宋体" panose="02010600030101010101" pitchFamily="2" charset="-122"/>
                          <a:ea typeface="宋体" panose="02010600030101010101" pitchFamily="2" charset="-122"/>
                          <a:cs typeface="Times New Roman" panose="02020603050405020304"/>
                        </a:rPr>
                        <a:t>有限</a:t>
                      </a:r>
                      <a:endParaRPr lang="zh-CN" altLang="en-US" sz="2800" kern="100" dirty="0">
                        <a:latin typeface="宋体" panose="02010600030101010101" pitchFamily="2" charset="-122"/>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18160">
                <a:tc>
                  <a:txBody>
                    <a:bodyPr/>
                    <a:lstStyle/>
                    <a:p>
                      <a:pPr marL="0" marR="0" algn="ctr">
                        <a:spcBef>
                          <a:spcPts val="0"/>
                        </a:spcBef>
                        <a:spcAft>
                          <a:spcPts val="0"/>
                        </a:spcAft>
                        <a:buNone/>
                      </a:pPr>
                      <a:r>
                        <a:rPr lang="zh-CN" altLang="en-US" sz="2800" b="1" kern="100">
                          <a:solidFill>
                            <a:schemeClr val="bg1"/>
                          </a:solidFill>
                          <a:latin typeface="Calibri" panose="020F0502020204030204"/>
                          <a:ea typeface="宋体" panose="02010600030101010101" pitchFamily="2" charset="-122"/>
                          <a:cs typeface="Times New Roman" panose="02020603050405020304"/>
                        </a:rPr>
                        <a:t>数据规模</a:t>
                      </a:r>
                      <a:endParaRPr lang="zh-CN" altLang="en-US" sz="2800" b="1" kern="100">
                        <a:solidFill>
                          <a:schemeClr val="bg1"/>
                        </a:solidFill>
                        <a:latin typeface="Calibri" panose="020F0502020204030204"/>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marL="0" marR="0" algn="ctr">
                        <a:spcBef>
                          <a:spcPts val="0"/>
                        </a:spcBef>
                        <a:spcAft>
                          <a:spcPts val="0"/>
                        </a:spcAft>
                        <a:buNone/>
                      </a:pPr>
                      <a:r>
                        <a:rPr lang="zh-CN" altLang="en-US" sz="2800" kern="100">
                          <a:latin typeface="Calibri" panose="020F0502020204030204"/>
                          <a:ea typeface="宋体" panose="02010600030101010101" pitchFamily="2" charset="-122"/>
                          <a:cs typeface="Times New Roman" panose="02020603050405020304"/>
                        </a:rPr>
                        <a:t>大</a:t>
                      </a:r>
                      <a:endParaRPr lang="zh-CN" altLang="en-US" sz="2800" kern="100">
                        <a:latin typeface="Calibri" panose="020F0502020204030204"/>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buNone/>
                      </a:pPr>
                      <a:r>
                        <a:rPr lang="zh-CN" altLang="en-US" sz="2800" kern="100" dirty="0">
                          <a:latin typeface="Calibri" panose="020F0502020204030204"/>
                          <a:ea typeface="宋体" panose="02010600030101010101" pitchFamily="2" charset="-122"/>
                          <a:cs typeface="Times New Roman" panose="02020603050405020304"/>
                        </a:rPr>
                        <a:t>小</a:t>
                      </a:r>
                      <a:endParaRPr lang="zh-CN" altLang="en-US" sz="2800" kern="100" dirty="0">
                        <a:latin typeface="Calibri" panose="020F0502020204030204"/>
                        <a:ea typeface="宋体" panose="02010600030101010101" pitchFamily="2" charset="-122"/>
                        <a:cs typeface="Times New Roman" panose="02020603050405020304"/>
                      </a:endParaRPr>
                    </a:p>
                  </a:txBody>
                  <a:tcPr marL="68580" marR="68580" marT="45730" marB="4573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b="1" dirty="0">
                <a:sym typeface="+mn-ea"/>
              </a:rPr>
              <a:t>9.1.6</a:t>
            </a:r>
            <a:r>
              <a:rPr lang="en-US" altLang="en-US" dirty="0">
                <a:sym typeface="+mn-ea"/>
              </a:rPr>
              <a:t> </a:t>
            </a:r>
            <a:r>
              <a:rPr lang="en-US" altLang="zh-CN" b="1" dirty="0">
                <a:sym typeface="+mn-ea"/>
              </a:rPr>
              <a:t>Hive</a:t>
            </a:r>
            <a:r>
              <a:rPr lang="zh-CN" altLang="en-US" b="1" dirty="0">
                <a:sym typeface="+mn-ea"/>
              </a:rPr>
              <a:t>在企业中的部署和应用</a:t>
            </a:r>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6" name="文本框 5"/>
          <p:cNvSpPr txBox="1"/>
          <p:nvPr/>
        </p:nvSpPr>
        <p:spPr>
          <a:xfrm>
            <a:off x="4342765" y="5842635"/>
            <a:ext cx="6607175" cy="460375"/>
          </a:xfrm>
          <a:prstGeom prst="rect">
            <a:avLst/>
          </a:prstGeom>
          <a:noFill/>
        </p:spPr>
        <p:txBody>
          <a:bodyPr wrap="square" rtlCol="0">
            <a:spAutoFit/>
          </a:bodyPr>
          <a:lstStyle/>
          <a:p>
            <a:r>
              <a:rPr lang="zh-CN" altLang="en-US" sz="2400"/>
              <a:t>企业实际应用中常见的大数据分析平台部署框架</a:t>
            </a:r>
            <a:endParaRPr lang="zh-CN" altLang="en-US" sz="2400"/>
          </a:p>
        </p:txBody>
      </p:sp>
      <p:graphicFrame>
        <p:nvGraphicFramePr>
          <p:cNvPr id="6146" name="对象 2"/>
          <p:cNvGraphicFramePr/>
          <p:nvPr/>
        </p:nvGraphicFramePr>
        <p:xfrm>
          <a:off x="4688205" y="1485900"/>
          <a:ext cx="5511165" cy="4304030"/>
        </p:xfrm>
        <a:graphic>
          <a:graphicData uri="http://schemas.openxmlformats.org/presentationml/2006/ole">
            <mc:AlternateContent xmlns:mc="http://schemas.openxmlformats.org/markup-compatibility/2006">
              <mc:Choice xmlns:v="urn:schemas-microsoft-com:vml" Requires="v">
                <p:oleObj spid="_x0000_s4101" name="" r:id="rId1" imgW="6375400" imgH="4635500" progId="Visio.Drawing.15">
                  <p:embed/>
                </p:oleObj>
              </mc:Choice>
              <mc:Fallback>
                <p:oleObj name="" r:id="rId1" imgW="6375400" imgH="4635500" progId="Visio.Drawing.15">
                  <p:embed/>
                  <p:pic>
                    <p:nvPicPr>
                      <p:cNvPr id="0" name="图片 3076"/>
                      <p:cNvPicPr/>
                      <p:nvPr/>
                    </p:nvPicPr>
                    <p:blipFill>
                      <a:blip r:embed="rId2"/>
                      <a:stretch>
                        <a:fillRect/>
                      </a:stretch>
                    </p:blipFill>
                    <p:spPr>
                      <a:xfrm>
                        <a:off x="4688205" y="1485900"/>
                        <a:ext cx="5511165" cy="4304030"/>
                      </a:xfrm>
                      <a:prstGeom prst="rect">
                        <a:avLst/>
                      </a:prstGeom>
                      <a:noFill/>
                      <a:ln w="38100">
                        <a:noFill/>
                        <a:miter/>
                      </a:ln>
                    </p:spPr>
                  </p:pic>
                </p:oleObj>
              </mc:Fallback>
            </mc:AlternateContent>
          </a:graphicData>
        </a:graphic>
      </p:graphicFrame>
      <p:sp>
        <p:nvSpPr>
          <p:cNvPr id="35844" name="矩形 4"/>
          <p:cNvSpPr/>
          <p:nvPr/>
        </p:nvSpPr>
        <p:spPr>
          <a:xfrm>
            <a:off x="466725" y="4550410"/>
            <a:ext cx="3753485" cy="1168400"/>
          </a:xfrm>
          <a:prstGeom prst="rect">
            <a:avLst/>
          </a:prstGeom>
          <a:noFill/>
          <a:ln w="9525">
            <a:noFill/>
          </a:ln>
        </p:spPr>
        <p:txBody>
          <a:bodyPr wrap="square">
            <a:spAutoFit/>
          </a:bodyPr>
          <a:lstStyle/>
          <a:p>
            <a:pPr indent="0" eaLnBrk="1" hangingPunct="1">
              <a:spcBef>
                <a:spcPts val="600"/>
              </a:spcBef>
              <a:spcAft>
                <a:spcPts val="600"/>
              </a:spcAft>
              <a:buNone/>
            </a:pPr>
            <a:r>
              <a:rPr lang="en-US" altLang="zh-CN" sz="2000" dirty="0">
                <a:latin typeface="Arial" panose="020B0604020202020204" pitchFamily="34" charset="0"/>
              </a:rPr>
              <a:t>Mahout</a:t>
            </a:r>
            <a:r>
              <a:rPr lang="zh-CN" altLang="zh-CN" sz="2000" dirty="0">
                <a:latin typeface="Arial" panose="020B0604020202020204" pitchFamily="34" charset="0"/>
              </a:rPr>
              <a:t>常用于</a:t>
            </a:r>
            <a:r>
              <a:rPr lang="en-US" altLang="zh-CN" sz="2000" dirty="0">
                <a:latin typeface="Arial" panose="020B0604020202020204" pitchFamily="34" charset="0"/>
              </a:rPr>
              <a:t>BI</a:t>
            </a:r>
            <a:r>
              <a:rPr lang="zh-CN" altLang="zh-CN" sz="2000" dirty="0">
                <a:latin typeface="Arial" panose="020B0604020202020204" pitchFamily="34" charset="0"/>
              </a:rPr>
              <a:t>（商务智能）</a:t>
            </a:r>
            <a:endParaRPr lang="zh-CN" altLang="zh-CN" sz="2000" dirty="0">
              <a:latin typeface="Arial" panose="020B0604020202020204" pitchFamily="34" charset="0"/>
            </a:endParaRPr>
          </a:p>
          <a:p>
            <a:pPr indent="0" eaLnBrk="1" hangingPunct="1">
              <a:spcBef>
                <a:spcPts val="600"/>
              </a:spcBef>
              <a:spcAft>
                <a:spcPts val="600"/>
              </a:spcAft>
              <a:buNone/>
            </a:pPr>
            <a:r>
              <a:rPr lang="en-US" altLang="zh-CN" sz="2000" dirty="0">
                <a:latin typeface="Arial" panose="020B0604020202020204" pitchFamily="34" charset="0"/>
              </a:rPr>
              <a:t>Mahout</a:t>
            </a:r>
            <a:r>
              <a:rPr lang="zh-CN" altLang="zh-CN" sz="2000" dirty="0">
                <a:latin typeface="Arial" panose="020B0604020202020204" pitchFamily="34" charset="0"/>
              </a:rPr>
              <a:t>提供一些可扩展的机器学习领域的经典算法的实现</a:t>
            </a:r>
            <a:endParaRPr lang="zh-CN" altLang="en-US" sz="2000" dirty="0">
              <a:latin typeface="Arial" panose="020B0604020202020204" pitchFamily="34" charset="0"/>
            </a:endParaRPr>
          </a:p>
        </p:txBody>
      </p:sp>
      <p:sp>
        <p:nvSpPr>
          <p:cNvPr id="3" name="文本框 2"/>
          <p:cNvSpPr txBox="1"/>
          <p:nvPr/>
        </p:nvSpPr>
        <p:spPr>
          <a:xfrm>
            <a:off x="546100" y="1553845"/>
            <a:ext cx="3674110" cy="1322070"/>
          </a:xfrm>
          <a:prstGeom prst="rect">
            <a:avLst/>
          </a:prstGeom>
          <a:noFill/>
        </p:spPr>
        <p:txBody>
          <a:bodyPr wrap="square" rtlCol="0" anchor="t">
            <a:spAutoFit/>
          </a:bodyPr>
          <a:lstStyle/>
          <a:p>
            <a:pPr indent="0" eaLnBrk="1" hangingPunct="1">
              <a:spcBef>
                <a:spcPts val="600"/>
              </a:spcBef>
              <a:spcAft>
                <a:spcPts val="600"/>
              </a:spcAft>
              <a:buNone/>
            </a:pPr>
            <a:r>
              <a:rPr lang="en-US" altLang="zh-CN" sz="2000" dirty="0">
                <a:latin typeface="Arial" panose="020B0604020202020204" pitchFamily="34" charset="0"/>
                <a:sym typeface="+mn-ea"/>
              </a:rPr>
              <a:t>Hive</a:t>
            </a:r>
            <a:r>
              <a:rPr lang="zh-CN" altLang="zh-CN" sz="2000" dirty="0">
                <a:latin typeface="Arial" panose="020B0604020202020204" pitchFamily="34" charset="0"/>
                <a:sym typeface="+mn-ea"/>
              </a:rPr>
              <a:t>和</a:t>
            </a:r>
            <a:r>
              <a:rPr lang="en-US" altLang="zh-CN" sz="2000" dirty="0">
                <a:latin typeface="Arial" panose="020B0604020202020204" pitchFamily="34" charset="0"/>
                <a:sym typeface="+mn-ea"/>
              </a:rPr>
              <a:t>Pig</a:t>
            </a:r>
            <a:r>
              <a:rPr lang="zh-CN" altLang="zh-CN" sz="2000" dirty="0">
                <a:latin typeface="Arial" panose="020B0604020202020204" pitchFamily="34" charset="0"/>
                <a:sym typeface="+mn-ea"/>
              </a:rPr>
              <a:t>主要应用在报表中心</a:t>
            </a:r>
            <a:endParaRPr lang="zh-CN" altLang="zh-CN" sz="2000" dirty="0">
              <a:latin typeface="Arial" panose="020B0604020202020204" pitchFamily="34" charset="0"/>
              <a:sym typeface="+mn-ea"/>
            </a:endParaRPr>
          </a:p>
          <a:p>
            <a:pPr indent="0" eaLnBrk="1" hangingPunct="1">
              <a:spcBef>
                <a:spcPts val="600"/>
              </a:spcBef>
              <a:spcAft>
                <a:spcPts val="600"/>
              </a:spcAft>
              <a:buNone/>
            </a:pPr>
            <a:r>
              <a:rPr lang="en-US" altLang="zh-CN" sz="2000" dirty="0">
                <a:latin typeface="Arial" panose="020B0604020202020204" pitchFamily="34" charset="0"/>
                <a:sym typeface="+mn-ea"/>
              </a:rPr>
              <a:t>Hive</a:t>
            </a:r>
            <a:r>
              <a:rPr lang="zh-CN" altLang="zh-CN" sz="2000" dirty="0">
                <a:latin typeface="Arial" panose="020B0604020202020204" pitchFamily="34" charset="0"/>
                <a:sym typeface="+mn-ea"/>
              </a:rPr>
              <a:t>：报表分析</a:t>
            </a:r>
            <a:endParaRPr lang="zh-CN" altLang="zh-CN" sz="2000" dirty="0">
              <a:latin typeface="Arial" panose="020B0604020202020204" pitchFamily="34" charset="0"/>
              <a:sym typeface="+mn-ea"/>
            </a:endParaRPr>
          </a:p>
          <a:p>
            <a:pPr indent="0" eaLnBrk="1" hangingPunct="1">
              <a:spcBef>
                <a:spcPts val="600"/>
              </a:spcBef>
              <a:spcAft>
                <a:spcPts val="600"/>
              </a:spcAft>
              <a:buNone/>
            </a:pPr>
            <a:r>
              <a:rPr lang="en-US" altLang="zh-CN" sz="2000" dirty="0">
                <a:latin typeface="Arial" panose="020B0604020202020204" pitchFamily="34" charset="0"/>
                <a:sym typeface="+mn-ea"/>
              </a:rPr>
              <a:t>Pig</a:t>
            </a:r>
            <a:r>
              <a:rPr lang="zh-CN" altLang="zh-CN" sz="2000" dirty="0">
                <a:latin typeface="Arial" panose="020B0604020202020204" pitchFamily="34" charset="0"/>
                <a:sym typeface="+mn-ea"/>
              </a:rPr>
              <a:t>：报表中数据的转换工作</a:t>
            </a:r>
            <a:endParaRPr lang="zh-CN" altLang="zh-CN" sz="2000" dirty="0">
              <a:latin typeface="Arial" panose="020B0604020202020204" pitchFamily="34" charset="0"/>
              <a:sym typeface="+mn-ea"/>
            </a:endParaRPr>
          </a:p>
        </p:txBody>
      </p:sp>
      <p:sp>
        <p:nvSpPr>
          <p:cNvPr id="5" name="文本框 4"/>
          <p:cNvSpPr txBox="1"/>
          <p:nvPr/>
        </p:nvSpPr>
        <p:spPr>
          <a:xfrm>
            <a:off x="546100" y="3188335"/>
            <a:ext cx="3674110" cy="860425"/>
          </a:xfrm>
          <a:prstGeom prst="rect">
            <a:avLst/>
          </a:prstGeom>
          <a:noFill/>
        </p:spPr>
        <p:txBody>
          <a:bodyPr wrap="square" rtlCol="0" anchor="t">
            <a:spAutoFit/>
          </a:bodyPr>
          <a:lstStyle/>
          <a:p>
            <a:pPr indent="0" eaLnBrk="1" hangingPunct="1">
              <a:spcBef>
                <a:spcPts val="600"/>
              </a:spcBef>
              <a:spcAft>
                <a:spcPts val="600"/>
              </a:spcAft>
              <a:buNone/>
            </a:pPr>
            <a:r>
              <a:rPr lang="en-US" altLang="zh-CN" sz="2000" dirty="0">
                <a:latin typeface="Arial" panose="020B0604020202020204" pitchFamily="34" charset="0"/>
                <a:sym typeface="+mn-ea"/>
              </a:rPr>
              <a:t>HBase</a:t>
            </a:r>
            <a:r>
              <a:rPr lang="zh-CN" altLang="zh-CN" sz="2000" dirty="0">
                <a:latin typeface="Arial" panose="020B0604020202020204" pitchFamily="34" charset="0"/>
                <a:sym typeface="+mn-ea"/>
              </a:rPr>
              <a:t>主要用于在线业务</a:t>
            </a:r>
            <a:endParaRPr lang="zh-CN" altLang="en-US" sz="2000" dirty="0">
              <a:latin typeface="Arial" panose="020B0604020202020204" pitchFamily="34" charset="0"/>
              <a:sym typeface="+mn-ea"/>
            </a:endParaRPr>
          </a:p>
          <a:p>
            <a:pPr indent="0" eaLnBrk="1" hangingPunct="1">
              <a:spcBef>
                <a:spcPts val="600"/>
              </a:spcBef>
              <a:spcAft>
                <a:spcPts val="600"/>
              </a:spcAft>
              <a:buNone/>
            </a:pPr>
            <a:r>
              <a:rPr lang="zh-CN" altLang="zh-CN" sz="2000" dirty="0">
                <a:latin typeface="Arial" panose="020B0604020202020204" pitchFamily="34" charset="0"/>
                <a:sym typeface="+mn-ea"/>
              </a:rPr>
              <a:t>因为</a:t>
            </a:r>
            <a:r>
              <a:rPr lang="en-US" altLang="zh-CN" sz="2000" dirty="0">
                <a:latin typeface="Arial" panose="020B0604020202020204" pitchFamily="34" charset="0"/>
                <a:sym typeface="+mn-ea"/>
              </a:rPr>
              <a:t>HDFS</a:t>
            </a:r>
            <a:r>
              <a:rPr lang="zh-CN" altLang="zh-CN" sz="2000" dirty="0">
                <a:latin typeface="Arial" panose="020B0604020202020204" pitchFamily="34" charset="0"/>
                <a:sym typeface="+mn-ea"/>
              </a:rPr>
              <a:t>缺乏随机读写操作</a:t>
            </a:r>
            <a:endParaRPr lang="zh-CN" altLang="zh-CN" sz="2000" dirty="0">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4" grpId="1"/>
      <p:bldP spid="3" grpId="0"/>
      <p:bldP spid="3" grpId="1"/>
      <p:bldP spid="5" grpId="0"/>
      <p:bldP spid="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
          <p:cNvSpPr>
            <a:spLocks noGrp="1"/>
          </p:cNvSpPr>
          <p:nvPr>
            <p:ph type="title"/>
          </p:nvPr>
        </p:nvSpPr>
        <p:spPr/>
        <p:txBody>
          <a:bodyPr vert="horz" wrap="square" lIns="91440" tIns="45720" rIns="91440" bIns="45720" anchor="ctr" anchorCtr="0"/>
          <a:lstStyle/>
          <a:p>
            <a:r>
              <a:rPr lang="en-US" altLang="en-US" b="1" dirty="0"/>
              <a:t>9.1.6</a:t>
            </a:r>
            <a:r>
              <a:rPr lang="en-US" altLang="en-US" dirty="0"/>
              <a:t> </a:t>
            </a:r>
            <a:r>
              <a:rPr lang="en-US" altLang="zh-CN" b="1" dirty="0"/>
              <a:t>Hive</a:t>
            </a:r>
            <a:r>
              <a:rPr lang="zh-CN" altLang="en-US" b="1" dirty="0"/>
              <a:t>在企业中的部署</a:t>
            </a:r>
            <a:r>
              <a:rPr lang="zh-CN" altLang="en-US" b="1" dirty="0">
                <a:sym typeface="+mn-ea"/>
              </a:rPr>
              <a:t>和应用</a:t>
            </a:r>
            <a:endParaRPr lang="zh-CN" altLang="en-US" dirty="0"/>
          </a:p>
        </p:txBody>
      </p:sp>
      <p:sp>
        <p:nvSpPr>
          <p:cNvPr id="22531" name="Rectangle 8"/>
          <p:cNvSpPr/>
          <p:nvPr/>
        </p:nvSpPr>
        <p:spPr>
          <a:xfrm>
            <a:off x="2660333" y="6250782"/>
            <a:ext cx="5974080" cy="460375"/>
          </a:xfrm>
          <a:prstGeom prst="rect">
            <a:avLst/>
          </a:prstGeom>
          <a:noFill/>
          <a:ln w="9525">
            <a:noFill/>
          </a:ln>
        </p:spPr>
        <p:txBody>
          <a:bodyPr wrap="none" anchor="ctr" anchorCtr="0">
            <a:spAutoFit/>
          </a:bodyPr>
          <a:lstStyle/>
          <a:p>
            <a:r>
              <a:rPr lang="zh-CN" sz="2400" dirty="0">
                <a:latin typeface="Arial" panose="020B0604020202020204" pitchFamily="34" charset="0"/>
              </a:rPr>
              <a:t>一些公司的</a:t>
            </a:r>
            <a:r>
              <a:rPr lang="zh-CN" altLang="en-US" sz="2400" dirty="0">
                <a:latin typeface="Arial" panose="020B0604020202020204" pitchFamily="34" charset="0"/>
              </a:rPr>
              <a:t>数据仓库架构及组件间的数据流</a:t>
            </a:r>
            <a:endParaRPr lang="zh-CN" altLang="en-US" sz="2400" dirty="0">
              <a:latin typeface="Arial" panose="020B0604020202020204" pitchFamily="34" charset="0"/>
            </a:endParaRPr>
          </a:p>
        </p:txBody>
      </p:sp>
      <p:pic>
        <p:nvPicPr>
          <p:cNvPr id="22532" name="Picture 2" descr="C:\Users\admin\AppData\Local\Temp\ksohtml\wps8680.tmp.png"/>
          <p:cNvPicPr>
            <a:picLocks noChangeAspect="1"/>
          </p:cNvPicPr>
          <p:nvPr/>
        </p:nvPicPr>
        <p:blipFill>
          <a:blip r:embed="rId1"/>
          <a:stretch>
            <a:fillRect/>
          </a:stretch>
        </p:blipFill>
        <p:spPr>
          <a:xfrm>
            <a:off x="2765425" y="1589405"/>
            <a:ext cx="6019800" cy="4267200"/>
          </a:xfrm>
          <a:prstGeom prst="rect">
            <a:avLst/>
          </a:prstGeom>
          <a:noFill/>
          <a:ln w="9525">
            <a:noFill/>
          </a:ln>
        </p:spPr>
      </p:pic>
      <p:sp>
        <p:nvSpPr>
          <p:cNvPr id="2" name="圆角矩形标注 1"/>
          <p:cNvSpPr/>
          <p:nvPr/>
        </p:nvSpPr>
        <p:spPr>
          <a:xfrm>
            <a:off x="2886710" y="3134360"/>
            <a:ext cx="853440" cy="431165"/>
          </a:xfrm>
          <a:prstGeom prst="wedgeRoundRectCallout">
            <a:avLst>
              <a:gd name="adj1" fmla="val 27455"/>
              <a:gd name="adj2" fmla="val -87702"/>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产生</a:t>
            </a:r>
            <a:endParaRPr lang="zh-CN" altLang="en-US" sz="2400"/>
          </a:p>
        </p:txBody>
      </p:sp>
      <p:sp>
        <p:nvSpPr>
          <p:cNvPr id="3" name="圆角矩形标注 2"/>
          <p:cNvSpPr/>
          <p:nvPr/>
        </p:nvSpPr>
        <p:spPr>
          <a:xfrm>
            <a:off x="5691505" y="1377950"/>
            <a:ext cx="853440" cy="431165"/>
          </a:xfrm>
          <a:prstGeom prst="wedgeRoundRectCallout">
            <a:avLst>
              <a:gd name="adj1" fmla="val -35788"/>
              <a:gd name="adj2" fmla="val 6929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收集</a:t>
            </a:r>
            <a:endParaRPr lang="zh-CN" altLang="en-US" sz="2400"/>
          </a:p>
        </p:txBody>
      </p:sp>
      <p:sp>
        <p:nvSpPr>
          <p:cNvPr id="4" name="圆角矩形标注 3"/>
          <p:cNvSpPr/>
          <p:nvPr/>
        </p:nvSpPr>
        <p:spPr>
          <a:xfrm>
            <a:off x="7811135" y="1809115"/>
            <a:ext cx="853440" cy="431165"/>
          </a:xfrm>
          <a:prstGeom prst="wedgeRoundRectCallout">
            <a:avLst>
              <a:gd name="adj1" fmla="val -35788"/>
              <a:gd name="adj2" fmla="val 6929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管理</a:t>
            </a:r>
            <a:endParaRPr lang="zh-CN" altLang="en-US" sz="2400"/>
          </a:p>
        </p:txBody>
      </p:sp>
      <p:sp>
        <p:nvSpPr>
          <p:cNvPr id="5" name="圆角矩形标注 4"/>
          <p:cNvSpPr/>
          <p:nvPr/>
        </p:nvSpPr>
        <p:spPr>
          <a:xfrm>
            <a:off x="7466965" y="3839845"/>
            <a:ext cx="853440" cy="431165"/>
          </a:xfrm>
          <a:prstGeom prst="wedgeRoundRectCallout">
            <a:avLst>
              <a:gd name="adj1" fmla="val -103571"/>
              <a:gd name="adj2" fmla="val 39690"/>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产生</a:t>
            </a:r>
            <a:endParaRPr lang="zh-CN" altLang="en-US" sz="2400"/>
          </a:p>
        </p:txBody>
      </p:sp>
      <p:sp>
        <p:nvSpPr>
          <p:cNvPr id="6" name="圆角矩形标注 5"/>
          <p:cNvSpPr/>
          <p:nvPr/>
        </p:nvSpPr>
        <p:spPr>
          <a:xfrm>
            <a:off x="6162040" y="5751195"/>
            <a:ext cx="1304925" cy="431165"/>
          </a:xfrm>
          <a:prstGeom prst="wedgeRoundRectCallout">
            <a:avLst>
              <a:gd name="adj1" fmla="val 9902"/>
              <a:gd name="adj2" fmla="val -92268"/>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400" noProof="0" dirty="0" err="1">
                <a:latin typeface="Arial" panose="020B0604020202020204" pitchFamily="34" charset="0"/>
                <a:ea typeface="宋体" panose="02010600030101010101" pitchFamily="2" charset="-122"/>
                <a:sym typeface="+mn-ea"/>
              </a:rPr>
              <a:t>HiveQL</a:t>
            </a:r>
            <a:endParaRPr lang="zh-CN" altLang="en-US" sz="2400"/>
          </a:p>
        </p:txBody>
      </p:sp>
      <p:sp>
        <p:nvSpPr>
          <p:cNvPr id="7" name="圆角矩形标注 6"/>
          <p:cNvSpPr/>
          <p:nvPr/>
        </p:nvSpPr>
        <p:spPr>
          <a:xfrm>
            <a:off x="1100455" y="4848225"/>
            <a:ext cx="1304925" cy="706120"/>
          </a:xfrm>
          <a:prstGeom prst="wedgeRoundRectCallout">
            <a:avLst>
              <a:gd name="adj1" fmla="val 83576"/>
              <a:gd name="adj2" fmla="val 32916"/>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noProof="0" dirty="0" err="1">
                <a:latin typeface="Arial" panose="020B0604020202020204" pitchFamily="34" charset="0"/>
                <a:ea typeface="宋体" panose="02010600030101010101" pitchFamily="2" charset="-122"/>
                <a:sym typeface="+mn-ea"/>
              </a:rPr>
              <a:t>实时联机访问</a:t>
            </a:r>
            <a:endParaRPr lang="zh-CN" altLang="en-US" sz="2400" noProof="0" dirty="0" err="1">
              <a:latin typeface="Arial" panose="020B0604020202020204" pitchFamily="34" charset="0"/>
              <a:ea typeface="宋体" panose="02010600030101010101" pitchFamily="2" charset="-122"/>
              <a:sym typeface="+mn-ea"/>
            </a:endParaRPr>
          </a:p>
        </p:txBody>
      </p:sp>
      <p:sp>
        <p:nvSpPr>
          <p:cNvPr id="8" name="圆角矩形标注 7"/>
          <p:cNvSpPr/>
          <p:nvPr>
            <p:custDataLst>
              <p:tags r:id="rId2"/>
            </p:custDataLst>
          </p:nvPr>
        </p:nvSpPr>
        <p:spPr>
          <a:xfrm>
            <a:off x="5308600" y="2926715"/>
            <a:ext cx="853440" cy="431165"/>
          </a:xfrm>
          <a:prstGeom prst="wedgeRoundRectCallout">
            <a:avLst>
              <a:gd name="adj1" fmla="val -35788"/>
              <a:gd name="adj2" fmla="val 69293"/>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a:t>存储</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P spid="7" grpId="0" animBg="1"/>
      <p:bldP spid="7" grpId="1" animBg="1"/>
      <p:bldP spid="8" grpId="0" bldLvl="0" animBg="1"/>
      <p:bldP spid="8"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p:cNvSpPr>
          <p:nvPr>
            <p:ph type="title"/>
          </p:nvPr>
        </p:nvSpPr>
        <p:spPr/>
        <p:txBody>
          <a:bodyPr vert="horz" wrap="square" lIns="91440" tIns="45720" rIns="91440" bIns="45720" anchor="ctr" anchorCtr="0"/>
          <a:lstStyle/>
          <a:p>
            <a:r>
              <a:rPr lang="en-US" altLang="zh-CN" b="1" dirty="0">
                <a:sym typeface="+mn-ea"/>
              </a:rPr>
              <a:t>9.2	 Hive</a:t>
            </a:r>
            <a:r>
              <a:rPr lang="zh-CN" altLang="en-US" b="1" dirty="0">
                <a:sym typeface="+mn-ea"/>
              </a:rPr>
              <a:t>系统架构</a:t>
            </a:r>
            <a:endParaRPr lang="zh-CN" altLang="en-US" b="1" dirty="0"/>
          </a:p>
        </p:txBody>
      </p:sp>
      <p:sp>
        <p:nvSpPr>
          <p:cNvPr id="2052" name="Rectangle 5"/>
          <p:cNvSpPr/>
          <p:nvPr/>
        </p:nvSpPr>
        <p:spPr>
          <a:xfrm>
            <a:off x="3429000" y="1720850"/>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graphicFrame>
        <p:nvGraphicFramePr>
          <p:cNvPr id="2050" name="对象 3"/>
          <p:cNvGraphicFramePr/>
          <p:nvPr/>
        </p:nvGraphicFramePr>
        <p:xfrm>
          <a:off x="5556250" y="1511300"/>
          <a:ext cx="5797550" cy="5012055"/>
        </p:xfrm>
        <a:graphic>
          <a:graphicData uri="http://schemas.openxmlformats.org/presentationml/2006/ole">
            <mc:AlternateContent xmlns:mc="http://schemas.openxmlformats.org/markup-compatibility/2006">
              <mc:Choice xmlns:v="urn:schemas-microsoft-com:vml" Requires="v">
                <p:oleObj spid="_x0000_s3085" name="" r:id="rId1" imgW="6756400" imgH="5842000" progId="Visio.Drawing.15">
                  <p:embed/>
                </p:oleObj>
              </mc:Choice>
              <mc:Fallback>
                <p:oleObj name="" r:id="rId1" imgW="6756400" imgH="5842000" progId="Visio.Drawing.15">
                  <p:embed/>
                  <p:pic>
                    <p:nvPicPr>
                      <p:cNvPr id="0" name="图片 3078"/>
                      <p:cNvPicPr/>
                      <p:nvPr/>
                    </p:nvPicPr>
                    <p:blipFill>
                      <a:blip r:embed="rId2"/>
                      <a:stretch>
                        <a:fillRect/>
                      </a:stretch>
                    </p:blipFill>
                    <p:spPr>
                      <a:xfrm>
                        <a:off x="5556250" y="1511300"/>
                        <a:ext cx="5797550" cy="5012055"/>
                      </a:xfrm>
                      <a:prstGeom prst="rect">
                        <a:avLst/>
                      </a:prstGeom>
                      <a:noFill/>
                      <a:ln w="38100">
                        <a:noFill/>
                        <a:miter/>
                      </a:ln>
                    </p:spPr>
                  </p:pic>
                </p:oleObj>
              </mc:Fallback>
            </mc:AlternateContent>
          </a:graphicData>
        </a:graphic>
      </p:graphicFrame>
      <p:sp>
        <p:nvSpPr>
          <p:cNvPr id="2" name="文本框 1"/>
          <p:cNvSpPr txBox="1"/>
          <p:nvPr/>
        </p:nvSpPr>
        <p:spPr>
          <a:xfrm>
            <a:off x="252730" y="1602740"/>
            <a:ext cx="5048250" cy="1737995"/>
          </a:xfrm>
          <a:prstGeom prst="rect">
            <a:avLst/>
          </a:prstGeom>
          <a:noFill/>
        </p:spPr>
        <p:txBody>
          <a:bodyPr wrap="square" rtlCol="0" anchor="t">
            <a:spAutoFit/>
          </a:bodyPr>
          <a:lstStyle/>
          <a:p>
            <a:pPr marL="0" marR="0" lvl="0" indent="0" algn="l" defTabSz="914400" rtl="0" eaLnBrk="0" fontAlgn="base" latinLnBrk="0" hangingPunct="0">
              <a:lnSpc>
                <a:spcPct val="90000"/>
              </a:lnSpc>
              <a:spcBef>
                <a:spcPct val="20000"/>
              </a:spcBef>
              <a:spcAft>
                <a:spcPts val="600"/>
              </a:spcAft>
              <a:buClrTx/>
              <a:buSzTx/>
              <a:buNone/>
              <a:defRPr/>
            </a:pPr>
            <a:r>
              <a:rPr lang="zh-CN" altLang="zh-CN" sz="2000" b="1" kern="0" noProof="0" dirty="0">
                <a:ln>
                  <a:noFill/>
                </a:ln>
                <a:effectLst/>
                <a:uLnTx/>
                <a:uFillTx/>
                <a:sym typeface="+mn-ea"/>
              </a:rPr>
              <a:t>用户接口模块</a:t>
            </a:r>
            <a:r>
              <a:rPr lang="zh-CN" altLang="en-US" sz="2000" b="1" kern="0" noProof="0" dirty="0">
                <a:ln>
                  <a:noFill/>
                </a:ln>
                <a:effectLst/>
                <a:uLnTx/>
                <a:uFillTx/>
                <a:sym typeface="+mn-ea"/>
              </a:rPr>
              <a:t>：</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90000"/>
              </a:lnSpc>
              <a:spcBef>
                <a:spcPct val="20000"/>
              </a:spcBef>
              <a:spcAft>
                <a:spcPct val="0"/>
              </a:spcAft>
              <a:buClrTx/>
              <a:buSzTx/>
              <a:buNone/>
              <a:defRPr/>
            </a:pPr>
            <a:r>
              <a:rPr lang="en-US" altLang="zh-CN" sz="2000" kern="0" noProof="0" dirty="0">
                <a:ln>
                  <a:noFill/>
                </a:ln>
                <a:effectLst/>
                <a:uLnTx/>
                <a:uFillTx/>
                <a:sym typeface="+mn-ea"/>
              </a:rPr>
              <a:t>     CLI</a:t>
            </a:r>
            <a:r>
              <a:rPr lang="zh-CN" altLang="zh-CN" sz="2000" kern="0" noProof="0" dirty="0">
                <a:ln>
                  <a:noFill/>
                </a:ln>
                <a:effectLst/>
                <a:uLnTx/>
                <a:uFillTx/>
                <a:sym typeface="+mn-ea"/>
              </a:rPr>
              <a:t>是</a:t>
            </a:r>
            <a:r>
              <a:rPr lang="en-US" altLang="zh-CN" sz="2000" kern="0" noProof="0" dirty="0">
                <a:ln>
                  <a:noFill/>
                </a:ln>
                <a:effectLst/>
                <a:uLnTx/>
                <a:uFillTx/>
                <a:sym typeface="+mn-ea"/>
              </a:rPr>
              <a:t>Hive</a:t>
            </a:r>
            <a:r>
              <a:rPr lang="zh-CN" altLang="zh-CN" sz="2000" kern="0" noProof="0" dirty="0">
                <a:ln>
                  <a:noFill/>
                </a:ln>
                <a:effectLst/>
                <a:uLnTx/>
                <a:uFillTx/>
                <a:sym typeface="+mn-ea"/>
              </a:rPr>
              <a:t>自带的一个命令行界面</a:t>
            </a:r>
            <a:r>
              <a:rPr lang="zh-CN" altLang="en-US" sz="2000" kern="0" noProof="0" dirty="0">
                <a:ln>
                  <a:noFill/>
                </a:ln>
                <a:effectLst/>
                <a:uLnTx/>
                <a:uFillTx/>
                <a:sym typeface="+mn-ea"/>
              </a:rPr>
              <a:t>；</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90000"/>
              </a:lnSpc>
              <a:spcBef>
                <a:spcPct val="20000"/>
              </a:spcBef>
              <a:spcAft>
                <a:spcPct val="0"/>
              </a:spcAft>
              <a:buClrTx/>
              <a:buSzTx/>
              <a:buNone/>
              <a:defRPr/>
            </a:pPr>
            <a:r>
              <a:rPr lang="en-US" altLang="zh-CN" sz="2000" kern="0" noProof="0" dirty="0">
                <a:ln>
                  <a:noFill/>
                </a:ln>
                <a:effectLst/>
                <a:uLnTx/>
                <a:uFillTx/>
                <a:sym typeface="+mn-ea"/>
              </a:rPr>
              <a:t>     HWI</a:t>
            </a:r>
            <a:r>
              <a:rPr lang="zh-CN" altLang="zh-CN" sz="2000" kern="0" noProof="0" dirty="0">
                <a:ln>
                  <a:noFill/>
                </a:ln>
                <a:effectLst/>
                <a:uLnTx/>
                <a:uFillTx/>
                <a:sym typeface="+mn-ea"/>
              </a:rPr>
              <a:t>是</a:t>
            </a:r>
            <a:r>
              <a:rPr lang="en-US" altLang="zh-CN" sz="2000" kern="0" noProof="0" dirty="0">
                <a:ln>
                  <a:noFill/>
                </a:ln>
                <a:effectLst/>
                <a:uLnTx/>
                <a:uFillTx/>
                <a:sym typeface="+mn-ea"/>
              </a:rPr>
              <a:t>Hive</a:t>
            </a:r>
            <a:r>
              <a:rPr lang="zh-CN" altLang="zh-CN" sz="2000" kern="0" noProof="0" dirty="0">
                <a:ln>
                  <a:noFill/>
                </a:ln>
                <a:effectLst/>
                <a:uLnTx/>
                <a:uFillTx/>
                <a:sym typeface="+mn-ea"/>
              </a:rPr>
              <a:t>的一个简单网页界面</a:t>
            </a:r>
            <a:r>
              <a:rPr lang="zh-CN" altLang="en-US" sz="2000" kern="0" noProof="0" dirty="0">
                <a:ln>
                  <a:noFill/>
                </a:ln>
                <a:effectLst/>
                <a:uLnTx/>
                <a:uFillTx/>
                <a:sym typeface="+mn-ea"/>
              </a:rPr>
              <a:t>；</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90000"/>
              </a:lnSpc>
              <a:spcBef>
                <a:spcPct val="20000"/>
              </a:spcBef>
              <a:spcAft>
                <a:spcPct val="0"/>
              </a:spcAft>
              <a:buClrTx/>
              <a:buSzTx/>
              <a:buNone/>
              <a:defRPr/>
            </a:pPr>
            <a:r>
              <a:rPr lang="en-US" altLang="zh-CN" sz="2000" kern="0" noProof="0" dirty="0">
                <a:ln>
                  <a:noFill/>
                </a:ln>
                <a:effectLst/>
                <a:uLnTx/>
                <a:uFillTx/>
                <a:sym typeface="+mn-ea"/>
              </a:rPr>
              <a:t>     JDBC</a:t>
            </a:r>
            <a:r>
              <a:rPr lang="zh-CN" altLang="zh-CN" sz="2000" kern="0" noProof="0" dirty="0">
                <a:ln>
                  <a:noFill/>
                </a:ln>
                <a:effectLst/>
                <a:uLnTx/>
                <a:uFillTx/>
                <a:sym typeface="+mn-ea"/>
              </a:rPr>
              <a:t>、</a:t>
            </a:r>
            <a:r>
              <a:rPr lang="en-US" altLang="zh-CN" sz="2000" kern="0" noProof="0" dirty="0">
                <a:ln>
                  <a:noFill/>
                </a:ln>
                <a:effectLst/>
                <a:uLnTx/>
                <a:uFillTx/>
                <a:sym typeface="+mn-ea"/>
              </a:rPr>
              <a:t>ODBC</a:t>
            </a:r>
            <a:r>
              <a:rPr lang="zh-CN" altLang="zh-CN" sz="2000" kern="0" noProof="0" dirty="0">
                <a:ln>
                  <a:noFill/>
                </a:ln>
                <a:effectLst/>
                <a:uLnTx/>
                <a:uFillTx/>
                <a:sym typeface="+mn-ea"/>
              </a:rPr>
              <a:t>以及</a:t>
            </a:r>
            <a:r>
              <a:rPr lang="en-US" altLang="zh-CN" sz="2000" kern="0" noProof="0" dirty="0">
                <a:ln>
                  <a:noFill/>
                </a:ln>
                <a:effectLst/>
                <a:uLnTx/>
                <a:uFillTx/>
                <a:sym typeface="+mn-ea"/>
              </a:rPr>
              <a:t>Thrift Server</a:t>
            </a:r>
            <a:r>
              <a:rPr lang="zh-CN" altLang="zh-CN" sz="2000" kern="0" noProof="0" dirty="0">
                <a:ln>
                  <a:noFill/>
                </a:ln>
                <a:effectLst/>
                <a:uLnTx/>
                <a:uFillTx/>
                <a:sym typeface="+mn-ea"/>
              </a:rPr>
              <a:t>可以向用户提供进行编程访问的接口</a:t>
            </a:r>
            <a:r>
              <a:rPr lang="zh-CN" altLang="en-US" sz="2000" kern="0" noProof="0" dirty="0">
                <a:ln>
                  <a:noFill/>
                </a:ln>
                <a:effectLst/>
                <a:uLnTx/>
                <a:uFillTx/>
                <a:sym typeface="+mn-ea"/>
              </a:rPr>
              <a:t>。</a:t>
            </a:r>
            <a:endParaRPr lang="zh-CN" altLang="en-US" sz="2000" kern="0" noProof="0" dirty="0">
              <a:ln>
                <a:noFill/>
              </a:ln>
              <a:effectLst/>
              <a:uLnTx/>
              <a:uFillTx/>
              <a:sym typeface="+mn-ea"/>
            </a:endParaRPr>
          </a:p>
        </p:txBody>
      </p:sp>
      <p:sp>
        <p:nvSpPr>
          <p:cNvPr id="3" name="文本框 2"/>
          <p:cNvSpPr txBox="1"/>
          <p:nvPr/>
        </p:nvSpPr>
        <p:spPr>
          <a:xfrm>
            <a:off x="252730" y="3536950"/>
            <a:ext cx="5048250" cy="1337945"/>
          </a:xfrm>
          <a:prstGeom prst="rect">
            <a:avLst/>
          </a:prstGeom>
          <a:noFill/>
        </p:spPr>
        <p:txBody>
          <a:bodyPr wrap="square" rtlCol="0" anchor="t">
            <a:spAutoFit/>
          </a:bodyPr>
          <a:lstStyle/>
          <a:p>
            <a:pPr marL="0" marR="0" lvl="0" indent="0" algn="l" defTabSz="914400" rtl="0" eaLnBrk="0" fontAlgn="base" latinLnBrk="0" hangingPunct="0">
              <a:lnSpc>
                <a:spcPct val="90000"/>
              </a:lnSpc>
              <a:spcBef>
                <a:spcPct val="20000"/>
              </a:spcBef>
              <a:spcAft>
                <a:spcPts val="600"/>
              </a:spcAft>
              <a:buClrTx/>
              <a:buSzTx/>
              <a:buNone/>
              <a:defRPr/>
            </a:pPr>
            <a:r>
              <a:rPr lang="zh-CN" altLang="zh-CN" sz="2000" b="1" kern="0" noProof="0" dirty="0">
                <a:ln>
                  <a:noFill/>
                </a:ln>
                <a:effectLst/>
                <a:uLnTx/>
                <a:uFillTx/>
                <a:sym typeface="+mn-ea"/>
              </a:rPr>
              <a:t>驱动模块</a:t>
            </a:r>
            <a:r>
              <a:rPr lang="zh-CN" altLang="en-US" sz="2000" b="1" kern="0" noProof="0" dirty="0">
                <a:ln>
                  <a:noFill/>
                </a:ln>
                <a:effectLst/>
                <a:uLnTx/>
                <a:uFillTx/>
                <a:sym typeface="+mn-ea"/>
              </a:rPr>
              <a:t>：</a:t>
            </a:r>
            <a:r>
              <a:rPr lang="zh-CN" altLang="zh-CN" sz="2000" kern="0" noProof="0" dirty="0">
                <a:ln>
                  <a:noFill/>
                </a:ln>
                <a:effectLst/>
                <a:uLnTx/>
                <a:uFillTx/>
                <a:sym typeface="+mn-ea"/>
              </a:rPr>
              <a:t>包括编译器、优化器、执行器等</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90000"/>
              </a:lnSpc>
              <a:spcBef>
                <a:spcPct val="20000"/>
              </a:spcBef>
              <a:spcAft>
                <a:spcPct val="0"/>
              </a:spcAft>
              <a:buClrTx/>
              <a:buSzTx/>
              <a:buNone/>
              <a:defRPr/>
            </a:pPr>
            <a:r>
              <a:rPr lang="en-US" altLang="zh-CN" sz="2000" kern="0" noProof="0" dirty="0">
                <a:ln>
                  <a:noFill/>
                </a:ln>
                <a:effectLst/>
                <a:uLnTx/>
                <a:uFillTx/>
                <a:sym typeface="+mn-ea"/>
              </a:rPr>
              <a:t>     </a:t>
            </a:r>
            <a:r>
              <a:rPr lang="zh-CN" altLang="zh-CN" sz="2000" kern="0" noProof="0" dirty="0">
                <a:ln>
                  <a:noFill/>
                </a:ln>
                <a:effectLst/>
                <a:uLnTx/>
                <a:uFillTx/>
                <a:sym typeface="+mn-ea"/>
              </a:rPr>
              <a:t>所有命令和查询都会进入到驱动模块，通过该模块对输入进行解析编译，对需求的计算进行优化，然后按照指定步骤进行执行</a:t>
            </a:r>
            <a:endParaRPr lang="zh-CN" altLang="zh-CN" sz="2000" kern="0" noProof="0" dirty="0">
              <a:ln>
                <a:noFill/>
              </a:ln>
              <a:effectLst/>
              <a:uLnTx/>
              <a:uFillTx/>
              <a:sym typeface="+mn-ea"/>
            </a:endParaRPr>
          </a:p>
        </p:txBody>
      </p:sp>
      <p:sp>
        <p:nvSpPr>
          <p:cNvPr id="4" name="文本框 3"/>
          <p:cNvSpPr txBox="1"/>
          <p:nvPr/>
        </p:nvSpPr>
        <p:spPr>
          <a:xfrm>
            <a:off x="252730" y="5071110"/>
            <a:ext cx="5184140" cy="1753235"/>
          </a:xfrm>
          <a:prstGeom prst="rect">
            <a:avLst/>
          </a:prstGeom>
          <a:noFill/>
        </p:spPr>
        <p:txBody>
          <a:bodyPr wrap="square" rtlCol="0" anchor="t">
            <a:spAutoFit/>
          </a:bodyPr>
          <a:lstStyle/>
          <a:p>
            <a:pPr marL="0" marR="0" lvl="0" indent="0" algn="l" defTabSz="914400" rtl="0" eaLnBrk="0" fontAlgn="base" latinLnBrk="0" hangingPunct="0">
              <a:lnSpc>
                <a:spcPct val="90000"/>
              </a:lnSpc>
              <a:spcBef>
                <a:spcPct val="20000"/>
              </a:spcBef>
              <a:spcAft>
                <a:spcPts val="600"/>
              </a:spcAft>
              <a:buClrTx/>
              <a:buSzTx/>
              <a:buNone/>
              <a:defRPr/>
            </a:pPr>
            <a:r>
              <a:rPr lang="zh-CN" altLang="zh-CN" sz="2000" b="1" kern="0" noProof="0" dirty="0">
                <a:ln>
                  <a:noFill/>
                </a:ln>
                <a:effectLst/>
                <a:uLnTx/>
                <a:uFillTx/>
                <a:sym typeface="+mn-ea"/>
              </a:rPr>
              <a:t>元数据存储模块（</a:t>
            </a:r>
            <a:r>
              <a:rPr lang="en-US" altLang="zh-CN" sz="2000" b="1" kern="0" noProof="0" dirty="0" err="1">
                <a:ln>
                  <a:noFill/>
                </a:ln>
                <a:effectLst/>
                <a:uLnTx/>
                <a:uFillTx/>
                <a:sym typeface="+mn-ea"/>
              </a:rPr>
              <a:t>Metastore</a:t>
            </a:r>
            <a:r>
              <a:rPr lang="zh-CN" altLang="zh-CN" sz="2000" b="1" kern="0" noProof="0" dirty="0">
                <a:ln>
                  <a:noFill/>
                </a:ln>
                <a:effectLst/>
                <a:uLnTx/>
                <a:uFillTx/>
                <a:sym typeface="+mn-ea"/>
              </a:rPr>
              <a:t>）</a:t>
            </a:r>
            <a:r>
              <a:rPr lang="zh-CN" altLang="en-US" sz="2000" b="1" kern="0" noProof="0" dirty="0">
                <a:ln>
                  <a:noFill/>
                </a:ln>
                <a:effectLst/>
                <a:uLnTx/>
                <a:uFillTx/>
                <a:sym typeface="+mn-ea"/>
              </a:rPr>
              <a:t>：</a:t>
            </a:r>
            <a:endParaRPr lang="zh-CN" altLang="en-US" sz="2000" b="1" kern="0" noProof="0" dirty="0">
              <a:ln>
                <a:noFill/>
              </a:ln>
              <a:effectLst/>
              <a:uLnTx/>
              <a:uFillTx/>
              <a:sym typeface="+mn-ea"/>
            </a:endParaRPr>
          </a:p>
          <a:p>
            <a:pPr marL="0" marR="0" lvl="0" indent="0" algn="l" defTabSz="914400" rtl="0" eaLnBrk="0" fontAlgn="base" latinLnBrk="0" hangingPunct="0">
              <a:lnSpc>
                <a:spcPct val="90000"/>
              </a:lnSpc>
              <a:spcBef>
                <a:spcPct val="20000"/>
              </a:spcBef>
              <a:spcAft>
                <a:spcPts val="600"/>
              </a:spcAft>
              <a:buClrTx/>
              <a:buSzTx/>
              <a:buNone/>
              <a:defRPr/>
            </a:pPr>
            <a:r>
              <a:rPr lang="zh-CN" altLang="zh-CN" sz="2000" kern="0" noProof="0" dirty="0">
                <a:ln>
                  <a:noFill/>
                </a:ln>
                <a:effectLst/>
                <a:uLnTx/>
                <a:uFillTx/>
                <a:sym typeface="+mn-ea"/>
              </a:rPr>
              <a:t>是一个独立的关系型数据库</a:t>
            </a: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90000"/>
              </a:lnSpc>
              <a:spcBef>
                <a:spcPct val="20000"/>
              </a:spcBef>
              <a:spcAft>
                <a:spcPct val="0"/>
              </a:spcAft>
              <a:buClrTx/>
              <a:buSzTx/>
              <a:buNone/>
              <a:defRPr/>
            </a:pPr>
            <a:r>
              <a:rPr lang="en-US" altLang="zh-CN" sz="2000" kern="0" noProof="0" dirty="0">
                <a:ln>
                  <a:noFill/>
                </a:ln>
                <a:effectLst/>
                <a:uLnTx/>
                <a:uFillTx/>
                <a:sym typeface="+mn-ea"/>
              </a:rPr>
              <a:t>     </a:t>
            </a:r>
            <a:r>
              <a:rPr lang="zh-CN" altLang="zh-CN" sz="2000" kern="0" noProof="0" dirty="0">
                <a:ln>
                  <a:noFill/>
                </a:ln>
                <a:effectLst/>
                <a:uLnTx/>
                <a:uFillTx/>
                <a:sym typeface="+mn-ea"/>
              </a:rPr>
              <a:t>主要保存表模式和其他系统元数据，如表的名称、表的列及其属性、表的分区及其属性、表的属性、表中数据所在位置信息等。</a:t>
            </a:r>
            <a:endParaRPr lang="zh-CN" altLang="zh-CN" sz="2000" kern="0" noProof="0" dirty="0">
              <a:ln>
                <a:noFill/>
              </a:ln>
              <a:effectLst/>
              <a:uLnTx/>
              <a:uFillTx/>
              <a:sym typeface="+mn-ea"/>
            </a:endParaRPr>
          </a:p>
        </p:txBody>
      </p:sp>
      <p:sp>
        <p:nvSpPr>
          <p:cNvPr id="5" name="矩形 4"/>
          <p:cNvSpPr/>
          <p:nvPr/>
        </p:nvSpPr>
        <p:spPr>
          <a:xfrm>
            <a:off x="5953125" y="2810510"/>
            <a:ext cx="5110480" cy="882650"/>
          </a:xfrm>
          <a:prstGeom prst="rect">
            <a:avLst/>
          </a:prstGeom>
          <a:noFill/>
          <a:ln w="28575">
            <a:solidFill>
              <a:srgbClr val="00B05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6" name="直接箭头连接符 5"/>
          <p:cNvCxnSpPr>
            <a:stCxn id="5" idx="1"/>
          </p:cNvCxnSpPr>
          <p:nvPr/>
        </p:nvCxnSpPr>
        <p:spPr>
          <a:xfrm flipH="1" flipV="1">
            <a:off x="4904105" y="2565400"/>
            <a:ext cx="1049020" cy="686435"/>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a:off x="5158740" y="4144645"/>
            <a:ext cx="804545" cy="9525"/>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4531360" y="4272280"/>
            <a:ext cx="5492750" cy="1471295"/>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2"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22" presetClass="entr" presetSubtype="2"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par>
                          <p:cTn id="19" fill="hold">
                            <p:stCondLst>
                              <p:cond delay="0"/>
                            </p:stCondLst>
                            <p:childTnLst>
                              <p:par>
                                <p:cTn id="20" presetID="22" presetClass="entr" presetSubtype="2"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par>
                          <p:cTn id="27" fill="hold">
                            <p:stCondLst>
                              <p:cond delay="0"/>
                            </p:stCondLst>
                            <p:childTnLst>
                              <p:par>
                                <p:cTn id="28" presetID="22" presetClass="entr" presetSubtype="2"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right)">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P spid="5" grpId="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p:txBody>
          <a:bodyPr vert="horz" wrap="square" lIns="91440" tIns="45720" rIns="91440" bIns="45720" anchor="ctr" anchorCtr="0"/>
          <a:lstStyle/>
          <a:p>
            <a:r>
              <a:rPr lang="en-US" altLang="zh-CN" b="1" dirty="0"/>
              <a:t>9.3	 </a:t>
            </a:r>
            <a:r>
              <a:rPr lang="en-US" altLang="zh-CN" b="1" dirty="0">
                <a:sym typeface="+mn-ea"/>
              </a:rPr>
              <a:t>Hive</a:t>
            </a:r>
            <a:r>
              <a:rPr lang="zh-CN" altLang="en-US" b="1" dirty="0">
                <a:sym typeface="+mn-ea"/>
              </a:rPr>
              <a:t>工作原理</a:t>
            </a:r>
            <a:endParaRPr lang="zh-CN" altLang="en-US" b="1" dirty="0"/>
          </a:p>
        </p:txBody>
      </p:sp>
      <p:sp>
        <p:nvSpPr>
          <p:cNvPr id="24579" name="Rectangle 3"/>
          <p:cNvSpPr>
            <a:spLocks noGrp="1"/>
          </p:cNvSpPr>
          <p:nvPr>
            <p:ph idx="1"/>
          </p:nvPr>
        </p:nvSpPr>
        <p:spPr/>
        <p:txBody>
          <a:bodyPr vert="horz" wrap="square" lIns="91440" tIns="45720" rIns="91440" bIns="45720" anchor="t" anchorCtr="0">
            <a:normAutofit lnSpcReduction="10000"/>
          </a:bodyPr>
          <a:lstStyle/>
          <a:p>
            <a:pPr marL="0" indent="0">
              <a:lnSpc>
                <a:spcPct val="170000"/>
              </a:lnSpc>
              <a:buNone/>
            </a:pPr>
            <a:r>
              <a:rPr lang="en-US" altLang="zh-CN" dirty="0">
                <a:latin typeface="Arial" panose="020B0604020202020204" pitchFamily="34" charset="0"/>
                <a:sym typeface="+mn-ea"/>
              </a:rPr>
              <a:t>9.3.1 	SQL</a:t>
            </a:r>
            <a:r>
              <a:rPr lang="zh-CN" altLang="en-US" dirty="0">
                <a:latin typeface="Arial" panose="020B0604020202020204" pitchFamily="34" charset="0"/>
                <a:sym typeface="+mn-ea"/>
              </a:rPr>
              <a:t>语句转换成</a:t>
            </a:r>
            <a:r>
              <a:rPr lang="en-US" altLang="zh-CN" dirty="0">
                <a:latin typeface="Arial" panose="020B0604020202020204" pitchFamily="34" charset="0"/>
                <a:sym typeface="+mn-ea"/>
              </a:rPr>
              <a:t>MapReduce</a:t>
            </a:r>
            <a:r>
              <a:rPr lang="zh-CN" altLang="en-US" dirty="0">
                <a:latin typeface="Arial" panose="020B0604020202020204" pitchFamily="34" charset="0"/>
                <a:sym typeface="+mn-ea"/>
              </a:rPr>
              <a:t>的基本原理</a:t>
            </a:r>
            <a:endParaRPr lang="zh-CN" altLang="en-US" dirty="0">
              <a:latin typeface="Arial" panose="020B0604020202020204" pitchFamily="34" charset="0"/>
            </a:endParaRPr>
          </a:p>
          <a:p>
            <a:pPr marL="0" indent="0">
              <a:lnSpc>
                <a:spcPct val="170000"/>
              </a:lnSpc>
              <a:buNone/>
            </a:pPr>
            <a:r>
              <a:rPr lang="en-US" altLang="zh-CN" dirty="0">
                <a:latin typeface="Arial" panose="020B0604020202020204" pitchFamily="34" charset="0"/>
                <a:sym typeface="+mn-ea"/>
              </a:rPr>
              <a:t>9.3.2 	SQL</a:t>
            </a:r>
            <a:r>
              <a:rPr lang="zh-CN" altLang="en-US" dirty="0">
                <a:latin typeface="Arial" panose="020B0604020202020204" pitchFamily="34" charset="0"/>
                <a:sym typeface="+mn-ea"/>
              </a:rPr>
              <a:t>查询转换成</a:t>
            </a:r>
            <a:r>
              <a:rPr lang="en-US" altLang="zh-CN" dirty="0">
                <a:latin typeface="Arial" panose="020B0604020202020204" pitchFamily="34" charset="0"/>
                <a:sym typeface="+mn-ea"/>
              </a:rPr>
              <a:t>MapReduce</a:t>
            </a:r>
            <a:r>
              <a:rPr lang="zh-CN" altLang="en-US" dirty="0">
                <a:latin typeface="Arial" panose="020B0604020202020204" pitchFamily="34" charset="0"/>
                <a:sym typeface="+mn-ea"/>
              </a:rPr>
              <a:t>作业的过程</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2"/>
          <p:cNvSpPr>
            <a:spLocks noGrp="1"/>
          </p:cNvSpPr>
          <p:nvPr>
            <p:ph type="title"/>
          </p:nvPr>
        </p:nvSpPr>
        <p:spPr/>
        <p:txBody>
          <a:bodyPr vert="horz" wrap="square" lIns="91440" tIns="45720" rIns="91440" bIns="45720" anchor="ctr" anchorCtr="0"/>
          <a:lstStyle/>
          <a:p>
            <a:r>
              <a:rPr lang="en-US" altLang="en-US" sz="4000" b="1" dirty="0"/>
              <a:t>9.3.1  SQL</a:t>
            </a:r>
            <a:r>
              <a:rPr lang="zh-CN" altLang="en-US" sz="4000" b="1" dirty="0"/>
              <a:t>语句转换成</a:t>
            </a:r>
            <a:r>
              <a:rPr lang="en-US" altLang="en-US" sz="4000" b="1" dirty="0"/>
              <a:t>MapReduce</a:t>
            </a:r>
            <a:r>
              <a:rPr lang="zh-CN" altLang="en-US" sz="4000" b="1" dirty="0"/>
              <a:t>的基本原理</a:t>
            </a:r>
            <a:endParaRPr lang="zh-CN" altLang="en-US" sz="4000" b="1" dirty="0"/>
          </a:p>
        </p:txBody>
      </p:sp>
      <p:sp>
        <p:nvSpPr>
          <p:cNvPr id="3076" name="Rectangle 8"/>
          <p:cNvSpPr/>
          <p:nvPr/>
        </p:nvSpPr>
        <p:spPr>
          <a:xfrm>
            <a:off x="1196340" y="1691164"/>
            <a:ext cx="9613900" cy="521970"/>
          </a:xfrm>
          <a:prstGeom prst="rect">
            <a:avLst/>
          </a:prstGeom>
          <a:noFill/>
          <a:ln w="9525">
            <a:noFill/>
          </a:ln>
        </p:spPr>
        <p:txBody>
          <a:bodyPr wrap="none" anchor="ctr" anchorCtr="0">
            <a:spAutoFit/>
          </a:bodyPr>
          <a:lstStyle/>
          <a:p>
            <a:r>
              <a:rPr lang="en-US" altLang="zh-CN" sz="2800" dirty="0">
                <a:latin typeface="Arial" panose="020B0604020202020204" pitchFamily="34" charset="0"/>
              </a:rPr>
              <a:t>select name, orderid from user u join order o </a:t>
            </a:r>
            <a:r>
              <a:rPr lang="en-US" altLang="zh-CN" sz="2800" dirty="0">
                <a:solidFill>
                  <a:srgbClr val="FF0000"/>
                </a:solidFill>
                <a:latin typeface="Arial" panose="020B0604020202020204" pitchFamily="34" charset="0"/>
              </a:rPr>
              <a:t>on u.uid=o.uid</a:t>
            </a:r>
            <a:r>
              <a:rPr lang="en-US" altLang="zh-CN" sz="2800" dirty="0">
                <a:latin typeface="Arial" panose="020B0604020202020204" pitchFamily="34" charset="0"/>
              </a:rPr>
              <a:t>;</a:t>
            </a:r>
            <a:endParaRPr lang="en-US" altLang="zh-CN" sz="2800" dirty="0">
              <a:latin typeface="Arial" panose="020B0604020202020204" pitchFamily="34" charset="0"/>
            </a:endParaRPr>
          </a:p>
        </p:txBody>
      </p:sp>
      <p:sp>
        <p:nvSpPr>
          <p:cNvPr id="3077"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3074" name="Object 1"/>
          <p:cNvGraphicFramePr/>
          <p:nvPr/>
        </p:nvGraphicFramePr>
        <p:xfrm>
          <a:off x="2317750" y="2781935"/>
          <a:ext cx="7763510" cy="3832225"/>
        </p:xfrm>
        <a:graphic>
          <a:graphicData uri="http://schemas.openxmlformats.org/presentationml/2006/ole">
            <mc:AlternateContent xmlns:mc="http://schemas.openxmlformats.org/markup-compatibility/2006">
              <mc:Choice xmlns:v="urn:schemas-microsoft-com:vml" Requires="v">
                <p:oleObj spid="_x0000_s5125" name="" r:id="rId1" imgW="12280900" imgH="5168900" progId="Visio.Drawing.15">
                  <p:embed/>
                </p:oleObj>
              </mc:Choice>
              <mc:Fallback>
                <p:oleObj name="" r:id="rId1" imgW="12280900" imgH="5168900" progId="Visio.Drawing.15">
                  <p:embed/>
                  <p:pic>
                    <p:nvPicPr>
                      <p:cNvPr id="0" name="图片 1"/>
                      <p:cNvPicPr/>
                      <p:nvPr/>
                    </p:nvPicPr>
                    <p:blipFill>
                      <a:blip r:embed="rId2"/>
                      <a:stretch>
                        <a:fillRect/>
                      </a:stretch>
                    </p:blipFill>
                    <p:spPr>
                      <a:xfrm>
                        <a:off x="2317750" y="2781935"/>
                        <a:ext cx="7763510" cy="3832225"/>
                      </a:xfrm>
                      <a:prstGeom prst="rect">
                        <a:avLst/>
                      </a:prstGeom>
                      <a:noFill/>
                      <a:ln w="38100">
                        <a:noFill/>
                        <a:miter/>
                      </a:ln>
                    </p:spPr>
                  </p:pic>
                </p:oleObj>
              </mc:Fallback>
            </mc:AlternateContent>
          </a:graphicData>
        </a:graphic>
      </p:graphicFrame>
      <p:sp>
        <p:nvSpPr>
          <p:cNvPr id="4" name="文本框 3"/>
          <p:cNvSpPr txBox="1"/>
          <p:nvPr/>
        </p:nvSpPr>
        <p:spPr>
          <a:xfrm>
            <a:off x="3645535" y="2384425"/>
            <a:ext cx="4900930" cy="578440"/>
          </a:xfrm>
          <a:prstGeom prst="wedgeRoundRectCallout">
            <a:avLst>
              <a:gd name="adj1" fmla="val -22428"/>
              <a:gd name="adj2" fmla="val 159236"/>
              <a:gd name="adj3" fmla="val 16667"/>
            </a:avLst>
          </a:prstGeom>
        </p:spPr>
        <p:style>
          <a:lnRef idx="0">
            <a:schemeClr val="accent5"/>
          </a:lnRef>
          <a:fillRef idx="3">
            <a:schemeClr val="accent5"/>
          </a:fillRef>
          <a:effectRef idx="3">
            <a:schemeClr val="accent5"/>
          </a:effectRef>
          <a:fontRef idx="minor">
            <a:schemeClr val="lt1"/>
          </a:fontRef>
        </p:style>
        <p:txBody>
          <a:bodyPr wrap="square" rtlCol="0" anchor="t">
            <a:spAutoFit/>
          </a:bodyPr>
          <a:lstStyle/>
          <a:p>
            <a:pPr marR="0" indent="0" defTabSz="914400">
              <a:buClrTx/>
              <a:buSzTx/>
              <a:buNone/>
              <a:defRPr/>
            </a:pPr>
            <a:r>
              <a:rPr lang="en-US" altLang="zh-CN" sz="2800" noProof="0" dirty="0">
                <a:latin typeface="Arial" panose="020B0604020202020204" pitchFamily="34" charset="0"/>
                <a:ea typeface="宋体" panose="02010600030101010101" pitchFamily="2" charset="-122"/>
                <a:sym typeface="+mn-ea"/>
              </a:rPr>
              <a:t>1,2</a:t>
            </a:r>
            <a:r>
              <a:rPr lang="zh-CN" altLang="en-US" sz="2800" noProof="0" dirty="0">
                <a:latin typeface="Arial" panose="020B0604020202020204" pitchFamily="34" charset="0"/>
                <a:ea typeface="宋体" panose="02010600030101010101" pitchFamily="2" charset="-122"/>
                <a:sym typeface="+mn-ea"/>
              </a:rPr>
              <a:t>是表</a:t>
            </a:r>
            <a:r>
              <a:rPr lang="en-US" altLang="zh-CN" sz="2800" noProof="0" dirty="0">
                <a:latin typeface="Arial" panose="020B0604020202020204" pitchFamily="34" charset="0"/>
                <a:ea typeface="宋体" panose="02010600030101010101" pitchFamily="2" charset="-122"/>
                <a:sym typeface="+mn-ea"/>
              </a:rPr>
              <a:t>user</a:t>
            </a:r>
            <a:r>
              <a:rPr lang="zh-CN" altLang="en-US" sz="2800" noProof="0" dirty="0">
                <a:latin typeface="Arial" panose="020B0604020202020204" pitchFamily="34" charset="0"/>
                <a:ea typeface="宋体" panose="02010600030101010101" pitchFamily="2" charset="-122"/>
                <a:sym typeface="+mn-ea"/>
              </a:rPr>
              <a:t>和</a:t>
            </a:r>
            <a:r>
              <a:rPr lang="en-US" altLang="zh-CN" sz="2800" noProof="0" dirty="0">
                <a:latin typeface="Arial" panose="020B0604020202020204" pitchFamily="34" charset="0"/>
                <a:ea typeface="宋体" panose="02010600030101010101" pitchFamily="2" charset="-122"/>
                <a:sym typeface="+mn-ea"/>
              </a:rPr>
              <a:t>order</a:t>
            </a:r>
            <a:r>
              <a:rPr lang="zh-CN" altLang="en-US" sz="2800" noProof="0" dirty="0">
                <a:latin typeface="Arial" panose="020B0604020202020204" pitchFamily="34" charset="0"/>
                <a:ea typeface="宋体" panose="02010600030101010101" pitchFamily="2" charset="-122"/>
                <a:sym typeface="+mn-ea"/>
              </a:rPr>
              <a:t>的标记位</a:t>
            </a:r>
            <a:endParaRPr lang="zh-CN" altLang="en-US" sz="2800" noProof="0" dirty="0">
              <a:latin typeface="Arial" panose="020B0604020202020204" pitchFamily="34" charset="0"/>
              <a:ea typeface="宋体" panose="02010600030101010101" pitchFamily="2" charset="-122"/>
              <a:sym typeface="+mn-ea"/>
            </a:endParaRPr>
          </a:p>
        </p:txBody>
      </p:sp>
      <p:sp>
        <p:nvSpPr>
          <p:cNvPr id="5" name="文本框 4"/>
          <p:cNvSpPr txBox="1"/>
          <p:nvPr/>
        </p:nvSpPr>
        <p:spPr>
          <a:xfrm>
            <a:off x="229870" y="4003675"/>
            <a:ext cx="2575560" cy="578440"/>
          </a:xfrm>
          <a:prstGeom prst="wedgeRoundRectCallout">
            <a:avLst>
              <a:gd name="adj1" fmla="val 112795"/>
              <a:gd name="adj2" fmla="val -167572"/>
              <a:gd name="adj3" fmla="val 16667"/>
            </a:avLst>
          </a:prstGeom>
        </p:spPr>
        <p:style>
          <a:lnRef idx="0">
            <a:schemeClr val="accent5"/>
          </a:lnRef>
          <a:fillRef idx="3">
            <a:schemeClr val="accent5"/>
          </a:fillRef>
          <a:effectRef idx="3">
            <a:schemeClr val="accent5"/>
          </a:effectRef>
          <a:fontRef idx="minor">
            <a:schemeClr val="lt1"/>
          </a:fontRef>
        </p:style>
        <p:txBody>
          <a:bodyPr wrap="square" rtlCol="0" anchor="t">
            <a:spAutoFit/>
          </a:bodyPr>
          <a:lstStyle/>
          <a:p>
            <a:pPr marR="0" indent="0" defTabSz="914400">
              <a:buClrTx/>
              <a:buSzTx/>
              <a:buNone/>
              <a:defRPr/>
            </a:pPr>
            <a:r>
              <a:rPr lang="en-US" altLang="zh-CN" sz="2800" noProof="0" dirty="0">
                <a:latin typeface="Arial" panose="020B0604020202020204" pitchFamily="34" charset="0"/>
                <a:ea typeface="宋体" panose="02010600030101010101" pitchFamily="2" charset="-122"/>
                <a:sym typeface="+mn-ea"/>
              </a:rPr>
              <a:t>key</a:t>
            </a:r>
            <a:r>
              <a:rPr lang="zh-CN" altLang="en-US" sz="2800" noProof="0" dirty="0">
                <a:latin typeface="Arial" panose="020B0604020202020204" pitchFamily="34" charset="0"/>
                <a:ea typeface="宋体" panose="02010600030101010101" pitchFamily="2" charset="-122"/>
                <a:sym typeface="+mn-ea"/>
              </a:rPr>
              <a:t>是连接的列</a:t>
            </a:r>
            <a:endParaRPr lang="en-US" altLang="zh-CN" sz="2800" noProof="0" dirty="0">
              <a:latin typeface="Arial" panose="020B0604020202020204" pitchFamily="34" charset="0"/>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bldLvl="0" animBg="1"/>
      <p:bldP spid="5"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标题 2"/>
          <p:cNvSpPr>
            <a:spLocks noGrp="1"/>
          </p:cNvSpPr>
          <p:nvPr>
            <p:ph type="title"/>
          </p:nvPr>
        </p:nvSpPr>
        <p:spPr/>
        <p:txBody>
          <a:bodyPr vert="horz" wrap="square" lIns="91440" tIns="45720" rIns="91440" bIns="45720" anchor="ctr" anchorCtr="0"/>
          <a:lstStyle/>
          <a:p>
            <a:r>
              <a:rPr lang="en-US" altLang="en-US" sz="4000" b="1" dirty="0"/>
              <a:t>9.3.1  SQL</a:t>
            </a:r>
            <a:r>
              <a:rPr lang="zh-CN" altLang="en-US" sz="4000" b="1" dirty="0"/>
              <a:t>语句转换成</a:t>
            </a:r>
            <a:r>
              <a:rPr lang="en-US" altLang="en-US" sz="4000" b="1" dirty="0"/>
              <a:t>MapReduce</a:t>
            </a:r>
            <a:r>
              <a:rPr lang="zh-CN" altLang="en-US" sz="4000" b="1" dirty="0"/>
              <a:t>的基本原理</a:t>
            </a:r>
            <a:endParaRPr lang="zh-CN" altLang="en-US" sz="4000" b="1" dirty="0"/>
          </a:p>
        </p:txBody>
      </p:sp>
      <p:sp>
        <p:nvSpPr>
          <p:cNvPr id="4100" name="Rectangle 8"/>
          <p:cNvSpPr/>
          <p:nvPr/>
        </p:nvSpPr>
        <p:spPr>
          <a:xfrm>
            <a:off x="838200" y="1571784"/>
            <a:ext cx="10710545" cy="521970"/>
          </a:xfrm>
          <a:prstGeom prst="rect">
            <a:avLst/>
          </a:prstGeom>
          <a:noFill/>
          <a:ln w="9525">
            <a:noFill/>
          </a:ln>
        </p:spPr>
        <p:txBody>
          <a:bodyPr wrap="none" anchor="ctr" anchorCtr="0">
            <a:spAutoFit/>
          </a:bodyPr>
          <a:lstStyle/>
          <a:p>
            <a:r>
              <a:rPr lang="en-US" sz="2800" dirty="0">
                <a:latin typeface="Arial" panose="020B0604020202020204" pitchFamily="34" charset="0"/>
              </a:rPr>
              <a:t>select rank,level,count(*) as value from score </a:t>
            </a:r>
            <a:r>
              <a:rPr lang="en-US" sz="2800" b="1" dirty="0">
                <a:solidFill>
                  <a:srgbClr val="FF0000"/>
                </a:solidFill>
                <a:latin typeface="Arial" panose="020B0604020202020204" pitchFamily="34" charset="0"/>
              </a:rPr>
              <a:t>group by</a:t>
            </a:r>
            <a:r>
              <a:rPr lang="en-US" sz="2800" dirty="0">
                <a:latin typeface="Arial" panose="020B0604020202020204" pitchFamily="34" charset="0"/>
              </a:rPr>
              <a:t> rank, level;</a:t>
            </a:r>
            <a:endParaRPr lang="en-US" sz="2800" dirty="0">
              <a:latin typeface="Arial" panose="020B0604020202020204" pitchFamily="34" charset="0"/>
            </a:endParaRPr>
          </a:p>
        </p:txBody>
      </p:sp>
      <p:sp>
        <p:nvSpPr>
          <p:cNvPr id="4101"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4102" name="Rectangle 4"/>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4098" name="Object 3"/>
          <p:cNvGraphicFramePr/>
          <p:nvPr/>
        </p:nvGraphicFramePr>
        <p:xfrm>
          <a:off x="1833880" y="2410460"/>
          <a:ext cx="8859520" cy="4069715"/>
        </p:xfrm>
        <a:graphic>
          <a:graphicData uri="http://schemas.openxmlformats.org/presentationml/2006/ole">
            <mc:AlternateContent xmlns:mc="http://schemas.openxmlformats.org/markup-compatibility/2006">
              <mc:Choice xmlns:v="urn:schemas-microsoft-com:vml" Requires="v">
                <p:oleObj spid="_x0000_s6149" name="" r:id="rId1" imgW="12763500" imgH="4686300" progId="Visio.Drawing.15">
                  <p:embed/>
                </p:oleObj>
              </mc:Choice>
              <mc:Fallback>
                <p:oleObj name="" r:id="rId1" imgW="12763500" imgH="4686300" progId="Visio.Drawing.15">
                  <p:embed/>
                  <p:pic>
                    <p:nvPicPr>
                      <p:cNvPr id="0" name="图片 3081"/>
                      <p:cNvPicPr/>
                      <p:nvPr/>
                    </p:nvPicPr>
                    <p:blipFill>
                      <a:blip r:embed="rId2"/>
                      <a:stretch>
                        <a:fillRect/>
                      </a:stretch>
                    </p:blipFill>
                    <p:spPr>
                      <a:xfrm>
                        <a:off x="1833880" y="2410460"/>
                        <a:ext cx="8859520" cy="4069715"/>
                      </a:xfrm>
                      <a:prstGeom prst="rect">
                        <a:avLst/>
                      </a:prstGeom>
                      <a:noFill/>
                      <a:ln w="38100">
                        <a:noFill/>
                        <a:miter/>
                      </a:ln>
                    </p:spPr>
                  </p:pic>
                </p:oleObj>
              </mc:Fallback>
            </mc:AlternateContent>
          </a:graphicData>
        </a:graphic>
      </p:graphicFrame>
      <p:sp>
        <p:nvSpPr>
          <p:cNvPr id="5" name="文本框 4"/>
          <p:cNvSpPr txBox="1"/>
          <p:nvPr/>
        </p:nvSpPr>
        <p:spPr>
          <a:xfrm>
            <a:off x="229870" y="4003675"/>
            <a:ext cx="2575560" cy="578440"/>
          </a:xfrm>
          <a:prstGeom prst="wedgeRoundRectCallout">
            <a:avLst>
              <a:gd name="adj1" fmla="val 101282"/>
              <a:gd name="adj2" fmla="val -186783"/>
              <a:gd name="adj3" fmla="val 16667"/>
            </a:avLst>
          </a:prstGeom>
        </p:spPr>
        <p:style>
          <a:lnRef idx="0">
            <a:schemeClr val="accent5"/>
          </a:lnRef>
          <a:fillRef idx="3">
            <a:schemeClr val="accent5"/>
          </a:fillRef>
          <a:effectRef idx="3">
            <a:schemeClr val="accent5"/>
          </a:effectRef>
          <a:fontRef idx="minor">
            <a:schemeClr val="lt1"/>
          </a:fontRef>
        </p:style>
        <p:txBody>
          <a:bodyPr wrap="square" rtlCol="0" anchor="t">
            <a:spAutoFit/>
          </a:bodyPr>
          <a:lstStyle/>
          <a:p>
            <a:pPr marR="0" indent="0" defTabSz="914400">
              <a:buClrTx/>
              <a:buSzTx/>
              <a:buNone/>
              <a:defRPr/>
            </a:pPr>
            <a:r>
              <a:rPr lang="en-US" altLang="zh-CN" sz="2800" noProof="0" dirty="0">
                <a:latin typeface="Arial" panose="020B0604020202020204" pitchFamily="34" charset="0"/>
                <a:ea typeface="宋体" panose="02010600030101010101" pitchFamily="2" charset="-122"/>
                <a:sym typeface="+mn-ea"/>
              </a:rPr>
              <a:t>key</a:t>
            </a:r>
            <a:r>
              <a:rPr lang="zh-CN" altLang="en-US" sz="2800" noProof="0" dirty="0">
                <a:latin typeface="Arial" panose="020B0604020202020204" pitchFamily="34" charset="0"/>
                <a:ea typeface="宋体" panose="02010600030101010101" pitchFamily="2" charset="-122"/>
                <a:sym typeface="+mn-ea"/>
              </a:rPr>
              <a:t>是分组依据</a:t>
            </a:r>
            <a:endParaRPr lang="en-US" altLang="zh-CN" sz="2800" noProof="0" dirty="0">
              <a:latin typeface="Arial" panose="020B0604020202020204" pitchFamily="34" charset="0"/>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p:txBody>
          <a:bodyPr vert="horz" wrap="square" lIns="91440" tIns="45720" rIns="91440" bIns="45720" anchor="ctr" anchorCtr="0"/>
          <a:lstStyle/>
          <a:p>
            <a:r>
              <a:rPr lang="en-US" altLang="en-US" sz="4000" b="1" dirty="0"/>
              <a:t>9.3.2  </a:t>
            </a:r>
            <a:r>
              <a:rPr lang="en-US" altLang="zh-CN" sz="4000" b="1" dirty="0"/>
              <a:t>SQL</a:t>
            </a:r>
            <a:r>
              <a:rPr lang="zh-CN" altLang="en-US" sz="4000" b="1" dirty="0"/>
              <a:t>查询转换成</a:t>
            </a:r>
            <a:r>
              <a:rPr lang="en-US" altLang="zh-CN" sz="4000" b="1" dirty="0"/>
              <a:t>MapReduce</a:t>
            </a:r>
            <a:r>
              <a:rPr lang="zh-CN" altLang="en-US" sz="4000" b="1" dirty="0"/>
              <a:t>作业的过程</a:t>
            </a:r>
            <a:endParaRPr lang="zh-CN" altLang="en-US" sz="4000" b="1" dirty="0"/>
          </a:p>
        </p:txBody>
      </p:sp>
      <p:sp>
        <p:nvSpPr>
          <p:cNvPr id="29699" name="Rectangle 5"/>
          <p:cNvSpPr/>
          <p:nvPr/>
        </p:nvSpPr>
        <p:spPr>
          <a:xfrm>
            <a:off x="1524000" y="1973263"/>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2" name="矩形 1"/>
          <p:cNvSpPr/>
          <p:nvPr/>
        </p:nvSpPr>
        <p:spPr>
          <a:xfrm>
            <a:off x="1134745" y="1691005"/>
            <a:ext cx="9973310" cy="3681730"/>
          </a:xfrm>
          <a:prstGeom prst="rect">
            <a:avLst/>
          </a:prstGeom>
        </p:spPr>
        <p:txBody>
          <a:bodyPr wrap="square">
            <a:spAutoFit/>
          </a:bodyPr>
          <a:lstStyle/>
          <a:p>
            <a:pPr marL="0" marR="0" lvl="0" indent="266700" algn="just" defTabSz="914400" rtl="0" eaLnBrk="1" fontAlgn="base" latinLnBrk="0" hangingPunct="1">
              <a:lnSpc>
                <a:spcPct val="150000"/>
              </a:lnSpc>
              <a:spcBef>
                <a:spcPct val="0"/>
              </a:spcBef>
              <a:spcAft>
                <a:spcPts val="700"/>
              </a:spcAft>
              <a:buClrTx/>
              <a:buSzTx/>
              <a:buFontTx/>
              <a:buNone/>
              <a:defRPr/>
            </a:pPr>
            <a:r>
              <a:rPr kumimoji="0" lang="en-US"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需要与</a:t>
            </a:r>
            <a:r>
              <a:rPr kumimoji="0" lang="en-US" altLang="zh-CN" sz="28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Hadoop</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交互工作来完成该操作：</a:t>
            </a:r>
            <a:endPar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514350" marR="0" lvl="0" indent="-514350" algn="just" defTabSz="914400" rtl="0" eaLnBrk="1" fontAlgn="base" latinLnBrk="0" hangingPunct="1">
              <a:lnSpc>
                <a:spcPct val="150000"/>
              </a:lnSpc>
              <a:spcBef>
                <a:spcPct val="0"/>
              </a:spcBef>
              <a:spcAft>
                <a:spcPts val="700"/>
              </a:spcAft>
              <a:buClrTx/>
              <a:buSzTx/>
              <a:buFont typeface="+mj-lt"/>
              <a:buAutoNum type="arabicPeriod"/>
              <a:defRPr/>
            </a:pP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首先，</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驱动模块</a:t>
            </a:r>
            <a:r>
              <a:rPr kumimoji="0" lang="zh-CN" altLang="en-US" sz="2800" b="0" i="0" u="none" strike="noStrike" kern="100" cap="none" spc="0" normalizeH="0" baseline="0" noProof="0" dirty="0">
                <a:ln>
                  <a:noFill/>
                </a:ln>
                <a:solidFill>
                  <a:schemeClr val="tx1"/>
                </a:solidFill>
                <a:effectLst/>
                <a:highlight>
                  <a:srgbClr val="FFFF00"/>
                </a:highlight>
                <a:uLnTx/>
                <a:uFillTx/>
                <a:latin typeface="Calibri" panose="020F0502020204030204" pitchFamily="34" charset="0"/>
                <a:ea typeface="宋体" panose="02010600030101010101" pitchFamily="2" charset="-122"/>
                <a:cs typeface="Times New Roman" panose="02020603050405020304" pitchFamily="18" charset="0"/>
              </a:rPr>
              <a:t>接收</a:t>
            </a: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该</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命令或查询</a:t>
            </a: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514350" marR="0" lvl="0" indent="-514350" algn="just" defTabSz="914400" rtl="0" eaLnBrk="1" fontAlgn="base" latinLnBrk="0" hangingPunct="1">
              <a:lnSpc>
                <a:spcPct val="150000"/>
              </a:lnSpc>
              <a:spcBef>
                <a:spcPct val="0"/>
              </a:spcBef>
              <a:spcAft>
                <a:spcPts val="700"/>
              </a:spcAft>
              <a:buClrTx/>
              <a:buSzTx/>
              <a:buFont typeface="+mj-lt"/>
              <a:buAutoNum type="arabicPeriod"/>
              <a:defRPr/>
            </a:pP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接着，对该</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命令或查询进行解析</a:t>
            </a:r>
            <a:r>
              <a:rPr kumimoji="0" lang="zh-CN" altLang="zh-CN" sz="2800" b="0" i="0" u="none" strike="noStrike" kern="100" cap="none" spc="0" normalizeH="0" baseline="0" noProof="0" dirty="0">
                <a:ln>
                  <a:noFill/>
                </a:ln>
                <a:solidFill>
                  <a:schemeClr val="tx1"/>
                </a:solidFill>
                <a:effectLst/>
                <a:highlight>
                  <a:srgbClr val="FFFF00"/>
                </a:highlight>
                <a:uLnTx/>
                <a:uFillTx/>
                <a:latin typeface="Calibri" panose="020F0502020204030204" pitchFamily="34" charset="0"/>
                <a:ea typeface="宋体" panose="02010600030101010101" pitchFamily="2" charset="-122"/>
                <a:cs typeface="Times New Roman" panose="02020603050405020304" pitchFamily="18" charset="0"/>
              </a:rPr>
              <a:t>编译</a:t>
            </a: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514350" marR="0" lvl="0" indent="-514350" algn="just" defTabSz="914400" rtl="0" eaLnBrk="1" fontAlgn="base" latinLnBrk="0" hangingPunct="1">
              <a:lnSpc>
                <a:spcPct val="150000"/>
              </a:lnSpc>
              <a:spcBef>
                <a:spcPct val="0"/>
              </a:spcBef>
              <a:spcAft>
                <a:spcPts val="700"/>
              </a:spcAft>
              <a:buClrTx/>
              <a:buSzTx/>
              <a:buFont typeface="+mj-lt"/>
              <a:buAutoNum type="arabicPeriod"/>
              <a:defRPr/>
            </a:pP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然后，由</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优化器对</a:t>
            </a: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该</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命令或查询进行</a:t>
            </a:r>
            <a:r>
              <a:rPr kumimoji="0" lang="zh-CN" altLang="zh-CN" sz="2800" b="0" i="0" u="none" strike="noStrike" kern="100" cap="none" spc="0" normalizeH="0" baseline="0" noProof="0" dirty="0">
                <a:ln>
                  <a:noFill/>
                </a:ln>
                <a:solidFill>
                  <a:schemeClr val="tx1"/>
                </a:solidFill>
                <a:effectLst/>
                <a:highlight>
                  <a:srgbClr val="FFFF00"/>
                </a:highlight>
                <a:uLnTx/>
                <a:uFillTx/>
                <a:latin typeface="Calibri" panose="020F0502020204030204" pitchFamily="34" charset="0"/>
                <a:ea typeface="宋体" panose="02010600030101010101" pitchFamily="2" charset="-122"/>
                <a:cs typeface="Times New Roman" panose="02020603050405020304" pitchFamily="18" charset="0"/>
              </a:rPr>
              <a:t>优化</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计算</a:t>
            </a: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514350" marR="0" lvl="0" indent="-514350" algn="just" defTabSz="914400" rtl="0" eaLnBrk="1" fontAlgn="base" latinLnBrk="0" hangingPunct="1">
              <a:lnSpc>
                <a:spcPct val="150000"/>
              </a:lnSpc>
              <a:spcBef>
                <a:spcPct val="0"/>
              </a:spcBef>
              <a:spcAft>
                <a:spcPts val="700"/>
              </a:spcAft>
              <a:buClrTx/>
              <a:buSzTx/>
              <a:buFont typeface="+mj-lt"/>
              <a:buAutoNum type="arabicPeriod"/>
              <a:defRPr/>
            </a:pP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最后该</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命令或查询通过</a:t>
            </a:r>
            <a:r>
              <a:rPr kumimoji="0" lang="zh-CN" altLang="zh-CN" sz="2800" b="0" i="0" u="none" strike="noStrike" kern="100" cap="none" spc="0" normalizeH="0" baseline="0" noProof="0" dirty="0">
                <a:ln>
                  <a:noFill/>
                </a:ln>
                <a:solidFill>
                  <a:schemeClr val="tx1"/>
                </a:solidFill>
                <a:effectLst/>
                <a:highlight>
                  <a:srgbClr val="FFFF00"/>
                </a:highlight>
                <a:uLnTx/>
                <a:uFillTx/>
                <a:latin typeface="Calibri" panose="020F0502020204030204" pitchFamily="34" charset="0"/>
                <a:ea typeface="宋体" panose="02010600030101010101" pitchFamily="2" charset="-122"/>
                <a:cs typeface="Times New Roman" panose="02020603050405020304" pitchFamily="18" charset="0"/>
              </a:rPr>
              <a:t>执行</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器进行执行</a:t>
            </a:r>
            <a:r>
              <a:rPr kumimoji="0" lang="zh-CN" altLang="en-US"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标题 2"/>
          <p:cNvSpPr>
            <a:spLocks noGrp="1"/>
          </p:cNvSpPr>
          <p:nvPr>
            <p:ph type="title"/>
          </p:nvPr>
        </p:nvSpPr>
        <p:spPr/>
        <p:txBody>
          <a:bodyPr vert="horz" wrap="square" lIns="91440" tIns="45720" rIns="91440" bIns="45720" anchor="ctr" anchorCtr="0"/>
          <a:lstStyle/>
          <a:p>
            <a:r>
              <a:rPr lang="en-US" altLang="en-US" sz="4000" b="1" dirty="0"/>
              <a:t>9.3.2  </a:t>
            </a:r>
            <a:r>
              <a:rPr lang="en-US" altLang="zh-CN" sz="4000" b="1" dirty="0"/>
              <a:t>SQL</a:t>
            </a:r>
            <a:r>
              <a:rPr lang="zh-CN" altLang="en-US" sz="4000" b="1" dirty="0"/>
              <a:t>查询转换成</a:t>
            </a:r>
            <a:r>
              <a:rPr lang="en-US" altLang="zh-CN" sz="4000" b="1" dirty="0"/>
              <a:t>MapReduce</a:t>
            </a:r>
            <a:r>
              <a:rPr lang="zh-CN" altLang="en-US" sz="4000" b="1" dirty="0"/>
              <a:t>作业的过程</a:t>
            </a:r>
            <a:endParaRPr lang="zh-CN" altLang="en-US" sz="4000" b="1" dirty="0"/>
          </a:p>
        </p:txBody>
      </p:sp>
      <p:sp>
        <p:nvSpPr>
          <p:cNvPr id="5125"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5122" name="Object 1"/>
          <p:cNvGraphicFramePr/>
          <p:nvPr/>
        </p:nvGraphicFramePr>
        <p:xfrm>
          <a:off x="4139565" y="1304925"/>
          <a:ext cx="4076065" cy="5479415"/>
        </p:xfrm>
        <a:graphic>
          <a:graphicData uri="http://schemas.openxmlformats.org/presentationml/2006/ole">
            <mc:AlternateContent xmlns:mc="http://schemas.openxmlformats.org/markup-compatibility/2006">
              <mc:Choice xmlns:v="urn:schemas-microsoft-com:vml" Requires="v">
                <p:oleObj spid="_x0000_s7173" name="" r:id="rId1" imgW="6985000" imgH="10541000" progId="Visio.Drawing.15">
                  <p:embed/>
                </p:oleObj>
              </mc:Choice>
              <mc:Fallback>
                <p:oleObj name="" r:id="rId1" imgW="6985000" imgH="10541000" progId="Visio.Drawing.15">
                  <p:embed/>
                  <p:pic>
                    <p:nvPicPr>
                      <p:cNvPr id="0" name="图片 3079"/>
                      <p:cNvPicPr/>
                      <p:nvPr/>
                    </p:nvPicPr>
                    <p:blipFill>
                      <a:blip r:embed="rId2"/>
                      <a:stretch>
                        <a:fillRect/>
                      </a:stretch>
                    </p:blipFill>
                    <p:spPr>
                      <a:xfrm>
                        <a:off x="4139565" y="1304925"/>
                        <a:ext cx="4076065" cy="5479415"/>
                      </a:xfrm>
                      <a:prstGeom prst="rect">
                        <a:avLst/>
                      </a:prstGeom>
                      <a:noFill/>
                      <a:ln w="38100">
                        <a:noFill/>
                        <a:miter/>
                      </a:ln>
                    </p:spPr>
                  </p:pic>
                </p:oleObj>
              </mc:Fallback>
            </mc:AlternateContent>
          </a:graphicData>
        </a:graphic>
      </p:graphicFrame>
      <p:sp>
        <p:nvSpPr>
          <p:cNvPr id="3" name="文本框 2"/>
          <p:cNvSpPr txBox="1"/>
          <p:nvPr/>
        </p:nvSpPr>
        <p:spPr>
          <a:xfrm>
            <a:off x="1347470" y="1304925"/>
            <a:ext cx="4622800" cy="506730"/>
          </a:xfrm>
          <a:prstGeom prst="rect">
            <a:avLst/>
          </a:prstGeom>
          <a:noFill/>
        </p:spPr>
        <p:txBody>
          <a:bodyPr wrap="square" rtlCol="0" anchor="t">
            <a:spAutoFit/>
          </a:bodyPr>
          <a:lstStyle/>
          <a:p>
            <a:pPr indent="0">
              <a:lnSpc>
                <a:spcPct val="150000"/>
              </a:lnSpc>
              <a:buNone/>
            </a:pPr>
            <a:r>
              <a:rPr lang="zh-CN" altLang="zh-CN" dirty="0">
                <a:latin typeface="Arial" panose="020B0604020202020204" pitchFamily="34" charset="0"/>
                <a:sym typeface="+mn-ea"/>
              </a:rPr>
              <a:t>第</a:t>
            </a:r>
            <a:r>
              <a:rPr lang="en-US" altLang="zh-CN" dirty="0">
                <a:latin typeface="Arial" panose="020B0604020202020204" pitchFamily="34" charset="0"/>
                <a:sym typeface="+mn-ea"/>
              </a:rPr>
              <a:t>0</a:t>
            </a:r>
            <a:r>
              <a:rPr lang="zh-CN" altLang="zh-CN" dirty="0">
                <a:latin typeface="Arial" panose="020B0604020202020204" pitchFamily="34" charset="0"/>
                <a:sym typeface="+mn-ea"/>
              </a:rPr>
              <a:t>步：通过命令行</a:t>
            </a:r>
            <a:r>
              <a:rPr lang="en-US" altLang="zh-CN" dirty="0">
                <a:latin typeface="Arial" panose="020B0604020202020204" pitchFamily="34" charset="0"/>
                <a:sym typeface="+mn-ea"/>
              </a:rPr>
              <a:t>CLI</a:t>
            </a:r>
            <a:r>
              <a:rPr lang="zh-CN" altLang="zh-CN" dirty="0">
                <a:latin typeface="Arial" panose="020B0604020202020204" pitchFamily="34" charset="0"/>
                <a:sym typeface="+mn-ea"/>
              </a:rPr>
              <a:t>或其他</a:t>
            </a:r>
            <a:r>
              <a:rPr lang="en-US" altLang="zh-CN" dirty="0">
                <a:latin typeface="Arial" panose="020B0604020202020204" pitchFamily="34" charset="0"/>
                <a:sym typeface="+mn-ea"/>
              </a:rPr>
              <a:t>Hive</a:t>
            </a:r>
            <a:r>
              <a:rPr lang="zh-CN" altLang="zh-CN" dirty="0">
                <a:latin typeface="Arial" panose="020B0604020202020204" pitchFamily="34" charset="0"/>
                <a:sym typeface="+mn-ea"/>
              </a:rPr>
              <a:t>访问工具</a:t>
            </a:r>
            <a:endParaRPr lang="zh-CN" altLang="zh-CN" dirty="0">
              <a:latin typeface="Arial" panose="020B0604020202020204" pitchFamily="34" charset="0"/>
              <a:sym typeface="+mn-ea"/>
            </a:endParaRPr>
          </a:p>
        </p:txBody>
      </p:sp>
      <p:sp>
        <p:nvSpPr>
          <p:cNvPr id="4" name="文本框 3"/>
          <p:cNvSpPr txBox="1"/>
          <p:nvPr/>
        </p:nvSpPr>
        <p:spPr>
          <a:xfrm>
            <a:off x="254000" y="2082165"/>
            <a:ext cx="3315335" cy="1753235"/>
          </a:xfrm>
          <a:prstGeom prst="rect">
            <a:avLst/>
          </a:prstGeom>
          <a:noFill/>
        </p:spPr>
        <p:txBody>
          <a:bodyPr wrap="square" rtlCol="0" anchor="t">
            <a:spAutoFit/>
          </a:bodyPr>
          <a:lstStyle/>
          <a:p>
            <a:pPr indent="0">
              <a:lnSpc>
                <a:spcPct val="150000"/>
              </a:lnSpc>
              <a:buNone/>
            </a:pPr>
            <a:r>
              <a:rPr lang="zh-CN" altLang="zh-CN" dirty="0">
                <a:latin typeface="Arial" panose="020B0604020202020204" pitchFamily="34" charset="0"/>
                <a:sym typeface="+mn-ea"/>
              </a:rPr>
              <a:t>第</a:t>
            </a:r>
            <a:r>
              <a:rPr lang="en-US" altLang="zh-CN" dirty="0">
                <a:latin typeface="Arial" panose="020B0604020202020204" pitchFamily="34" charset="0"/>
                <a:sym typeface="+mn-ea"/>
              </a:rPr>
              <a:t>1</a:t>
            </a:r>
            <a:r>
              <a:rPr lang="zh-CN" altLang="zh-CN" dirty="0">
                <a:latin typeface="Arial" panose="020B0604020202020204" pitchFamily="34" charset="0"/>
                <a:sym typeface="+mn-ea"/>
              </a:rPr>
              <a:t>步：</a:t>
            </a:r>
            <a:r>
              <a:rPr lang="en-US" altLang="zh-CN" dirty="0">
                <a:latin typeface="Arial" panose="020B0604020202020204" pitchFamily="34" charset="0"/>
                <a:sym typeface="+mn-ea"/>
              </a:rPr>
              <a:t>Hive</a:t>
            </a:r>
            <a:r>
              <a:rPr lang="zh-CN" altLang="zh-CN" dirty="0">
                <a:latin typeface="Arial" panose="020B0604020202020204" pitchFamily="34" charset="0"/>
                <a:sym typeface="+mn-ea"/>
              </a:rPr>
              <a:t>驱动模块中的编译器——</a:t>
            </a:r>
            <a:r>
              <a:rPr lang="en-US" altLang="zh-CN" dirty="0">
                <a:latin typeface="Arial" panose="020B0604020202020204" pitchFamily="34" charset="0"/>
                <a:sym typeface="+mn-ea"/>
              </a:rPr>
              <a:t>Antlr</a:t>
            </a:r>
            <a:r>
              <a:rPr lang="zh-CN" altLang="zh-CN" dirty="0">
                <a:latin typeface="Arial" panose="020B0604020202020204" pitchFamily="34" charset="0"/>
                <a:sym typeface="+mn-ea"/>
              </a:rPr>
              <a:t>语言识别工具，对用户输入的</a:t>
            </a:r>
            <a:r>
              <a:rPr lang="en-US" altLang="zh-CN" dirty="0">
                <a:latin typeface="Arial" panose="020B0604020202020204" pitchFamily="34" charset="0"/>
                <a:sym typeface="+mn-ea"/>
              </a:rPr>
              <a:t>SQL</a:t>
            </a:r>
            <a:r>
              <a:rPr lang="zh-CN" altLang="zh-CN" dirty="0">
                <a:latin typeface="Arial" panose="020B0604020202020204" pitchFamily="34" charset="0"/>
                <a:sym typeface="+mn-ea"/>
              </a:rPr>
              <a:t>语言进行词法和语法解析</a:t>
            </a:r>
            <a:endParaRPr lang="zh-CN" altLang="zh-CN" dirty="0">
              <a:latin typeface="Arial" panose="020B0604020202020204" pitchFamily="34" charset="0"/>
              <a:sym typeface="+mn-ea"/>
            </a:endParaRPr>
          </a:p>
        </p:txBody>
      </p:sp>
      <p:sp>
        <p:nvSpPr>
          <p:cNvPr id="30724" name="矩形 1"/>
          <p:cNvSpPr/>
          <p:nvPr/>
        </p:nvSpPr>
        <p:spPr>
          <a:xfrm>
            <a:off x="8439150" y="1419225"/>
            <a:ext cx="3750310" cy="1753235"/>
          </a:xfrm>
          <a:prstGeom prst="rect">
            <a:avLst/>
          </a:prstGeom>
          <a:noFill/>
          <a:ln w="9525">
            <a:noFill/>
          </a:ln>
        </p:spPr>
        <p:txBody>
          <a:bodyPr wrap="square">
            <a:spAutoFit/>
          </a:bodyPr>
          <a:lstStyle/>
          <a:p>
            <a:pPr indent="0">
              <a:lnSpc>
                <a:spcPct val="150000"/>
              </a:lnSpc>
              <a:buNone/>
            </a:pPr>
            <a:r>
              <a:rPr lang="zh-CN" altLang="zh-CN" dirty="0">
                <a:latin typeface="Arial" panose="020B0604020202020204" pitchFamily="34" charset="0"/>
              </a:rPr>
              <a:t>第</a:t>
            </a:r>
            <a:r>
              <a:rPr lang="en-US" altLang="zh-CN" dirty="0">
                <a:latin typeface="Arial" panose="020B0604020202020204" pitchFamily="34" charset="0"/>
              </a:rPr>
              <a:t>2</a:t>
            </a:r>
            <a:r>
              <a:rPr lang="zh-CN" altLang="zh-CN" dirty="0">
                <a:latin typeface="Arial" panose="020B0604020202020204" pitchFamily="34" charset="0"/>
              </a:rPr>
              <a:t>步：把抽象语法树进一步转化为</a:t>
            </a:r>
            <a:r>
              <a:rPr lang="en-US" altLang="zh-CN" dirty="0">
                <a:latin typeface="Arial" panose="020B0604020202020204" pitchFamily="34" charset="0"/>
              </a:rPr>
              <a:t>QueryBlock</a:t>
            </a:r>
            <a:r>
              <a:rPr lang="zh-CN" altLang="zh-CN" dirty="0">
                <a:latin typeface="Arial" panose="020B0604020202020204" pitchFamily="34" charset="0"/>
              </a:rPr>
              <a:t>，其中</a:t>
            </a:r>
            <a:r>
              <a:rPr lang="en-US" altLang="zh-CN" dirty="0">
                <a:latin typeface="Arial" panose="020B0604020202020204" pitchFamily="34" charset="0"/>
              </a:rPr>
              <a:t>QueryBlock</a:t>
            </a:r>
            <a:r>
              <a:rPr lang="zh-CN" altLang="zh-CN" dirty="0">
                <a:latin typeface="Arial" panose="020B0604020202020204" pitchFamily="34" charset="0"/>
              </a:rPr>
              <a:t>是一条最基本的</a:t>
            </a:r>
            <a:r>
              <a:rPr lang="en-US" altLang="zh-CN" dirty="0">
                <a:latin typeface="Arial" panose="020B0604020202020204" pitchFamily="34" charset="0"/>
              </a:rPr>
              <a:t>SQL</a:t>
            </a:r>
            <a:r>
              <a:rPr lang="zh-CN" altLang="zh-CN" dirty="0">
                <a:latin typeface="Arial" panose="020B0604020202020204" pitchFamily="34" charset="0"/>
              </a:rPr>
              <a:t>语法组成单元，包括输入源、计算过程和输出三部分。</a:t>
            </a:r>
            <a:endParaRPr lang="zh-CN" altLang="zh-CN" dirty="0">
              <a:latin typeface="Arial" panose="020B0604020202020204" pitchFamily="34" charset="0"/>
            </a:endParaRPr>
          </a:p>
        </p:txBody>
      </p:sp>
      <p:sp>
        <p:nvSpPr>
          <p:cNvPr id="5" name="文本框 4"/>
          <p:cNvSpPr txBox="1"/>
          <p:nvPr/>
        </p:nvSpPr>
        <p:spPr>
          <a:xfrm>
            <a:off x="8493125" y="3334385"/>
            <a:ext cx="3698875" cy="1753235"/>
          </a:xfrm>
          <a:prstGeom prst="rect">
            <a:avLst/>
          </a:prstGeom>
          <a:noFill/>
        </p:spPr>
        <p:txBody>
          <a:bodyPr wrap="square" rtlCol="0" anchor="t">
            <a:spAutoFit/>
          </a:bodyPr>
          <a:lstStyle/>
          <a:p>
            <a:pPr indent="0">
              <a:lnSpc>
                <a:spcPct val="150000"/>
              </a:lnSpc>
              <a:buNone/>
            </a:pPr>
            <a:r>
              <a:rPr lang="zh-CN" altLang="en-US" dirty="0">
                <a:latin typeface="Arial" panose="020B0604020202020204" pitchFamily="34" charset="0"/>
                <a:sym typeface="+mn-ea"/>
              </a:rPr>
              <a:t>第</a:t>
            </a:r>
            <a:r>
              <a:rPr lang="en-US" altLang="zh-CN" dirty="0">
                <a:latin typeface="Arial" panose="020B0604020202020204" pitchFamily="34" charset="0"/>
                <a:sym typeface="+mn-ea"/>
              </a:rPr>
              <a:t>3</a:t>
            </a:r>
            <a:r>
              <a:rPr lang="zh-CN" altLang="en-US" dirty="0">
                <a:latin typeface="Arial" panose="020B0604020202020204" pitchFamily="34" charset="0"/>
                <a:sym typeface="+mn-ea"/>
              </a:rPr>
              <a:t>步：再对</a:t>
            </a:r>
            <a:r>
              <a:rPr lang="en-US" altLang="zh-CN" dirty="0">
                <a:latin typeface="Arial" panose="020B0604020202020204" pitchFamily="34" charset="0"/>
                <a:sym typeface="+mn-ea"/>
              </a:rPr>
              <a:t>QueryBlock</a:t>
            </a:r>
            <a:r>
              <a:rPr lang="zh-CN" altLang="en-US" dirty="0">
                <a:latin typeface="Arial" panose="020B0604020202020204" pitchFamily="34" charset="0"/>
                <a:sym typeface="+mn-ea"/>
              </a:rPr>
              <a:t>进行遍历，生成执行操作树（</a:t>
            </a:r>
            <a:r>
              <a:rPr lang="en-US" altLang="zh-CN" dirty="0">
                <a:latin typeface="Arial" panose="020B0604020202020204" pitchFamily="34" charset="0"/>
                <a:sym typeface="+mn-ea"/>
              </a:rPr>
              <a:t>OperatorTree</a:t>
            </a:r>
            <a:r>
              <a:rPr lang="zh-CN" altLang="en-US" dirty="0">
                <a:latin typeface="Arial" panose="020B0604020202020204" pitchFamily="34" charset="0"/>
                <a:sym typeface="+mn-ea"/>
              </a:rPr>
              <a:t>），其中，</a:t>
            </a:r>
            <a:r>
              <a:rPr lang="en-US" altLang="zh-CN" dirty="0">
                <a:latin typeface="Arial" panose="020B0604020202020204" pitchFamily="34" charset="0"/>
                <a:sym typeface="+mn-ea"/>
              </a:rPr>
              <a:t>OperatorTree</a:t>
            </a:r>
            <a:r>
              <a:rPr lang="zh-CN" altLang="en-US" dirty="0">
                <a:latin typeface="Arial" panose="020B0604020202020204" pitchFamily="34" charset="0"/>
                <a:sym typeface="+mn-ea"/>
              </a:rPr>
              <a:t>由很多逻辑操作符组成。</a:t>
            </a:r>
            <a:endParaRPr lang="zh-CN" altLang="en-US" dirty="0">
              <a:latin typeface="Arial" panose="020B0604020202020204" pitchFamily="34" charset="0"/>
              <a:sym typeface="+mn-ea"/>
            </a:endParaRPr>
          </a:p>
        </p:txBody>
      </p:sp>
      <p:sp>
        <p:nvSpPr>
          <p:cNvPr id="6" name="文本框 5"/>
          <p:cNvSpPr txBox="1"/>
          <p:nvPr/>
        </p:nvSpPr>
        <p:spPr>
          <a:xfrm>
            <a:off x="163830" y="4030345"/>
            <a:ext cx="3752215" cy="1337945"/>
          </a:xfrm>
          <a:prstGeom prst="rect">
            <a:avLst/>
          </a:prstGeom>
          <a:noFill/>
        </p:spPr>
        <p:txBody>
          <a:bodyPr wrap="square" rtlCol="0" anchor="t">
            <a:spAutoFit/>
          </a:bodyPr>
          <a:lstStyle/>
          <a:p>
            <a:pPr indent="0">
              <a:lnSpc>
                <a:spcPct val="150000"/>
              </a:lnSpc>
              <a:buNone/>
            </a:pPr>
            <a:r>
              <a:rPr lang="zh-CN" altLang="en-US" dirty="0">
                <a:latin typeface="Arial" panose="020B0604020202020204" pitchFamily="34" charset="0"/>
                <a:sym typeface="+mn-ea"/>
              </a:rPr>
              <a:t>第</a:t>
            </a:r>
            <a:r>
              <a:rPr lang="en-US" altLang="zh-CN" dirty="0">
                <a:latin typeface="Arial" panose="020B0604020202020204" pitchFamily="34" charset="0"/>
                <a:sym typeface="+mn-ea"/>
              </a:rPr>
              <a:t>4-5</a:t>
            </a:r>
            <a:r>
              <a:rPr lang="zh-CN" altLang="en-US" dirty="0">
                <a:latin typeface="Arial" panose="020B0604020202020204" pitchFamily="34" charset="0"/>
                <a:sym typeface="+mn-ea"/>
              </a:rPr>
              <a:t>步：通过</a:t>
            </a:r>
            <a:r>
              <a:rPr lang="en-US" altLang="zh-CN" dirty="0">
                <a:latin typeface="Arial" panose="020B0604020202020204" pitchFamily="34" charset="0"/>
                <a:sym typeface="+mn-ea"/>
              </a:rPr>
              <a:t>Hive</a:t>
            </a:r>
            <a:r>
              <a:rPr lang="zh-CN" altLang="en-US" dirty="0">
                <a:latin typeface="Arial" panose="020B0604020202020204" pitchFamily="34" charset="0"/>
                <a:sym typeface="+mn-ea"/>
              </a:rPr>
              <a:t>驱动模块中的逻辑优化器对</a:t>
            </a:r>
            <a:r>
              <a:rPr lang="en-US" altLang="zh-CN" dirty="0">
                <a:latin typeface="Arial" panose="020B0604020202020204" pitchFamily="34" charset="0"/>
                <a:sym typeface="+mn-ea"/>
              </a:rPr>
              <a:t>OperatorTree</a:t>
            </a:r>
            <a:r>
              <a:rPr lang="zh-CN" altLang="en-US" dirty="0">
                <a:latin typeface="Arial" panose="020B0604020202020204" pitchFamily="34" charset="0"/>
                <a:sym typeface="+mn-ea"/>
              </a:rPr>
              <a:t>进行优化，生成需要执行的</a:t>
            </a:r>
            <a:r>
              <a:rPr lang="en-US" altLang="zh-CN" dirty="0">
                <a:latin typeface="Arial" panose="020B0604020202020204" pitchFamily="34" charset="0"/>
                <a:sym typeface="+mn-ea"/>
              </a:rPr>
              <a:t>MapReduce</a:t>
            </a:r>
            <a:r>
              <a:rPr lang="zh-CN" altLang="en-US" dirty="0">
                <a:latin typeface="Arial" panose="020B0604020202020204" pitchFamily="34" charset="0"/>
                <a:sym typeface="+mn-ea"/>
              </a:rPr>
              <a:t>任务</a:t>
            </a:r>
            <a:endParaRPr lang="zh-CN" altLang="en-US" dirty="0">
              <a:latin typeface="Arial" panose="020B0604020202020204" pitchFamily="34" charset="0"/>
              <a:sym typeface="+mn-ea"/>
            </a:endParaRPr>
          </a:p>
        </p:txBody>
      </p:sp>
      <p:sp>
        <p:nvSpPr>
          <p:cNvPr id="7" name="文本框 6"/>
          <p:cNvSpPr txBox="1"/>
          <p:nvPr/>
        </p:nvSpPr>
        <p:spPr>
          <a:xfrm>
            <a:off x="8493125" y="5249545"/>
            <a:ext cx="3742690" cy="1337945"/>
          </a:xfrm>
          <a:prstGeom prst="rect">
            <a:avLst/>
          </a:prstGeom>
          <a:noFill/>
        </p:spPr>
        <p:txBody>
          <a:bodyPr wrap="square" rtlCol="0" anchor="t">
            <a:spAutoFit/>
          </a:bodyPr>
          <a:lstStyle/>
          <a:p>
            <a:pPr indent="0">
              <a:lnSpc>
                <a:spcPct val="150000"/>
              </a:lnSpc>
              <a:buNone/>
            </a:pPr>
            <a:r>
              <a:rPr lang="zh-CN" altLang="en-US" dirty="0">
                <a:latin typeface="Arial" panose="020B0604020202020204" pitchFamily="34" charset="0"/>
                <a:sym typeface="+mn-ea"/>
              </a:rPr>
              <a:t>第</a:t>
            </a:r>
            <a:r>
              <a:rPr lang="en-US" altLang="zh-CN" dirty="0">
                <a:latin typeface="Arial" panose="020B0604020202020204" pitchFamily="34" charset="0"/>
                <a:sym typeface="+mn-ea"/>
              </a:rPr>
              <a:t>6</a:t>
            </a:r>
            <a:r>
              <a:rPr lang="zh-CN" altLang="en-US" dirty="0">
                <a:latin typeface="Arial" panose="020B0604020202020204" pitchFamily="34" charset="0"/>
                <a:sym typeface="+mn-ea"/>
              </a:rPr>
              <a:t>步：启动物理优化器，优化生成</a:t>
            </a:r>
            <a:r>
              <a:rPr lang="en-US" altLang="zh-CN" dirty="0">
                <a:latin typeface="Arial" panose="020B0604020202020204" pitchFamily="34" charset="0"/>
                <a:sym typeface="+mn-ea"/>
              </a:rPr>
              <a:t>M/R</a:t>
            </a:r>
            <a:r>
              <a:rPr lang="zh-CN" altLang="en-US" dirty="0">
                <a:latin typeface="Arial" panose="020B0604020202020204" pitchFamily="34" charset="0"/>
                <a:sym typeface="+mn-ea"/>
              </a:rPr>
              <a:t>任务，生成最终的</a:t>
            </a:r>
            <a:r>
              <a:rPr lang="en-US" altLang="zh-CN" dirty="0">
                <a:latin typeface="Arial" panose="020B0604020202020204" pitchFamily="34" charset="0"/>
                <a:sym typeface="+mn-ea"/>
              </a:rPr>
              <a:t>M/R</a:t>
            </a:r>
            <a:r>
              <a:rPr lang="zh-CN" altLang="en-US" dirty="0">
                <a:latin typeface="Arial" panose="020B0604020202020204" pitchFamily="34" charset="0"/>
                <a:sym typeface="+mn-ea"/>
              </a:rPr>
              <a:t>任务执行计划。</a:t>
            </a:r>
            <a:endParaRPr lang="zh-CN" altLang="en-US" dirty="0">
              <a:latin typeface="Arial" panose="020B0604020202020204" pitchFamily="34" charset="0"/>
              <a:sym typeface="+mn-ea"/>
            </a:endParaRPr>
          </a:p>
        </p:txBody>
      </p:sp>
      <p:sp>
        <p:nvSpPr>
          <p:cNvPr id="8" name="文本框 7"/>
          <p:cNvSpPr txBox="1"/>
          <p:nvPr/>
        </p:nvSpPr>
        <p:spPr>
          <a:xfrm>
            <a:off x="254000" y="5733415"/>
            <a:ext cx="3752850" cy="922020"/>
          </a:xfrm>
          <a:prstGeom prst="rect">
            <a:avLst/>
          </a:prstGeom>
          <a:noFill/>
        </p:spPr>
        <p:txBody>
          <a:bodyPr wrap="square" rtlCol="0" anchor="t">
            <a:spAutoFit/>
          </a:bodyPr>
          <a:lstStyle/>
          <a:p>
            <a:pPr indent="0">
              <a:lnSpc>
                <a:spcPct val="150000"/>
              </a:lnSpc>
              <a:buNone/>
            </a:pPr>
            <a:r>
              <a:rPr lang="zh-CN" altLang="en-US" dirty="0">
                <a:latin typeface="Arial" panose="020B0604020202020204" pitchFamily="34" charset="0"/>
                <a:sym typeface="+mn-ea"/>
              </a:rPr>
              <a:t>第</a:t>
            </a:r>
            <a:r>
              <a:rPr lang="en-US" altLang="zh-CN" dirty="0">
                <a:latin typeface="Arial" panose="020B0604020202020204" pitchFamily="34" charset="0"/>
                <a:sym typeface="+mn-ea"/>
              </a:rPr>
              <a:t>7</a:t>
            </a:r>
            <a:r>
              <a:rPr lang="zh-CN" altLang="en-US" dirty="0">
                <a:latin typeface="Arial" panose="020B0604020202020204" pitchFamily="34" charset="0"/>
                <a:sym typeface="+mn-ea"/>
              </a:rPr>
              <a:t>步：由执行器，对最终的</a:t>
            </a:r>
            <a:r>
              <a:rPr lang="en-US" altLang="zh-CN" dirty="0">
                <a:latin typeface="Arial" panose="020B0604020202020204" pitchFamily="34" charset="0"/>
                <a:sym typeface="+mn-ea"/>
              </a:rPr>
              <a:t>M/R</a:t>
            </a:r>
            <a:r>
              <a:rPr lang="zh-CN" altLang="en-US" dirty="0">
                <a:latin typeface="Arial" panose="020B0604020202020204" pitchFamily="34" charset="0"/>
                <a:sym typeface="+mn-ea"/>
              </a:rPr>
              <a:t>任务进行执行。</a:t>
            </a:r>
            <a:endParaRPr lang="zh-CN" altLang="en-US" dirty="0">
              <a:latin typeface="Arial" panose="020B0604020202020204" pitchFamily="34" charset="0"/>
              <a:sym typeface="+mn-ea"/>
            </a:endParaRPr>
          </a:p>
        </p:txBody>
      </p:sp>
      <p:sp>
        <p:nvSpPr>
          <p:cNvPr id="9" name="左大括号 8"/>
          <p:cNvSpPr/>
          <p:nvPr/>
        </p:nvSpPr>
        <p:spPr>
          <a:xfrm>
            <a:off x="3916045" y="4297680"/>
            <a:ext cx="205740" cy="114744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 name="直接箭头连接符 9"/>
          <p:cNvCxnSpPr/>
          <p:nvPr/>
        </p:nvCxnSpPr>
        <p:spPr>
          <a:xfrm flipH="1">
            <a:off x="7944485" y="3669665"/>
            <a:ext cx="637540" cy="101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8012430" y="1747520"/>
            <a:ext cx="540385" cy="12166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7915275" y="5621655"/>
            <a:ext cx="617855" cy="1219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3462020" y="2394585"/>
            <a:ext cx="843280" cy="3937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30724" grpId="0"/>
      <p:bldP spid="30724" grpId="1"/>
      <p:bldP spid="5" grpId="0"/>
      <p:bldP spid="5" grpId="1"/>
      <p:bldP spid="6" grpId="0"/>
      <p:bldP spid="6" grpId="1"/>
      <p:bldP spid="7" grpId="0"/>
      <p:bldP spid="7" grpId="1"/>
      <p:bldP spid="8" grpId="0"/>
      <p:bldP spid="8" grpId="1"/>
      <p:bldP spid="9" grpId="0" animBg="1"/>
      <p:bldP spid="9"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2"/>
          <p:cNvSpPr>
            <a:spLocks noGrp="1"/>
          </p:cNvSpPr>
          <p:nvPr>
            <p:ph type="title"/>
          </p:nvPr>
        </p:nvSpPr>
        <p:spPr/>
        <p:txBody>
          <a:bodyPr vert="horz" wrap="square" lIns="91440" tIns="45720" rIns="91440" bIns="45720" anchor="ctr" anchorCtr="0"/>
          <a:lstStyle/>
          <a:p>
            <a:r>
              <a:rPr lang="en-US" altLang="zh-CN" b="1" dirty="0"/>
              <a:t>9.4 Hive HA</a:t>
            </a:r>
            <a:r>
              <a:rPr lang="zh-CN" altLang="en-US" b="1" dirty="0"/>
              <a:t>基本原理</a:t>
            </a:r>
            <a:endParaRPr lang="zh-CN" altLang="zh-CN" b="1" dirty="0"/>
          </a:p>
        </p:txBody>
      </p:sp>
      <p:sp>
        <p:nvSpPr>
          <p:cNvPr id="7172" name="Rectangle 6"/>
          <p:cNvSpPr/>
          <p:nvPr/>
        </p:nvSpPr>
        <p:spPr>
          <a:xfrm>
            <a:off x="3200400" y="2048669"/>
            <a:ext cx="12222163" cy="368300"/>
          </a:xfrm>
          <a:prstGeom prst="rect">
            <a:avLst/>
          </a:prstGeom>
          <a:noFill/>
          <a:ln w="9525">
            <a:noFill/>
          </a:ln>
        </p:spPr>
        <p:txBody>
          <a:bodyPr anchor="ctr" anchorCtr="0">
            <a:spAutoFit/>
          </a:bodyPr>
          <a:lstStyle/>
          <a:p>
            <a:pPr eaLnBrk="1" hangingPunct="1"/>
            <a:endParaRPr lang="zh-CN" altLang="en-US" dirty="0">
              <a:latin typeface="Arial" panose="020B0604020202020204" pitchFamily="34" charset="0"/>
            </a:endParaRPr>
          </a:p>
        </p:txBody>
      </p:sp>
      <p:sp>
        <p:nvSpPr>
          <p:cNvPr id="7174" name="Rectangle 2"/>
          <p:cNvSpPr/>
          <p:nvPr/>
        </p:nvSpPr>
        <p:spPr>
          <a:xfrm>
            <a:off x="2667000" y="2012950"/>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graphicFrame>
        <p:nvGraphicFramePr>
          <p:cNvPr id="7170" name="对象 6"/>
          <p:cNvGraphicFramePr/>
          <p:nvPr/>
        </p:nvGraphicFramePr>
        <p:xfrm>
          <a:off x="2514600" y="1762125"/>
          <a:ext cx="7239000" cy="3886200"/>
        </p:xfrm>
        <a:graphic>
          <a:graphicData uri="http://schemas.openxmlformats.org/presentationml/2006/ole">
            <mc:AlternateContent xmlns:mc="http://schemas.openxmlformats.org/markup-compatibility/2006">
              <mc:Choice xmlns:v="urn:schemas-microsoft-com:vml" Requires="v">
                <p:oleObj spid="_x0000_s8197" name="" r:id="rId1" imgW="13004800" imgH="6159500" progId="Visio.Drawing.15">
                  <p:embed/>
                </p:oleObj>
              </mc:Choice>
              <mc:Fallback>
                <p:oleObj name="" r:id="rId1" imgW="13004800" imgH="6159500" progId="Visio.Drawing.15">
                  <p:embed/>
                  <p:pic>
                    <p:nvPicPr>
                      <p:cNvPr id="0" name="图片 3077"/>
                      <p:cNvPicPr/>
                      <p:nvPr/>
                    </p:nvPicPr>
                    <p:blipFill>
                      <a:blip r:embed="rId2"/>
                      <a:stretch>
                        <a:fillRect/>
                      </a:stretch>
                    </p:blipFill>
                    <p:spPr>
                      <a:xfrm>
                        <a:off x="2514600" y="1762125"/>
                        <a:ext cx="7239000" cy="3886200"/>
                      </a:xfrm>
                      <a:prstGeom prst="rect">
                        <a:avLst/>
                      </a:prstGeom>
                      <a:noFill/>
                      <a:ln w="38100">
                        <a:noFill/>
                        <a:miter/>
                      </a:ln>
                    </p:spPr>
                  </p:pic>
                </p:oleObj>
              </mc:Fallback>
            </mc:AlternateContent>
          </a:graphicData>
        </a:graphic>
      </p:graphicFrame>
      <p:sp>
        <p:nvSpPr>
          <p:cNvPr id="2" name="文本框 1"/>
          <p:cNvSpPr txBox="1"/>
          <p:nvPr/>
        </p:nvSpPr>
        <p:spPr>
          <a:xfrm>
            <a:off x="1911350" y="1060450"/>
            <a:ext cx="2448560" cy="1124510"/>
          </a:xfrm>
          <a:prstGeom prst="wedgeRoundRectCallout">
            <a:avLst>
              <a:gd name="adj1" fmla="val 74144"/>
              <a:gd name="adj2" fmla="val 64236"/>
              <a:gd name="adj3" fmla="val 16667"/>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marR="0" lvl="0" indent="0" algn="l" defTabSz="914400" rtl="0" eaLnBrk="1" fontAlgn="base" latinLnBrk="0" hangingPunct="1">
              <a:lnSpc>
                <a:spcPct val="100000"/>
              </a:lnSpc>
              <a:spcBef>
                <a:spcPts val="600"/>
              </a:spcBef>
              <a:spcAft>
                <a:spcPts val="600"/>
              </a:spcAft>
              <a:buClrTx/>
              <a:buSzTx/>
              <a:buNone/>
              <a:defRPr/>
            </a:pPr>
            <a:r>
              <a:rPr lang="zh-CN" altLang="zh-CN" sz="2000" noProof="0" dirty="0">
                <a:ln>
                  <a:noFill/>
                </a:ln>
                <a:effectLst/>
                <a:uLnTx/>
                <a:uFillTx/>
                <a:latin typeface="Arial" panose="020B0604020202020204" pitchFamily="34" charset="0"/>
                <a:ea typeface="宋体" panose="02010600030101010101" pitchFamily="2" charset="-122"/>
                <a:sym typeface="+mn-ea"/>
              </a:rPr>
              <a:t>在</a:t>
            </a:r>
            <a:r>
              <a:rPr lang="en-US" altLang="zh-CN" sz="2000" noProof="0" dirty="0" err="1">
                <a:ln>
                  <a:noFill/>
                </a:ln>
                <a:effectLst/>
                <a:uLnTx/>
                <a:uFillTx/>
                <a:latin typeface="Arial" panose="020B0604020202020204" pitchFamily="34" charset="0"/>
                <a:ea typeface="宋体" panose="02010600030101010101" pitchFamily="2" charset="-122"/>
                <a:sym typeface="+mn-ea"/>
              </a:rPr>
              <a:t>Hadoop</a:t>
            </a:r>
            <a:r>
              <a:rPr lang="zh-CN" altLang="zh-CN" sz="2000" noProof="0" dirty="0">
                <a:ln>
                  <a:noFill/>
                </a:ln>
                <a:effectLst/>
                <a:uLnTx/>
                <a:uFillTx/>
                <a:latin typeface="Arial" panose="020B0604020202020204" pitchFamily="34" charset="0"/>
                <a:ea typeface="宋体" panose="02010600030101010101" pitchFamily="2" charset="-122"/>
                <a:sym typeface="+mn-ea"/>
              </a:rPr>
              <a:t>集群上构建的数据仓库由多个</a:t>
            </a:r>
            <a:r>
              <a:rPr lang="en-US" altLang="zh-CN" sz="2000" noProof="0" dirty="0">
                <a:ln>
                  <a:noFill/>
                </a:ln>
                <a:effectLst/>
                <a:uLnTx/>
                <a:uFillTx/>
                <a:latin typeface="Arial" panose="020B0604020202020204" pitchFamily="34" charset="0"/>
                <a:ea typeface="宋体" panose="02010600030101010101" pitchFamily="2" charset="-122"/>
                <a:sym typeface="+mn-ea"/>
              </a:rPr>
              <a:t>Hive</a:t>
            </a:r>
            <a:r>
              <a:rPr lang="zh-CN" altLang="zh-CN" sz="2000" noProof="0" dirty="0">
                <a:ln>
                  <a:noFill/>
                </a:ln>
                <a:effectLst/>
                <a:uLnTx/>
                <a:uFillTx/>
                <a:latin typeface="Arial" panose="020B0604020202020204" pitchFamily="34" charset="0"/>
                <a:ea typeface="宋体" panose="02010600030101010101" pitchFamily="2" charset="-122"/>
                <a:sym typeface="+mn-ea"/>
              </a:rPr>
              <a:t>进行管理</a:t>
            </a:r>
            <a:endParaRPr lang="zh-CN" altLang="zh-CN" sz="2000" noProof="0" dirty="0">
              <a:ln>
                <a:noFill/>
              </a:ln>
              <a:effectLst/>
              <a:uLnTx/>
              <a:uFillTx/>
              <a:latin typeface="Arial" panose="020B0604020202020204" pitchFamily="34" charset="0"/>
              <a:ea typeface="宋体" panose="02010600030101010101" pitchFamily="2" charset="-122"/>
              <a:sym typeface="+mn-ea"/>
            </a:endParaRPr>
          </a:p>
        </p:txBody>
      </p:sp>
      <p:sp>
        <p:nvSpPr>
          <p:cNvPr id="3" name="文本框 2"/>
          <p:cNvSpPr txBox="1"/>
          <p:nvPr/>
        </p:nvSpPr>
        <p:spPr>
          <a:xfrm>
            <a:off x="5666740" y="1910080"/>
            <a:ext cx="1802765" cy="783531"/>
          </a:xfrm>
          <a:prstGeom prst="wedgeRoundRectCallout">
            <a:avLst>
              <a:gd name="adj1" fmla="val 2800"/>
              <a:gd name="adj2" fmla="val 113021"/>
              <a:gd name="adj3" fmla="val 16667"/>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marR="0" lvl="0" indent="0" algn="l" defTabSz="914400" rtl="0" eaLnBrk="1" fontAlgn="base" latinLnBrk="0" hangingPunct="1">
              <a:lnSpc>
                <a:spcPct val="100000"/>
              </a:lnSpc>
              <a:spcBef>
                <a:spcPts val="600"/>
              </a:spcBef>
              <a:spcAft>
                <a:spcPts val="600"/>
              </a:spcAft>
              <a:buClrTx/>
              <a:buSzTx/>
              <a:buNone/>
              <a:defRPr/>
            </a:pPr>
            <a:r>
              <a:rPr lang="zh-CN"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由</a:t>
            </a:r>
            <a:r>
              <a:rPr lang="en-US" altLang="zh-CN" sz="2000" noProof="0" dirty="0" err="1">
                <a:ln>
                  <a:noFill/>
                </a:ln>
                <a:solidFill>
                  <a:schemeClr val="tx1"/>
                </a:solidFill>
                <a:effectLst/>
                <a:highlight>
                  <a:srgbClr val="FFFF00"/>
                </a:highlight>
                <a:uLnTx/>
                <a:uFillTx/>
                <a:latin typeface="Arial" panose="020B0604020202020204" pitchFamily="34" charset="0"/>
                <a:ea typeface="宋体" panose="02010600030101010101" pitchFamily="2" charset="-122"/>
                <a:sym typeface="+mn-ea"/>
              </a:rPr>
              <a:t>HAProxy</a:t>
            </a:r>
            <a:r>
              <a:rPr lang="zh-CN"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提供一个接口</a:t>
            </a:r>
            <a:endParaRPr lang="zh-CN" altLang="zh-CN" sz="2000" noProof="0" dirty="0">
              <a:ln>
                <a:noFill/>
              </a:ln>
              <a:effectLst/>
              <a:uLnTx/>
              <a:uFillTx/>
              <a:latin typeface="Arial" panose="020B0604020202020204" pitchFamily="34" charset="0"/>
              <a:ea typeface="宋体" panose="02010600030101010101" pitchFamily="2" charset="-122"/>
              <a:sym typeface="+mn-ea"/>
            </a:endParaRPr>
          </a:p>
        </p:txBody>
      </p:sp>
      <p:sp>
        <p:nvSpPr>
          <p:cNvPr id="4" name="文本框 3"/>
          <p:cNvSpPr txBox="1"/>
          <p:nvPr/>
        </p:nvSpPr>
        <p:spPr>
          <a:xfrm>
            <a:off x="8639810" y="1464310"/>
            <a:ext cx="3085465" cy="1465132"/>
          </a:xfrm>
          <a:prstGeom prst="wedgeRoundRectCallout">
            <a:avLst>
              <a:gd name="adj1" fmla="val -62307"/>
              <a:gd name="adj2" fmla="val 81859"/>
              <a:gd name="adj3" fmla="val 16667"/>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marR="0" lvl="0" indent="0" algn="l" defTabSz="914400" rtl="0" eaLnBrk="1" fontAlgn="base" latinLnBrk="0" hangingPunct="1">
              <a:lnSpc>
                <a:spcPct val="100000"/>
              </a:lnSpc>
              <a:spcBef>
                <a:spcPts val="600"/>
              </a:spcBef>
              <a:spcAft>
                <a:spcPts val="600"/>
              </a:spcAft>
              <a:buClrTx/>
              <a:buSzTx/>
              <a:buNone/>
              <a:defRPr/>
            </a:pPr>
            <a:r>
              <a:rPr lang="zh-CN"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由</a:t>
            </a:r>
            <a:r>
              <a:rPr lang="en-US"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Hive</a:t>
            </a:r>
            <a:r>
              <a:rPr lang="zh-CN"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处理后得到的各种数据信息，或存放在</a:t>
            </a:r>
            <a:r>
              <a:rPr lang="en-US"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MySQL</a:t>
            </a:r>
            <a:r>
              <a:rPr lang="zh-CN" altLang="zh-CN" sz="2000" noProof="0" dirty="0">
                <a:ln>
                  <a:noFill/>
                </a:ln>
                <a:solidFill>
                  <a:schemeClr val="tx1"/>
                </a:solidFill>
                <a:effectLst/>
                <a:uLnTx/>
                <a:uFillTx/>
                <a:latin typeface="Arial" panose="020B0604020202020204" pitchFamily="34" charset="0"/>
                <a:ea typeface="宋体" panose="02010600030101010101" pitchFamily="2" charset="-122"/>
                <a:sym typeface="+mn-ea"/>
              </a:rPr>
              <a:t>数据库中，或直接以报表的形式展现</a:t>
            </a:r>
            <a:endParaRPr lang="zh-CN" altLang="zh-CN" sz="2000" noProof="0" dirty="0">
              <a:ln>
                <a:noFill/>
              </a:ln>
              <a:effectLst/>
              <a:uLnTx/>
              <a:uFillTx/>
              <a:latin typeface="Arial" panose="020B0604020202020204" pitchFamily="34" charset="0"/>
              <a:ea typeface="宋体" panose="02010600030101010101" pitchFamily="2" charset="-122"/>
              <a:sym typeface="+mn-ea"/>
            </a:endParaRPr>
          </a:p>
        </p:txBody>
      </p:sp>
      <p:sp>
        <p:nvSpPr>
          <p:cNvPr id="37892" name="矩形 4"/>
          <p:cNvSpPr/>
          <p:nvPr/>
        </p:nvSpPr>
        <p:spPr>
          <a:xfrm>
            <a:off x="1221740" y="5074285"/>
            <a:ext cx="10132060" cy="1783715"/>
          </a:xfrm>
          <a:prstGeom prst="rect">
            <a:avLst/>
          </a:prstGeom>
          <a:noFill/>
          <a:ln w="9525">
            <a:noFill/>
          </a:ln>
        </p:spPr>
        <p:txBody>
          <a:bodyPr wrap="square">
            <a:spAutoFit/>
          </a:bodyPr>
          <a:lstStyle/>
          <a:p>
            <a:pPr indent="0" eaLnBrk="1" hangingPunct="1">
              <a:spcBef>
                <a:spcPts val="600"/>
              </a:spcBef>
              <a:spcAft>
                <a:spcPts val="600"/>
              </a:spcAft>
              <a:buFont typeface="Arial" panose="020B0604020202020204" pitchFamily="34" charset="0"/>
              <a:buNone/>
            </a:pPr>
            <a:r>
              <a:rPr lang="en-US" altLang="zh-CN" sz="2000" b="1" dirty="0">
                <a:latin typeface="Arial" panose="020B0604020202020204" pitchFamily="34" charset="0"/>
                <a:sym typeface="+mn-ea"/>
              </a:rPr>
              <a:t>Hive HA</a:t>
            </a:r>
            <a:r>
              <a:rPr lang="zh-CN" altLang="zh-CN" sz="2000" b="1" dirty="0">
                <a:latin typeface="Arial" panose="020B0604020202020204" pitchFamily="34" charset="0"/>
                <a:sym typeface="+mn-ea"/>
              </a:rPr>
              <a:t>原理</a:t>
            </a:r>
            <a:r>
              <a:rPr lang="zh-CN" altLang="en-US" sz="2000" dirty="0">
                <a:latin typeface="Arial" panose="020B0604020202020204" pitchFamily="34" charset="0"/>
                <a:sym typeface="+mn-ea"/>
              </a:rPr>
              <a:t>：</a:t>
            </a:r>
            <a:endParaRPr lang="zh-CN" altLang="zh-CN" sz="2000" dirty="0">
              <a:latin typeface="Arial" panose="020B0604020202020204" pitchFamily="34" charset="0"/>
            </a:endParaRPr>
          </a:p>
          <a:p>
            <a:pPr marL="342900" indent="-342900" eaLnBrk="1" hangingPunct="1">
              <a:spcBef>
                <a:spcPts val="600"/>
              </a:spcBef>
              <a:spcAft>
                <a:spcPts val="600"/>
              </a:spcAft>
              <a:buFont typeface="Arial" panose="020B0604020202020204" pitchFamily="34" charset="0"/>
              <a:buChar char="•"/>
            </a:pPr>
            <a:r>
              <a:rPr lang="zh-CN" altLang="zh-CN" sz="2000" dirty="0">
                <a:latin typeface="Arial" panose="020B0604020202020204" pitchFamily="34" charset="0"/>
              </a:rPr>
              <a:t>将若干个</a:t>
            </a:r>
            <a:r>
              <a:rPr lang="en-US" altLang="zh-CN" sz="2000" dirty="0">
                <a:latin typeface="Arial" panose="020B0604020202020204" pitchFamily="34" charset="0"/>
              </a:rPr>
              <a:t>hive </a:t>
            </a:r>
            <a:r>
              <a:rPr lang="zh-CN" altLang="zh-CN" sz="2000" dirty="0">
                <a:latin typeface="Arial" panose="020B0604020202020204" pitchFamily="34" charset="0"/>
              </a:rPr>
              <a:t>实例纳入一个资源池，然后对外提供一个</a:t>
            </a:r>
            <a:r>
              <a:rPr lang="zh-CN" altLang="zh-CN" sz="2000" dirty="0">
                <a:highlight>
                  <a:srgbClr val="FFFF00"/>
                </a:highlight>
                <a:latin typeface="Arial" panose="020B0604020202020204" pitchFamily="34" charset="0"/>
              </a:rPr>
              <a:t>唯一</a:t>
            </a:r>
            <a:r>
              <a:rPr lang="zh-CN" altLang="zh-CN" sz="2000" dirty="0">
                <a:latin typeface="Arial" panose="020B0604020202020204" pitchFamily="34" charset="0"/>
              </a:rPr>
              <a:t>的接口</a:t>
            </a:r>
            <a:endParaRPr lang="zh-CN" altLang="zh-CN" sz="2000" dirty="0">
              <a:latin typeface="Arial" panose="020B0604020202020204" pitchFamily="34" charset="0"/>
            </a:endParaRPr>
          </a:p>
          <a:p>
            <a:pPr marL="342900" indent="-342900" eaLnBrk="1" hangingPunct="1">
              <a:spcBef>
                <a:spcPts val="600"/>
              </a:spcBef>
              <a:spcAft>
                <a:spcPts val="600"/>
              </a:spcAft>
              <a:buFont typeface="Arial" panose="020B0604020202020204" pitchFamily="34" charset="0"/>
              <a:buChar char="•"/>
            </a:pPr>
            <a:r>
              <a:rPr lang="zh-CN" altLang="zh-CN" sz="2000" dirty="0">
                <a:latin typeface="Arial" panose="020B0604020202020204" pitchFamily="34" charset="0"/>
              </a:rPr>
              <a:t>每次它接收到一个</a:t>
            </a:r>
            <a:r>
              <a:rPr lang="en-US" altLang="zh-CN" sz="2000" dirty="0">
                <a:latin typeface="Arial" panose="020B0604020202020204" pitchFamily="34" charset="0"/>
              </a:rPr>
              <a:t>HIVE</a:t>
            </a:r>
            <a:r>
              <a:rPr lang="zh-CN" altLang="zh-CN" sz="2000" dirty="0">
                <a:latin typeface="Arial" panose="020B0604020202020204" pitchFamily="34" charset="0"/>
              </a:rPr>
              <a:t>查询连接后，都会</a:t>
            </a:r>
            <a:r>
              <a:rPr lang="zh-CN" altLang="zh-CN" sz="2000" dirty="0">
                <a:highlight>
                  <a:srgbClr val="FFFF00"/>
                </a:highlight>
                <a:latin typeface="Arial" panose="020B0604020202020204" pitchFamily="34" charset="0"/>
              </a:rPr>
              <a:t>轮询</a:t>
            </a:r>
            <a:r>
              <a:rPr lang="zh-CN" altLang="zh-CN" sz="2000" dirty="0">
                <a:latin typeface="Arial" panose="020B0604020202020204" pitchFamily="34" charset="0"/>
              </a:rPr>
              <a:t>资源池里可用的</a:t>
            </a:r>
            <a:r>
              <a:rPr lang="en-US" altLang="zh-CN" sz="2000" dirty="0">
                <a:latin typeface="Arial" panose="020B0604020202020204" pitchFamily="34" charset="0"/>
              </a:rPr>
              <a:t>hive </a:t>
            </a:r>
            <a:r>
              <a:rPr lang="zh-CN" altLang="zh-CN" sz="2000" dirty="0">
                <a:latin typeface="Arial" panose="020B0604020202020204" pitchFamily="34" charset="0"/>
              </a:rPr>
              <a:t>资源</a:t>
            </a:r>
            <a:endParaRPr lang="zh-CN" altLang="zh-CN" sz="2000" dirty="0">
              <a:latin typeface="Arial" panose="020B0604020202020204" pitchFamily="34" charset="0"/>
            </a:endParaRPr>
          </a:p>
          <a:p>
            <a:pPr marL="342900" indent="-342900" eaLnBrk="1" hangingPunct="1">
              <a:spcBef>
                <a:spcPts val="600"/>
              </a:spcBef>
              <a:spcAft>
                <a:spcPts val="600"/>
              </a:spcAft>
              <a:buFont typeface="Arial" panose="020B0604020202020204" pitchFamily="34" charset="0"/>
              <a:buChar char="•"/>
            </a:pPr>
            <a:r>
              <a:rPr lang="zh-CN" altLang="en-US" sz="2000" dirty="0">
                <a:latin typeface="Arial" panose="020B0604020202020204" pitchFamily="34" charset="0"/>
              </a:rPr>
              <a:t>不可用则加入黑名单，每隔一段时间尝试重启，成功则</a:t>
            </a:r>
            <a:r>
              <a:rPr lang="zh-CN" altLang="en-US" sz="2000" dirty="0">
                <a:highlight>
                  <a:srgbClr val="FFFF00"/>
                </a:highlight>
                <a:latin typeface="Arial" panose="020B0604020202020204" pitchFamily="34" charset="0"/>
              </a:rPr>
              <a:t>放回</a:t>
            </a:r>
            <a:r>
              <a:rPr lang="zh-CN" altLang="en-US" sz="2000" dirty="0">
                <a:latin typeface="Arial" panose="020B0604020202020204" pitchFamily="34" charset="0"/>
              </a:rPr>
              <a:t>资源池</a:t>
            </a:r>
            <a:endParaRPr lang="zh-CN" altLang="en-US" sz="2000" dirty="0">
              <a:latin typeface="Arial" panose="020B0604020202020204" pitchFamily="34" charset="0"/>
            </a:endParaRPr>
          </a:p>
        </p:txBody>
      </p:sp>
      <p:sp>
        <p:nvSpPr>
          <p:cNvPr id="5" name="矩形 4"/>
          <p:cNvSpPr/>
          <p:nvPr/>
        </p:nvSpPr>
        <p:spPr>
          <a:xfrm>
            <a:off x="4504055" y="2058035"/>
            <a:ext cx="2645410" cy="29330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chemeClr val="tx1"/>
                </a:solidFill>
              </a:rPr>
              <a:t>Hive</a:t>
            </a:r>
            <a:endParaRPr lang="en-US" altLang="zh-CN" sz="40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8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37892" grpId="0"/>
      <p:bldP spid="37892" grpId="1"/>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vert="horz" wrap="square" lIns="91440" tIns="45720" rIns="91440" bIns="45720" anchor="ctr" anchorCtr="0"/>
          <a:lstStyle/>
          <a:p>
            <a:r>
              <a:rPr lang="en-US" altLang="zh-CN" b="1" dirty="0"/>
              <a:t>9.5	Impala</a:t>
            </a:r>
            <a:endParaRPr lang="zh-CN" altLang="en-US" b="1" dirty="0"/>
          </a:p>
        </p:txBody>
      </p:sp>
      <p:sp>
        <p:nvSpPr>
          <p:cNvPr id="38915" name="Rectangle 3"/>
          <p:cNvSpPr>
            <a:spLocks noGrp="1"/>
          </p:cNvSpPr>
          <p:nvPr>
            <p:ph idx="1"/>
          </p:nvPr>
        </p:nvSpPr>
        <p:spPr>
          <a:xfrm>
            <a:off x="838200" y="1825625"/>
            <a:ext cx="4738370" cy="4351655"/>
          </a:xfrm>
        </p:spPr>
        <p:txBody>
          <a:bodyPr vert="horz" wrap="square" lIns="91440" tIns="45720" rIns="91440" bIns="45720" anchor="t" anchorCtr="0"/>
          <a:lstStyle/>
          <a:p>
            <a:pPr marL="0" indent="0">
              <a:lnSpc>
                <a:spcPct val="200000"/>
              </a:lnSpc>
              <a:buNone/>
            </a:pPr>
            <a:r>
              <a:rPr lang="en-US" altLang="zh-CN" dirty="0"/>
              <a:t>9.5.1	Impala</a:t>
            </a:r>
            <a:r>
              <a:rPr lang="zh-CN" altLang="en-US" dirty="0"/>
              <a:t>简介</a:t>
            </a:r>
            <a:endParaRPr lang="zh-CN" altLang="en-US" dirty="0"/>
          </a:p>
          <a:p>
            <a:pPr marL="0" indent="0">
              <a:lnSpc>
                <a:spcPct val="200000"/>
              </a:lnSpc>
              <a:buNone/>
            </a:pPr>
            <a:r>
              <a:rPr lang="en-US" altLang="zh-CN" dirty="0"/>
              <a:t>9.5.2	Impala</a:t>
            </a:r>
            <a:r>
              <a:rPr lang="zh-CN" altLang="en-US" dirty="0"/>
              <a:t>系统架构</a:t>
            </a:r>
            <a:endParaRPr lang="zh-CN" altLang="en-US" dirty="0"/>
          </a:p>
          <a:p>
            <a:pPr marL="0" indent="0">
              <a:lnSpc>
                <a:spcPct val="200000"/>
              </a:lnSpc>
              <a:buNone/>
            </a:pPr>
            <a:r>
              <a:rPr lang="en-US" altLang="zh-CN" dirty="0"/>
              <a:t>9.5.3 Impala</a:t>
            </a:r>
            <a:r>
              <a:rPr lang="zh-CN" altLang="en-US" dirty="0"/>
              <a:t>查询执行过程</a:t>
            </a:r>
            <a:endParaRPr lang="en-US" altLang="zh-CN" dirty="0"/>
          </a:p>
          <a:p>
            <a:pPr marL="0" indent="0">
              <a:lnSpc>
                <a:spcPct val="200000"/>
              </a:lnSpc>
              <a:buNone/>
            </a:pPr>
            <a:r>
              <a:rPr lang="en-US" altLang="zh-CN" dirty="0"/>
              <a:t>9.5.4	Impala</a:t>
            </a:r>
            <a:r>
              <a:rPr lang="zh-CN" altLang="en-US" dirty="0"/>
              <a:t>与</a:t>
            </a:r>
            <a:r>
              <a:rPr lang="en-US" altLang="zh-CN" dirty="0"/>
              <a:t>Hive</a:t>
            </a:r>
            <a:r>
              <a:rPr lang="zh-CN" altLang="en-US" dirty="0"/>
              <a:t>的比较</a:t>
            </a:r>
            <a:endParaRPr lang="zh-CN" altLang="en-US" dirty="0"/>
          </a:p>
        </p:txBody>
      </p:sp>
      <p:sp>
        <p:nvSpPr>
          <p:cNvPr id="2" name="圆角矩形 1"/>
          <p:cNvSpPr/>
          <p:nvPr/>
        </p:nvSpPr>
        <p:spPr>
          <a:xfrm>
            <a:off x="7169785" y="2138680"/>
            <a:ext cx="3404235" cy="9144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800"/>
              <a:t>Hive</a:t>
            </a:r>
            <a:r>
              <a:rPr lang="zh-CN" altLang="en-US" sz="2800"/>
              <a:t>实时性不好，</a:t>
            </a:r>
            <a:endParaRPr lang="zh-CN" altLang="en-US" sz="2800"/>
          </a:p>
          <a:p>
            <a:pPr algn="ctr"/>
            <a:r>
              <a:rPr lang="zh-CN" altLang="en-US" sz="2800"/>
              <a:t>查询延迟较高</a:t>
            </a:r>
            <a:endParaRPr lang="zh-CN" altLang="en-US" sz="2800"/>
          </a:p>
        </p:txBody>
      </p:sp>
      <p:sp>
        <p:nvSpPr>
          <p:cNvPr id="3" name="圆角矩形 2"/>
          <p:cNvSpPr/>
          <p:nvPr>
            <p:custDataLst>
              <p:tags r:id="rId1"/>
            </p:custDataLst>
          </p:nvPr>
        </p:nvSpPr>
        <p:spPr>
          <a:xfrm>
            <a:off x="7169785" y="4178935"/>
            <a:ext cx="3404235" cy="137477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a:t>Impala</a:t>
            </a:r>
            <a:r>
              <a:rPr lang="zh-CN" altLang="en-US" sz="2800"/>
              <a:t>支持实时计算，功能类似</a:t>
            </a:r>
            <a:r>
              <a:rPr lang="en-US" altLang="zh-CN" sz="2800"/>
              <a:t>Hive</a:t>
            </a:r>
            <a:r>
              <a:rPr lang="zh-CN" altLang="en-US" sz="2800"/>
              <a:t>，性能高</a:t>
            </a:r>
            <a:r>
              <a:rPr lang="en-US" altLang="zh-CN" sz="2800"/>
              <a:t>3~30</a:t>
            </a:r>
            <a:r>
              <a:rPr lang="zh-CN" altLang="en-US" sz="2800"/>
              <a:t>倍</a:t>
            </a:r>
            <a:endParaRPr lang="zh-CN" altLang="en-US"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p:cNvSpPr>
          <p:nvPr>
            <p:ph type="title"/>
          </p:nvPr>
        </p:nvSpPr>
        <p:spPr/>
        <p:txBody>
          <a:bodyPr vert="horz" wrap="square" lIns="91440" tIns="45720" rIns="91440" bIns="45720" anchor="ctr" anchorCtr="0"/>
          <a:lstStyle/>
          <a:p>
            <a:r>
              <a:rPr lang="en-US" altLang="zh-CN" b="1" dirty="0"/>
              <a:t>9.5.1 Impala</a:t>
            </a:r>
            <a:r>
              <a:rPr lang="zh-CN" altLang="en-US" b="1" dirty="0"/>
              <a:t>简介</a:t>
            </a:r>
            <a:endParaRPr lang="zh-CN" altLang="en-US" b="1" dirty="0"/>
          </a:p>
        </p:txBody>
      </p:sp>
      <p:sp>
        <p:nvSpPr>
          <p:cNvPr id="8196" name="Rectangle 3"/>
          <p:cNvSpPr>
            <a:spLocks noGrp="1"/>
          </p:cNvSpPr>
          <p:nvPr>
            <p:ph idx="1"/>
          </p:nvPr>
        </p:nvSpPr>
        <p:spPr>
          <a:xfrm>
            <a:off x="921385" y="1566545"/>
            <a:ext cx="6472555" cy="4498975"/>
          </a:xfrm>
        </p:spPr>
        <p:txBody>
          <a:bodyPr vert="horz" wrap="square" lIns="91440" tIns="45720" rIns="91440" bIns="45720" anchor="t" anchorCtr="0">
            <a:noAutofit/>
          </a:bodyPr>
          <a:lstStyle/>
          <a:p>
            <a:pPr marL="0" indent="0">
              <a:buNone/>
            </a:pPr>
            <a:r>
              <a:rPr lang="en-US" altLang="zh-CN" dirty="0"/>
              <a:t>Cloudera</a:t>
            </a:r>
            <a:r>
              <a:rPr lang="zh-CN" altLang="zh-CN" dirty="0"/>
              <a:t>公司开发的新型查询系统</a:t>
            </a:r>
            <a:endParaRPr lang="zh-CN" altLang="zh-CN" dirty="0"/>
          </a:p>
          <a:p>
            <a:pPr marL="0" indent="0">
              <a:buNone/>
            </a:pPr>
            <a:endParaRPr lang="zh-CN" altLang="zh-CN" dirty="0"/>
          </a:p>
          <a:p>
            <a:pPr marL="0" indent="0">
              <a:buNone/>
            </a:pPr>
            <a:r>
              <a:rPr lang="zh-CN" altLang="zh-CN" dirty="0"/>
              <a:t>特点：</a:t>
            </a:r>
            <a:endParaRPr lang="zh-CN" altLang="zh-CN" dirty="0"/>
          </a:p>
          <a:p>
            <a:r>
              <a:rPr lang="zh-CN" altLang="zh-CN" dirty="0"/>
              <a:t>提供</a:t>
            </a:r>
            <a:r>
              <a:rPr lang="en-US" altLang="zh-CN" dirty="0"/>
              <a:t>SQL</a:t>
            </a:r>
            <a:r>
              <a:rPr lang="zh-CN" altLang="zh-CN" dirty="0"/>
              <a:t>语义</a:t>
            </a:r>
            <a:endParaRPr lang="zh-CN" altLang="zh-CN" dirty="0"/>
          </a:p>
          <a:p>
            <a:r>
              <a:rPr lang="zh-CN" altLang="zh-CN" dirty="0"/>
              <a:t>查询的实时交互性</a:t>
            </a:r>
            <a:endParaRPr lang="zh-CN" altLang="zh-CN" dirty="0"/>
          </a:p>
          <a:p>
            <a:r>
              <a:rPr lang="en-US" altLang="zh-CN" dirty="0"/>
              <a:t>PB</a:t>
            </a:r>
            <a:r>
              <a:rPr lang="zh-CN" altLang="zh-CN" dirty="0"/>
              <a:t>级大数据</a:t>
            </a:r>
            <a:endParaRPr lang="zh-CN" altLang="zh-CN" dirty="0"/>
          </a:p>
          <a:p>
            <a:pPr marL="0" indent="0">
              <a:buNone/>
            </a:pPr>
            <a:endParaRPr lang="zh-CN" altLang="zh-CN" dirty="0"/>
          </a:p>
          <a:p>
            <a:pPr marL="0" indent="0">
              <a:buNone/>
            </a:pPr>
            <a:r>
              <a:rPr lang="zh-CN" altLang="en-US" dirty="0">
                <a:sym typeface="+mn-ea"/>
              </a:rPr>
              <a:t>设计目的：统一的平台用于实时查询</a:t>
            </a:r>
            <a:endParaRPr lang="zh-CN" altLang="en-US" dirty="0">
              <a:sym typeface="+mn-ea"/>
            </a:endParaRPr>
          </a:p>
        </p:txBody>
      </p:sp>
      <p:sp>
        <p:nvSpPr>
          <p:cNvPr id="8197" name="Rectangle 5"/>
          <p:cNvSpPr/>
          <p:nvPr/>
        </p:nvSpPr>
        <p:spPr>
          <a:xfrm>
            <a:off x="1905000" y="-252412"/>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2" name="文本框 1"/>
          <p:cNvSpPr txBox="1"/>
          <p:nvPr/>
        </p:nvSpPr>
        <p:spPr>
          <a:xfrm>
            <a:off x="4930140" y="3820795"/>
            <a:ext cx="6492875" cy="460375"/>
          </a:xfrm>
          <a:prstGeom prst="rect">
            <a:avLst/>
          </a:prstGeom>
          <a:noFill/>
        </p:spPr>
        <p:txBody>
          <a:bodyPr wrap="square" rtlCol="0" anchor="t">
            <a:spAutoFit/>
          </a:bodyPr>
          <a:lstStyle/>
          <a:p>
            <a:pPr marL="0" indent="0">
              <a:buNone/>
            </a:pPr>
            <a:r>
              <a:rPr lang="zh-CN" altLang="zh-CN" sz="2400" dirty="0">
                <a:sym typeface="+mn-ea"/>
              </a:rPr>
              <a:t>参照</a:t>
            </a:r>
            <a:r>
              <a:rPr lang="en-US" altLang="zh-CN" sz="2400" dirty="0">
                <a:sym typeface="+mn-ea"/>
              </a:rPr>
              <a:t>Dremel</a:t>
            </a:r>
            <a:r>
              <a:rPr lang="zh-CN" altLang="en-US" sz="2400" dirty="0">
                <a:sym typeface="+mn-ea"/>
              </a:rPr>
              <a:t>：谷歌开发的交互式数据分析系统</a:t>
            </a:r>
            <a:endParaRPr lang="zh-CN" altLang="en-US" sz="2400" dirty="0">
              <a:sym typeface="+mn-ea"/>
            </a:endParaRPr>
          </a:p>
        </p:txBody>
      </p:sp>
      <p:sp>
        <p:nvSpPr>
          <p:cNvPr id="3" name="右大括号 2"/>
          <p:cNvSpPr/>
          <p:nvPr/>
        </p:nvSpPr>
        <p:spPr>
          <a:xfrm>
            <a:off x="4364355" y="3635375"/>
            <a:ext cx="304800" cy="831215"/>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p:cNvSpPr>
          <p:nvPr>
            <p:ph type="title"/>
          </p:nvPr>
        </p:nvSpPr>
        <p:spPr/>
        <p:txBody>
          <a:bodyPr vert="horz" wrap="square" lIns="91440" tIns="45720" rIns="91440" bIns="45720" anchor="ctr" anchorCtr="0"/>
          <a:lstStyle/>
          <a:p>
            <a:r>
              <a:rPr lang="en-US" altLang="zh-CN" b="1" dirty="0"/>
              <a:t>9.5.1 Impala</a:t>
            </a:r>
            <a:r>
              <a:rPr lang="zh-CN" altLang="en-US" b="1" dirty="0"/>
              <a:t>简介</a:t>
            </a:r>
            <a:endParaRPr lang="zh-CN" altLang="en-US" b="1" dirty="0"/>
          </a:p>
        </p:txBody>
      </p:sp>
      <p:sp>
        <p:nvSpPr>
          <p:cNvPr id="8197" name="Rectangle 5"/>
          <p:cNvSpPr/>
          <p:nvPr/>
        </p:nvSpPr>
        <p:spPr>
          <a:xfrm>
            <a:off x="1905000" y="-252412"/>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graphicFrame>
        <p:nvGraphicFramePr>
          <p:cNvPr id="8194" name="对象 2"/>
          <p:cNvGraphicFramePr/>
          <p:nvPr/>
        </p:nvGraphicFramePr>
        <p:xfrm>
          <a:off x="3719830" y="3207385"/>
          <a:ext cx="4469130" cy="2772410"/>
        </p:xfrm>
        <a:graphic>
          <a:graphicData uri="http://schemas.openxmlformats.org/presentationml/2006/ole">
            <mc:AlternateContent xmlns:mc="http://schemas.openxmlformats.org/markup-compatibility/2006">
              <mc:Choice xmlns:v="urn:schemas-microsoft-com:vml" Requires="v">
                <p:oleObj spid="_x0000_s9221" name="" r:id="rId1" imgW="4127500" imgH="2921000" progId="Visio.Drawing.15">
                  <p:embed/>
                </p:oleObj>
              </mc:Choice>
              <mc:Fallback>
                <p:oleObj name="" r:id="rId1" imgW="4127500" imgH="2921000" progId="Visio.Drawing.15">
                  <p:embed/>
                  <p:pic>
                    <p:nvPicPr>
                      <p:cNvPr id="0" name="图片 3082"/>
                      <p:cNvPicPr/>
                      <p:nvPr/>
                    </p:nvPicPr>
                    <p:blipFill>
                      <a:blip r:embed="rId2"/>
                      <a:stretch>
                        <a:fillRect/>
                      </a:stretch>
                    </p:blipFill>
                    <p:spPr>
                      <a:xfrm>
                        <a:off x="3719830" y="3207385"/>
                        <a:ext cx="4469130" cy="2772410"/>
                      </a:xfrm>
                      <a:prstGeom prst="rect">
                        <a:avLst/>
                      </a:prstGeom>
                      <a:noFill/>
                      <a:ln w="38100">
                        <a:noFill/>
                        <a:miter/>
                      </a:ln>
                    </p:spPr>
                  </p:pic>
                </p:oleObj>
              </mc:Fallback>
            </mc:AlternateContent>
          </a:graphicData>
        </a:graphic>
      </p:graphicFrame>
      <p:sp>
        <p:nvSpPr>
          <p:cNvPr id="4" name="矩形 3"/>
          <p:cNvSpPr/>
          <p:nvPr/>
        </p:nvSpPr>
        <p:spPr>
          <a:xfrm>
            <a:off x="3852546" y="5966778"/>
            <a:ext cx="3921125" cy="607695"/>
          </a:xfrm>
          <a:prstGeom prst="rect">
            <a:avLst/>
          </a:prstGeom>
        </p:spPr>
        <p:txBody>
          <a:bodyPr wrap="none">
            <a:spAutoFit/>
          </a:bodyPr>
          <a:lstStyle/>
          <a:p>
            <a:pPr marL="0" marR="0" lvl="0" indent="266700" algn="ctr" defTabSz="914400" rtl="0" eaLnBrk="1" fontAlgn="base" latinLnBrk="0" hangingPunct="1">
              <a:lnSpc>
                <a:spcPct val="120000"/>
              </a:lnSpc>
              <a:spcBef>
                <a:spcPct val="0"/>
              </a:spcBef>
              <a:spcAft>
                <a:spcPts val="700"/>
              </a:spcAft>
              <a:buClrTx/>
              <a:buSzTx/>
              <a:buFontTx/>
              <a:buNone/>
              <a:defRPr/>
            </a:pPr>
            <a:r>
              <a:rPr kumimoji="0" lang="en-US"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Impala</a:t>
            </a:r>
            <a:r>
              <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与其他组件关系</a:t>
            </a:r>
            <a:endParaRPr kumimoji="0" lang="zh-CN" altLang="zh-CN" sz="28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5" name="文本框 4"/>
          <p:cNvSpPr txBox="1"/>
          <p:nvPr/>
        </p:nvSpPr>
        <p:spPr>
          <a:xfrm>
            <a:off x="838835" y="1534160"/>
            <a:ext cx="10668000" cy="1753235"/>
          </a:xfrm>
          <a:prstGeom prst="rect">
            <a:avLst/>
          </a:prstGeom>
          <a:noFill/>
        </p:spPr>
        <p:txBody>
          <a:bodyPr wrap="square" rtlCol="0" anchor="t">
            <a:spAutoFit/>
          </a:bodyPr>
          <a:lstStyle/>
          <a:p>
            <a:pPr>
              <a:lnSpc>
                <a:spcPct val="150000"/>
              </a:lnSpc>
            </a:pPr>
            <a:r>
              <a:rPr lang="en-US" altLang="zh-CN" sz="2400" dirty="0">
                <a:sym typeface="+mn-ea"/>
              </a:rPr>
              <a:t>Impala</a:t>
            </a:r>
            <a:r>
              <a:rPr lang="zh-CN" altLang="zh-CN" sz="2400" dirty="0">
                <a:sym typeface="+mn-ea"/>
              </a:rPr>
              <a:t>通过与商用MPP (Massively Parallel Processing)并行关系数据库中类似的分布式查询引擎，可以直接从</a:t>
            </a:r>
            <a:r>
              <a:rPr lang="en-US" altLang="zh-CN" sz="2400" dirty="0">
                <a:sym typeface="+mn-ea"/>
              </a:rPr>
              <a:t>HDFS</a:t>
            </a:r>
            <a:r>
              <a:rPr lang="zh-CN" altLang="zh-CN" sz="2400" dirty="0">
                <a:sym typeface="+mn-ea"/>
              </a:rPr>
              <a:t>或者</a:t>
            </a:r>
            <a:r>
              <a:rPr lang="en-US" altLang="zh-CN" sz="2400" dirty="0">
                <a:sym typeface="+mn-ea"/>
              </a:rPr>
              <a:t>HBase</a:t>
            </a:r>
            <a:r>
              <a:rPr lang="zh-CN" altLang="zh-CN" sz="2400" dirty="0">
                <a:sym typeface="+mn-ea"/>
              </a:rPr>
              <a:t>中用</a:t>
            </a:r>
            <a:r>
              <a:rPr lang="en-US" altLang="zh-CN" sz="2400" dirty="0">
                <a:sym typeface="+mn-ea"/>
              </a:rPr>
              <a:t>SQL</a:t>
            </a:r>
            <a:r>
              <a:rPr lang="zh-CN" altLang="zh-CN" sz="2400" dirty="0">
                <a:sym typeface="+mn-ea"/>
              </a:rPr>
              <a:t>语句查询数据，从而大大降低了延迟，主要用于实时查询。</a:t>
            </a:r>
            <a:endParaRPr lang="zh-CN" altLang="zh-CN" sz="2400" dirty="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p:txBody>
          <a:bodyPr vert="horz" wrap="square" lIns="91440" tIns="45720" rIns="91440" bIns="45720" anchor="ctr" anchorCtr="0"/>
          <a:lstStyle/>
          <a:p>
            <a:r>
              <a:rPr lang="en-US" altLang="zh-CN" b="1" dirty="0"/>
              <a:t>9.5.2 Impala</a:t>
            </a:r>
            <a:r>
              <a:rPr lang="zh-CN" altLang="en-US" b="1" dirty="0"/>
              <a:t>系统架构</a:t>
            </a:r>
            <a:endParaRPr lang="zh-CN" altLang="en-US" b="1" dirty="0"/>
          </a:p>
        </p:txBody>
      </p:sp>
      <p:sp>
        <p:nvSpPr>
          <p:cNvPr id="40963" name="Rectangle 5"/>
          <p:cNvSpPr/>
          <p:nvPr/>
        </p:nvSpPr>
        <p:spPr>
          <a:xfrm>
            <a:off x="1524000" y="2198688"/>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2" name="矩形 1"/>
          <p:cNvSpPr/>
          <p:nvPr/>
        </p:nvSpPr>
        <p:spPr>
          <a:xfrm>
            <a:off x="1012825" y="4895215"/>
            <a:ext cx="10563225" cy="132207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457200" marR="0" lvl="0" indent="-457200" algn="l" defTabSz="914400" rtl="0" eaLnBrk="1" fontAlgn="base" latinLnBrk="0" hangingPunct="1">
              <a:lnSpc>
                <a:spcPct val="100000"/>
              </a:lnSpc>
              <a:spcBef>
                <a:spcPct val="0"/>
              </a:spcBef>
              <a:spcAft>
                <a:spcPct val="0"/>
              </a:spcAft>
              <a:buClrTx/>
              <a:buSzTx/>
              <a:buFont typeface="Arial" panose="020B0604020202020204" pitchFamily="34" charset="0"/>
              <a:buAutoNum type="arabicPeriod"/>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Impalad</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是</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Impala</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的一个进程</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负责协调客户端提交的查询的执行，给其他</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impalad</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分配任务以及收集其他</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impalad</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的执行结果进行汇总</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执行其他</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impalad</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给其分配的任务，主要就是对本地</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HDFS</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和</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HBase</a:t>
            </a:r>
            <a:r>
              <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里的部分数据进行操作</a:t>
            </a:r>
            <a:endPar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文本框 2"/>
          <p:cNvSpPr txBox="1"/>
          <p:nvPr/>
        </p:nvSpPr>
        <p:spPr>
          <a:xfrm>
            <a:off x="1012825" y="2341245"/>
            <a:ext cx="2673350" cy="132207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nchor="t">
            <a:spAutoFit/>
          </a:bodyPr>
          <a:lstStyle/>
          <a:p>
            <a:pPr marL="0" marR="0" lvl="0" indent="0" algn="l" defTabSz="914400" rtl="0" eaLnBrk="1" fontAlgn="base" latinLnBrk="0" hangingPunct="1">
              <a:lnSpc>
                <a:spcPct val="100000"/>
              </a:lnSpc>
              <a:spcBef>
                <a:spcPts val="600"/>
              </a:spcBef>
              <a:spcAft>
                <a:spcPts val="600"/>
              </a:spcAft>
              <a:buClrTx/>
              <a:buSzTx/>
              <a:buFontTx/>
              <a:buNone/>
              <a:defRPr/>
            </a:pPr>
            <a:r>
              <a:rPr lang="en-US" altLang="zh-CN" sz="2000" noProof="0" dirty="0">
                <a:ln>
                  <a:noFill/>
                </a:ln>
                <a:effectLst/>
                <a:uLnTx/>
                <a:uFillTx/>
                <a:latin typeface="Arial" panose="020B0604020202020204" pitchFamily="34" charset="0"/>
                <a:ea typeface="宋体" panose="02010600030101010101" pitchFamily="2" charset="-122"/>
                <a:sym typeface="+mn-ea"/>
              </a:rPr>
              <a:t>3.  CLI</a:t>
            </a:r>
            <a:r>
              <a:rPr lang="zh-CN" altLang="zh-CN" sz="2000" noProof="0" dirty="0">
                <a:ln>
                  <a:noFill/>
                </a:ln>
                <a:effectLst/>
                <a:uLnTx/>
                <a:uFillTx/>
                <a:latin typeface="Arial" panose="020B0604020202020204" pitchFamily="34" charset="0"/>
                <a:ea typeface="宋体" panose="02010600030101010101" pitchFamily="2" charset="-122"/>
                <a:sym typeface="+mn-ea"/>
              </a:rPr>
              <a:t>给用户提供查询使用的命令行工具，提供了</a:t>
            </a:r>
            <a:r>
              <a:rPr lang="en-US" altLang="zh-CN" sz="2000" noProof="0" dirty="0">
                <a:ln>
                  <a:noFill/>
                </a:ln>
                <a:effectLst/>
                <a:uLnTx/>
                <a:uFillTx/>
                <a:latin typeface="Arial" panose="020B0604020202020204" pitchFamily="34" charset="0"/>
                <a:ea typeface="宋体" panose="02010600030101010101" pitchFamily="2" charset="-122"/>
                <a:sym typeface="+mn-ea"/>
              </a:rPr>
              <a:t>Hue</a:t>
            </a:r>
            <a:r>
              <a:rPr lang="zh-CN" altLang="zh-CN" sz="2000" noProof="0" dirty="0">
                <a:ln>
                  <a:noFill/>
                </a:ln>
                <a:effectLst/>
                <a:uLnTx/>
                <a:uFillTx/>
                <a:latin typeface="Arial" panose="020B0604020202020204" pitchFamily="34" charset="0"/>
                <a:ea typeface="宋体" panose="02010600030101010101" pitchFamily="2" charset="-122"/>
                <a:sym typeface="+mn-ea"/>
              </a:rPr>
              <a:t>、</a:t>
            </a:r>
            <a:r>
              <a:rPr lang="en-US" altLang="zh-CN" sz="2000" noProof="0" dirty="0">
                <a:ln>
                  <a:noFill/>
                </a:ln>
                <a:effectLst/>
                <a:uLnTx/>
                <a:uFillTx/>
                <a:latin typeface="Arial" panose="020B0604020202020204" pitchFamily="34" charset="0"/>
                <a:ea typeface="宋体" panose="02010600030101010101" pitchFamily="2" charset="-122"/>
                <a:sym typeface="+mn-ea"/>
              </a:rPr>
              <a:t>JDBC</a:t>
            </a:r>
            <a:r>
              <a:rPr lang="zh-CN" altLang="zh-CN" sz="2000" noProof="0" dirty="0">
                <a:ln>
                  <a:noFill/>
                </a:ln>
                <a:effectLst/>
                <a:uLnTx/>
                <a:uFillTx/>
                <a:latin typeface="Arial" panose="020B0604020202020204" pitchFamily="34" charset="0"/>
                <a:ea typeface="宋体" panose="02010600030101010101" pitchFamily="2" charset="-122"/>
                <a:sym typeface="+mn-ea"/>
              </a:rPr>
              <a:t>及</a:t>
            </a:r>
            <a:r>
              <a:rPr lang="en-US" altLang="zh-CN" sz="2000" noProof="0" dirty="0">
                <a:ln>
                  <a:noFill/>
                </a:ln>
                <a:effectLst/>
                <a:uLnTx/>
                <a:uFillTx/>
                <a:latin typeface="Arial" panose="020B0604020202020204" pitchFamily="34" charset="0"/>
                <a:ea typeface="宋体" panose="02010600030101010101" pitchFamily="2" charset="-122"/>
                <a:sym typeface="+mn-ea"/>
              </a:rPr>
              <a:t>ODBC</a:t>
            </a:r>
            <a:r>
              <a:rPr lang="zh-CN" altLang="en-US" sz="2000" noProof="0" dirty="0">
                <a:ln>
                  <a:noFill/>
                </a:ln>
                <a:effectLst/>
                <a:uLnTx/>
                <a:uFillTx/>
                <a:latin typeface="Arial" panose="020B0604020202020204" pitchFamily="34" charset="0"/>
                <a:ea typeface="宋体" panose="02010600030101010101" pitchFamily="2" charset="-122"/>
                <a:sym typeface="+mn-ea"/>
              </a:rPr>
              <a:t>的</a:t>
            </a:r>
            <a:r>
              <a:rPr lang="zh-CN" altLang="zh-CN" sz="2000" noProof="0" dirty="0">
                <a:ln>
                  <a:noFill/>
                </a:ln>
                <a:effectLst/>
                <a:uLnTx/>
                <a:uFillTx/>
                <a:latin typeface="Arial" panose="020B0604020202020204" pitchFamily="34" charset="0"/>
                <a:ea typeface="宋体" panose="02010600030101010101" pitchFamily="2" charset="-122"/>
                <a:sym typeface="+mn-ea"/>
              </a:rPr>
              <a:t>使用接口</a:t>
            </a:r>
            <a:endParaRPr lang="zh-CN" altLang="zh-CN" sz="2000" noProof="0" dirty="0">
              <a:ln>
                <a:noFill/>
              </a:ln>
              <a:effectLst/>
              <a:uLnTx/>
              <a:uFillTx/>
              <a:latin typeface="Arial" panose="020B0604020202020204" pitchFamily="34" charset="0"/>
              <a:ea typeface="宋体" panose="02010600030101010101" pitchFamily="2" charset="-122"/>
              <a:sym typeface="+mn-ea"/>
            </a:endParaRPr>
          </a:p>
        </p:txBody>
      </p:sp>
      <p:sp>
        <p:nvSpPr>
          <p:cNvPr id="4" name="文本框 3"/>
          <p:cNvSpPr txBox="1"/>
          <p:nvPr/>
        </p:nvSpPr>
        <p:spPr>
          <a:xfrm>
            <a:off x="2374265" y="1542415"/>
            <a:ext cx="7230110" cy="46037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zh-CN" sz="2400" noProof="0" dirty="0">
                <a:ln>
                  <a:noFill/>
                </a:ln>
                <a:effectLst/>
                <a:uLnTx/>
                <a:uFillTx/>
                <a:latin typeface="Arial" panose="020B0604020202020204" pitchFamily="34" charset="0"/>
                <a:ea typeface="宋体" panose="02010600030101010101" pitchFamily="2" charset="-122"/>
                <a:sym typeface="+mn-ea"/>
              </a:rPr>
              <a:t>Impala</a:t>
            </a:r>
            <a:r>
              <a:rPr lang="zh-CN" altLang="zh-CN" sz="2400" noProof="0" dirty="0">
                <a:ln>
                  <a:noFill/>
                </a:ln>
                <a:effectLst/>
                <a:uLnTx/>
                <a:uFillTx/>
                <a:latin typeface="Arial" panose="020B0604020202020204" pitchFamily="34" charset="0"/>
                <a:ea typeface="宋体" panose="02010600030101010101" pitchFamily="2" charset="-122"/>
                <a:sym typeface="+mn-ea"/>
              </a:rPr>
              <a:t>主要由</a:t>
            </a:r>
            <a:r>
              <a:rPr lang="en-US" altLang="zh-CN" sz="2400" noProof="0" dirty="0">
                <a:ln>
                  <a:noFill/>
                </a:ln>
                <a:effectLst/>
                <a:uLnTx/>
                <a:uFillTx/>
                <a:latin typeface="Arial" panose="020B0604020202020204" pitchFamily="34" charset="0"/>
                <a:ea typeface="宋体" panose="02010600030101010101" pitchFamily="2" charset="-122"/>
                <a:sym typeface="+mn-ea"/>
              </a:rPr>
              <a:t>Impalad</a:t>
            </a:r>
            <a:r>
              <a:rPr lang="zh-CN" altLang="zh-CN" sz="2400" noProof="0" dirty="0">
                <a:ln>
                  <a:noFill/>
                </a:ln>
                <a:effectLst/>
                <a:uLnTx/>
                <a:uFillTx/>
                <a:latin typeface="Arial" panose="020B0604020202020204" pitchFamily="34" charset="0"/>
                <a:ea typeface="宋体" panose="02010600030101010101" pitchFamily="2" charset="-122"/>
                <a:sym typeface="+mn-ea"/>
              </a:rPr>
              <a:t>，</a:t>
            </a:r>
            <a:r>
              <a:rPr lang="en-US" altLang="zh-CN" sz="2400" noProof="0" dirty="0">
                <a:ln>
                  <a:noFill/>
                </a:ln>
                <a:effectLst/>
                <a:uLnTx/>
                <a:uFillTx/>
                <a:latin typeface="Arial" panose="020B0604020202020204" pitchFamily="34" charset="0"/>
                <a:ea typeface="宋体" panose="02010600030101010101" pitchFamily="2" charset="-122"/>
                <a:sym typeface="+mn-ea"/>
              </a:rPr>
              <a:t>State Store</a:t>
            </a:r>
            <a:r>
              <a:rPr lang="zh-CN" altLang="zh-CN" sz="2400" noProof="0" dirty="0">
                <a:ln>
                  <a:noFill/>
                </a:ln>
                <a:effectLst/>
                <a:uLnTx/>
                <a:uFillTx/>
                <a:latin typeface="Arial" panose="020B0604020202020204" pitchFamily="34" charset="0"/>
                <a:ea typeface="宋体" panose="02010600030101010101" pitchFamily="2" charset="-122"/>
                <a:sym typeface="+mn-ea"/>
              </a:rPr>
              <a:t>和</a:t>
            </a:r>
            <a:r>
              <a:rPr lang="en-US" altLang="zh-CN" sz="2400" noProof="0" dirty="0">
                <a:ln>
                  <a:noFill/>
                </a:ln>
                <a:effectLst/>
                <a:uLnTx/>
                <a:uFillTx/>
                <a:latin typeface="Arial" panose="020B0604020202020204" pitchFamily="34" charset="0"/>
                <a:ea typeface="宋体" panose="02010600030101010101" pitchFamily="2" charset="-122"/>
                <a:sym typeface="+mn-ea"/>
              </a:rPr>
              <a:t>CLI</a:t>
            </a:r>
            <a:r>
              <a:rPr lang="zh-CN" altLang="zh-CN" sz="2400" noProof="0" dirty="0">
                <a:ln>
                  <a:noFill/>
                </a:ln>
                <a:effectLst/>
                <a:uLnTx/>
                <a:uFillTx/>
                <a:latin typeface="Arial" panose="020B0604020202020204" pitchFamily="34" charset="0"/>
                <a:ea typeface="宋体" panose="02010600030101010101" pitchFamily="2" charset="-122"/>
                <a:sym typeface="+mn-ea"/>
              </a:rPr>
              <a:t>三部分组成</a:t>
            </a:r>
            <a:endParaRPr lang="zh-CN" altLang="en-US" sz="2400" noProof="0" dirty="0">
              <a:ln>
                <a:noFill/>
              </a:ln>
              <a:effectLst/>
              <a:uLnTx/>
              <a:uFillTx/>
              <a:latin typeface="Arial" panose="020B0604020202020204" pitchFamily="34" charset="0"/>
              <a:ea typeface="宋体" panose="02010600030101010101" pitchFamily="2" charset="-122"/>
              <a:sym typeface="+mn-ea"/>
            </a:endParaRPr>
          </a:p>
        </p:txBody>
      </p:sp>
      <p:sp>
        <p:nvSpPr>
          <p:cNvPr id="5" name="文本框 4"/>
          <p:cNvSpPr txBox="1"/>
          <p:nvPr/>
        </p:nvSpPr>
        <p:spPr>
          <a:xfrm>
            <a:off x="6329680" y="2372360"/>
            <a:ext cx="5246370" cy="170688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nchor="t">
            <a:spAutoFit/>
          </a:bodyPr>
          <a:lstStyle/>
          <a:p>
            <a:pPr marL="0" marR="0" lvl="0" indent="0" algn="l" defTabSz="914400" rtl="0" eaLnBrk="1" fontAlgn="base" latinLnBrk="0" hangingPunct="1">
              <a:lnSpc>
                <a:spcPct val="100000"/>
              </a:lnSpc>
              <a:spcBef>
                <a:spcPts val="600"/>
              </a:spcBef>
              <a:spcAft>
                <a:spcPts val="600"/>
              </a:spcAft>
              <a:buClrTx/>
              <a:buSzTx/>
              <a:buFontTx/>
              <a:buNone/>
              <a:defRPr/>
            </a:pPr>
            <a:r>
              <a:rPr lang="en-US" altLang="zh-CN" sz="2000" noProof="0" dirty="0">
                <a:ln>
                  <a:noFill/>
                </a:ln>
                <a:effectLst/>
                <a:uLnTx/>
                <a:uFillTx/>
                <a:latin typeface="Arial" panose="020B0604020202020204" pitchFamily="34" charset="0"/>
                <a:ea typeface="宋体" panose="02010600030101010101" pitchFamily="2" charset="-122"/>
                <a:sym typeface="+mn-ea"/>
              </a:rPr>
              <a:t>2.  State Store</a:t>
            </a:r>
            <a:r>
              <a:rPr lang="zh-CN" altLang="en-US" sz="2000" noProof="0" dirty="0">
                <a:ln>
                  <a:noFill/>
                </a:ln>
                <a:effectLst/>
                <a:uLnTx/>
                <a:uFillTx/>
                <a:latin typeface="Arial" panose="020B0604020202020204" pitchFamily="34" charset="0"/>
                <a:ea typeface="宋体" panose="02010600030101010101" pitchFamily="2" charset="-122"/>
                <a:sym typeface="+mn-ea"/>
              </a:rPr>
              <a:t>：</a:t>
            </a:r>
            <a:r>
              <a:rPr lang="zh-CN" altLang="zh-CN" sz="2000" noProof="0" dirty="0">
                <a:ln>
                  <a:noFill/>
                </a:ln>
                <a:effectLst/>
                <a:uLnTx/>
                <a:uFillTx/>
                <a:latin typeface="Arial" panose="020B0604020202020204" pitchFamily="34" charset="0"/>
                <a:ea typeface="宋体" panose="02010600030101010101" pitchFamily="2" charset="-122"/>
                <a:sym typeface="+mn-ea"/>
              </a:rPr>
              <a:t>负责收集分布在集群中各个</a:t>
            </a:r>
            <a:r>
              <a:rPr lang="en-US" altLang="zh-CN" sz="2000" noProof="0" dirty="0">
                <a:ln>
                  <a:noFill/>
                </a:ln>
                <a:effectLst/>
                <a:uLnTx/>
                <a:uFillTx/>
                <a:latin typeface="Arial" panose="020B0604020202020204" pitchFamily="34" charset="0"/>
                <a:ea typeface="宋体" panose="02010600030101010101" pitchFamily="2" charset="-122"/>
                <a:sym typeface="+mn-ea"/>
              </a:rPr>
              <a:t>Impalad</a:t>
            </a:r>
            <a:r>
              <a:rPr lang="zh-CN" altLang="en-US" sz="2000" noProof="0" dirty="0">
                <a:ln>
                  <a:noFill/>
                </a:ln>
                <a:effectLst/>
                <a:uLnTx/>
                <a:uFillTx/>
                <a:latin typeface="Arial" panose="020B0604020202020204" pitchFamily="34" charset="0"/>
                <a:ea typeface="宋体" panose="02010600030101010101" pitchFamily="2" charset="-122"/>
                <a:sym typeface="+mn-ea"/>
              </a:rPr>
              <a:t>进程的资源信息，用于查询的调度</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zh-CN" altLang="zh-CN" sz="2000" noProof="0" dirty="0">
                <a:ln>
                  <a:noFill/>
                </a:ln>
                <a:effectLst/>
                <a:uLnTx/>
                <a:uFillTx/>
                <a:latin typeface="Arial" panose="020B0604020202020204" pitchFamily="34" charset="0"/>
                <a:ea typeface="宋体" panose="02010600030101010101" pitchFamily="2" charset="-122"/>
                <a:sym typeface="+mn-ea"/>
              </a:rPr>
              <a:t>跟踪</a:t>
            </a:r>
            <a:r>
              <a:rPr lang="en-US" altLang="zh-CN" sz="2000" noProof="0" dirty="0">
                <a:ln>
                  <a:noFill/>
                </a:ln>
                <a:effectLst/>
                <a:uLnTx/>
                <a:uFillTx/>
                <a:latin typeface="Arial" panose="020B0604020202020204" pitchFamily="34" charset="0"/>
                <a:ea typeface="宋体" panose="02010600030101010101" pitchFamily="2" charset="-122"/>
                <a:sym typeface="+mn-ea"/>
              </a:rPr>
              <a:t>Impalad</a:t>
            </a:r>
            <a:r>
              <a:rPr lang="zh-CN" altLang="zh-CN" sz="2000" noProof="0" dirty="0">
                <a:ln>
                  <a:noFill/>
                </a:ln>
                <a:effectLst/>
                <a:uLnTx/>
                <a:uFillTx/>
                <a:latin typeface="Arial" panose="020B0604020202020204" pitchFamily="34" charset="0"/>
                <a:ea typeface="宋体" panose="02010600030101010101" pitchFamily="2" charset="-122"/>
                <a:sym typeface="+mn-ea"/>
              </a:rPr>
              <a:t>健康及位置</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zh-CN" altLang="zh-CN" sz="2000" noProof="0" dirty="0">
                <a:ln>
                  <a:noFill/>
                </a:ln>
                <a:effectLst/>
                <a:uLnTx/>
                <a:uFillTx/>
                <a:latin typeface="Arial" panose="020B0604020202020204" pitchFamily="34" charset="0"/>
                <a:ea typeface="宋体" panose="02010600030101010101" pitchFamily="2" charset="-122"/>
                <a:sym typeface="+mn-ea"/>
              </a:rPr>
              <a:t>处理</a:t>
            </a:r>
            <a:r>
              <a:rPr lang="en-US" altLang="zh-CN" sz="2000" noProof="0" dirty="0">
                <a:ln>
                  <a:noFill/>
                </a:ln>
                <a:effectLst/>
                <a:uLnTx/>
                <a:uFillTx/>
                <a:latin typeface="Arial" panose="020B0604020202020204" pitchFamily="34" charset="0"/>
                <a:ea typeface="宋体" panose="02010600030101010101" pitchFamily="2" charset="-122"/>
                <a:sym typeface="+mn-ea"/>
              </a:rPr>
              <a:t>Impalad</a:t>
            </a:r>
            <a:r>
              <a:rPr lang="zh-CN" altLang="zh-CN" sz="2000" noProof="0" dirty="0">
                <a:ln>
                  <a:noFill/>
                </a:ln>
                <a:effectLst/>
                <a:uLnTx/>
                <a:uFillTx/>
                <a:latin typeface="Arial" panose="020B0604020202020204" pitchFamily="34" charset="0"/>
                <a:ea typeface="宋体" panose="02010600030101010101" pitchFamily="2" charset="-122"/>
                <a:sym typeface="+mn-ea"/>
              </a:rPr>
              <a:t>的注册订阅和保持心跳连接</a:t>
            </a:r>
            <a:endPar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00000"/>
              </a:lnSpc>
              <a:spcBef>
                <a:spcPct val="0"/>
              </a:spcBef>
              <a:spcAft>
                <a:spcPct val="0"/>
              </a:spcAft>
              <a:buClrTx/>
              <a:buSzTx/>
              <a:buFont typeface="Arial" panose="020B0604020202020204" pitchFamily="34" charset="0"/>
              <a:buChar char="•"/>
              <a:defRPr/>
            </a:pPr>
            <a:r>
              <a:rPr lang="zh-CN" altLang="en-US" sz="2000" noProof="0" dirty="0">
                <a:ln>
                  <a:noFill/>
                </a:ln>
                <a:effectLst/>
                <a:uLnTx/>
                <a:uFillTx/>
                <a:latin typeface="Arial" panose="020B0604020202020204" pitchFamily="34" charset="0"/>
                <a:ea typeface="宋体" panose="02010600030101010101" pitchFamily="2" charset="-122"/>
                <a:sym typeface="+mn-ea"/>
              </a:rPr>
              <a:t>处理离线与恢复</a:t>
            </a:r>
            <a:endParaRPr lang="zh-CN" altLang="en-US" sz="2000" noProof="0" dirty="0">
              <a:ln>
                <a:noFill/>
              </a:ln>
              <a:effectLst/>
              <a:uLnTx/>
              <a:uFillTx/>
              <a:latin typeface="Arial" panose="020B0604020202020204" pitchFamily="34" charset="0"/>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5" grpId="0" animBg="1"/>
      <p:bldP spid="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p:cNvSpPr>
          <p:nvPr>
            <p:ph type="title"/>
          </p:nvPr>
        </p:nvSpPr>
        <p:spPr/>
        <p:txBody>
          <a:bodyPr vert="horz" wrap="square" lIns="91440" tIns="45720" rIns="91440" bIns="45720" anchor="ctr" anchorCtr="0"/>
          <a:lstStyle/>
          <a:p>
            <a:r>
              <a:rPr lang="en-US" altLang="zh-CN" b="1" dirty="0"/>
              <a:t>9.5.2 Impala</a:t>
            </a:r>
            <a:r>
              <a:rPr lang="zh-CN" altLang="en-US" b="1" dirty="0"/>
              <a:t>系统架构</a:t>
            </a:r>
            <a:endParaRPr lang="en-US" altLang="zh-CN" b="1" dirty="0"/>
          </a:p>
        </p:txBody>
      </p:sp>
      <p:sp>
        <p:nvSpPr>
          <p:cNvPr id="9220" name="Rectangle 5"/>
          <p:cNvSpPr/>
          <p:nvPr/>
        </p:nvSpPr>
        <p:spPr>
          <a:xfrm>
            <a:off x="1524000" y="2151063"/>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9221" name="Rectangle 8"/>
          <p:cNvSpPr/>
          <p:nvPr/>
        </p:nvSpPr>
        <p:spPr>
          <a:xfrm>
            <a:off x="1524000" y="2008188"/>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9222" name="Rectangle 11"/>
          <p:cNvSpPr/>
          <p:nvPr/>
        </p:nvSpPr>
        <p:spPr>
          <a:xfrm>
            <a:off x="2667000" y="1362869"/>
            <a:ext cx="12874625" cy="368300"/>
          </a:xfrm>
          <a:prstGeom prst="rect">
            <a:avLst/>
          </a:prstGeom>
          <a:noFill/>
          <a:ln w="9525">
            <a:noFill/>
          </a:ln>
        </p:spPr>
        <p:txBody>
          <a:bodyPr anchor="ctr" anchorCtr="0">
            <a:spAutoFit/>
          </a:bodyPr>
          <a:lstStyle/>
          <a:p>
            <a:pPr eaLnBrk="1" hangingPunct="1"/>
            <a:endParaRPr lang="zh-CN" altLang="en-US" dirty="0">
              <a:latin typeface="Arial" panose="020B0604020202020204" pitchFamily="34" charset="0"/>
            </a:endParaRPr>
          </a:p>
        </p:txBody>
      </p:sp>
      <p:graphicFrame>
        <p:nvGraphicFramePr>
          <p:cNvPr id="9218" name="对象 2"/>
          <p:cNvGraphicFramePr/>
          <p:nvPr/>
        </p:nvGraphicFramePr>
        <p:xfrm>
          <a:off x="1892300" y="1600200"/>
          <a:ext cx="8255000" cy="4829175"/>
        </p:xfrm>
        <a:graphic>
          <a:graphicData uri="http://schemas.openxmlformats.org/presentationml/2006/ole">
            <mc:AlternateContent xmlns:mc="http://schemas.openxmlformats.org/markup-compatibility/2006">
              <mc:Choice xmlns:v="urn:schemas-microsoft-com:vml" Requires="v">
                <p:oleObj spid="_x0000_s10245" name="" r:id="rId1" imgW="11125200" imgH="5638800" progId="Visio.Drawing.15">
                  <p:embed/>
                </p:oleObj>
              </mc:Choice>
              <mc:Fallback>
                <p:oleObj name="" r:id="rId1" imgW="11125200" imgH="5638800" progId="Visio.Drawing.15">
                  <p:embed/>
                  <p:pic>
                    <p:nvPicPr>
                      <p:cNvPr id="0" name="图片 3080"/>
                      <p:cNvPicPr/>
                      <p:nvPr/>
                    </p:nvPicPr>
                    <p:blipFill>
                      <a:blip r:embed="rId2"/>
                      <a:stretch>
                        <a:fillRect/>
                      </a:stretch>
                    </p:blipFill>
                    <p:spPr>
                      <a:xfrm>
                        <a:off x="1892300" y="1600200"/>
                        <a:ext cx="8255000" cy="4829175"/>
                      </a:xfrm>
                      <a:prstGeom prst="rect">
                        <a:avLst/>
                      </a:prstGeom>
                      <a:noFill/>
                      <a:ln w="38100">
                        <a:noFill/>
                        <a:miter/>
                      </a:ln>
                    </p:spPr>
                  </p:pic>
                </p:oleObj>
              </mc:Fallback>
            </mc:AlternateContent>
          </a:graphicData>
        </a:graphic>
      </p:graphicFrame>
      <p:sp>
        <p:nvSpPr>
          <p:cNvPr id="2" name="矩形 1"/>
          <p:cNvSpPr/>
          <p:nvPr/>
        </p:nvSpPr>
        <p:spPr>
          <a:xfrm>
            <a:off x="1651635" y="3646170"/>
            <a:ext cx="2550795" cy="1945005"/>
          </a:xfrm>
          <a:prstGeom prst="rect">
            <a:avLst/>
          </a:prstGeom>
          <a:noFill/>
          <a:ln w="28575">
            <a:solidFill>
              <a:schemeClr val="accent1"/>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文本框 2"/>
          <p:cNvSpPr txBox="1"/>
          <p:nvPr/>
        </p:nvSpPr>
        <p:spPr>
          <a:xfrm>
            <a:off x="2260600" y="3736340"/>
            <a:ext cx="1333500" cy="460375"/>
          </a:xfrm>
          <a:prstGeom prst="rect">
            <a:avLst/>
          </a:prstGeom>
          <a:noFill/>
        </p:spPr>
        <p:txBody>
          <a:bodyPr wrap="square" rtlCol="0" anchor="t">
            <a:spAutoFit/>
          </a:bodyPr>
          <a:lstStyle/>
          <a:p>
            <a:r>
              <a:rPr lang="en-US" altLang="zh-CN" sz="2400" noProof="0" dirty="0">
                <a:ln>
                  <a:noFill/>
                </a:ln>
                <a:effectLst/>
                <a:uLnTx/>
                <a:uFillTx/>
                <a:latin typeface="Arial" panose="020B0604020202020204" pitchFamily="34" charset="0"/>
                <a:ea typeface="宋体" panose="02010600030101010101" pitchFamily="2" charset="-122"/>
                <a:sym typeface="+mn-ea"/>
              </a:rPr>
              <a:t>Impalad</a:t>
            </a:r>
            <a:endParaRPr lang="en-US" altLang="zh-CN" sz="2400" noProof="0" dirty="0">
              <a:ln>
                <a:noFill/>
              </a:ln>
              <a:effectLst/>
              <a:uLnTx/>
              <a:uFillTx/>
              <a:latin typeface="Arial" panose="020B0604020202020204" pitchFamily="34" charset="0"/>
              <a:ea typeface="宋体" panose="0201060003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P spid="3"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vert="horz" wrap="square" lIns="91440" tIns="45720" rIns="91440" bIns="45720" anchor="ctr" anchorCtr="0"/>
          <a:lstStyle/>
          <a:p>
            <a:r>
              <a:rPr lang="en-US" altLang="zh-CN" b="1" dirty="0">
                <a:sym typeface="+mn-ea"/>
              </a:rPr>
              <a:t>9.5.3 Impala</a:t>
            </a:r>
            <a:r>
              <a:rPr lang="zh-CN" altLang="en-US" b="1" dirty="0">
                <a:sym typeface="+mn-ea"/>
              </a:rPr>
              <a:t>查询执行过程</a:t>
            </a:r>
            <a:endParaRPr lang="zh-CN" altLang="en-US" dirty="0"/>
          </a:p>
        </p:txBody>
      </p:sp>
      <p:sp>
        <p:nvSpPr>
          <p:cNvPr id="44035" name="Rectangle 5"/>
          <p:cNvSpPr/>
          <p:nvPr/>
        </p:nvSpPr>
        <p:spPr>
          <a:xfrm>
            <a:off x="1544320" y="2617153"/>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3" name="圆角矩形 2"/>
          <p:cNvSpPr/>
          <p:nvPr/>
        </p:nvSpPr>
        <p:spPr>
          <a:xfrm>
            <a:off x="1009015" y="4638675"/>
            <a:ext cx="109855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800"/>
              <a:t>用户</a:t>
            </a:r>
            <a:endParaRPr lang="zh-CN" altLang="en-US" sz="2800"/>
          </a:p>
        </p:txBody>
      </p:sp>
      <p:sp>
        <p:nvSpPr>
          <p:cNvPr id="4" name="圆角矩形 3"/>
          <p:cNvSpPr/>
          <p:nvPr/>
        </p:nvSpPr>
        <p:spPr>
          <a:xfrm>
            <a:off x="4466590" y="3849370"/>
            <a:ext cx="7040245" cy="2118360"/>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2800"/>
          </a:p>
        </p:txBody>
      </p:sp>
      <p:cxnSp>
        <p:nvCxnSpPr>
          <p:cNvPr id="5" name="直接箭头连接符 4"/>
          <p:cNvCxnSpPr>
            <a:stCxn id="3" idx="3"/>
            <a:endCxn id="4" idx="1"/>
          </p:cNvCxnSpPr>
          <p:nvPr/>
        </p:nvCxnSpPr>
        <p:spPr>
          <a:xfrm flipV="1">
            <a:off x="2107565" y="4908550"/>
            <a:ext cx="2359025" cy="1143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圆角矩形 5"/>
          <p:cNvSpPr/>
          <p:nvPr/>
        </p:nvSpPr>
        <p:spPr>
          <a:xfrm>
            <a:off x="2357120" y="5001260"/>
            <a:ext cx="1859280"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a:t>CLI</a:t>
            </a:r>
            <a:r>
              <a:rPr lang="zh-CN" altLang="en-US" sz="2800"/>
              <a:t>客户端</a:t>
            </a:r>
            <a:endParaRPr lang="zh-CN" altLang="en-US" sz="2800"/>
          </a:p>
        </p:txBody>
      </p:sp>
      <p:sp>
        <p:nvSpPr>
          <p:cNvPr id="7" name="圆角矩形 6"/>
          <p:cNvSpPr/>
          <p:nvPr/>
        </p:nvSpPr>
        <p:spPr>
          <a:xfrm>
            <a:off x="2357120" y="4276725"/>
            <a:ext cx="1859280"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a:t>SQL</a:t>
            </a:r>
            <a:r>
              <a:rPr lang="zh-CN" altLang="en-US" sz="2800"/>
              <a:t>语句</a:t>
            </a:r>
            <a:endParaRPr lang="zh-CN" altLang="en-US" sz="2800"/>
          </a:p>
        </p:txBody>
      </p:sp>
      <p:sp>
        <p:nvSpPr>
          <p:cNvPr id="8" name="文本框 7"/>
          <p:cNvSpPr txBox="1"/>
          <p:nvPr/>
        </p:nvSpPr>
        <p:spPr>
          <a:xfrm>
            <a:off x="6844665" y="3879215"/>
            <a:ext cx="2284095" cy="521970"/>
          </a:xfrm>
          <a:prstGeom prst="rect">
            <a:avLst/>
          </a:prstGeom>
          <a:noFill/>
        </p:spPr>
        <p:txBody>
          <a:bodyPr wrap="square" rtlCol="0" anchor="t">
            <a:spAutoFit/>
          </a:bodyPr>
          <a:lstStyle/>
          <a:p>
            <a:pPr algn="ctr"/>
            <a:r>
              <a:rPr lang="en-US" altLang="zh-CN" sz="2800">
                <a:sym typeface="+mn-ea"/>
              </a:rPr>
              <a:t>Impalad</a:t>
            </a:r>
            <a:r>
              <a:rPr lang="zh-CN" altLang="en-US" sz="2800">
                <a:sym typeface="+mn-ea"/>
              </a:rPr>
              <a:t>进程</a:t>
            </a:r>
            <a:endParaRPr lang="zh-CN" altLang="en-US" sz="2800">
              <a:sym typeface="+mn-ea"/>
            </a:endParaRPr>
          </a:p>
        </p:txBody>
      </p:sp>
      <p:sp>
        <p:nvSpPr>
          <p:cNvPr id="9" name="文本框 8"/>
          <p:cNvSpPr txBox="1"/>
          <p:nvPr/>
        </p:nvSpPr>
        <p:spPr>
          <a:xfrm>
            <a:off x="4598670" y="4401185"/>
            <a:ext cx="2479040" cy="521970"/>
          </a:xfrm>
          <a:prstGeom prst="rect">
            <a:avLst/>
          </a:prstGeom>
          <a:noFill/>
        </p:spPr>
        <p:txBody>
          <a:bodyPr wrap="square" rtlCol="0" anchor="t">
            <a:spAutoFit/>
          </a:bodyPr>
          <a:lstStyle/>
          <a:p>
            <a:pPr algn="l"/>
            <a:r>
              <a:rPr lang="en-US" altLang="zh-CN" sz="2800">
                <a:sym typeface="+mn-ea"/>
              </a:rPr>
              <a:t>Query Planner</a:t>
            </a:r>
            <a:endParaRPr lang="zh-CN" altLang="en-US" sz="2800">
              <a:sym typeface="+mn-ea"/>
            </a:endParaRPr>
          </a:p>
        </p:txBody>
      </p:sp>
      <p:sp>
        <p:nvSpPr>
          <p:cNvPr id="10" name="文本框 9"/>
          <p:cNvSpPr txBox="1"/>
          <p:nvPr/>
        </p:nvSpPr>
        <p:spPr>
          <a:xfrm>
            <a:off x="4963795" y="5445760"/>
            <a:ext cx="1348105" cy="521970"/>
          </a:xfrm>
          <a:prstGeom prst="rect">
            <a:avLst/>
          </a:prstGeom>
          <a:noFill/>
        </p:spPr>
        <p:txBody>
          <a:bodyPr wrap="square" rtlCol="0" anchor="t">
            <a:spAutoFit/>
          </a:bodyPr>
          <a:lstStyle/>
          <a:p>
            <a:r>
              <a:rPr lang="zh-CN" altLang="en-US" sz="2800">
                <a:sym typeface="+mn-ea"/>
              </a:rPr>
              <a:t>解析树</a:t>
            </a:r>
            <a:endParaRPr lang="zh-CN" altLang="en-US" sz="2800">
              <a:sym typeface="+mn-ea"/>
            </a:endParaRPr>
          </a:p>
        </p:txBody>
      </p:sp>
      <p:cxnSp>
        <p:nvCxnSpPr>
          <p:cNvPr id="11" name="直接箭头连接符 10"/>
          <p:cNvCxnSpPr>
            <a:stCxn id="9" idx="2"/>
            <a:endCxn id="10" idx="0"/>
          </p:cNvCxnSpPr>
          <p:nvPr/>
        </p:nvCxnSpPr>
        <p:spPr>
          <a:xfrm flipH="1">
            <a:off x="5638165" y="4923155"/>
            <a:ext cx="200025" cy="52260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669530" y="5410200"/>
            <a:ext cx="3276600" cy="521970"/>
          </a:xfrm>
          <a:prstGeom prst="rect">
            <a:avLst/>
          </a:prstGeom>
          <a:noFill/>
        </p:spPr>
        <p:txBody>
          <a:bodyPr wrap="square" rtlCol="0" anchor="t">
            <a:spAutoFit/>
          </a:bodyPr>
          <a:lstStyle/>
          <a:p>
            <a:r>
              <a:rPr lang="zh-CN" altLang="en-US" sz="2800">
                <a:sym typeface="+mn-ea"/>
              </a:rPr>
              <a:t>若干</a:t>
            </a:r>
            <a:r>
              <a:rPr lang="en-US" altLang="zh-CN" sz="2800">
                <a:sym typeface="+mn-ea"/>
              </a:rPr>
              <a:t>PlanFragment</a:t>
            </a:r>
            <a:endParaRPr lang="en-US" altLang="zh-CN" sz="2800">
              <a:sym typeface="+mn-ea"/>
            </a:endParaRPr>
          </a:p>
        </p:txBody>
      </p:sp>
      <p:sp>
        <p:nvSpPr>
          <p:cNvPr id="13" name="文本框 12"/>
          <p:cNvSpPr txBox="1"/>
          <p:nvPr/>
        </p:nvSpPr>
        <p:spPr>
          <a:xfrm>
            <a:off x="7995285" y="4441190"/>
            <a:ext cx="3115945" cy="521970"/>
          </a:xfrm>
          <a:prstGeom prst="rect">
            <a:avLst/>
          </a:prstGeom>
          <a:noFill/>
        </p:spPr>
        <p:txBody>
          <a:bodyPr wrap="square" rtlCol="0" anchor="t">
            <a:spAutoFit/>
          </a:bodyPr>
          <a:lstStyle/>
          <a:p>
            <a:pPr algn="l"/>
            <a:r>
              <a:rPr lang="en-US" altLang="zh-CN" sz="2800">
                <a:sym typeface="+mn-ea"/>
              </a:rPr>
              <a:t>Query Coordinator</a:t>
            </a:r>
            <a:endParaRPr lang="en-US" altLang="zh-CN" sz="2800">
              <a:sym typeface="+mn-ea"/>
            </a:endParaRPr>
          </a:p>
        </p:txBody>
      </p:sp>
      <p:cxnSp>
        <p:nvCxnSpPr>
          <p:cNvPr id="14" name="直接箭头连接符 13"/>
          <p:cNvCxnSpPr>
            <a:stCxn id="10" idx="3"/>
            <a:endCxn id="12" idx="1"/>
          </p:cNvCxnSpPr>
          <p:nvPr/>
        </p:nvCxnSpPr>
        <p:spPr>
          <a:xfrm flipV="1">
            <a:off x="6311900" y="5671185"/>
            <a:ext cx="1357630" cy="3556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2" idx="0"/>
            <a:endCxn id="13" idx="2"/>
          </p:cNvCxnSpPr>
          <p:nvPr/>
        </p:nvCxnSpPr>
        <p:spPr>
          <a:xfrm flipV="1">
            <a:off x="9307830" y="4963160"/>
            <a:ext cx="245745" cy="44704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6" name="圆角矩形 15"/>
          <p:cNvSpPr/>
          <p:nvPr/>
        </p:nvSpPr>
        <p:spPr>
          <a:xfrm>
            <a:off x="969645" y="2569210"/>
            <a:ext cx="133858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Impala</a:t>
            </a:r>
            <a:endParaRPr lang="en-US" altLang="zh-CN" sz="2800"/>
          </a:p>
        </p:txBody>
      </p:sp>
      <p:cxnSp>
        <p:nvCxnSpPr>
          <p:cNvPr id="18" name="直接箭头连接符 17"/>
          <p:cNvCxnSpPr>
            <a:stCxn id="16" idx="3"/>
            <a:endCxn id="20" idx="1"/>
          </p:cNvCxnSpPr>
          <p:nvPr/>
        </p:nvCxnSpPr>
        <p:spPr>
          <a:xfrm>
            <a:off x="2308225" y="2850515"/>
            <a:ext cx="1943735"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2433320" y="2199005"/>
            <a:ext cx="1692910"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创建进程</a:t>
            </a:r>
            <a:endParaRPr lang="zh-CN" altLang="en-US" sz="2800"/>
          </a:p>
        </p:txBody>
      </p:sp>
      <p:sp>
        <p:nvSpPr>
          <p:cNvPr id="20" name="圆角矩形 19"/>
          <p:cNvSpPr/>
          <p:nvPr/>
        </p:nvSpPr>
        <p:spPr>
          <a:xfrm>
            <a:off x="4251960" y="2569210"/>
            <a:ext cx="1707515"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Impalad</a:t>
            </a:r>
            <a:endParaRPr lang="en-US" altLang="zh-CN" sz="2800"/>
          </a:p>
        </p:txBody>
      </p:sp>
      <p:cxnSp>
        <p:nvCxnSpPr>
          <p:cNvPr id="21" name="直接箭头连接符 20"/>
          <p:cNvCxnSpPr>
            <a:stCxn id="20" idx="3"/>
            <a:endCxn id="23" idx="1"/>
          </p:cNvCxnSpPr>
          <p:nvPr/>
        </p:nvCxnSpPr>
        <p:spPr>
          <a:xfrm>
            <a:off x="5959475" y="2850515"/>
            <a:ext cx="3479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圆角矩形 21"/>
          <p:cNvSpPr/>
          <p:nvPr/>
        </p:nvSpPr>
        <p:spPr>
          <a:xfrm>
            <a:off x="6085205" y="2199005"/>
            <a:ext cx="3188335"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提交注册订阅信息</a:t>
            </a:r>
            <a:endParaRPr lang="zh-CN" altLang="en-US" sz="2800"/>
          </a:p>
        </p:txBody>
      </p:sp>
      <p:sp>
        <p:nvSpPr>
          <p:cNvPr id="23" name="圆角矩形 22"/>
          <p:cNvSpPr/>
          <p:nvPr/>
        </p:nvSpPr>
        <p:spPr>
          <a:xfrm>
            <a:off x="9439275" y="2569210"/>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State Store</a:t>
            </a:r>
            <a:endParaRPr lang="en-US" altLang="zh-CN" sz="2800"/>
          </a:p>
        </p:txBody>
      </p:sp>
      <p:sp>
        <p:nvSpPr>
          <p:cNvPr id="24" name="文本框 23"/>
          <p:cNvSpPr txBox="1"/>
          <p:nvPr/>
        </p:nvSpPr>
        <p:spPr>
          <a:xfrm>
            <a:off x="969645" y="1553845"/>
            <a:ext cx="2970530" cy="4603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t">
            <a:spAutoFit/>
          </a:bodyPr>
          <a:lstStyle/>
          <a:p>
            <a:pPr marR="0" lvl="0" indent="0" algn="l" defTabSz="914400" rtl="0" eaLnBrk="1" fontAlgn="base" latinLnBrk="0" hangingPunct="1">
              <a:lnSpc>
                <a:spcPct val="100000"/>
              </a:lnSpc>
              <a:spcBef>
                <a:spcPct val="0"/>
              </a:spcBef>
              <a:spcAft>
                <a:spcPct val="0"/>
              </a:spcAft>
              <a:buClrTx/>
              <a:buSzTx/>
              <a:buNone/>
              <a:defRPr/>
            </a:pP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第</a:t>
            </a: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1</a:t>
            </a: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步：注册和订阅</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5" name="文本框 24"/>
          <p:cNvSpPr txBox="1"/>
          <p:nvPr/>
        </p:nvSpPr>
        <p:spPr>
          <a:xfrm>
            <a:off x="969645" y="3221990"/>
            <a:ext cx="2970530" cy="4603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t">
            <a:spAutoFit/>
          </a:bodyPr>
          <a:lstStyle/>
          <a:p>
            <a:pPr marR="0" lvl="0" algn="l" defTabSz="914400" rtl="0" eaLnBrk="1" fontAlgn="base" latinLnBrk="0" hangingPunct="1">
              <a:lnSpc>
                <a:spcPct val="100000"/>
              </a:lnSpc>
              <a:buClrTx/>
              <a:buSzTx/>
              <a:buFontTx/>
              <a:buNone/>
              <a:defRPr/>
            </a:pP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第2步：提交查询</a:t>
            </a:r>
            <a:endPar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6" name="文本框 25"/>
          <p:cNvSpPr txBox="1"/>
          <p:nvPr/>
        </p:nvSpPr>
        <p:spPr>
          <a:xfrm>
            <a:off x="4451350" y="6193155"/>
            <a:ext cx="7055485" cy="534035"/>
          </a:xfrm>
          <a:prstGeom prst="rect">
            <a:avLst/>
          </a:prstGeom>
          <a:noFill/>
        </p:spPr>
        <p:txBody>
          <a:bodyPr wrap="square" rtlCol="0" anchor="t">
            <a:spAutoFit/>
          </a:bodyPr>
          <a:lstStyle/>
          <a:p>
            <a:pPr marR="0" lvl="0" indent="0" algn="just" defTabSz="914400" rtl="0" eaLnBrk="0" fontAlgn="base" latinLnBrk="0" hangingPunct="0">
              <a:lnSpc>
                <a:spcPct val="120000"/>
              </a:lnSpc>
              <a:spcBef>
                <a:spcPts val="600"/>
              </a:spcBef>
              <a:spcAft>
                <a:spcPts val="700"/>
              </a:spcAft>
              <a:buClrTx/>
              <a:buSzTx/>
              <a:buFont typeface="Arial" panose="020B0604020202020204" pitchFamily="34" charset="0"/>
              <a:buNone/>
              <a:defRPr/>
            </a:pP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PlanNode:</a:t>
            </a: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一个关系操作和对其执行优化需要的信息</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7" name="左大括号 26"/>
          <p:cNvSpPr/>
          <p:nvPr/>
        </p:nvSpPr>
        <p:spPr>
          <a:xfrm rot="5400000">
            <a:off x="7804150" y="2761615"/>
            <a:ext cx="243205" cy="6654800"/>
          </a:xfrm>
          <a:prstGeom prst="leftBrace">
            <a:avLst>
              <a:gd name="adj1" fmla="val 8333"/>
              <a:gd name="adj2" fmla="val 30720"/>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500"/>
                                        <p:tgtEl>
                                          <p:spTgt spid="1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500"/>
                                        <p:tgtEl>
                                          <p:spTgt spid="18"/>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left)">
                                      <p:cBhvr>
                                        <p:cTn id="18" dur="500"/>
                                        <p:tgtEl>
                                          <p:spTgt spid="19"/>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500"/>
                                        <p:tgtEl>
                                          <p:spTgt spid="3"/>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par>
                                <p:cTn id="49" presetID="22" presetClass="entr" presetSubtype="8" fill="hold"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left)">
                                      <p:cBhvr>
                                        <p:cTn id="51" dur="500"/>
                                        <p:tgtEl>
                                          <p:spTgt spid="5"/>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wipe(left)">
                                      <p:cBhvr>
                                        <p:cTn id="54" dur="500"/>
                                        <p:tgtEl>
                                          <p:spTgt spid="6"/>
                                        </p:tgtEl>
                                      </p:cBhvr>
                                    </p:animEffect>
                                  </p:childTnLst>
                                </p:cTn>
                              </p:par>
                            </p:childTnLst>
                          </p:cTn>
                        </p:par>
                        <p:par>
                          <p:cTn id="55" fill="hold">
                            <p:stCondLst>
                              <p:cond delay="1000"/>
                            </p:stCondLst>
                            <p:childTnLst>
                              <p:par>
                                <p:cTn id="56" presetID="22" presetClass="entr" presetSubtype="1" fill="hold" grpId="0" nodeType="after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up)">
                                      <p:cBhvr>
                                        <p:cTn id="58" dur="500"/>
                                        <p:tgtEl>
                                          <p:spTgt spid="4"/>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up)">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up)">
                                      <p:cBhvr>
                                        <p:cTn id="66" dur="500"/>
                                        <p:tgtEl>
                                          <p:spTgt spid="9"/>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up)">
                                      <p:cBhvr>
                                        <p:cTn id="70" dur="500"/>
                                        <p:tgtEl>
                                          <p:spTgt spid="11"/>
                                        </p:tgtEl>
                                      </p:cBhvr>
                                    </p:animEffect>
                                  </p:childTnLst>
                                </p:cTn>
                              </p:par>
                            </p:childTnLst>
                          </p:cTn>
                        </p:par>
                        <p:par>
                          <p:cTn id="71" fill="hold">
                            <p:stCondLst>
                              <p:cond delay="1000"/>
                            </p:stCondLst>
                            <p:childTnLst>
                              <p:par>
                                <p:cTn id="72" presetID="22" presetClass="entr" presetSubtype="1" fill="hold" grpId="0" nodeType="afterEffect">
                                  <p:stCondLst>
                                    <p:cond delay="0"/>
                                  </p:stCondLst>
                                  <p:childTnLst>
                                    <p:set>
                                      <p:cBhvr>
                                        <p:cTn id="73" dur="1" fill="hold">
                                          <p:stCondLst>
                                            <p:cond delay="0"/>
                                          </p:stCondLst>
                                        </p:cTn>
                                        <p:tgtEl>
                                          <p:spTgt spid="10"/>
                                        </p:tgtEl>
                                        <p:attrNameLst>
                                          <p:attrName>style.visibility</p:attrName>
                                        </p:attrNameLst>
                                      </p:cBhvr>
                                      <p:to>
                                        <p:strVal val="visible"/>
                                      </p:to>
                                    </p:set>
                                    <p:animEffect transition="in" filter="wipe(up)">
                                      <p:cBhvr>
                                        <p:cTn id="74" dur="500"/>
                                        <p:tgtEl>
                                          <p:spTgt spid="1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left)">
                                      <p:cBhvr>
                                        <p:cTn id="79" dur="500"/>
                                        <p:tgtEl>
                                          <p:spTgt spid="14"/>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wipe(left)">
                                      <p:cBhvr>
                                        <p:cTn id="83" dur="500"/>
                                        <p:tgtEl>
                                          <p:spTgt spid="1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15"/>
                                        </p:tgtEl>
                                        <p:attrNameLst>
                                          <p:attrName>style.visibility</p:attrName>
                                        </p:attrNameLst>
                                      </p:cBhvr>
                                      <p:to>
                                        <p:strVal val="visible"/>
                                      </p:to>
                                    </p:set>
                                    <p:animEffect transition="in" filter="wipe(down)">
                                      <p:cBhvr>
                                        <p:cTn id="88" dur="500"/>
                                        <p:tgtEl>
                                          <p:spTgt spid="15"/>
                                        </p:tgtEl>
                                      </p:cBhvr>
                                    </p:animEffect>
                                  </p:childTnLst>
                                </p:cTn>
                              </p:par>
                            </p:childTnLst>
                          </p:cTn>
                        </p:par>
                        <p:par>
                          <p:cTn id="89" fill="hold">
                            <p:stCondLst>
                              <p:cond delay="500"/>
                            </p:stCondLst>
                            <p:childTnLst>
                              <p:par>
                                <p:cTn id="90" presetID="22" presetClass="entr" presetSubtype="4" fill="hold" grpId="0" nodeType="afterEffect">
                                  <p:stCondLst>
                                    <p:cond delay="0"/>
                                  </p:stCondLst>
                                  <p:childTnLst>
                                    <p:set>
                                      <p:cBhvr>
                                        <p:cTn id="91" dur="1" fill="hold">
                                          <p:stCondLst>
                                            <p:cond delay="0"/>
                                          </p:stCondLst>
                                        </p:cTn>
                                        <p:tgtEl>
                                          <p:spTgt spid="13"/>
                                        </p:tgtEl>
                                        <p:attrNameLst>
                                          <p:attrName>style.visibility</p:attrName>
                                        </p:attrNameLst>
                                      </p:cBhvr>
                                      <p:to>
                                        <p:strVal val="visible"/>
                                      </p:to>
                                    </p:set>
                                    <p:animEffect transition="in" filter="wipe(down)">
                                      <p:cBhvr>
                                        <p:cTn id="92" dur="500"/>
                                        <p:tgtEl>
                                          <p:spTgt spid="13"/>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animEffect transition="in" filter="blinds(horizontal)">
                                      <p:cBhvr>
                                        <p:cTn id="97" dur="500"/>
                                        <p:tgtEl>
                                          <p:spTgt spid="27"/>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blinds(horizontal)">
                                      <p:cBhvr>
                                        <p:cTn id="10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1"/>
      <p:bldP spid="3" grpId="0" animBg="1"/>
      <p:bldP spid="3" grpId="1" animBg="1"/>
      <p:bldP spid="4" grpId="0" animBg="1"/>
      <p:bldP spid="4" grpId="1" animBg="1"/>
      <p:bldP spid="6" grpId="0" animBg="1"/>
      <p:bldP spid="6" grpId="1" animBg="1"/>
      <p:bldP spid="7" grpId="0" animBg="1"/>
      <p:bldP spid="7" grpId="1" animBg="1"/>
      <p:bldP spid="8" grpId="0"/>
      <p:bldP spid="8" grpId="1"/>
      <p:bldP spid="9" grpId="0"/>
      <p:bldP spid="9" grpId="1"/>
      <p:bldP spid="10" grpId="0"/>
      <p:bldP spid="10" grpId="1"/>
      <p:bldP spid="12" grpId="0"/>
      <p:bldP spid="12" grpId="1"/>
      <p:bldP spid="13" grpId="0"/>
      <p:bldP spid="13" grpId="1"/>
      <p:bldP spid="16" grpId="0" animBg="1"/>
      <p:bldP spid="16" grpId="1" animBg="1"/>
      <p:bldP spid="19" grpId="0" animBg="1"/>
      <p:bldP spid="19" grpId="1" animBg="1"/>
      <p:bldP spid="20" grpId="0" animBg="1"/>
      <p:bldP spid="20" grpId="1" animBg="1"/>
      <p:bldP spid="22" grpId="0" animBg="1"/>
      <p:bldP spid="22" grpId="1" animBg="1"/>
      <p:bldP spid="23" grpId="0" animBg="1"/>
      <p:bldP spid="23" grpId="1" animBg="1"/>
      <p:bldP spid="24" grpId="0" animBg="1"/>
      <p:bldP spid="24" grpId="1" animBg="1"/>
      <p:bldP spid="25" grpId="0" animBg="1"/>
      <p:bldP spid="25" grpId="1" animBg="1"/>
      <p:bldP spid="26" grpId="0"/>
      <p:bldP spid="26" grpId="1"/>
      <p:bldP spid="27" grpId="0" animBg="1"/>
      <p:bldP spid="27"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vert="horz" wrap="square" lIns="91440" tIns="45720" rIns="91440" bIns="45720" anchor="ctr" anchorCtr="0"/>
          <a:lstStyle/>
          <a:p>
            <a:r>
              <a:rPr lang="en-US" altLang="zh-CN" b="1" dirty="0">
                <a:sym typeface="+mn-ea"/>
              </a:rPr>
              <a:t>9.5.3 Impala</a:t>
            </a:r>
            <a:r>
              <a:rPr lang="zh-CN" altLang="en-US" b="1" dirty="0">
                <a:sym typeface="+mn-ea"/>
              </a:rPr>
              <a:t>查询执行过程</a:t>
            </a:r>
            <a:endParaRPr lang="zh-CN" altLang="en-US" dirty="0"/>
          </a:p>
        </p:txBody>
      </p:sp>
      <p:sp>
        <p:nvSpPr>
          <p:cNvPr id="44035" name="Rectangle 5"/>
          <p:cNvSpPr/>
          <p:nvPr/>
        </p:nvSpPr>
        <p:spPr>
          <a:xfrm>
            <a:off x="1801495" y="2617153"/>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4" name="圆角矩形 3"/>
          <p:cNvSpPr/>
          <p:nvPr/>
        </p:nvSpPr>
        <p:spPr>
          <a:xfrm>
            <a:off x="4466590" y="3849370"/>
            <a:ext cx="7040245" cy="2118360"/>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2800"/>
          </a:p>
        </p:txBody>
      </p:sp>
      <p:sp>
        <p:nvSpPr>
          <p:cNvPr id="8" name="文本框 7"/>
          <p:cNvSpPr txBox="1"/>
          <p:nvPr/>
        </p:nvSpPr>
        <p:spPr>
          <a:xfrm>
            <a:off x="6844665" y="3879215"/>
            <a:ext cx="2284095" cy="521970"/>
          </a:xfrm>
          <a:prstGeom prst="rect">
            <a:avLst/>
          </a:prstGeom>
          <a:noFill/>
        </p:spPr>
        <p:txBody>
          <a:bodyPr wrap="square" rtlCol="0" anchor="t">
            <a:spAutoFit/>
          </a:bodyPr>
          <a:lstStyle/>
          <a:p>
            <a:pPr algn="ctr"/>
            <a:r>
              <a:rPr lang="en-US" altLang="zh-CN" sz="2800">
                <a:sym typeface="+mn-ea"/>
              </a:rPr>
              <a:t>Impalad</a:t>
            </a:r>
            <a:r>
              <a:rPr lang="zh-CN" altLang="en-US" sz="2800">
                <a:sym typeface="+mn-ea"/>
              </a:rPr>
              <a:t>进程</a:t>
            </a:r>
            <a:endParaRPr lang="zh-CN" altLang="en-US" sz="2800">
              <a:sym typeface="+mn-ea"/>
            </a:endParaRPr>
          </a:p>
        </p:txBody>
      </p:sp>
      <p:sp>
        <p:nvSpPr>
          <p:cNvPr id="13" name="文本框 12"/>
          <p:cNvSpPr txBox="1"/>
          <p:nvPr/>
        </p:nvSpPr>
        <p:spPr>
          <a:xfrm>
            <a:off x="7995285" y="4441190"/>
            <a:ext cx="3115945" cy="521970"/>
          </a:xfrm>
          <a:prstGeom prst="rect">
            <a:avLst/>
          </a:prstGeom>
          <a:noFill/>
        </p:spPr>
        <p:txBody>
          <a:bodyPr wrap="square" rtlCol="0" anchor="t">
            <a:spAutoFit/>
          </a:bodyPr>
          <a:lstStyle/>
          <a:p>
            <a:pPr algn="l"/>
            <a:r>
              <a:rPr lang="en-US" altLang="zh-CN" sz="2800">
                <a:sym typeface="+mn-ea"/>
              </a:rPr>
              <a:t>Query Coordinator</a:t>
            </a:r>
            <a:endParaRPr lang="en-US" altLang="zh-CN" sz="2800">
              <a:sym typeface="+mn-ea"/>
            </a:endParaRPr>
          </a:p>
        </p:txBody>
      </p:sp>
      <p:cxnSp>
        <p:nvCxnSpPr>
          <p:cNvPr id="15" name="直接箭头连接符 14"/>
          <p:cNvCxnSpPr>
            <a:stCxn id="13" idx="1"/>
          </p:cNvCxnSpPr>
          <p:nvPr/>
        </p:nvCxnSpPr>
        <p:spPr>
          <a:xfrm flipH="1">
            <a:off x="4147820" y="4702175"/>
            <a:ext cx="3847465" cy="47561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0"/>
            <a:endCxn id="20" idx="2"/>
          </p:cNvCxnSpPr>
          <p:nvPr/>
        </p:nvCxnSpPr>
        <p:spPr>
          <a:xfrm flipV="1">
            <a:off x="9553575" y="3013075"/>
            <a:ext cx="0" cy="142811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9813925" y="3177540"/>
            <a:ext cx="1692910"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哪些数据</a:t>
            </a:r>
            <a:endParaRPr lang="zh-CN" altLang="en-US" sz="2800"/>
          </a:p>
        </p:txBody>
      </p:sp>
      <p:sp>
        <p:nvSpPr>
          <p:cNvPr id="20" name="圆角矩形 19"/>
          <p:cNvSpPr/>
          <p:nvPr/>
        </p:nvSpPr>
        <p:spPr>
          <a:xfrm>
            <a:off x="8618220" y="2158365"/>
            <a:ext cx="1870075" cy="85471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MySQL</a:t>
            </a:r>
            <a:endParaRPr lang="en-US" altLang="zh-CN" sz="2800"/>
          </a:p>
          <a:p>
            <a:pPr algn="ctr"/>
            <a:r>
              <a:rPr lang="zh-CN" altLang="en-US" sz="2800"/>
              <a:t>元数据库</a:t>
            </a:r>
            <a:endParaRPr lang="zh-CN" altLang="en-US" sz="2800"/>
          </a:p>
        </p:txBody>
      </p:sp>
      <p:cxnSp>
        <p:nvCxnSpPr>
          <p:cNvPr id="21" name="直接箭头连接符 20"/>
          <p:cNvCxnSpPr>
            <a:stCxn id="20" idx="1"/>
            <a:endCxn id="23" idx="3"/>
          </p:cNvCxnSpPr>
          <p:nvPr/>
        </p:nvCxnSpPr>
        <p:spPr>
          <a:xfrm flipH="1">
            <a:off x="3037205" y="2585720"/>
            <a:ext cx="5581015" cy="1333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2" name="圆角矩形 21"/>
          <p:cNvSpPr/>
          <p:nvPr/>
        </p:nvSpPr>
        <p:spPr>
          <a:xfrm>
            <a:off x="5207635" y="2014220"/>
            <a:ext cx="1776730"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数据位置</a:t>
            </a:r>
            <a:endParaRPr lang="zh-CN" altLang="en-US" sz="2800"/>
          </a:p>
        </p:txBody>
      </p:sp>
      <p:sp>
        <p:nvSpPr>
          <p:cNvPr id="23" name="圆角矩形 22"/>
          <p:cNvSpPr/>
          <p:nvPr/>
        </p:nvSpPr>
        <p:spPr>
          <a:xfrm>
            <a:off x="969645" y="2317750"/>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NN</a:t>
            </a:r>
            <a:endParaRPr lang="en-US" altLang="zh-CN" sz="2800"/>
          </a:p>
        </p:txBody>
      </p:sp>
      <p:sp>
        <p:nvSpPr>
          <p:cNvPr id="24" name="文本框 23"/>
          <p:cNvSpPr txBox="1"/>
          <p:nvPr/>
        </p:nvSpPr>
        <p:spPr>
          <a:xfrm>
            <a:off x="969645" y="1553845"/>
            <a:ext cx="4339590" cy="4603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t">
            <a:spAutoFit/>
          </a:bodyPr>
          <a:lstStyle/>
          <a:p>
            <a:pPr marR="0" lvl="0" indent="0" algn="l" defTabSz="914400" rtl="0" eaLnBrk="1" fontAlgn="base" latinLnBrk="0" hangingPunct="1">
              <a:lnSpc>
                <a:spcPct val="100000"/>
              </a:lnSpc>
              <a:spcBef>
                <a:spcPct val="0"/>
              </a:spcBef>
              <a:spcAft>
                <a:spcPct val="0"/>
              </a:spcAft>
              <a:buClrTx/>
              <a:buSzTx/>
              <a:buNone/>
              <a:defRPr/>
            </a:pP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第</a:t>
            </a: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3</a:t>
            </a: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步：获取元数据与数据地址</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5" name="文本框 24"/>
          <p:cNvSpPr txBox="1"/>
          <p:nvPr/>
        </p:nvSpPr>
        <p:spPr>
          <a:xfrm>
            <a:off x="969645" y="3279140"/>
            <a:ext cx="4339590" cy="4603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t">
            <a:spAutoFit/>
          </a:bodyPr>
          <a:lstStyle/>
          <a:p>
            <a:pPr marR="0" lvl="0" algn="l" defTabSz="914400" rtl="0" eaLnBrk="1" fontAlgn="base" latinLnBrk="0" hangingPunct="1">
              <a:lnSpc>
                <a:spcPct val="100000"/>
              </a:lnSpc>
              <a:buClrTx/>
              <a:buSzTx/>
              <a:buFontTx/>
              <a:buNone/>
              <a:defRPr/>
            </a:pP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第4步：</a:t>
            </a: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分发查询任务</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6" name="文本框 25"/>
          <p:cNvSpPr txBox="1"/>
          <p:nvPr/>
        </p:nvSpPr>
        <p:spPr>
          <a:xfrm rot="21180000">
            <a:off x="5862320" y="4987925"/>
            <a:ext cx="2075180" cy="534035"/>
          </a:xfrm>
          <a:prstGeom prst="rect">
            <a:avLst/>
          </a:prstGeom>
          <a:noFill/>
        </p:spPr>
        <p:txBody>
          <a:bodyPr wrap="square" rtlCol="0" anchor="t">
            <a:spAutoFit/>
          </a:bodyPr>
          <a:lstStyle/>
          <a:p>
            <a:pPr marR="0" lvl="0" indent="0" algn="just" defTabSz="914400" rtl="0" eaLnBrk="0" fontAlgn="base" latinLnBrk="0" hangingPunct="0">
              <a:lnSpc>
                <a:spcPct val="120000"/>
              </a:lnSpc>
              <a:spcBef>
                <a:spcPts val="600"/>
              </a:spcBef>
              <a:spcAft>
                <a:spcPts val="700"/>
              </a:spcAft>
              <a:buClrTx/>
              <a:buSzTx/>
              <a:buFont typeface="Arial" panose="020B0604020202020204" pitchFamily="34" charset="0"/>
              <a:buNone/>
              <a:defRPr/>
            </a:pP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分发</a:t>
            </a: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PlanNode</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 name="圆角矩形 1"/>
          <p:cNvSpPr/>
          <p:nvPr>
            <p:custDataLst>
              <p:tags r:id="rId1"/>
            </p:custDataLst>
          </p:nvPr>
        </p:nvSpPr>
        <p:spPr>
          <a:xfrm>
            <a:off x="1096645" y="600265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DN</a:t>
            </a:r>
            <a:endParaRPr lang="en-US" altLang="zh-CN" sz="2800"/>
          </a:p>
        </p:txBody>
      </p:sp>
      <p:sp>
        <p:nvSpPr>
          <p:cNvPr id="17" name="圆角矩形 16"/>
          <p:cNvSpPr/>
          <p:nvPr>
            <p:custDataLst>
              <p:tags r:id="rId2"/>
            </p:custDataLst>
          </p:nvPr>
        </p:nvSpPr>
        <p:spPr>
          <a:xfrm>
            <a:off x="1096645" y="494347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a:t>
            </a:r>
            <a:endParaRPr lang="en-US" altLang="zh-CN" sz="2800"/>
          </a:p>
        </p:txBody>
      </p:sp>
      <p:sp>
        <p:nvSpPr>
          <p:cNvPr id="28" name="圆角矩形 27"/>
          <p:cNvSpPr/>
          <p:nvPr>
            <p:custDataLst>
              <p:tags r:id="rId3"/>
            </p:custDataLst>
          </p:nvPr>
        </p:nvSpPr>
        <p:spPr>
          <a:xfrm>
            <a:off x="1096645" y="388175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DN</a:t>
            </a:r>
            <a:endParaRPr lang="en-US" altLang="zh-CN" sz="2800"/>
          </a:p>
        </p:txBody>
      </p:sp>
      <p:sp>
        <p:nvSpPr>
          <p:cNvPr id="29" name="左大括号 28"/>
          <p:cNvSpPr/>
          <p:nvPr>
            <p:custDataLst>
              <p:tags r:id="rId4"/>
            </p:custDataLst>
          </p:nvPr>
        </p:nvSpPr>
        <p:spPr>
          <a:xfrm rot="10800000">
            <a:off x="3532505" y="3946525"/>
            <a:ext cx="486410" cy="2618740"/>
          </a:xfrm>
          <a:prstGeom prst="leftBrace">
            <a:avLst>
              <a:gd name="adj1" fmla="val 8333"/>
              <a:gd name="adj2" fmla="val 50441"/>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圆角矩形 29"/>
          <p:cNvSpPr/>
          <p:nvPr>
            <p:custDataLst>
              <p:tags r:id="rId5"/>
            </p:custDataLst>
          </p:nvPr>
        </p:nvSpPr>
        <p:spPr>
          <a:xfrm>
            <a:off x="4438650" y="6109335"/>
            <a:ext cx="704723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DN</a:t>
            </a:r>
            <a:endParaRPr lang="en-US" altLang="zh-CN" sz="2800"/>
          </a:p>
        </p:txBody>
      </p:sp>
      <p:cxnSp>
        <p:nvCxnSpPr>
          <p:cNvPr id="31" name="直接箭头连接符 30"/>
          <p:cNvCxnSpPr>
            <a:endCxn id="30" idx="0"/>
          </p:cNvCxnSpPr>
          <p:nvPr>
            <p:custDataLst>
              <p:tags r:id="rId6"/>
            </p:custDataLst>
          </p:nvPr>
        </p:nvCxnSpPr>
        <p:spPr>
          <a:xfrm flipH="1">
            <a:off x="7962265" y="4792345"/>
            <a:ext cx="161925" cy="131699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left)">
                                      <p:cBhvr>
                                        <p:cTn id="14" dur="500"/>
                                        <p:tgtEl>
                                          <p:spTgt spid="19"/>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right)">
                                      <p:cBhvr>
                                        <p:cTn id="23" dur="500"/>
                                        <p:tgtEl>
                                          <p:spTgt spid="21"/>
                                        </p:tgtEl>
                                      </p:cBhvr>
                                    </p:animEffect>
                                  </p:childTnLst>
                                </p:cTn>
                              </p:par>
                              <p:par>
                                <p:cTn id="24" presetID="22" presetClass="entr" presetSubtype="2"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right)">
                                      <p:cBhvr>
                                        <p:cTn id="26" dur="500"/>
                                        <p:tgtEl>
                                          <p:spTgt spid="22"/>
                                        </p:tgtEl>
                                      </p:cBhvr>
                                    </p:animEffect>
                                  </p:childTnLst>
                                </p:cTn>
                              </p:par>
                            </p:childTnLst>
                          </p:cTn>
                        </p:par>
                        <p:par>
                          <p:cTn id="27" fill="hold">
                            <p:stCondLst>
                              <p:cond delay="500"/>
                            </p:stCondLst>
                            <p:childTnLst>
                              <p:par>
                                <p:cTn id="28" presetID="22" presetClass="entr" presetSubtype="2" fill="hold" grpId="0"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right)">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down)">
                                      <p:cBhvr>
                                        <p:cTn id="40" dur="500"/>
                                        <p:tgtEl>
                                          <p:spTgt spid="15"/>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blinds(horizontal)">
                                      <p:cBhvr>
                                        <p:cTn id="43" dur="500"/>
                                        <p:tgtEl>
                                          <p:spTgt spid="26"/>
                                        </p:tgtEl>
                                      </p:cBhvr>
                                    </p:animEffect>
                                  </p:childTnLst>
                                </p:cTn>
                              </p:par>
                            </p:childTnLst>
                          </p:cTn>
                        </p:par>
                        <p:par>
                          <p:cTn id="44" fill="hold">
                            <p:stCondLst>
                              <p:cond delay="500"/>
                            </p:stCondLst>
                            <p:childTnLst>
                              <p:par>
                                <p:cTn id="45" presetID="3" presetClass="entr" presetSubtype="10"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blinds(horizontal)">
                                      <p:cBhvr>
                                        <p:cTn id="47" dur="500"/>
                                        <p:tgtEl>
                                          <p:spTgt spid="29"/>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left)">
                                      <p:cBhvr>
                                        <p:cTn id="51" dur="500"/>
                                        <p:tgtEl>
                                          <p:spTgt spid="2"/>
                                        </p:tgtEl>
                                      </p:cBhvr>
                                    </p:animEffect>
                                  </p:childTnLst>
                                </p:cTn>
                              </p:par>
                            </p:childTnLst>
                          </p:cTn>
                        </p:par>
                        <p:par>
                          <p:cTn id="52" fill="hold">
                            <p:stCondLst>
                              <p:cond delay="1500"/>
                            </p:stCondLst>
                            <p:childTnLst>
                              <p:par>
                                <p:cTn id="53" presetID="22" presetClass="entr" presetSubtype="8"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childTnLst>
                          </p:cTn>
                        </p:par>
                        <p:par>
                          <p:cTn id="56" fill="hold">
                            <p:stCondLst>
                              <p:cond delay="2000"/>
                            </p:stCondLst>
                            <p:childTnLst>
                              <p:par>
                                <p:cTn id="57" presetID="22" presetClass="entr" presetSubtype="8"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wipe(left)">
                                      <p:cBhvr>
                                        <p:cTn id="59" dur="5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down)">
                                      <p:cBhvr>
                                        <p:cTn id="64" dur="500"/>
                                        <p:tgtEl>
                                          <p:spTgt spid="31"/>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wipe(left)">
                                      <p:cBhvr>
                                        <p:cTn id="6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1"/>
      <p:bldP spid="19" grpId="0" bldLvl="0" animBg="1"/>
      <p:bldP spid="19" grpId="1" animBg="1"/>
      <p:bldP spid="20" grpId="0" bldLvl="0" animBg="1"/>
      <p:bldP spid="20" grpId="1" animBg="1"/>
      <p:bldP spid="22" grpId="0" bldLvl="0" animBg="1"/>
      <p:bldP spid="22" grpId="1" animBg="1"/>
      <p:bldP spid="23" grpId="0" bldLvl="0" animBg="1"/>
      <p:bldP spid="23" grpId="1" animBg="1"/>
      <p:bldP spid="24" grpId="0" bldLvl="0" animBg="1"/>
      <p:bldP spid="24" grpId="1" animBg="1"/>
      <p:bldP spid="25" grpId="0" bldLvl="0" animBg="1"/>
      <p:bldP spid="25" grpId="1" animBg="1"/>
      <p:bldP spid="26" grpId="0"/>
      <p:bldP spid="26" grpId="1"/>
      <p:bldP spid="2" grpId="0" bldLvl="0" animBg="1"/>
      <p:bldP spid="2" grpId="1" animBg="1"/>
      <p:bldP spid="17" grpId="0" bldLvl="0" animBg="1"/>
      <p:bldP spid="17" grpId="1" animBg="1"/>
      <p:bldP spid="28" grpId="0" bldLvl="0" animBg="1"/>
      <p:bldP spid="28" grpId="1" animBg="1"/>
      <p:bldP spid="29" grpId="0" bldLvl="0" animBg="1"/>
      <p:bldP spid="29" grpId="1" animBg="1"/>
      <p:bldP spid="30" grpId="0" bldLvl="0" animBg="1"/>
      <p:bldP spid="30"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p:txBody>
          <a:bodyPr vert="horz" wrap="square" lIns="91440" tIns="45720" rIns="91440" bIns="45720" anchor="ctr" anchorCtr="0"/>
          <a:lstStyle/>
          <a:p>
            <a:r>
              <a:rPr lang="en-US" altLang="zh-CN" b="1" dirty="0">
                <a:sym typeface="+mn-ea"/>
              </a:rPr>
              <a:t>9.5.3 Impala</a:t>
            </a:r>
            <a:r>
              <a:rPr lang="zh-CN" altLang="en-US" b="1" dirty="0">
                <a:sym typeface="+mn-ea"/>
              </a:rPr>
              <a:t>查询执行过程</a:t>
            </a:r>
            <a:endParaRPr lang="zh-CN" altLang="en-US" dirty="0"/>
          </a:p>
        </p:txBody>
      </p:sp>
      <p:sp>
        <p:nvSpPr>
          <p:cNvPr id="44035" name="Rectangle 5"/>
          <p:cNvSpPr/>
          <p:nvPr/>
        </p:nvSpPr>
        <p:spPr>
          <a:xfrm>
            <a:off x="1801495" y="2617153"/>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4" name="圆角矩形 3"/>
          <p:cNvSpPr/>
          <p:nvPr/>
        </p:nvSpPr>
        <p:spPr>
          <a:xfrm>
            <a:off x="4466590" y="3849370"/>
            <a:ext cx="7040245" cy="2118360"/>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2800"/>
          </a:p>
        </p:txBody>
      </p:sp>
      <p:sp>
        <p:nvSpPr>
          <p:cNvPr id="8" name="文本框 7"/>
          <p:cNvSpPr txBox="1"/>
          <p:nvPr/>
        </p:nvSpPr>
        <p:spPr>
          <a:xfrm>
            <a:off x="6844665" y="3879215"/>
            <a:ext cx="2284095" cy="521970"/>
          </a:xfrm>
          <a:prstGeom prst="rect">
            <a:avLst/>
          </a:prstGeom>
          <a:noFill/>
        </p:spPr>
        <p:txBody>
          <a:bodyPr wrap="square" rtlCol="0" anchor="t">
            <a:spAutoFit/>
          </a:bodyPr>
          <a:lstStyle/>
          <a:p>
            <a:pPr algn="ctr"/>
            <a:r>
              <a:rPr lang="en-US" altLang="zh-CN" sz="2800">
                <a:sym typeface="+mn-ea"/>
              </a:rPr>
              <a:t>Impalad</a:t>
            </a:r>
            <a:r>
              <a:rPr lang="zh-CN" altLang="en-US" sz="2800">
                <a:sym typeface="+mn-ea"/>
              </a:rPr>
              <a:t>进程</a:t>
            </a:r>
            <a:endParaRPr lang="zh-CN" altLang="en-US" sz="2800">
              <a:sym typeface="+mn-ea"/>
            </a:endParaRPr>
          </a:p>
        </p:txBody>
      </p:sp>
      <p:sp>
        <p:nvSpPr>
          <p:cNvPr id="13" name="文本框 12"/>
          <p:cNvSpPr txBox="1"/>
          <p:nvPr/>
        </p:nvSpPr>
        <p:spPr>
          <a:xfrm>
            <a:off x="7995285" y="4441190"/>
            <a:ext cx="3115945" cy="521970"/>
          </a:xfrm>
          <a:prstGeom prst="rect">
            <a:avLst/>
          </a:prstGeom>
          <a:noFill/>
        </p:spPr>
        <p:txBody>
          <a:bodyPr wrap="square" rtlCol="0" anchor="t">
            <a:spAutoFit/>
          </a:bodyPr>
          <a:lstStyle/>
          <a:p>
            <a:pPr algn="l"/>
            <a:r>
              <a:rPr lang="en-US" altLang="zh-CN" sz="2800">
                <a:sym typeface="+mn-ea"/>
              </a:rPr>
              <a:t>Query Coordinator</a:t>
            </a:r>
            <a:endParaRPr lang="en-US" altLang="zh-CN" sz="2800">
              <a:sym typeface="+mn-ea"/>
            </a:endParaRPr>
          </a:p>
        </p:txBody>
      </p:sp>
      <p:cxnSp>
        <p:nvCxnSpPr>
          <p:cNvPr id="15" name="直接箭头连接符 14"/>
          <p:cNvCxnSpPr>
            <a:stCxn id="29" idx="1"/>
            <a:endCxn id="13" idx="1"/>
          </p:cNvCxnSpPr>
          <p:nvPr/>
        </p:nvCxnSpPr>
        <p:spPr>
          <a:xfrm flipV="1">
            <a:off x="3825240" y="4702175"/>
            <a:ext cx="4170045" cy="34290"/>
          </a:xfrm>
          <a:prstGeom prst="straightConnector1">
            <a:avLst/>
          </a:prstGeom>
          <a:ln w="28575">
            <a:tailEnd type="arrow" w="med" len="med"/>
          </a:ln>
        </p:spPr>
        <p:style>
          <a:lnRef idx="3">
            <a:schemeClr val="accent6"/>
          </a:lnRef>
          <a:fillRef idx="0">
            <a:schemeClr val="accent6"/>
          </a:fillRef>
          <a:effectRef idx="2">
            <a:schemeClr val="accent6"/>
          </a:effectRef>
          <a:fontRef idx="minor">
            <a:schemeClr val="tx1"/>
          </a:fontRef>
        </p:style>
      </p:cxnSp>
      <p:cxnSp>
        <p:nvCxnSpPr>
          <p:cNvPr id="18" name="直接箭头连接符 17"/>
          <p:cNvCxnSpPr>
            <a:stCxn id="13" idx="0"/>
            <a:endCxn id="20" idx="2"/>
          </p:cNvCxnSpPr>
          <p:nvPr/>
        </p:nvCxnSpPr>
        <p:spPr>
          <a:xfrm flipV="1">
            <a:off x="9553575" y="3013075"/>
            <a:ext cx="0" cy="142811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9813925" y="3177540"/>
            <a:ext cx="1692910" cy="56197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a:t>汇总结果</a:t>
            </a:r>
            <a:endParaRPr lang="zh-CN" altLang="en-US" sz="2800"/>
          </a:p>
        </p:txBody>
      </p:sp>
      <p:sp>
        <p:nvSpPr>
          <p:cNvPr id="20" name="圆角矩形 19"/>
          <p:cNvSpPr/>
          <p:nvPr/>
        </p:nvSpPr>
        <p:spPr>
          <a:xfrm>
            <a:off x="8618220" y="2158365"/>
            <a:ext cx="1870075" cy="85471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CLI</a:t>
            </a:r>
            <a:endParaRPr lang="en-US" altLang="zh-CN" sz="2800"/>
          </a:p>
          <a:p>
            <a:pPr algn="ctr"/>
            <a:r>
              <a:rPr lang="zh-CN" altLang="en-US" sz="2800"/>
              <a:t>客户端</a:t>
            </a:r>
            <a:endParaRPr lang="zh-CN" altLang="en-US" sz="2800"/>
          </a:p>
        </p:txBody>
      </p:sp>
      <p:sp>
        <p:nvSpPr>
          <p:cNvPr id="22" name="圆角矩形 21"/>
          <p:cNvSpPr/>
          <p:nvPr/>
        </p:nvSpPr>
        <p:spPr>
          <a:xfrm>
            <a:off x="1096645" y="3438525"/>
            <a:ext cx="2066925" cy="41084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a:t>Query Executor</a:t>
            </a:r>
            <a:endParaRPr lang="en-US" altLang="zh-CN" sz="2000"/>
          </a:p>
        </p:txBody>
      </p:sp>
      <p:sp>
        <p:nvSpPr>
          <p:cNvPr id="24" name="文本框 23"/>
          <p:cNvSpPr txBox="1"/>
          <p:nvPr/>
        </p:nvSpPr>
        <p:spPr>
          <a:xfrm>
            <a:off x="969645" y="1553845"/>
            <a:ext cx="2473325" cy="4603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t">
            <a:spAutoFit/>
          </a:bodyPr>
          <a:lstStyle/>
          <a:p>
            <a:pPr marR="0" lvl="0" indent="0" algn="l" defTabSz="914400" rtl="0" eaLnBrk="1" fontAlgn="base" latinLnBrk="0" hangingPunct="1">
              <a:lnSpc>
                <a:spcPct val="100000"/>
              </a:lnSpc>
              <a:spcBef>
                <a:spcPct val="0"/>
              </a:spcBef>
              <a:spcAft>
                <a:spcPct val="0"/>
              </a:spcAft>
              <a:buClrTx/>
              <a:buSzTx/>
              <a:buNone/>
              <a:defRPr/>
            </a:pP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第</a:t>
            </a: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5</a:t>
            </a: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步：汇聚结果</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5" name="文本框 24"/>
          <p:cNvSpPr txBox="1"/>
          <p:nvPr/>
        </p:nvSpPr>
        <p:spPr>
          <a:xfrm>
            <a:off x="8851265" y="1445260"/>
            <a:ext cx="2655570" cy="4603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nchor="t">
            <a:spAutoFit/>
          </a:bodyPr>
          <a:lstStyle/>
          <a:p>
            <a:pPr marR="0" lvl="0" algn="l" defTabSz="914400" rtl="0" eaLnBrk="1" fontAlgn="base" latinLnBrk="0" hangingPunct="1">
              <a:lnSpc>
                <a:spcPct val="100000"/>
              </a:lnSpc>
              <a:buClrTx/>
              <a:buSzTx/>
              <a:buFontTx/>
              <a:buNone/>
              <a:defRPr/>
            </a:pPr>
            <a:r>
              <a:rPr lang="en-US" altLang="zh-CN"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第6步：</a:t>
            </a: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返回结果</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6" name="文本框 25"/>
          <p:cNvSpPr txBox="1"/>
          <p:nvPr/>
        </p:nvSpPr>
        <p:spPr>
          <a:xfrm>
            <a:off x="5445125" y="4702175"/>
            <a:ext cx="2075180" cy="534035"/>
          </a:xfrm>
          <a:prstGeom prst="rect">
            <a:avLst/>
          </a:prstGeom>
          <a:noFill/>
        </p:spPr>
        <p:txBody>
          <a:bodyPr wrap="square" rtlCol="0" anchor="t">
            <a:spAutoFit/>
          </a:bodyPr>
          <a:lstStyle/>
          <a:p>
            <a:pPr marR="0" lvl="0" indent="0" algn="just" defTabSz="914400" rtl="0" eaLnBrk="0" fontAlgn="base" latinLnBrk="0" hangingPunct="0">
              <a:lnSpc>
                <a:spcPct val="120000"/>
              </a:lnSpc>
              <a:spcBef>
                <a:spcPts val="600"/>
              </a:spcBef>
              <a:spcAft>
                <a:spcPts val="700"/>
              </a:spcAft>
              <a:buClrTx/>
              <a:buSzTx/>
              <a:buFont typeface="Arial" panose="020B0604020202020204" pitchFamily="34" charset="0"/>
              <a:buNone/>
              <a:defRPr/>
            </a:pPr>
            <a:r>
              <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rPr>
              <a:t>汇聚各个结果</a:t>
            </a:r>
            <a:endParaRPr lang="zh-CN" altLang="en-US" sz="2400" kern="100" noProof="0" dirty="0">
              <a:ln>
                <a:noFill/>
              </a:ln>
              <a:effectLst/>
              <a:uLnTx/>
              <a:uFillTx/>
              <a:latin typeface="宋体" panose="02010600030101010101" pitchFamily="2" charset="-122"/>
              <a:ea typeface="宋体" panose="02010600030101010101" pitchFamily="2" charset="-122"/>
              <a:cs typeface="Times New Roman" panose="02020603050405020304"/>
              <a:sym typeface="+mn-ea"/>
            </a:endParaRPr>
          </a:p>
        </p:txBody>
      </p:sp>
      <p:sp>
        <p:nvSpPr>
          <p:cNvPr id="2" name="圆角矩形 1"/>
          <p:cNvSpPr/>
          <p:nvPr/>
        </p:nvSpPr>
        <p:spPr>
          <a:xfrm>
            <a:off x="1096645" y="600265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DN</a:t>
            </a:r>
            <a:endParaRPr lang="en-US" altLang="zh-CN" sz="2800"/>
          </a:p>
        </p:txBody>
      </p:sp>
      <p:sp>
        <p:nvSpPr>
          <p:cNvPr id="17" name="圆角矩形 16"/>
          <p:cNvSpPr/>
          <p:nvPr/>
        </p:nvSpPr>
        <p:spPr>
          <a:xfrm>
            <a:off x="1096645" y="494347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a:t>
            </a:r>
            <a:endParaRPr lang="en-US" altLang="zh-CN" sz="2800"/>
          </a:p>
        </p:txBody>
      </p:sp>
      <p:sp>
        <p:nvSpPr>
          <p:cNvPr id="28" name="圆角矩形 27"/>
          <p:cNvSpPr/>
          <p:nvPr/>
        </p:nvSpPr>
        <p:spPr>
          <a:xfrm>
            <a:off x="1096645" y="388175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DN</a:t>
            </a:r>
            <a:endParaRPr lang="en-US" altLang="zh-CN" sz="2800"/>
          </a:p>
        </p:txBody>
      </p:sp>
      <p:sp>
        <p:nvSpPr>
          <p:cNvPr id="29" name="左大括号 28"/>
          <p:cNvSpPr/>
          <p:nvPr>
            <p:custDataLst>
              <p:tags r:id="rId1"/>
            </p:custDataLst>
          </p:nvPr>
        </p:nvSpPr>
        <p:spPr>
          <a:xfrm rot="10800000">
            <a:off x="3338830" y="3438525"/>
            <a:ext cx="486410" cy="2618740"/>
          </a:xfrm>
          <a:prstGeom prst="leftBrace">
            <a:avLst>
              <a:gd name="adj1" fmla="val 35378"/>
              <a:gd name="adj2" fmla="val 50441"/>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zh-CN" altLang="en-US"/>
          </a:p>
        </p:txBody>
      </p:sp>
      <p:cxnSp>
        <p:nvCxnSpPr>
          <p:cNvPr id="6" name="肘形连接符 5"/>
          <p:cNvCxnSpPr>
            <a:stCxn id="22" idx="1"/>
            <a:endCxn id="28" idx="1"/>
          </p:cNvCxnSpPr>
          <p:nvPr/>
        </p:nvCxnSpPr>
        <p:spPr>
          <a:xfrm rot="10800000" flipH="1" flipV="1">
            <a:off x="1096645" y="3643630"/>
            <a:ext cx="3175" cy="518795"/>
          </a:xfrm>
          <a:prstGeom prst="bentConnector3">
            <a:avLst>
              <a:gd name="adj1" fmla="val -13020000"/>
            </a:avLst>
          </a:prstGeom>
          <a:ln w="28575">
            <a:solidFill>
              <a:srgbClr val="FFC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 name="圆角矩形 6"/>
          <p:cNvSpPr/>
          <p:nvPr>
            <p:custDataLst>
              <p:tags r:id="rId2"/>
            </p:custDataLst>
          </p:nvPr>
        </p:nvSpPr>
        <p:spPr>
          <a:xfrm>
            <a:off x="1096645" y="4518660"/>
            <a:ext cx="2066925" cy="41084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b="1"/>
              <a:t>...</a:t>
            </a:r>
            <a:endParaRPr lang="en-US" altLang="zh-CN" sz="2800" b="1"/>
          </a:p>
        </p:txBody>
      </p:sp>
      <p:cxnSp>
        <p:nvCxnSpPr>
          <p:cNvPr id="9" name="肘形连接符 8"/>
          <p:cNvCxnSpPr>
            <a:stCxn id="7" idx="1"/>
          </p:cNvCxnSpPr>
          <p:nvPr>
            <p:custDataLst>
              <p:tags r:id="rId3"/>
            </p:custDataLst>
          </p:nvPr>
        </p:nvCxnSpPr>
        <p:spPr>
          <a:xfrm rot="10800000" flipH="1" flipV="1">
            <a:off x="1096645" y="4724400"/>
            <a:ext cx="3175" cy="518795"/>
          </a:xfrm>
          <a:prstGeom prst="bentConnector3">
            <a:avLst>
              <a:gd name="adj1" fmla="val -13020000"/>
            </a:avLst>
          </a:prstGeom>
          <a:ln w="28575">
            <a:solidFill>
              <a:srgbClr val="FFC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 name="圆角矩形 9"/>
          <p:cNvSpPr/>
          <p:nvPr>
            <p:custDataLst>
              <p:tags r:id="rId4"/>
            </p:custDataLst>
          </p:nvPr>
        </p:nvSpPr>
        <p:spPr>
          <a:xfrm>
            <a:off x="1096645" y="5596890"/>
            <a:ext cx="2066925" cy="41084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a:t>Query Executor</a:t>
            </a:r>
            <a:endParaRPr lang="en-US" altLang="zh-CN" sz="2000"/>
          </a:p>
        </p:txBody>
      </p:sp>
      <p:cxnSp>
        <p:nvCxnSpPr>
          <p:cNvPr id="11" name="肘形连接符 10"/>
          <p:cNvCxnSpPr>
            <a:stCxn id="10" idx="1"/>
          </p:cNvCxnSpPr>
          <p:nvPr>
            <p:custDataLst>
              <p:tags r:id="rId5"/>
            </p:custDataLst>
          </p:nvPr>
        </p:nvCxnSpPr>
        <p:spPr>
          <a:xfrm rot="10800000" flipH="1" flipV="1">
            <a:off x="1096645" y="5802630"/>
            <a:ext cx="3175" cy="518795"/>
          </a:xfrm>
          <a:prstGeom prst="bentConnector3">
            <a:avLst>
              <a:gd name="adj1" fmla="val -13020000"/>
            </a:avLst>
          </a:prstGeom>
          <a:ln w="28575">
            <a:solidFill>
              <a:srgbClr val="FFC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圆角矩形 29"/>
          <p:cNvSpPr/>
          <p:nvPr/>
        </p:nvSpPr>
        <p:spPr>
          <a:xfrm>
            <a:off x="4438650" y="6109335"/>
            <a:ext cx="704723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HDFS DN</a:t>
            </a:r>
            <a:endParaRPr lang="en-US" altLang="zh-CN" sz="2800"/>
          </a:p>
        </p:txBody>
      </p:sp>
      <p:sp>
        <p:nvSpPr>
          <p:cNvPr id="12" name="圆角矩形 11"/>
          <p:cNvSpPr/>
          <p:nvPr>
            <p:custDataLst>
              <p:tags r:id="rId6"/>
            </p:custDataLst>
          </p:nvPr>
        </p:nvSpPr>
        <p:spPr>
          <a:xfrm>
            <a:off x="4627880" y="5267325"/>
            <a:ext cx="3253740" cy="60642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a:t>Query Executor</a:t>
            </a:r>
            <a:endParaRPr lang="en-US" altLang="zh-CN" sz="2800"/>
          </a:p>
        </p:txBody>
      </p:sp>
      <p:cxnSp>
        <p:nvCxnSpPr>
          <p:cNvPr id="14" name="直接箭头连接符 13"/>
          <p:cNvCxnSpPr>
            <a:stCxn id="12" idx="3"/>
          </p:cNvCxnSpPr>
          <p:nvPr>
            <p:custDataLst>
              <p:tags r:id="rId7"/>
            </p:custDataLst>
          </p:nvPr>
        </p:nvCxnSpPr>
        <p:spPr>
          <a:xfrm flipV="1">
            <a:off x="7881620" y="4829175"/>
            <a:ext cx="240665" cy="741680"/>
          </a:xfrm>
          <a:prstGeom prst="straightConnector1">
            <a:avLst/>
          </a:prstGeom>
          <a:ln w="28575">
            <a:tailEnd type="arrow" w="med" len="med"/>
          </a:ln>
        </p:spPr>
        <p:style>
          <a:lnRef idx="3">
            <a:schemeClr val="accent6"/>
          </a:lnRef>
          <a:fillRef idx="0">
            <a:schemeClr val="accent6"/>
          </a:fillRef>
          <a:effectRef idx="2">
            <a:schemeClr val="accent6"/>
          </a:effectRef>
          <a:fontRef idx="minor">
            <a:schemeClr val="tx1"/>
          </a:fontRef>
        </p:style>
      </p:cxnSp>
      <p:cxnSp>
        <p:nvCxnSpPr>
          <p:cNvPr id="16" name="肘形连接符 15"/>
          <p:cNvCxnSpPr>
            <a:stCxn id="12" idx="1"/>
            <a:endCxn id="30" idx="1"/>
          </p:cNvCxnSpPr>
          <p:nvPr>
            <p:custDataLst>
              <p:tags r:id="rId8"/>
            </p:custDataLst>
          </p:nvPr>
        </p:nvCxnSpPr>
        <p:spPr>
          <a:xfrm rot="10800000" flipV="1">
            <a:off x="4438650" y="5570220"/>
            <a:ext cx="189230" cy="819785"/>
          </a:xfrm>
          <a:prstGeom prst="bentConnector3">
            <a:avLst>
              <a:gd name="adj1" fmla="val 225839"/>
            </a:avLst>
          </a:prstGeom>
          <a:ln w="28575">
            <a:solidFill>
              <a:srgbClr val="FFC00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linds(horizontal)">
                                      <p:cBhvr>
                                        <p:cTn id="30" dur="500"/>
                                        <p:tgtEl>
                                          <p:spTgt spid="29"/>
                                        </p:tgtEl>
                                      </p:cBhvr>
                                    </p:animEffect>
                                  </p:childTnLst>
                                </p:cTn>
                              </p:par>
                            </p:childTnLst>
                          </p:cTn>
                        </p:par>
                        <p:par>
                          <p:cTn id="31" fill="hold">
                            <p:stCondLst>
                              <p:cond delay="500"/>
                            </p:stCondLst>
                            <p:childTnLst>
                              <p:par>
                                <p:cTn id="32" presetID="22" presetClass="entr" presetSubtype="4"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linds(horizontal)">
                                      <p:cBhvr>
                                        <p:cTn id="37" dur="500"/>
                                        <p:tgtEl>
                                          <p:spTgt spid="26"/>
                                        </p:tgtEl>
                                      </p:cBhvr>
                                    </p:animEffect>
                                  </p:childTnLst>
                                </p:cTn>
                              </p:par>
                            </p:childTnLst>
                          </p:cTn>
                        </p:par>
                        <p:par>
                          <p:cTn id="38" fill="hold">
                            <p:stCondLst>
                              <p:cond delay="1000"/>
                            </p:stCondLst>
                            <p:childTnLst>
                              <p:par>
                                <p:cTn id="39" presetID="22" presetClass="entr" presetSubtype="4"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down)">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left)">
                                      <p:cBhvr>
                                        <p:cTn id="46" dur="500"/>
                                        <p:tgtEl>
                                          <p:spTgt spid="25"/>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1"/>
      <p:bldP spid="19" grpId="0" bldLvl="0" animBg="1"/>
      <p:bldP spid="19" grpId="1" animBg="1"/>
      <p:bldP spid="20" grpId="0" bldLvl="0" animBg="1"/>
      <p:bldP spid="20" grpId="1" animBg="1"/>
      <p:bldP spid="22" grpId="0" animBg="1"/>
      <p:bldP spid="22" grpId="1" animBg="1"/>
      <p:bldP spid="24" grpId="0" bldLvl="0" animBg="1"/>
      <p:bldP spid="24" grpId="1" animBg="1"/>
      <p:bldP spid="25" grpId="0" bldLvl="0" animBg="1"/>
      <p:bldP spid="25" grpId="1" animBg="1"/>
      <p:bldP spid="26" grpId="0"/>
      <p:bldP spid="26" grpId="1"/>
      <p:bldP spid="29" grpId="0" bldLvl="0" animBg="1"/>
      <p:bldP spid="29" grpId="1" animBg="1"/>
      <p:bldP spid="7" grpId="0" bldLvl="0" animBg="1"/>
      <p:bldP spid="7" grpId="1" animBg="1"/>
      <p:bldP spid="10" grpId="0" bldLvl="0" animBg="1"/>
      <p:bldP spid="10" grpId="1" animBg="1"/>
      <p:bldP spid="12" grpId="0" bldLvl="0" animBg="1"/>
      <p:bldP spid="12"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p:txBody>
          <a:bodyPr vert="horz" wrap="square" lIns="91440" tIns="45720" rIns="91440" bIns="45720" anchor="ctr" anchorCtr="0"/>
          <a:lstStyle/>
          <a:p>
            <a:r>
              <a:rPr lang="en-US" altLang="zh-CN" b="1" dirty="0">
                <a:sym typeface="+mn-ea"/>
              </a:rPr>
              <a:t>9.5.4 Impala</a:t>
            </a:r>
            <a:r>
              <a:rPr lang="zh-CN" altLang="en-US" b="1" dirty="0">
                <a:sym typeface="+mn-ea"/>
              </a:rPr>
              <a:t>与</a:t>
            </a:r>
            <a:r>
              <a:rPr lang="en-US" altLang="zh-CN" b="1" dirty="0">
                <a:sym typeface="+mn-ea"/>
              </a:rPr>
              <a:t>Hive</a:t>
            </a:r>
            <a:r>
              <a:rPr lang="zh-CN" altLang="en-US" b="1" dirty="0">
                <a:sym typeface="+mn-ea"/>
              </a:rPr>
              <a:t>的比较</a:t>
            </a:r>
            <a:endParaRPr lang="zh-CN" altLang="en-US" dirty="0"/>
          </a:p>
        </p:txBody>
      </p:sp>
      <p:sp>
        <p:nvSpPr>
          <p:cNvPr id="2" name="矩形 1"/>
          <p:cNvSpPr/>
          <p:nvPr/>
        </p:nvSpPr>
        <p:spPr>
          <a:xfrm>
            <a:off x="7145655" y="5272405"/>
            <a:ext cx="3919855" cy="53403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a:spAutoFit/>
          </a:bodyPr>
          <a:lstStyle/>
          <a:p>
            <a:pPr marR="0" lvl="0" indent="0" algn="ctr" defTabSz="914400" rtl="0" eaLnBrk="1" fontAlgn="base" latinLnBrk="0" hangingPunct="1">
              <a:lnSpc>
                <a:spcPct val="120000"/>
              </a:lnSpc>
              <a:spcBef>
                <a:spcPct val="0"/>
              </a:spcBef>
              <a:spcAft>
                <a:spcPts val="700"/>
              </a:spcAft>
              <a:buClrTx/>
              <a:buSzTx/>
              <a:buFont typeface="+mj-lt"/>
              <a:buNone/>
              <a:defRPr/>
            </a:pPr>
            <a:r>
              <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内存不足，查询受限</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28" name="圆角矩形 27"/>
          <p:cNvSpPr/>
          <p:nvPr>
            <p:custDataLst>
              <p:tags r:id="rId1"/>
            </p:custDataLst>
          </p:nvPr>
        </p:nvSpPr>
        <p:spPr>
          <a:xfrm>
            <a:off x="4899660" y="1445260"/>
            <a:ext cx="2067560" cy="561975"/>
          </a:xfrm>
          <a:prstGeom prst="roundRect">
            <a:avLst/>
          </a:prstGeom>
          <a:extLst>
            <a:ext uri="{909E8E84-426E-40DD-AFC4-6F175D3DCCD1}">
              <a14:hiddenFill xmlns:a14="http://schemas.microsoft.com/office/drawing/2010/main">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14:hiddenFill>
            </a:ext>
          </a:extLst>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800">
                <a:solidFill>
                  <a:schemeClr val="tx1"/>
                </a:solidFill>
                <a:effectLst/>
              </a:rPr>
              <a:t>不同点</a:t>
            </a:r>
            <a:endParaRPr lang="zh-CN" altLang="en-US" sz="2800">
              <a:solidFill>
                <a:schemeClr val="tx1"/>
              </a:solidFill>
              <a:effectLst/>
            </a:endParaRPr>
          </a:p>
        </p:txBody>
      </p:sp>
      <p:sp>
        <p:nvSpPr>
          <p:cNvPr id="19" name="圆角矩形 18"/>
          <p:cNvSpPr/>
          <p:nvPr>
            <p:custDataLst>
              <p:tags r:id="rId2"/>
            </p:custDataLst>
          </p:nvPr>
        </p:nvSpPr>
        <p:spPr>
          <a:xfrm>
            <a:off x="2491105" y="2124710"/>
            <a:ext cx="169291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Hive</a:t>
            </a:r>
            <a:endParaRPr lang="en-US" altLang="zh-CN" sz="2800"/>
          </a:p>
        </p:txBody>
      </p:sp>
      <p:sp>
        <p:nvSpPr>
          <p:cNvPr id="3" name="圆角矩形 2"/>
          <p:cNvSpPr/>
          <p:nvPr>
            <p:custDataLst>
              <p:tags r:id="rId3"/>
            </p:custDataLst>
          </p:nvPr>
        </p:nvSpPr>
        <p:spPr>
          <a:xfrm>
            <a:off x="7915910" y="213550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Impala</a:t>
            </a:r>
            <a:endParaRPr lang="en-US" altLang="zh-CN" sz="2800"/>
          </a:p>
        </p:txBody>
      </p:sp>
      <p:sp>
        <p:nvSpPr>
          <p:cNvPr id="4" name="文本框 3"/>
          <p:cNvSpPr txBox="1"/>
          <p:nvPr/>
        </p:nvSpPr>
        <p:spPr>
          <a:xfrm>
            <a:off x="1589405" y="3120390"/>
            <a:ext cx="3594735" cy="46037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pPr algn="ct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长时间的批处理查询分析</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5" name="文本框 4"/>
          <p:cNvSpPr txBox="1"/>
          <p:nvPr/>
        </p:nvSpPr>
        <p:spPr>
          <a:xfrm>
            <a:off x="7146290" y="3120390"/>
            <a:ext cx="3919855" cy="46037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pPr algn="ct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实时交互式</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SQL</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查询</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6" name="文本框 5"/>
          <p:cNvSpPr txBox="1"/>
          <p:nvPr/>
        </p:nvSpPr>
        <p:spPr>
          <a:xfrm>
            <a:off x="1590040" y="4011930"/>
            <a:ext cx="3594100" cy="82994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执行计划组合成管道型的</a:t>
            </a:r>
            <a:r>
              <a:rPr lang="en-US" altLang="zh-CN" sz="2400" kern="100" noProof="0" dirty="0" err="1">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MapReduce</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任务模式执行</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7" name="文本框 6"/>
          <p:cNvSpPr txBox="1"/>
          <p:nvPr/>
        </p:nvSpPr>
        <p:spPr>
          <a:xfrm>
            <a:off x="7146290" y="3827145"/>
            <a:ext cx="3919855" cy="1198880"/>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执行计划表现为一棵完整的执行计划树，可更自然地分发到各个</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Impalad</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执行查询</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8" name="文本框 7"/>
          <p:cNvSpPr txBox="1"/>
          <p:nvPr/>
        </p:nvSpPr>
        <p:spPr>
          <a:xfrm>
            <a:off x="1590040" y="5272405"/>
            <a:ext cx="3594100" cy="46037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pPr algn="ct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内存不足，则用外存</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9" grpId="0" bldLvl="0" animBg="1"/>
      <p:bldP spid="19" grpId="1" animBg="1"/>
      <p:bldP spid="4" grpId="0" animBg="1"/>
      <p:bldP spid="4" grpId="1" animBg="1"/>
      <p:bldP spid="5" grpId="0" animBg="1"/>
      <p:bldP spid="5" grpId="1" animBg="1"/>
      <p:bldP spid="6" grpId="0" animBg="1"/>
      <p:bldP spid="6" grpId="1" animBg="1"/>
      <p:bldP spid="7" grpId="0" animBg="1"/>
      <p:bldP spid="7" grpId="1" animBg="1"/>
      <p:bldP spid="8" grpId="0" animBg="1"/>
      <p:bldP spid="8"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p:txBody>
          <a:bodyPr vert="horz" wrap="square" lIns="91440" tIns="45720" rIns="91440" bIns="45720" anchor="ctr" anchorCtr="0"/>
          <a:lstStyle/>
          <a:p>
            <a:r>
              <a:rPr lang="en-US" altLang="zh-CN" b="1" dirty="0">
                <a:sym typeface="+mn-ea"/>
              </a:rPr>
              <a:t>9.5.4 Impala</a:t>
            </a:r>
            <a:r>
              <a:rPr lang="zh-CN" altLang="en-US" b="1" dirty="0">
                <a:sym typeface="+mn-ea"/>
              </a:rPr>
              <a:t>与</a:t>
            </a:r>
            <a:r>
              <a:rPr lang="en-US" altLang="zh-CN" b="1" dirty="0">
                <a:sym typeface="+mn-ea"/>
              </a:rPr>
              <a:t>Hive</a:t>
            </a:r>
            <a:r>
              <a:rPr lang="zh-CN" altLang="en-US" b="1" dirty="0">
                <a:sym typeface="+mn-ea"/>
              </a:rPr>
              <a:t>的比较</a:t>
            </a:r>
            <a:endParaRPr lang="zh-CN" altLang="en-US" dirty="0"/>
          </a:p>
        </p:txBody>
      </p:sp>
      <p:sp>
        <p:nvSpPr>
          <p:cNvPr id="2" name="矩形 1"/>
          <p:cNvSpPr/>
          <p:nvPr/>
        </p:nvSpPr>
        <p:spPr>
          <a:xfrm>
            <a:off x="2490470" y="5442585"/>
            <a:ext cx="7493635" cy="53403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a:spAutoFit/>
          </a:bodyPr>
          <a:lstStyle/>
          <a:p>
            <a:pPr marR="0" lvl="0" indent="0" algn="just" defTabSz="914400" rtl="0" eaLnBrk="1" fontAlgn="base" latinLnBrk="0" hangingPunct="1">
              <a:lnSpc>
                <a:spcPct val="120000"/>
              </a:lnSpc>
              <a:spcBef>
                <a:spcPct val="0"/>
              </a:spcBef>
              <a:spcAft>
                <a:spcPts val="700"/>
              </a:spcAft>
              <a:buClrTx/>
              <a:buSzTx/>
              <a:buFont typeface="+mj-lt"/>
              <a:buNone/>
              <a:defRPr/>
            </a:pPr>
            <a:r>
              <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对</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SQL</a:t>
            </a:r>
            <a:r>
              <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解释处理比较相似，都用词法分析生成执行计划</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28" name="圆角矩形 27"/>
          <p:cNvSpPr/>
          <p:nvPr>
            <p:custDataLst>
              <p:tags r:id="rId1"/>
            </p:custDataLst>
          </p:nvPr>
        </p:nvSpPr>
        <p:spPr>
          <a:xfrm>
            <a:off x="4899660" y="1445260"/>
            <a:ext cx="2067560" cy="561975"/>
          </a:xfrm>
          <a:prstGeom prst="roundRect">
            <a:avLst/>
          </a:prstGeom>
          <a:extLst>
            <a:ext uri="{909E8E84-426E-40DD-AFC4-6F175D3DCCD1}">
              <a14:hiddenFill xmlns:a14="http://schemas.microsoft.com/office/drawing/2010/main">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14:hiddenFill>
            </a:ext>
          </a:extLst>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2800">
                <a:solidFill>
                  <a:schemeClr val="tx1"/>
                </a:solidFill>
                <a:effectLst/>
              </a:rPr>
              <a:t>相同点</a:t>
            </a:r>
            <a:endParaRPr lang="zh-CN" altLang="en-US" sz="2800">
              <a:solidFill>
                <a:schemeClr val="tx1"/>
              </a:solidFill>
              <a:effectLst/>
            </a:endParaRPr>
          </a:p>
        </p:txBody>
      </p:sp>
      <p:sp>
        <p:nvSpPr>
          <p:cNvPr id="19" name="圆角矩形 18"/>
          <p:cNvSpPr/>
          <p:nvPr>
            <p:custDataLst>
              <p:tags r:id="rId2"/>
            </p:custDataLst>
          </p:nvPr>
        </p:nvSpPr>
        <p:spPr>
          <a:xfrm>
            <a:off x="2491105" y="2124710"/>
            <a:ext cx="169291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Hive</a:t>
            </a:r>
            <a:endParaRPr lang="en-US" altLang="zh-CN" sz="2800"/>
          </a:p>
        </p:txBody>
      </p:sp>
      <p:sp>
        <p:nvSpPr>
          <p:cNvPr id="3" name="圆角矩形 2"/>
          <p:cNvSpPr/>
          <p:nvPr>
            <p:custDataLst>
              <p:tags r:id="rId3"/>
            </p:custDataLst>
          </p:nvPr>
        </p:nvSpPr>
        <p:spPr>
          <a:xfrm>
            <a:off x="7915910" y="2135505"/>
            <a:ext cx="2067560" cy="561975"/>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800"/>
              <a:t>Impala</a:t>
            </a:r>
            <a:endParaRPr lang="en-US" altLang="zh-CN" sz="2800"/>
          </a:p>
        </p:txBody>
      </p:sp>
      <p:sp>
        <p:nvSpPr>
          <p:cNvPr id="4" name="文本框 3"/>
          <p:cNvSpPr txBox="1"/>
          <p:nvPr/>
        </p:nvSpPr>
        <p:spPr>
          <a:xfrm>
            <a:off x="2491105" y="2967355"/>
            <a:ext cx="7493000" cy="1198880"/>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存储数据池都支持把数据存储于</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HDFS</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和</a:t>
            </a:r>
            <a:r>
              <a:rPr lang="en-US" altLang="zh-CN" sz="2400" kern="100" noProof="0" dirty="0" err="1">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HBase</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中，其中</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HDFS</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支持存储</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TEXT</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RCFILE</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PARQUET</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AVRO</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ETC</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格式数据，</a:t>
            </a:r>
            <a:r>
              <a:rPr lang="en-US" altLang="zh-CN" sz="2400" kern="100" noProof="0" dirty="0" err="1">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HBase</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存储表中记录</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5" name="文本框 4"/>
          <p:cNvSpPr txBox="1"/>
          <p:nvPr/>
        </p:nvSpPr>
        <p:spPr>
          <a:xfrm>
            <a:off x="2491105" y="4446905"/>
            <a:ext cx="7493000" cy="53403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rtlCol="0" anchor="t">
            <a:spAutoFit/>
          </a:bodyPr>
          <a:lstStyle/>
          <a:p>
            <a:pPr marL="0" marR="0" lvl="0" indent="266700" algn="ctr" defTabSz="914400" rtl="0" eaLnBrk="1" fontAlgn="base" latinLnBrk="0" hangingPunct="1">
              <a:lnSpc>
                <a:spcPct val="120000"/>
              </a:lnSpc>
              <a:spcBef>
                <a:spcPct val="0"/>
              </a:spcBef>
              <a:spcAft>
                <a:spcPts val="700"/>
              </a:spcAft>
              <a:buClrTx/>
              <a:buSzTx/>
              <a:buFontTx/>
              <a:buNone/>
              <a:defRPr/>
            </a:pP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相同的元数据</a:t>
            </a:r>
            <a:endPar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9" grpId="0" bldLvl="0" animBg="1"/>
      <p:bldP spid="19" grpId="1" animBg="1"/>
      <p:bldP spid="4" grpId="0" animBg="1"/>
      <p:bldP spid="4" grpId="1" animBg="1"/>
      <p:bldP spid="5" grpId="0" animBg="1"/>
      <p:bldP spid="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p:cNvSpPr>
          <p:nvPr>
            <p:ph type="title"/>
          </p:nvPr>
        </p:nvSpPr>
        <p:spPr/>
        <p:txBody>
          <a:bodyPr vert="horz" wrap="square" lIns="91440" tIns="45720" rIns="91440" bIns="45720" anchor="ctr" anchorCtr="0"/>
          <a:lstStyle/>
          <a:p>
            <a:r>
              <a:rPr lang="en-US" altLang="zh-CN" b="1" dirty="0"/>
              <a:t>9.5.4 Impala</a:t>
            </a:r>
            <a:r>
              <a:rPr lang="zh-CN" altLang="en-US" b="1" dirty="0"/>
              <a:t>与</a:t>
            </a:r>
            <a:r>
              <a:rPr lang="en-US" altLang="zh-CN" b="1" dirty="0"/>
              <a:t>Hive</a:t>
            </a:r>
            <a:r>
              <a:rPr lang="zh-CN" altLang="en-US" b="1" dirty="0"/>
              <a:t>的比较</a:t>
            </a:r>
            <a:endParaRPr lang="zh-CN" altLang="en-US" b="1" dirty="0"/>
          </a:p>
        </p:txBody>
      </p:sp>
      <p:sp>
        <p:nvSpPr>
          <p:cNvPr id="10244" name="Rectangle 5"/>
          <p:cNvSpPr/>
          <p:nvPr/>
        </p:nvSpPr>
        <p:spPr>
          <a:xfrm>
            <a:off x="1524000" y="3330575"/>
            <a:ext cx="309880" cy="368300"/>
          </a:xfrm>
          <a:prstGeom prst="rect">
            <a:avLst/>
          </a:prstGeom>
          <a:noFill/>
          <a:ln w="9525">
            <a:noFill/>
          </a:ln>
        </p:spPr>
        <p:txBody>
          <a:bodyPr wrap="none" anchor="ctr" anchorCtr="0">
            <a:spAutoFit/>
          </a:bodyPr>
          <a:lstStyle/>
          <a:p>
            <a:pPr eaLnBrk="1" hangingPunct="1"/>
            <a:endParaRPr lang="zh-CN" altLang="en-US" dirty="0">
              <a:latin typeface="Arial" panose="020B0604020202020204" pitchFamily="34" charset="0"/>
            </a:endParaRPr>
          </a:p>
        </p:txBody>
      </p:sp>
      <p:sp>
        <p:nvSpPr>
          <p:cNvPr id="10246" name="Rectangle 8"/>
          <p:cNvSpPr/>
          <p:nvPr/>
        </p:nvSpPr>
        <p:spPr>
          <a:xfrm>
            <a:off x="3352800" y="1105694"/>
            <a:ext cx="13960475" cy="368300"/>
          </a:xfrm>
          <a:prstGeom prst="rect">
            <a:avLst/>
          </a:prstGeom>
          <a:noFill/>
          <a:ln w="9525">
            <a:noFill/>
          </a:ln>
        </p:spPr>
        <p:txBody>
          <a:bodyPr anchor="ctr" anchorCtr="0">
            <a:spAutoFit/>
          </a:bodyPr>
          <a:lstStyle/>
          <a:p>
            <a:pPr eaLnBrk="1" hangingPunct="1"/>
            <a:endParaRPr lang="zh-CN" altLang="en-US" dirty="0">
              <a:latin typeface="Arial" panose="020B0604020202020204" pitchFamily="34" charset="0"/>
            </a:endParaRPr>
          </a:p>
        </p:txBody>
      </p:sp>
      <p:graphicFrame>
        <p:nvGraphicFramePr>
          <p:cNvPr id="10242" name="对象 2"/>
          <p:cNvGraphicFramePr/>
          <p:nvPr/>
        </p:nvGraphicFramePr>
        <p:xfrm>
          <a:off x="2746375" y="1621155"/>
          <a:ext cx="6283325" cy="4897755"/>
        </p:xfrm>
        <a:graphic>
          <a:graphicData uri="http://schemas.openxmlformats.org/presentationml/2006/ole">
            <mc:AlternateContent xmlns:mc="http://schemas.openxmlformats.org/markup-compatibility/2006">
              <mc:Choice xmlns:v="urn:schemas-microsoft-com:vml" Requires="v">
                <p:oleObj spid="_x0000_s11269" name="" r:id="rId1" imgW="4076700" imgH="4254500" progId="Visio.Drawing.15">
                  <p:embed/>
                </p:oleObj>
              </mc:Choice>
              <mc:Fallback>
                <p:oleObj name="" r:id="rId1" imgW="4076700" imgH="4254500" progId="Visio.Drawing.15">
                  <p:embed/>
                  <p:pic>
                    <p:nvPicPr>
                      <p:cNvPr id="0" name="图片 3083"/>
                      <p:cNvPicPr/>
                      <p:nvPr/>
                    </p:nvPicPr>
                    <p:blipFill>
                      <a:blip r:embed="rId2"/>
                      <a:stretch>
                        <a:fillRect/>
                      </a:stretch>
                    </p:blipFill>
                    <p:spPr>
                      <a:xfrm>
                        <a:off x="2746375" y="1621155"/>
                        <a:ext cx="6283325" cy="4897755"/>
                      </a:xfrm>
                      <a:prstGeom prst="rect">
                        <a:avLst/>
                      </a:prstGeom>
                      <a:noFill/>
                      <a:ln w="38100">
                        <a:noFill/>
                        <a:miter/>
                      </a:ln>
                    </p:spPr>
                  </p:pic>
                </p:oleObj>
              </mc:Fallback>
            </mc:AlternateContent>
          </a:graphicData>
        </a:graphic>
      </p:graphicFrame>
      <p:sp>
        <p:nvSpPr>
          <p:cNvPr id="2" name="文本框 1"/>
          <p:cNvSpPr txBox="1"/>
          <p:nvPr/>
        </p:nvSpPr>
        <p:spPr>
          <a:xfrm>
            <a:off x="613410" y="3192145"/>
            <a:ext cx="1391285" cy="1383665"/>
          </a:xfrm>
          <a:prstGeom prst="rect">
            <a:avLst/>
          </a:prstGeom>
          <a:noFill/>
        </p:spPr>
        <p:txBody>
          <a:bodyPr wrap="square" rtlCol="0">
            <a:spAutoFit/>
          </a:bodyPr>
          <a:lstStyle/>
          <a:p>
            <a:pPr algn="ctr"/>
            <a:r>
              <a:rPr lang="en-US" altLang="zh-CN" sz="2800"/>
              <a:t>ETC</a:t>
            </a:r>
            <a:endParaRPr lang="en-US" altLang="zh-CN" sz="2800"/>
          </a:p>
          <a:p>
            <a:pPr algn="ctr"/>
            <a:r>
              <a:rPr lang="zh-CN" altLang="en-US" sz="2800"/>
              <a:t>用</a:t>
            </a:r>
            <a:endParaRPr lang="zh-CN" altLang="en-US" sz="2800"/>
          </a:p>
          <a:p>
            <a:pPr algn="ctr"/>
            <a:r>
              <a:rPr lang="en-US" altLang="zh-CN" sz="2800"/>
              <a:t>Hive</a:t>
            </a:r>
            <a:endParaRPr lang="en-US" altLang="zh-CN" sz="2800"/>
          </a:p>
        </p:txBody>
      </p:sp>
      <p:sp>
        <p:nvSpPr>
          <p:cNvPr id="3" name="文本框 2"/>
          <p:cNvSpPr txBox="1"/>
          <p:nvPr>
            <p:custDataLst>
              <p:tags r:id="rId3"/>
            </p:custDataLst>
          </p:nvPr>
        </p:nvSpPr>
        <p:spPr>
          <a:xfrm>
            <a:off x="9771380" y="3192145"/>
            <a:ext cx="1856740" cy="1383665"/>
          </a:xfrm>
          <a:prstGeom prst="rect">
            <a:avLst/>
          </a:prstGeom>
          <a:noFill/>
        </p:spPr>
        <p:txBody>
          <a:bodyPr wrap="square" rtlCol="0">
            <a:spAutoFit/>
          </a:bodyPr>
          <a:lstStyle/>
          <a:p>
            <a:pPr algn="ctr"/>
            <a:r>
              <a:rPr lang="zh-CN" altLang="en-US" sz="2800"/>
              <a:t>查询分析</a:t>
            </a:r>
            <a:endParaRPr lang="zh-CN" altLang="en-US" sz="2800"/>
          </a:p>
          <a:p>
            <a:pPr algn="ctr"/>
            <a:r>
              <a:rPr lang="zh-CN" altLang="en-US" sz="2800"/>
              <a:t>用</a:t>
            </a:r>
            <a:endParaRPr lang="zh-CN" altLang="en-US" sz="2800"/>
          </a:p>
          <a:p>
            <a:pPr algn="ctr"/>
            <a:r>
              <a:rPr lang="en-US" altLang="zh-CN" sz="2800"/>
              <a:t>Impala</a:t>
            </a:r>
            <a:endParaRPr lang="en-US" altLang="zh-CN"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2"/>
          <p:cNvSpPr>
            <a:spLocks noGrp="1"/>
          </p:cNvSpPr>
          <p:nvPr>
            <p:ph type="title"/>
          </p:nvPr>
        </p:nvSpPr>
        <p:spPr/>
        <p:txBody>
          <a:bodyPr vert="horz" wrap="square" lIns="91440" tIns="45720" rIns="91440" bIns="45720" anchor="ctr" anchorCtr="0"/>
          <a:lstStyle/>
          <a:p>
            <a:r>
              <a:rPr lang="en-US" altLang="zh-CN" b="1" dirty="0"/>
              <a:t>9.6 Hive</a:t>
            </a:r>
            <a:r>
              <a:rPr lang="zh-CN" altLang="en-US" b="1" dirty="0"/>
              <a:t>编程实践</a:t>
            </a:r>
            <a:endParaRPr lang="zh-CN" altLang="en-US" b="1" dirty="0"/>
          </a:p>
        </p:txBody>
      </p:sp>
      <p:sp>
        <p:nvSpPr>
          <p:cNvPr id="48131" name="矩形 1"/>
          <p:cNvSpPr/>
          <p:nvPr/>
        </p:nvSpPr>
        <p:spPr>
          <a:xfrm>
            <a:off x="1033780" y="1798955"/>
            <a:ext cx="6106160" cy="2676525"/>
          </a:xfrm>
          <a:prstGeom prst="rect">
            <a:avLst/>
          </a:prstGeom>
          <a:noFill/>
          <a:ln w="9525">
            <a:noFill/>
          </a:ln>
        </p:spPr>
        <p:txBody>
          <a:bodyPr wrap="square">
            <a:spAutoFit/>
          </a:bodyPr>
          <a:lstStyle/>
          <a:p>
            <a:pPr algn="just" eaLnBrk="1" hangingPunct="1">
              <a:lnSpc>
                <a:spcPct val="150000"/>
              </a:lnSpc>
            </a:pPr>
            <a:r>
              <a:rPr lang="en-US" altLang="zh-CN" sz="2800" dirty="0">
                <a:latin typeface="Arial" panose="020B0604020202020204" pitchFamily="34" charset="0"/>
              </a:rPr>
              <a:t>9.6.1  Hive</a:t>
            </a:r>
            <a:r>
              <a:rPr lang="zh-CN" altLang="zh-CN" sz="2800" dirty="0">
                <a:latin typeface="Arial" panose="020B0604020202020204" pitchFamily="34" charset="0"/>
              </a:rPr>
              <a:t>的数据类型</a:t>
            </a:r>
            <a:endParaRPr lang="en-US" altLang="zh-CN" sz="2800" dirty="0">
              <a:latin typeface="Arial" panose="020B0604020202020204" pitchFamily="34" charset="0"/>
            </a:endParaRPr>
          </a:p>
          <a:p>
            <a:pPr algn="just" eaLnBrk="1" hangingPunct="1">
              <a:lnSpc>
                <a:spcPct val="150000"/>
              </a:lnSpc>
            </a:pPr>
            <a:r>
              <a:rPr lang="en-US" altLang="zh-CN" sz="2800" dirty="0">
                <a:latin typeface="Arial" panose="020B0604020202020204" pitchFamily="34" charset="0"/>
              </a:rPr>
              <a:t>9.6.2  Hive</a:t>
            </a:r>
            <a:r>
              <a:rPr lang="zh-CN" altLang="zh-CN" sz="2800" dirty="0">
                <a:latin typeface="Arial" panose="020B0604020202020204" pitchFamily="34" charset="0"/>
              </a:rPr>
              <a:t>基本操作</a:t>
            </a:r>
            <a:endParaRPr lang="en-US" altLang="zh-CN" sz="2800" dirty="0">
              <a:latin typeface="Arial" panose="020B0604020202020204" pitchFamily="34" charset="0"/>
            </a:endParaRPr>
          </a:p>
          <a:p>
            <a:pPr algn="just" eaLnBrk="1" hangingPunct="1">
              <a:lnSpc>
                <a:spcPct val="150000"/>
              </a:lnSpc>
            </a:pPr>
            <a:r>
              <a:rPr lang="en-US" altLang="zh-CN" sz="2800" dirty="0">
                <a:latin typeface="Arial" panose="020B0604020202020204" pitchFamily="34" charset="0"/>
              </a:rPr>
              <a:t>9.6.3	 Hive</a:t>
            </a:r>
            <a:r>
              <a:rPr lang="zh-CN" altLang="en-US" sz="2800" dirty="0">
                <a:latin typeface="Arial" panose="020B0604020202020204" pitchFamily="34" charset="0"/>
              </a:rPr>
              <a:t>应用实例：</a:t>
            </a:r>
            <a:r>
              <a:rPr lang="en-US" altLang="zh-CN" sz="2800" dirty="0">
                <a:latin typeface="Arial" panose="020B0604020202020204" pitchFamily="34" charset="0"/>
              </a:rPr>
              <a:t>WordCount</a:t>
            </a:r>
            <a:endParaRPr lang="en-US" altLang="zh-CN" sz="2800" dirty="0">
              <a:latin typeface="Arial" panose="020B0604020202020204" pitchFamily="34" charset="0"/>
            </a:endParaRPr>
          </a:p>
          <a:p>
            <a:pPr algn="just" eaLnBrk="1" hangingPunct="1">
              <a:lnSpc>
                <a:spcPct val="150000"/>
              </a:lnSpc>
            </a:pPr>
            <a:r>
              <a:rPr lang="en-US" altLang="zh-CN" sz="2800" dirty="0">
                <a:latin typeface="Arial" panose="020B0604020202020204" pitchFamily="34" charset="0"/>
              </a:rPr>
              <a:t>9.6.</a:t>
            </a:r>
            <a:r>
              <a:rPr lang="en-US" sz="2800" dirty="0">
                <a:latin typeface="Arial" panose="020B0604020202020204" pitchFamily="34" charset="0"/>
              </a:rPr>
              <a:t>4  </a:t>
            </a:r>
            <a:r>
              <a:rPr lang="zh-CN" altLang="en-US" sz="2800" dirty="0">
                <a:latin typeface="Arial" panose="020B0604020202020204" pitchFamily="34" charset="0"/>
              </a:rPr>
              <a:t>编程优势</a:t>
            </a:r>
            <a:endParaRPr lang="zh-CN" altLang="en-US" sz="2800" dirty="0">
              <a:latin typeface="Arial" panose="020B0604020202020204" pitchFamily="34" charset="0"/>
            </a:endParaRPr>
          </a:p>
        </p:txBody>
      </p:sp>
      <p:sp>
        <p:nvSpPr>
          <p:cNvPr id="48132" name="TextBox 3"/>
          <p:cNvSpPr txBox="1"/>
          <p:nvPr/>
        </p:nvSpPr>
        <p:spPr>
          <a:xfrm>
            <a:off x="1033780" y="5095240"/>
            <a:ext cx="7209155" cy="645160"/>
          </a:xfrm>
          <a:prstGeom prst="rect">
            <a:avLst/>
          </a:prstGeom>
          <a:noFill/>
          <a:ln w="9525">
            <a:noFill/>
          </a:ln>
        </p:spPr>
        <p:txBody>
          <a:bodyPr wrap="square">
            <a:spAutoFit/>
          </a:bodyPr>
          <a:lstStyle/>
          <a:p>
            <a:pPr eaLnBrk="1" hangingPunct="1"/>
            <a:r>
              <a:rPr lang="en-US" altLang="zh-CN" dirty="0">
                <a:latin typeface="Arial" panose="020B0604020202020204" pitchFamily="34" charset="0"/>
              </a:rPr>
              <a:t>Hive</a:t>
            </a:r>
            <a:r>
              <a:rPr lang="zh-CN" altLang="en-US" dirty="0">
                <a:latin typeface="Arial" panose="020B0604020202020204" pitchFamily="34" charset="0"/>
              </a:rPr>
              <a:t>上机实践，请参考：</a:t>
            </a:r>
            <a:r>
              <a:rPr lang="en-US" altLang="zh-CN" dirty="0">
                <a:latin typeface="Arial" panose="020B0604020202020204" pitchFamily="34" charset="0"/>
              </a:rPr>
              <a:t>《Hive </a:t>
            </a:r>
            <a:r>
              <a:rPr lang="zh-CN" altLang="en-US" dirty="0">
                <a:latin typeface="Arial" panose="020B0604020202020204" pitchFamily="34" charset="0"/>
              </a:rPr>
              <a:t>实践教程</a:t>
            </a:r>
            <a:r>
              <a:rPr lang="en-US" altLang="zh-CN" dirty="0">
                <a:latin typeface="Arial" panose="020B0604020202020204" pitchFamily="34" charset="0"/>
              </a:rPr>
              <a:t>》</a:t>
            </a:r>
            <a:endParaRPr lang="en-US" altLang="zh-CN" dirty="0">
              <a:latin typeface="Arial" panose="020B0604020202020204" pitchFamily="34" charset="0"/>
            </a:endParaRPr>
          </a:p>
          <a:p>
            <a:pPr eaLnBrk="1" hangingPunct="1"/>
            <a:r>
              <a:rPr lang="en-US" altLang="zh-CN" dirty="0">
                <a:latin typeface="Arial" panose="020B0604020202020204" pitchFamily="34" charset="0"/>
              </a:rPr>
              <a:t>http://dblab.xmu.edu.cn/blog/hive-in-practice/#more-509</a:t>
            </a:r>
            <a:endParaRPr lang="zh-CN" altLang="en-US"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9.6.1 Hive</a:t>
            </a:r>
            <a:r>
              <a:rPr lang="zh-CN" altLang="en-US" b="1" dirty="0"/>
              <a:t>的安装与配置</a:t>
            </a:r>
            <a:endParaRPr lang="en-US" altLang="zh-CN" b="1" dirty="0"/>
          </a:p>
        </p:txBody>
      </p:sp>
      <p:sp>
        <p:nvSpPr>
          <p:cNvPr id="49155" name="TextBox 3"/>
          <p:cNvSpPr txBox="1"/>
          <p:nvPr/>
        </p:nvSpPr>
        <p:spPr>
          <a:xfrm>
            <a:off x="2209800" y="1552575"/>
            <a:ext cx="1376680" cy="368300"/>
          </a:xfrm>
          <a:prstGeom prst="rect">
            <a:avLst/>
          </a:prstGeom>
          <a:noFill/>
          <a:ln w="9525">
            <a:noFill/>
          </a:ln>
        </p:spPr>
        <p:txBody>
          <a:bodyPr wrap="none">
            <a:spAutoFit/>
          </a:bodyPr>
          <a:lstStyle/>
          <a:p>
            <a:pPr eaLnBrk="1" hangingPunct="1"/>
            <a:r>
              <a:rPr lang="en-US" altLang="zh-CN" b="1" dirty="0">
                <a:latin typeface="Arial" panose="020B0604020202020204" pitchFamily="34" charset="0"/>
              </a:rPr>
              <a:t>1. Hive</a:t>
            </a:r>
            <a:r>
              <a:rPr lang="zh-CN" altLang="en-US" b="1" dirty="0">
                <a:latin typeface="Arial" panose="020B0604020202020204" pitchFamily="34" charset="0"/>
              </a:rPr>
              <a:t>安装</a:t>
            </a:r>
            <a:endParaRPr lang="zh-CN" altLang="en-US" b="1" dirty="0">
              <a:latin typeface="Arial" panose="020B0604020202020204" pitchFamily="34" charset="0"/>
            </a:endParaRPr>
          </a:p>
        </p:txBody>
      </p:sp>
      <p:sp>
        <p:nvSpPr>
          <p:cNvPr id="49156" name="矩形 4"/>
          <p:cNvSpPr/>
          <p:nvPr/>
        </p:nvSpPr>
        <p:spPr>
          <a:xfrm>
            <a:off x="2284413" y="2457450"/>
            <a:ext cx="6629400" cy="1476375"/>
          </a:xfrm>
          <a:prstGeom prst="rect">
            <a:avLst/>
          </a:prstGeom>
          <a:noFill/>
          <a:ln w="9525">
            <a:noFill/>
          </a:ln>
        </p:spPr>
        <p:txBody>
          <a:bodyPr>
            <a:spAutoFit/>
          </a:bodyPr>
          <a:lstStyle/>
          <a:p>
            <a:pPr eaLnBrk="1" hangingPunct="1">
              <a:buChar char="•"/>
            </a:pPr>
            <a:r>
              <a:rPr lang="zh-CN" altLang="en-US" dirty="0">
                <a:latin typeface="Arial" panose="020B0604020202020204" pitchFamily="34" charset="0"/>
              </a:rPr>
              <a:t>下载安装包</a:t>
            </a:r>
            <a:r>
              <a:rPr lang="en-US" altLang="zh-CN" dirty="0">
                <a:latin typeface="Arial" panose="020B0604020202020204" pitchFamily="34" charset="0"/>
              </a:rPr>
              <a:t>apache-hive-1.2.1-bin.tar.gz</a:t>
            </a:r>
            <a:endParaRPr lang="en-US" altLang="zh-CN" dirty="0">
              <a:latin typeface="Arial" panose="020B0604020202020204" pitchFamily="34" charset="0"/>
            </a:endParaRPr>
          </a:p>
          <a:p>
            <a:pPr eaLnBrk="1" hangingPunct="1"/>
            <a:r>
              <a:rPr lang="zh-CN" altLang="en-US" dirty="0">
                <a:latin typeface="Arial" panose="020B0604020202020204" pitchFamily="34" charset="0"/>
              </a:rPr>
              <a:t> 下载地址：</a:t>
            </a:r>
            <a:r>
              <a:rPr lang="en-US" altLang="zh-CN" dirty="0">
                <a:latin typeface="Arial" panose="020B0604020202020204" pitchFamily="34" charset="0"/>
              </a:rPr>
              <a:t>http://www.apache.org/dyn/closer.cgi/hive/</a:t>
            </a:r>
            <a:endParaRPr lang="en-US" altLang="zh-CN" dirty="0">
              <a:latin typeface="Arial" panose="020B0604020202020204" pitchFamily="34" charset="0"/>
            </a:endParaRPr>
          </a:p>
          <a:p>
            <a:pPr eaLnBrk="1" hangingPunct="1">
              <a:buChar char="•"/>
            </a:pPr>
            <a:r>
              <a:rPr lang="zh-CN" altLang="en-US" dirty="0">
                <a:latin typeface="Arial" panose="020B0604020202020204" pitchFamily="34" charset="0"/>
              </a:rPr>
              <a:t>解压安装包</a:t>
            </a:r>
            <a:r>
              <a:rPr lang="en-US" altLang="zh-CN" dirty="0">
                <a:latin typeface="Arial" panose="020B0604020202020204" pitchFamily="34" charset="0"/>
              </a:rPr>
              <a:t>apache-hive-1.2.1-bin.tar.gz</a:t>
            </a:r>
            <a:r>
              <a:rPr lang="zh-CN" altLang="en-US" dirty="0">
                <a:latin typeface="Arial" panose="020B0604020202020204" pitchFamily="34" charset="0"/>
              </a:rPr>
              <a:t>至路径 </a:t>
            </a:r>
            <a:r>
              <a:rPr lang="en-US" altLang="zh-CN" dirty="0">
                <a:latin typeface="Arial" panose="020B0604020202020204" pitchFamily="34" charset="0"/>
              </a:rPr>
              <a:t>/usr/local</a:t>
            </a:r>
            <a:endParaRPr lang="en-US" altLang="zh-CN" dirty="0">
              <a:latin typeface="Arial" panose="020B0604020202020204" pitchFamily="34" charset="0"/>
            </a:endParaRPr>
          </a:p>
          <a:p>
            <a:pPr eaLnBrk="1" hangingPunct="1">
              <a:buChar char="•"/>
            </a:pPr>
            <a:r>
              <a:rPr lang="zh-CN" altLang="en-US" dirty="0">
                <a:latin typeface="Arial" panose="020B0604020202020204" pitchFamily="34" charset="0"/>
              </a:rPr>
              <a:t>配置系统环境</a:t>
            </a:r>
            <a:r>
              <a:rPr lang="en-US" altLang="zh-CN" dirty="0">
                <a:latin typeface="Arial" panose="020B0604020202020204" pitchFamily="34" charset="0"/>
              </a:rPr>
              <a:t>,</a:t>
            </a:r>
            <a:r>
              <a:rPr lang="zh-CN" altLang="en-US" dirty="0">
                <a:latin typeface="Arial" panose="020B0604020202020204" pitchFamily="34" charset="0"/>
              </a:rPr>
              <a:t>将</a:t>
            </a:r>
            <a:r>
              <a:rPr lang="en-US" altLang="zh-CN" dirty="0">
                <a:latin typeface="Arial" panose="020B0604020202020204" pitchFamily="34" charset="0"/>
              </a:rPr>
              <a:t>hive</a:t>
            </a:r>
            <a:r>
              <a:rPr lang="zh-CN" altLang="en-US" dirty="0">
                <a:latin typeface="Arial" panose="020B0604020202020204" pitchFamily="34" charset="0"/>
              </a:rPr>
              <a:t>下的</a:t>
            </a:r>
            <a:r>
              <a:rPr lang="en-US" altLang="zh-CN" dirty="0">
                <a:latin typeface="Arial" panose="020B0604020202020204" pitchFamily="34" charset="0"/>
              </a:rPr>
              <a:t>bin</a:t>
            </a:r>
            <a:r>
              <a:rPr lang="zh-CN" altLang="en-US" dirty="0">
                <a:latin typeface="Arial" panose="020B0604020202020204" pitchFamily="34" charset="0"/>
              </a:rPr>
              <a:t>目录添加到系统的</a:t>
            </a:r>
            <a:r>
              <a:rPr lang="en-US" altLang="zh-CN" dirty="0">
                <a:latin typeface="Arial" panose="020B0604020202020204" pitchFamily="34" charset="0"/>
              </a:rPr>
              <a:t>path</a:t>
            </a:r>
            <a:r>
              <a:rPr lang="zh-CN" altLang="en-US" dirty="0">
                <a:latin typeface="Arial" panose="020B0604020202020204" pitchFamily="34" charset="0"/>
              </a:rPr>
              <a:t>中</a:t>
            </a:r>
            <a:endParaRPr lang="en-US" altLang="zh-CN" dirty="0">
              <a:latin typeface="Arial" panose="020B0604020202020204" pitchFamily="34" charset="0"/>
            </a:endParaRPr>
          </a:p>
          <a:p>
            <a:pPr eaLnBrk="1" hangingPunct="1">
              <a:buChar char="•"/>
            </a:pPr>
            <a:endParaRPr lang="zh-CN" altLang="en-US" dirty="0">
              <a:latin typeface="Arial" panose="020B0604020202020204" pitchFamily="34" charset="0"/>
            </a:endParaRPr>
          </a:p>
        </p:txBody>
      </p:sp>
      <p:sp>
        <p:nvSpPr>
          <p:cNvPr id="49157" name="矩形 5"/>
          <p:cNvSpPr/>
          <p:nvPr/>
        </p:nvSpPr>
        <p:spPr>
          <a:xfrm>
            <a:off x="2209800" y="3773488"/>
            <a:ext cx="1376680" cy="368300"/>
          </a:xfrm>
          <a:prstGeom prst="rect">
            <a:avLst/>
          </a:prstGeom>
          <a:noFill/>
          <a:ln w="9525">
            <a:noFill/>
          </a:ln>
        </p:spPr>
        <p:txBody>
          <a:bodyPr wrap="none">
            <a:spAutoFit/>
          </a:bodyPr>
          <a:lstStyle/>
          <a:p>
            <a:pPr eaLnBrk="1" hangingPunct="1"/>
            <a:r>
              <a:rPr lang="en-US" altLang="zh-CN" b="1" dirty="0">
                <a:latin typeface="Arial" panose="020B0604020202020204" pitchFamily="34" charset="0"/>
              </a:rPr>
              <a:t>2. Hive</a:t>
            </a:r>
            <a:r>
              <a:rPr lang="zh-CN" altLang="en-US" b="1" dirty="0">
                <a:latin typeface="Arial" panose="020B0604020202020204" pitchFamily="34" charset="0"/>
              </a:rPr>
              <a:t>配置</a:t>
            </a:r>
            <a:endParaRPr lang="zh-CN" altLang="en-US" b="1" dirty="0">
              <a:latin typeface="Arial" panose="020B0604020202020204" pitchFamily="34" charset="0"/>
            </a:endParaRPr>
          </a:p>
        </p:txBody>
      </p:sp>
      <p:sp>
        <p:nvSpPr>
          <p:cNvPr id="49158" name="矩形 6"/>
          <p:cNvSpPr/>
          <p:nvPr/>
        </p:nvSpPr>
        <p:spPr>
          <a:xfrm>
            <a:off x="2286000" y="4333875"/>
            <a:ext cx="7620000" cy="922020"/>
          </a:xfrm>
          <a:prstGeom prst="rect">
            <a:avLst/>
          </a:prstGeom>
          <a:noFill/>
          <a:ln w="9525">
            <a:noFill/>
          </a:ln>
        </p:spPr>
        <p:txBody>
          <a:bodyPr>
            <a:spAutoFit/>
          </a:bodyPr>
          <a:lstStyle/>
          <a:p>
            <a:pPr eaLnBrk="1" hangingPunct="1"/>
            <a:r>
              <a:rPr lang="en-US" altLang="zh-CN" b="1" dirty="0">
                <a:latin typeface="Arial" panose="020B0604020202020204" pitchFamily="34" charset="0"/>
              </a:rPr>
              <a:t>Hive</a:t>
            </a:r>
            <a:r>
              <a:rPr lang="zh-CN" altLang="en-US" dirty="0">
                <a:latin typeface="Arial" panose="020B0604020202020204" pitchFamily="34" charset="0"/>
              </a:rPr>
              <a:t>有三种运行模式，单机模式、伪分布式模式、分布式模式。</a:t>
            </a:r>
            <a:br>
              <a:rPr lang="zh-CN" altLang="en-US" dirty="0">
                <a:latin typeface="Arial" panose="020B0604020202020204" pitchFamily="34" charset="0"/>
              </a:rPr>
            </a:br>
            <a:r>
              <a:rPr lang="zh-CN" altLang="en-US" dirty="0">
                <a:latin typeface="Arial" panose="020B0604020202020204" pitchFamily="34" charset="0"/>
              </a:rPr>
              <a:t>均是通过修改</a:t>
            </a:r>
            <a:r>
              <a:rPr lang="en-US" altLang="zh-CN" dirty="0">
                <a:latin typeface="Arial" panose="020B0604020202020204" pitchFamily="34" charset="0"/>
              </a:rPr>
              <a:t>hive-site.xml</a:t>
            </a:r>
            <a:r>
              <a:rPr lang="zh-CN" altLang="en-US" dirty="0">
                <a:latin typeface="Arial" panose="020B0604020202020204" pitchFamily="34" charset="0"/>
              </a:rPr>
              <a:t>文件实现，如果</a:t>
            </a:r>
            <a:r>
              <a:rPr lang="en-US" altLang="zh-CN" dirty="0">
                <a:latin typeface="Arial" panose="020B0604020202020204" pitchFamily="34" charset="0"/>
              </a:rPr>
              <a:t> hive-site.xml</a:t>
            </a:r>
            <a:r>
              <a:rPr lang="zh-CN" altLang="en-US" dirty="0">
                <a:latin typeface="Arial" panose="020B0604020202020204" pitchFamily="34" charset="0"/>
              </a:rPr>
              <a:t>文件不存在，我们可以参考</a:t>
            </a:r>
            <a:r>
              <a:rPr lang="en-US" altLang="zh-CN" dirty="0">
                <a:latin typeface="Arial" panose="020B0604020202020204" pitchFamily="34" charset="0"/>
              </a:rPr>
              <a:t>$HIVE_HOME/conf</a:t>
            </a:r>
            <a:r>
              <a:rPr lang="zh-CN" altLang="en-US" dirty="0">
                <a:latin typeface="Arial" panose="020B0604020202020204" pitchFamily="34" charset="0"/>
              </a:rPr>
              <a:t>目录下的</a:t>
            </a:r>
            <a:r>
              <a:rPr lang="en-US" altLang="zh-CN" dirty="0">
                <a:latin typeface="Arial" panose="020B0604020202020204" pitchFamily="34" charset="0"/>
              </a:rPr>
              <a:t>hive-default.xml.template</a:t>
            </a:r>
            <a:r>
              <a:rPr lang="zh-CN" altLang="en-US" dirty="0">
                <a:latin typeface="Arial" panose="020B0604020202020204" pitchFamily="34" charset="0"/>
              </a:rPr>
              <a:t>文件新建。</a:t>
            </a:r>
            <a:endParaRPr lang="zh-CN" altLang="en-US" dirty="0">
              <a:latin typeface="Arial" panose="020B0604020202020204" pitchFamily="34" charset="0"/>
            </a:endParaRPr>
          </a:p>
        </p:txBody>
      </p:sp>
      <p:sp>
        <p:nvSpPr>
          <p:cNvPr id="49159" name="文本框 1"/>
          <p:cNvSpPr txBox="1"/>
          <p:nvPr/>
        </p:nvSpPr>
        <p:spPr>
          <a:xfrm>
            <a:off x="2590800" y="2009775"/>
            <a:ext cx="6323013" cy="368300"/>
          </a:xfrm>
          <a:prstGeom prst="rect">
            <a:avLst/>
          </a:prstGeom>
          <a:noFill/>
          <a:ln w="9525">
            <a:noFill/>
          </a:ln>
        </p:spPr>
        <p:txBody>
          <a:bodyPr>
            <a:spAutoFit/>
          </a:bodyPr>
          <a:lstStyle/>
          <a:p>
            <a:pPr eaLnBrk="1" hangingPunct="1"/>
            <a:r>
              <a:rPr lang="zh-CN" altLang="en-US" dirty="0">
                <a:latin typeface="Arial" panose="020B0604020202020204" pitchFamily="34" charset="0"/>
              </a:rPr>
              <a:t>安装</a:t>
            </a:r>
            <a:r>
              <a:rPr lang="en-US" altLang="zh-CN" dirty="0">
                <a:latin typeface="Arial" panose="020B0604020202020204" pitchFamily="34" charset="0"/>
              </a:rPr>
              <a:t>Hive</a:t>
            </a:r>
            <a:r>
              <a:rPr lang="zh-CN" altLang="en-US" dirty="0">
                <a:latin typeface="Arial" panose="020B0604020202020204" pitchFamily="34" charset="0"/>
              </a:rPr>
              <a:t>之前需要安装</a:t>
            </a:r>
            <a:r>
              <a:rPr lang="en-US" altLang="zh-CN" dirty="0">
                <a:latin typeface="Arial" panose="020B0604020202020204" pitchFamily="34" charset="0"/>
              </a:rPr>
              <a:t>jdk1.6</a:t>
            </a:r>
            <a:r>
              <a:rPr lang="zh-CN" altLang="en-US" dirty="0">
                <a:latin typeface="Arial" panose="020B0604020202020204" pitchFamily="34" charset="0"/>
              </a:rPr>
              <a:t>以上版本以及启动</a:t>
            </a:r>
            <a:r>
              <a:rPr lang="en-US" altLang="zh-CN" dirty="0">
                <a:latin typeface="Arial" panose="020B0604020202020204" pitchFamily="34" charset="0"/>
              </a:rPr>
              <a:t>Hadoop</a:t>
            </a:r>
            <a:r>
              <a:rPr lang="zh-CN" altLang="en-US" dirty="0">
                <a:latin typeface="Arial" panose="020B0604020202020204" pitchFamily="34" charset="0"/>
              </a:rPr>
              <a:t>。</a:t>
            </a:r>
            <a:endParaRPr lang="zh-CN" altLang="en-US" dirty="0">
              <a:latin typeface="Arial" panose="020B0604020202020204" pitchFamily="3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9.6.1 Hive</a:t>
            </a:r>
            <a:r>
              <a:rPr lang="zh-CN" altLang="zh-CN" b="1" dirty="0"/>
              <a:t>的数据类型</a:t>
            </a:r>
            <a:endParaRPr lang="en-US" altLang="zh-CN" b="1" dirty="0"/>
          </a:p>
        </p:txBody>
      </p:sp>
      <p:graphicFrame>
        <p:nvGraphicFramePr>
          <p:cNvPr id="3" name="表格 2"/>
          <p:cNvGraphicFramePr>
            <a:graphicFrameLocks noGrp="1"/>
          </p:cNvGraphicFramePr>
          <p:nvPr>
            <p:custDataLst>
              <p:tags r:id="rId1"/>
            </p:custDataLst>
          </p:nvPr>
        </p:nvGraphicFramePr>
        <p:xfrm>
          <a:off x="1433830" y="1610995"/>
          <a:ext cx="10120630" cy="4904740"/>
        </p:xfrm>
        <a:graphic>
          <a:graphicData uri="http://schemas.openxmlformats.org/drawingml/2006/table">
            <a:tbl>
              <a:tblPr firstRow="1" firstCol="1" bandRow="1">
                <a:tableStyleId>{5C22544A-7EE6-4342-B048-85BDC9FD1C3A}</a:tableStyleId>
              </a:tblPr>
              <a:tblGrid>
                <a:gridCol w="2087880"/>
                <a:gridCol w="4908550"/>
                <a:gridCol w="3124200"/>
              </a:tblGrid>
              <a:tr h="408940">
                <a:tc>
                  <a:txBody>
                    <a:bodyPr/>
                    <a:lstStyle/>
                    <a:p>
                      <a:pPr algn="ctr">
                        <a:spcAft>
                          <a:spcPts val="0"/>
                        </a:spcAft>
                      </a:pPr>
                      <a:r>
                        <a:rPr lang="zh-CN" sz="2400" kern="100" dirty="0">
                          <a:solidFill>
                            <a:schemeClr val="bg1"/>
                          </a:solidFill>
                          <a:effectLst/>
                        </a:rPr>
                        <a:t>类型</a:t>
                      </a:r>
                      <a:endParaRPr lang="zh-CN"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400" kern="100" dirty="0">
                          <a:solidFill>
                            <a:schemeClr val="bg1"/>
                          </a:solidFill>
                          <a:effectLst/>
                        </a:rPr>
                        <a:t>描述</a:t>
                      </a:r>
                      <a:endParaRPr lang="zh-CN"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400" kern="100" dirty="0">
                          <a:solidFill>
                            <a:schemeClr val="bg1"/>
                          </a:solidFill>
                          <a:effectLst/>
                        </a:rPr>
                        <a:t>示例</a:t>
                      </a:r>
                      <a:endParaRPr lang="zh-CN"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08305">
                <a:tc>
                  <a:txBody>
                    <a:bodyPr/>
                    <a:lstStyle/>
                    <a:p>
                      <a:pPr algn="ctr">
                        <a:spcAft>
                          <a:spcPts val="0"/>
                        </a:spcAft>
                      </a:pPr>
                      <a:r>
                        <a:rPr lang="en-US" sz="2400" kern="100" dirty="0">
                          <a:solidFill>
                            <a:schemeClr val="bg1"/>
                          </a:solidFill>
                          <a:effectLst/>
                        </a:rPr>
                        <a:t>TINYINT</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dirty="0">
                          <a:effectLst/>
                        </a:rPr>
                        <a:t>1</a:t>
                      </a:r>
                      <a:r>
                        <a:rPr lang="zh-CN" sz="2400" kern="100" dirty="0">
                          <a:effectLst/>
                        </a:rPr>
                        <a:t>个字节（</a:t>
                      </a:r>
                      <a:r>
                        <a:rPr lang="en-US" sz="2400" kern="100" dirty="0">
                          <a:effectLst/>
                        </a:rPr>
                        <a:t>8</a:t>
                      </a:r>
                      <a:r>
                        <a:rPr lang="zh-CN" sz="2400" kern="100" dirty="0">
                          <a:effectLst/>
                        </a:rPr>
                        <a:t>位）有符号整数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a:effectLst/>
                        </a:rPr>
                        <a:t>1</a:t>
                      </a:r>
                      <a:endParaRPr lang="en-US"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08940">
                <a:tc>
                  <a:txBody>
                    <a:bodyPr/>
                    <a:lstStyle/>
                    <a:p>
                      <a:pPr algn="ctr">
                        <a:spcAft>
                          <a:spcPts val="0"/>
                        </a:spcAft>
                      </a:pPr>
                      <a:r>
                        <a:rPr lang="en-US" sz="2400" kern="100" dirty="0">
                          <a:solidFill>
                            <a:schemeClr val="bg1"/>
                          </a:solidFill>
                          <a:effectLst/>
                        </a:rPr>
                        <a:t>SMALLINT</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dirty="0">
                          <a:effectLst/>
                        </a:rPr>
                        <a:t>2</a:t>
                      </a:r>
                      <a:r>
                        <a:rPr lang="zh-CN" sz="2400" kern="100" dirty="0">
                          <a:effectLst/>
                        </a:rPr>
                        <a:t>个字节（</a:t>
                      </a:r>
                      <a:r>
                        <a:rPr lang="en-US" sz="2400" kern="100" dirty="0">
                          <a:effectLst/>
                        </a:rPr>
                        <a:t>16</a:t>
                      </a:r>
                      <a:r>
                        <a:rPr lang="zh-CN" sz="2400" kern="100" dirty="0">
                          <a:effectLst/>
                        </a:rPr>
                        <a:t>位）有符号整数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a:effectLst/>
                        </a:rPr>
                        <a:t>1</a:t>
                      </a:r>
                      <a:endParaRPr lang="en-US"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08305">
                <a:tc>
                  <a:txBody>
                    <a:bodyPr/>
                    <a:lstStyle/>
                    <a:p>
                      <a:pPr algn="ctr">
                        <a:spcAft>
                          <a:spcPts val="0"/>
                        </a:spcAft>
                      </a:pPr>
                      <a:r>
                        <a:rPr lang="en-US" sz="2400" kern="100" dirty="0">
                          <a:solidFill>
                            <a:schemeClr val="bg1"/>
                          </a:solidFill>
                          <a:effectLst/>
                        </a:rPr>
                        <a:t>INT</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dirty="0">
                          <a:effectLst/>
                        </a:rPr>
                        <a:t>4</a:t>
                      </a:r>
                      <a:r>
                        <a:rPr lang="zh-CN" sz="2400" kern="100" dirty="0">
                          <a:effectLst/>
                        </a:rPr>
                        <a:t>个字节（</a:t>
                      </a:r>
                      <a:r>
                        <a:rPr lang="en-US" sz="2400" kern="100" dirty="0">
                          <a:effectLst/>
                        </a:rPr>
                        <a:t>32</a:t>
                      </a:r>
                      <a:r>
                        <a:rPr lang="zh-CN" sz="2400" kern="100" dirty="0">
                          <a:effectLst/>
                        </a:rPr>
                        <a:t>位）有符号整数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a:effectLst/>
                        </a:rPr>
                        <a:t>1</a:t>
                      </a:r>
                      <a:endParaRPr lang="en-US"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r h="408940">
                <a:tc>
                  <a:txBody>
                    <a:bodyPr/>
                    <a:lstStyle/>
                    <a:p>
                      <a:pPr algn="ctr">
                        <a:spcAft>
                          <a:spcPts val="0"/>
                        </a:spcAft>
                      </a:pPr>
                      <a:r>
                        <a:rPr lang="en-US" sz="2400" kern="100" dirty="0">
                          <a:solidFill>
                            <a:schemeClr val="bg1"/>
                          </a:solidFill>
                          <a:effectLst/>
                        </a:rPr>
                        <a:t>BIGINT</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dirty="0">
                          <a:effectLst/>
                        </a:rPr>
                        <a:t>8</a:t>
                      </a:r>
                      <a:r>
                        <a:rPr lang="zh-CN" sz="2400" kern="100" dirty="0">
                          <a:effectLst/>
                        </a:rPr>
                        <a:t>个字节（</a:t>
                      </a:r>
                      <a:r>
                        <a:rPr lang="en-US" sz="2400" kern="100" dirty="0">
                          <a:effectLst/>
                        </a:rPr>
                        <a:t>64</a:t>
                      </a:r>
                      <a:r>
                        <a:rPr lang="zh-CN" sz="2400" kern="100" dirty="0">
                          <a:effectLst/>
                        </a:rPr>
                        <a:t>位）有符号整数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a:effectLst/>
                        </a:rPr>
                        <a:t>1</a:t>
                      </a:r>
                      <a:endParaRPr lang="en-US"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r>
            </a:tbl>
          </a:graphicData>
        </a:graphic>
      </p:graphicFrame>
      <p:graphicFrame>
        <p:nvGraphicFramePr>
          <p:cNvPr id="4" name="表格 3"/>
          <p:cNvGraphicFramePr>
            <a:graphicFrameLocks noGrp="1"/>
          </p:cNvGraphicFramePr>
          <p:nvPr>
            <p:custDataLst>
              <p:tags r:id="rId2"/>
            </p:custDataLst>
          </p:nvPr>
        </p:nvGraphicFramePr>
        <p:xfrm>
          <a:off x="1433830" y="4608195"/>
          <a:ext cx="10120630" cy="2043430"/>
        </p:xfrm>
        <a:graphic>
          <a:graphicData uri="http://schemas.openxmlformats.org/drawingml/2006/table">
            <a:tbl>
              <a:tblPr firstRow="1" firstCol="1" bandRow="1">
                <a:tableStyleId>{5C22544A-7EE6-4342-B048-85BDC9FD1C3A}</a:tableStyleId>
              </a:tblPr>
              <a:tblGrid>
                <a:gridCol w="2087880"/>
                <a:gridCol w="4908550"/>
                <a:gridCol w="3124200"/>
              </a:tblGrid>
              <a:tr h="408940">
                <a:tc>
                  <a:txBody>
                    <a:bodyPr/>
                    <a:lstStyle/>
                    <a:p>
                      <a:pPr algn="ctr">
                        <a:spcAft>
                          <a:spcPts val="0"/>
                        </a:spcAft>
                      </a:pPr>
                      <a:r>
                        <a:rPr lang="en-US" sz="2400" kern="100" dirty="0">
                          <a:solidFill>
                            <a:schemeClr val="bg1"/>
                          </a:solidFill>
                          <a:effectLst/>
                        </a:rPr>
                        <a:t>BOOLEAN</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buClrTx/>
                        <a:buSzTx/>
                        <a:buFontTx/>
                      </a:pPr>
                      <a:r>
                        <a:rPr lang="en-US" sz="2400" b="0" kern="100">
                          <a:solidFill>
                            <a:schemeClr val="dk1"/>
                          </a:solidFill>
                          <a:effectLst/>
                        </a:rPr>
                        <a:t>布尔类型，true/false</a:t>
                      </a:r>
                      <a:endParaRPr lang="en-US" sz="2400" b="0" kern="100">
                        <a:solidFill>
                          <a:schemeClr val="dk1"/>
                        </a:solidFill>
                        <a:effectLst/>
                      </a:endParaRPr>
                    </a:p>
                  </a:txBody>
                  <a:tcPr marL="68580" marR="68580" marT="0" marB="0" anchor="ctr">
                    <a:solidFill>
                      <a:srgbClr val="CFD5EA"/>
                    </a:solidFill>
                  </a:tcPr>
                </a:tc>
                <a:tc>
                  <a:txBody>
                    <a:bodyPr/>
                    <a:lstStyle/>
                    <a:p>
                      <a:pPr algn="ctr">
                        <a:spcAft>
                          <a:spcPts val="0"/>
                        </a:spcAft>
                        <a:buClrTx/>
                        <a:buSzTx/>
                        <a:buFontTx/>
                      </a:pPr>
                      <a:r>
                        <a:rPr lang="en-US" sz="2400" b="0" kern="100">
                          <a:solidFill>
                            <a:schemeClr val="dk1"/>
                          </a:solidFill>
                          <a:effectLst/>
                        </a:rPr>
                        <a:t>true</a:t>
                      </a:r>
                      <a:endParaRPr lang="en-US" sz="2400" b="0" kern="100">
                        <a:solidFill>
                          <a:schemeClr val="dk1"/>
                        </a:solidFill>
                        <a:effectLst/>
                      </a:endParaRPr>
                    </a:p>
                  </a:txBody>
                  <a:tcPr marL="68580" marR="68580" marT="0" marB="0" anchor="ctr">
                    <a:solidFill>
                      <a:srgbClr val="CFD5EA"/>
                    </a:solidFill>
                  </a:tcPr>
                </a:tc>
              </a:tr>
              <a:tr h="408305">
                <a:tc>
                  <a:txBody>
                    <a:bodyPr/>
                    <a:lstStyle/>
                    <a:p>
                      <a:pPr algn="ctr">
                        <a:spcAft>
                          <a:spcPts val="0"/>
                        </a:spcAft>
                      </a:pPr>
                      <a:r>
                        <a:rPr lang="en-US" sz="2400" kern="100" dirty="0">
                          <a:solidFill>
                            <a:schemeClr val="bg1"/>
                          </a:solidFill>
                          <a:effectLst/>
                        </a:rPr>
                        <a:t>STRING</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400" kern="100" dirty="0">
                          <a:effectLst/>
                        </a:rPr>
                        <a:t>字符串，可以指定字符集</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E9EBF5"/>
                    </a:solidFill>
                  </a:tcPr>
                </a:tc>
                <a:tc>
                  <a:txBody>
                    <a:bodyPr/>
                    <a:lstStyle/>
                    <a:p>
                      <a:pPr algn="ctr">
                        <a:spcAft>
                          <a:spcPts val="0"/>
                        </a:spcAft>
                      </a:pPr>
                      <a:r>
                        <a:rPr lang="en-US" sz="2400" kern="100" dirty="0">
                          <a:effectLst/>
                        </a:rPr>
                        <a:t>“</a:t>
                      </a:r>
                      <a:r>
                        <a:rPr lang="en-US" sz="2400" kern="100" dirty="0" err="1">
                          <a:effectLst/>
                        </a:rPr>
                        <a:t>xmu</a:t>
                      </a:r>
                      <a:r>
                        <a:rPr lang="en-US" sz="2400" kern="100" dirty="0">
                          <a:effectLst/>
                        </a:rPr>
                        <a:t>”</a:t>
                      </a:r>
                      <a:endParaRPr lang="en-US"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E9EBF5"/>
                    </a:solidFill>
                  </a:tcPr>
                </a:tc>
              </a:tr>
              <a:tr h="817245">
                <a:tc>
                  <a:txBody>
                    <a:bodyPr/>
                    <a:lstStyle/>
                    <a:p>
                      <a:pPr algn="ctr">
                        <a:spcAft>
                          <a:spcPts val="0"/>
                        </a:spcAft>
                      </a:pPr>
                      <a:r>
                        <a:rPr lang="en-US" sz="2400" kern="100" dirty="0">
                          <a:solidFill>
                            <a:schemeClr val="bg1"/>
                          </a:solidFill>
                          <a:effectLst/>
                        </a:rPr>
                        <a:t>TIMESTAMP</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400" kern="100" dirty="0">
                          <a:effectLst/>
                        </a:rPr>
                        <a:t>整数、浮点数或者字符串</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CFD5EA"/>
                    </a:solidFill>
                  </a:tcPr>
                </a:tc>
                <a:tc>
                  <a:txBody>
                    <a:bodyPr/>
                    <a:lstStyle/>
                    <a:p>
                      <a:pPr algn="ctr">
                        <a:spcAft>
                          <a:spcPts val="0"/>
                        </a:spcAft>
                      </a:pPr>
                      <a:r>
                        <a:rPr lang="en-US" sz="2400" kern="100" dirty="0">
                          <a:effectLst/>
                        </a:rPr>
                        <a:t>1327882394</a:t>
                      </a:r>
                      <a:endParaRPr lang="en-US" sz="2400" kern="100" dirty="0">
                        <a:effectLst/>
                      </a:endParaRPr>
                    </a:p>
                    <a:p>
                      <a:pPr algn="ctr">
                        <a:spcAft>
                          <a:spcPts val="0"/>
                        </a:spcAft>
                      </a:pPr>
                      <a:r>
                        <a:rPr lang="zh-CN" sz="2400" kern="100" dirty="0">
                          <a:effectLst/>
                        </a:rPr>
                        <a:t>（</a:t>
                      </a:r>
                      <a:r>
                        <a:rPr lang="en-US" sz="2400" kern="100" dirty="0">
                          <a:effectLst/>
                        </a:rPr>
                        <a:t>Unix</a:t>
                      </a:r>
                      <a:r>
                        <a:rPr lang="zh-CN" sz="2400" kern="100" dirty="0">
                          <a:effectLst/>
                        </a:rPr>
                        <a:t>新纪元秒）</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CFD5EA"/>
                    </a:solidFill>
                  </a:tcPr>
                </a:tc>
              </a:tr>
              <a:tr h="408940">
                <a:tc>
                  <a:txBody>
                    <a:bodyPr/>
                    <a:lstStyle/>
                    <a:p>
                      <a:pPr algn="ctr">
                        <a:spcAft>
                          <a:spcPts val="0"/>
                        </a:spcAft>
                      </a:pPr>
                      <a:r>
                        <a:rPr lang="en-US" sz="2400" kern="100" dirty="0">
                          <a:solidFill>
                            <a:schemeClr val="bg1"/>
                          </a:solidFill>
                          <a:effectLst/>
                        </a:rPr>
                        <a:t>BINARY</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2400" kern="100">
                          <a:effectLst/>
                        </a:rPr>
                        <a:t>字节数组</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E9EBF5"/>
                    </a:solidFill>
                  </a:tcPr>
                </a:tc>
                <a:tc>
                  <a:txBody>
                    <a:bodyPr/>
                    <a:lstStyle/>
                    <a:p>
                      <a:pPr algn="ctr">
                        <a:spcAft>
                          <a:spcPts val="0"/>
                        </a:spcAft>
                      </a:pPr>
                      <a:r>
                        <a:rPr lang="en-US" sz="2400" kern="100" dirty="0">
                          <a:effectLst/>
                        </a:rPr>
                        <a:t>[0,1,0,1,0,1,0,1]</a:t>
                      </a:r>
                      <a:endParaRPr lang="en-US"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E9EBF5"/>
                    </a:solidFill>
                  </a:tcPr>
                </a:tc>
              </a:tr>
            </a:tbl>
          </a:graphicData>
        </a:graphic>
      </p:graphicFrame>
      <p:graphicFrame>
        <p:nvGraphicFramePr>
          <p:cNvPr id="6" name="表格 5"/>
          <p:cNvGraphicFramePr>
            <a:graphicFrameLocks noGrp="1"/>
          </p:cNvGraphicFramePr>
          <p:nvPr>
            <p:custDataLst>
              <p:tags r:id="rId3"/>
            </p:custDataLst>
          </p:nvPr>
        </p:nvGraphicFramePr>
        <p:xfrm>
          <a:off x="1433830" y="3715385"/>
          <a:ext cx="10120630" cy="817880"/>
        </p:xfrm>
        <a:graphic>
          <a:graphicData uri="http://schemas.openxmlformats.org/drawingml/2006/table">
            <a:tbl>
              <a:tblPr firstRow="1" firstCol="1" bandRow="1">
                <a:tableStyleId>{5C22544A-7EE6-4342-B048-85BDC9FD1C3A}</a:tableStyleId>
              </a:tblPr>
              <a:tblGrid>
                <a:gridCol w="2087880"/>
                <a:gridCol w="4908550"/>
                <a:gridCol w="3124200"/>
              </a:tblGrid>
              <a:tr h="409575">
                <a:tc>
                  <a:txBody>
                    <a:bodyPr/>
                    <a:lstStyle/>
                    <a:p>
                      <a:pPr algn="ctr">
                        <a:spcAft>
                          <a:spcPts val="0"/>
                        </a:spcAft>
                      </a:pPr>
                      <a:r>
                        <a:rPr lang="en-US" sz="2400" kern="100" dirty="0">
                          <a:solidFill>
                            <a:schemeClr val="bg1"/>
                          </a:solidFill>
                          <a:effectLst/>
                        </a:rPr>
                        <a:t>FLOAT</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buClrTx/>
                        <a:buSzTx/>
                        <a:buFontTx/>
                      </a:pPr>
                      <a:r>
                        <a:rPr lang="en-US" sz="2400" b="0" kern="100">
                          <a:solidFill>
                            <a:schemeClr val="dk1"/>
                          </a:solidFill>
                          <a:effectLst/>
                        </a:rPr>
                        <a:t>4个字节（32位）单精度浮点数</a:t>
                      </a:r>
                      <a:endParaRPr lang="en-US" sz="2400" b="0" kern="100">
                        <a:solidFill>
                          <a:schemeClr val="dk1"/>
                        </a:solidFill>
                        <a:effectLst/>
                      </a:endParaRPr>
                    </a:p>
                  </a:txBody>
                  <a:tcPr marL="68580" marR="68580" marT="0" marB="0" anchor="ctr">
                    <a:solidFill>
                      <a:srgbClr val="CFD5EA"/>
                    </a:solidFill>
                  </a:tcPr>
                </a:tc>
                <a:tc>
                  <a:txBody>
                    <a:bodyPr/>
                    <a:lstStyle/>
                    <a:p>
                      <a:pPr algn="ctr">
                        <a:spcAft>
                          <a:spcPts val="0"/>
                        </a:spcAft>
                        <a:buClrTx/>
                        <a:buSzTx/>
                        <a:buFontTx/>
                      </a:pPr>
                      <a:r>
                        <a:rPr lang="en-US" sz="2400" b="0" kern="100">
                          <a:solidFill>
                            <a:schemeClr val="dk1"/>
                          </a:solidFill>
                          <a:effectLst/>
                        </a:rPr>
                        <a:t>1.0</a:t>
                      </a:r>
                      <a:endParaRPr lang="en-US" sz="2400" b="0" kern="100">
                        <a:solidFill>
                          <a:schemeClr val="dk1"/>
                        </a:solidFill>
                        <a:effectLst/>
                      </a:endParaRPr>
                    </a:p>
                  </a:txBody>
                  <a:tcPr marL="68580" marR="68580" marT="0" marB="0" anchor="ctr">
                    <a:solidFill>
                      <a:srgbClr val="CFD5EA"/>
                    </a:solidFill>
                  </a:tcPr>
                </a:tc>
              </a:tr>
              <a:tr h="408305">
                <a:tc>
                  <a:txBody>
                    <a:bodyPr/>
                    <a:lstStyle/>
                    <a:p>
                      <a:pPr algn="ctr">
                        <a:spcAft>
                          <a:spcPts val="0"/>
                        </a:spcAft>
                      </a:pPr>
                      <a:r>
                        <a:rPr lang="en-US" sz="2400" kern="100" dirty="0">
                          <a:solidFill>
                            <a:schemeClr val="bg1"/>
                          </a:solidFill>
                          <a:effectLst/>
                        </a:rPr>
                        <a:t>DOUBLE</a:t>
                      </a:r>
                      <a:endParaRPr lang="en-US" sz="2400" kern="100" dirty="0">
                        <a:solidFill>
                          <a:schemeClr val="bg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2400" kern="100" dirty="0">
                          <a:effectLst/>
                        </a:rPr>
                        <a:t>8</a:t>
                      </a:r>
                      <a:r>
                        <a:rPr lang="zh-CN" sz="2400" kern="100" dirty="0">
                          <a:effectLst/>
                        </a:rPr>
                        <a:t>个字节（</a:t>
                      </a:r>
                      <a:r>
                        <a:rPr lang="en-US" sz="2400" kern="100" dirty="0">
                          <a:effectLst/>
                        </a:rPr>
                        <a:t>64</a:t>
                      </a:r>
                      <a:r>
                        <a:rPr lang="zh-CN" sz="2400" kern="100" dirty="0">
                          <a:effectLst/>
                        </a:rPr>
                        <a:t>位）双精度浮点数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E9EBF5"/>
                    </a:solidFill>
                  </a:tcPr>
                </a:tc>
                <a:tc>
                  <a:txBody>
                    <a:bodyPr/>
                    <a:lstStyle/>
                    <a:p>
                      <a:pPr algn="ctr">
                        <a:spcAft>
                          <a:spcPts val="0"/>
                        </a:spcAft>
                      </a:pPr>
                      <a:r>
                        <a:rPr lang="en-US" sz="2400" kern="100">
                          <a:effectLst/>
                        </a:rPr>
                        <a:t>1.0</a:t>
                      </a:r>
                      <a:endParaRPr lang="en-US"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solidFill>
                      <a:srgbClr val="E9EBF5"/>
                    </a:solidFill>
                  </a:tcPr>
                </a:tc>
              </a:tr>
            </a:tbl>
          </a:graphicData>
        </a:graphic>
      </p:graphicFrame>
      <p:sp>
        <p:nvSpPr>
          <p:cNvPr id="7" name="文本框 6"/>
          <p:cNvSpPr txBox="1"/>
          <p:nvPr/>
        </p:nvSpPr>
        <p:spPr>
          <a:xfrm>
            <a:off x="428625" y="2593975"/>
            <a:ext cx="556260" cy="3072130"/>
          </a:xfrm>
          <a:prstGeom prst="rect">
            <a:avLst/>
          </a:prstGeom>
          <a:noFill/>
        </p:spPr>
        <p:txBody>
          <a:bodyPr wrap="square" rtlCol="0">
            <a:noAutofit/>
          </a:bodyPr>
          <a:lstStyle/>
          <a:p>
            <a:r>
              <a:rPr lang="zh-CN" altLang="en-US" sz="3200"/>
              <a:t>基</a:t>
            </a:r>
            <a:endParaRPr lang="zh-CN" altLang="en-US" sz="3200"/>
          </a:p>
          <a:p>
            <a:r>
              <a:rPr lang="zh-CN" altLang="en-US" sz="3200"/>
              <a:t>本</a:t>
            </a:r>
            <a:endParaRPr lang="zh-CN" altLang="en-US" sz="3200"/>
          </a:p>
          <a:p>
            <a:r>
              <a:rPr lang="zh-CN" altLang="en-US" sz="3200"/>
              <a:t>数</a:t>
            </a:r>
            <a:endParaRPr lang="zh-CN" altLang="en-US" sz="3200"/>
          </a:p>
          <a:p>
            <a:r>
              <a:rPr lang="zh-CN" altLang="en-US" sz="3200"/>
              <a:t>据</a:t>
            </a:r>
            <a:endParaRPr lang="zh-CN" altLang="en-US" sz="3200"/>
          </a:p>
          <a:p>
            <a:r>
              <a:rPr lang="zh-CN" altLang="en-US" sz="3200"/>
              <a:t>类</a:t>
            </a:r>
            <a:endParaRPr lang="zh-CN" altLang="en-US" sz="3200"/>
          </a:p>
          <a:p>
            <a:r>
              <a:rPr lang="zh-CN" altLang="en-US" sz="3200"/>
              <a:t>型</a:t>
            </a:r>
            <a:endParaRPr lang="zh-CN" altLang="en-US"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9.6.1 Hive</a:t>
            </a:r>
            <a:r>
              <a:rPr lang="zh-CN" altLang="zh-CN" b="1" dirty="0"/>
              <a:t>的数据类型</a:t>
            </a:r>
            <a:endParaRPr lang="en-US" altLang="zh-CN" b="1" dirty="0"/>
          </a:p>
        </p:txBody>
      </p:sp>
      <p:sp>
        <p:nvSpPr>
          <p:cNvPr id="2" name="矩形 1"/>
          <p:cNvSpPr/>
          <p:nvPr/>
        </p:nvSpPr>
        <p:spPr>
          <a:xfrm>
            <a:off x="550545" y="2221230"/>
            <a:ext cx="480060" cy="3634740"/>
          </a:xfrm>
          <a:prstGeom prst="rect">
            <a:avLst/>
          </a:prstGeom>
        </p:spPr>
        <p:txBody>
          <a:bodyPr wrap="square">
            <a:spAutoFit/>
          </a:bodyPr>
          <a:lstStyle/>
          <a:p>
            <a:pPr marR="0" lvl="0" indent="0" algn="l" defTabSz="914400" rtl="0" eaLnBrk="1" fontAlgn="base" latinLnBrk="0" hangingPunct="1">
              <a:lnSpc>
                <a:spcPct val="120000"/>
              </a:lnSpc>
              <a:spcBef>
                <a:spcPct val="0"/>
              </a:spcBef>
              <a:spcAft>
                <a:spcPts val="0"/>
              </a:spcAft>
              <a:buClrTx/>
              <a:buSzTx/>
              <a:buNone/>
              <a:defRPr/>
            </a:pPr>
            <a:r>
              <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集</a:t>
            </a:r>
            <a:endPar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R="0" lvl="0" indent="0" algn="l" defTabSz="914400" rtl="0" eaLnBrk="1" fontAlgn="base" latinLnBrk="0" hangingPunct="1">
              <a:lnSpc>
                <a:spcPct val="120000"/>
              </a:lnSpc>
              <a:spcBef>
                <a:spcPct val="0"/>
              </a:spcBef>
              <a:spcAft>
                <a:spcPts val="0"/>
              </a:spcAft>
              <a:buClrTx/>
              <a:buSzTx/>
              <a:buNone/>
              <a:defRPr/>
            </a:pPr>
            <a:r>
              <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合</a:t>
            </a:r>
            <a:endPar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R="0" lvl="0" indent="0" algn="l" defTabSz="914400" rtl="0" eaLnBrk="1" fontAlgn="base" latinLnBrk="0" hangingPunct="1">
              <a:lnSpc>
                <a:spcPct val="120000"/>
              </a:lnSpc>
              <a:spcBef>
                <a:spcPct val="0"/>
              </a:spcBef>
              <a:spcAft>
                <a:spcPts val="0"/>
              </a:spcAft>
              <a:buClrTx/>
              <a:buSzTx/>
              <a:buNone/>
              <a:defRPr/>
            </a:pPr>
            <a:r>
              <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a:t>
            </a:r>
            <a:endPar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R="0" lvl="0" indent="0" algn="l" defTabSz="914400" rtl="0" eaLnBrk="1" fontAlgn="base" latinLnBrk="0" hangingPunct="1">
              <a:lnSpc>
                <a:spcPct val="120000"/>
              </a:lnSpc>
              <a:spcBef>
                <a:spcPct val="0"/>
              </a:spcBef>
              <a:spcAft>
                <a:spcPts val="0"/>
              </a:spcAft>
              <a:buClrTx/>
              <a:buSzTx/>
              <a:buNone/>
              <a:defRPr/>
            </a:pPr>
            <a:r>
              <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据</a:t>
            </a:r>
            <a:endPar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R="0" lvl="0" indent="0" algn="l" defTabSz="914400" rtl="0" eaLnBrk="1" fontAlgn="base" latinLnBrk="0" hangingPunct="1">
              <a:lnSpc>
                <a:spcPct val="120000"/>
              </a:lnSpc>
              <a:spcBef>
                <a:spcPct val="0"/>
              </a:spcBef>
              <a:spcAft>
                <a:spcPts val="0"/>
              </a:spcAft>
              <a:buClrTx/>
              <a:buSzTx/>
              <a:buNone/>
              <a:defRPr/>
            </a:pPr>
            <a:r>
              <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类</a:t>
            </a:r>
            <a:endPar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R="0" lvl="0" indent="0" algn="l" defTabSz="914400" rtl="0" eaLnBrk="1" fontAlgn="base" latinLnBrk="0" hangingPunct="1">
              <a:lnSpc>
                <a:spcPct val="120000"/>
              </a:lnSpc>
              <a:spcBef>
                <a:spcPct val="0"/>
              </a:spcBef>
              <a:spcAft>
                <a:spcPts val="0"/>
              </a:spcAft>
              <a:buClrTx/>
              <a:buSzTx/>
              <a:buNone/>
              <a:defRPr/>
            </a:pPr>
            <a:r>
              <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型</a:t>
            </a:r>
            <a:endParaRPr kumimoji="0" lang="zh-CN" altLang="en-US" sz="32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aphicFrame>
        <p:nvGraphicFramePr>
          <p:cNvPr id="4" name="表格 3"/>
          <p:cNvGraphicFramePr>
            <a:graphicFrameLocks noGrp="1"/>
          </p:cNvGraphicFramePr>
          <p:nvPr>
            <p:custDataLst>
              <p:tags r:id="rId1"/>
            </p:custDataLst>
          </p:nvPr>
        </p:nvGraphicFramePr>
        <p:xfrm>
          <a:off x="1640840" y="1889125"/>
          <a:ext cx="9227185" cy="4516120"/>
        </p:xfrm>
        <a:graphic>
          <a:graphicData uri="http://schemas.openxmlformats.org/drawingml/2006/table">
            <a:tbl>
              <a:tblPr firstRow="1" firstCol="1" bandRow="1">
                <a:tableStyleId>{1E171933-4619-4E11-9A3F-F7608DF75F80}</a:tableStyleId>
              </a:tblPr>
              <a:tblGrid>
                <a:gridCol w="1626235"/>
                <a:gridCol w="5055870"/>
                <a:gridCol w="2545080"/>
              </a:tblGrid>
              <a:tr h="636270">
                <a:tc>
                  <a:txBody>
                    <a:bodyPr/>
                    <a:lstStyle/>
                    <a:p>
                      <a:pPr algn="ctr">
                        <a:spcAft>
                          <a:spcPts val="0"/>
                        </a:spcAft>
                      </a:pPr>
                      <a:r>
                        <a:rPr lang="zh-CN" sz="2400" kern="100" dirty="0">
                          <a:effectLst/>
                        </a:rPr>
                        <a:t>类型</a:t>
                      </a:r>
                      <a:endParaRPr lang="zh-CN"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zh-CN" sz="2400" kern="100" dirty="0">
                          <a:effectLst/>
                        </a:rPr>
                        <a:t>描述</a:t>
                      </a:r>
                      <a:endParaRPr lang="zh-CN"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zh-CN" sz="2400" kern="100" dirty="0">
                          <a:effectLst/>
                        </a:rPr>
                        <a:t>示例</a:t>
                      </a:r>
                      <a:endParaRPr lang="zh-CN"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695325">
                <a:tc>
                  <a:txBody>
                    <a:bodyPr/>
                    <a:lstStyle/>
                    <a:p>
                      <a:pPr algn="ctr">
                        <a:spcAft>
                          <a:spcPts val="0"/>
                        </a:spcAft>
                      </a:pPr>
                      <a:r>
                        <a:rPr lang="en-US" sz="2400" kern="100" dirty="0">
                          <a:effectLst/>
                        </a:rPr>
                        <a:t>ARRAY</a:t>
                      </a:r>
                      <a:endParaRPr lang="en-US"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zh-CN" sz="2400" kern="100" dirty="0">
                          <a:effectLst/>
                        </a:rPr>
                        <a:t>一组有序字段，字段的类型必须相同</a:t>
                      </a:r>
                      <a:endParaRPr lang="zh-CN"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en-US" sz="2400" kern="100">
                          <a:effectLst/>
                        </a:rPr>
                        <a:t>Array(1,2)</a:t>
                      </a:r>
                      <a:endParaRPr lang="en-US" sz="2400" kern="10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1911350">
                <a:tc>
                  <a:txBody>
                    <a:bodyPr/>
                    <a:lstStyle/>
                    <a:p>
                      <a:pPr algn="ctr">
                        <a:spcAft>
                          <a:spcPts val="0"/>
                        </a:spcAft>
                      </a:pPr>
                      <a:r>
                        <a:rPr lang="en-US" sz="2400" kern="100" dirty="0">
                          <a:effectLst/>
                        </a:rPr>
                        <a:t>MAP</a:t>
                      </a:r>
                      <a:endParaRPr lang="en-US"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zh-CN" sz="2400" kern="100" dirty="0">
                          <a:effectLst/>
                        </a:rPr>
                        <a:t>一组无序的键</a:t>
                      </a:r>
                      <a:r>
                        <a:rPr lang="en-US" sz="2400" kern="100" dirty="0">
                          <a:effectLst/>
                        </a:rPr>
                        <a:t>/</a:t>
                      </a:r>
                      <a:r>
                        <a:rPr lang="zh-CN" sz="2400" kern="100" dirty="0">
                          <a:effectLst/>
                        </a:rPr>
                        <a:t>值对，键的类型必须是原子的，值可以是任何数据类型，同一个映射的键和值的类型必须相同</a:t>
                      </a:r>
                      <a:endParaRPr lang="zh-CN"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en-US" sz="2400" kern="100">
                          <a:effectLst/>
                        </a:rPr>
                        <a:t>Map(‘a’,1,’b’,2)</a:t>
                      </a:r>
                      <a:endParaRPr lang="en-US" sz="2400" kern="10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r h="1273175">
                <a:tc>
                  <a:txBody>
                    <a:bodyPr/>
                    <a:lstStyle/>
                    <a:p>
                      <a:pPr algn="ctr">
                        <a:spcAft>
                          <a:spcPts val="0"/>
                        </a:spcAft>
                      </a:pPr>
                      <a:r>
                        <a:rPr lang="en-US" sz="2400" kern="100" dirty="0">
                          <a:effectLst/>
                        </a:rPr>
                        <a:t>STRUCT</a:t>
                      </a:r>
                      <a:endParaRPr lang="en-US"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zh-CN" sz="2400" kern="100" dirty="0">
                          <a:effectLst/>
                        </a:rPr>
                        <a:t>一组命名的字段，字段类型可以不同</a:t>
                      </a:r>
                      <a:endParaRPr lang="zh-CN"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c>
                  <a:txBody>
                    <a:bodyPr/>
                    <a:lstStyle/>
                    <a:p>
                      <a:pPr algn="ctr">
                        <a:spcAft>
                          <a:spcPts val="0"/>
                        </a:spcAft>
                      </a:pPr>
                      <a:r>
                        <a:rPr lang="en-US" sz="2400" kern="100" dirty="0" err="1">
                          <a:effectLst/>
                        </a:rPr>
                        <a:t>Struct</a:t>
                      </a:r>
                      <a:r>
                        <a:rPr lang="en-US" sz="2400" kern="100" dirty="0">
                          <a:effectLst/>
                        </a:rPr>
                        <a:t>(‘a’,1,1,0)</a:t>
                      </a:r>
                      <a:endParaRPr lang="en-US" sz="2400" kern="100" dirty="0">
                        <a:effectLst/>
                      </a:endParaRPr>
                    </a:p>
                  </a:txBody>
                  <a:tcPr marL="68580" marR="6858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52227" name="Rectangle 5"/>
          <p:cNvSpPr/>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 1. create: </a:t>
            </a:r>
            <a:r>
              <a:rPr lang="zh-CN" altLang="en-US" sz="2800" dirty="0">
                <a:latin typeface="Arial" panose="020B0604020202020204" pitchFamily="34" charset="0"/>
              </a:rPr>
              <a:t>创建数据库、表、视图</a:t>
            </a:r>
            <a:endParaRPr lang="zh-CN" altLang="en-US" sz="2800" dirty="0">
              <a:latin typeface="Arial" panose="020B0604020202020204" pitchFamily="34" charset="0"/>
            </a:endParaRPr>
          </a:p>
        </p:txBody>
      </p:sp>
      <p:sp>
        <p:nvSpPr>
          <p:cNvPr id="2" name="矩形 1"/>
          <p:cNvSpPr/>
          <p:nvPr/>
        </p:nvSpPr>
        <p:spPr>
          <a:xfrm>
            <a:off x="1076960" y="2607310"/>
            <a:ext cx="8385810" cy="3198495"/>
          </a:xfrm>
          <a:prstGeom prst="rect">
            <a:avLst/>
          </a:prstGeom>
        </p:spPr>
        <p:txBody>
          <a:bodyPr wrap="square">
            <a:spAutoFit/>
          </a:bodyPr>
          <a:lstStyle/>
          <a:p>
            <a:pPr marR="0" lvl="0" indent="0" algn="just" defTabSz="914400" rtl="0" eaLnBrk="1" fontAlgn="base" latinLnBrk="0" hangingPunct="1">
              <a:lnSpc>
                <a:spcPct val="120000"/>
              </a:lnSpc>
              <a:spcBef>
                <a:spcPct val="0"/>
              </a:spcBef>
              <a:spcAft>
                <a:spcPts val="700"/>
              </a:spcAft>
              <a:buClrTx/>
              <a:buSzTx/>
              <a:buFont typeface="Arial" panose="020B0604020202020204" pitchFamily="34" charset="0"/>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 </a:t>
            </a:r>
            <a:r>
              <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创建数据库</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创建数据库</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457200" algn="just" defTabSz="914400" rtl="0" eaLnBrk="1" fontAlgn="base" latinLnBrk="0" hangingPunct="1">
              <a:lnSpc>
                <a:spcPct val="120000"/>
              </a:lnSpc>
              <a:spcBef>
                <a:spcPct val="0"/>
              </a:spcBef>
              <a:spcAft>
                <a:spcPts val="700"/>
              </a:spcAft>
              <a:buClrTx/>
              <a:buSzTx/>
              <a:buFont typeface="+mj-ea"/>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hive&gt;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create database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457200" algn="just" defTabSz="914400" rtl="0" eaLnBrk="1" fontAlgn="base" latinLnBrk="0" hangingPunct="1">
              <a:lnSpc>
                <a:spcPct val="120000"/>
              </a:lnSpc>
              <a:spcBef>
                <a:spcPct val="0"/>
              </a:spcBef>
              <a:spcAft>
                <a:spcPts val="700"/>
              </a:spcAft>
              <a:buClrTx/>
              <a:buSzTx/>
              <a:buFont typeface="+mj-ea"/>
              <a:buNone/>
              <a:defRPr/>
            </a:pP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20000"/>
              </a:lnSpc>
              <a:spcBef>
                <a:spcPct val="0"/>
              </a:spcBef>
              <a:spcAft>
                <a:spcPts val="700"/>
              </a:spcAft>
              <a:buClrTx/>
              <a:buSzTx/>
              <a:buFont typeface="+mj-ea"/>
              <a:buAutoNum type="circleNumDbPlain" startAt="2"/>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若</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已经存在，所以会抛出异常，须加</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if not exists</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关键字</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457200" algn="just" defTabSz="914400" rtl="0" eaLnBrk="1" fontAlgn="base" latinLnBrk="0" hangingPunct="1">
              <a:lnSpc>
                <a:spcPct val="120000"/>
              </a:lnSpc>
              <a:spcBef>
                <a:spcPct val="0"/>
              </a:spcBef>
              <a:spcAft>
                <a:spcPts val="700"/>
              </a:spcAft>
              <a:buClrTx/>
              <a:buSzTx/>
              <a:buFont typeface="+mj-ea"/>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hive&gt; create database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if not exists</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3" name="矩形 2"/>
          <p:cNvSpPr/>
          <p:nvPr/>
        </p:nvSpPr>
        <p:spPr>
          <a:xfrm>
            <a:off x="1108075" y="2654300"/>
            <a:ext cx="9659620" cy="3578860"/>
          </a:xfrm>
          <a:prstGeom prst="rect">
            <a:avLst/>
          </a:prstGeom>
        </p:spPr>
        <p:txBody>
          <a:bodyPr wrap="square">
            <a:spAutoFit/>
          </a:bodyPr>
          <a:lstStyle/>
          <a:p>
            <a:pPr marR="0" lvl="0" indent="0" algn="just" defTabSz="914400" rtl="0" eaLnBrk="1" fontAlgn="base" latinLnBrk="0" hangingPunct="1">
              <a:lnSpc>
                <a:spcPct val="120000"/>
              </a:lnSpc>
              <a:spcBef>
                <a:spcPct val="0"/>
              </a:spcBef>
              <a:spcAft>
                <a:spcPts val="700"/>
              </a:spcAft>
              <a:buClrTx/>
              <a:buSzTx/>
              <a:buFont typeface="Arial" panose="020B0604020202020204" pitchFamily="34" charset="0"/>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 </a:t>
            </a:r>
            <a:r>
              <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创建表</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数据库中，创建表</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，含三个属性</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name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age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use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 create table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if not exists</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bigint</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,name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string</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,age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startAt="2"/>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数据库中，创建表</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，含三个属性</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name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age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R="0" lvl="0" indent="0" algn="l" defTabSz="914400" rtl="0" eaLnBrk="1" fontAlgn="base" latinLnBrk="0" hangingPunct="1">
              <a:lnSpc>
                <a:spcPct val="100000"/>
              </a:lnSpc>
              <a:spcBef>
                <a:spcPct val="0"/>
              </a:spcBef>
              <a:spcAft>
                <a:spcPct val="0"/>
              </a:spcAft>
              <a:buClrTx/>
              <a:buSzTx/>
              <a:buFont typeface="+mj-ea"/>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且存储路径为“</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/local/hive/warehouse/hive/</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hive&gt;create table if not exists hive.usr(id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bigint,name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string,age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&gt;</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location</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/local/hive/warehouse/hive/</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5"/>
          <p:cNvSpPr/>
          <p:nvPr>
            <p:custDataLst>
              <p:tags r:id="rId1"/>
            </p:custDataLst>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 1. create: </a:t>
            </a:r>
            <a:r>
              <a:rPr lang="zh-CN" altLang="en-US" sz="2800" dirty="0">
                <a:latin typeface="Arial" panose="020B0604020202020204" pitchFamily="34" charset="0"/>
              </a:rPr>
              <a:t>创建数据库、表、视图</a:t>
            </a:r>
            <a:endParaRPr lang="zh-CN" altLang="en-US" sz="2800"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3" name="矩形 2"/>
          <p:cNvSpPr/>
          <p:nvPr/>
        </p:nvSpPr>
        <p:spPr>
          <a:xfrm>
            <a:off x="1148080" y="2601595"/>
            <a:ext cx="10787380" cy="3415030"/>
          </a:xfrm>
          <a:prstGeom prst="rect">
            <a:avLst/>
          </a:prstGeom>
        </p:spPr>
        <p:txBody>
          <a:bodyPr wrap="square">
            <a:spAutoFit/>
          </a:bodyPr>
          <a:lstStyle/>
          <a:p>
            <a:pPr marR="0" lvl="0" indent="0" algn="l" defTabSz="914400" rtl="0" eaLnBrk="1" fontAlgn="base" latinLnBrk="0" hangingPunct="1">
              <a:lnSpc>
                <a:spcPct val="100000"/>
              </a:lnSpc>
              <a:spcBef>
                <a:spcPct val="0"/>
              </a:spcBef>
              <a:spcAft>
                <a:spcPct val="0"/>
              </a:spcAft>
              <a:buClrTx/>
              <a:buSzTx/>
              <a:buFont typeface="+mj-ea"/>
              <a:buNone/>
              <a:defRPr/>
            </a:pP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(2) </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创建表</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startAt="3"/>
              <a:defRPr/>
            </a:pP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startAt="3"/>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数据库中，创建外部表</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，含三个属性</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name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age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，以“，”分隔的数据。</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hive&gt;create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external</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table if not exists hive.usr(id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bigint,name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string,age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&gt;</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row format delimited fields terminated by</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startAt="4"/>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数据库中，创建分区表</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，含</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name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age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，还存在分区字段</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sex</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hive&gt;create table hive.usr(id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bigint,name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string,age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int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partition by</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(sex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boolean</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5"/>
          <p:cNvSpPr/>
          <p:nvPr>
            <p:custDataLst>
              <p:tags r:id="rId1"/>
            </p:custDataLst>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 1. create: </a:t>
            </a:r>
            <a:r>
              <a:rPr lang="zh-CN" altLang="en-US" sz="2800" dirty="0">
                <a:latin typeface="Arial" panose="020B0604020202020204" pitchFamily="34" charset="0"/>
              </a:rPr>
              <a:t>创建数据库、表、视图</a:t>
            </a:r>
            <a:endParaRPr lang="zh-CN" altLang="en-US" sz="2800" dirty="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7" name="矩形 6"/>
          <p:cNvSpPr/>
          <p:nvPr/>
        </p:nvSpPr>
        <p:spPr>
          <a:xfrm>
            <a:off x="1148080" y="5027295"/>
            <a:ext cx="8059420" cy="1600200"/>
          </a:xfrm>
          <a:prstGeom prst="rect">
            <a:avLst/>
          </a:prstGeom>
        </p:spPr>
        <p:txBody>
          <a:bodyPr wrap="square">
            <a:spAutoFit/>
          </a:bodyPr>
          <a:lstStyle/>
          <a:p>
            <a:pPr marR="0" lvl="0" indent="0" algn="just" defTabSz="914400" rtl="0" eaLnBrk="1" fontAlgn="base" latinLnBrk="0" hangingPunct="1">
              <a:lnSpc>
                <a:spcPct val="120000"/>
              </a:lnSpc>
              <a:spcBef>
                <a:spcPct val="0"/>
              </a:spcBef>
              <a:spcAft>
                <a:spcPts val="700"/>
              </a:spcAft>
              <a:buClrTx/>
              <a:buSzTx/>
              <a:buFont typeface="Arial" panose="020B0604020202020204" pitchFamily="34" charset="0"/>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 </a:t>
            </a:r>
            <a:r>
              <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创建视图</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创建视图</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little_usr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，只包含</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表中</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age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属性</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266700" algn="just" defTabSz="914400" rtl="0" eaLnBrk="1" fontAlgn="base" latinLnBrk="0" hangingPunct="1">
              <a:lnSpc>
                <a:spcPct val="120000"/>
              </a:lnSpc>
              <a:spcBef>
                <a:spcPct val="0"/>
              </a:spcBef>
              <a:spcAft>
                <a:spcPts val="70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hive&gt;</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create view</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little_usr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as</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select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id,age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from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5"/>
          <p:cNvSpPr/>
          <p:nvPr>
            <p:custDataLst>
              <p:tags r:id="rId1"/>
            </p:custDataLst>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 1. create: </a:t>
            </a:r>
            <a:r>
              <a:rPr lang="zh-CN" altLang="en-US" sz="2800" dirty="0">
                <a:latin typeface="Arial" panose="020B0604020202020204" pitchFamily="34" charset="0"/>
              </a:rPr>
              <a:t>创建数据库、表、视图</a:t>
            </a:r>
            <a:endParaRPr lang="zh-CN" altLang="en-US" sz="2800" dirty="0">
              <a:latin typeface="Arial" panose="020B0604020202020204" pitchFamily="34" charset="0"/>
            </a:endParaRPr>
          </a:p>
        </p:txBody>
      </p:sp>
      <p:sp>
        <p:nvSpPr>
          <p:cNvPr id="2" name="矩形 1"/>
          <p:cNvSpPr/>
          <p:nvPr>
            <p:custDataLst>
              <p:tags r:id="rId2"/>
            </p:custDataLst>
          </p:nvPr>
        </p:nvSpPr>
        <p:spPr>
          <a:xfrm>
            <a:off x="1148080" y="2601595"/>
            <a:ext cx="10464800" cy="1938020"/>
          </a:xfrm>
          <a:prstGeom prst="rect">
            <a:avLst/>
          </a:prstGeom>
        </p:spPr>
        <p:txBody>
          <a:bodyPr wrap="square">
            <a:spAutoFit/>
          </a:bodyPr>
          <a:lstStyle/>
          <a:p>
            <a:pPr marR="0" lvl="0" indent="0" algn="l" defTabSz="914400" rtl="0" eaLnBrk="1" fontAlgn="base" latinLnBrk="0" hangingPunct="1">
              <a:lnSpc>
                <a:spcPct val="100000"/>
              </a:lnSpc>
              <a:spcBef>
                <a:spcPct val="0"/>
              </a:spcBef>
              <a:spcAft>
                <a:spcPct val="0"/>
              </a:spcAft>
              <a:buClrTx/>
              <a:buSzTx/>
              <a:buFont typeface="+mj-ea"/>
              <a:buNone/>
              <a:defRPr/>
            </a:pPr>
            <a:r>
              <a:rPr lang="en-US"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(2) </a:t>
            </a:r>
            <a:r>
              <a:rPr lang="zh-CN" altLang="zh-CN" sz="2400" kern="100" noProof="0" dirty="0">
                <a:ln>
                  <a:noFill/>
                </a:ln>
                <a:effectLst/>
                <a:uLnTx/>
                <a:uFillTx/>
                <a:latin typeface="Calibri" panose="020F0502020204030204" pitchFamily="34" charset="0"/>
                <a:ea typeface="宋体" panose="02010600030101010101" pitchFamily="2" charset="-122"/>
                <a:cs typeface="Times New Roman" panose="02020603050405020304" pitchFamily="18" charset="0"/>
                <a:sym typeface="+mn-ea"/>
              </a:rPr>
              <a:t>创建表</a:t>
            </a:r>
            <a:endParaRPr kumimoji="0" lang="zh-CN"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startAt="3"/>
              <a:defRPr/>
            </a:pP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 typeface="+mj-ea"/>
              <a:buAutoNum type="circleNumDbPlain" startAt="5"/>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数据库中，创建分区表</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usr1</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，它通过复制表</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得到。</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 use 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hive&gt;create table if not exists usr1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like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en-US" altLang="zh-CN" sz="2400" b="0" i="0" u="none" strike="noStrike" kern="100" cap="none" spc="0" normalizeH="0" baseline="0" noProof="0" dirty="0" err="1">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usr</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2" name="矩形 1"/>
          <p:cNvSpPr/>
          <p:nvPr/>
        </p:nvSpPr>
        <p:spPr>
          <a:xfrm>
            <a:off x="1081405" y="2414270"/>
            <a:ext cx="10445750" cy="3731260"/>
          </a:xfrm>
          <a:prstGeom prst="rect">
            <a:avLst/>
          </a:prstGeom>
        </p:spPr>
        <p:txBody>
          <a:bodyPr wrap="square">
            <a:spAutoFit/>
          </a:bodyPr>
          <a:lstStyle/>
          <a:p>
            <a:pPr marR="0" lvl="0" indent="0" algn="just" defTabSz="914400" rtl="0" eaLnBrk="1" fontAlgn="base" latinLnBrk="0" hangingPunct="1">
              <a:lnSpc>
                <a:spcPct val="120000"/>
              </a:lnSpc>
              <a:spcBef>
                <a:spcPct val="0"/>
              </a:spcBef>
              <a:spcAft>
                <a:spcPts val="700"/>
              </a:spcAft>
              <a:buClrTx/>
              <a:buSzTx/>
              <a:buFont typeface="Arial" panose="020B0604020202020204" pitchFamily="34" charset="0"/>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 </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删除数据库</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删除数据库</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，如果不存在会出现警告</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ct val="0"/>
              </a:spcBef>
              <a:spcAft>
                <a:spcPts val="70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 drop database 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20000"/>
              </a:lnSpc>
              <a:spcBef>
                <a:spcPct val="0"/>
              </a:spcBef>
              <a:spcAft>
                <a:spcPts val="700"/>
              </a:spcAft>
              <a:buClrTx/>
              <a:buSzTx/>
              <a:buFont typeface="+mj-ea"/>
              <a:buAutoNum type="circleNumDbPlain" startAt="2"/>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删除数据库</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，因为有</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if exists</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关键字，即使不存在也不会抛出异常</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ct val="0"/>
              </a:spcBef>
              <a:spcAft>
                <a:spcPts val="70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hive&gt;drop database if exists hive;</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20000"/>
              </a:lnSpc>
              <a:spcBef>
                <a:spcPct val="0"/>
              </a:spcBef>
              <a:spcAft>
                <a:spcPts val="700"/>
              </a:spcAft>
              <a:buClrTx/>
              <a:buSzTx/>
              <a:buFont typeface="+mj-ea"/>
              <a:buAutoNum type="circleNumDbPlain" startAt="3"/>
              <a:defRPr/>
            </a:pP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删除数据库</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hive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，加上</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cascade</a:t>
            </a:r>
            <a:r>
              <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关键字，可删除当前数据库</a:t>
            </a:r>
            <a:r>
              <a:rPr kumimoji="0" lang="zh-CN" altLang="en-US"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及其中的表</a:t>
            </a:r>
            <a:endParaRPr kumimoji="0" lang="zh-CN" altLang="en-US"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342900" marR="0" lvl="0" indent="-342900" algn="just" defTabSz="914400" rtl="0" eaLnBrk="1" fontAlgn="base" latinLnBrk="0" hangingPunct="1">
              <a:lnSpc>
                <a:spcPct val="120000"/>
              </a:lnSpc>
              <a:spcBef>
                <a:spcPct val="0"/>
              </a:spcBef>
              <a:spcAft>
                <a:spcPts val="700"/>
              </a:spcAft>
              <a:buClrTx/>
              <a:buSzTx/>
              <a:buFontTx/>
              <a:buNone/>
              <a:defRPr/>
            </a:pP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hive&gt; drop database if exists hive </a:t>
            </a:r>
            <a:r>
              <a:rPr kumimoji="0" lang="en-US" altLang="zh-CN" sz="2400" b="0" i="0" u="none" strike="noStrike" kern="100" cap="none" spc="0" normalizeH="0" baseline="0" noProof="0" dirty="0">
                <a:ln>
                  <a:noFill/>
                </a:ln>
                <a:solidFill>
                  <a:srgbClr val="0070C0"/>
                </a:solidFill>
                <a:effectLst/>
                <a:uLnTx/>
                <a:uFillTx/>
                <a:latin typeface="Calibri" panose="020F0502020204030204" pitchFamily="34" charset="0"/>
                <a:ea typeface="宋体" panose="02010600030101010101" pitchFamily="2" charset="-122"/>
                <a:cs typeface="Times New Roman" panose="02020603050405020304" pitchFamily="18" charset="0"/>
              </a:rPr>
              <a:t>cascade</a:t>
            </a:r>
            <a:r>
              <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en-US" altLang="zh-CN" sz="2400" b="0"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 name="Rectangle 5"/>
          <p:cNvSpPr/>
          <p:nvPr>
            <p:custDataLst>
              <p:tags r:id="rId1"/>
            </p:custDataLst>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2. drop: </a:t>
            </a:r>
            <a:r>
              <a:rPr lang="zh-CN" altLang="en-US" sz="2800" dirty="0">
                <a:latin typeface="Arial" panose="020B0604020202020204" pitchFamily="34" charset="0"/>
              </a:rPr>
              <a:t>删除数据库、表、视图</a:t>
            </a:r>
            <a:endParaRPr lang="zh-CN" altLang="en-US" sz="2800" dirty="0">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3" name="矩形 2"/>
          <p:cNvSpPr/>
          <p:nvPr/>
        </p:nvSpPr>
        <p:spPr>
          <a:xfrm>
            <a:off x="970915" y="2438400"/>
            <a:ext cx="8590915" cy="2042795"/>
          </a:xfrm>
          <a:prstGeom prst="rect">
            <a:avLst/>
          </a:prstGeom>
        </p:spPr>
        <p:txBody>
          <a:bodyPr wrap="square">
            <a:spAutoFit/>
          </a:bodyPr>
          <a:lstStyle/>
          <a:p>
            <a:pPr marR="0" lvl="0" indent="0" algn="l" defTabSz="914400" rtl="0" eaLnBrk="1" fontAlgn="base" latinLnBrk="0" hangingPunct="1">
              <a:lnSpc>
                <a:spcPct val="120000"/>
              </a:lnSpc>
              <a:spcBef>
                <a:spcPct val="0"/>
              </a:spcBef>
              <a:spcAft>
                <a:spcPts val="70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(2) </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删除表</a:t>
            </a:r>
            <a:endPar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删除表</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，如果是</a:t>
            </a:r>
            <a:r>
              <a:rPr kumimoji="0" lang="zh-CN" altLang="en-US" sz="2400" b="0" i="0" u="sng"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内部表</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，元数据和实际数据都会被删除；如果是</a:t>
            </a:r>
            <a:r>
              <a:rPr kumimoji="0" lang="zh-CN" altLang="en-US" sz="2400" b="0" i="0" u="sng"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外部表</a:t>
            </a: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，只删除元数据，不删除实际数据</a:t>
            </a:r>
            <a:endPar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drop table if exists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a:xfrm>
            <a:off x="970915" y="4703445"/>
            <a:ext cx="10023475" cy="1600200"/>
          </a:xfrm>
          <a:prstGeom prst="rect">
            <a:avLst/>
          </a:prstGeom>
        </p:spPr>
        <p:txBody>
          <a:bodyPr wrap="square">
            <a:spAutoFit/>
          </a:bodyPr>
          <a:lstStyle/>
          <a:p>
            <a:pPr marR="0" lvl="0" indent="0" algn="l" defTabSz="914400" rtl="0" eaLnBrk="1" fontAlgn="base" latinLnBrk="0" hangingPunct="1">
              <a:lnSpc>
                <a:spcPct val="120000"/>
              </a:lnSpc>
              <a:spcBef>
                <a:spcPct val="0"/>
              </a:spcBef>
              <a:spcAft>
                <a:spcPts val="70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(3) </a:t>
            </a:r>
            <a:r>
              <a:rPr kumimoji="0" lang="zh-CN"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删除视图</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删除视图</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little_usr</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drop view if exists </a:t>
            </a:r>
            <a:r>
              <a:rPr kumimoji="0" lang="en-US" altLang="zh-CN" sz="24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little_usr</a:t>
            </a:r>
            <a:r>
              <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Rectangle 5"/>
          <p:cNvSpPr/>
          <p:nvPr>
            <p:custDataLst>
              <p:tags r:id="rId1"/>
            </p:custDataLst>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2. drop: </a:t>
            </a:r>
            <a:r>
              <a:rPr lang="zh-CN" altLang="en-US" sz="2800" dirty="0">
                <a:latin typeface="Arial" panose="020B0604020202020204" pitchFamily="34" charset="0"/>
              </a:rPr>
              <a:t>删除数据库、表、视图</a:t>
            </a:r>
            <a:endParaRPr lang="zh-CN" altLang="en-US" sz="2800" dirty="0">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2" name="矩形 1"/>
          <p:cNvSpPr/>
          <p:nvPr/>
        </p:nvSpPr>
        <p:spPr>
          <a:xfrm>
            <a:off x="1365250" y="2350135"/>
            <a:ext cx="7467600" cy="1266825"/>
          </a:xfrm>
          <a:prstGeom prst="rect">
            <a:avLst/>
          </a:prstGeom>
        </p:spPr>
        <p:txBody>
          <a:bodyPr>
            <a:spAutoFit/>
          </a:bodyPr>
          <a:lstStyle/>
          <a:p>
            <a:pPr marL="285750" marR="0" lvl="0" indent="-285750" algn="l" defTabSz="914400" rtl="0" eaLnBrk="1" fontAlgn="base" latinLnBrk="0" hangingPunct="1">
              <a:lnSpc>
                <a:spcPct val="120000"/>
              </a:lnSpc>
              <a:spcBef>
                <a:spcPct val="0"/>
              </a:spcBef>
              <a:spcAft>
                <a:spcPts val="700"/>
              </a:spcAft>
              <a:buClrTx/>
              <a:buSzTx/>
              <a:buFont typeface="Arial" panose="020B0604020202020204" pitchFamily="34" charset="0"/>
              <a:buChar char="•"/>
              <a:defRPr/>
            </a:pP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修改数据库</a:t>
            </a: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为</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数据库设置</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dbproperties</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键值对属性值来描述数据库属性信息</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alter database hive set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dbproperties</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(‘edited-by’=’lily’);</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a:xfrm>
            <a:off x="1449070" y="3707765"/>
            <a:ext cx="7174865" cy="2954655"/>
          </a:xfrm>
          <a:prstGeom prst="rect">
            <a:avLst/>
          </a:prstGeom>
        </p:spPr>
        <p:txBody>
          <a:bodyPr wrap="square">
            <a:spAutoFit/>
          </a:bodyPr>
          <a:lstStyle/>
          <a:p>
            <a:pPr marL="285750" marR="0" lvl="0" indent="-285750" algn="l" defTabSz="914400" rtl="0" eaLnBrk="1" fontAlgn="base" latinLnBrk="0" hangingPunct="1">
              <a:lnSpc>
                <a:spcPct val="120000"/>
              </a:lnSpc>
              <a:spcBef>
                <a:spcPct val="0"/>
              </a:spcBef>
              <a:spcAft>
                <a:spcPts val="70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修改</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表</a:t>
            </a: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重命名表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为</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user</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alter table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rename to user;</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2"/>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为表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增加新分区</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alter table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add if not exists partition(age=10);</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3"/>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删除表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中分区</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alter table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drop if exists partition(age=10);</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Rectangle 5"/>
          <p:cNvSpPr/>
          <p:nvPr>
            <p:custDataLst>
              <p:tags r:id="rId1"/>
            </p:custDataLst>
          </p:nvPr>
        </p:nvSpPr>
        <p:spPr>
          <a:xfrm>
            <a:off x="841375" y="1676877"/>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3. alter: </a:t>
            </a:r>
            <a:r>
              <a:rPr lang="zh-CN" altLang="en-US" sz="2800" dirty="0">
                <a:latin typeface="Arial" panose="020B0604020202020204" pitchFamily="34" charset="0"/>
              </a:rPr>
              <a:t>修改数据库、表、视图</a:t>
            </a:r>
            <a:endParaRPr lang="zh-CN" altLang="en-US" sz="2800" dirty="0">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t>9.6.2 Hive</a:t>
            </a:r>
            <a:r>
              <a:rPr lang="zh-CN" altLang="zh-CN" b="1" dirty="0"/>
              <a:t>基本操作</a:t>
            </a:r>
            <a:endParaRPr lang="en-US" altLang="zh-CN" b="1" dirty="0"/>
          </a:p>
        </p:txBody>
      </p:sp>
      <p:sp>
        <p:nvSpPr>
          <p:cNvPr id="3" name="矩形 2"/>
          <p:cNvSpPr/>
          <p:nvPr/>
        </p:nvSpPr>
        <p:spPr>
          <a:xfrm>
            <a:off x="945515" y="1526540"/>
            <a:ext cx="10408920" cy="3864610"/>
          </a:xfrm>
          <a:prstGeom prst="rect">
            <a:avLst/>
          </a:prstGeom>
        </p:spPr>
        <p:txBody>
          <a:bodyPr wrap="square">
            <a:noAutofit/>
          </a:bodyPr>
          <a:lstStyle/>
          <a:p>
            <a:pPr marL="285750" marR="0" lvl="0" indent="-285750" algn="l" defTabSz="914400" rtl="0" eaLnBrk="1" fontAlgn="base" latinLnBrk="0" hangingPunct="1">
              <a:lnSpc>
                <a:spcPct val="120000"/>
              </a:lnSpc>
              <a:spcBef>
                <a:spcPct val="0"/>
              </a:spcBef>
              <a:spcAft>
                <a:spcPts val="70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修改</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表</a:t>
            </a: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4"/>
              <a:defRPr/>
            </a:pPr>
            <a:r>
              <a:rPr lang="zh-CN" altLang="en-US" noProof="0" dirty="0">
                <a:ln>
                  <a:noFill/>
                </a:ln>
                <a:effectLst/>
                <a:uLnTx/>
                <a:uFillTx/>
                <a:latin typeface="Arial" panose="020B0604020202020204" pitchFamily="34" charset="0"/>
                <a:ea typeface="宋体" panose="02010600030101010101" pitchFamily="2" charset="-122"/>
                <a:sym typeface="+mn-ea"/>
              </a:rPr>
              <a:t>把表</a:t>
            </a:r>
            <a:r>
              <a:rPr lang="en-US" altLang="zh-CN" noProof="0" dirty="0" err="1">
                <a:ln>
                  <a:noFill/>
                </a:ln>
                <a:effectLst/>
                <a:uLnTx/>
                <a:uFillTx/>
                <a:latin typeface="Arial" panose="020B0604020202020204" pitchFamily="34" charset="0"/>
                <a:ea typeface="宋体" panose="02010600030101010101" pitchFamily="2" charset="-122"/>
                <a:sym typeface="+mn-ea"/>
              </a:rPr>
              <a:t>usr</a:t>
            </a:r>
            <a:r>
              <a:rPr lang="zh-CN" altLang="en-US" noProof="0" dirty="0">
                <a:ln>
                  <a:noFill/>
                </a:ln>
                <a:effectLst/>
                <a:uLnTx/>
                <a:uFillTx/>
                <a:latin typeface="Arial" panose="020B0604020202020204" pitchFamily="34" charset="0"/>
                <a:ea typeface="宋体" panose="02010600030101010101" pitchFamily="2" charset="-122"/>
                <a:sym typeface="+mn-ea"/>
              </a:rPr>
              <a:t>中列名</a:t>
            </a:r>
            <a:r>
              <a:rPr lang="en-US" altLang="zh-CN" noProof="0" dirty="0">
                <a:ln>
                  <a:noFill/>
                </a:ln>
                <a:effectLst/>
                <a:uLnTx/>
                <a:uFillTx/>
                <a:latin typeface="Arial" panose="020B0604020202020204" pitchFamily="34" charset="0"/>
                <a:ea typeface="宋体" panose="02010600030101010101" pitchFamily="2" charset="-122"/>
                <a:sym typeface="+mn-ea"/>
              </a:rPr>
              <a:t>name</a:t>
            </a:r>
            <a:r>
              <a:rPr lang="zh-CN" altLang="en-US" noProof="0" dirty="0">
                <a:ln>
                  <a:noFill/>
                </a:ln>
                <a:effectLst/>
                <a:uLnTx/>
                <a:uFillTx/>
                <a:latin typeface="Arial" panose="020B0604020202020204" pitchFamily="34" charset="0"/>
                <a:ea typeface="宋体" panose="02010600030101010101" pitchFamily="2" charset="-122"/>
                <a:sym typeface="+mn-ea"/>
              </a:rPr>
              <a:t>修改为</a:t>
            </a:r>
            <a:r>
              <a:rPr lang="en-US" altLang="zh-CN" noProof="0" dirty="0">
                <a:ln>
                  <a:noFill/>
                </a:ln>
                <a:effectLst/>
                <a:uLnTx/>
                <a:uFillTx/>
                <a:latin typeface="Arial" panose="020B0604020202020204" pitchFamily="34" charset="0"/>
                <a:ea typeface="宋体" panose="02010600030101010101" pitchFamily="2" charset="-122"/>
                <a:sym typeface="+mn-ea"/>
              </a:rPr>
              <a:t>username</a:t>
            </a:r>
            <a:r>
              <a:rPr lang="zh-CN" altLang="en-US" noProof="0" dirty="0">
                <a:ln>
                  <a:noFill/>
                </a:ln>
                <a:effectLst/>
                <a:uLnTx/>
                <a:uFillTx/>
                <a:latin typeface="Arial" panose="020B0604020202020204" pitchFamily="34" charset="0"/>
                <a:ea typeface="宋体" panose="02010600030101010101" pitchFamily="2" charset="-122"/>
                <a:sym typeface="+mn-ea"/>
              </a:rPr>
              <a:t>，并把该列置于</a:t>
            </a:r>
            <a:r>
              <a:rPr lang="en-US" altLang="zh-CN" noProof="0" dirty="0">
                <a:ln>
                  <a:noFill/>
                </a:ln>
                <a:effectLst/>
                <a:uLnTx/>
                <a:uFillTx/>
                <a:latin typeface="Arial" panose="020B0604020202020204" pitchFamily="34" charset="0"/>
                <a:ea typeface="宋体" panose="02010600030101010101" pitchFamily="2" charset="-122"/>
                <a:sym typeface="+mn-ea"/>
              </a:rPr>
              <a:t>age</a:t>
            </a:r>
            <a:r>
              <a:rPr lang="zh-CN" altLang="en-US" noProof="0" dirty="0">
                <a:ln>
                  <a:noFill/>
                </a:ln>
                <a:effectLst/>
                <a:uLnTx/>
                <a:uFillTx/>
                <a:latin typeface="Arial" panose="020B0604020202020204" pitchFamily="34" charset="0"/>
                <a:ea typeface="宋体" panose="02010600030101010101" pitchFamily="2" charset="-122"/>
                <a:sym typeface="+mn-ea"/>
              </a:rPr>
              <a:t>列后</a:t>
            </a:r>
            <a:endParaRPr kumimoji="0" lang="zh-CN" altLang="en-US"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lang="en-US" altLang="zh-CN" noProof="0" dirty="0">
                <a:ln>
                  <a:noFill/>
                </a:ln>
                <a:effectLst/>
                <a:uLnTx/>
                <a:uFillTx/>
                <a:latin typeface="Arial" panose="020B0604020202020204" pitchFamily="34" charset="0"/>
                <a:ea typeface="宋体" panose="02010600030101010101" pitchFamily="2" charset="-122"/>
                <a:sym typeface="+mn-ea"/>
              </a:rPr>
              <a:t>      hive&gt;alter table </a:t>
            </a:r>
            <a:r>
              <a:rPr lang="en-US" altLang="zh-CN" noProof="0" dirty="0" err="1">
                <a:ln>
                  <a:noFill/>
                </a:ln>
                <a:effectLst/>
                <a:uLnTx/>
                <a:uFillTx/>
                <a:latin typeface="Arial" panose="020B0604020202020204" pitchFamily="34" charset="0"/>
                <a:ea typeface="宋体" panose="02010600030101010101" pitchFamily="2" charset="-122"/>
                <a:sym typeface="+mn-ea"/>
              </a:rPr>
              <a:t>usr</a:t>
            </a:r>
            <a:r>
              <a:rPr lang="en-US" altLang="zh-CN" noProof="0" dirty="0">
                <a:ln>
                  <a:noFill/>
                </a:ln>
                <a:effectLst/>
                <a:uLnTx/>
                <a:uFillTx/>
                <a:latin typeface="Arial" panose="020B0604020202020204" pitchFamily="34" charset="0"/>
                <a:ea typeface="宋体" panose="02010600030101010101" pitchFamily="2" charset="-122"/>
                <a:sym typeface="+mn-ea"/>
              </a:rPr>
              <a:t> change name username string after age;</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5"/>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在对表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分区字段之前，增加一个新列</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sex</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hive&gt;alter table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add columns(sex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boolean</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6"/>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删除表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中所有字段并重新指定新字段</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newid</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newname</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newage</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hive&gt;alter table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replace columns(</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newid</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bigint,newname</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string,newage</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int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6"/>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为</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表设置</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tblproperties</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键值对属性值来描述表的属性信息</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alter table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set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tabproperties</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(‘notes’=’the columns in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may be null except id’);</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a:xfrm>
            <a:off x="1021080" y="5391150"/>
            <a:ext cx="8610600" cy="1266825"/>
          </a:xfrm>
          <a:prstGeom prst="rect">
            <a:avLst/>
          </a:prstGeom>
        </p:spPr>
        <p:txBody>
          <a:bodyPr>
            <a:spAutoFit/>
          </a:bodyPr>
          <a:lstStyle/>
          <a:p>
            <a:pPr marL="285750" marR="0" lvl="0" indent="-285750" algn="l" defTabSz="914400" rtl="0" eaLnBrk="1" fontAlgn="base" latinLnBrk="0" hangingPunct="1">
              <a:lnSpc>
                <a:spcPct val="120000"/>
              </a:lnSpc>
              <a:spcBef>
                <a:spcPct val="0"/>
              </a:spcBef>
              <a:spcAft>
                <a:spcPts val="70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修改</a:t>
            </a:r>
            <a:r>
              <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视图</a:t>
            </a: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修改</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little_usr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视图元数据中的</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tblproperties</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属性信息</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alter view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little_usr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set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tabproperties</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create_at</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’=’refer to timestamp’);</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sym typeface="+mn-ea"/>
              </a:rPr>
              <a:t>9.6.2 Hive</a:t>
            </a:r>
            <a:r>
              <a:rPr lang="zh-CN" altLang="zh-CN" b="1" dirty="0">
                <a:sym typeface="+mn-ea"/>
              </a:rPr>
              <a:t>基本操作</a:t>
            </a:r>
            <a:endParaRPr lang="en-US" altLang="zh-CN" dirty="0"/>
          </a:p>
        </p:txBody>
      </p:sp>
      <p:sp>
        <p:nvSpPr>
          <p:cNvPr id="58371" name="Rectangle 5"/>
          <p:cNvSpPr/>
          <p:nvPr/>
        </p:nvSpPr>
        <p:spPr>
          <a:xfrm>
            <a:off x="1049020" y="1342232"/>
            <a:ext cx="8153400" cy="737235"/>
          </a:xfrm>
          <a:prstGeom prst="rect">
            <a:avLst/>
          </a:prstGeom>
          <a:noFill/>
          <a:ln w="9525">
            <a:noFill/>
          </a:ln>
        </p:spPr>
        <p:txBody>
          <a:bodyPr anchor="ctr" anchorCtr="0">
            <a:spAutoFit/>
          </a:bodyPr>
          <a:lstStyle/>
          <a:p>
            <a:pPr eaLnBrk="1" hangingPunct="1">
              <a:lnSpc>
                <a:spcPct val="150000"/>
              </a:lnSpc>
            </a:pPr>
            <a:r>
              <a:rPr lang="en-US" altLang="zh-CN" sz="2800" dirty="0">
                <a:latin typeface="Arial" panose="020B0604020202020204" pitchFamily="34" charset="0"/>
              </a:rPr>
              <a:t> 4. show</a:t>
            </a:r>
            <a:r>
              <a:rPr lang="zh-CN" altLang="en-US" sz="2800" dirty="0">
                <a:latin typeface="Arial" panose="020B0604020202020204" pitchFamily="34" charset="0"/>
              </a:rPr>
              <a:t>：查看数据库、表、视图</a:t>
            </a:r>
            <a:endParaRPr lang="zh-CN" altLang="en-US" sz="2800" dirty="0">
              <a:latin typeface="Arial" panose="020B0604020202020204" pitchFamily="34" charset="0"/>
            </a:endParaRPr>
          </a:p>
        </p:txBody>
      </p:sp>
      <p:sp>
        <p:nvSpPr>
          <p:cNvPr id="2" name="矩形 1"/>
          <p:cNvSpPr/>
          <p:nvPr/>
        </p:nvSpPr>
        <p:spPr>
          <a:xfrm>
            <a:off x="1049020" y="2476500"/>
            <a:ext cx="4562475" cy="2848610"/>
          </a:xfrm>
          <a:prstGeom prst="rect">
            <a:avLst/>
          </a:prstGeom>
        </p:spPr>
        <p:txBody>
          <a:bodyPr wrap="square">
            <a:spAutoFit/>
          </a:bodyPr>
          <a:lstStyle/>
          <a:p>
            <a:pPr marL="285750" marR="0" lvl="0" indent="-285750" algn="l" defTabSz="914400" rtl="0" eaLnBrk="1" fontAlgn="base" latinLnBrk="0" hangingPunct="1">
              <a:lnSpc>
                <a:spcPct val="120000"/>
              </a:lnSpc>
              <a:spcBef>
                <a:spcPct val="0"/>
              </a:spcBef>
              <a:spcAft>
                <a:spcPts val="70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查看数据库</a:t>
            </a:r>
            <a:endParaRPr kumimoji="0" lang="zh-CN"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中包含的所有数据库</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show databases;</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20000"/>
              </a:lnSpc>
              <a:spcBef>
                <a:spcPct val="0"/>
              </a:spcBef>
              <a:spcAft>
                <a:spcPts val="700"/>
              </a:spcAft>
              <a:buClrTx/>
              <a:buSzTx/>
              <a:buFont typeface="+mj-ea"/>
              <a:buAutoNum type="circleNumDbPlain" startAt="2"/>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中以</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开头的所有数据库</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ts val="70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hive&gt;show databases like ‘h.*’;</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文本框 3"/>
          <p:cNvSpPr txBox="1"/>
          <p:nvPr/>
        </p:nvSpPr>
        <p:spPr>
          <a:xfrm>
            <a:off x="6564630" y="2273935"/>
            <a:ext cx="5210175" cy="2861310"/>
          </a:xfrm>
          <a:prstGeom prst="rect">
            <a:avLst/>
          </a:prstGeom>
          <a:noFill/>
        </p:spPr>
        <p:txBody>
          <a:bodyPr wrap="square" rtlCol="0" anchor="t">
            <a:spAutoFit/>
          </a:bodyPr>
          <a:lstStyle/>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lang="zh-CN" altLang="en-US" sz="2000" noProof="0" dirty="0">
                <a:ln>
                  <a:noFill/>
                </a:ln>
                <a:effectLst/>
                <a:uLnTx/>
                <a:uFillTx/>
                <a:latin typeface="Arial" panose="020B0604020202020204" pitchFamily="34" charset="0"/>
                <a:ea typeface="宋体" panose="02010600030101010101" pitchFamily="2" charset="-122"/>
                <a:sym typeface="+mn-ea"/>
              </a:rPr>
              <a:t>查看表和视图</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a:defRPr/>
            </a:pPr>
            <a:r>
              <a:rPr lang="zh-CN" altLang="en-US" sz="2000" noProof="0" dirty="0">
                <a:ln>
                  <a:noFill/>
                </a:ln>
                <a:effectLst/>
                <a:uLnTx/>
                <a:uFillTx/>
                <a:latin typeface="Arial" panose="020B0604020202020204" pitchFamily="34" charset="0"/>
                <a:ea typeface="宋体" panose="02010600030101010101" pitchFamily="2" charset="-122"/>
                <a:sym typeface="+mn-ea"/>
              </a:rPr>
              <a:t>查看数据库</a:t>
            </a:r>
            <a:r>
              <a:rPr lang="en-US" altLang="zh-CN" sz="2000" noProof="0" dirty="0">
                <a:ln>
                  <a:noFill/>
                </a:ln>
                <a:effectLst/>
                <a:uLnTx/>
                <a:uFillTx/>
                <a:latin typeface="Arial" panose="020B0604020202020204" pitchFamily="34" charset="0"/>
                <a:ea typeface="宋体" panose="02010600030101010101" pitchFamily="2" charset="-122"/>
                <a:sym typeface="+mn-ea"/>
              </a:rPr>
              <a:t>hive</a:t>
            </a:r>
            <a:r>
              <a:rPr lang="zh-CN" altLang="en-US" sz="2000" noProof="0" dirty="0">
                <a:ln>
                  <a:noFill/>
                </a:ln>
                <a:effectLst/>
                <a:uLnTx/>
                <a:uFillTx/>
                <a:latin typeface="Arial" panose="020B0604020202020204" pitchFamily="34" charset="0"/>
                <a:ea typeface="宋体" panose="02010600030101010101" pitchFamily="2" charset="-122"/>
                <a:sym typeface="+mn-ea"/>
              </a:rPr>
              <a:t>中所有表和视图</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Tx/>
              <a:buNone/>
              <a:defRPr/>
            </a:pPr>
            <a:r>
              <a:rPr lang="en-US" altLang="zh-CN" sz="2000" noProof="0" dirty="0">
                <a:ln>
                  <a:noFill/>
                </a:ln>
                <a:effectLst/>
                <a:uLnTx/>
                <a:uFillTx/>
                <a:latin typeface="Arial" panose="020B0604020202020204" pitchFamily="34" charset="0"/>
                <a:ea typeface="宋体" panose="02010600030101010101" pitchFamily="2" charset="-122"/>
                <a:sym typeface="+mn-ea"/>
              </a:rPr>
              <a:t>      hive&gt; use hive;</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Tx/>
              <a:buNone/>
              <a:defRPr/>
            </a:pPr>
            <a:r>
              <a:rPr lang="en-US" altLang="zh-CN" sz="2000" noProof="0" dirty="0">
                <a:ln>
                  <a:noFill/>
                </a:ln>
                <a:effectLst/>
                <a:uLnTx/>
                <a:uFillTx/>
                <a:latin typeface="Arial" panose="020B0604020202020204" pitchFamily="34" charset="0"/>
                <a:ea typeface="宋体" panose="02010600030101010101" pitchFamily="2" charset="-122"/>
                <a:sym typeface="+mn-ea"/>
              </a:rPr>
              <a:t>      hive&gt; show tables;</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startAt="2"/>
              <a:defRPr/>
            </a:pPr>
            <a:r>
              <a:rPr lang="zh-CN" altLang="en-US" sz="2000" noProof="0" dirty="0">
                <a:ln>
                  <a:noFill/>
                </a:ln>
                <a:effectLst/>
                <a:uLnTx/>
                <a:uFillTx/>
                <a:latin typeface="Arial" panose="020B0604020202020204" pitchFamily="34" charset="0"/>
                <a:ea typeface="宋体" panose="02010600030101010101" pitchFamily="2" charset="-122"/>
                <a:sym typeface="+mn-ea"/>
              </a:rPr>
              <a:t>查看数据库</a:t>
            </a:r>
            <a:r>
              <a:rPr lang="en-US" altLang="zh-CN" sz="2000" noProof="0" dirty="0">
                <a:ln>
                  <a:noFill/>
                </a:ln>
                <a:effectLst/>
                <a:uLnTx/>
                <a:uFillTx/>
                <a:latin typeface="Arial" panose="020B0604020202020204" pitchFamily="34" charset="0"/>
                <a:ea typeface="宋体" panose="02010600030101010101" pitchFamily="2" charset="-122"/>
                <a:sym typeface="+mn-ea"/>
              </a:rPr>
              <a:t>hive</a:t>
            </a:r>
            <a:r>
              <a:rPr lang="zh-CN" altLang="en-US" sz="2000" noProof="0" dirty="0">
                <a:ln>
                  <a:noFill/>
                </a:ln>
                <a:effectLst/>
                <a:uLnTx/>
                <a:uFillTx/>
                <a:latin typeface="Arial" panose="020B0604020202020204" pitchFamily="34" charset="0"/>
                <a:ea typeface="宋体" panose="02010600030101010101" pitchFamily="2" charset="-122"/>
                <a:sym typeface="+mn-ea"/>
              </a:rPr>
              <a:t>中以</a:t>
            </a:r>
            <a:r>
              <a:rPr lang="en-US" altLang="zh-CN" sz="2000" noProof="0" dirty="0">
                <a:ln>
                  <a:noFill/>
                </a:ln>
                <a:effectLst/>
                <a:uLnTx/>
                <a:uFillTx/>
                <a:latin typeface="Arial" panose="020B0604020202020204" pitchFamily="34" charset="0"/>
                <a:ea typeface="宋体" panose="02010600030101010101" pitchFamily="2" charset="-122"/>
                <a:sym typeface="+mn-ea"/>
              </a:rPr>
              <a:t>u</a:t>
            </a:r>
            <a:r>
              <a:rPr lang="zh-CN" altLang="en-US" sz="2000" noProof="0" dirty="0">
                <a:ln>
                  <a:noFill/>
                </a:ln>
                <a:effectLst/>
                <a:uLnTx/>
                <a:uFillTx/>
                <a:latin typeface="Arial" panose="020B0604020202020204" pitchFamily="34" charset="0"/>
                <a:ea typeface="宋体" panose="02010600030101010101" pitchFamily="2" charset="-122"/>
                <a:sym typeface="+mn-ea"/>
              </a:rPr>
              <a:t>开头的所有表和视图</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Tx/>
              <a:buNone/>
              <a:defRPr/>
            </a:pPr>
            <a:r>
              <a:rPr lang="en-US" altLang="zh-CN" sz="2000" noProof="0" dirty="0">
                <a:ln>
                  <a:noFill/>
                </a:ln>
                <a:effectLst/>
                <a:uLnTx/>
                <a:uFillTx/>
                <a:latin typeface="Arial" panose="020B0604020202020204" pitchFamily="34" charset="0"/>
                <a:ea typeface="宋体" panose="02010600030101010101" pitchFamily="2" charset="-122"/>
                <a:sym typeface="+mn-ea"/>
              </a:rPr>
              <a:t>      hive&gt; show tables in hive like ‘u.*’;</a:t>
            </a:r>
            <a:endParaRPr lang="en-US" altLang="zh-CN" sz="2000" noProof="0" dirty="0">
              <a:ln>
                <a:noFill/>
              </a:ln>
              <a:effectLst/>
              <a:uLnTx/>
              <a:uFillTx/>
              <a:latin typeface="Arial" panose="020B0604020202020204" pitchFamily="34" charset="0"/>
              <a:ea typeface="宋体" panose="02010600030101010101" pitchFamily="2"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sym typeface="+mn-ea"/>
              </a:rPr>
              <a:t>9.6.2 Hive</a:t>
            </a:r>
            <a:r>
              <a:rPr lang="zh-CN" altLang="zh-CN" b="1" dirty="0">
                <a:sym typeface="+mn-ea"/>
              </a:rPr>
              <a:t>基本操作</a:t>
            </a:r>
            <a:endParaRPr lang="en-US" altLang="zh-CN" dirty="0"/>
          </a:p>
        </p:txBody>
      </p:sp>
      <p:sp>
        <p:nvSpPr>
          <p:cNvPr id="59395" name="Rectangle 5"/>
          <p:cNvSpPr/>
          <p:nvPr/>
        </p:nvSpPr>
        <p:spPr>
          <a:xfrm>
            <a:off x="958850" y="1169195"/>
            <a:ext cx="7696200" cy="645160"/>
          </a:xfrm>
          <a:prstGeom prst="rect">
            <a:avLst/>
          </a:prstGeom>
          <a:noFill/>
          <a:ln w="9525">
            <a:noFill/>
          </a:ln>
        </p:spPr>
        <p:txBody>
          <a:bodyPr anchor="ctr" anchorCtr="0">
            <a:spAutoFit/>
          </a:bodyPr>
          <a:lstStyle/>
          <a:p>
            <a:pPr eaLnBrk="1" hangingPunct="1">
              <a:lnSpc>
                <a:spcPct val="150000"/>
              </a:lnSpc>
            </a:pPr>
            <a:r>
              <a:rPr lang="en-US" altLang="zh-CN" sz="2400" dirty="0">
                <a:latin typeface="Arial" panose="020B0604020202020204" pitchFamily="34" charset="0"/>
              </a:rPr>
              <a:t>5. describe</a:t>
            </a:r>
            <a:r>
              <a:rPr lang="zh-CN" altLang="en-US" sz="2400" dirty="0">
                <a:latin typeface="Arial" panose="020B0604020202020204" pitchFamily="34" charset="0"/>
              </a:rPr>
              <a:t>：描述数据库、表、视图</a:t>
            </a:r>
            <a:endParaRPr lang="zh-CN" altLang="en-US" sz="2400" dirty="0">
              <a:latin typeface="Arial" panose="020B0604020202020204" pitchFamily="34" charset="0"/>
            </a:endParaRPr>
          </a:p>
        </p:txBody>
      </p:sp>
      <p:sp>
        <p:nvSpPr>
          <p:cNvPr id="8" name="矩形 7"/>
          <p:cNvSpPr/>
          <p:nvPr/>
        </p:nvSpPr>
        <p:spPr>
          <a:xfrm>
            <a:off x="1289685" y="3789045"/>
            <a:ext cx="8229600" cy="2999740"/>
          </a:xfrm>
          <a:prstGeom prst="rect">
            <a:avLst/>
          </a:prstGeom>
        </p:spPr>
        <p:txBody>
          <a:bodyPr>
            <a:spAutoFit/>
          </a:bodyPr>
          <a:lstStyle/>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描述表和视图</a:t>
            </a:r>
            <a:endParaRPr kumimoji="0" lang="zh-CN"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和视图</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little_usr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的基本信息，包括列信息等</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hive&gt; describe hive.usr/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hive.little_usr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startAt="2"/>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和视图</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little_usr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的详细信息，包括列信息、位置信息、属性信息等</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hive&gt; describe extended hive.usr/ </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hive.little_usr</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startAt="3"/>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查看表</a:t>
            </a:r>
            <a:r>
              <a:rPr kumimoji="0" lang="en-US" altLang="zh-CN" sz="18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中列</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id</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的信息</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hive&gt; describe extended hive.usr.id;</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矩形 8"/>
          <p:cNvSpPr/>
          <p:nvPr/>
        </p:nvSpPr>
        <p:spPr>
          <a:xfrm>
            <a:off x="1187450" y="1620520"/>
            <a:ext cx="7239000" cy="2168525"/>
          </a:xfrm>
          <a:prstGeom prst="rect">
            <a:avLst/>
          </a:prstGeom>
        </p:spPr>
        <p:txBody>
          <a:bodyPr>
            <a:spAutoFit/>
          </a:bodyPr>
          <a:lstStyle/>
          <a:p>
            <a:pPr marL="285750" marR="0" lvl="0" indent="-28575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描述数据库</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查看数据库</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的基本信息，包括数据库中文件位置信息等</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describe database hive;</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mj-ea"/>
              <a:buAutoNum type="circleNumDbPlain" startAt="2"/>
              <a:defRPr/>
            </a:pP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查看数据库</a:t>
            </a: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hive</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a:t>
            </a:r>
            <a:r>
              <a:rPr kumimoji="0" lang="zh-CN" altLang="en-US" sz="1800" b="0" i="0" u="sng"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详细</a:t>
            </a:r>
            <a:r>
              <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信息，包括数据库的基本信息及属性信息等</a:t>
            </a:r>
            <a:endParaRPr kumimoji="0" lang="zh-CN" altLang="en-US"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285750" marR="0" lvl="0" indent="-285750" algn="l" defTabSz="914400" rtl="0" eaLnBrk="1" fontAlgn="base" latinLnBrk="0" hangingPunct="1">
              <a:lnSpc>
                <a:spcPct val="15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hive&gt;describe database extended hive;</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sym typeface="+mn-ea"/>
              </a:rPr>
              <a:t>9.6.2 Hive</a:t>
            </a:r>
            <a:r>
              <a:rPr lang="zh-CN" altLang="zh-CN" b="1" dirty="0">
                <a:sym typeface="+mn-ea"/>
              </a:rPr>
              <a:t>基本操作</a:t>
            </a:r>
            <a:endParaRPr lang="en-US" altLang="zh-CN" dirty="0"/>
          </a:p>
        </p:txBody>
      </p:sp>
      <p:sp>
        <p:nvSpPr>
          <p:cNvPr id="60419" name="矩形 3"/>
          <p:cNvSpPr/>
          <p:nvPr/>
        </p:nvSpPr>
        <p:spPr>
          <a:xfrm>
            <a:off x="1005205" y="1606233"/>
            <a:ext cx="7239000" cy="460375"/>
          </a:xfrm>
          <a:prstGeom prst="rect">
            <a:avLst/>
          </a:prstGeom>
          <a:noFill/>
          <a:ln w="9525">
            <a:noFill/>
          </a:ln>
        </p:spPr>
        <p:txBody>
          <a:bodyPr>
            <a:spAutoFit/>
          </a:bodyPr>
          <a:lstStyle/>
          <a:p>
            <a:pPr eaLnBrk="1" hangingPunct="1"/>
            <a:r>
              <a:rPr lang="en-US" altLang="zh-CN" sz="2400" dirty="0">
                <a:latin typeface="Arial" panose="020B0604020202020204" pitchFamily="34" charset="0"/>
              </a:rPr>
              <a:t>6. load</a:t>
            </a:r>
            <a:r>
              <a:rPr lang="zh-CN" altLang="en-US" sz="2400" dirty="0">
                <a:latin typeface="Arial" panose="020B0604020202020204" pitchFamily="34" charset="0"/>
              </a:rPr>
              <a:t>：向表中装载数据</a:t>
            </a:r>
            <a:endParaRPr lang="zh-CN" altLang="en-US" sz="2400" dirty="0">
              <a:latin typeface="Arial" panose="020B0604020202020204" pitchFamily="34" charset="0"/>
            </a:endParaRPr>
          </a:p>
        </p:txBody>
      </p:sp>
      <p:sp>
        <p:nvSpPr>
          <p:cNvPr id="8" name="矩形 7"/>
          <p:cNvSpPr/>
          <p:nvPr/>
        </p:nvSpPr>
        <p:spPr>
          <a:xfrm>
            <a:off x="1005205" y="2332355"/>
            <a:ext cx="9509760" cy="3584575"/>
          </a:xfrm>
          <a:prstGeom prst="rect">
            <a:avLst/>
          </a:prstGeom>
        </p:spPr>
        <p:txBody>
          <a:bodyPr wrap="square">
            <a:spAutoFit/>
          </a:bodyPr>
          <a:lstStyle/>
          <a:p>
            <a:pPr marL="342900" marR="0" lvl="0" indent="-342900" algn="l" defTabSz="914400" rtl="0" eaLnBrk="0" fontAlgn="base" latinLnBrk="0" hangingPunct="0">
              <a:lnSpc>
                <a:spcPct val="120000"/>
              </a:lnSpc>
              <a:spcBef>
                <a:spcPct val="0"/>
              </a:spcBef>
              <a:spcAft>
                <a:spcPts val="700"/>
              </a:spcAft>
              <a:buClrTx/>
              <a:buSzTx/>
              <a:buFont typeface="+mj-ea"/>
              <a:buAutoNum type="circleNumDbPlain"/>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把目录’</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/local/data‘</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下的数据文件中的数据装载进</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表并覆盖原有数据</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ts val="70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load data local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inpath</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/local/data’ overwrite into table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20000"/>
              </a:lnSpc>
              <a:spcBef>
                <a:spcPct val="0"/>
              </a:spcBef>
              <a:spcAft>
                <a:spcPts val="700"/>
              </a:spcAft>
              <a:buClrTx/>
              <a:buSzTx/>
              <a:buFont typeface="+mj-ea"/>
              <a:buAutoNum type="circleNumDbPlain" startAt="2"/>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把目录’</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/local/data‘</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下的数据文件中的数据装载进</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表不覆盖原有数据</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ts val="70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load data local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inpath</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/local/data’ into table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20000"/>
              </a:lnSpc>
              <a:spcBef>
                <a:spcPct val="0"/>
              </a:spcBef>
              <a:spcAft>
                <a:spcPts val="700"/>
              </a:spcAft>
              <a:buClrTx/>
              <a:buSzTx/>
              <a:buFont typeface="+mj-ea"/>
              <a:buAutoNum type="circleNumDbPlain" startAt="3"/>
              <a:defRPr/>
            </a:pP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把分布式文件系统目录’</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hdfs://master_srever/usr/local/data‘</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下的数据文件数据装载进</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表并覆盖原有数据</a:t>
            </a:r>
            <a:endParaRPr kumimoji="0" lang="zh-CN" altLang="en-US"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ts val="70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hive&gt; load data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inpath</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‘hdfs://master_srever/usr/local/data’ </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20000"/>
              </a:lnSpc>
              <a:spcBef>
                <a:spcPct val="0"/>
              </a:spcBef>
              <a:spcAft>
                <a:spcPts val="700"/>
              </a:spcAft>
              <a:buClrTx/>
              <a:buSzTx/>
              <a:buFontTx/>
              <a:buNone/>
              <a:defRPr/>
            </a:pP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&gt;overwrite into   table </a:t>
            </a:r>
            <a:r>
              <a:rPr kumimoji="0" lang="en-US" altLang="zh-CN" sz="2000" b="0"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usr</a:t>
            </a:r>
            <a:r>
              <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0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
          <p:cNvSpPr>
            <a:spLocks noGrp="1"/>
          </p:cNvSpPr>
          <p:nvPr>
            <p:ph type="title"/>
          </p:nvPr>
        </p:nvSpPr>
        <p:spPr/>
        <p:txBody>
          <a:bodyPr vert="horz" wrap="square" lIns="91440" tIns="45720" rIns="91440" bIns="45720" anchor="ctr" anchorCtr="0"/>
          <a:lstStyle/>
          <a:p>
            <a:pPr algn="just" eaLnBrk="1" hangingPunct="1">
              <a:lnSpc>
                <a:spcPct val="150000"/>
              </a:lnSpc>
            </a:pPr>
            <a:r>
              <a:rPr lang="en-US" altLang="zh-CN" b="1" dirty="0">
                <a:sym typeface="+mn-ea"/>
              </a:rPr>
              <a:t>9.6.2 Hive</a:t>
            </a:r>
            <a:r>
              <a:rPr lang="zh-CN" altLang="zh-CN" b="1" dirty="0">
                <a:sym typeface="+mn-ea"/>
              </a:rPr>
              <a:t>基本操作</a:t>
            </a:r>
            <a:endParaRPr lang="en-US" altLang="zh-CN" dirty="0"/>
          </a:p>
        </p:txBody>
      </p:sp>
      <p:sp>
        <p:nvSpPr>
          <p:cNvPr id="61443" name="矩形 3"/>
          <p:cNvSpPr/>
          <p:nvPr/>
        </p:nvSpPr>
        <p:spPr>
          <a:xfrm>
            <a:off x="1042035" y="1535113"/>
            <a:ext cx="7239000" cy="460375"/>
          </a:xfrm>
          <a:prstGeom prst="rect">
            <a:avLst/>
          </a:prstGeom>
          <a:noFill/>
          <a:ln w="9525">
            <a:noFill/>
          </a:ln>
        </p:spPr>
        <p:txBody>
          <a:bodyPr>
            <a:spAutoFit/>
          </a:bodyPr>
          <a:lstStyle/>
          <a:p>
            <a:pPr eaLnBrk="1" hangingPunct="1"/>
            <a:r>
              <a:rPr lang="en-US" altLang="zh-CN" sz="2400" dirty="0">
                <a:latin typeface="Arial" panose="020B0604020202020204" pitchFamily="34" charset="0"/>
              </a:rPr>
              <a:t>7. insert</a:t>
            </a:r>
            <a:r>
              <a:rPr lang="zh-CN" altLang="en-US" sz="2400" dirty="0">
                <a:latin typeface="Arial" panose="020B0604020202020204" pitchFamily="34" charset="0"/>
              </a:rPr>
              <a:t>：向表中插入数据或从表中导出数据</a:t>
            </a:r>
            <a:endParaRPr lang="zh-CN" altLang="en-US" sz="2400" dirty="0">
              <a:latin typeface="Arial" panose="020B0604020202020204" pitchFamily="34" charset="0"/>
            </a:endParaRPr>
          </a:p>
        </p:txBody>
      </p:sp>
      <p:sp>
        <p:nvSpPr>
          <p:cNvPr id="61444" name="矩形 7"/>
          <p:cNvSpPr/>
          <p:nvPr/>
        </p:nvSpPr>
        <p:spPr>
          <a:xfrm>
            <a:off x="1042035" y="2112963"/>
            <a:ext cx="8153400" cy="3215005"/>
          </a:xfrm>
          <a:prstGeom prst="rect">
            <a:avLst/>
          </a:prstGeom>
          <a:noFill/>
          <a:ln w="9525">
            <a:noFill/>
          </a:ln>
        </p:spPr>
        <p:txBody>
          <a:bodyPr>
            <a:spAutoFit/>
          </a:bodyPr>
          <a:lstStyle/>
          <a:p>
            <a:pPr marL="342900" indent="-342900">
              <a:lnSpc>
                <a:spcPct val="120000"/>
              </a:lnSpc>
              <a:spcAft>
                <a:spcPts val="700"/>
              </a:spcAft>
              <a:buFont typeface="黑体" panose="02010609060101010101" pitchFamily="49" charset="-122"/>
              <a:buAutoNum type="circleNumDbPlain"/>
            </a:pPr>
            <a:r>
              <a:rPr lang="zh-CN" altLang="en-US" sz="2000" dirty="0">
                <a:latin typeface="Arial" panose="020B0604020202020204" pitchFamily="34" charset="0"/>
              </a:rPr>
              <a:t>向表</a:t>
            </a:r>
            <a:r>
              <a:rPr lang="en-US" altLang="zh-CN" sz="2000" dirty="0">
                <a:latin typeface="Arial" panose="020B0604020202020204" pitchFamily="34" charset="0"/>
              </a:rPr>
              <a:t>usr1</a:t>
            </a:r>
            <a:r>
              <a:rPr lang="zh-CN" altLang="en-US" sz="2000" dirty="0">
                <a:latin typeface="Arial" panose="020B0604020202020204" pitchFamily="34" charset="0"/>
              </a:rPr>
              <a:t>中插入来自</a:t>
            </a:r>
            <a:r>
              <a:rPr lang="en-US" altLang="zh-CN" sz="2000" dirty="0">
                <a:latin typeface="Arial" panose="020B0604020202020204" pitchFamily="34" charset="0"/>
              </a:rPr>
              <a:t>usr</a:t>
            </a:r>
            <a:r>
              <a:rPr lang="zh-CN" altLang="en-US" sz="2000" dirty="0">
                <a:latin typeface="Arial" panose="020B0604020202020204" pitchFamily="34" charset="0"/>
              </a:rPr>
              <a:t>表的数据并覆盖原有数据</a:t>
            </a:r>
            <a:endParaRPr lang="zh-CN" altLang="en-US" sz="2000" dirty="0">
              <a:latin typeface="Arial" panose="020B0604020202020204" pitchFamily="34" charset="0"/>
            </a:endParaRPr>
          </a:p>
          <a:p>
            <a:pPr marL="342900" indent="-342900">
              <a:lnSpc>
                <a:spcPct val="120000"/>
              </a:lnSpc>
              <a:spcAft>
                <a:spcPts val="700"/>
              </a:spcAft>
              <a:buNone/>
            </a:pPr>
            <a:r>
              <a:rPr lang="en-US" altLang="zh-CN" sz="2000" dirty="0">
                <a:latin typeface="Arial" panose="020B0604020202020204" pitchFamily="34" charset="0"/>
              </a:rPr>
              <a:t>      hive&gt; insert overwrite table usr1 </a:t>
            </a:r>
            <a:endParaRPr lang="en-US" altLang="zh-CN" sz="2000" dirty="0">
              <a:latin typeface="Arial" panose="020B0604020202020204" pitchFamily="34" charset="0"/>
            </a:endParaRPr>
          </a:p>
          <a:p>
            <a:pPr marL="342900" indent="-342900">
              <a:lnSpc>
                <a:spcPct val="120000"/>
              </a:lnSpc>
              <a:spcAft>
                <a:spcPts val="700"/>
              </a:spcAft>
              <a:buNone/>
            </a:pPr>
            <a:r>
              <a:rPr lang="en-US" altLang="zh-CN" sz="2000" dirty="0">
                <a:latin typeface="Arial" panose="020B0604020202020204" pitchFamily="34" charset="0"/>
              </a:rPr>
              <a:t>            &gt; select * from usr where age=10;</a:t>
            </a:r>
            <a:endParaRPr lang="en-US" altLang="zh-CN" sz="2000" dirty="0">
              <a:latin typeface="Arial" panose="020B0604020202020204" pitchFamily="34" charset="0"/>
            </a:endParaRPr>
          </a:p>
          <a:p>
            <a:pPr marL="342900" indent="-342900">
              <a:lnSpc>
                <a:spcPct val="120000"/>
              </a:lnSpc>
              <a:spcAft>
                <a:spcPts val="700"/>
              </a:spcAft>
              <a:buFont typeface="黑体" panose="02010609060101010101" pitchFamily="49" charset="-122"/>
              <a:buAutoNum type="circleNumDbPlain" startAt="2"/>
            </a:pPr>
            <a:r>
              <a:rPr lang="zh-CN" altLang="en-US" sz="2000" dirty="0">
                <a:latin typeface="Arial" panose="020B0604020202020204" pitchFamily="34" charset="0"/>
              </a:rPr>
              <a:t>向表</a:t>
            </a:r>
            <a:r>
              <a:rPr lang="en-US" altLang="zh-CN" sz="2000" dirty="0">
                <a:latin typeface="Arial" panose="020B0604020202020204" pitchFamily="34" charset="0"/>
              </a:rPr>
              <a:t>usr1</a:t>
            </a:r>
            <a:r>
              <a:rPr lang="zh-CN" altLang="en-US" sz="2000" dirty="0">
                <a:latin typeface="Arial" panose="020B0604020202020204" pitchFamily="34" charset="0"/>
              </a:rPr>
              <a:t>中插入来自</a:t>
            </a:r>
            <a:r>
              <a:rPr lang="en-US" altLang="zh-CN" sz="2000" dirty="0">
                <a:latin typeface="Arial" panose="020B0604020202020204" pitchFamily="34" charset="0"/>
              </a:rPr>
              <a:t>usr</a:t>
            </a:r>
            <a:r>
              <a:rPr lang="zh-CN" altLang="en-US" sz="2000" dirty="0">
                <a:latin typeface="Arial" panose="020B0604020202020204" pitchFamily="34" charset="0"/>
              </a:rPr>
              <a:t>表的数据并追加在原有数据后</a:t>
            </a:r>
            <a:endParaRPr lang="zh-CN" altLang="en-US" sz="2000" dirty="0">
              <a:latin typeface="Arial" panose="020B0604020202020204" pitchFamily="34" charset="0"/>
            </a:endParaRPr>
          </a:p>
          <a:p>
            <a:pPr marL="342900" indent="-342900">
              <a:lnSpc>
                <a:spcPct val="120000"/>
              </a:lnSpc>
              <a:spcAft>
                <a:spcPts val="700"/>
              </a:spcAft>
              <a:buNone/>
            </a:pPr>
            <a:r>
              <a:rPr lang="en-US" altLang="zh-CN" sz="2000" dirty="0">
                <a:latin typeface="Arial" panose="020B0604020202020204" pitchFamily="34" charset="0"/>
              </a:rPr>
              <a:t>      hive&gt; insert into table usr1 </a:t>
            </a:r>
            <a:endParaRPr lang="en-US" altLang="zh-CN" sz="2000" dirty="0">
              <a:latin typeface="Arial" panose="020B0604020202020204" pitchFamily="34" charset="0"/>
            </a:endParaRPr>
          </a:p>
          <a:p>
            <a:pPr marL="342900" indent="-342900">
              <a:lnSpc>
                <a:spcPct val="120000"/>
              </a:lnSpc>
              <a:spcAft>
                <a:spcPts val="700"/>
              </a:spcAft>
              <a:buNone/>
            </a:pPr>
            <a:r>
              <a:rPr lang="en-US" altLang="zh-CN" sz="2000" dirty="0">
                <a:latin typeface="Arial" panose="020B0604020202020204" pitchFamily="34" charset="0"/>
              </a:rPr>
              <a:t>            &gt; select * from usr </a:t>
            </a:r>
            <a:endParaRPr lang="en-US" altLang="zh-CN" sz="2000" dirty="0">
              <a:latin typeface="Arial" panose="020B0604020202020204" pitchFamily="34" charset="0"/>
            </a:endParaRPr>
          </a:p>
          <a:p>
            <a:pPr marL="342900" indent="-342900">
              <a:lnSpc>
                <a:spcPct val="120000"/>
              </a:lnSpc>
              <a:spcAft>
                <a:spcPts val="700"/>
              </a:spcAft>
              <a:buNone/>
            </a:pPr>
            <a:r>
              <a:rPr lang="en-US" altLang="zh-CN" sz="2000" dirty="0">
                <a:latin typeface="Arial" panose="020B0604020202020204" pitchFamily="34" charset="0"/>
              </a:rPr>
              <a:t>            &gt; where age=10;</a:t>
            </a:r>
            <a:endParaRPr lang="en-US" altLang="zh-CN" sz="2000" dirty="0">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vert="horz" wrap="square" lIns="91440" tIns="45720" rIns="91440" bIns="45720" anchor="ctr" anchorCtr="0"/>
          <a:lstStyle/>
          <a:p>
            <a:r>
              <a:rPr lang="en-US" altLang="zh-CN" b="1" dirty="0"/>
              <a:t>9.</a:t>
            </a:r>
            <a:r>
              <a:rPr lang="en-US" altLang="en-US" b="1" dirty="0"/>
              <a:t>6.3  Hive</a:t>
            </a:r>
            <a:r>
              <a:rPr lang="zh-CN" altLang="en-US" b="1" dirty="0"/>
              <a:t>应用实例：</a:t>
            </a:r>
            <a:r>
              <a:rPr lang="en-US" altLang="en-US" b="1" dirty="0"/>
              <a:t>WordCount</a:t>
            </a:r>
            <a:endParaRPr lang="zh-CN" altLang="en-US" b="1" dirty="0"/>
          </a:p>
        </p:txBody>
      </p:sp>
      <p:sp>
        <p:nvSpPr>
          <p:cNvPr id="62467" name="TextBox 2"/>
          <p:cNvSpPr txBox="1"/>
          <p:nvPr/>
        </p:nvSpPr>
        <p:spPr>
          <a:xfrm>
            <a:off x="1169670" y="1792605"/>
            <a:ext cx="9864090" cy="4892675"/>
          </a:xfrm>
          <a:prstGeom prst="rect">
            <a:avLst/>
          </a:prstGeom>
          <a:noFill/>
          <a:ln w="9525">
            <a:noFill/>
          </a:ln>
        </p:spPr>
        <p:txBody>
          <a:bodyPr wrap="square">
            <a:spAutoFit/>
          </a:bodyPr>
          <a:lstStyle/>
          <a:p>
            <a:pPr eaLnBrk="1" hangingPunct="1"/>
            <a:r>
              <a:rPr lang="zh-CN" altLang="en-US" sz="2400" dirty="0">
                <a:latin typeface="Arial" panose="020B0604020202020204" pitchFamily="34" charset="0"/>
              </a:rPr>
              <a:t>    现在我们通过一个实例</a:t>
            </a:r>
            <a:r>
              <a:rPr lang="en-US" altLang="zh-CN" sz="2400" dirty="0">
                <a:latin typeface="Arial" panose="020B0604020202020204" pitchFamily="34" charset="0"/>
              </a:rPr>
              <a:t>——</a:t>
            </a:r>
            <a:r>
              <a:rPr lang="zh-CN" altLang="en-US" sz="2400" dirty="0">
                <a:latin typeface="Arial" panose="020B0604020202020204" pitchFamily="34" charset="0"/>
              </a:rPr>
              <a:t>词频统计，来深入学习一下</a:t>
            </a:r>
            <a:r>
              <a:rPr lang="en-US" altLang="zh-CN" sz="2400" dirty="0">
                <a:latin typeface="Arial" panose="020B0604020202020204" pitchFamily="34" charset="0"/>
              </a:rPr>
              <a:t>Hive</a:t>
            </a:r>
            <a:r>
              <a:rPr lang="zh-CN" altLang="en-US" sz="2400" dirty="0">
                <a:latin typeface="Arial" panose="020B0604020202020204" pitchFamily="34" charset="0"/>
              </a:rPr>
              <a:t>的具体使用。首先，需要创建一个需要分析的输入数据文件，然后编写</a:t>
            </a:r>
            <a:r>
              <a:rPr lang="en-US" altLang="zh-CN" sz="2400" dirty="0">
                <a:latin typeface="Arial" panose="020B0604020202020204" pitchFamily="34" charset="0"/>
              </a:rPr>
              <a:t>HiveQL</a:t>
            </a:r>
            <a:r>
              <a:rPr lang="zh-CN" altLang="en-US" sz="2400" dirty="0">
                <a:latin typeface="Arial" panose="020B0604020202020204" pitchFamily="34" charset="0"/>
              </a:rPr>
              <a:t>语句实现</a:t>
            </a:r>
            <a:r>
              <a:rPr lang="en-US" altLang="zh-CN" sz="2400" dirty="0">
                <a:latin typeface="Arial" panose="020B0604020202020204" pitchFamily="34" charset="0"/>
              </a:rPr>
              <a:t>WordCount</a:t>
            </a:r>
            <a:r>
              <a:rPr lang="zh-CN" altLang="en-US" sz="2400" dirty="0">
                <a:latin typeface="Arial" panose="020B0604020202020204" pitchFamily="34" charset="0"/>
              </a:rPr>
              <a:t>算法，在</a:t>
            </a:r>
            <a:r>
              <a:rPr lang="en-US" altLang="zh-CN" sz="2400" dirty="0">
                <a:latin typeface="Arial" panose="020B0604020202020204" pitchFamily="34" charset="0"/>
              </a:rPr>
              <a:t>Unix</a:t>
            </a:r>
            <a:r>
              <a:rPr lang="zh-CN" altLang="en-US" sz="2400" dirty="0">
                <a:latin typeface="Arial" panose="020B0604020202020204" pitchFamily="34" charset="0"/>
              </a:rPr>
              <a:t>下实现步骤如下：</a:t>
            </a:r>
            <a:endParaRPr lang="en-US" altLang="zh-CN" sz="2400" dirty="0">
              <a:latin typeface="Arial" panose="020B0604020202020204" pitchFamily="34" charset="0"/>
            </a:endParaRPr>
          </a:p>
          <a:p>
            <a:pPr eaLnBrk="1" hangingPunct="1"/>
            <a:endParaRPr lang="en-US" altLang="zh-CN" sz="2400" dirty="0">
              <a:latin typeface="Arial" panose="020B0604020202020204" pitchFamily="34" charset="0"/>
            </a:endParaRPr>
          </a:p>
          <a:p>
            <a:pPr eaLnBrk="1" hangingPunct="1"/>
            <a:r>
              <a:rPr lang="zh-CN" altLang="en-US" sz="2400" dirty="0">
                <a:latin typeface="Arial" panose="020B0604020202020204" pitchFamily="34" charset="0"/>
              </a:rPr>
              <a:t>（</a:t>
            </a:r>
            <a:r>
              <a:rPr lang="en-US" altLang="zh-CN" sz="2400" dirty="0">
                <a:latin typeface="Arial" panose="020B0604020202020204" pitchFamily="34" charset="0"/>
              </a:rPr>
              <a:t>1</a:t>
            </a:r>
            <a:r>
              <a:rPr lang="zh-CN" altLang="en-US" sz="2400" dirty="0">
                <a:latin typeface="Arial" panose="020B0604020202020204" pitchFamily="34" charset="0"/>
              </a:rPr>
              <a:t>）创建</a:t>
            </a:r>
            <a:r>
              <a:rPr lang="en-US" altLang="zh-CN" sz="2400" dirty="0">
                <a:latin typeface="Arial" panose="020B0604020202020204" pitchFamily="34" charset="0"/>
              </a:rPr>
              <a:t>input</a:t>
            </a:r>
            <a:r>
              <a:rPr lang="zh-CN" altLang="en-US" sz="2400" dirty="0">
                <a:latin typeface="Arial" panose="020B0604020202020204" pitchFamily="34" charset="0"/>
              </a:rPr>
              <a:t>目录，其中</a:t>
            </a:r>
            <a:r>
              <a:rPr lang="en-US" altLang="zh-CN" sz="2400" dirty="0">
                <a:latin typeface="Arial" panose="020B0604020202020204" pitchFamily="34" charset="0"/>
              </a:rPr>
              <a:t>input</a:t>
            </a:r>
            <a:r>
              <a:rPr lang="zh-CN" altLang="en-US" sz="2400" dirty="0">
                <a:latin typeface="Arial" panose="020B0604020202020204" pitchFamily="34" charset="0"/>
              </a:rPr>
              <a:t>为输入目录。命令如下：</a:t>
            </a:r>
            <a:endParaRPr lang="zh-CN" altLang="en-US" sz="2400" dirty="0">
              <a:latin typeface="Arial" panose="020B0604020202020204" pitchFamily="34" charset="0"/>
            </a:endParaRPr>
          </a:p>
          <a:p>
            <a:pPr eaLnBrk="1" hangingPunct="1"/>
            <a:r>
              <a:rPr lang="zh-CN" altLang="en-US" sz="2400" dirty="0">
                <a:latin typeface="Arial" panose="020B0604020202020204" pitchFamily="34" charset="0"/>
              </a:rPr>
              <a:t> </a:t>
            </a:r>
            <a:r>
              <a:rPr lang="en-US" altLang="zh-CN" sz="2400" dirty="0">
                <a:latin typeface="Arial" panose="020B0604020202020204" pitchFamily="34" charset="0"/>
              </a:rPr>
              <a:t>$ cd /usr/local/hadoop</a:t>
            </a:r>
            <a:endParaRPr lang="en-US" altLang="zh-CN" sz="2400" dirty="0">
              <a:latin typeface="Arial" panose="020B0604020202020204" pitchFamily="34" charset="0"/>
            </a:endParaRPr>
          </a:p>
          <a:p>
            <a:pPr eaLnBrk="1" hangingPunct="1"/>
            <a:r>
              <a:rPr lang="en-US" altLang="zh-CN" sz="2400" dirty="0">
                <a:latin typeface="Arial" panose="020B0604020202020204" pitchFamily="34" charset="0"/>
              </a:rPr>
              <a:t> $ mkdir input</a:t>
            </a:r>
            <a:endParaRPr lang="en-US" altLang="zh-CN" sz="2400" dirty="0">
              <a:latin typeface="Arial" panose="020B0604020202020204" pitchFamily="34" charset="0"/>
            </a:endParaRPr>
          </a:p>
          <a:p>
            <a:pPr eaLnBrk="1" hangingPunct="1"/>
            <a:endParaRPr lang="en-US" altLang="zh-CN" sz="2400" dirty="0">
              <a:latin typeface="Arial" panose="020B0604020202020204" pitchFamily="34" charset="0"/>
            </a:endParaRPr>
          </a:p>
          <a:p>
            <a:pPr eaLnBrk="1" hangingPunct="1"/>
            <a:r>
              <a:rPr lang="zh-CN" altLang="en-US" sz="2400" dirty="0">
                <a:latin typeface="Arial" panose="020B0604020202020204" pitchFamily="34" charset="0"/>
              </a:rPr>
              <a:t>（</a:t>
            </a:r>
            <a:r>
              <a:rPr lang="en-US" altLang="zh-CN" sz="2400" dirty="0">
                <a:latin typeface="Arial" panose="020B0604020202020204" pitchFamily="34" charset="0"/>
              </a:rPr>
              <a:t>2</a:t>
            </a:r>
            <a:r>
              <a:rPr lang="zh-CN" altLang="en-US" sz="2400" dirty="0">
                <a:latin typeface="Arial" panose="020B0604020202020204" pitchFamily="34" charset="0"/>
              </a:rPr>
              <a:t>）在</a:t>
            </a:r>
            <a:r>
              <a:rPr lang="en-US" altLang="zh-CN" sz="2400" dirty="0">
                <a:latin typeface="Arial" panose="020B0604020202020204" pitchFamily="34" charset="0"/>
              </a:rPr>
              <a:t>input</a:t>
            </a:r>
            <a:r>
              <a:rPr lang="zh-CN" altLang="en-US" sz="2400" dirty="0">
                <a:latin typeface="Arial" panose="020B0604020202020204" pitchFamily="34" charset="0"/>
              </a:rPr>
              <a:t>文件夹中创建两个测试文件</a:t>
            </a:r>
            <a:r>
              <a:rPr lang="en-US" altLang="zh-CN" sz="2400" dirty="0">
                <a:latin typeface="Arial" panose="020B0604020202020204" pitchFamily="34" charset="0"/>
              </a:rPr>
              <a:t>file1.txt</a:t>
            </a:r>
            <a:r>
              <a:rPr lang="zh-CN" altLang="en-US" sz="2400" dirty="0">
                <a:latin typeface="Arial" panose="020B0604020202020204" pitchFamily="34" charset="0"/>
              </a:rPr>
              <a:t>和</a:t>
            </a:r>
            <a:r>
              <a:rPr lang="en-US" altLang="zh-CN" sz="2400" dirty="0">
                <a:latin typeface="Arial" panose="020B0604020202020204" pitchFamily="34" charset="0"/>
              </a:rPr>
              <a:t>file2.txt</a:t>
            </a:r>
            <a:r>
              <a:rPr lang="zh-CN" altLang="en-US" sz="2400" dirty="0">
                <a:latin typeface="Arial" panose="020B0604020202020204" pitchFamily="34" charset="0"/>
              </a:rPr>
              <a:t>，命令如下：</a:t>
            </a:r>
            <a:endParaRPr lang="zh-CN" altLang="en-US" sz="2400" dirty="0">
              <a:latin typeface="Arial" panose="020B0604020202020204" pitchFamily="34" charset="0"/>
            </a:endParaRPr>
          </a:p>
          <a:p>
            <a:pPr eaLnBrk="1" hangingPunct="1"/>
            <a:r>
              <a:rPr lang="zh-CN" altLang="en-US" sz="2400" dirty="0">
                <a:latin typeface="Arial" panose="020B0604020202020204" pitchFamily="34" charset="0"/>
              </a:rPr>
              <a:t> </a:t>
            </a:r>
            <a:r>
              <a:rPr lang="en-US" altLang="zh-CN" sz="2400" dirty="0">
                <a:latin typeface="Arial" panose="020B0604020202020204" pitchFamily="34" charset="0"/>
              </a:rPr>
              <a:t>$ cd  /usr/local/hadoop/input</a:t>
            </a:r>
            <a:endParaRPr lang="en-US" altLang="zh-CN" sz="2400" dirty="0">
              <a:latin typeface="Arial" panose="020B0604020202020204" pitchFamily="34" charset="0"/>
            </a:endParaRPr>
          </a:p>
          <a:p>
            <a:pPr eaLnBrk="1" hangingPunct="1"/>
            <a:r>
              <a:rPr lang="en-US" altLang="zh-CN" sz="2400" dirty="0">
                <a:latin typeface="Arial" panose="020B0604020202020204" pitchFamily="34" charset="0"/>
              </a:rPr>
              <a:t> $ echo "hello world" &gt; file1.txt</a:t>
            </a:r>
            <a:endParaRPr lang="en-US" altLang="zh-CN" sz="2400" dirty="0">
              <a:latin typeface="Arial" panose="020B0604020202020204" pitchFamily="34" charset="0"/>
            </a:endParaRPr>
          </a:p>
          <a:p>
            <a:pPr eaLnBrk="1" hangingPunct="1"/>
            <a:r>
              <a:rPr lang="en-US" altLang="zh-CN" sz="2400" dirty="0">
                <a:latin typeface="Arial" panose="020B0604020202020204" pitchFamily="34" charset="0"/>
              </a:rPr>
              <a:t> $ echo "hello hadoop" &gt; file2.txt</a:t>
            </a:r>
            <a:endParaRPr lang="en-US" altLang="zh-CN" sz="2400" dirty="0">
              <a:latin typeface="Arial" panose="020B0604020202020204" pitchFamily="34" charset="0"/>
            </a:endParaRPr>
          </a:p>
          <a:p>
            <a:pPr eaLnBrk="1" hangingPunct="1"/>
            <a:endParaRPr lang="en-US" altLang="zh-CN" sz="2400" dirty="0">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vert="horz" wrap="square" lIns="91440" tIns="45720" rIns="91440" bIns="45720" anchor="ctr" anchorCtr="0"/>
          <a:lstStyle/>
          <a:p>
            <a:r>
              <a:rPr lang="en-US" altLang="zh-CN" b="1" dirty="0">
                <a:sym typeface="+mn-ea"/>
              </a:rPr>
              <a:t>9.</a:t>
            </a:r>
            <a:r>
              <a:rPr lang="en-US" altLang="en-US" b="1" dirty="0">
                <a:sym typeface="+mn-ea"/>
              </a:rPr>
              <a:t>6.3  Hive</a:t>
            </a:r>
            <a:r>
              <a:rPr lang="zh-CN" altLang="en-US" b="1" dirty="0">
                <a:sym typeface="+mn-ea"/>
              </a:rPr>
              <a:t>应用实例：</a:t>
            </a:r>
            <a:r>
              <a:rPr lang="en-US" altLang="en-US" b="1" dirty="0">
                <a:sym typeface="+mn-ea"/>
              </a:rPr>
              <a:t>WordCount</a:t>
            </a:r>
            <a:endParaRPr lang="zh-CN" altLang="en-US" dirty="0"/>
          </a:p>
        </p:txBody>
      </p:sp>
      <p:sp>
        <p:nvSpPr>
          <p:cNvPr id="63491" name="Rectangle 4"/>
          <p:cNvSpPr/>
          <p:nvPr/>
        </p:nvSpPr>
        <p:spPr>
          <a:xfrm>
            <a:off x="838200" y="1404303"/>
            <a:ext cx="10244455" cy="3784600"/>
          </a:xfrm>
          <a:prstGeom prst="rect">
            <a:avLst/>
          </a:prstGeom>
          <a:noFill/>
          <a:ln w="9525">
            <a:noFill/>
          </a:ln>
        </p:spPr>
        <p:txBody>
          <a:bodyPr wrap="square" anchor="ctr" anchorCtr="0">
            <a:spAutoFit/>
          </a:bodyPr>
          <a:lstStyle/>
          <a:p>
            <a:pPr indent="266700" eaLnBrk="1" hangingPunct="1"/>
            <a:r>
              <a:rPr lang="zh-CN" altLang="en-US" sz="2000" dirty="0">
                <a:latin typeface="Arial" panose="020B0604020202020204" pitchFamily="34" charset="0"/>
              </a:rPr>
              <a:t>（</a:t>
            </a:r>
            <a:r>
              <a:rPr lang="en-US" altLang="zh-CN" sz="2000" dirty="0">
                <a:latin typeface="Arial" panose="020B0604020202020204" pitchFamily="34" charset="0"/>
              </a:rPr>
              <a:t>3</a:t>
            </a:r>
            <a:r>
              <a:rPr lang="zh-CN" altLang="en-US" sz="2000" dirty="0">
                <a:latin typeface="Arial" panose="020B0604020202020204" pitchFamily="34" charset="0"/>
              </a:rPr>
              <a:t>）进入</a:t>
            </a:r>
            <a:r>
              <a:rPr lang="en-US" altLang="zh-CN" sz="2000" dirty="0">
                <a:latin typeface="Arial" panose="020B0604020202020204" pitchFamily="34" charset="0"/>
              </a:rPr>
              <a:t>hive</a:t>
            </a:r>
            <a:r>
              <a:rPr lang="zh-CN" altLang="en-US" sz="2000" dirty="0">
                <a:latin typeface="Arial" panose="020B0604020202020204" pitchFamily="34" charset="0"/>
              </a:rPr>
              <a:t>命令行界面，编写</a:t>
            </a:r>
            <a:r>
              <a:rPr lang="en-US" altLang="zh-CN" sz="2000" dirty="0">
                <a:latin typeface="Arial" panose="020B0604020202020204" pitchFamily="34" charset="0"/>
              </a:rPr>
              <a:t>HiveQL</a:t>
            </a:r>
            <a:r>
              <a:rPr lang="zh-CN" altLang="en-US" sz="2000" dirty="0">
                <a:latin typeface="Arial" panose="020B0604020202020204" pitchFamily="34" charset="0"/>
              </a:rPr>
              <a:t>语句实现</a:t>
            </a:r>
            <a:r>
              <a:rPr lang="en-US" altLang="zh-CN" sz="2000" dirty="0">
                <a:latin typeface="Arial" panose="020B0604020202020204" pitchFamily="34" charset="0"/>
              </a:rPr>
              <a:t>WordCount</a:t>
            </a:r>
            <a:r>
              <a:rPr lang="zh-CN" altLang="en-US" sz="2000" dirty="0">
                <a:latin typeface="Arial" panose="020B0604020202020204" pitchFamily="34" charset="0"/>
              </a:rPr>
              <a:t>算法，命令如下：</a:t>
            </a:r>
            <a:endParaRPr lang="zh-CN" altLang="en-US" sz="2000" dirty="0">
              <a:latin typeface="Arial" panose="020B0604020202020204" pitchFamily="34" charset="0"/>
            </a:endParaRPr>
          </a:p>
          <a:p>
            <a:pPr indent="266700" eaLnBrk="1" hangingPunct="1"/>
            <a:r>
              <a:rPr lang="zh-CN" altLang="en-US" sz="2000" dirty="0">
                <a:latin typeface="Arial" panose="020B0604020202020204" pitchFamily="34" charset="0"/>
              </a:rPr>
              <a:t>  </a:t>
            </a:r>
            <a:r>
              <a:rPr lang="en-US" altLang="zh-CN" sz="2000" dirty="0">
                <a:latin typeface="Arial" panose="020B0604020202020204" pitchFamily="34" charset="0"/>
              </a:rPr>
              <a:t>$ hive</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hive&gt; create table docs(line string);</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hive&gt; load data inpath 'input' overwrite into table docs;</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hive&gt;create table word_count as </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select word, count(1) as count from</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(select explode(split(line,' '))as word from docs) w</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group by word</a:t>
            </a:r>
            <a:endParaRPr lang="en-US" altLang="zh-CN" sz="2000" dirty="0">
              <a:latin typeface="Arial" panose="020B0604020202020204" pitchFamily="34" charset="0"/>
            </a:endParaRPr>
          </a:p>
          <a:p>
            <a:pPr indent="266700" eaLnBrk="1" hangingPunct="1"/>
            <a:r>
              <a:rPr lang="en-US" altLang="zh-CN" sz="2000" dirty="0">
                <a:latin typeface="Arial" panose="020B0604020202020204" pitchFamily="34" charset="0"/>
              </a:rPr>
              <a:t>      order by word;</a:t>
            </a:r>
            <a:endParaRPr lang="en-US" altLang="zh-CN" sz="2000" dirty="0">
              <a:latin typeface="Arial" panose="020B0604020202020204" pitchFamily="34" charset="0"/>
            </a:endParaRPr>
          </a:p>
          <a:p>
            <a:pPr indent="266700" eaLnBrk="1" hangingPunct="1"/>
            <a:endParaRPr lang="en-US" altLang="zh-CN" sz="2000" dirty="0">
              <a:latin typeface="Arial" panose="020B0604020202020204" pitchFamily="34" charset="0"/>
            </a:endParaRPr>
          </a:p>
          <a:p>
            <a:pPr indent="266700" eaLnBrk="1" hangingPunct="1"/>
            <a:r>
              <a:rPr lang="zh-CN" altLang="zh-CN" sz="2000" dirty="0">
                <a:latin typeface="Arial" panose="020B0604020202020204" pitchFamily="34" charset="0"/>
              </a:rPr>
              <a:t>执行完成后，用</a:t>
            </a:r>
            <a:r>
              <a:rPr lang="en-US" altLang="zh-CN" sz="2000" dirty="0">
                <a:latin typeface="Arial" panose="020B0604020202020204" pitchFamily="34" charset="0"/>
              </a:rPr>
              <a:t>select</a:t>
            </a:r>
            <a:r>
              <a:rPr lang="zh-CN" altLang="zh-CN" sz="2000" dirty="0">
                <a:latin typeface="Arial" panose="020B0604020202020204" pitchFamily="34" charset="0"/>
              </a:rPr>
              <a:t>语句查看运行结果</a:t>
            </a:r>
            <a:r>
              <a:rPr lang="zh-CN" altLang="en-US" sz="2000" dirty="0">
                <a:latin typeface="Arial" panose="020B0604020202020204" pitchFamily="34" charset="0"/>
              </a:rPr>
              <a:t>如下</a:t>
            </a:r>
            <a:r>
              <a:rPr lang="zh-CN" altLang="zh-CN" sz="2000" dirty="0">
                <a:latin typeface="Arial" panose="020B0604020202020204" pitchFamily="34" charset="0"/>
              </a:rPr>
              <a:t>：</a:t>
            </a:r>
            <a:endParaRPr lang="zh-CN" altLang="zh-CN" sz="2000" dirty="0">
              <a:latin typeface="Arial" panose="020B0604020202020204" pitchFamily="34" charset="0"/>
            </a:endParaRPr>
          </a:p>
          <a:p>
            <a:pPr indent="266700" eaLnBrk="1" hangingPunct="1"/>
            <a:endParaRPr lang="en-US" altLang="zh-CN" sz="2000" dirty="0">
              <a:latin typeface="Arial" panose="020B0604020202020204" pitchFamily="34" charset="0"/>
            </a:endParaRPr>
          </a:p>
        </p:txBody>
      </p:sp>
      <p:pic>
        <p:nvPicPr>
          <p:cNvPr id="63492" name="Picture"/>
          <p:cNvPicPr>
            <a:picLocks noChangeAspect="1"/>
          </p:cNvPicPr>
          <p:nvPr/>
        </p:nvPicPr>
        <p:blipFill>
          <a:blip r:embed="rId1"/>
          <a:stretch>
            <a:fillRect/>
          </a:stretch>
        </p:blipFill>
        <p:spPr>
          <a:xfrm>
            <a:off x="2446338" y="5029200"/>
            <a:ext cx="6918325" cy="1404938"/>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vert="horz" wrap="square" lIns="91440" tIns="45720" rIns="91440" bIns="45720" anchor="ctr" anchorCtr="0"/>
          <a:lstStyle/>
          <a:p>
            <a:r>
              <a:rPr lang="en-US" altLang="zh-CN" b="1" dirty="0"/>
              <a:t>9.</a:t>
            </a:r>
            <a:r>
              <a:rPr lang="en-US" altLang="en-US" b="1" dirty="0"/>
              <a:t>6.4  </a:t>
            </a:r>
            <a:r>
              <a:rPr lang="en-US" b="1" dirty="0"/>
              <a:t>Hive</a:t>
            </a:r>
            <a:r>
              <a:rPr lang="zh-CN" altLang="en-US" b="1" dirty="0"/>
              <a:t>编程优势</a:t>
            </a:r>
            <a:endParaRPr lang="zh-CN" altLang="en-US" b="1" dirty="0"/>
          </a:p>
        </p:txBody>
      </p:sp>
      <p:sp>
        <p:nvSpPr>
          <p:cNvPr id="64515" name="Rectangle 1"/>
          <p:cNvSpPr/>
          <p:nvPr/>
        </p:nvSpPr>
        <p:spPr>
          <a:xfrm>
            <a:off x="902335" y="1526858"/>
            <a:ext cx="10281285" cy="4323080"/>
          </a:xfrm>
          <a:prstGeom prst="rect">
            <a:avLst/>
          </a:prstGeom>
          <a:noFill/>
          <a:ln w="9525">
            <a:noFill/>
          </a:ln>
        </p:spPr>
        <p:txBody>
          <a:bodyPr wrap="square" anchor="ctr" anchorCtr="0">
            <a:spAutoFit/>
          </a:bodyPr>
          <a:lstStyle/>
          <a:p>
            <a:pPr indent="514350">
              <a:lnSpc>
                <a:spcPct val="120000"/>
              </a:lnSpc>
              <a:spcAft>
                <a:spcPts val="600"/>
              </a:spcAft>
            </a:pPr>
            <a:r>
              <a:rPr lang="zh-CN" altLang="zh-CN" sz="2000" dirty="0">
                <a:latin typeface="Arial" panose="020B0604020202020204" pitchFamily="34" charset="0"/>
              </a:rPr>
              <a:t>词频统计算法是最能体现</a:t>
            </a:r>
            <a:r>
              <a:rPr lang="en-US" altLang="zh-CN" sz="2000" dirty="0">
                <a:latin typeface="Arial" panose="020B0604020202020204" pitchFamily="34" charset="0"/>
              </a:rPr>
              <a:t>MapReduce</a:t>
            </a:r>
            <a:r>
              <a:rPr lang="zh-CN" altLang="zh-CN" sz="2000" dirty="0">
                <a:latin typeface="Arial" panose="020B0604020202020204" pitchFamily="34" charset="0"/>
              </a:rPr>
              <a:t>思想的算法之一，接下来，我们将比较</a:t>
            </a:r>
            <a:r>
              <a:rPr lang="en-US" altLang="zh-CN" sz="2000" dirty="0">
                <a:latin typeface="Arial" panose="020B0604020202020204" pitchFamily="34" charset="0"/>
              </a:rPr>
              <a:t>WordCount</a:t>
            </a:r>
            <a:r>
              <a:rPr lang="zh-CN" altLang="zh-CN" sz="2000" dirty="0">
                <a:latin typeface="Arial" panose="020B0604020202020204" pitchFamily="34" charset="0"/>
              </a:rPr>
              <a:t>算法在</a:t>
            </a:r>
            <a:r>
              <a:rPr lang="en-US" altLang="zh-CN" sz="2000" dirty="0">
                <a:latin typeface="Arial" panose="020B0604020202020204" pitchFamily="34" charset="0"/>
              </a:rPr>
              <a:t>MapReduce</a:t>
            </a:r>
            <a:r>
              <a:rPr lang="zh-CN" altLang="zh-CN" sz="2000" dirty="0">
                <a:latin typeface="Arial" panose="020B0604020202020204" pitchFamily="34" charset="0"/>
              </a:rPr>
              <a:t>中的编程实现和</a:t>
            </a:r>
            <a:r>
              <a:rPr lang="en-US" altLang="zh-CN" sz="2000" dirty="0">
                <a:latin typeface="Arial" panose="020B0604020202020204" pitchFamily="34" charset="0"/>
              </a:rPr>
              <a:t>Hive</a:t>
            </a:r>
            <a:r>
              <a:rPr lang="zh-CN" altLang="zh-CN" sz="2000" dirty="0">
                <a:latin typeface="Arial" panose="020B0604020202020204" pitchFamily="34" charset="0"/>
              </a:rPr>
              <a:t>中编程实现的</a:t>
            </a:r>
            <a:r>
              <a:rPr lang="zh-CN" altLang="en-US" sz="2000" dirty="0">
                <a:latin typeface="Arial" panose="020B0604020202020204" pitchFamily="34" charset="0"/>
              </a:rPr>
              <a:t>主要</a:t>
            </a:r>
            <a:r>
              <a:rPr lang="zh-CN" altLang="zh-CN" sz="2000" dirty="0">
                <a:latin typeface="Arial" panose="020B0604020202020204" pitchFamily="34" charset="0"/>
              </a:rPr>
              <a:t>不同点</a:t>
            </a:r>
            <a:r>
              <a:rPr lang="zh-CN" altLang="en-US" sz="2000" dirty="0">
                <a:latin typeface="Arial" panose="020B0604020202020204" pitchFamily="34" charset="0"/>
              </a:rPr>
              <a:t>：</a:t>
            </a:r>
            <a:endParaRPr lang="en-US" altLang="zh-CN" sz="2000" dirty="0">
              <a:latin typeface="Arial" panose="020B0604020202020204" pitchFamily="34" charset="0"/>
            </a:endParaRPr>
          </a:p>
          <a:p>
            <a:pPr indent="514350">
              <a:lnSpc>
                <a:spcPct val="120000"/>
              </a:lnSpc>
              <a:spcBef>
                <a:spcPts val="600"/>
              </a:spcBef>
              <a:spcAft>
                <a:spcPts val="600"/>
              </a:spcAft>
            </a:pPr>
            <a:r>
              <a:rPr lang="en-US" altLang="zh-CN" sz="2000" dirty="0">
                <a:latin typeface="Arial" panose="020B0604020202020204" pitchFamily="34" charset="0"/>
              </a:rPr>
              <a:t>1.  </a:t>
            </a:r>
            <a:r>
              <a:rPr lang="zh-CN" altLang="zh-CN" sz="2000" dirty="0">
                <a:latin typeface="Arial" panose="020B0604020202020204" pitchFamily="34" charset="0"/>
              </a:rPr>
              <a:t>采用</a:t>
            </a:r>
            <a:r>
              <a:rPr lang="en-US" altLang="zh-CN" sz="2000" dirty="0">
                <a:latin typeface="Arial" panose="020B0604020202020204" pitchFamily="34" charset="0"/>
              </a:rPr>
              <a:t>Hive</a:t>
            </a:r>
            <a:r>
              <a:rPr lang="zh-CN" altLang="zh-CN" sz="2000" dirty="0">
                <a:latin typeface="Arial" panose="020B0604020202020204" pitchFamily="34" charset="0"/>
              </a:rPr>
              <a:t>实现</a:t>
            </a:r>
            <a:r>
              <a:rPr lang="en-US" altLang="zh-CN" sz="2000" dirty="0">
                <a:latin typeface="Arial" panose="020B0604020202020204" pitchFamily="34" charset="0"/>
              </a:rPr>
              <a:t>WordCount</a:t>
            </a:r>
            <a:r>
              <a:rPr lang="zh-CN" altLang="zh-CN" sz="2000" dirty="0">
                <a:latin typeface="Arial" panose="020B0604020202020204" pitchFamily="34" charset="0"/>
              </a:rPr>
              <a:t>算法需要编写较少的代码量</a:t>
            </a:r>
            <a:endParaRPr lang="en-US" altLang="zh-CN" sz="2000" dirty="0">
              <a:latin typeface="Arial" panose="020B0604020202020204" pitchFamily="34" charset="0"/>
            </a:endParaRPr>
          </a:p>
          <a:p>
            <a:pPr indent="514350">
              <a:lnSpc>
                <a:spcPct val="120000"/>
              </a:lnSpc>
              <a:spcAft>
                <a:spcPts val="600"/>
              </a:spcAft>
              <a:buFont typeface="Arial" panose="020B0604020202020204" pitchFamily="34" charset="0"/>
              <a:buChar char="•"/>
            </a:pPr>
            <a:r>
              <a:rPr lang="zh-CN" altLang="zh-CN" sz="2000" dirty="0">
                <a:latin typeface="Arial" panose="020B0604020202020204" pitchFamily="34" charset="0"/>
              </a:rPr>
              <a:t>在</a:t>
            </a:r>
            <a:r>
              <a:rPr lang="en-US" altLang="zh-CN" sz="2000" dirty="0">
                <a:latin typeface="Arial" panose="020B0604020202020204" pitchFamily="34" charset="0"/>
              </a:rPr>
              <a:t>MapReduce</a:t>
            </a:r>
            <a:r>
              <a:rPr lang="zh-CN" altLang="zh-CN" sz="2000" dirty="0">
                <a:latin typeface="Arial" panose="020B0604020202020204" pitchFamily="34" charset="0"/>
              </a:rPr>
              <a:t>中，</a:t>
            </a:r>
            <a:r>
              <a:rPr lang="en-US" altLang="zh-CN" sz="2000" dirty="0">
                <a:latin typeface="Arial" panose="020B0604020202020204" pitchFamily="34" charset="0"/>
              </a:rPr>
              <a:t>wordcount</a:t>
            </a:r>
            <a:r>
              <a:rPr lang="zh-CN" altLang="zh-CN" sz="2000" dirty="0">
                <a:latin typeface="Arial" panose="020B0604020202020204" pitchFamily="34" charset="0"/>
              </a:rPr>
              <a:t>类由</a:t>
            </a:r>
            <a:r>
              <a:rPr lang="en-US" altLang="zh-CN" sz="2000" dirty="0">
                <a:latin typeface="Arial" panose="020B0604020202020204" pitchFamily="34" charset="0"/>
              </a:rPr>
              <a:t>63</a:t>
            </a:r>
            <a:r>
              <a:rPr lang="zh-CN" altLang="zh-CN" sz="2000" dirty="0">
                <a:latin typeface="Arial" panose="020B0604020202020204" pitchFamily="34" charset="0"/>
              </a:rPr>
              <a:t>行</a:t>
            </a:r>
            <a:r>
              <a:rPr lang="en-US" altLang="zh-CN" sz="2000" dirty="0">
                <a:latin typeface="Arial" panose="020B0604020202020204" pitchFamily="34" charset="0"/>
              </a:rPr>
              <a:t>Java</a:t>
            </a:r>
            <a:r>
              <a:rPr lang="zh-CN" altLang="zh-CN" sz="2000" dirty="0">
                <a:latin typeface="Arial" panose="020B0604020202020204" pitchFamily="34" charset="0"/>
              </a:rPr>
              <a:t>代码编写而成</a:t>
            </a:r>
            <a:r>
              <a:rPr lang="zh-CN" altLang="en-US" sz="2000" dirty="0">
                <a:latin typeface="Arial" panose="020B0604020202020204" pitchFamily="34" charset="0"/>
              </a:rPr>
              <a:t>代码位置：</a:t>
            </a:r>
            <a:r>
              <a:rPr lang="en-US" altLang="zh-CN" sz="2000" dirty="0">
                <a:latin typeface="Arial" panose="020B0604020202020204" pitchFamily="34" charset="0"/>
              </a:rPr>
              <a:t>%HADOOP_HOME/share/hadoop/mapreduce/hadoop-mapreduce-examples-2.7.1.jar</a:t>
            </a:r>
            <a:r>
              <a:rPr lang="zh-CN" altLang="en-US" sz="2000" dirty="0">
                <a:latin typeface="Arial" panose="020B0604020202020204" pitchFamily="34" charset="0"/>
              </a:rPr>
              <a:t>；</a:t>
            </a:r>
            <a:endParaRPr lang="en-US" altLang="zh-CN" sz="2000" dirty="0">
              <a:latin typeface="Arial" panose="020B0604020202020204" pitchFamily="34" charset="0"/>
            </a:endParaRPr>
          </a:p>
          <a:p>
            <a:pPr indent="514350">
              <a:lnSpc>
                <a:spcPct val="120000"/>
              </a:lnSpc>
              <a:spcAft>
                <a:spcPts val="600"/>
              </a:spcAft>
              <a:buFont typeface="Arial" panose="020B0604020202020204" pitchFamily="34" charset="0"/>
              <a:buChar char="•"/>
            </a:pPr>
            <a:r>
              <a:rPr lang="zh-CN" altLang="zh-CN" sz="2000" dirty="0">
                <a:latin typeface="Arial" panose="020B0604020202020204" pitchFamily="34" charset="0"/>
              </a:rPr>
              <a:t>而在</a:t>
            </a:r>
            <a:r>
              <a:rPr lang="en-US" altLang="zh-CN" sz="2000" dirty="0">
                <a:latin typeface="Arial" panose="020B0604020202020204" pitchFamily="34" charset="0"/>
              </a:rPr>
              <a:t>Hive</a:t>
            </a:r>
            <a:r>
              <a:rPr lang="zh-CN" altLang="zh-CN" sz="2000" dirty="0">
                <a:latin typeface="Arial" panose="020B0604020202020204" pitchFamily="34" charset="0"/>
              </a:rPr>
              <a:t>中只需要编写</a:t>
            </a:r>
            <a:r>
              <a:rPr lang="en-US" altLang="zh-CN" sz="2000" dirty="0">
                <a:latin typeface="Arial" panose="020B0604020202020204" pitchFamily="34" charset="0"/>
              </a:rPr>
              <a:t>7</a:t>
            </a:r>
            <a:r>
              <a:rPr lang="zh-CN" altLang="zh-CN" sz="2000" dirty="0">
                <a:latin typeface="Arial" panose="020B0604020202020204" pitchFamily="34" charset="0"/>
              </a:rPr>
              <a:t>行代码</a:t>
            </a:r>
            <a:endParaRPr lang="en-US" altLang="zh-CN" sz="2000" dirty="0">
              <a:latin typeface="Arial" panose="020B0604020202020204" pitchFamily="34" charset="0"/>
            </a:endParaRPr>
          </a:p>
          <a:p>
            <a:pPr indent="514350">
              <a:lnSpc>
                <a:spcPct val="120000"/>
              </a:lnSpc>
              <a:spcBef>
                <a:spcPts val="600"/>
              </a:spcBef>
              <a:spcAft>
                <a:spcPts val="600"/>
              </a:spcAft>
            </a:pPr>
            <a:r>
              <a:rPr lang="en-US" altLang="zh-CN" sz="2000" dirty="0">
                <a:latin typeface="Arial" panose="020B0604020202020204" pitchFamily="34" charset="0"/>
              </a:rPr>
              <a:t>2.  </a:t>
            </a:r>
            <a:r>
              <a:rPr lang="zh-CN" altLang="zh-CN" sz="2000" dirty="0">
                <a:latin typeface="Arial" panose="020B0604020202020204" pitchFamily="34" charset="0"/>
              </a:rPr>
              <a:t>在</a:t>
            </a:r>
            <a:r>
              <a:rPr lang="en-US" altLang="zh-CN" sz="2000" dirty="0">
                <a:latin typeface="Arial" panose="020B0604020202020204" pitchFamily="34" charset="0"/>
              </a:rPr>
              <a:t>MapReduce</a:t>
            </a:r>
            <a:r>
              <a:rPr lang="zh-CN" altLang="zh-CN" sz="2000" dirty="0">
                <a:latin typeface="Arial" panose="020B0604020202020204" pitchFamily="34" charset="0"/>
              </a:rPr>
              <a:t>的实现中，需要进行编译生成</a:t>
            </a:r>
            <a:r>
              <a:rPr lang="en-US" altLang="zh-CN" sz="2000" dirty="0">
                <a:latin typeface="Arial" panose="020B0604020202020204" pitchFamily="34" charset="0"/>
              </a:rPr>
              <a:t>jar</a:t>
            </a:r>
            <a:r>
              <a:rPr lang="zh-CN" altLang="zh-CN" sz="2000" dirty="0">
                <a:latin typeface="Arial" panose="020B0604020202020204" pitchFamily="34" charset="0"/>
              </a:rPr>
              <a:t>文件来执行算法，而在</a:t>
            </a:r>
            <a:r>
              <a:rPr lang="en-US" altLang="zh-CN" sz="2000" dirty="0">
                <a:latin typeface="Arial" panose="020B0604020202020204" pitchFamily="34" charset="0"/>
              </a:rPr>
              <a:t>Hive</a:t>
            </a:r>
            <a:r>
              <a:rPr lang="zh-CN" altLang="zh-CN" sz="2000" dirty="0">
                <a:latin typeface="Arial" panose="020B0604020202020204" pitchFamily="34" charset="0"/>
              </a:rPr>
              <a:t>中不需要</a:t>
            </a:r>
            <a:r>
              <a:rPr lang="zh-CN" altLang="en-US" sz="2000" dirty="0">
                <a:latin typeface="Arial" panose="020B0604020202020204" pitchFamily="34" charset="0"/>
              </a:rPr>
              <a:t>。</a:t>
            </a:r>
            <a:endParaRPr lang="en-US" altLang="zh-CN" sz="2000" dirty="0">
              <a:latin typeface="Arial" panose="020B0604020202020204" pitchFamily="34" charset="0"/>
            </a:endParaRPr>
          </a:p>
          <a:p>
            <a:pPr indent="514350">
              <a:lnSpc>
                <a:spcPct val="120000"/>
              </a:lnSpc>
              <a:spcAft>
                <a:spcPts val="600"/>
              </a:spcAft>
              <a:buFont typeface="Arial" panose="020B0604020202020204" pitchFamily="34" charset="0"/>
              <a:buChar char="•"/>
            </a:pPr>
            <a:r>
              <a:rPr lang="en-US" altLang="zh-CN" sz="2000" dirty="0">
                <a:latin typeface="Arial" panose="020B0604020202020204" pitchFamily="34" charset="0"/>
              </a:rPr>
              <a:t>HiveQL</a:t>
            </a:r>
            <a:r>
              <a:rPr lang="zh-CN" altLang="zh-CN" sz="2000" dirty="0">
                <a:latin typeface="Arial" panose="020B0604020202020204" pitchFamily="34" charset="0"/>
              </a:rPr>
              <a:t>语句的最终实现需要转换为</a:t>
            </a:r>
            <a:r>
              <a:rPr lang="en-US" altLang="zh-CN" sz="2000" dirty="0">
                <a:latin typeface="Arial" panose="020B0604020202020204" pitchFamily="34" charset="0"/>
              </a:rPr>
              <a:t>MapReduce</a:t>
            </a:r>
            <a:r>
              <a:rPr lang="zh-CN" altLang="zh-CN" sz="2000" dirty="0">
                <a:latin typeface="Arial" panose="020B0604020202020204" pitchFamily="34" charset="0"/>
              </a:rPr>
              <a:t>任务来执行，这都是</a:t>
            </a:r>
            <a:r>
              <a:rPr lang="zh-CN" altLang="en-US" sz="2000" dirty="0">
                <a:latin typeface="Arial" panose="020B0604020202020204" pitchFamily="34" charset="0"/>
              </a:rPr>
              <a:t>由</a:t>
            </a:r>
            <a:r>
              <a:rPr lang="en-US" altLang="zh-CN" sz="2000" dirty="0">
                <a:latin typeface="Arial" panose="020B0604020202020204" pitchFamily="34" charset="0"/>
              </a:rPr>
              <a:t>Hive</a:t>
            </a:r>
            <a:r>
              <a:rPr lang="zh-CN" altLang="zh-CN" sz="2000" dirty="0">
                <a:latin typeface="Arial" panose="020B0604020202020204" pitchFamily="34" charset="0"/>
              </a:rPr>
              <a:t>框架自动完成的，用户不需要了解具体实现细节。</a:t>
            </a:r>
            <a:endParaRPr lang="zh-CN" altLang="zh-CN" sz="2000" dirty="0">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p:txBody>
          <a:bodyPr vert="horz" wrap="square" lIns="91440" tIns="45720" rIns="91440" bIns="45720" anchor="ctr" anchorCtr="0"/>
          <a:lstStyle/>
          <a:p>
            <a:r>
              <a:rPr lang="zh-CN" altLang="en-US" b="1" dirty="0"/>
              <a:t>本章小结</a:t>
            </a:r>
            <a:endParaRPr lang="zh-CN" altLang="en-US" b="1" dirty="0"/>
          </a:p>
        </p:txBody>
      </p:sp>
      <p:sp>
        <p:nvSpPr>
          <p:cNvPr id="74755" name="Rectangle 3"/>
          <p:cNvSpPr>
            <a:spLocks noGrp="1" noChangeArrowheads="1"/>
          </p:cNvSpPr>
          <p:nvPr>
            <p:ph idx="1"/>
          </p:nvPr>
        </p:nvSpPr>
        <p:spPr>
          <a:xfrm>
            <a:off x="654050" y="1567180"/>
            <a:ext cx="11087735" cy="4351655"/>
          </a:xfrm>
        </p:spPr>
        <p:txBody>
          <a:bodyPr vert="horz" wrap="square" lIns="91440" tIns="45720" rIns="91440" bIns="45720" numCol="1" anchor="t" anchorCtr="0" compatLnSpc="1">
            <a:noAutofit/>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是一个构建于</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Hadoop</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顶层的数据仓库工具，主要用于对存储在</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Hadoop</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 </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文件中的数据集进行数据整理、特殊查询和分析处理。</a:t>
            </a:r>
            <a:endParaRPr kumimoji="0" lang="en-US"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在某种程度上可以看作是用户编程接口，本身不存储和处理数据，依赖</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HDFS</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存储数据，依赖</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MapReduce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处理数据。</a:t>
            </a:r>
            <a:endParaRPr kumimoji="0" lang="zh-CN"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在数据仓库中的具体应用中，主要用于报表中心的报表分析统计上。在</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Hadoop</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集群上构建的数据仓库由多个</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进行管理，具体实现采用</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 HA</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原理的方式，实现一台超强“</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a:t>
            </a:r>
            <a:endParaRPr kumimoji="0" lang="zh-CN"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Impala</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作为新一代开源大数据分析引擎，支持实时计算，并号称在性能上比</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高出</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3~30</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倍，甚至预言说在将来的某一天可能会超过</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的使用率而成为</a:t>
            </a:r>
            <a:r>
              <a:rPr kumimoji="0" lang="en-US" altLang="zh-CN" sz="2400" b="0" i="0" u="none" strike="noStrike" kern="0" cap="none" spc="0" normalizeH="0" baseline="0" noProof="0" dirty="0" err="1">
                <a:ln>
                  <a:noFill/>
                </a:ln>
                <a:solidFill>
                  <a:schemeClr val="tx1"/>
                </a:solidFill>
                <a:effectLst/>
                <a:uLnTx/>
                <a:uFillTx/>
                <a:latin typeface="+mn-lt"/>
                <a:ea typeface="+mn-ea"/>
                <a:cs typeface="+mn-cs"/>
              </a:rPr>
              <a:t>Hadoop</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上最流行的实时计算平台。</a:t>
            </a:r>
            <a:endParaRPr kumimoji="0" lang="zh-CN" altLang="zh-CN" sz="2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zh-CN" altLang="zh-CN" sz="2400" b="0" i="0" u="none" strike="noStrike" kern="0" cap="none" spc="0" normalizeH="0" baseline="0" noProof="0" dirty="0">
                <a:ln>
                  <a:noFill/>
                </a:ln>
                <a:solidFill>
                  <a:schemeClr val="tx1"/>
                </a:solidFill>
                <a:effectLst/>
                <a:uLnTx/>
                <a:uFillTx/>
                <a:latin typeface="+mn-lt"/>
                <a:ea typeface="+mn-ea"/>
                <a:cs typeface="+mn-cs"/>
              </a:rPr>
              <a:t>本章最后以单词统计为例，详细介绍了如何使用</a:t>
            </a:r>
            <a:r>
              <a:rPr kumimoji="0" lang="en-US" altLang="zh-CN" sz="2400" b="0" i="0" u="none" strike="noStrike" kern="0" cap="none" spc="0" normalizeH="0" baseline="0" noProof="0" dirty="0">
                <a:ln>
                  <a:noFill/>
                </a:ln>
                <a:solidFill>
                  <a:schemeClr val="tx1"/>
                </a:solidFill>
                <a:effectLst/>
                <a:uLnTx/>
                <a:uFillTx/>
                <a:latin typeface="+mn-lt"/>
                <a:ea typeface="+mn-ea"/>
                <a:cs typeface="+mn-cs"/>
              </a:rPr>
              <a:t>Hive</a:t>
            </a:r>
            <a:r>
              <a:rPr kumimoji="0" lang="zh-CN" altLang="zh-CN" sz="2400" b="0" i="0" u="none" strike="noStrike" kern="0" cap="none" spc="0" normalizeH="0" baseline="0" noProof="0" dirty="0">
                <a:ln>
                  <a:noFill/>
                </a:ln>
                <a:solidFill>
                  <a:schemeClr val="tx1"/>
                </a:solidFill>
                <a:effectLst/>
                <a:uLnTx/>
                <a:uFillTx/>
                <a:latin typeface="+mn-lt"/>
                <a:ea typeface="+mn-ea"/>
                <a:cs typeface="+mn-cs"/>
              </a:rPr>
              <a:t>进行简单编程。</a:t>
            </a:r>
            <a:endParaRPr kumimoji="0" lang="zh-CN" altLang="zh-CN" sz="24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80000"/>
              </a:lnSpc>
              <a:spcBef>
                <a:spcPct val="20000"/>
              </a:spcBef>
              <a:spcAft>
                <a:spcPct val="0"/>
              </a:spcAft>
              <a:buClrTx/>
              <a:buSzTx/>
              <a:buFontTx/>
              <a:buNone/>
              <a:defRPr/>
            </a:pPr>
            <a:endParaRPr kumimoji="0" lang="zh-CN" altLang="zh-CN"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tags/tag1.xml><?xml version="1.0" encoding="utf-8"?>
<p:tagLst xmlns:p="http://schemas.openxmlformats.org/presentationml/2006/main">
  <p:tag name="KSO_WM_UNIT_TABLE_BEAUTIFY" val="smartTable{7dcafd8e-9615-4945-9584-e13271bf1840}"/>
  <p:tag name="TABLE_ENDDRAG_ORIGIN_RECT" val="562*424"/>
  <p:tag name="TABLE_ENDDRAG_RECT" val="203*133*562*424"/>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UNIT_TABLE_BEAUTIFY" val="smartTable{05c28371-66db-4f98-a96f-88a518a8cd72}"/>
  <p:tag name="TABLE_ENDDRAG_ORIGIN_RECT" val="796*386"/>
  <p:tag name="TABLE_ENDDRAG_RECT" val="91*126*796*386"/>
</p:tagLst>
</file>

<file path=ppt/tags/tag26.xml><?xml version="1.0" encoding="utf-8"?>
<p:tagLst xmlns:p="http://schemas.openxmlformats.org/presentationml/2006/main">
  <p:tag name="KSO_WM_UNIT_TABLE_BEAUTIFY" val="smartTable{c26ef81e-6225-49ac-bd11-1476e47d7093}"/>
</p:tagLst>
</file>

<file path=ppt/tags/tag27.xml><?xml version="1.0" encoding="utf-8"?>
<p:tagLst xmlns:p="http://schemas.openxmlformats.org/presentationml/2006/main">
  <p:tag name="KSO_WM_UNIT_TABLE_BEAUTIFY" val="smartTable{50dd845d-abe3-4db1-b78e-c3d8d979bd7d}"/>
</p:tagLst>
</file>

<file path=ppt/tags/tag28.xml><?xml version="1.0" encoding="utf-8"?>
<p:tagLst xmlns:p="http://schemas.openxmlformats.org/presentationml/2006/main">
  <p:tag name="KSO_WM_UNIT_TABLE_BEAUTIFY" val="smartTable{86feef7c-150e-4820-bab7-2ef5bf81ca78}"/>
  <p:tag name="TABLE_ENDDRAG_ORIGIN_RECT" val="726*355"/>
  <p:tag name="TABLE_ENDDRAG_RECT" val="151*148*726*355"/>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PP_MARK_KEY" val="b6b11f8e-c8aa-4790-a55d-ceede10e912b"/>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10164</Words>
  <Application>WPS 演示</Application>
  <PresentationFormat>宽屏</PresentationFormat>
  <Paragraphs>781</Paragraphs>
  <Slides>49</Slides>
  <Notes>17</Notes>
  <HiddenSlides>1</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9</vt:i4>
      </vt:variant>
      <vt:variant>
        <vt:lpstr>幻灯片标题</vt:lpstr>
      </vt:variant>
      <vt:variant>
        <vt:i4>49</vt:i4>
      </vt:variant>
    </vt:vector>
  </HeadingPairs>
  <TitlesOfParts>
    <vt:vector size="71" baseType="lpstr">
      <vt:lpstr>Arial</vt:lpstr>
      <vt:lpstr>宋体</vt:lpstr>
      <vt:lpstr>Wingdings</vt:lpstr>
      <vt:lpstr>Times New Roman</vt:lpstr>
      <vt:lpstr>Calibri</vt:lpstr>
      <vt:lpstr>等线 Light</vt:lpstr>
      <vt:lpstr>等线</vt:lpstr>
      <vt:lpstr>微软雅黑</vt:lpstr>
      <vt:lpstr>Arial Unicode MS</vt:lpstr>
      <vt:lpstr>Calibri</vt:lpstr>
      <vt:lpstr>Times New Roman</vt:lpstr>
      <vt:lpstr>黑体</vt:lpstr>
      <vt:lpstr>Office 主题​​</vt:lpstr>
      <vt:lpstr>Visio.Drawing.15</vt:lpstr>
      <vt:lpstr>Visio.Drawing.15</vt:lpstr>
      <vt:lpstr>Visio.Drawing.15</vt:lpstr>
      <vt:lpstr>Visio.Drawing.15</vt:lpstr>
      <vt:lpstr>Visio.Drawing.15</vt:lpstr>
      <vt:lpstr>Visio.Drawing.15</vt:lpstr>
      <vt:lpstr>Visio.Drawing.15</vt:lpstr>
      <vt:lpstr>Visio.Drawing.15</vt:lpstr>
      <vt:lpstr>Visio.Drawing.15</vt:lpstr>
      <vt:lpstr>第9章	数据仓库Hive</vt:lpstr>
      <vt:lpstr>第9章	数据仓库Hive</vt:lpstr>
      <vt:lpstr>9.1	概述</vt:lpstr>
      <vt:lpstr>9.1.1	数据仓库概念</vt:lpstr>
      <vt:lpstr>9.1.2	传统数据仓库面临的挑战</vt:lpstr>
      <vt:lpstr>9.1.3 Hive简介</vt:lpstr>
      <vt:lpstr>9.1.3 Hive简介</vt:lpstr>
      <vt:lpstr>9.1.4 Hive与Hadoop生态系统中其他组件的关系</vt:lpstr>
      <vt:lpstr>9.1.5 Hive与传统数据库的对比分析</vt:lpstr>
      <vt:lpstr>9.1.6 Hive在企业中的部署和应用</vt:lpstr>
      <vt:lpstr>9.1.6 Hive在企业中的部署和应用</vt:lpstr>
      <vt:lpstr>9.2	 Hive系统架构</vt:lpstr>
      <vt:lpstr>9.3	 Hive工作原理</vt:lpstr>
      <vt:lpstr>9.3.1  SQL语句转换成MapReduce的基本原理</vt:lpstr>
      <vt:lpstr>9.3.1  SQL语句转换成MapReduce的基本原理</vt:lpstr>
      <vt:lpstr>9.3.2  SQL查询转换成MapReduce作业的过程</vt:lpstr>
      <vt:lpstr>9.3.2  SQL查询转换成MapReduce作业的过程</vt:lpstr>
      <vt:lpstr>9.4 Hive HA基本原理</vt:lpstr>
      <vt:lpstr>9.5	Impala</vt:lpstr>
      <vt:lpstr>9.5.1 Impala简介</vt:lpstr>
      <vt:lpstr>9.5.1 Impala简介</vt:lpstr>
      <vt:lpstr>9.5.2 Impala系统架构</vt:lpstr>
      <vt:lpstr>9.5.2 Impala系统架构</vt:lpstr>
      <vt:lpstr>9.5.3 Impala查询执行过程</vt:lpstr>
      <vt:lpstr>9.5.3 Impala查询执行过程</vt:lpstr>
      <vt:lpstr>9.5.3 Impala查询执行过程</vt:lpstr>
      <vt:lpstr>9.5.4 Impala与Hive的比较</vt:lpstr>
      <vt:lpstr>9.5.4 Impala与Hive的比较</vt:lpstr>
      <vt:lpstr>9.5.4 Impala与Hive的比较</vt:lpstr>
      <vt:lpstr>9.6 Hive编程实践</vt:lpstr>
      <vt:lpstr>9.6.1 Hive的安装与配置</vt:lpstr>
      <vt:lpstr>9.6.1 Hive的数据类型</vt:lpstr>
      <vt:lpstr>9.6.1 Hive的数据类型</vt:lpstr>
      <vt:lpstr>9.6.2 Hive基本操作</vt:lpstr>
      <vt:lpstr>9.6.2 Hive基本操作</vt:lpstr>
      <vt:lpstr>9.6.2 Hive基本操作</vt:lpstr>
      <vt:lpstr>9.6.2 Hive基本操作</vt:lpstr>
      <vt:lpstr>9.6.2 Hive基本操作</vt:lpstr>
      <vt:lpstr>9.6.2 Hive基本操作</vt:lpstr>
      <vt:lpstr>9.6.2 Hive基本操作</vt:lpstr>
      <vt:lpstr>9.6.2 Hive基本操作</vt:lpstr>
      <vt:lpstr>9.6.2 Hive基本操作</vt:lpstr>
      <vt:lpstr>9.6.2 Hive基本操作</vt:lpstr>
      <vt:lpstr>9.6.2 Hive基本操作</vt:lpstr>
      <vt:lpstr>9.6.2 Hive基本操作</vt:lpstr>
      <vt:lpstr>9.6.3  Hive应用实例：WordCount</vt:lpstr>
      <vt:lpstr>9.6.3  Hive应用实例：WordCount</vt:lpstr>
      <vt:lpstr>9.6.4  Hive编程优势</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173</cp:revision>
  <dcterms:created xsi:type="dcterms:W3CDTF">2023-01-31T13:03:00Z</dcterms:created>
  <dcterms:modified xsi:type="dcterms:W3CDTF">2026-04-21T01:09:24Z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7CEE87793684416C98B6904C1664707A</vt:lpwstr>
  </property>
  <property fmtid="{D5CDD505-2E9C-101B-9397-08002B2CF9AE}" pid="3" name="KSOProductBuildVer">
    <vt:lpwstr>2052-12.1.0.25865</vt:lpwstr>
  </property>
</Properties>
</file>