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5"/>
  </p:notesMasterIdLst>
  <p:handoutMasterIdLst>
    <p:handoutMasterId r:id="rId56"/>
  </p:handoutMasterIdLst>
  <p:sldIdLst>
    <p:sldId id="743" r:id="rId3"/>
    <p:sldId id="419" r:id="rId4"/>
    <p:sldId id="707" r:id="rId5"/>
    <p:sldId id="708" r:id="rId6"/>
    <p:sldId id="710" r:id="rId7"/>
    <p:sldId id="711" r:id="rId8"/>
    <p:sldId id="712" r:id="rId9"/>
    <p:sldId id="746" r:id="rId10"/>
    <p:sldId id="713" r:id="rId11"/>
    <p:sldId id="714" r:id="rId12"/>
    <p:sldId id="744" r:id="rId13"/>
    <p:sldId id="715" r:id="rId14"/>
    <p:sldId id="745" r:id="rId15"/>
    <p:sldId id="716" r:id="rId16"/>
    <p:sldId id="717" r:id="rId17"/>
    <p:sldId id="786" r:id="rId18"/>
    <p:sldId id="785" r:id="rId19"/>
    <p:sldId id="787" r:id="rId20"/>
    <p:sldId id="788" r:id="rId21"/>
    <p:sldId id="789" r:id="rId22"/>
    <p:sldId id="790" r:id="rId23"/>
    <p:sldId id="791" r:id="rId24"/>
    <p:sldId id="792" r:id="rId25"/>
    <p:sldId id="793" r:id="rId26"/>
    <p:sldId id="718" r:id="rId27"/>
    <p:sldId id="747" r:id="rId28"/>
    <p:sldId id="748" r:id="rId29"/>
    <p:sldId id="749" r:id="rId30"/>
    <p:sldId id="719" r:id="rId31"/>
    <p:sldId id="720" r:id="rId32"/>
    <p:sldId id="721" r:id="rId33"/>
    <p:sldId id="722" r:id="rId34"/>
    <p:sldId id="723" r:id="rId35"/>
    <p:sldId id="724" r:id="rId36"/>
    <p:sldId id="725" r:id="rId37"/>
    <p:sldId id="726" r:id="rId38"/>
    <p:sldId id="727" r:id="rId39"/>
    <p:sldId id="728" r:id="rId40"/>
    <p:sldId id="729" r:id="rId41"/>
    <p:sldId id="794" r:id="rId42"/>
    <p:sldId id="730" r:id="rId43"/>
    <p:sldId id="731" r:id="rId44"/>
    <p:sldId id="732" r:id="rId45"/>
    <p:sldId id="733" r:id="rId46"/>
    <p:sldId id="734" r:id="rId47"/>
    <p:sldId id="735" r:id="rId48"/>
    <p:sldId id="736" r:id="rId49"/>
    <p:sldId id="737" r:id="rId50"/>
    <p:sldId id="738" r:id="rId51"/>
    <p:sldId id="739" r:id="rId52"/>
    <p:sldId id="741" r:id="rId53"/>
    <p:sldId id="742" r:id="rId54"/>
  </p:sldIdLst>
  <p:sldSz cx="12192000" cy="6858000"/>
  <p:notesSz cx="6858000" cy="9144000"/>
  <p:custDataLst>
    <p:tags r:id="rId6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E7E6E6"/>
    <a:srgbClr val="F8CBAD"/>
    <a:srgbClr val="FDA6B6"/>
    <a:srgbClr val="7F7F7F"/>
    <a:srgbClr val="FFD96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35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0" Type="http://schemas.openxmlformats.org/officeDocument/2006/relationships/tags" Target="tags/tag85.xml"/><Relationship Id="rId6" Type="http://schemas.openxmlformats.org/officeDocument/2006/relationships/slide" Target="slides/slide4.xml"/><Relationship Id="rId59" Type="http://schemas.openxmlformats.org/officeDocument/2006/relationships/tableStyles" Target="tableStyles.xml"/><Relationship Id="rId58" Type="http://schemas.openxmlformats.org/officeDocument/2006/relationships/viewProps" Target="viewProps.xml"/><Relationship Id="rId57" Type="http://schemas.openxmlformats.org/officeDocument/2006/relationships/presProps" Target="presProps.xml"/><Relationship Id="rId56" Type="http://schemas.openxmlformats.org/officeDocument/2006/relationships/handoutMaster" Target="handoutMasters/handoutMaster1.xml"/><Relationship Id="rId55" Type="http://schemas.openxmlformats.org/officeDocument/2006/relationships/notesMaster" Target="notesMasters/notesMaster1.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EA424B-F2C7-4EC9-8DA2-5CFAACF65E1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860B0A-E707-4489-B72C-209A0C1058F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931D01BD-4741-4184-BE56-DAF04E336C9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AECF920-1DC5-4C71-8718-0D3D51DA5754}"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67DFB8C7-156C-4269-A9D3-236C9122148A}"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33A235BB-B880-4407-ACFF-512D8BC24B90}"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5229A4FC-A20D-40C9-ABAC-C696099A86F2}"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C8C5C66-F7B6-4A16-8359-13B29DD706AB}"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AB552A2-5CC8-435E-A513-EF450F74AF85}" type="datetime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442593F0-41FC-4EC0-B9B0-30C4E0373CF4}"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97ADD0A6-25F9-45E6-B1AB-8802F7FB4BFD}"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5B55DAC9-C380-4E94-9EDF-CE70C1A17B94}"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B49B58E9-DE7D-4AC4-86BB-A1A3764A53E4}"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1.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50D025-EB81-4291-9E40-972558CDBCB9}"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57CE09-A6DF-4F65-B9AD-CB157D51E68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3.png"/><Relationship Id="rId2" Type="http://schemas.openxmlformats.org/officeDocument/2006/relationships/tags" Target="../tags/tag3.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emf"/></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7.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9" Type="http://schemas.openxmlformats.org/officeDocument/2006/relationships/tags" Target="../tags/tag12.xml"/><Relationship Id="rId8" Type="http://schemas.openxmlformats.org/officeDocument/2006/relationships/tags" Target="../tags/tag11.xml"/><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9" Type="http://schemas.openxmlformats.org/officeDocument/2006/relationships/slideLayout" Target="../slideLayouts/slideLayout7.xml"/><Relationship Id="rId18" Type="http://schemas.openxmlformats.org/officeDocument/2006/relationships/tags" Target="../tags/tag20.xml"/><Relationship Id="rId17" Type="http://schemas.openxmlformats.org/officeDocument/2006/relationships/image" Target="../media/image8.png"/><Relationship Id="rId16" Type="http://schemas.openxmlformats.org/officeDocument/2006/relationships/tags" Target="../tags/tag19.xml"/><Relationship Id="rId15" Type="http://schemas.openxmlformats.org/officeDocument/2006/relationships/tags" Target="../tags/tag18.xml"/><Relationship Id="rId14" Type="http://schemas.openxmlformats.org/officeDocument/2006/relationships/tags" Target="../tags/tag17.xml"/><Relationship Id="rId13" Type="http://schemas.openxmlformats.org/officeDocument/2006/relationships/tags" Target="../tags/tag16.xml"/><Relationship Id="rId12" Type="http://schemas.openxmlformats.org/officeDocument/2006/relationships/tags" Target="../tags/tag15.xml"/><Relationship Id="rId11" Type="http://schemas.openxmlformats.org/officeDocument/2006/relationships/tags" Target="../tags/tag14.xml"/><Relationship Id="rId10" Type="http://schemas.openxmlformats.org/officeDocument/2006/relationships/tags" Target="../tags/tag13.xml"/><Relationship Id="rId1" Type="http://schemas.openxmlformats.org/officeDocument/2006/relationships/tags" Target="../tags/tag4.xml"/></Relationships>
</file>

<file path=ppt/slides/_rels/slide17.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9" Type="http://schemas.openxmlformats.org/officeDocument/2006/relationships/slideLayout" Target="../slideLayouts/slideLayout7.xml"/><Relationship Id="rId18" Type="http://schemas.openxmlformats.org/officeDocument/2006/relationships/tags" Target="../tags/tag37.xml"/><Relationship Id="rId17" Type="http://schemas.openxmlformats.org/officeDocument/2006/relationships/image" Target="../media/image8.png"/><Relationship Id="rId16" Type="http://schemas.openxmlformats.org/officeDocument/2006/relationships/tags" Target="../tags/tag36.xml"/><Relationship Id="rId15" Type="http://schemas.openxmlformats.org/officeDocument/2006/relationships/tags" Target="../tags/tag35.xml"/><Relationship Id="rId14" Type="http://schemas.openxmlformats.org/officeDocument/2006/relationships/tags" Target="../tags/tag34.xml"/><Relationship Id="rId13" Type="http://schemas.openxmlformats.org/officeDocument/2006/relationships/tags" Target="../tags/tag33.xml"/><Relationship Id="rId12" Type="http://schemas.openxmlformats.org/officeDocument/2006/relationships/tags" Target="../tags/tag32.xml"/><Relationship Id="rId11" Type="http://schemas.openxmlformats.org/officeDocument/2006/relationships/tags" Target="../tags/tag31.xml"/><Relationship Id="rId10" Type="http://schemas.openxmlformats.org/officeDocument/2006/relationships/tags" Target="../tags/tag30.xml"/><Relationship Id="rId1" Type="http://schemas.openxmlformats.org/officeDocument/2006/relationships/tags" Target="../tags/tag21.xml"/></Relationships>
</file>

<file path=ppt/slides/_rels/slide18.xml.rels><?xml version="1.0" encoding="UTF-8" standalone="yes"?>
<Relationships xmlns="http://schemas.openxmlformats.org/package/2006/relationships"><Relationship Id="rId9" Type="http://schemas.openxmlformats.org/officeDocument/2006/relationships/tags" Target="../tags/tag46.xml"/><Relationship Id="rId8" Type="http://schemas.openxmlformats.org/officeDocument/2006/relationships/tags" Target="../tags/tag45.xml"/><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9" Type="http://schemas.openxmlformats.org/officeDocument/2006/relationships/slideLayout" Target="../slideLayouts/slideLayout7.xml"/><Relationship Id="rId18" Type="http://schemas.openxmlformats.org/officeDocument/2006/relationships/tags" Target="../tags/tag54.xml"/><Relationship Id="rId17" Type="http://schemas.openxmlformats.org/officeDocument/2006/relationships/image" Target="../media/image8.png"/><Relationship Id="rId16" Type="http://schemas.openxmlformats.org/officeDocument/2006/relationships/tags" Target="../tags/tag53.xml"/><Relationship Id="rId15" Type="http://schemas.openxmlformats.org/officeDocument/2006/relationships/tags" Target="../tags/tag52.xml"/><Relationship Id="rId14" Type="http://schemas.openxmlformats.org/officeDocument/2006/relationships/tags" Target="../tags/tag51.xml"/><Relationship Id="rId13" Type="http://schemas.openxmlformats.org/officeDocument/2006/relationships/tags" Target="../tags/tag50.xml"/><Relationship Id="rId12" Type="http://schemas.openxmlformats.org/officeDocument/2006/relationships/tags" Target="../tags/tag49.xml"/><Relationship Id="rId11" Type="http://schemas.openxmlformats.org/officeDocument/2006/relationships/tags" Target="../tags/tag48.xml"/><Relationship Id="rId10" Type="http://schemas.openxmlformats.org/officeDocument/2006/relationships/tags" Target="../tags/tag47.xml"/><Relationship Id="rId1" Type="http://schemas.openxmlformats.org/officeDocument/2006/relationships/tags" Target="../tags/tag38.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0.xml.rels><?xml version="1.0" encoding="UTF-8" standalone="yes"?>
<Relationships xmlns="http://schemas.openxmlformats.org/package/2006/relationships"><Relationship Id="rId9" Type="http://schemas.openxmlformats.org/officeDocument/2006/relationships/tags" Target="../tags/tag63.xml"/><Relationship Id="rId8" Type="http://schemas.openxmlformats.org/officeDocument/2006/relationships/tags" Target="../tags/tag62.xml"/><Relationship Id="rId7" Type="http://schemas.openxmlformats.org/officeDocument/2006/relationships/tags" Target="../tags/tag61.xml"/><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tags" Target="../tags/tag56.xml"/><Relationship Id="rId12" Type="http://schemas.openxmlformats.org/officeDocument/2006/relationships/slideLayout" Target="../slideLayouts/slideLayout2.xml"/><Relationship Id="rId11" Type="http://schemas.openxmlformats.org/officeDocument/2006/relationships/tags" Target="../tags/tag65.xml"/><Relationship Id="rId10" Type="http://schemas.openxmlformats.org/officeDocument/2006/relationships/tags" Target="../tags/tag64.xml"/><Relationship Id="rId1" Type="http://schemas.openxmlformats.org/officeDocument/2006/relationships/tags" Target="../tags/tag5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tags" Target="../tags/tag6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6.xml"/><Relationship Id="rId2" Type="http://schemas.openxmlformats.org/officeDocument/2006/relationships/image" Target="../media/image11.emf"/><Relationship Id="rId1" Type="http://schemas.openxmlformats.org/officeDocument/2006/relationships/oleObject" Target="../embeddings/oleObject1.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2.emf"/></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3.emf"/></Relationships>
</file>

<file path=ppt/slides/_rels/slide31.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6.xml"/><Relationship Id="rId2" Type="http://schemas.openxmlformats.org/officeDocument/2006/relationships/image" Target="../media/image14.emf"/><Relationship Id="rId1" Type="http://schemas.openxmlformats.org/officeDocument/2006/relationships/oleObject" Target="../embeddings/oleObject2.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5.emf"/></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6.e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7.emf"/></Relationships>
</file>

<file path=ppt/slides/_rels/slide40.xml.rels><?xml version="1.0" encoding="UTF-8" standalone="yes"?>
<Relationships xmlns="http://schemas.openxmlformats.org/package/2006/relationships"><Relationship Id="rId9" Type="http://schemas.openxmlformats.org/officeDocument/2006/relationships/tags" Target="../tags/tag75.xml"/><Relationship Id="rId8" Type="http://schemas.openxmlformats.org/officeDocument/2006/relationships/tags" Target="../tags/tag74.xml"/><Relationship Id="rId7" Type="http://schemas.openxmlformats.org/officeDocument/2006/relationships/tags" Target="../tags/tag73.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9" Type="http://schemas.openxmlformats.org/officeDocument/2006/relationships/slideLayout" Target="../slideLayouts/slideLayout7.xml"/><Relationship Id="rId18" Type="http://schemas.openxmlformats.org/officeDocument/2006/relationships/tags" Target="../tags/tag83.xml"/><Relationship Id="rId17" Type="http://schemas.openxmlformats.org/officeDocument/2006/relationships/image" Target="../media/image8.png"/><Relationship Id="rId16" Type="http://schemas.openxmlformats.org/officeDocument/2006/relationships/tags" Target="../tags/tag82.xml"/><Relationship Id="rId15" Type="http://schemas.openxmlformats.org/officeDocument/2006/relationships/tags" Target="../tags/tag81.xml"/><Relationship Id="rId14" Type="http://schemas.openxmlformats.org/officeDocument/2006/relationships/tags" Target="../tags/tag80.xml"/><Relationship Id="rId13" Type="http://schemas.openxmlformats.org/officeDocument/2006/relationships/tags" Target="../tags/tag79.xml"/><Relationship Id="rId12" Type="http://schemas.openxmlformats.org/officeDocument/2006/relationships/tags" Target="../tags/tag78.xml"/><Relationship Id="rId11" Type="http://schemas.openxmlformats.org/officeDocument/2006/relationships/tags" Target="../tags/tag77.xml"/><Relationship Id="rId10" Type="http://schemas.openxmlformats.org/officeDocument/2006/relationships/tags" Target="../tags/tag76.xml"/><Relationship Id="rId1" Type="http://schemas.openxmlformats.org/officeDocument/2006/relationships/tags" Target="../tags/tag6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8.emf"/></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84.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9.emf"/></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1.emf"/></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3.e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b="1" dirty="0">
                <a:sym typeface="+mn-ea"/>
              </a:rPr>
              <a:t>第</a:t>
            </a:r>
            <a:r>
              <a:rPr lang="en-US" altLang="zh-CN" b="1" dirty="0">
                <a:sym typeface="+mn-ea"/>
              </a:rPr>
              <a:t> 8 </a:t>
            </a:r>
            <a:r>
              <a:rPr lang="zh-CN" altLang="en-US" b="1" dirty="0">
                <a:sym typeface="+mn-ea"/>
              </a:rPr>
              <a:t>章</a:t>
            </a:r>
            <a:r>
              <a:rPr lang="en-US" altLang="zh-CN" b="1" dirty="0">
                <a:sym typeface="+mn-ea"/>
              </a:rPr>
              <a:t> Hadoop</a:t>
            </a:r>
            <a:r>
              <a:rPr lang="zh-CN" altLang="en-US" b="1" dirty="0">
                <a:sym typeface="+mn-ea"/>
              </a:rPr>
              <a:t>再探讨</a:t>
            </a:r>
            <a:endParaRPr lang="zh-CN" altLang="en-US"/>
          </a:p>
        </p:txBody>
      </p:sp>
      <p:sp>
        <p:nvSpPr>
          <p:cNvPr id="3" name="副标题 2"/>
          <p:cNvSpPr>
            <a:spLocks noGrp="1"/>
          </p:cNvSpPr>
          <p:nvPr>
            <p:ph type="subTitle" idx="1"/>
          </p:nvPr>
        </p:nvSpPr>
        <p:spPr/>
        <p:txBody>
          <a:bodyPr/>
          <a:lstStyle/>
          <a:p>
            <a:endParaRPr lang="zh-CN" altLang="en-US"/>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标题 2"/>
          <p:cNvSpPr>
            <a:spLocks noGrp="1"/>
          </p:cNvSpPr>
          <p:nvPr>
            <p:ph type="title"/>
          </p:nvPr>
        </p:nvSpPr>
        <p:spPr/>
        <p:txBody>
          <a:bodyPr vert="horz" wrap="square" lIns="91440" tIns="45720" rIns="91440" bIns="45720" anchor="ctr" anchorCtr="0"/>
          <a:lstStyle/>
          <a:p>
            <a:r>
              <a:rPr lang="zh-CN" altLang="en-US" b="1" dirty="0"/>
              <a:t>第</a:t>
            </a:r>
            <a:r>
              <a:rPr lang="en-US" altLang="zh-CN" b="1" dirty="0"/>
              <a:t> 8 </a:t>
            </a:r>
            <a:r>
              <a:rPr lang="zh-CN" altLang="en-US" b="1" dirty="0"/>
              <a:t>章</a:t>
            </a:r>
            <a:r>
              <a:rPr lang="en-US" altLang="zh-CN" b="1" dirty="0"/>
              <a:t> Hadoop</a:t>
            </a:r>
            <a:r>
              <a:rPr lang="zh-CN" altLang="en-US" b="1" dirty="0"/>
              <a:t>再探讨</a:t>
            </a:r>
            <a:endParaRPr lang="zh-CN" altLang="en-US" b="1" dirty="0"/>
          </a:p>
        </p:txBody>
      </p:sp>
      <p:sp>
        <p:nvSpPr>
          <p:cNvPr id="1028" name="Text Box 6"/>
          <p:cNvSpPr txBox="1"/>
          <p:nvPr/>
        </p:nvSpPr>
        <p:spPr>
          <a:xfrm>
            <a:off x="1452880" y="1447800"/>
            <a:ext cx="8969375" cy="4030980"/>
          </a:xfrm>
          <a:prstGeom prst="rect">
            <a:avLst/>
          </a:prstGeom>
          <a:noFill/>
          <a:ln w="9525">
            <a:noFill/>
          </a:ln>
        </p:spPr>
        <p:txBody>
          <a:bodyPr wrap="square">
            <a:spAutoFit/>
          </a:bodyPr>
          <a:lstStyle/>
          <a:p>
            <a:pPr indent="0">
              <a:lnSpc>
                <a:spcPct val="200000"/>
              </a:lnSpc>
              <a:buNone/>
            </a:pPr>
            <a:r>
              <a:rPr lang="en-US" sz="3200" dirty="0">
                <a:solidFill>
                  <a:srgbClr val="000000"/>
                </a:solidFill>
                <a:latin typeface="Arial" panose="020B0604020202020204" pitchFamily="34" charset="0"/>
                <a:ea typeface="黑体" panose="02010609060101010101" pitchFamily="49" charset="-122"/>
              </a:rPr>
              <a:t>8.1 Hadoop</a:t>
            </a:r>
            <a:r>
              <a:rPr lang="zh-CN" altLang="en-US" sz="3200" dirty="0">
                <a:solidFill>
                  <a:srgbClr val="000000"/>
                </a:solidFill>
                <a:latin typeface="Arial" panose="020B0604020202020204" pitchFamily="34" charset="0"/>
                <a:ea typeface="黑体" panose="02010609060101010101" pitchFamily="49" charset="-122"/>
              </a:rPr>
              <a:t>的局限与不足</a:t>
            </a:r>
            <a:endParaRPr lang="zh-CN" altLang="en-US" sz="3200" dirty="0">
              <a:solidFill>
                <a:srgbClr val="000000"/>
              </a:solidFill>
              <a:latin typeface="Arial" panose="020B0604020202020204" pitchFamily="34" charset="0"/>
              <a:ea typeface="黑体" panose="02010609060101010101" pitchFamily="49" charset="-122"/>
            </a:endParaRPr>
          </a:p>
          <a:p>
            <a:pPr indent="0">
              <a:lnSpc>
                <a:spcPct val="200000"/>
              </a:lnSpc>
              <a:buNone/>
            </a:pPr>
            <a:r>
              <a:rPr lang="en-US" altLang="zh-CN" sz="3200" dirty="0">
                <a:solidFill>
                  <a:srgbClr val="000000"/>
                </a:solidFill>
                <a:latin typeface="Arial" panose="020B0604020202020204" pitchFamily="34" charset="0"/>
                <a:ea typeface="黑体" panose="02010609060101010101" pitchFamily="49" charset="-122"/>
              </a:rPr>
              <a:t>8.2 HDFS 2.0</a:t>
            </a:r>
            <a:r>
              <a:rPr lang="zh-CN" altLang="en-US" sz="3200" dirty="0">
                <a:solidFill>
                  <a:srgbClr val="000000"/>
                </a:solidFill>
                <a:latin typeface="Arial" panose="020B0604020202020204" pitchFamily="34" charset="0"/>
                <a:ea typeface="黑体" panose="02010609060101010101" pitchFamily="49" charset="-122"/>
              </a:rPr>
              <a:t>的新特性</a:t>
            </a:r>
            <a:endParaRPr lang="zh-CN" altLang="en-US" sz="3200" dirty="0">
              <a:solidFill>
                <a:srgbClr val="000000"/>
              </a:solidFill>
              <a:latin typeface="Arial" panose="020B0604020202020204" pitchFamily="34" charset="0"/>
              <a:ea typeface="黑体" panose="02010609060101010101" pitchFamily="49" charset="-122"/>
            </a:endParaRPr>
          </a:p>
          <a:p>
            <a:pPr indent="0">
              <a:lnSpc>
                <a:spcPct val="200000"/>
              </a:lnSpc>
              <a:buNone/>
            </a:pPr>
            <a:r>
              <a:rPr lang="en-US" altLang="zh-CN" sz="3200" dirty="0">
                <a:solidFill>
                  <a:srgbClr val="000000"/>
                </a:solidFill>
                <a:latin typeface="Arial" panose="020B0604020202020204" pitchFamily="34" charset="0"/>
                <a:ea typeface="黑体" panose="02010609060101010101" pitchFamily="49" charset="-122"/>
              </a:rPr>
              <a:t>8.3 </a:t>
            </a:r>
            <a:r>
              <a:rPr lang="zh-CN" altLang="en-US" sz="3200" dirty="0">
                <a:solidFill>
                  <a:srgbClr val="000000"/>
                </a:solidFill>
                <a:latin typeface="Arial" panose="020B0604020202020204" pitchFamily="34" charset="0"/>
                <a:ea typeface="黑体" panose="02010609060101010101" pitchFamily="49" charset="-122"/>
              </a:rPr>
              <a:t>新一代资源管理调度框架</a:t>
            </a:r>
            <a:r>
              <a:rPr lang="en-US" altLang="zh-CN" sz="3200" dirty="0">
                <a:solidFill>
                  <a:srgbClr val="000000"/>
                </a:solidFill>
                <a:latin typeface="Arial" panose="020B0604020202020204" pitchFamily="34" charset="0"/>
                <a:ea typeface="黑体" panose="02010609060101010101" pitchFamily="49" charset="-122"/>
              </a:rPr>
              <a:t>YARN</a:t>
            </a:r>
            <a:endParaRPr lang="en-US" altLang="zh-CN" sz="3200" dirty="0">
              <a:solidFill>
                <a:srgbClr val="000000"/>
              </a:solidFill>
              <a:latin typeface="Arial" panose="020B0604020202020204" pitchFamily="34" charset="0"/>
              <a:ea typeface="黑体" panose="02010609060101010101" pitchFamily="49" charset="-122"/>
            </a:endParaRPr>
          </a:p>
          <a:p>
            <a:pPr indent="0">
              <a:lnSpc>
                <a:spcPct val="200000"/>
              </a:lnSpc>
              <a:buNone/>
            </a:pPr>
            <a:r>
              <a:rPr lang="en-US" altLang="zh-CN" sz="3200" dirty="0">
                <a:solidFill>
                  <a:srgbClr val="000000"/>
                </a:solidFill>
                <a:latin typeface="Arial" panose="020B0604020202020204" pitchFamily="34" charset="0"/>
                <a:ea typeface="黑体" panose="02010609060101010101" pitchFamily="49" charset="-122"/>
              </a:rPr>
              <a:t>8.4 Hadoop</a:t>
            </a:r>
            <a:r>
              <a:rPr lang="zh-CN" altLang="en-US" sz="3200" dirty="0">
                <a:solidFill>
                  <a:srgbClr val="000000"/>
                </a:solidFill>
                <a:latin typeface="Arial" panose="020B0604020202020204" pitchFamily="34" charset="0"/>
                <a:ea typeface="黑体" panose="02010609060101010101" pitchFamily="49" charset="-122"/>
              </a:rPr>
              <a:t>生态系统中具有代表性的功能组件</a:t>
            </a:r>
            <a:endParaRPr lang="zh-CN" altLang="en-US" sz="3200" dirty="0">
              <a:solidFill>
                <a:srgbClr val="000000"/>
              </a:solidFill>
              <a:latin typeface="Arial" panose="020B0604020202020204" pitchFamily="34" charset="0"/>
              <a:ea typeface="黑体" panose="02010609060101010101" pitchFamily="49"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vert="horz" wrap="square" lIns="91440" tIns="45720" rIns="91440" bIns="45720" anchor="ctr" anchorCtr="0"/>
          <a:lstStyle/>
          <a:p>
            <a:r>
              <a:rPr lang="en-US" altLang="zh-CN" b="1" dirty="0"/>
              <a:t>8.</a:t>
            </a:r>
            <a:r>
              <a:rPr lang="zh-CN" altLang="zh-CN" b="1" dirty="0"/>
              <a:t>1.1Hadoop</a:t>
            </a:r>
            <a:r>
              <a:rPr lang="zh-CN" altLang="en-US" b="1" dirty="0"/>
              <a:t>的局限与不足</a:t>
            </a:r>
            <a:endParaRPr lang="zh-CN" altLang="en-US" dirty="0"/>
          </a:p>
        </p:txBody>
      </p:sp>
      <p:sp>
        <p:nvSpPr>
          <p:cNvPr id="8195" name="矩形 2"/>
          <p:cNvSpPr/>
          <p:nvPr/>
        </p:nvSpPr>
        <p:spPr>
          <a:xfrm>
            <a:off x="1133475" y="1445895"/>
            <a:ext cx="8077200" cy="5077460"/>
          </a:xfrm>
          <a:prstGeom prst="rect">
            <a:avLst/>
          </a:prstGeom>
          <a:noFill/>
          <a:ln w="9525">
            <a:noFill/>
          </a:ln>
        </p:spPr>
        <p:txBody>
          <a:bodyPr>
            <a:spAutoFit/>
          </a:bodyPr>
          <a:lstStyle/>
          <a:p>
            <a:pPr>
              <a:lnSpc>
                <a:spcPct val="150000"/>
              </a:lnSpc>
            </a:pPr>
            <a:r>
              <a:rPr lang="en-US" altLang="zh-CN" sz="2400" dirty="0">
                <a:latin typeface="Arial" panose="020B0604020202020204" pitchFamily="34" charset="0"/>
              </a:rPr>
              <a:t>Hadoop1.0</a:t>
            </a:r>
            <a:r>
              <a:rPr lang="zh-CN" altLang="zh-CN" sz="2400" dirty="0">
                <a:latin typeface="Arial" panose="020B0604020202020204" pitchFamily="34" charset="0"/>
              </a:rPr>
              <a:t>的核心组件：</a:t>
            </a:r>
            <a:r>
              <a:rPr lang="en-US" altLang="zh-CN" sz="2400" dirty="0">
                <a:latin typeface="Arial" panose="020B0604020202020204" pitchFamily="34" charset="0"/>
              </a:rPr>
              <a:t>MapReduce</a:t>
            </a:r>
            <a:r>
              <a:rPr lang="zh-CN" altLang="zh-CN" sz="2400" dirty="0">
                <a:latin typeface="Arial" panose="020B0604020202020204" pitchFamily="34" charset="0"/>
              </a:rPr>
              <a:t>和</a:t>
            </a:r>
            <a:r>
              <a:rPr lang="en-US" altLang="zh-CN" sz="2400" dirty="0">
                <a:latin typeface="Arial" panose="020B0604020202020204" pitchFamily="34" charset="0"/>
              </a:rPr>
              <a:t>HDFS</a:t>
            </a:r>
            <a:endParaRPr lang="en-US" altLang="zh-CN" sz="2400" dirty="0">
              <a:latin typeface="Arial" panose="020B0604020202020204" pitchFamily="34" charset="0"/>
            </a:endParaRPr>
          </a:p>
          <a:p>
            <a:pPr>
              <a:lnSpc>
                <a:spcPct val="150000"/>
              </a:lnSpc>
            </a:pPr>
            <a:r>
              <a:rPr lang="zh-CN" altLang="zh-CN" sz="2400" dirty="0">
                <a:latin typeface="Arial" panose="020B0604020202020204" pitchFamily="34" charset="0"/>
              </a:rPr>
              <a:t>主要存在以下不足：</a:t>
            </a:r>
            <a:endParaRPr lang="zh-CN" altLang="zh-CN" sz="2400" dirty="0">
              <a:latin typeface="Arial" panose="020B0604020202020204" pitchFamily="34" charset="0"/>
            </a:endParaRPr>
          </a:p>
          <a:p>
            <a:pPr>
              <a:lnSpc>
                <a:spcPct val="150000"/>
              </a:lnSpc>
              <a:buFont typeface="Arial" panose="020B0604020202020204" pitchFamily="34" charset="0"/>
              <a:buChar char="•"/>
            </a:pPr>
            <a:r>
              <a:rPr lang="zh-CN" altLang="zh-CN" sz="2400" dirty="0">
                <a:latin typeface="Arial" panose="020B0604020202020204" pitchFamily="34" charset="0"/>
              </a:rPr>
              <a:t>抽象层次低</a:t>
            </a:r>
            <a:r>
              <a:rPr lang="zh-CN" altLang="en-US" sz="2400" dirty="0">
                <a:latin typeface="Arial" panose="020B0604020202020204" pitchFamily="34" charset="0"/>
              </a:rPr>
              <a:t>，需人工编码</a:t>
            </a:r>
            <a:endParaRPr lang="zh-CN" altLang="zh-CN" sz="2400" dirty="0">
              <a:latin typeface="Arial" panose="020B0604020202020204" pitchFamily="34" charset="0"/>
            </a:endParaRPr>
          </a:p>
          <a:p>
            <a:pPr>
              <a:lnSpc>
                <a:spcPct val="150000"/>
              </a:lnSpc>
              <a:buFont typeface="Arial" panose="020B0604020202020204" pitchFamily="34" charset="0"/>
              <a:buChar char="•"/>
            </a:pPr>
            <a:r>
              <a:rPr lang="zh-CN" altLang="zh-CN" sz="2400" dirty="0">
                <a:latin typeface="Arial" panose="020B0604020202020204" pitchFamily="34" charset="0"/>
              </a:rPr>
              <a:t>表达能力有限</a:t>
            </a:r>
            <a:endParaRPr lang="zh-CN" altLang="zh-CN" sz="2400" dirty="0">
              <a:latin typeface="Arial" panose="020B0604020202020204" pitchFamily="34" charset="0"/>
            </a:endParaRPr>
          </a:p>
          <a:p>
            <a:pPr>
              <a:lnSpc>
                <a:spcPct val="150000"/>
              </a:lnSpc>
              <a:buFont typeface="Arial" panose="020B0604020202020204" pitchFamily="34" charset="0"/>
              <a:buChar char="•"/>
            </a:pPr>
            <a:r>
              <a:rPr lang="zh-CN" altLang="zh-CN" sz="2400" dirty="0">
                <a:latin typeface="Arial" panose="020B0604020202020204" pitchFamily="34" charset="0"/>
              </a:rPr>
              <a:t>开发者自己管理</a:t>
            </a:r>
            <a:r>
              <a:rPr lang="zh-CN" altLang="en-US" sz="2400" dirty="0">
                <a:latin typeface="Arial" panose="020B0604020202020204" pitchFamily="34" charset="0"/>
              </a:rPr>
              <a:t>作业（</a:t>
            </a:r>
            <a:r>
              <a:rPr lang="en-US" altLang="zh-CN" sz="2400" dirty="0">
                <a:latin typeface="Arial" panose="020B0604020202020204" pitchFamily="34" charset="0"/>
              </a:rPr>
              <a:t>Job</a:t>
            </a:r>
            <a:r>
              <a:rPr lang="zh-CN" altLang="en-US" sz="2400" dirty="0">
                <a:latin typeface="Arial" panose="020B0604020202020204" pitchFamily="34" charset="0"/>
              </a:rPr>
              <a:t>）</a:t>
            </a:r>
            <a:r>
              <a:rPr lang="zh-CN" altLang="zh-CN" sz="2400" dirty="0">
                <a:latin typeface="Arial" panose="020B0604020202020204" pitchFamily="34" charset="0"/>
              </a:rPr>
              <a:t>之间的依赖关系</a:t>
            </a:r>
            <a:endParaRPr lang="zh-CN" altLang="zh-CN" sz="2400" dirty="0">
              <a:latin typeface="Arial" panose="020B0604020202020204" pitchFamily="34" charset="0"/>
            </a:endParaRPr>
          </a:p>
          <a:p>
            <a:pPr>
              <a:lnSpc>
                <a:spcPct val="150000"/>
              </a:lnSpc>
              <a:buFont typeface="Arial" panose="020B0604020202020204" pitchFamily="34" charset="0"/>
              <a:buChar char="•"/>
            </a:pPr>
            <a:r>
              <a:rPr lang="zh-CN" altLang="zh-CN" sz="2400" dirty="0">
                <a:latin typeface="Arial" panose="020B0604020202020204" pitchFamily="34" charset="0"/>
              </a:rPr>
              <a:t>难以看到程序整体逻辑</a:t>
            </a:r>
            <a:endParaRPr lang="zh-CN" altLang="zh-CN" sz="2400" dirty="0">
              <a:latin typeface="Arial" panose="020B0604020202020204" pitchFamily="34" charset="0"/>
            </a:endParaRPr>
          </a:p>
          <a:p>
            <a:pPr>
              <a:lnSpc>
                <a:spcPct val="150000"/>
              </a:lnSpc>
              <a:buFont typeface="Arial" panose="020B0604020202020204" pitchFamily="34" charset="0"/>
              <a:buChar char="•"/>
            </a:pPr>
            <a:r>
              <a:rPr lang="zh-CN" altLang="zh-CN" sz="2400" dirty="0">
                <a:latin typeface="Arial" panose="020B0604020202020204" pitchFamily="34" charset="0"/>
              </a:rPr>
              <a:t>执行迭代操作效率低</a:t>
            </a:r>
            <a:endParaRPr lang="zh-CN" altLang="zh-CN" sz="2400" dirty="0">
              <a:latin typeface="Arial" panose="020B0604020202020204" pitchFamily="34" charset="0"/>
            </a:endParaRPr>
          </a:p>
          <a:p>
            <a:pPr>
              <a:lnSpc>
                <a:spcPct val="150000"/>
              </a:lnSpc>
              <a:buFont typeface="Arial" panose="020B0604020202020204" pitchFamily="34" charset="0"/>
              <a:buChar char="•"/>
            </a:pPr>
            <a:r>
              <a:rPr lang="zh-CN" altLang="zh-CN" sz="2400" dirty="0">
                <a:latin typeface="Arial" panose="020B0604020202020204" pitchFamily="34" charset="0"/>
              </a:rPr>
              <a:t>资源浪费</a:t>
            </a:r>
            <a:endParaRPr lang="zh-CN" altLang="zh-CN" sz="2400" dirty="0">
              <a:latin typeface="Arial" panose="020B0604020202020204" pitchFamily="34" charset="0"/>
            </a:endParaRPr>
          </a:p>
          <a:p>
            <a:pPr>
              <a:lnSpc>
                <a:spcPct val="150000"/>
              </a:lnSpc>
              <a:buFont typeface="Arial" panose="020B0604020202020204" pitchFamily="34" charset="0"/>
              <a:buChar char="•"/>
            </a:pPr>
            <a:r>
              <a:rPr lang="zh-CN" altLang="zh-CN" sz="2400" dirty="0">
                <a:latin typeface="Arial" panose="020B0604020202020204" pitchFamily="34" charset="0"/>
              </a:rPr>
              <a:t>实时性差</a:t>
            </a:r>
            <a:r>
              <a:rPr lang="zh-CN" altLang="en-US" sz="2400" dirty="0">
                <a:latin typeface="Arial" panose="020B0604020202020204" pitchFamily="34" charset="0"/>
              </a:rPr>
              <a:t>（适合批处理，不支持实时交互式）</a:t>
            </a:r>
            <a:endParaRPr lang="zh-CN" altLang="en-US" sz="2400"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5">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195">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195">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195">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19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vert="horz" wrap="square" lIns="91440" tIns="45720" rIns="91440" bIns="45720" anchor="ctr" anchorCtr="0"/>
          <a:lstStyle/>
          <a:p>
            <a:r>
              <a:rPr lang="en-US" altLang="zh-CN" b="1" dirty="0"/>
              <a:t>8.</a:t>
            </a:r>
            <a:r>
              <a:rPr lang="zh-CN" altLang="zh-CN" b="1" dirty="0"/>
              <a:t>1.2</a:t>
            </a:r>
            <a:r>
              <a:rPr lang="zh-CN" altLang="en-US" b="1" dirty="0"/>
              <a:t>针对</a:t>
            </a:r>
            <a:r>
              <a:rPr lang="zh-CN" altLang="zh-CN" b="1" dirty="0"/>
              <a:t>Hadoop</a:t>
            </a:r>
            <a:r>
              <a:rPr lang="zh-CN" altLang="en-US" b="1" dirty="0"/>
              <a:t>的改进与提升</a:t>
            </a:r>
            <a:endParaRPr lang="zh-CN" altLang="en-US" dirty="0"/>
          </a:p>
        </p:txBody>
      </p:sp>
      <p:sp>
        <p:nvSpPr>
          <p:cNvPr id="9219" name="矩形 2"/>
          <p:cNvSpPr/>
          <p:nvPr/>
        </p:nvSpPr>
        <p:spPr>
          <a:xfrm>
            <a:off x="915035" y="1609725"/>
            <a:ext cx="10567670" cy="2306955"/>
          </a:xfrm>
          <a:prstGeom prst="rect">
            <a:avLst/>
          </a:prstGeom>
          <a:noFill/>
          <a:ln w="9525">
            <a:noFill/>
          </a:ln>
        </p:spPr>
        <p:txBody>
          <a:bodyPr wrap="square">
            <a:spAutoFit/>
          </a:bodyPr>
          <a:lstStyle/>
          <a:p>
            <a:r>
              <a:rPr lang="en-US" altLang="zh-CN" sz="2400" dirty="0">
                <a:latin typeface="Arial" panose="020B0604020202020204" pitchFamily="34" charset="0"/>
              </a:rPr>
              <a:t>Hadoop</a:t>
            </a:r>
            <a:r>
              <a:rPr lang="zh-CN" altLang="zh-CN" sz="2400" dirty="0">
                <a:latin typeface="Arial" panose="020B0604020202020204" pitchFamily="34" charset="0"/>
              </a:rPr>
              <a:t>的优化与发展主要体现在两个方面</a:t>
            </a:r>
            <a:r>
              <a:rPr lang="zh-CN" altLang="en-US" sz="2400" dirty="0">
                <a:latin typeface="Arial" panose="020B0604020202020204" pitchFamily="34" charset="0"/>
              </a:rPr>
              <a:t>：</a:t>
            </a:r>
            <a:endParaRPr lang="en-US" altLang="zh-CN" sz="2400" dirty="0">
              <a:latin typeface="Arial" panose="020B0604020202020204" pitchFamily="34" charset="0"/>
            </a:endParaRPr>
          </a:p>
          <a:p>
            <a:endParaRPr lang="en-US" altLang="zh-CN" sz="2400" dirty="0">
              <a:latin typeface="Arial" panose="020B0604020202020204" pitchFamily="34" charset="0"/>
            </a:endParaRPr>
          </a:p>
          <a:p>
            <a:pPr>
              <a:buFont typeface="Arial" panose="020B0604020202020204" pitchFamily="34" charset="0"/>
              <a:buChar char="•"/>
            </a:pPr>
            <a:r>
              <a:rPr lang="zh-CN" altLang="zh-CN" sz="2400" dirty="0">
                <a:latin typeface="Arial" panose="020B0604020202020204" pitchFamily="34" charset="0"/>
              </a:rPr>
              <a:t>一方面是</a:t>
            </a:r>
            <a:r>
              <a:rPr lang="en-US" altLang="zh-CN" sz="2400" dirty="0">
                <a:latin typeface="Arial" panose="020B0604020202020204" pitchFamily="34" charset="0"/>
              </a:rPr>
              <a:t>Hadoop</a:t>
            </a:r>
            <a:r>
              <a:rPr lang="zh-CN" altLang="zh-CN" sz="2400" dirty="0">
                <a:latin typeface="Arial" panose="020B0604020202020204" pitchFamily="34" charset="0"/>
              </a:rPr>
              <a:t>自身两大核心组件</a:t>
            </a:r>
            <a:r>
              <a:rPr lang="en-US" altLang="zh-CN" sz="2400" dirty="0">
                <a:latin typeface="Arial" panose="020B0604020202020204" pitchFamily="34" charset="0"/>
              </a:rPr>
              <a:t>MapReduce</a:t>
            </a:r>
            <a:r>
              <a:rPr lang="zh-CN" altLang="zh-CN" sz="2400" dirty="0">
                <a:latin typeface="Arial" panose="020B0604020202020204" pitchFamily="34" charset="0"/>
              </a:rPr>
              <a:t>和</a:t>
            </a:r>
            <a:r>
              <a:rPr lang="en-US" altLang="zh-CN" sz="2400" dirty="0">
                <a:latin typeface="Arial" panose="020B0604020202020204" pitchFamily="34" charset="0"/>
              </a:rPr>
              <a:t>HDFS</a:t>
            </a:r>
            <a:r>
              <a:rPr lang="zh-CN" altLang="zh-CN" sz="2400" dirty="0">
                <a:latin typeface="Arial" panose="020B0604020202020204" pitchFamily="34" charset="0"/>
              </a:rPr>
              <a:t>的架构设计改进</a:t>
            </a:r>
            <a:endParaRPr lang="en-US" altLang="zh-CN" sz="2400" dirty="0">
              <a:latin typeface="Arial" panose="020B0604020202020204" pitchFamily="34" charset="0"/>
            </a:endParaRPr>
          </a:p>
          <a:p>
            <a:pPr>
              <a:buFont typeface="Arial" panose="020B0604020202020204" pitchFamily="34" charset="0"/>
              <a:buChar char="•"/>
            </a:pPr>
            <a:endParaRPr lang="en-US" altLang="zh-CN" sz="2400" dirty="0">
              <a:latin typeface="Arial" panose="020B0604020202020204" pitchFamily="34" charset="0"/>
            </a:endParaRPr>
          </a:p>
          <a:p>
            <a:pPr>
              <a:buFont typeface="Arial" panose="020B0604020202020204" pitchFamily="34" charset="0"/>
              <a:buChar char="•"/>
            </a:pPr>
            <a:r>
              <a:rPr lang="zh-CN" altLang="zh-CN" sz="2400" dirty="0">
                <a:latin typeface="Arial" panose="020B0604020202020204" pitchFamily="34" charset="0"/>
              </a:rPr>
              <a:t>另一方面是</a:t>
            </a:r>
            <a:r>
              <a:rPr lang="en-US" altLang="zh-CN" sz="2400" dirty="0">
                <a:latin typeface="Arial" panose="020B0604020202020204" pitchFamily="34" charset="0"/>
              </a:rPr>
              <a:t>Hadoop</a:t>
            </a:r>
            <a:r>
              <a:rPr lang="zh-CN" altLang="zh-CN" sz="2400" dirty="0">
                <a:latin typeface="Arial" panose="020B0604020202020204" pitchFamily="34" charset="0"/>
              </a:rPr>
              <a:t>生态系统其它组件的不断丰富</a:t>
            </a:r>
            <a:r>
              <a:rPr lang="zh-CN" altLang="en-US" sz="2400" dirty="0">
                <a:latin typeface="Arial" panose="020B0604020202020204" pitchFamily="34" charset="0"/>
              </a:rPr>
              <a:t>，加入了</a:t>
            </a:r>
            <a:r>
              <a:rPr lang="en-US" altLang="zh-CN" sz="2400" dirty="0">
                <a:latin typeface="Arial" panose="020B0604020202020204" pitchFamily="34" charset="0"/>
              </a:rPr>
              <a:t>Pig</a:t>
            </a:r>
            <a:r>
              <a:rPr lang="zh-CN" altLang="zh-CN" sz="2400" dirty="0">
                <a:latin typeface="Arial" panose="020B0604020202020204" pitchFamily="34" charset="0"/>
              </a:rPr>
              <a:t>、</a:t>
            </a:r>
            <a:r>
              <a:rPr lang="en-US" altLang="zh-CN" sz="2400" dirty="0">
                <a:latin typeface="Arial" panose="020B0604020202020204" pitchFamily="34" charset="0"/>
              </a:rPr>
              <a:t>Tez</a:t>
            </a:r>
            <a:r>
              <a:rPr lang="zh-CN" altLang="zh-CN" sz="2400" dirty="0">
                <a:latin typeface="Arial" panose="020B0604020202020204" pitchFamily="34" charset="0"/>
              </a:rPr>
              <a:t>、</a:t>
            </a:r>
            <a:r>
              <a:rPr lang="en-US" altLang="zh-CN" sz="2400" dirty="0">
                <a:latin typeface="Arial" panose="020B0604020202020204" pitchFamily="34" charset="0"/>
              </a:rPr>
              <a:t>Spark</a:t>
            </a:r>
            <a:r>
              <a:rPr lang="zh-CN" altLang="zh-CN" sz="2400" dirty="0">
                <a:latin typeface="Arial" panose="020B0604020202020204" pitchFamily="34" charset="0"/>
              </a:rPr>
              <a:t>和</a:t>
            </a:r>
            <a:r>
              <a:rPr lang="en-US" altLang="zh-CN" sz="2400" dirty="0">
                <a:latin typeface="Arial" panose="020B0604020202020204" pitchFamily="34" charset="0"/>
              </a:rPr>
              <a:t>Kafka</a:t>
            </a:r>
            <a:r>
              <a:rPr lang="zh-CN" altLang="en-US" sz="2400" dirty="0">
                <a:latin typeface="Arial" panose="020B0604020202020204" pitchFamily="34" charset="0"/>
              </a:rPr>
              <a:t>等新组件</a:t>
            </a:r>
            <a:endParaRPr lang="zh-CN" altLang="en-US" sz="2400" dirty="0">
              <a:latin typeface="Arial" panose="020B0604020202020204" pitchFamily="34" charset="0"/>
            </a:endParaRPr>
          </a:p>
        </p:txBody>
      </p:sp>
      <p:graphicFrame>
        <p:nvGraphicFramePr>
          <p:cNvPr id="3" name="表格 2"/>
          <p:cNvGraphicFramePr>
            <a:graphicFrameLocks noGrp="1"/>
          </p:cNvGraphicFramePr>
          <p:nvPr>
            <p:custDataLst>
              <p:tags r:id="rId1"/>
            </p:custDataLst>
          </p:nvPr>
        </p:nvGraphicFramePr>
        <p:xfrm>
          <a:off x="838200" y="4828540"/>
          <a:ext cx="10810240" cy="1600200"/>
        </p:xfrm>
        <a:graphic>
          <a:graphicData uri="http://schemas.openxmlformats.org/drawingml/2006/table">
            <a:tbl>
              <a:tblPr/>
              <a:tblGrid>
                <a:gridCol w="1413510"/>
                <a:gridCol w="4096385"/>
                <a:gridCol w="5300345"/>
              </a:tblGrid>
              <a:tr h="400050">
                <a:tc>
                  <a:txBody>
                    <a:bodyPr/>
                    <a:lstStyle/>
                    <a:p>
                      <a:pPr algn="ctr">
                        <a:spcAft>
                          <a:spcPts val="0"/>
                        </a:spcAft>
                      </a:pPr>
                      <a:r>
                        <a:rPr lang="zh-CN" sz="2000" b="1" kern="100" dirty="0">
                          <a:latin typeface="Times New Roman" panose="02020603050405020304"/>
                          <a:ea typeface="宋体" panose="02010600030101010101" pitchFamily="2" charset="-122"/>
                        </a:rPr>
                        <a:t>组件</a:t>
                      </a:r>
                      <a:endParaRPr lang="zh-CN" sz="2000" b="1" kern="100" dirty="0">
                        <a:latin typeface="Times New Roman" panose="02020603050405020304"/>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b="1" kern="100" dirty="0">
                          <a:latin typeface="Times New Roman" panose="02020603050405020304"/>
                          <a:ea typeface="宋体" panose="02010600030101010101" pitchFamily="2" charset="-122"/>
                        </a:rPr>
                        <a:t>Hadoop1.0</a:t>
                      </a:r>
                      <a:r>
                        <a:rPr lang="zh-CN" sz="2000" b="1" kern="100" dirty="0">
                          <a:latin typeface="Times New Roman" panose="02020603050405020304"/>
                          <a:ea typeface="宋体" panose="02010600030101010101" pitchFamily="2" charset="-122"/>
                        </a:rPr>
                        <a:t>的问题</a:t>
                      </a:r>
                      <a:endParaRPr lang="zh-CN" sz="2000" b="1" kern="100" dirty="0">
                        <a:latin typeface="Times New Roman" panose="02020603050405020304"/>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b="1" kern="100" dirty="0">
                          <a:latin typeface="Times New Roman" panose="02020603050405020304"/>
                          <a:ea typeface="宋体" panose="02010600030101010101" pitchFamily="2" charset="-122"/>
                        </a:rPr>
                        <a:t>Hadoop2.0</a:t>
                      </a:r>
                      <a:r>
                        <a:rPr lang="zh-CN" sz="2000" b="1" kern="100" dirty="0">
                          <a:latin typeface="Times New Roman" panose="02020603050405020304"/>
                          <a:ea typeface="宋体" panose="02010600030101010101" pitchFamily="2" charset="-122"/>
                        </a:rPr>
                        <a:t>的改进</a:t>
                      </a:r>
                      <a:endParaRPr lang="zh-CN" sz="2000" b="1" kern="100" dirty="0">
                        <a:latin typeface="Times New Roman" panose="02020603050405020304"/>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0050">
                <a:tc>
                  <a:txBody>
                    <a:bodyPr/>
                    <a:lstStyle/>
                    <a:p>
                      <a:pPr algn="l">
                        <a:spcAft>
                          <a:spcPts val="0"/>
                        </a:spcAft>
                      </a:pPr>
                      <a:r>
                        <a:rPr lang="en-US" sz="2000" kern="100">
                          <a:latin typeface="Times New Roman" panose="02020603050405020304"/>
                          <a:ea typeface="宋体" panose="02010600030101010101" pitchFamily="2" charset="-122"/>
                        </a:rPr>
                        <a:t>HDFS</a:t>
                      </a:r>
                      <a:endParaRPr lang="zh-CN" sz="2000" kern="100">
                        <a:latin typeface="Times New Roman" panose="02020603050405020304"/>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2000" kern="100" dirty="0">
                          <a:latin typeface="Times New Roman" panose="02020603050405020304"/>
                          <a:ea typeface="宋体" panose="02010600030101010101" pitchFamily="2" charset="-122"/>
                        </a:rPr>
                        <a:t>单一名称节点，存在单点</a:t>
                      </a:r>
                      <a:r>
                        <a:rPr lang="zh-CN" altLang="en-US" sz="2000" kern="100" dirty="0">
                          <a:latin typeface="Times New Roman" panose="02020603050405020304"/>
                          <a:ea typeface="宋体" panose="02010600030101010101" pitchFamily="2" charset="-122"/>
                        </a:rPr>
                        <a:t>失效</a:t>
                      </a:r>
                      <a:r>
                        <a:rPr lang="zh-CN" sz="2000" kern="100" dirty="0">
                          <a:latin typeface="Times New Roman" panose="02020603050405020304"/>
                          <a:ea typeface="宋体" panose="02010600030101010101" pitchFamily="2" charset="-122"/>
                        </a:rPr>
                        <a:t>问题</a:t>
                      </a:r>
                      <a:endParaRPr lang="zh-CN" sz="2000" kern="100" dirty="0">
                        <a:latin typeface="Times New Roman" panose="02020603050405020304"/>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2000" kern="100" dirty="0">
                          <a:latin typeface="Times New Roman" panose="02020603050405020304"/>
                          <a:ea typeface="宋体" panose="02010600030101010101" pitchFamily="2" charset="-122"/>
                        </a:rPr>
                        <a:t>设计了</a:t>
                      </a:r>
                      <a:r>
                        <a:rPr lang="en-US" sz="2000" kern="100" dirty="0">
                          <a:latin typeface="Times New Roman" panose="02020603050405020304"/>
                          <a:ea typeface="宋体" panose="02010600030101010101" pitchFamily="2" charset="-122"/>
                        </a:rPr>
                        <a:t>HDFS HA</a:t>
                      </a:r>
                      <a:r>
                        <a:rPr lang="zh-CN" sz="2000" kern="100" dirty="0">
                          <a:latin typeface="Times New Roman" panose="02020603050405020304"/>
                          <a:ea typeface="宋体" panose="02010600030101010101" pitchFamily="2" charset="-122"/>
                        </a:rPr>
                        <a:t>，提供名称节点热备机制</a:t>
                      </a:r>
                      <a:endParaRPr lang="zh-CN" sz="2000" kern="100" dirty="0">
                        <a:latin typeface="Times New Roman" panose="02020603050405020304"/>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0050">
                <a:tc>
                  <a:txBody>
                    <a:bodyPr/>
                    <a:lstStyle/>
                    <a:p>
                      <a:pPr algn="l">
                        <a:spcAft>
                          <a:spcPts val="0"/>
                        </a:spcAft>
                      </a:pPr>
                      <a:r>
                        <a:rPr lang="en-US" sz="2000" kern="100">
                          <a:latin typeface="Times New Roman" panose="02020603050405020304"/>
                          <a:ea typeface="宋体" panose="02010600030101010101" pitchFamily="2" charset="-122"/>
                        </a:rPr>
                        <a:t>HDFS</a:t>
                      </a:r>
                      <a:endParaRPr lang="zh-CN" sz="2000" kern="100">
                        <a:latin typeface="Times New Roman" panose="02020603050405020304"/>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2000" kern="100">
                          <a:latin typeface="Times New Roman" panose="02020603050405020304"/>
                          <a:ea typeface="宋体" panose="02010600030101010101" pitchFamily="2" charset="-122"/>
                        </a:rPr>
                        <a:t>单一命名空间，无法实现资源隔离</a:t>
                      </a:r>
                      <a:endParaRPr lang="zh-CN" sz="2000" kern="100">
                        <a:latin typeface="Times New Roman" panose="02020603050405020304"/>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2000" kern="100" dirty="0">
                          <a:latin typeface="Times New Roman" panose="02020603050405020304"/>
                          <a:ea typeface="宋体" panose="02010600030101010101" pitchFamily="2" charset="-122"/>
                        </a:rPr>
                        <a:t>设计了</a:t>
                      </a:r>
                      <a:r>
                        <a:rPr lang="en-US" sz="2000" kern="100" dirty="0">
                          <a:latin typeface="Times New Roman" panose="02020603050405020304"/>
                          <a:ea typeface="宋体" panose="02010600030101010101" pitchFamily="2" charset="-122"/>
                        </a:rPr>
                        <a:t>HDFS Federation</a:t>
                      </a:r>
                      <a:r>
                        <a:rPr lang="zh-CN" sz="2000" kern="100" dirty="0">
                          <a:latin typeface="Times New Roman" panose="02020603050405020304"/>
                          <a:ea typeface="宋体" panose="02010600030101010101" pitchFamily="2" charset="-122"/>
                        </a:rPr>
                        <a:t>，管理多个命名空间</a:t>
                      </a:r>
                      <a:endParaRPr lang="zh-CN" sz="2000" kern="100" dirty="0">
                        <a:latin typeface="Times New Roman" panose="02020603050405020304"/>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0050">
                <a:tc>
                  <a:txBody>
                    <a:bodyPr/>
                    <a:lstStyle/>
                    <a:p>
                      <a:pPr algn="l">
                        <a:spcAft>
                          <a:spcPts val="0"/>
                        </a:spcAft>
                      </a:pPr>
                      <a:r>
                        <a:rPr lang="en-US" sz="2000" kern="100">
                          <a:latin typeface="Times New Roman" panose="02020603050405020304"/>
                          <a:ea typeface="宋体" panose="02010600030101010101" pitchFamily="2" charset="-122"/>
                        </a:rPr>
                        <a:t>MapReduce</a:t>
                      </a:r>
                      <a:endParaRPr lang="zh-CN" sz="2000" kern="100">
                        <a:latin typeface="Times New Roman" panose="02020603050405020304"/>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2000" kern="100">
                          <a:latin typeface="Times New Roman" panose="02020603050405020304"/>
                          <a:ea typeface="宋体" panose="02010600030101010101" pitchFamily="2" charset="-122"/>
                        </a:rPr>
                        <a:t>资源管理效率低</a:t>
                      </a:r>
                      <a:endParaRPr lang="zh-CN" sz="2000" kern="100">
                        <a:latin typeface="Times New Roman" panose="02020603050405020304"/>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2000" kern="100" dirty="0">
                          <a:latin typeface="Times New Roman" panose="02020603050405020304"/>
                          <a:ea typeface="宋体" panose="02010600030101010101" pitchFamily="2" charset="-122"/>
                        </a:rPr>
                        <a:t>设计了新的资源管理框架</a:t>
                      </a:r>
                      <a:r>
                        <a:rPr lang="en-US" sz="2000" kern="100" dirty="0">
                          <a:latin typeface="Times New Roman" panose="02020603050405020304"/>
                          <a:ea typeface="宋体" panose="02010600030101010101" pitchFamily="2" charset="-122"/>
                        </a:rPr>
                        <a:t>YARN</a:t>
                      </a:r>
                      <a:endParaRPr lang="zh-CN" sz="2000" kern="100" dirty="0">
                        <a:latin typeface="Times New Roman" panose="02020603050405020304"/>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0265" name="Rectangle 1"/>
          <p:cNvSpPr/>
          <p:nvPr/>
        </p:nvSpPr>
        <p:spPr>
          <a:xfrm>
            <a:off x="3150870" y="4287997"/>
            <a:ext cx="6096000" cy="460375"/>
          </a:xfrm>
          <a:prstGeom prst="rect">
            <a:avLst/>
          </a:prstGeom>
          <a:noFill/>
          <a:ln w="9525">
            <a:noFill/>
          </a:ln>
        </p:spPr>
        <p:txBody>
          <a:bodyPr anchor="ctr" anchorCtr="0">
            <a:spAutoFit/>
          </a:bodyPr>
          <a:lstStyle/>
          <a:p>
            <a:pPr algn="ctr" eaLnBrk="0" hangingPunct="0"/>
            <a:r>
              <a:rPr lang="en-US" altLang="zh-CN" sz="2400" dirty="0">
                <a:latin typeface="Times New Roman" panose="02020603050405020304" pitchFamily="18" charset="0"/>
                <a:cs typeface="Times New Roman" panose="02020603050405020304" pitchFamily="18" charset="0"/>
              </a:rPr>
              <a:t>Hadoop</a:t>
            </a:r>
            <a:r>
              <a:rPr lang="zh-CN" altLang="en-US" sz="2400" dirty="0">
                <a:latin typeface="Times New Roman" panose="02020603050405020304" pitchFamily="18" charset="0"/>
                <a:cs typeface="Times New Roman" panose="02020603050405020304" pitchFamily="18" charset="0"/>
              </a:rPr>
              <a:t>框架自身的改进：从</a:t>
            </a:r>
            <a:r>
              <a:rPr lang="en-US" altLang="zh-CN" sz="2400" dirty="0">
                <a:latin typeface="Times New Roman" panose="02020603050405020304" pitchFamily="18" charset="0"/>
                <a:cs typeface="Times New Roman" panose="02020603050405020304" pitchFamily="18" charset="0"/>
              </a:rPr>
              <a:t>1.0</a:t>
            </a:r>
            <a:r>
              <a:rPr lang="zh-CN" altLang="en-US" sz="2400" dirty="0">
                <a:latin typeface="Times New Roman" panose="02020603050405020304" pitchFamily="18" charset="0"/>
                <a:cs typeface="Times New Roman" panose="02020603050405020304" pitchFamily="18" charset="0"/>
              </a:rPr>
              <a:t>到</a:t>
            </a:r>
            <a:r>
              <a:rPr lang="en-US" altLang="zh-CN" sz="2400" dirty="0">
                <a:latin typeface="Times New Roman" panose="02020603050405020304" pitchFamily="18" charset="0"/>
                <a:cs typeface="Times New Roman" panose="02020603050405020304" pitchFamily="18" charset="0"/>
              </a:rPr>
              <a:t>2.0</a:t>
            </a:r>
            <a:endParaRPr lang="en-US" altLang="zh-CN" sz="2400"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2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5" grpId="0"/>
      <p:bldP spid="10265"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p:txBody>
          <a:bodyPr vert="horz" wrap="square" lIns="91440" tIns="45720" rIns="91440" bIns="45720" anchor="ctr" anchorCtr="0"/>
          <a:lstStyle/>
          <a:p>
            <a:r>
              <a:rPr lang="en-US" altLang="zh-CN" b="1" dirty="0"/>
              <a:t>8.</a:t>
            </a:r>
            <a:r>
              <a:rPr lang="zh-CN" altLang="zh-CN" b="1" dirty="0"/>
              <a:t>1.2</a:t>
            </a:r>
            <a:r>
              <a:rPr lang="zh-CN" altLang="en-US" b="1" dirty="0"/>
              <a:t>针对</a:t>
            </a:r>
            <a:r>
              <a:rPr lang="zh-CN" altLang="zh-CN" b="1" dirty="0"/>
              <a:t>Hadoop</a:t>
            </a:r>
            <a:r>
              <a:rPr lang="zh-CN" altLang="en-US" b="1" dirty="0"/>
              <a:t>的改进与提升</a:t>
            </a:r>
            <a:endParaRPr lang="zh-CN" altLang="en-US" dirty="0"/>
          </a:p>
        </p:txBody>
      </p:sp>
      <p:graphicFrame>
        <p:nvGraphicFramePr>
          <p:cNvPr id="3" name="表格 2"/>
          <p:cNvGraphicFramePr>
            <a:graphicFrameLocks noGrp="1"/>
          </p:cNvGraphicFramePr>
          <p:nvPr>
            <p:custDataLst>
              <p:tags r:id="rId1"/>
            </p:custDataLst>
          </p:nvPr>
        </p:nvGraphicFramePr>
        <p:xfrm>
          <a:off x="932180" y="2000250"/>
          <a:ext cx="10421620" cy="3763010"/>
        </p:xfrm>
        <a:graphic>
          <a:graphicData uri="http://schemas.openxmlformats.org/drawingml/2006/table">
            <a:tbl>
              <a:tblPr/>
              <a:tblGrid>
                <a:gridCol w="1010285"/>
                <a:gridCol w="4932045"/>
                <a:gridCol w="4479290"/>
              </a:tblGrid>
              <a:tr h="280035">
                <a:tc>
                  <a:txBody>
                    <a:bodyPr/>
                    <a:lstStyle/>
                    <a:p>
                      <a:pPr algn="ctr">
                        <a:spcAft>
                          <a:spcPts val="0"/>
                        </a:spcAft>
                      </a:pPr>
                      <a:r>
                        <a:rPr lang="zh-CN" sz="1800" b="1" kern="100" dirty="0">
                          <a:latin typeface="Times New Roman" panose="02020603050405020304"/>
                          <a:ea typeface="宋体" panose="02010600030101010101" pitchFamily="2" charset="-122"/>
                        </a:rPr>
                        <a:t>组件</a:t>
                      </a:r>
                      <a:endParaRPr lang="zh-CN" sz="1800" b="1" kern="100" dirty="0">
                        <a:latin typeface="Times New Roman" panose="02020603050405020304"/>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b="1" kern="100" dirty="0">
                          <a:latin typeface="Times New Roman" panose="02020603050405020304"/>
                          <a:ea typeface="宋体" panose="02010600030101010101" pitchFamily="2" charset="-122"/>
                        </a:rPr>
                        <a:t>功能</a:t>
                      </a:r>
                      <a:endParaRPr lang="zh-CN" sz="1800" b="1" kern="100" dirty="0">
                        <a:latin typeface="Times New Roman" panose="02020603050405020304"/>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b="1" kern="100" dirty="0">
                          <a:latin typeface="Times New Roman" panose="02020603050405020304"/>
                          <a:ea typeface="宋体" panose="02010600030101010101" pitchFamily="2" charset="-122"/>
                        </a:rPr>
                        <a:t>解决</a:t>
                      </a:r>
                      <a:r>
                        <a:rPr lang="en-US" sz="1800" b="1" kern="100" dirty="0" err="1">
                          <a:latin typeface="Times New Roman" panose="02020603050405020304"/>
                          <a:ea typeface="宋体" panose="02010600030101010101" pitchFamily="2" charset="-122"/>
                        </a:rPr>
                        <a:t>Hadoop</a:t>
                      </a:r>
                      <a:r>
                        <a:rPr lang="zh-CN" sz="1800" b="1" kern="100" dirty="0">
                          <a:latin typeface="Times New Roman" panose="02020603050405020304"/>
                          <a:ea typeface="宋体" panose="02010600030101010101" pitchFamily="2" charset="-122"/>
                        </a:rPr>
                        <a:t>中存在的问题</a:t>
                      </a:r>
                      <a:endParaRPr lang="zh-CN" sz="1800" b="1" kern="100" dirty="0">
                        <a:latin typeface="Times New Roman" panose="02020603050405020304"/>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39470">
                <a:tc>
                  <a:txBody>
                    <a:bodyPr/>
                    <a:lstStyle/>
                    <a:p>
                      <a:pPr algn="l">
                        <a:spcAft>
                          <a:spcPts val="0"/>
                        </a:spcAft>
                      </a:pPr>
                      <a:r>
                        <a:rPr lang="en-US" sz="1800" kern="100">
                          <a:latin typeface="Times New Roman" panose="02020603050405020304"/>
                          <a:ea typeface="宋体" panose="02010600030101010101" pitchFamily="2" charset="-122"/>
                        </a:rPr>
                        <a:t>Pig</a:t>
                      </a:r>
                      <a:endParaRPr lang="zh-CN" sz="1800" kern="100">
                        <a:latin typeface="Times New Roman" panose="02020603050405020304"/>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100" dirty="0">
                          <a:latin typeface="Times New Roman" panose="02020603050405020304"/>
                          <a:ea typeface="宋体" panose="02010600030101010101" pitchFamily="2" charset="-122"/>
                        </a:rPr>
                        <a:t>处理大规模数据的脚本语言，用户只需要编写几条简单的语句，系统会</a:t>
                      </a:r>
                      <a:r>
                        <a:rPr lang="zh-CN" sz="1800" kern="100" dirty="0">
                          <a:highlight>
                            <a:srgbClr val="FFFF00"/>
                          </a:highlight>
                          <a:latin typeface="Times New Roman" panose="02020603050405020304"/>
                          <a:ea typeface="宋体" panose="02010600030101010101" pitchFamily="2" charset="-122"/>
                        </a:rPr>
                        <a:t>自动转换</a:t>
                      </a:r>
                      <a:r>
                        <a:rPr lang="zh-CN" sz="1800" kern="100" dirty="0">
                          <a:latin typeface="Times New Roman" panose="02020603050405020304"/>
                          <a:ea typeface="宋体" panose="02010600030101010101" pitchFamily="2" charset="-122"/>
                        </a:rPr>
                        <a:t>为</a:t>
                      </a:r>
                      <a:r>
                        <a:rPr lang="en-US" sz="1800" kern="100" dirty="0" err="1">
                          <a:latin typeface="Times New Roman" panose="02020603050405020304"/>
                          <a:ea typeface="宋体" panose="02010600030101010101" pitchFamily="2" charset="-122"/>
                        </a:rPr>
                        <a:t>MapReduce</a:t>
                      </a:r>
                      <a:r>
                        <a:rPr lang="zh-CN" sz="1800" kern="100" dirty="0">
                          <a:latin typeface="Times New Roman" panose="02020603050405020304"/>
                          <a:ea typeface="宋体" panose="02010600030101010101" pitchFamily="2" charset="-122"/>
                        </a:rPr>
                        <a:t>作业</a:t>
                      </a:r>
                      <a:endParaRPr lang="zh-CN" sz="1800" kern="100" dirty="0">
                        <a:latin typeface="Times New Roman" panose="02020603050405020304"/>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100">
                          <a:latin typeface="Times New Roman" panose="02020603050405020304"/>
                          <a:ea typeface="宋体" panose="02010600030101010101" pitchFamily="2" charset="-122"/>
                        </a:rPr>
                        <a:t>抽象层次低，需要手工编写大量代码</a:t>
                      </a:r>
                      <a:endParaRPr lang="zh-CN" sz="1800" kern="100">
                        <a:latin typeface="Times New Roman" panose="02020603050405020304"/>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5155">
                <a:tc>
                  <a:txBody>
                    <a:bodyPr/>
                    <a:lstStyle/>
                    <a:p>
                      <a:pPr algn="l">
                        <a:spcAft>
                          <a:spcPts val="0"/>
                        </a:spcAft>
                      </a:pPr>
                      <a:r>
                        <a:rPr lang="en-US" sz="1800" kern="100" dirty="0" err="1">
                          <a:latin typeface="Times New Roman" panose="02020603050405020304"/>
                          <a:ea typeface="宋体" panose="02010600030101010101" pitchFamily="2" charset="-122"/>
                        </a:rPr>
                        <a:t>Oozie</a:t>
                      </a:r>
                      <a:endParaRPr lang="zh-CN" sz="1800" kern="100" dirty="0">
                        <a:latin typeface="Times New Roman" panose="02020603050405020304"/>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100" dirty="0">
                          <a:highlight>
                            <a:srgbClr val="FFFF00"/>
                          </a:highlight>
                          <a:latin typeface="Times New Roman" panose="02020603050405020304"/>
                          <a:ea typeface="宋体" panose="02010600030101010101" pitchFamily="2" charset="-122"/>
                        </a:rPr>
                        <a:t>工作流和协作服务引擎</a:t>
                      </a:r>
                      <a:r>
                        <a:rPr lang="zh-CN" sz="1800" kern="100" dirty="0">
                          <a:latin typeface="Times New Roman" panose="02020603050405020304"/>
                          <a:ea typeface="宋体" panose="02010600030101010101" pitchFamily="2" charset="-122"/>
                        </a:rPr>
                        <a:t>，协调</a:t>
                      </a:r>
                      <a:r>
                        <a:rPr lang="en-US" sz="1800" kern="100" dirty="0" err="1">
                          <a:latin typeface="Times New Roman" panose="02020603050405020304"/>
                          <a:ea typeface="宋体" panose="02010600030101010101" pitchFamily="2" charset="-122"/>
                        </a:rPr>
                        <a:t>Hadoop</a:t>
                      </a:r>
                      <a:r>
                        <a:rPr lang="zh-CN" sz="1800" kern="100" dirty="0">
                          <a:latin typeface="Times New Roman" panose="02020603050405020304"/>
                          <a:ea typeface="宋体" panose="02010600030101010101" pitchFamily="2" charset="-122"/>
                        </a:rPr>
                        <a:t>上运行的不同任务</a:t>
                      </a:r>
                      <a:endParaRPr lang="zh-CN" sz="1800" kern="100" dirty="0">
                        <a:latin typeface="Times New Roman" panose="02020603050405020304"/>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100" dirty="0">
                          <a:latin typeface="Times New Roman" panose="02020603050405020304"/>
                          <a:ea typeface="宋体" panose="02010600030101010101" pitchFamily="2" charset="-122"/>
                        </a:rPr>
                        <a:t>没有提供</a:t>
                      </a:r>
                      <a:r>
                        <a:rPr lang="zh-CN" altLang="en-US" sz="1800" kern="100" dirty="0">
                          <a:latin typeface="Times New Roman" panose="02020603050405020304"/>
                          <a:ea typeface="宋体" panose="02010600030101010101" pitchFamily="2" charset="-122"/>
                        </a:rPr>
                        <a:t>作业（</a:t>
                      </a:r>
                      <a:r>
                        <a:rPr lang="en-US" sz="1800" kern="100" dirty="0">
                          <a:latin typeface="Times New Roman" panose="02020603050405020304"/>
                          <a:ea typeface="宋体" panose="02010600030101010101" pitchFamily="2" charset="-122"/>
                        </a:rPr>
                        <a:t>Job</a:t>
                      </a:r>
                      <a:r>
                        <a:rPr lang="zh-CN" altLang="en-US" sz="1800" kern="100" dirty="0">
                          <a:latin typeface="Times New Roman" panose="02020603050405020304"/>
                          <a:ea typeface="宋体" panose="02010600030101010101" pitchFamily="2" charset="-122"/>
                        </a:rPr>
                        <a:t>）之间</a:t>
                      </a:r>
                      <a:r>
                        <a:rPr lang="zh-CN" sz="1800" kern="100" dirty="0">
                          <a:latin typeface="Times New Roman" panose="02020603050405020304"/>
                          <a:ea typeface="宋体" panose="02010600030101010101" pitchFamily="2" charset="-122"/>
                        </a:rPr>
                        <a:t>依赖关系管理机制，需要用户自己处理</a:t>
                      </a:r>
                      <a:r>
                        <a:rPr lang="zh-CN" altLang="en-US" sz="1800" kern="100" dirty="0">
                          <a:latin typeface="Times New Roman" panose="02020603050405020304"/>
                          <a:ea typeface="+mn-ea"/>
                        </a:rPr>
                        <a:t>作业</a:t>
                      </a:r>
                      <a:r>
                        <a:rPr lang="zh-CN" sz="1800" kern="100" dirty="0">
                          <a:latin typeface="Times New Roman" panose="02020603050405020304"/>
                          <a:ea typeface="宋体" panose="02010600030101010101" pitchFamily="2" charset="-122"/>
                        </a:rPr>
                        <a:t>之间依赖关系</a:t>
                      </a:r>
                      <a:endParaRPr lang="zh-CN" sz="1800" kern="100" dirty="0">
                        <a:latin typeface="Times New Roman" panose="02020603050405020304"/>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39470">
                <a:tc>
                  <a:txBody>
                    <a:bodyPr/>
                    <a:lstStyle/>
                    <a:p>
                      <a:pPr algn="l">
                        <a:spcAft>
                          <a:spcPts val="0"/>
                        </a:spcAft>
                      </a:pPr>
                      <a:r>
                        <a:rPr lang="en-US" sz="1800" kern="100">
                          <a:latin typeface="Times New Roman" panose="02020603050405020304"/>
                          <a:ea typeface="宋体" panose="02010600030101010101" pitchFamily="2" charset="-122"/>
                        </a:rPr>
                        <a:t>Tez</a:t>
                      </a:r>
                      <a:endParaRPr lang="zh-CN" sz="1800" kern="100">
                        <a:latin typeface="Times New Roman" panose="02020603050405020304"/>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100" dirty="0">
                          <a:latin typeface="Times New Roman" panose="02020603050405020304"/>
                          <a:ea typeface="宋体" panose="02010600030101010101" pitchFamily="2" charset="-122"/>
                        </a:rPr>
                        <a:t>支持</a:t>
                      </a:r>
                      <a:r>
                        <a:rPr lang="en-US" sz="1800" kern="100" dirty="0">
                          <a:highlight>
                            <a:srgbClr val="FFFF00"/>
                          </a:highlight>
                          <a:latin typeface="Times New Roman" panose="02020603050405020304"/>
                          <a:ea typeface="宋体" panose="02010600030101010101" pitchFamily="2" charset="-122"/>
                        </a:rPr>
                        <a:t>DAG</a:t>
                      </a:r>
                      <a:r>
                        <a:rPr lang="zh-CN" sz="1800" kern="100" dirty="0">
                          <a:highlight>
                            <a:srgbClr val="FFFF00"/>
                          </a:highlight>
                          <a:latin typeface="Times New Roman" panose="02020603050405020304"/>
                          <a:ea typeface="宋体" panose="02010600030101010101" pitchFamily="2" charset="-122"/>
                        </a:rPr>
                        <a:t>作业的计算框架</a:t>
                      </a:r>
                      <a:r>
                        <a:rPr lang="zh-CN" sz="1800" kern="100" dirty="0">
                          <a:latin typeface="Times New Roman" panose="02020603050405020304"/>
                          <a:ea typeface="宋体" panose="02010600030101010101" pitchFamily="2" charset="-122"/>
                        </a:rPr>
                        <a:t>，对</a:t>
                      </a:r>
                      <a:r>
                        <a:rPr lang="zh-CN" altLang="en-US" sz="1800" kern="100" dirty="0">
                          <a:latin typeface="Times New Roman" panose="02020603050405020304"/>
                          <a:ea typeface="宋体" panose="02010600030101010101" pitchFamily="2" charset="-122"/>
                        </a:rPr>
                        <a:t>作业</a:t>
                      </a:r>
                      <a:r>
                        <a:rPr lang="zh-CN" sz="1800" kern="100" dirty="0">
                          <a:latin typeface="Times New Roman" panose="02020603050405020304"/>
                          <a:ea typeface="宋体" panose="02010600030101010101" pitchFamily="2" charset="-122"/>
                        </a:rPr>
                        <a:t>的操作进行重新分解和组合，形成一个大的</a:t>
                      </a:r>
                      <a:r>
                        <a:rPr lang="en-US" sz="1800" kern="100" dirty="0">
                          <a:latin typeface="Times New Roman" panose="02020603050405020304"/>
                          <a:ea typeface="宋体" panose="02010600030101010101" pitchFamily="2" charset="-122"/>
                        </a:rPr>
                        <a:t>DAG</a:t>
                      </a:r>
                      <a:r>
                        <a:rPr lang="zh-CN" sz="1800" kern="100" dirty="0">
                          <a:latin typeface="Times New Roman" panose="02020603050405020304"/>
                          <a:ea typeface="宋体" panose="02010600030101010101" pitchFamily="2" charset="-122"/>
                        </a:rPr>
                        <a:t>作业，减少不必要操作</a:t>
                      </a:r>
                      <a:endParaRPr lang="zh-CN" sz="1800" kern="100" dirty="0">
                        <a:latin typeface="Times New Roman" panose="02020603050405020304"/>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100">
                          <a:latin typeface="Times New Roman" panose="02020603050405020304"/>
                          <a:ea typeface="宋体" panose="02010600030101010101" pitchFamily="2" charset="-122"/>
                        </a:rPr>
                        <a:t>不同的</a:t>
                      </a:r>
                      <a:r>
                        <a:rPr lang="en-US" sz="1800" kern="100">
                          <a:latin typeface="Times New Roman" panose="02020603050405020304"/>
                          <a:ea typeface="宋体" panose="02010600030101010101" pitchFamily="2" charset="-122"/>
                        </a:rPr>
                        <a:t>MapReduce</a:t>
                      </a:r>
                      <a:r>
                        <a:rPr lang="zh-CN" sz="1800" kern="100">
                          <a:latin typeface="Times New Roman" panose="02020603050405020304"/>
                          <a:ea typeface="宋体" panose="02010600030101010101" pitchFamily="2" charset="-122"/>
                        </a:rPr>
                        <a:t>任务之间存在重复操作，降低了效率</a:t>
                      </a:r>
                      <a:endParaRPr lang="zh-CN" sz="1800" kern="100">
                        <a:latin typeface="Times New Roman" panose="02020603050405020304"/>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98880">
                <a:tc>
                  <a:txBody>
                    <a:bodyPr/>
                    <a:lstStyle/>
                    <a:p>
                      <a:pPr algn="l">
                        <a:spcAft>
                          <a:spcPts val="0"/>
                        </a:spcAft>
                      </a:pPr>
                      <a:r>
                        <a:rPr lang="en-US" sz="1800" kern="100">
                          <a:latin typeface="Times New Roman" panose="02020603050405020304"/>
                          <a:ea typeface="宋体" panose="02010600030101010101" pitchFamily="2" charset="-122"/>
                        </a:rPr>
                        <a:t>Kafka</a:t>
                      </a:r>
                      <a:endParaRPr lang="zh-CN" sz="1800" kern="100">
                        <a:latin typeface="Times New Roman" panose="02020603050405020304"/>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altLang="zh-CN" sz="1800" kern="1200" dirty="0">
                          <a:solidFill>
                            <a:schemeClr val="tx1"/>
                          </a:solidFill>
                          <a:latin typeface="+mn-lt"/>
                          <a:ea typeface="+mn-ea"/>
                          <a:cs typeface="+mn-cs"/>
                        </a:rPr>
                        <a:t>分布式发布订阅消息系统，一般作为</a:t>
                      </a:r>
                      <a:r>
                        <a:rPr lang="zh-CN" altLang="en-US" sz="1800" kern="1200" dirty="0">
                          <a:solidFill>
                            <a:schemeClr val="tx1"/>
                          </a:solidFill>
                          <a:latin typeface="+mn-lt"/>
                          <a:ea typeface="+mn-ea"/>
                          <a:cs typeface="+mn-cs"/>
                        </a:rPr>
                        <a:t>企业大数据</a:t>
                      </a:r>
                      <a:r>
                        <a:rPr lang="zh-CN" altLang="zh-CN" sz="1800" kern="1200" dirty="0">
                          <a:solidFill>
                            <a:schemeClr val="tx1"/>
                          </a:solidFill>
                          <a:latin typeface="+mn-lt"/>
                          <a:ea typeface="+mn-ea"/>
                          <a:cs typeface="+mn-cs"/>
                        </a:rPr>
                        <a:t>分析平台的数据交换枢纽</a:t>
                      </a:r>
                      <a:r>
                        <a:rPr lang="zh-CN" sz="1800" kern="100" dirty="0">
                          <a:latin typeface="Times New Roman" panose="02020603050405020304"/>
                          <a:ea typeface="宋体" panose="02010600030101010101" pitchFamily="2" charset="-122"/>
                        </a:rPr>
                        <a:t>，不同类型的分布式系统可以统一接入到</a:t>
                      </a:r>
                      <a:r>
                        <a:rPr lang="en-US" sz="1800" kern="100" dirty="0">
                          <a:latin typeface="Times New Roman" panose="02020603050405020304"/>
                          <a:ea typeface="宋体" panose="02010600030101010101" pitchFamily="2" charset="-122"/>
                        </a:rPr>
                        <a:t>Kafka</a:t>
                      </a:r>
                      <a:r>
                        <a:rPr lang="zh-CN" sz="1800" kern="100" dirty="0">
                          <a:latin typeface="Times New Roman" panose="02020603050405020304"/>
                          <a:ea typeface="宋体" panose="02010600030101010101" pitchFamily="2" charset="-122"/>
                        </a:rPr>
                        <a:t>，实现和</a:t>
                      </a:r>
                      <a:r>
                        <a:rPr lang="en-US" sz="1800" kern="100" dirty="0" err="1">
                          <a:latin typeface="Times New Roman" panose="02020603050405020304"/>
                          <a:ea typeface="宋体" panose="02010600030101010101" pitchFamily="2" charset="-122"/>
                        </a:rPr>
                        <a:t>Hadoop</a:t>
                      </a:r>
                      <a:r>
                        <a:rPr lang="zh-CN" sz="1800" kern="100" dirty="0">
                          <a:latin typeface="Times New Roman" panose="02020603050405020304"/>
                          <a:ea typeface="宋体" panose="02010600030101010101" pitchFamily="2" charset="-122"/>
                        </a:rPr>
                        <a:t>各个组件之间的</a:t>
                      </a:r>
                      <a:r>
                        <a:rPr lang="zh-CN" sz="1800" kern="100" dirty="0">
                          <a:highlight>
                            <a:srgbClr val="FFFF00"/>
                          </a:highlight>
                          <a:latin typeface="Times New Roman" panose="02020603050405020304"/>
                          <a:ea typeface="宋体" panose="02010600030101010101" pitchFamily="2" charset="-122"/>
                        </a:rPr>
                        <a:t>不同类型数据的实时高效交换</a:t>
                      </a:r>
                      <a:endParaRPr lang="zh-CN" sz="1800" kern="100" dirty="0">
                        <a:highlight>
                          <a:srgbClr val="FFFF00"/>
                        </a:highlight>
                        <a:latin typeface="Times New Roman" panose="02020603050405020304"/>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800" kern="100" dirty="0" err="1">
                          <a:latin typeface="Times New Roman" panose="02020603050405020304"/>
                          <a:ea typeface="宋体" panose="02010600030101010101" pitchFamily="2" charset="-122"/>
                        </a:rPr>
                        <a:t>Hadoop</a:t>
                      </a:r>
                      <a:r>
                        <a:rPr lang="zh-CN" sz="1800" kern="100" dirty="0">
                          <a:latin typeface="Times New Roman" panose="02020603050405020304"/>
                          <a:ea typeface="宋体" panose="02010600030101010101" pitchFamily="2" charset="-122"/>
                        </a:rPr>
                        <a:t>生态系统中各个组件和其他产品之间缺乏统一的、高效的数据交换中介</a:t>
                      </a:r>
                      <a:endParaRPr lang="zh-CN" sz="1800" kern="100" dirty="0">
                        <a:latin typeface="Times New Roman" panose="02020603050405020304"/>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1297" name="Rectangle 1"/>
          <p:cNvSpPr/>
          <p:nvPr/>
        </p:nvSpPr>
        <p:spPr>
          <a:xfrm>
            <a:off x="3352800" y="1441609"/>
            <a:ext cx="4953000" cy="460375"/>
          </a:xfrm>
          <a:prstGeom prst="rect">
            <a:avLst/>
          </a:prstGeom>
          <a:noFill/>
          <a:ln w="9525">
            <a:noFill/>
          </a:ln>
        </p:spPr>
        <p:txBody>
          <a:bodyPr anchor="ctr" anchorCtr="0">
            <a:spAutoFit/>
          </a:bodyPr>
          <a:lstStyle/>
          <a:p>
            <a:pPr algn="ctr" eaLnBrk="0" hangingPunct="0"/>
            <a:r>
              <a:rPr lang="zh-CN" altLang="en-US" sz="2400" dirty="0">
                <a:latin typeface="Times New Roman" panose="02020603050405020304" pitchFamily="18" charset="0"/>
                <a:cs typeface="Times New Roman" panose="02020603050405020304" pitchFamily="18" charset="0"/>
              </a:rPr>
              <a:t>不断完善的</a:t>
            </a:r>
            <a:r>
              <a:rPr lang="en-US" altLang="zh-CN" sz="2400" dirty="0">
                <a:latin typeface="Times New Roman" panose="02020603050405020304" pitchFamily="18" charset="0"/>
                <a:cs typeface="Times New Roman" panose="02020603050405020304" pitchFamily="18" charset="0"/>
              </a:rPr>
              <a:t>Hadoop</a:t>
            </a:r>
            <a:r>
              <a:rPr lang="zh-CN" altLang="en-US" sz="2400" dirty="0">
                <a:latin typeface="Times New Roman" panose="02020603050405020304" pitchFamily="18" charset="0"/>
                <a:cs typeface="Times New Roman" panose="02020603050405020304" pitchFamily="18" charset="0"/>
              </a:rPr>
              <a:t>生态系统</a:t>
            </a:r>
            <a:endParaRPr lang="zh-CN" altLang="en-US" sz="2400" dirty="0">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p:txBody>
          <a:bodyPr vert="horz" wrap="square" lIns="91440" tIns="45720" rIns="91440" bIns="45720" anchor="ctr" anchorCtr="0"/>
          <a:lstStyle/>
          <a:p>
            <a:r>
              <a:rPr lang="en-US" altLang="zh-CN" b="1" dirty="0"/>
              <a:t>8.</a:t>
            </a:r>
            <a:r>
              <a:rPr lang="zh-CN" altLang="zh-CN" b="1" dirty="0"/>
              <a:t>2HDFS2.0</a:t>
            </a:r>
            <a:r>
              <a:rPr lang="zh-CN" altLang="en-US" b="1" dirty="0"/>
              <a:t>的新特性</a:t>
            </a:r>
            <a:endParaRPr lang="zh-CN" altLang="en-US" dirty="0"/>
          </a:p>
        </p:txBody>
      </p:sp>
      <p:sp>
        <p:nvSpPr>
          <p:cNvPr id="12291" name="矩形 2"/>
          <p:cNvSpPr/>
          <p:nvPr/>
        </p:nvSpPr>
        <p:spPr>
          <a:xfrm>
            <a:off x="979170" y="1820545"/>
            <a:ext cx="4792345" cy="2061210"/>
          </a:xfrm>
          <a:prstGeom prst="rect">
            <a:avLst/>
          </a:prstGeom>
          <a:noFill/>
          <a:ln w="9525">
            <a:noFill/>
          </a:ln>
        </p:spPr>
        <p:txBody>
          <a:bodyPr wrap="square">
            <a:spAutoFit/>
          </a:bodyPr>
          <a:lstStyle/>
          <a:p>
            <a:pPr>
              <a:lnSpc>
                <a:spcPct val="200000"/>
              </a:lnSpc>
            </a:pPr>
            <a:r>
              <a:rPr lang="en-US" altLang="zh-CN" sz="3200" dirty="0">
                <a:latin typeface="Arial" panose="020B0604020202020204" pitchFamily="34" charset="0"/>
              </a:rPr>
              <a:t>8.</a:t>
            </a:r>
            <a:r>
              <a:rPr lang="zh-CN" altLang="zh-CN" sz="3200" dirty="0">
                <a:latin typeface="Arial" panose="020B0604020202020204" pitchFamily="34" charset="0"/>
              </a:rPr>
              <a:t>2.1</a:t>
            </a:r>
            <a:r>
              <a:rPr lang="en-US" altLang="zh-CN" sz="3200" dirty="0">
                <a:latin typeface="Arial" panose="020B0604020202020204" pitchFamily="34" charset="0"/>
              </a:rPr>
              <a:t> </a:t>
            </a:r>
            <a:r>
              <a:rPr lang="zh-CN" altLang="zh-CN" sz="3200" dirty="0">
                <a:latin typeface="Arial" panose="020B0604020202020204" pitchFamily="34" charset="0"/>
              </a:rPr>
              <a:t>HDFS HA</a:t>
            </a:r>
            <a:endParaRPr lang="en-US" altLang="zh-CN" sz="3200" dirty="0">
              <a:latin typeface="Arial" panose="020B0604020202020204" pitchFamily="34" charset="0"/>
            </a:endParaRPr>
          </a:p>
          <a:p>
            <a:pPr>
              <a:lnSpc>
                <a:spcPct val="200000"/>
              </a:lnSpc>
            </a:pPr>
            <a:r>
              <a:rPr lang="en-US" altLang="zh-CN" sz="3200" dirty="0">
                <a:latin typeface="Arial" panose="020B0604020202020204" pitchFamily="34" charset="0"/>
              </a:rPr>
              <a:t>8.</a:t>
            </a:r>
            <a:r>
              <a:rPr lang="zh-CN" altLang="zh-CN" sz="3200" dirty="0">
                <a:latin typeface="Arial" panose="020B0604020202020204" pitchFamily="34" charset="0"/>
              </a:rPr>
              <a:t>2.2</a:t>
            </a:r>
            <a:r>
              <a:rPr lang="en-US" altLang="zh-CN" sz="3200" dirty="0">
                <a:latin typeface="Arial" panose="020B0604020202020204" pitchFamily="34" charset="0"/>
              </a:rPr>
              <a:t> </a:t>
            </a:r>
            <a:r>
              <a:rPr lang="zh-CN" altLang="zh-CN" sz="3200" dirty="0">
                <a:latin typeface="Arial" panose="020B0604020202020204" pitchFamily="34" charset="0"/>
              </a:rPr>
              <a:t>HDFS Federation</a:t>
            </a:r>
            <a:endParaRPr lang="zh-CN" altLang="zh-CN" sz="3200" dirty="0">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p:txBody>
          <a:bodyPr vert="horz" wrap="square" lIns="91440" tIns="45720" rIns="91440" bIns="45720" anchor="ctr" anchorCtr="0"/>
          <a:lstStyle/>
          <a:p>
            <a:r>
              <a:rPr lang="en-US" altLang="zh-CN" b="1" dirty="0"/>
              <a:t>8.</a:t>
            </a:r>
            <a:r>
              <a:rPr lang="zh-CN" altLang="zh-CN" b="1" dirty="0"/>
              <a:t>2.1HDFS HA</a:t>
            </a:r>
            <a:endParaRPr lang="zh-CN" altLang="en-US" dirty="0"/>
          </a:p>
        </p:txBody>
      </p:sp>
      <p:pic>
        <p:nvPicPr>
          <p:cNvPr id="13315" name="Picture 2"/>
          <p:cNvPicPr>
            <a:picLocks noChangeAspect="1"/>
          </p:cNvPicPr>
          <p:nvPr/>
        </p:nvPicPr>
        <p:blipFill>
          <a:blip r:embed="rId1"/>
          <a:srcRect t="18423"/>
          <a:stretch>
            <a:fillRect/>
          </a:stretch>
        </p:blipFill>
        <p:spPr>
          <a:xfrm>
            <a:off x="3352800" y="2378075"/>
            <a:ext cx="6096000" cy="3711575"/>
          </a:xfrm>
          <a:prstGeom prst="rect">
            <a:avLst/>
          </a:prstGeom>
          <a:noFill/>
          <a:ln w="9525">
            <a:noFill/>
          </a:ln>
        </p:spPr>
      </p:pic>
      <p:pic>
        <p:nvPicPr>
          <p:cNvPr id="13316" name="Picture 3"/>
          <p:cNvPicPr>
            <a:picLocks noChangeAspect="1"/>
          </p:cNvPicPr>
          <p:nvPr>
            <p:custDataLst>
              <p:tags r:id="rId2"/>
            </p:custDataLst>
          </p:nvPr>
        </p:nvPicPr>
        <p:blipFill>
          <a:blip r:embed="rId3"/>
          <a:stretch>
            <a:fillRect/>
          </a:stretch>
        </p:blipFill>
        <p:spPr>
          <a:xfrm>
            <a:off x="1828800" y="3642360"/>
            <a:ext cx="1333500" cy="1814513"/>
          </a:xfrm>
          <a:prstGeom prst="rect">
            <a:avLst/>
          </a:prstGeom>
          <a:noFill/>
          <a:ln w="9525">
            <a:noFill/>
          </a:ln>
        </p:spPr>
      </p:pic>
      <p:sp>
        <p:nvSpPr>
          <p:cNvPr id="13317" name="TextBox 4"/>
          <p:cNvSpPr txBox="1"/>
          <p:nvPr/>
        </p:nvSpPr>
        <p:spPr>
          <a:xfrm>
            <a:off x="2133600" y="1512570"/>
            <a:ext cx="7617460" cy="460375"/>
          </a:xfrm>
          <a:prstGeom prst="rect">
            <a:avLst/>
          </a:prstGeom>
          <a:noFill/>
          <a:ln w="9525">
            <a:noFill/>
          </a:ln>
        </p:spPr>
        <p:txBody>
          <a:bodyPr wrap="none">
            <a:spAutoFit/>
          </a:bodyPr>
          <a:lstStyle/>
          <a:p>
            <a:r>
              <a:rPr lang="en-US" altLang="zh-CN" sz="2400" dirty="0">
                <a:latin typeface="Arial" panose="020B0604020202020204" pitchFamily="34" charset="0"/>
              </a:rPr>
              <a:t>HDFS1.0</a:t>
            </a:r>
            <a:r>
              <a:rPr lang="zh-CN" altLang="en-US" sz="2400" dirty="0">
                <a:latin typeface="Arial" panose="020B0604020202020204" pitchFamily="34" charset="0"/>
              </a:rPr>
              <a:t>组件及其功能回顾（具体请参见第</a:t>
            </a:r>
            <a:r>
              <a:rPr lang="en-US" altLang="zh-CN" sz="2400" dirty="0">
                <a:latin typeface="Arial" panose="020B0604020202020204" pitchFamily="34" charset="0"/>
              </a:rPr>
              <a:t>3</a:t>
            </a:r>
            <a:r>
              <a:rPr lang="zh-CN" altLang="en-US" sz="2400" dirty="0">
                <a:latin typeface="Arial" panose="020B0604020202020204" pitchFamily="34" charset="0"/>
              </a:rPr>
              <a:t>章</a:t>
            </a:r>
            <a:r>
              <a:rPr lang="en-US" altLang="zh-CN" sz="2400" dirty="0">
                <a:latin typeface="Arial" panose="020B0604020202020204" pitchFamily="34" charset="0"/>
              </a:rPr>
              <a:t>HDFS</a:t>
            </a:r>
            <a:r>
              <a:rPr lang="zh-CN" altLang="en-US" sz="2400" dirty="0">
                <a:latin typeface="Arial" panose="020B0604020202020204" pitchFamily="34" charset="0"/>
              </a:rPr>
              <a:t>）</a:t>
            </a:r>
            <a:endParaRPr lang="zh-CN" altLang="en-US" sz="2400" dirty="0">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marL="342900" indent="-342900"/>
            <a:r>
              <a:rPr lang="en-US" altLang="zh-CN" b="1" dirty="0"/>
              <a:t>3.3.2	</a:t>
            </a:r>
            <a:r>
              <a:rPr lang="zh-CN" altLang="en-US" b="1" dirty="0"/>
              <a:t>名称节点和数据节点</a:t>
            </a:r>
            <a:endParaRPr lang="zh-CN" altLang="en-US" b="1" dirty="0"/>
          </a:p>
        </p:txBody>
      </p:sp>
      <p:sp>
        <p:nvSpPr>
          <p:cNvPr id="12293" name="Rectangle 6"/>
          <p:cNvSpPr>
            <a:spLocks noChangeArrowheads="1"/>
          </p:cNvSpPr>
          <p:nvPr/>
        </p:nvSpPr>
        <p:spPr bwMode="auto">
          <a:xfrm>
            <a:off x="4411663" y="6275685"/>
            <a:ext cx="387798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a:t>图</a:t>
            </a:r>
            <a:r>
              <a:rPr lang="en-US" altLang="zh-CN" sz="2400"/>
              <a:t>3-3 </a:t>
            </a:r>
            <a:r>
              <a:rPr lang="zh-CN" altLang="en-US" sz="2400"/>
              <a:t>名称节点的数据结构 </a:t>
            </a:r>
            <a:endParaRPr lang="zh-CN" altLang="en-US" sz="2400"/>
          </a:p>
        </p:txBody>
      </p:sp>
      <p:sp>
        <p:nvSpPr>
          <p:cNvPr id="4" name="对话气泡: 圆角矩形 3"/>
          <p:cNvSpPr/>
          <p:nvPr/>
        </p:nvSpPr>
        <p:spPr>
          <a:xfrm>
            <a:off x="213360" y="1459908"/>
            <a:ext cx="2169160" cy="1100455"/>
          </a:xfrm>
          <a:prstGeom prst="wedgeRoundRectCallout">
            <a:avLst>
              <a:gd name="adj1" fmla="val 36444"/>
              <a:gd name="adj2" fmla="val 76933"/>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400" dirty="0"/>
              <a:t>负责管理分布式文件系统的命名空间</a:t>
            </a:r>
            <a:endParaRPr lang="zh-CN" altLang="en-US" sz="2400" dirty="0"/>
          </a:p>
        </p:txBody>
      </p:sp>
      <p:sp>
        <p:nvSpPr>
          <p:cNvPr id="5" name="对话气泡: 圆角矩形 4"/>
          <p:cNvSpPr/>
          <p:nvPr/>
        </p:nvSpPr>
        <p:spPr>
          <a:xfrm>
            <a:off x="345440" y="4396105"/>
            <a:ext cx="2479040" cy="1588135"/>
          </a:xfrm>
          <a:prstGeom prst="wedgeRoundRectCallout">
            <a:avLst>
              <a:gd name="adj1" fmla="val 65484"/>
              <a:gd name="adj2" fmla="val -103268"/>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400" dirty="0"/>
              <a:t>维护文件系统树以及文件树中所有的文件和文件夹的元数据</a:t>
            </a:r>
            <a:endParaRPr lang="zh-CN" altLang="en-US" sz="2400" dirty="0"/>
          </a:p>
        </p:txBody>
      </p:sp>
      <p:sp>
        <p:nvSpPr>
          <p:cNvPr id="6" name="对话气泡: 圆角矩形 5"/>
          <p:cNvSpPr/>
          <p:nvPr/>
        </p:nvSpPr>
        <p:spPr>
          <a:xfrm>
            <a:off x="9129077" y="1140460"/>
            <a:ext cx="2865120" cy="1100455"/>
          </a:xfrm>
          <a:prstGeom prst="wedgeRoundRectCallout">
            <a:avLst>
              <a:gd name="adj1" fmla="val -75031"/>
              <a:gd name="adj2" fmla="val 172952"/>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400" dirty="0"/>
              <a:t>每个文件中各个块所在的数据节点的位置信息</a:t>
            </a:r>
            <a:endParaRPr lang="zh-CN" altLang="en-US" sz="2400" dirty="0"/>
          </a:p>
        </p:txBody>
      </p:sp>
      <p:grpSp>
        <p:nvGrpSpPr>
          <p:cNvPr id="7" name="Group 3"/>
          <p:cNvGrpSpPr>
            <a:grpSpLocks noChangeAspect="1"/>
          </p:cNvGrpSpPr>
          <p:nvPr/>
        </p:nvGrpSpPr>
        <p:grpSpPr bwMode="auto">
          <a:xfrm>
            <a:off x="1995488" y="1938338"/>
            <a:ext cx="8732837" cy="4152900"/>
            <a:chOff x="1257" y="1221"/>
            <a:chExt cx="5501" cy="2616"/>
          </a:xfrm>
        </p:grpSpPr>
        <p:sp>
          <p:nvSpPr>
            <p:cNvPr id="8" name="AutoShape 2"/>
            <p:cNvSpPr>
              <a:spLocks noChangeAspect="1" noChangeArrowheads="1" noTextEdit="1"/>
            </p:cNvSpPr>
            <p:nvPr/>
          </p:nvSpPr>
          <p:spPr bwMode="auto">
            <a:xfrm>
              <a:off x="1257" y="1221"/>
              <a:ext cx="5501" cy="2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9" name="Rectangle 4"/>
            <p:cNvSpPr>
              <a:spLocks noChangeArrowheads="1"/>
            </p:cNvSpPr>
            <p:nvPr/>
          </p:nvSpPr>
          <p:spPr bwMode="auto">
            <a:xfrm>
              <a:off x="1257" y="1255"/>
              <a:ext cx="120"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200" b="0" i="0" u="none" strike="noStrike" cap="none" normalizeH="0" baseline="0">
                  <a:ln>
                    <a:noFill/>
                  </a:ln>
                  <a:solidFill>
                    <a:srgbClr val="000000"/>
                  </a:solidFill>
                  <a:effectLst/>
                  <a:latin typeface="Times New Roman" panose="02020603050405020304" pitchFamily="18" charset="0"/>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nvGrpSpPr>
            <p:cNvPr id="10" name="Group 54"/>
            <p:cNvGrpSpPr/>
            <p:nvPr/>
          </p:nvGrpSpPr>
          <p:grpSpPr bwMode="auto">
            <a:xfrm>
              <a:off x="1271" y="1233"/>
              <a:ext cx="5462" cy="2600"/>
              <a:chOff x="1271" y="1233"/>
              <a:chExt cx="5462" cy="2600"/>
            </a:xfrm>
          </p:grpSpPr>
          <p:sp>
            <p:nvSpPr>
              <p:cNvPr id="11" name="Rectangle 5"/>
              <p:cNvSpPr>
                <a:spLocks noChangeArrowheads="1"/>
              </p:cNvSpPr>
              <p:nvPr/>
            </p:nvSpPr>
            <p:spPr bwMode="auto">
              <a:xfrm>
                <a:off x="1271" y="1723"/>
                <a:ext cx="2271" cy="1359"/>
              </a:xfrm>
              <a:prstGeom prst="rect">
                <a:avLst/>
              </a:pr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2" name="Rectangle 6"/>
              <p:cNvSpPr>
                <a:spLocks noChangeArrowheads="1"/>
              </p:cNvSpPr>
              <p:nvPr/>
            </p:nvSpPr>
            <p:spPr bwMode="auto">
              <a:xfrm>
                <a:off x="1292" y="1746"/>
                <a:ext cx="409"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a:ln>
                      <a:noFill/>
                    </a:ln>
                    <a:solidFill>
                      <a:srgbClr val="000000"/>
                    </a:solidFill>
                    <a:effectLst/>
                    <a:latin typeface="宋体" panose="02010600030101010101" pitchFamily="2" charset="-122"/>
                    <a:ea typeface="宋体" panose="02010600030101010101" pitchFamily="2" charset="-122"/>
                  </a:rPr>
                  <a:t>名称节点</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3" name="Rectangle 7"/>
              <p:cNvSpPr>
                <a:spLocks noChangeArrowheads="1"/>
              </p:cNvSpPr>
              <p:nvPr/>
            </p:nvSpPr>
            <p:spPr bwMode="auto">
              <a:xfrm>
                <a:off x="1915" y="1746"/>
                <a:ext cx="162"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a:ln>
                      <a:noFill/>
                    </a:ln>
                    <a:solidFill>
                      <a:srgbClr val="000000"/>
                    </a:solidFill>
                    <a:effectLst/>
                    <a:latin typeface="宋体" panose="02010600030101010101" pitchFamily="2" charset="-122"/>
                    <a:ea typeface="宋体" panose="02010600030101010101" pitchFamily="2" charset="-122"/>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4" name="Rectangle 8"/>
              <p:cNvSpPr>
                <a:spLocks noChangeArrowheads="1"/>
              </p:cNvSpPr>
              <p:nvPr/>
            </p:nvSpPr>
            <p:spPr bwMode="auto">
              <a:xfrm>
                <a:off x="1993" y="1746"/>
                <a:ext cx="734"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a:ln>
                      <a:noFill/>
                    </a:ln>
                    <a:solidFill>
                      <a:srgbClr val="000000"/>
                    </a:solidFill>
                    <a:effectLst/>
                    <a:latin typeface="宋体" panose="02010600030101010101" pitchFamily="2" charset="-122"/>
                    <a:ea typeface="宋体" panose="02010600030101010101" pitchFamily="2" charset="-122"/>
                  </a:rPr>
                  <a:t>NameNode</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5" name="Rectangle 9"/>
              <p:cNvSpPr>
                <a:spLocks noChangeArrowheads="1"/>
              </p:cNvSpPr>
              <p:nvPr/>
            </p:nvSpPr>
            <p:spPr bwMode="auto">
              <a:xfrm>
                <a:off x="2617" y="1746"/>
                <a:ext cx="162"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a:ln>
                      <a:noFill/>
                    </a:ln>
                    <a:solidFill>
                      <a:srgbClr val="000000"/>
                    </a:solidFill>
                    <a:effectLst/>
                    <a:latin typeface="宋体" panose="02010600030101010101" pitchFamily="2" charset="-122"/>
                    <a:ea typeface="宋体" panose="02010600030101010101" pitchFamily="2" charset="-122"/>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6" name="Freeform 10"/>
              <p:cNvSpPr/>
              <p:nvPr/>
            </p:nvSpPr>
            <p:spPr bwMode="auto">
              <a:xfrm>
                <a:off x="1793" y="1996"/>
                <a:ext cx="1227" cy="434"/>
              </a:xfrm>
              <a:custGeom>
                <a:avLst/>
                <a:gdLst>
                  <a:gd name="T0" fmla="*/ 535 w 3023"/>
                  <a:gd name="T1" fmla="*/ 1070 h 1070"/>
                  <a:gd name="T2" fmla="*/ 2488 w 3023"/>
                  <a:gd name="T3" fmla="*/ 1070 h 1070"/>
                  <a:gd name="T4" fmla="*/ 3023 w 3023"/>
                  <a:gd name="T5" fmla="*/ 535 h 1070"/>
                  <a:gd name="T6" fmla="*/ 2488 w 3023"/>
                  <a:gd name="T7" fmla="*/ 0 h 1070"/>
                  <a:gd name="T8" fmla="*/ 2488 w 3023"/>
                  <a:gd name="T9" fmla="*/ 0 h 1070"/>
                  <a:gd name="T10" fmla="*/ 2488 w 3023"/>
                  <a:gd name="T11" fmla="*/ 0 h 1070"/>
                  <a:gd name="T12" fmla="*/ 535 w 3023"/>
                  <a:gd name="T13" fmla="*/ 0 h 1070"/>
                  <a:gd name="T14" fmla="*/ 0 w 3023"/>
                  <a:gd name="T15" fmla="*/ 535 h 1070"/>
                  <a:gd name="T16" fmla="*/ 535 w 3023"/>
                  <a:gd name="T17" fmla="*/ 1070 h 10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23" h="1070">
                    <a:moveTo>
                      <a:pt x="535" y="1070"/>
                    </a:moveTo>
                    <a:lnTo>
                      <a:pt x="2488" y="1070"/>
                    </a:lnTo>
                    <a:cubicBezTo>
                      <a:pt x="2784" y="1070"/>
                      <a:pt x="3023" y="830"/>
                      <a:pt x="3023" y="535"/>
                    </a:cubicBezTo>
                    <a:cubicBezTo>
                      <a:pt x="3023" y="239"/>
                      <a:pt x="2784" y="0"/>
                      <a:pt x="2488" y="0"/>
                    </a:cubicBezTo>
                    <a:cubicBezTo>
                      <a:pt x="2488" y="0"/>
                      <a:pt x="2488" y="0"/>
                      <a:pt x="2488" y="0"/>
                    </a:cubicBezTo>
                    <a:lnTo>
                      <a:pt x="2488" y="0"/>
                    </a:lnTo>
                    <a:lnTo>
                      <a:pt x="535" y="0"/>
                    </a:lnTo>
                    <a:cubicBezTo>
                      <a:pt x="239" y="0"/>
                      <a:pt x="0" y="239"/>
                      <a:pt x="0" y="535"/>
                    </a:cubicBezTo>
                    <a:cubicBezTo>
                      <a:pt x="0" y="830"/>
                      <a:pt x="239" y="1070"/>
                      <a:pt x="535" y="1070"/>
                    </a:cubicBezTo>
                    <a:close/>
                  </a:path>
                </a:pathLst>
              </a:cu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7" name="Rectangle 11"/>
              <p:cNvSpPr>
                <a:spLocks noChangeArrowheads="1"/>
              </p:cNvSpPr>
              <p:nvPr/>
            </p:nvSpPr>
            <p:spPr bwMode="auto">
              <a:xfrm>
                <a:off x="2136" y="2121"/>
                <a:ext cx="617"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a:ln>
                      <a:noFill/>
                    </a:ln>
                    <a:solidFill>
                      <a:srgbClr val="000000"/>
                    </a:solidFill>
                    <a:effectLst/>
                    <a:latin typeface="Times New Roman" panose="02020603050405020304" pitchFamily="18" charset="0"/>
                  </a:rPr>
                  <a:t>FsImage</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8" name="Freeform 12"/>
              <p:cNvSpPr/>
              <p:nvPr/>
            </p:nvSpPr>
            <p:spPr bwMode="auto">
              <a:xfrm>
                <a:off x="1793" y="2580"/>
                <a:ext cx="1227" cy="361"/>
              </a:xfrm>
              <a:custGeom>
                <a:avLst/>
                <a:gdLst>
                  <a:gd name="T0" fmla="*/ 444 w 3023"/>
                  <a:gd name="T1" fmla="*/ 889 h 889"/>
                  <a:gd name="T2" fmla="*/ 2579 w 3023"/>
                  <a:gd name="T3" fmla="*/ 889 h 889"/>
                  <a:gd name="T4" fmla="*/ 3023 w 3023"/>
                  <a:gd name="T5" fmla="*/ 444 h 889"/>
                  <a:gd name="T6" fmla="*/ 2579 w 3023"/>
                  <a:gd name="T7" fmla="*/ 0 h 889"/>
                  <a:gd name="T8" fmla="*/ 2579 w 3023"/>
                  <a:gd name="T9" fmla="*/ 0 h 889"/>
                  <a:gd name="T10" fmla="*/ 2579 w 3023"/>
                  <a:gd name="T11" fmla="*/ 0 h 889"/>
                  <a:gd name="T12" fmla="*/ 444 w 3023"/>
                  <a:gd name="T13" fmla="*/ 0 h 889"/>
                  <a:gd name="T14" fmla="*/ 0 w 3023"/>
                  <a:gd name="T15" fmla="*/ 444 h 889"/>
                  <a:gd name="T16" fmla="*/ 444 w 3023"/>
                  <a:gd name="T17" fmla="*/ 889 h 8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23" h="889">
                    <a:moveTo>
                      <a:pt x="444" y="889"/>
                    </a:moveTo>
                    <a:lnTo>
                      <a:pt x="2579" y="889"/>
                    </a:lnTo>
                    <a:cubicBezTo>
                      <a:pt x="2824" y="889"/>
                      <a:pt x="3023" y="690"/>
                      <a:pt x="3023" y="444"/>
                    </a:cubicBezTo>
                    <a:cubicBezTo>
                      <a:pt x="3023" y="199"/>
                      <a:pt x="2824" y="0"/>
                      <a:pt x="2579" y="0"/>
                    </a:cubicBezTo>
                    <a:cubicBezTo>
                      <a:pt x="2579" y="0"/>
                      <a:pt x="2579" y="0"/>
                      <a:pt x="2579" y="0"/>
                    </a:cubicBezTo>
                    <a:lnTo>
                      <a:pt x="2579" y="0"/>
                    </a:lnTo>
                    <a:lnTo>
                      <a:pt x="444" y="0"/>
                    </a:lnTo>
                    <a:cubicBezTo>
                      <a:pt x="199" y="0"/>
                      <a:pt x="0" y="199"/>
                      <a:pt x="0" y="444"/>
                    </a:cubicBezTo>
                    <a:cubicBezTo>
                      <a:pt x="0" y="690"/>
                      <a:pt x="199" y="889"/>
                      <a:pt x="444" y="889"/>
                    </a:cubicBezTo>
                    <a:close/>
                  </a:path>
                </a:pathLst>
              </a:cu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9" name="Rectangle 13"/>
              <p:cNvSpPr>
                <a:spLocks noChangeArrowheads="1"/>
              </p:cNvSpPr>
              <p:nvPr/>
            </p:nvSpPr>
            <p:spPr bwMode="auto">
              <a:xfrm>
                <a:off x="2149" y="2666"/>
                <a:ext cx="598"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a:ln>
                      <a:noFill/>
                    </a:ln>
                    <a:solidFill>
                      <a:srgbClr val="000000"/>
                    </a:solidFill>
                    <a:effectLst/>
                    <a:latin typeface="Times New Roman" panose="02020603050405020304" pitchFamily="18" charset="0"/>
                  </a:rPr>
                  <a:t>EditLog</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0" name="Rectangle 14"/>
              <p:cNvSpPr>
                <a:spLocks noChangeArrowheads="1"/>
              </p:cNvSpPr>
              <p:nvPr/>
            </p:nvSpPr>
            <p:spPr bwMode="auto">
              <a:xfrm>
                <a:off x="4954" y="1233"/>
                <a:ext cx="613" cy="245"/>
              </a:xfrm>
              <a:prstGeom prst="rect">
                <a:avLst/>
              </a:pr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1" name="Rectangle 15"/>
              <p:cNvSpPr>
                <a:spLocks noChangeArrowheads="1"/>
              </p:cNvSpPr>
              <p:nvPr/>
            </p:nvSpPr>
            <p:spPr bwMode="auto">
              <a:xfrm>
                <a:off x="5026" y="1267"/>
                <a:ext cx="31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a:ln>
                      <a:noFill/>
                    </a:ln>
                    <a:solidFill>
                      <a:srgbClr val="000000"/>
                    </a:solidFill>
                    <a:effectLst/>
                    <a:latin typeface="宋体" panose="02010600030101010101" pitchFamily="2" charset="-122"/>
                    <a:ea typeface="宋体" panose="02010600030101010101" pitchFamily="2" charset="-122"/>
                  </a:rPr>
                  <a:t>根目录</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2" name="Rectangle 16"/>
              <p:cNvSpPr>
                <a:spLocks noChangeArrowheads="1"/>
              </p:cNvSpPr>
              <p:nvPr/>
            </p:nvSpPr>
            <p:spPr bwMode="auto">
              <a:xfrm>
                <a:off x="3910" y="1723"/>
                <a:ext cx="614" cy="245"/>
              </a:xfrm>
              <a:prstGeom prst="rect">
                <a:avLst/>
              </a:pr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3" name="Rectangle 17"/>
              <p:cNvSpPr>
                <a:spLocks noChangeArrowheads="1"/>
              </p:cNvSpPr>
              <p:nvPr/>
            </p:nvSpPr>
            <p:spPr bwMode="auto">
              <a:xfrm>
                <a:off x="4059" y="1759"/>
                <a:ext cx="240"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a:ln>
                      <a:noFill/>
                    </a:ln>
                    <a:solidFill>
                      <a:srgbClr val="000000"/>
                    </a:solidFill>
                    <a:effectLst/>
                    <a:latin typeface="宋体" panose="02010600030101010101" pitchFamily="2" charset="-122"/>
                    <a:ea typeface="宋体" panose="02010600030101010101" pitchFamily="2" charset="-122"/>
                  </a:rPr>
                  <a:t>目录</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4" name="Rectangle 18"/>
              <p:cNvSpPr>
                <a:spLocks noChangeArrowheads="1"/>
              </p:cNvSpPr>
              <p:nvPr/>
            </p:nvSpPr>
            <p:spPr bwMode="auto">
              <a:xfrm>
                <a:off x="4954" y="1723"/>
                <a:ext cx="613" cy="245"/>
              </a:xfrm>
              <a:prstGeom prst="rect">
                <a:avLst/>
              </a:pr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5" name="Rectangle 19"/>
              <p:cNvSpPr>
                <a:spLocks noChangeArrowheads="1"/>
              </p:cNvSpPr>
              <p:nvPr/>
            </p:nvSpPr>
            <p:spPr bwMode="auto">
              <a:xfrm>
                <a:off x="5104" y="1759"/>
                <a:ext cx="240"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a:ln>
                      <a:noFill/>
                    </a:ln>
                    <a:solidFill>
                      <a:srgbClr val="000000"/>
                    </a:solidFill>
                    <a:effectLst/>
                    <a:latin typeface="宋体" panose="02010600030101010101" pitchFamily="2" charset="-122"/>
                    <a:ea typeface="宋体" panose="02010600030101010101" pitchFamily="2" charset="-122"/>
                  </a:rPr>
                  <a:t>目录</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6" name="Rectangle 20"/>
              <p:cNvSpPr>
                <a:spLocks noChangeArrowheads="1"/>
              </p:cNvSpPr>
              <p:nvPr/>
            </p:nvSpPr>
            <p:spPr bwMode="auto">
              <a:xfrm>
                <a:off x="5997" y="1723"/>
                <a:ext cx="614" cy="245"/>
              </a:xfrm>
              <a:prstGeom prst="rect">
                <a:avLst/>
              </a:pr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7" name="Rectangle 21"/>
              <p:cNvSpPr>
                <a:spLocks noChangeArrowheads="1"/>
              </p:cNvSpPr>
              <p:nvPr/>
            </p:nvSpPr>
            <p:spPr bwMode="auto">
              <a:xfrm>
                <a:off x="6150" y="1759"/>
                <a:ext cx="240"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a:ln>
                      <a:noFill/>
                    </a:ln>
                    <a:solidFill>
                      <a:srgbClr val="000000"/>
                    </a:solidFill>
                    <a:effectLst/>
                    <a:latin typeface="宋体" panose="02010600030101010101" pitchFamily="2" charset="-122"/>
                    <a:ea typeface="宋体" panose="02010600030101010101" pitchFamily="2" charset="-122"/>
                  </a:rPr>
                  <a:t>目录</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8" name="Rectangle 22"/>
              <p:cNvSpPr>
                <a:spLocks noChangeArrowheads="1"/>
              </p:cNvSpPr>
              <p:nvPr/>
            </p:nvSpPr>
            <p:spPr bwMode="auto">
              <a:xfrm>
                <a:off x="4954" y="2213"/>
                <a:ext cx="613" cy="245"/>
              </a:xfrm>
              <a:prstGeom prst="rect">
                <a:avLst/>
              </a:pr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9" name="Rectangle 23"/>
              <p:cNvSpPr>
                <a:spLocks noChangeArrowheads="1"/>
              </p:cNvSpPr>
              <p:nvPr/>
            </p:nvSpPr>
            <p:spPr bwMode="auto">
              <a:xfrm>
                <a:off x="5104" y="2245"/>
                <a:ext cx="247"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a:ln>
                      <a:noFill/>
                    </a:ln>
                    <a:solidFill>
                      <a:srgbClr val="000000"/>
                    </a:solidFill>
                    <a:effectLst/>
                    <a:latin typeface="宋体" panose="02010600030101010101" pitchFamily="2" charset="-122"/>
                    <a:ea typeface="宋体" panose="02010600030101010101" pitchFamily="2" charset="-122"/>
                  </a:rPr>
                  <a:t>文件</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0" name="Rectangle 24"/>
              <p:cNvSpPr>
                <a:spLocks noChangeArrowheads="1"/>
              </p:cNvSpPr>
              <p:nvPr/>
            </p:nvSpPr>
            <p:spPr bwMode="auto">
              <a:xfrm>
                <a:off x="3910" y="2703"/>
                <a:ext cx="614" cy="245"/>
              </a:xfrm>
              <a:prstGeom prst="rect">
                <a:avLst/>
              </a:pr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31" name="Rectangle 25"/>
              <p:cNvSpPr>
                <a:spLocks noChangeArrowheads="1"/>
              </p:cNvSpPr>
              <p:nvPr/>
            </p:nvSpPr>
            <p:spPr bwMode="auto">
              <a:xfrm>
                <a:off x="4137" y="2738"/>
                <a:ext cx="162"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a:ln>
                      <a:noFill/>
                    </a:ln>
                    <a:solidFill>
                      <a:srgbClr val="000000"/>
                    </a:solidFill>
                    <a:effectLst/>
                    <a:latin typeface="宋体" panose="02010600030101010101" pitchFamily="2" charset="-122"/>
                    <a:ea typeface="宋体" panose="02010600030101010101" pitchFamily="2" charset="-122"/>
                  </a:rPr>
                  <a:t>块</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2" name="Rectangle 26"/>
              <p:cNvSpPr>
                <a:spLocks noChangeArrowheads="1"/>
              </p:cNvSpPr>
              <p:nvPr/>
            </p:nvSpPr>
            <p:spPr bwMode="auto">
              <a:xfrm>
                <a:off x="4954" y="2703"/>
                <a:ext cx="613" cy="245"/>
              </a:xfrm>
              <a:prstGeom prst="rect">
                <a:avLst/>
              </a:pr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33" name="Rectangle 27"/>
              <p:cNvSpPr>
                <a:spLocks noChangeArrowheads="1"/>
              </p:cNvSpPr>
              <p:nvPr/>
            </p:nvSpPr>
            <p:spPr bwMode="auto">
              <a:xfrm>
                <a:off x="5182" y="2738"/>
                <a:ext cx="162"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a:ln>
                      <a:noFill/>
                    </a:ln>
                    <a:solidFill>
                      <a:srgbClr val="000000"/>
                    </a:solidFill>
                    <a:effectLst/>
                    <a:latin typeface="宋体" panose="02010600030101010101" pitchFamily="2" charset="-122"/>
                    <a:ea typeface="宋体" panose="02010600030101010101" pitchFamily="2" charset="-122"/>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4" name="Rectangle 28"/>
              <p:cNvSpPr>
                <a:spLocks noChangeArrowheads="1"/>
              </p:cNvSpPr>
              <p:nvPr/>
            </p:nvSpPr>
            <p:spPr bwMode="auto">
              <a:xfrm>
                <a:off x="5997" y="2703"/>
                <a:ext cx="614" cy="245"/>
              </a:xfrm>
              <a:prstGeom prst="rect">
                <a:avLst/>
              </a:pr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35" name="Rectangle 29"/>
              <p:cNvSpPr>
                <a:spLocks noChangeArrowheads="1"/>
              </p:cNvSpPr>
              <p:nvPr/>
            </p:nvSpPr>
            <p:spPr bwMode="auto">
              <a:xfrm>
                <a:off x="6228" y="2738"/>
                <a:ext cx="162"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a:ln>
                      <a:noFill/>
                    </a:ln>
                    <a:solidFill>
                      <a:srgbClr val="000000"/>
                    </a:solidFill>
                    <a:effectLst/>
                    <a:latin typeface="宋体" panose="02010600030101010101" pitchFamily="2" charset="-122"/>
                    <a:ea typeface="宋体" panose="02010600030101010101" pitchFamily="2" charset="-122"/>
                  </a:rPr>
                  <a:t>块</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6" name="Line 30"/>
              <p:cNvSpPr>
                <a:spLocks noChangeShapeType="1"/>
              </p:cNvSpPr>
              <p:nvPr/>
            </p:nvSpPr>
            <p:spPr bwMode="auto">
              <a:xfrm flipV="1">
                <a:off x="3020" y="1912"/>
                <a:ext cx="725" cy="301"/>
              </a:xfrm>
              <a:prstGeom prst="line">
                <a:avLst/>
              </a:prstGeom>
              <a:noFill/>
              <a:ln w="14288" cap="rnd">
                <a:solidFill>
                  <a:srgbClr val="40404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37" name="Freeform 31"/>
              <p:cNvSpPr/>
              <p:nvPr/>
            </p:nvSpPr>
            <p:spPr bwMode="auto">
              <a:xfrm>
                <a:off x="3720" y="1890"/>
                <a:ext cx="67" cy="56"/>
              </a:xfrm>
              <a:custGeom>
                <a:avLst/>
                <a:gdLst>
                  <a:gd name="T0" fmla="*/ 167 w 167"/>
                  <a:gd name="T1" fmla="*/ 12 h 139"/>
                  <a:gd name="T2" fmla="*/ 57 w 167"/>
                  <a:gd name="T3" fmla="*/ 139 h 139"/>
                  <a:gd name="T4" fmla="*/ 0 w 167"/>
                  <a:gd name="T5" fmla="*/ 0 h 139"/>
                  <a:gd name="T6" fmla="*/ 167 w 167"/>
                  <a:gd name="T7" fmla="*/ 12 h 139"/>
                </a:gdLst>
                <a:ahLst/>
                <a:cxnLst>
                  <a:cxn ang="0">
                    <a:pos x="T0" y="T1"/>
                  </a:cxn>
                  <a:cxn ang="0">
                    <a:pos x="T2" y="T3"/>
                  </a:cxn>
                  <a:cxn ang="0">
                    <a:pos x="T4" y="T5"/>
                  </a:cxn>
                  <a:cxn ang="0">
                    <a:pos x="T6" y="T7"/>
                  </a:cxn>
                </a:cxnLst>
                <a:rect l="0" t="0" r="r" b="b"/>
                <a:pathLst>
                  <a:path w="167" h="139">
                    <a:moveTo>
                      <a:pt x="167" y="12"/>
                    </a:moveTo>
                    <a:lnTo>
                      <a:pt x="57" y="139"/>
                    </a:lnTo>
                    <a:cubicBezTo>
                      <a:pt x="61" y="86"/>
                      <a:pt x="40" y="34"/>
                      <a:pt x="0" y="0"/>
                    </a:cubicBezTo>
                    <a:lnTo>
                      <a:pt x="167" y="12"/>
                    </a:lnTo>
                    <a:close/>
                  </a:path>
                </a:pathLst>
              </a:custGeom>
              <a:solidFill>
                <a:srgbClr val="404040"/>
              </a:solidFill>
              <a:ln w="0">
                <a:solidFill>
                  <a:srgbClr val="000000"/>
                </a:solidFill>
                <a:prstDash val="solid"/>
                <a:round/>
              </a:ln>
            </p:spPr>
            <p:txBody>
              <a:bodyPr vert="horz" wrap="square" lIns="91440" tIns="45720" rIns="91440" bIns="45720" numCol="1" anchor="t" anchorCtr="0" compatLnSpc="1"/>
              <a:lstStyle/>
              <a:p>
                <a:endParaRPr lang="zh-CN" altLang="en-US"/>
              </a:p>
            </p:txBody>
          </p:sp>
          <p:sp>
            <p:nvSpPr>
              <p:cNvPr id="38" name="Line 32"/>
              <p:cNvSpPr>
                <a:spLocks noChangeShapeType="1"/>
              </p:cNvSpPr>
              <p:nvPr/>
            </p:nvSpPr>
            <p:spPr bwMode="auto">
              <a:xfrm>
                <a:off x="5261" y="1478"/>
                <a:ext cx="0" cy="199"/>
              </a:xfrm>
              <a:prstGeom prst="line">
                <a:avLst/>
              </a:prstGeom>
              <a:noFill/>
              <a:ln w="14288" cap="rnd">
                <a:solidFill>
                  <a:srgbClr val="40404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39" name="Freeform 33"/>
              <p:cNvSpPr/>
              <p:nvPr/>
            </p:nvSpPr>
            <p:spPr bwMode="auto">
              <a:xfrm>
                <a:off x="5230" y="1662"/>
                <a:ext cx="61" cy="61"/>
              </a:xfrm>
              <a:custGeom>
                <a:avLst/>
                <a:gdLst>
                  <a:gd name="T0" fmla="*/ 76 w 151"/>
                  <a:gd name="T1" fmla="*/ 150 h 150"/>
                  <a:gd name="T2" fmla="*/ 0 w 151"/>
                  <a:gd name="T3" fmla="*/ 0 h 150"/>
                  <a:gd name="T4" fmla="*/ 151 w 151"/>
                  <a:gd name="T5" fmla="*/ 0 h 150"/>
                  <a:gd name="T6" fmla="*/ 151 w 151"/>
                  <a:gd name="T7" fmla="*/ 0 h 150"/>
                  <a:gd name="T8" fmla="*/ 76 w 151"/>
                  <a:gd name="T9" fmla="*/ 150 h 150"/>
                </a:gdLst>
                <a:ahLst/>
                <a:cxnLst>
                  <a:cxn ang="0">
                    <a:pos x="T0" y="T1"/>
                  </a:cxn>
                  <a:cxn ang="0">
                    <a:pos x="T2" y="T3"/>
                  </a:cxn>
                  <a:cxn ang="0">
                    <a:pos x="T4" y="T5"/>
                  </a:cxn>
                  <a:cxn ang="0">
                    <a:pos x="T6" y="T7"/>
                  </a:cxn>
                  <a:cxn ang="0">
                    <a:pos x="T8" y="T9"/>
                  </a:cxn>
                </a:cxnLst>
                <a:rect l="0" t="0" r="r" b="b"/>
                <a:pathLst>
                  <a:path w="151" h="150">
                    <a:moveTo>
                      <a:pt x="76" y="150"/>
                    </a:moveTo>
                    <a:lnTo>
                      <a:pt x="0" y="0"/>
                    </a:lnTo>
                    <a:cubicBezTo>
                      <a:pt x="48" y="24"/>
                      <a:pt x="103" y="24"/>
                      <a:pt x="151" y="0"/>
                    </a:cubicBezTo>
                    <a:lnTo>
                      <a:pt x="151" y="0"/>
                    </a:lnTo>
                    <a:lnTo>
                      <a:pt x="76" y="150"/>
                    </a:lnTo>
                    <a:close/>
                  </a:path>
                </a:pathLst>
              </a:custGeom>
              <a:solidFill>
                <a:srgbClr val="404040"/>
              </a:solidFill>
              <a:ln w="0">
                <a:solidFill>
                  <a:srgbClr val="000000"/>
                </a:solidFill>
                <a:prstDash val="solid"/>
                <a:round/>
              </a:ln>
            </p:spPr>
            <p:txBody>
              <a:bodyPr vert="horz" wrap="square" lIns="91440" tIns="45720" rIns="91440" bIns="45720" numCol="1" anchor="t" anchorCtr="0" compatLnSpc="1"/>
              <a:lstStyle/>
              <a:p>
                <a:endParaRPr lang="zh-CN" altLang="en-US"/>
              </a:p>
            </p:txBody>
          </p:sp>
          <p:sp>
            <p:nvSpPr>
              <p:cNvPr id="40" name="Freeform 34"/>
              <p:cNvSpPr/>
              <p:nvPr/>
            </p:nvSpPr>
            <p:spPr bwMode="auto">
              <a:xfrm>
                <a:off x="4217" y="1478"/>
                <a:ext cx="1044" cy="199"/>
              </a:xfrm>
              <a:custGeom>
                <a:avLst/>
                <a:gdLst>
                  <a:gd name="T0" fmla="*/ 1044 w 1044"/>
                  <a:gd name="T1" fmla="*/ 0 h 199"/>
                  <a:gd name="T2" fmla="*/ 1044 w 1044"/>
                  <a:gd name="T3" fmla="*/ 153 h 199"/>
                  <a:gd name="T4" fmla="*/ 0 w 1044"/>
                  <a:gd name="T5" fmla="*/ 153 h 199"/>
                  <a:gd name="T6" fmla="*/ 0 w 1044"/>
                  <a:gd name="T7" fmla="*/ 199 h 199"/>
                </a:gdLst>
                <a:ahLst/>
                <a:cxnLst>
                  <a:cxn ang="0">
                    <a:pos x="T0" y="T1"/>
                  </a:cxn>
                  <a:cxn ang="0">
                    <a:pos x="T2" y="T3"/>
                  </a:cxn>
                  <a:cxn ang="0">
                    <a:pos x="T4" y="T5"/>
                  </a:cxn>
                  <a:cxn ang="0">
                    <a:pos x="T6" y="T7"/>
                  </a:cxn>
                </a:cxnLst>
                <a:rect l="0" t="0" r="r" b="b"/>
                <a:pathLst>
                  <a:path w="1044" h="199">
                    <a:moveTo>
                      <a:pt x="1044" y="0"/>
                    </a:moveTo>
                    <a:lnTo>
                      <a:pt x="1044" y="153"/>
                    </a:lnTo>
                    <a:lnTo>
                      <a:pt x="0" y="153"/>
                    </a:lnTo>
                    <a:lnTo>
                      <a:pt x="0" y="199"/>
                    </a:lnTo>
                  </a:path>
                </a:pathLst>
              </a:custGeom>
              <a:noFill/>
              <a:ln w="14288"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41" name="Freeform 35"/>
              <p:cNvSpPr/>
              <p:nvPr/>
            </p:nvSpPr>
            <p:spPr bwMode="auto">
              <a:xfrm>
                <a:off x="4186" y="1662"/>
                <a:ext cx="62" cy="61"/>
              </a:xfrm>
              <a:custGeom>
                <a:avLst/>
                <a:gdLst>
                  <a:gd name="T0" fmla="*/ 75 w 151"/>
                  <a:gd name="T1" fmla="*/ 150 h 150"/>
                  <a:gd name="T2" fmla="*/ 0 w 151"/>
                  <a:gd name="T3" fmla="*/ 0 h 150"/>
                  <a:gd name="T4" fmla="*/ 151 w 151"/>
                  <a:gd name="T5" fmla="*/ 0 h 150"/>
                  <a:gd name="T6" fmla="*/ 75 w 151"/>
                  <a:gd name="T7" fmla="*/ 150 h 150"/>
                </a:gdLst>
                <a:ahLst/>
                <a:cxnLst>
                  <a:cxn ang="0">
                    <a:pos x="T0" y="T1"/>
                  </a:cxn>
                  <a:cxn ang="0">
                    <a:pos x="T2" y="T3"/>
                  </a:cxn>
                  <a:cxn ang="0">
                    <a:pos x="T4" y="T5"/>
                  </a:cxn>
                  <a:cxn ang="0">
                    <a:pos x="T6" y="T7"/>
                  </a:cxn>
                </a:cxnLst>
                <a:rect l="0" t="0" r="r" b="b"/>
                <a:pathLst>
                  <a:path w="151" h="150">
                    <a:moveTo>
                      <a:pt x="75" y="150"/>
                    </a:moveTo>
                    <a:lnTo>
                      <a:pt x="0" y="0"/>
                    </a:lnTo>
                    <a:cubicBezTo>
                      <a:pt x="48" y="24"/>
                      <a:pt x="103" y="24"/>
                      <a:pt x="151" y="0"/>
                    </a:cubicBezTo>
                    <a:lnTo>
                      <a:pt x="75" y="150"/>
                    </a:lnTo>
                    <a:close/>
                  </a:path>
                </a:pathLst>
              </a:custGeom>
              <a:solidFill>
                <a:srgbClr val="404040"/>
              </a:solidFill>
              <a:ln w="0">
                <a:solidFill>
                  <a:srgbClr val="000000"/>
                </a:solidFill>
                <a:prstDash val="solid"/>
                <a:round/>
              </a:ln>
            </p:spPr>
            <p:txBody>
              <a:bodyPr vert="horz" wrap="square" lIns="91440" tIns="45720" rIns="91440" bIns="45720" numCol="1" anchor="t" anchorCtr="0" compatLnSpc="1"/>
              <a:lstStyle/>
              <a:p>
                <a:endParaRPr lang="zh-CN" altLang="en-US"/>
              </a:p>
            </p:txBody>
          </p:sp>
          <p:sp>
            <p:nvSpPr>
              <p:cNvPr id="42" name="Freeform 36"/>
              <p:cNvSpPr/>
              <p:nvPr/>
            </p:nvSpPr>
            <p:spPr bwMode="auto">
              <a:xfrm>
                <a:off x="5261" y="1478"/>
                <a:ext cx="1043" cy="199"/>
              </a:xfrm>
              <a:custGeom>
                <a:avLst/>
                <a:gdLst>
                  <a:gd name="T0" fmla="*/ 0 w 1043"/>
                  <a:gd name="T1" fmla="*/ 0 h 199"/>
                  <a:gd name="T2" fmla="*/ 0 w 1043"/>
                  <a:gd name="T3" fmla="*/ 153 h 199"/>
                  <a:gd name="T4" fmla="*/ 1043 w 1043"/>
                  <a:gd name="T5" fmla="*/ 153 h 199"/>
                  <a:gd name="T6" fmla="*/ 1043 w 1043"/>
                  <a:gd name="T7" fmla="*/ 199 h 199"/>
                </a:gdLst>
                <a:ahLst/>
                <a:cxnLst>
                  <a:cxn ang="0">
                    <a:pos x="T0" y="T1"/>
                  </a:cxn>
                  <a:cxn ang="0">
                    <a:pos x="T2" y="T3"/>
                  </a:cxn>
                  <a:cxn ang="0">
                    <a:pos x="T4" y="T5"/>
                  </a:cxn>
                  <a:cxn ang="0">
                    <a:pos x="T6" y="T7"/>
                  </a:cxn>
                </a:cxnLst>
                <a:rect l="0" t="0" r="r" b="b"/>
                <a:pathLst>
                  <a:path w="1043" h="199">
                    <a:moveTo>
                      <a:pt x="0" y="0"/>
                    </a:moveTo>
                    <a:lnTo>
                      <a:pt x="0" y="153"/>
                    </a:lnTo>
                    <a:lnTo>
                      <a:pt x="1043" y="153"/>
                    </a:lnTo>
                    <a:lnTo>
                      <a:pt x="1043" y="199"/>
                    </a:lnTo>
                  </a:path>
                </a:pathLst>
              </a:custGeom>
              <a:noFill/>
              <a:ln w="14288"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43" name="Freeform 37"/>
              <p:cNvSpPr/>
              <p:nvPr/>
            </p:nvSpPr>
            <p:spPr bwMode="auto">
              <a:xfrm>
                <a:off x="6273" y="1662"/>
                <a:ext cx="61" cy="61"/>
              </a:xfrm>
              <a:custGeom>
                <a:avLst/>
                <a:gdLst>
                  <a:gd name="T0" fmla="*/ 75 w 150"/>
                  <a:gd name="T1" fmla="*/ 150 h 150"/>
                  <a:gd name="T2" fmla="*/ 0 w 150"/>
                  <a:gd name="T3" fmla="*/ 0 h 150"/>
                  <a:gd name="T4" fmla="*/ 150 w 150"/>
                  <a:gd name="T5" fmla="*/ 0 h 150"/>
                  <a:gd name="T6" fmla="*/ 75 w 150"/>
                  <a:gd name="T7" fmla="*/ 150 h 150"/>
                </a:gdLst>
                <a:ahLst/>
                <a:cxnLst>
                  <a:cxn ang="0">
                    <a:pos x="T0" y="T1"/>
                  </a:cxn>
                  <a:cxn ang="0">
                    <a:pos x="T2" y="T3"/>
                  </a:cxn>
                  <a:cxn ang="0">
                    <a:pos x="T4" y="T5"/>
                  </a:cxn>
                  <a:cxn ang="0">
                    <a:pos x="T6" y="T7"/>
                  </a:cxn>
                </a:cxnLst>
                <a:rect l="0" t="0" r="r" b="b"/>
                <a:pathLst>
                  <a:path w="150" h="150">
                    <a:moveTo>
                      <a:pt x="75" y="150"/>
                    </a:moveTo>
                    <a:lnTo>
                      <a:pt x="0" y="0"/>
                    </a:lnTo>
                    <a:cubicBezTo>
                      <a:pt x="47" y="24"/>
                      <a:pt x="102" y="24"/>
                      <a:pt x="150" y="0"/>
                    </a:cubicBezTo>
                    <a:lnTo>
                      <a:pt x="75" y="150"/>
                    </a:lnTo>
                    <a:close/>
                  </a:path>
                </a:pathLst>
              </a:custGeom>
              <a:solidFill>
                <a:srgbClr val="404040"/>
              </a:solidFill>
              <a:ln w="0">
                <a:solidFill>
                  <a:srgbClr val="000000"/>
                </a:solidFill>
                <a:prstDash val="solid"/>
                <a:round/>
              </a:ln>
            </p:spPr>
            <p:txBody>
              <a:bodyPr vert="horz" wrap="square" lIns="91440" tIns="45720" rIns="91440" bIns="45720" numCol="1" anchor="t" anchorCtr="0" compatLnSpc="1"/>
              <a:lstStyle/>
              <a:p>
                <a:endParaRPr lang="zh-CN" altLang="en-US"/>
              </a:p>
            </p:txBody>
          </p:sp>
          <p:sp>
            <p:nvSpPr>
              <p:cNvPr id="44" name="Line 38"/>
              <p:cNvSpPr>
                <a:spLocks noChangeShapeType="1"/>
              </p:cNvSpPr>
              <p:nvPr/>
            </p:nvSpPr>
            <p:spPr bwMode="auto">
              <a:xfrm>
                <a:off x="5261" y="1968"/>
                <a:ext cx="0" cy="199"/>
              </a:xfrm>
              <a:prstGeom prst="line">
                <a:avLst/>
              </a:prstGeom>
              <a:noFill/>
              <a:ln w="14288" cap="rnd">
                <a:solidFill>
                  <a:srgbClr val="40404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5" name="Freeform 39"/>
              <p:cNvSpPr/>
              <p:nvPr/>
            </p:nvSpPr>
            <p:spPr bwMode="auto">
              <a:xfrm>
                <a:off x="5230" y="2152"/>
                <a:ext cx="61" cy="61"/>
              </a:xfrm>
              <a:custGeom>
                <a:avLst/>
                <a:gdLst>
                  <a:gd name="T0" fmla="*/ 76 w 151"/>
                  <a:gd name="T1" fmla="*/ 150 h 150"/>
                  <a:gd name="T2" fmla="*/ 0 w 151"/>
                  <a:gd name="T3" fmla="*/ 0 h 150"/>
                  <a:gd name="T4" fmla="*/ 151 w 151"/>
                  <a:gd name="T5" fmla="*/ 0 h 150"/>
                  <a:gd name="T6" fmla="*/ 151 w 151"/>
                  <a:gd name="T7" fmla="*/ 0 h 150"/>
                  <a:gd name="T8" fmla="*/ 76 w 151"/>
                  <a:gd name="T9" fmla="*/ 150 h 150"/>
                </a:gdLst>
                <a:ahLst/>
                <a:cxnLst>
                  <a:cxn ang="0">
                    <a:pos x="T0" y="T1"/>
                  </a:cxn>
                  <a:cxn ang="0">
                    <a:pos x="T2" y="T3"/>
                  </a:cxn>
                  <a:cxn ang="0">
                    <a:pos x="T4" y="T5"/>
                  </a:cxn>
                  <a:cxn ang="0">
                    <a:pos x="T6" y="T7"/>
                  </a:cxn>
                  <a:cxn ang="0">
                    <a:pos x="T8" y="T9"/>
                  </a:cxn>
                </a:cxnLst>
                <a:rect l="0" t="0" r="r" b="b"/>
                <a:pathLst>
                  <a:path w="151" h="150">
                    <a:moveTo>
                      <a:pt x="76" y="150"/>
                    </a:moveTo>
                    <a:lnTo>
                      <a:pt x="0" y="0"/>
                    </a:lnTo>
                    <a:cubicBezTo>
                      <a:pt x="48" y="23"/>
                      <a:pt x="103" y="23"/>
                      <a:pt x="151" y="0"/>
                    </a:cubicBezTo>
                    <a:lnTo>
                      <a:pt x="151" y="0"/>
                    </a:lnTo>
                    <a:lnTo>
                      <a:pt x="76" y="150"/>
                    </a:lnTo>
                    <a:close/>
                  </a:path>
                </a:pathLst>
              </a:custGeom>
              <a:solidFill>
                <a:srgbClr val="404040"/>
              </a:solidFill>
              <a:ln w="0">
                <a:solidFill>
                  <a:srgbClr val="000000"/>
                </a:solidFill>
                <a:prstDash val="solid"/>
                <a:round/>
              </a:ln>
            </p:spPr>
            <p:txBody>
              <a:bodyPr vert="horz" wrap="square" lIns="91440" tIns="45720" rIns="91440" bIns="45720" numCol="1" anchor="t" anchorCtr="0" compatLnSpc="1"/>
              <a:lstStyle/>
              <a:p>
                <a:endParaRPr lang="zh-CN" altLang="en-US"/>
              </a:p>
            </p:txBody>
          </p:sp>
          <p:sp>
            <p:nvSpPr>
              <p:cNvPr id="46" name="Freeform 40"/>
              <p:cNvSpPr/>
              <p:nvPr/>
            </p:nvSpPr>
            <p:spPr bwMode="auto">
              <a:xfrm>
                <a:off x="4217" y="2458"/>
                <a:ext cx="1044" cy="199"/>
              </a:xfrm>
              <a:custGeom>
                <a:avLst/>
                <a:gdLst>
                  <a:gd name="T0" fmla="*/ 1044 w 1044"/>
                  <a:gd name="T1" fmla="*/ 0 h 199"/>
                  <a:gd name="T2" fmla="*/ 1044 w 1044"/>
                  <a:gd name="T3" fmla="*/ 153 h 199"/>
                  <a:gd name="T4" fmla="*/ 0 w 1044"/>
                  <a:gd name="T5" fmla="*/ 153 h 199"/>
                  <a:gd name="T6" fmla="*/ 0 w 1044"/>
                  <a:gd name="T7" fmla="*/ 199 h 199"/>
                </a:gdLst>
                <a:ahLst/>
                <a:cxnLst>
                  <a:cxn ang="0">
                    <a:pos x="T0" y="T1"/>
                  </a:cxn>
                  <a:cxn ang="0">
                    <a:pos x="T2" y="T3"/>
                  </a:cxn>
                  <a:cxn ang="0">
                    <a:pos x="T4" y="T5"/>
                  </a:cxn>
                  <a:cxn ang="0">
                    <a:pos x="T6" y="T7"/>
                  </a:cxn>
                </a:cxnLst>
                <a:rect l="0" t="0" r="r" b="b"/>
                <a:pathLst>
                  <a:path w="1044" h="199">
                    <a:moveTo>
                      <a:pt x="1044" y="0"/>
                    </a:moveTo>
                    <a:lnTo>
                      <a:pt x="1044" y="153"/>
                    </a:lnTo>
                    <a:lnTo>
                      <a:pt x="0" y="153"/>
                    </a:lnTo>
                    <a:lnTo>
                      <a:pt x="0" y="199"/>
                    </a:lnTo>
                  </a:path>
                </a:pathLst>
              </a:custGeom>
              <a:noFill/>
              <a:ln w="14288"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47" name="Freeform 41"/>
              <p:cNvSpPr/>
              <p:nvPr/>
            </p:nvSpPr>
            <p:spPr bwMode="auto">
              <a:xfrm>
                <a:off x="4186" y="2642"/>
                <a:ext cx="62" cy="61"/>
              </a:xfrm>
              <a:custGeom>
                <a:avLst/>
                <a:gdLst>
                  <a:gd name="T0" fmla="*/ 75 w 151"/>
                  <a:gd name="T1" fmla="*/ 150 h 150"/>
                  <a:gd name="T2" fmla="*/ 0 w 151"/>
                  <a:gd name="T3" fmla="*/ 0 h 150"/>
                  <a:gd name="T4" fmla="*/ 151 w 151"/>
                  <a:gd name="T5" fmla="*/ 0 h 150"/>
                  <a:gd name="T6" fmla="*/ 75 w 151"/>
                  <a:gd name="T7" fmla="*/ 150 h 150"/>
                </a:gdLst>
                <a:ahLst/>
                <a:cxnLst>
                  <a:cxn ang="0">
                    <a:pos x="T0" y="T1"/>
                  </a:cxn>
                  <a:cxn ang="0">
                    <a:pos x="T2" y="T3"/>
                  </a:cxn>
                  <a:cxn ang="0">
                    <a:pos x="T4" y="T5"/>
                  </a:cxn>
                  <a:cxn ang="0">
                    <a:pos x="T6" y="T7"/>
                  </a:cxn>
                </a:cxnLst>
                <a:rect l="0" t="0" r="r" b="b"/>
                <a:pathLst>
                  <a:path w="151" h="150">
                    <a:moveTo>
                      <a:pt x="75" y="150"/>
                    </a:moveTo>
                    <a:lnTo>
                      <a:pt x="0" y="0"/>
                    </a:lnTo>
                    <a:cubicBezTo>
                      <a:pt x="48" y="24"/>
                      <a:pt x="103" y="24"/>
                      <a:pt x="151" y="0"/>
                    </a:cubicBezTo>
                    <a:lnTo>
                      <a:pt x="75" y="150"/>
                    </a:lnTo>
                    <a:close/>
                  </a:path>
                </a:pathLst>
              </a:custGeom>
              <a:solidFill>
                <a:srgbClr val="404040"/>
              </a:solidFill>
              <a:ln w="0">
                <a:solidFill>
                  <a:srgbClr val="000000"/>
                </a:solidFill>
                <a:prstDash val="solid"/>
                <a:round/>
              </a:ln>
            </p:spPr>
            <p:txBody>
              <a:bodyPr vert="horz" wrap="square" lIns="91440" tIns="45720" rIns="91440" bIns="45720" numCol="1" anchor="t" anchorCtr="0" compatLnSpc="1"/>
              <a:lstStyle/>
              <a:p>
                <a:endParaRPr lang="zh-CN" altLang="en-US"/>
              </a:p>
            </p:txBody>
          </p:sp>
          <p:sp>
            <p:nvSpPr>
              <p:cNvPr id="48" name="Line 42"/>
              <p:cNvSpPr>
                <a:spLocks noChangeShapeType="1"/>
              </p:cNvSpPr>
              <p:nvPr/>
            </p:nvSpPr>
            <p:spPr bwMode="auto">
              <a:xfrm>
                <a:off x="5261" y="2458"/>
                <a:ext cx="0" cy="199"/>
              </a:xfrm>
              <a:prstGeom prst="line">
                <a:avLst/>
              </a:prstGeom>
              <a:noFill/>
              <a:ln w="14288" cap="rnd">
                <a:solidFill>
                  <a:srgbClr val="40404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9" name="Freeform 43"/>
              <p:cNvSpPr/>
              <p:nvPr/>
            </p:nvSpPr>
            <p:spPr bwMode="auto">
              <a:xfrm>
                <a:off x="5230" y="2642"/>
                <a:ext cx="61" cy="61"/>
              </a:xfrm>
              <a:custGeom>
                <a:avLst/>
                <a:gdLst>
                  <a:gd name="T0" fmla="*/ 76 w 151"/>
                  <a:gd name="T1" fmla="*/ 150 h 150"/>
                  <a:gd name="T2" fmla="*/ 0 w 151"/>
                  <a:gd name="T3" fmla="*/ 0 h 150"/>
                  <a:gd name="T4" fmla="*/ 151 w 151"/>
                  <a:gd name="T5" fmla="*/ 0 h 150"/>
                  <a:gd name="T6" fmla="*/ 151 w 151"/>
                  <a:gd name="T7" fmla="*/ 0 h 150"/>
                  <a:gd name="T8" fmla="*/ 76 w 151"/>
                  <a:gd name="T9" fmla="*/ 150 h 150"/>
                </a:gdLst>
                <a:ahLst/>
                <a:cxnLst>
                  <a:cxn ang="0">
                    <a:pos x="T0" y="T1"/>
                  </a:cxn>
                  <a:cxn ang="0">
                    <a:pos x="T2" y="T3"/>
                  </a:cxn>
                  <a:cxn ang="0">
                    <a:pos x="T4" y="T5"/>
                  </a:cxn>
                  <a:cxn ang="0">
                    <a:pos x="T6" y="T7"/>
                  </a:cxn>
                  <a:cxn ang="0">
                    <a:pos x="T8" y="T9"/>
                  </a:cxn>
                </a:cxnLst>
                <a:rect l="0" t="0" r="r" b="b"/>
                <a:pathLst>
                  <a:path w="151" h="150">
                    <a:moveTo>
                      <a:pt x="76" y="150"/>
                    </a:moveTo>
                    <a:lnTo>
                      <a:pt x="0" y="0"/>
                    </a:lnTo>
                    <a:cubicBezTo>
                      <a:pt x="48" y="24"/>
                      <a:pt x="103" y="24"/>
                      <a:pt x="151" y="0"/>
                    </a:cubicBezTo>
                    <a:lnTo>
                      <a:pt x="151" y="0"/>
                    </a:lnTo>
                    <a:lnTo>
                      <a:pt x="76" y="150"/>
                    </a:lnTo>
                    <a:close/>
                  </a:path>
                </a:pathLst>
              </a:custGeom>
              <a:solidFill>
                <a:srgbClr val="404040"/>
              </a:solidFill>
              <a:ln w="0">
                <a:solidFill>
                  <a:srgbClr val="000000"/>
                </a:solidFill>
                <a:prstDash val="solid"/>
                <a:round/>
              </a:ln>
            </p:spPr>
            <p:txBody>
              <a:bodyPr vert="horz" wrap="square" lIns="91440" tIns="45720" rIns="91440" bIns="45720" numCol="1" anchor="t" anchorCtr="0" compatLnSpc="1"/>
              <a:lstStyle/>
              <a:p>
                <a:endParaRPr lang="zh-CN" altLang="en-US"/>
              </a:p>
            </p:txBody>
          </p:sp>
          <p:sp>
            <p:nvSpPr>
              <p:cNvPr id="50" name="Freeform 44"/>
              <p:cNvSpPr/>
              <p:nvPr/>
            </p:nvSpPr>
            <p:spPr bwMode="auto">
              <a:xfrm>
                <a:off x="5261" y="2458"/>
                <a:ext cx="1043" cy="199"/>
              </a:xfrm>
              <a:custGeom>
                <a:avLst/>
                <a:gdLst>
                  <a:gd name="T0" fmla="*/ 0 w 1043"/>
                  <a:gd name="T1" fmla="*/ 0 h 199"/>
                  <a:gd name="T2" fmla="*/ 0 w 1043"/>
                  <a:gd name="T3" fmla="*/ 153 h 199"/>
                  <a:gd name="T4" fmla="*/ 1043 w 1043"/>
                  <a:gd name="T5" fmla="*/ 153 h 199"/>
                  <a:gd name="T6" fmla="*/ 1043 w 1043"/>
                  <a:gd name="T7" fmla="*/ 199 h 199"/>
                </a:gdLst>
                <a:ahLst/>
                <a:cxnLst>
                  <a:cxn ang="0">
                    <a:pos x="T0" y="T1"/>
                  </a:cxn>
                  <a:cxn ang="0">
                    <a:pos x="T2" y="T3"/>
                  </a:cxn>
                  <a:cxn ang="0">
                    <a:pos x="T4" y="T5"/>
                  </a:cxn>
                  <a:cxn ang="0">
                    <a:pos x="T6" y="T7"/>
                  </a:cxn>
                </a:cxnLst>
                <a:rect l="0" t="0" r="r" b="b"/>
                <a:pathLst>
                  <a:path w="1043" h="199">
                    <a:moveTo>
                      <a:pt x="0" y="0"/>
                    </a:moveTo>
                    <a:lnTo>
                      <a:pt x="0" y="153"/>
                    </a:lnTo>
                    <a:lnTo>
                      <a:pt x="1043" y="153"/>
                    </a:lnTo>
                    <a:lnTo>
                      <a:pt x="1043" y="199"/>
                    </a:lnTo>
                  </a:path>
                </a:pathLst>
              </a:custGeom>
              <a:noFill/>
              <a:ln w="14288"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51" name="Freeform 45"/>
              <p:cNvSpPr/>
              <p:nvPr/>
            </p:nvSpPr>
            <p:spPr bwMode="auto">
              <a:xfrm>
                <a:off x="6273" y="2642"/>
                <a:ext cx="61" cy="61"/>
              </a:xfrm>
              <a:custGeom>
                <a:avLst/>
                <a:gdLst>
                  <a:gd name="T0" fmla="*/ 75 w 150"/>
                  <a:gd name="T1" fmla="*/ 150 h 150"/>
                  <a:gd name="T2" fmla="*/ 0 w 150"/>
                  <a:gd name="T3" fmla="*/ 0 h 150"/>
                  <a:gd name="T4" fmla="*/ 150 w 150"/>
                  <a:gd name="T5" fmla="*/ 0 h 150"/>
                  <a:gd name="T6" fmla="*/ 75 w 150"/>
                  <a:gd name="T7" fmla="*/ 150 h 150"/>
                </a:gdLst>
                <a:ahLst/>
                <a:cxnLst>
                  <a:cxn ang="0">
                    <a:pos x="T0" y="T1"/>
                  </a:cxn>
                  <a:cxn ang="0">
                    <a:pos x="T2" y="T3"/>
                  </a:cxn>
                  <a:cxn ang="0">
                    <a:pos x="T4" y="T5"/>
                  </a:cxn>
                  <a:cxn ang="0">
                    <a:pos x="T6" y="T7"/>
                  </a:cxn>
                </a:cxnLst>
                <a:rect l="0" t="0" r="r" b="b"/>
                <a:pathLst>
                  <a:path w="150" h="150">
                    <a:moveTo>
                      <a:pt x="75" y="150"/>
                    </a:moveTo>
                    <a:lnTo>
                      <a:pt x="0" y="0"/>
                    </a:lnTo>
                    <a:cubicBezTo>
                      <a:pt x="47" y="24"/>
                      <a:pt x="102" y="24"/>
                      <a:pt x="150" y="0"/>
                    </a:cubicBezTo>
                    <a:lnTo>
                      <a:pt x="75" y="150"/>
                    </a:lnTo>
                    <a:close/>
                  </a:path>
                </a:pathLst>
              </a:custGeom>
              <a:solidFill>
                <a:srgbClr val="404040"/>
              </a:solidFill>
              <a:ln w="0">
                <a:solidFill>
                  <a:srgbClr val="000000"/>
                </a:solidFill>
                <a:prstDash val="solid"/>
                <a:round/>
              </a:ln>
            </p:spPr>
            <p:txBody>
              <a:bodyPr vert="horz" wrap="square" lIns="91440" tIns="45720" rIns="91440" bIns="45720" numCol="1" anchor="t" anchorCtr="0" compatLnSpc="1"/>
              <a:lstStyle/>
              <a:p>
                <a:endParaRPr lang="zh-CN" altLang="en-US"/>
              </a:p>
            </p:txBody>
          </p:sp>
          <p:sp>
            <p:nvSpPr>
              <p:cNvPr id="52" name="Rectangle 46"/>
              <p:cNvSpPr>
                <a:spLocks noChangeArrowheads="1"/>
              </p:cNvSpPr>
              <p:nvPr/>
            </p:nvSpPr>
            <p:spPr bwMode="auto">
              <a:xfrm>
                <a:off x="4125" y="3438"/>
                <a:ext cx="2608" cy="367"/>
              </a:xfrm>
              <a:prstGeom prst="rect">
                <a:avLst/>
              </a:prstGeom>
              <a:solidFill>
                <a:srgbClr val="FFFFFF"/>
              </a:solidFill>
              <a:ln w="3175" cap="rnd">
                <a:solidFill>
                  <a:srgbClr val="404040"/>
                </a:solidFill>
                <a:prstDash val="solid"/>
                <a:round/>
              </a:ln>
            </p:spPr>
            <p:txBody>
              <a:bodyPr vert="horz" wrap="square" lIns="91440" tIns="45720" rIns="91440" bIns="45720" numCol="1" anchor="t" anchorCtr="0" compatLnSpc="1"/>
              <a:lstStyle/>
              <a:p>
                <a:endParaRPr lang="zh-CN" altLang="en-US"/>
              </a:p>
            </p:txBody>
          </p:sp>
          <p:sp>
            <p:nvSpPr>
              <p:cNvPr id="53" name="Rectangle 47"/>
              <p:cNvSpPr>
                <a:spLocks noChangeArrowheads="1"/>
              </p:cNvSpPr>
              <p:nvPr/>
            </p:nvSpPr>
            <p:spPr bwMode="auto">
              <a:xfrm>
                <a:off x="4143" y="3457"/>
                <a:ext cx="2085" cy="19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记录了所有针对文件的创建</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54" name="Rectangle 48"/>
              <p:cNvSpPr>
                <a:spLocks noChangeArrowheads="1"/>
              </p:cNvSpPr>
              <p:nvPr/>
            </p:nvSpPr>
            <p:spPr bwMode="auto">
              <a:xfrm>
                <a:off x="6014" y="3457"/>
                <a:ext cx="162"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55" name="Rectangle 49"/>
              <p:cNvSpPr>
                <a:spLocks noChangeArrowheads="1"/>
              </p:cNvSpPr>
              <p:nvPr/>
            </p:nvSpPr>
            <p:spPr bwMode="auto">
              <a:xfrm>
                <a:off x="6170" y="3457"/>
                <a:ext cx="240"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删除</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56" name="Rectangle 50"/>
              <p:cNvSpPr>
                <a:spLocks noChangeArrowheads="1"/>
              </p:cNvSpPr>
              <p:nvPr/>
            </p:nvSpPr>
            <p:spPr bwMode="auto">
              <a:xfrm>
                <a:off x="6481" y="3457"/>
                <a:ext cx="162"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a:ln>
                      <a:noFill/>
                    </a:ln>
                    <a:solidFill>
                      <a:srgbClr val="000000"/>
                    </a:solidFill>
                    <a:effectLst/>
                    <a:latin typeface="宋体" panose="02010600030101010101" pitchFamily="2" charset="-122"/>
                    <a:ea typeface="宋体" panose="02010600030101010101" pitchFamily="2" charset="-122"/>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7" name="Rectangle 51"/>
              <p:cNvSpPr>
                <a:spLocks noChangeArrowheads="1"/>
              </p:cNvSpPr>
              <p:nvPr/>
            </p:nvSpPr>
            <p:spPr bwMode="auto">
              <a:xfrm>
                <a:off x="4143" y="3645"/>
                <a:ext cx="56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重命名等操作</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58" name="Line 52"/>
              <p:cNvSpPr>
                <a:spLocks noChangeShapeType="1"/>
              </p:cNvSpPr>
              <p:nvPr/>
            </p:nvSpPr>
            <p:spPr bwMode="auto">
              <a:xfrm>
                <a:off x="3020" y="2760"/>
                <a:ext cx="1069" cy="833"/>
              </a:xfrm>
              <a:prstGeom prst="line">
                <a:avLst/>
              </a:prstGeom>
              <a:noFill/>
              <a:ln w="14288" cap="rnd">
                <a:solidFill>
                  <a:srgbClr val="40404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9" name="Freeform 53"/>
              <p:cNvSpPr/>
              <p:nvPr/>
            </p:nvSpPr>
            <p:spPr bwMode="auto">
              <a:xfrm>
                <a:off x="4058" y="3560"/>
                <a:ext cx="67" cy="61"/>
              </a:xfrm>
              <a:custGeom>
                <a:avLst/>
                <a:gdLst>
                  <a:gd name="T0" fmla="*/ 165 w 165"/>
                  <a:gd name="T1" fmla="*/ 152 h 152"/>
                  <a:gd name="T2" fmla="*/ 0 w 165"/>
                  <a:gd name="T3" fmla="*/ 119 h 152"/>
                  <a:gd name="T4" fmla="*/ 93 w 165"/>
                  <a:gd name="T5" fmla="*/ 0 h 152"/>
                  <a:gd name="T6" fmla="*/ 165 w 165"/>
                  <a:gd name="T7" fmla="*/ 152 h 152"/>
                </a:gdLst>
                <a:ahLst/>
                <a:cxnLst>
                  <a:cxn ang="0">
                    <a:pos x="T0" y="T1"/>
                  </a:cxn>
                  <a:cxn ang="0">
                    <a:pos x="T2" y="T3"/>
                  </a:cxn>
                  <a:cxn ang="0">
                    <a:pos x="T4" y="T5"/>
                  </a:cxn>
                  <a:cxn ang="0">
                    <a:pos x="T6" y="T7"/>
                  </a:cxn>
                </a:cxnLst>
                <a:rect l="0" t="0" r="r" b="b"/>
                <a:pathLst>
                  <a:path w="165" h="152">
                    <a:moveTo>
                      <a:pt x="165" y="152"/>
                    </a:moveTo>
                    <a:lnTo>
                      <a:pt x="0" y="119"/>
                    </a:lnTo>
                    <a:cubicBezTo>
                      <a:pt x="48" y="96"/>
                      <a:pt x="82" y="52"/>
                      <a:pt x="93" y="0"/>
                    </a:cubicBezTo>
                    <a:lnTo>
                      <a:pt x="165" y="152"/>
                    </a:lnTo>
                    <a:close/>
                  </a:path>
                </a:pathLst>
              </a:custGeom>
              <a:solidFill>
                <a:srgbClr val="404040"/>
              </a:solidFill>
              <a:ln w="0">
                <a:solidFill>
                  <a:srgbClr val="000000"/>
                </a:solidFill>
                <a:prstDash val="solid"/>
                <a:round/>
              </a:ln>
            </p:spPr>
            <p:txBody>
              <a:bodyPr vert="horz" wrap="square" lIns="91440" tIns="45720" rIns="91440" bIns="45720" numCol="1" anchor="t" anchorCtr="0" compatLnSpc="1"/>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6"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p:txBody>
          <a:bodyPr vert="horz" wrap="square" lIns="91440" tIns="45720" rIns="91440" bIns="45720" anchor="ctr" anchorCtr="0"/>
          <a:lstStyle/>
          <a:p>
            <a:r>
              <a:rPr lang="en-US" altLang="zh-CN" b="1" dirty="0"/>
              <a:t>8.</a:t>
            </a:r>
            <a:r>
              <a:rPr lang="zh-CN" altLang="zh-CN" b="1" dirty="0"/>
              <a:t>2.1HDFS HA</a:t>
            </a:r>
            <a:endParaRPr lang="zh-CN" altLang="en-US" dirty="0"/>
          </a:p>
        </p:txBody>
      </p:sp>
      <p:sp>
        <p:nvSpPr>
          <p:cNvPr id="14339" name="矩形 4"/>
          <p:cNvSpPr/>
          <p:nvPr/>
        </p:nvSpPr>
        <p:spPr>
          <a:xfrm>
            <a:off x="1298575" y="1350645"/>
            <a:ext cx="8229600" cy="706755"/>
          </a:xfrm>
          <a:prstGeom prst="rect">
            <a:avLst/>
          </a:prstGeom>
          <a:noFill/>
          <a:ln w="9525">
            <a:noFill/>
          </a:ln>
        </p:spPr>
        <p:txBody>
          <a:bodyPr>
            <a:spAutoFit/>
          </a:bodyPr>
          <a:lstStyle/>
          <a:p>
            <a:pPr>
              <a:buFont typeface="Arial" panose="020B0604020202020204" pitchFamily="34" charset="0"/>
              <a:buChar char="•"/>
            </a:pPr>
            <a:r>
              <a:rPr lang="en-US" altLang="zh-CN" sz="2000" dirty="0">
                <a:latin typeface="Arial" panose="020B0604020202020204" pitchFamily="34" charset="0"/>
              </a:rPr>
              <a:t>HDFS 1.0</a:t>
            </a:r>
            <a:r>
              <a:rPr lang="zh-CN" altLang="en-US" sz="2000" dirty="0">
                <a:latin typeface="Arial" panose="020B0604020202020204" pitchFamily="34" charset="0"/>
              </a:rPr>
              <a:t>存在</a:t>
            </a:r>
            <a:r>
              <a:rPr lang="zh-CN" altLang="zh-CN" sz="2000" dirty="0">
                <a:latin typeface="Arial" panose="020B0604020202020204" pitchFamily="34" charset="0"/>
              </a:rPr>
              <a:t>单点故障问题</a:t>
            </a:r>
            <a:endParaRPr lang="en-US" altLang="zh-CN" sz="2000" dirty="0">
              <a:latin typeface="Arial" panose="020B0604020202020204" pitchFamily="34" charset="0"/>
            </a:endParaRPr>
          </a:p>
          <a:p>
            <a:pPr>
              <a:buFont typeface="Arial" panose="020B0604020202020204" pitchFamily="34" charset="0"/>
              <a:buChar char="•"/>
            </a:pPr>
            <a:r>
              <a:rPr lang="zh-CN" altLang="en-US" sz="2000" dirty="0">
                <a:latin typeface="Arial" panose="020B0604020202020204" pitchFamily="34" charset="0"/>
              </a:rPr>
              <a:t>第二名称节点（</a:t>
            </a:r>
            <a:r>
              <a:rPr lang="en-US" altLang="zh-CN" sz="2000" dirty="0">
                <a:latin typeface="Arial" panose="020B0604020202020204" pitchFamily="34" charset="0"/>
              </a:rPr>
              <a:t>SecondaryNameNode</a:t>
            </a:r>
            <a:r>
              <a:rPr lang="zh-CN" altLang="en-US" sz="2000" dirty="0">
                <a:latin typeface="Arial" panose="020B0604020202020204" pitchFamily="34" charset="0"/>
              </a:rPr>
              <a:t>）无法解决单点故障问题</a:t>
            </a:r>
            <a:endParaRPr lang="zh-CN" altLang="en-US" sz="2000" dirty="0">
              <a:latin typeface="Arial" panose="020B0604020202020204" pitchFamily="34" charset="0"/>
            </a:endParaRPr>
          </a:p>
        </p:txBody>
      </p:sp>
      <p:pic>
        <p:nvPicPr>
          <p:cNvPr id="14340" name="Picture 2" descr="fsimage_edits"/>
          <p:cNvPicPr>
            <a:picLocks noChangeAspect="1"/>
          </p:cNvPicPr>
          <p:nvPr/>
        </p:nvPicPr>
        <p:blipFill>
          <a:blip r:embed="rId1"/>
          <a:stretch>
            <a:fillRect/>
          </a:stretch>
        </p:blipFill>
        <p:spPr>
          <a:xfrm>
            <a:off x="1690370" y="2227580"/>
            <a:ext cx="4267200" cy="4265930"/>
          </a:xfrm>
          <a:prstGeom prst="rect">
            <a:avLst/>
          </a:prstGeom>
          <a:noFill/>
          <a:ln w="9525">
            <a:noFill/>
          </a:ln>
        </p:spPr>
      </p:pic>
      <p:sp>
        <p:nvSpPr>
          <p:cNvPr id="14341" name="矩形 8"/>
          <p:cNvSpPr/>
          <p:nvPr/>
        </p:nvSpPr>
        <p:spPr>
          <a:xfrm>
            <a:off x="6629400" y="2929255"/>
            <a:ext cx="4137025" cy="368300"/>
          </a:xfrm>
          <a:prstGeom prst="rect">
            <a:avLst/>
          </a:prstGeom>
          <a:noFill/>
          <a:ln w="9525">
            <a:noFill/>
          </a:ln>
        </p:spPr>
        <p:txBody>
          <a:bodyPr wrap="square">
            <a:spAutoFit/>
          </a:bodyPr>
          <a:lstStyle/>
          <a:p>
            <a:pPr>
              <a:buFont typeface="Arial" panose="020B0604020202020204" pitchFamily="34" charset="0"/>
              <a:buChar char="•"/>
            </a:pPr>
            <a:r>
              <a:rPr lang="en-US" altLang="zh-CN" dirty="0">
                <a:latin typeface="Arial" panose="020B0604020202020204" pitchFamily="34" charset="0"/>
              </a:rPr>
              <a:t>SecondaryNameNode</a:t>
            </a:r>
            <a:r>
              <a:rPr lang="zh-CN" altLang="en-US" dirty="0">
                <a:latin typeface="Arial" panose="020B0604020202020204" pitchFamily="34" charset="0"/>
              </a:rPr>
              <a:t>会定期</a:t>
            </a:r>
            <a:r>
              <a:rPr lang="zh-CN" dirty="0">
                <a:latin typeface="Arial" panose="020B0604020202020204" pitchFamily="34" charset="0"/>
              </a:rPr>
              <a:t>合并</a:t>
            </a:r>
            <a:endParaRPr lang="zh-CN" dirty="0">
              <a:latin typeface="Arial" panose="020B0604020202020204" pitchFamily="34" charset="0"/>
            </a:endParaRPr>
          </a:p>
        </p:txBody>
      </p:sp>
      <p:sp>
        <p:nvSpPr>
          <p:cNvPr id="14342" name="TextBox 9"/>
          <p:cNvSpPr txBox="1"/>
          <p:nvPr/>
        </p:nvSpPr>
        <p:spPr>
          <a:xfrm>
            <a:off x="6629400" y="4169410"/>
            <a:ext cx="3505200" cy="1476375"/>
          </a:xfrm>
          <a:prstGeom prst="rect">
            <a:avLst/>
          </a:prstGeom>
          <a:noFill/>
          <a:ln w="9525">
            <a:noFill/>
          </a:ln>
        </p:spPr>
        <p:txBody>
          <a:bodyPr>
            <a:spAutoFit/>
          </a:bodyPr>
          <a:lstStyle/>
          <a:p>
            <a:pPr>
              <a:buFont typeface="Arial" panose="020B0604020202020204" pitchFamily="34" charset="0"/>
              <a:buChar char="•"/>
            </a:pPr>
            <a:r>
              <a:rPr lang="zh-CN" altLang="en-US" dirty="0">
                <a:latin typeface="Arial" panose="020B0604020202020204" pitchFamily="34" charset="0"/>
              </a:rPr>
              <a:t>不是热备份</a:t>
            </a:r>
            <a:endParaRPr lang="en-US" altLang="zh-CN" dirty="0">
              <a:latin typeface="Arial" panose="020B0604020202020204" pitchFamily="34" charset="0"/>
            </a:endParaRPr>
          </a:p>
          <a:p>
            <a:pPr>
              <a:buFont typeface="Arial" panose="020B0604020202020204" pitchFamily="34" charset="0"/>
              <a:buChar char="•"/>
            </a:pPr>
            <a:r>
              <a:rPr lang="zh-CN" altLang="en-US" dirty="0">
                <a:latin typeface="Arial" panose="020B0604020202020204" pitchFamily="34" charset="0"/>
              </a:rPr>
              <a:t>主要是</a:t>
            </a:r>
            <a:r>
              <a:rPr lang="zh-CN" altLang="zh-CN" dirty="0">
                <a:latin typeface="Arial" panose="020B0604020202020204" pitchFamily="34" charset="0"/>
              </a:rPr>
              <a:t>防止日志文件</a:t>
            </a:r>
            <a:r>
              <a:rPr lang="en-US" altLang="zh-CN" dirty="0">
                <a:latin typeface="Arial" panose="020B0604020202020204" pitchFamily="34" charset="0"/>
              </a:rPr>
              <a:t>EditLog</a:t>
            </a:r>
            <a:r>
              <a:rPr lang="zh-CN" altLang="zh-CN" dirty="0">
                <a:latin typeface="Arial" panose="020B0604020202020204" pitchFamily="34" charset="0"/>
              </a:rPr>
              <a:t>过大，导致名称节点失败恢复时消耗过多时间</a:t>
            </a:r>
            <a:endParaRPr lang="en-US" altLang="zh-CN" dirty="0">
              <a:latin typeface="Arial" panose="020B0604020202020204" pitchFamily="34" charset="0"/>
            </a:endParaRPr>
          </a:p>
          <a:p>
            <a:pPr>
              <a:buFont typeface="Arial" panose="020B0604020202020204" pitchFamily="34" charset="0"/>
              <a:buChar char="•"/>
            </a:pPr>
            <a:r>
              <a:rPr lang="zh-CN" altLang="en-US" dirty="0">
                <a:latin typeface="Arial" panose="020B0604020202020204" pitchFamily="34" charset="0"/>
              </a:rPr>
              <a:t>附带起到冷备份功能</a:t>
            </a:r>
            <a:endParaRPr lang="zh-CN" altLang="en-US"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34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3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1" grpId="0"/>
      <p:bldP spid="14341" grpId="1"/>
      <p:bldP spid="14342" grpId="0"/>
      <p:bldP spid="14342"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p:txBody>
          <a:bodyPr vert="horz" wrap="square" lIns="91440" tIns="45720" rIns="91440" bIns="45720" anchor="ctr" anchorCtr="0"/>
          <a:lstStyle/>
          <a:p>
            <a:r>
              <a:rPr lang="en-US" altLang="zh-CN" b="1" dirty="0"/>
              <a:t>8.</a:t>
            </a:r>
            <a:r>
              <a:rPr lang="zh-CN" altLang="zh-CN" b="1" dirty="0"/>
              <a:t>2.1HDFS HA</a:t>
            </a:r>
            <a:endParaRPr lang="zh-CN" altLang="en-US" dirty="0"/>
          </a:p>
        </p:txBody>
      </p:sp>
      <p:sp>
        <p:nvSpPr>
          <p:cNvPr id="15364" name="矩形 4"/>
          <p:cNvSpPr/>
          <p:nvPr/>
        </p:nvSpPr>
        <p:spPr>
          <a:xfrm>
            <a:off x="1023620" y="1492885"/>
            <a:ext cx="10158730" cy="4523105"/>
          </a:xfrm>
          <a:prstGeom prst="rect">
            <a:avLst/>
          </a:prstGeom>
          <a:noFill/>
          <a:ln w="9525">
            <a:noFill/>
          </a:ln>
        </p:spPr>
        <p:txBody>
          <a:bodyPr wrap="square">
            <a:spAutoFit/>
          </a:bodyPr>
          <a:lstStyle/>
          <a:p>
            <a:pPr indent="0">
              <a:lnSpc>
                <a:spcPct val="200000"/>
              </a:lnSpc>
              <a:buFont typeface="Arial" panose="020B0604020202020204" pitchFamily="34" charset="0"/>
              <a:buNone/>
            </a:pPr>
            <a:r>
              <a:rPr lang="en-US" altLang="zh-CN" sz="2400" dirty="0">
                <a:latin typeface="Arial" panose="020B0604020202020204" pitchFamily="34" charset="0"/>
              </a:rPr>
              <a:t>HDFS HA</a:t>
            </a:r>
            <a:r>
              <a:rPr lang="zh-CN" altLang="en-US" sz="2400" dirty="0">
                <a:latin typeface="Arial" panose="020B0604020202020204" pitchFamily="34" charset="0"/>
              </a:rPr>
              <a:t>（</a:t>
            </a:r>
            <a:r>
              <a:rPr lang="en-US" altLang="zh-CN" sz="2400" dirty="0">
                <a:latin typeface="Arial" panose="020B0604020202020204" pitchFamily="34" charset="0"/>
              </a:rPr>
              <a:t>High Availability</a:t>
            </a:r>
            <a:r>
              <a:rPr lang="zh-CN" altLang="en-US" sz="2400" dirty="0">
                <a:latin typeface="Arial" panose="020B0604020202020204" pitchFamily="34" charset="0"/>
              </a:rPr>
              <a:t>）是为了解决</a:t>
            </a:r>
            <a:r>
              <a:rPr lang="zh-CN" altLang="zh-CN" sz="2400" dirty="0">
                <a:latin typeface="Arial" panose="020B0604020202020204" pitchFamily="34" charset="0"/>
              </a:rPr>
              <a:t>单点故障问题</a:t>
            </a:r>
            <a:endParaRPr lang="en-US" altLang="zh-CN" sz="2400" dirty="0">
              <a:latin typeface="Arial" panose="020B0604020202020204" pitchFamily="34" charset="0"/>
            </a:endParaRPr>
          </a:p>
          <a:p>
            <a:pPr>
              <a:lnSpc>
                <a:spcPct val="200000"/>
              </a:lnSpc>
              <a:buFont typeface="Arial" panose="020B0604020202020204" pitchFamily="34" charset="0"/>
              <a:buChar char="•"/>
            </a:pPr>
            <a:r>
              <a:rPr lang="en-US" altLang="zh-CN" sz="2400" dirty="0">
                <a:latin typeface="Arial" panose="020B0604020202020204" pitchFamily="34" charset="0"/>
              </a:rPr>
              <a:t>HA</a:t>
            </a:r>
            <a:r>
              <a:rPr lang="zh-CN" altLang="zh-CN" sz="2400" dirty="0">
                <a:latin typeface="Arial" panose="020B0604020202020204" pitchFamily="34" charset="0"/>
              </a:rPr>
              <a:t>集群设置两个名称节点，“活跃（</a:t>
            </a:r>
            <a:r>
              <a:rPr lang="en-US" altLang="zh-CN" sz="2400" dirty="0">
                <a:latin typeface="Arial" panose="020B0604020202020204" pitchFamily="34" charset="0"/>
              </a:rPr>
              <a:t>Active</a:t>
            </a:r>
            <a:r>
              <a:rPr lang="zh-CN" altLang="zh-CN" sz="2400" dirty="0">
                <a:latin typeface="Arial" panose="020B0604020202020204" pitchFamily="34" charset="0"/>
              </a:rPr>
              <a:t>）”</a:t>
            </a:r>
            <a:r>
              <a:rPr lang="zh-CN" altLang="en-US" sz="2400" dirty="0">
                <a:latin typeface="Arial" panose="020B0604020202020204" pitchFamily="34" charset="0"/>
              </a:rPr>
              <a:t>和</a:t>
            </a:r>
            <a:r>
              <a:rPr lang="zh-CN" altLang="zh-CN" sz="2400" dirty="0">
                <a:latin typeface="Arial" panose="020B0604020202020204" pitchFamily="34" charset="0"/>
              </a:rPr>
              <a:t>“待命（</a:t>
            </a:r>
            <a:r>
              <a:rPr lang="en-US" altLang="zh-CN" sz="2400" dirty="0">
                <a:latin typeface="Arial" panose="020B0604020202020204" pitchFamily="34" charset="0"/>
              </a:rPr>
              <a:t>Standby</a:t>
            </a:r>
            <a:r>
              <a:rPr lang="zh-CN" altLang="zh-CN" sz="2400" dirty="0">
                <a:latin typeface="Arial" panose="020B0604020202020204" pitchFamily="34" charset="0"/>
              </a:rPr>
              <a:t>）”</a:t>
            </a:r>
            <a:endParaRPr lang="en-US" altLang="zh-CN" sz="2400" dirty="0">
              <a:latin typeface="Arial" panose="020B0604020202020204" pitchFamily="34" charset="0"/>
            </a:endParaRPr>
          </a:p>
          <a:p>
            <a:pPr>
              <a:lnSpc>
                <a:spcPct val="200000"/>
              </a:lnSpc>
              <a:buFont typeface="Arial" panose="020B0604020202020204" pitchFamily="34" charset="0"/>
              <a:buChar char="•"/>
            </a:pPr>
            <a:r>
              <a:rPr lang="zh-CN" altLang="zh-CN" sz="2400" dirty="0">
                <a:latin typeface="Arial" panose="020B0604020202020204" pitchFamily="34" charset="0"/>
              </a:rPr>
              <a:t>两种名称节点的状态同步，可以借助于一个共享存储系统来实现</a:t>
            </a:r>
            <a:endParaRPr lang="en-US" altLang="zh-CN" sz="2400" dirty="0">
              <a:latin typeface="Arial" panose="020B0604020202020204" pitchFamily="34" charset="0"/>
            </a:endParaRPr>
          </a:p>
          <a:p>
            <a:pPr>
              <a:lnSpc>
                <a:spcPct val="200000"/>
              </a:lnSpc>
              <a:buFont typeface="Arial" panose="020B0604020202020204" pitchFamily="34" charset="0"/>
              <a:buChar char="•"/>
            </a:pPr>
            <a:r>
              <a:rPr lang="zh-CN" altLang="zh-CN" sz="2400" dirty="0">
                <a:latin typeface="Arial" panose="020B0604020202020204" pitchFamily="34" charset="0"/>
              </a:rPr>
              <a:t>一旦活跃名称节点出现故障，就可以立即切换到待命的名称节点</a:t>
            </a:r>
            <a:endParaRPr lang="en-US" altLang="zh-CN" sz="2400" dirty="0">
              <a:latin typeface="Arial" panose="020B0604020202020204" pitchFamily="34" charset="0"/>
            </a:endParaRPr>
          </a:p>
          <a:p>
            <a:pPr>
              <a:lnSpc>
                <a:spcPct val="200000"/>
              </a:lnSpc>
              <a:buFont typeface="Arial" panose="020B0604020202020204" pitchFamily="34" charset="0"/>
              <a:buChar char="•"/>
            </a:pPr>
            <a:r>
              <a:rPr lang="en-US" altLang="zh-CN" sz="2400" dirty="0">
                <a:latin typeface="Arial" panose="020B0604020202020204" pitchFamily="34" charset="0"/>
              </a:rPr>
              <a:t>Zookeeper</a:t>
            </a:r>
            <a:r>
              <a:rPr lang="zh-CN" altLang="en-US" sz="2400" dirty="0">
                <a:latin typeface="Arial" panose="020B0604020202020204" pitchFamily="34" charset="0"/>
              </a:rPr>
              <a:t>确保一个名称节点在对外服务</a:t>
            </a:r>
            <a:endParaRPr lang="en-US" altLang="zh-CN" sz="2400" dirty="0">
              <a:latin typeface="Arial" panose="020B0604020202020204" pitchFamily="34" charset="0"/>
            </a:endParaRPr>
          </a:p>
          <a:p>
            <a:pPr>
              <a:lnSpc>
                <a:spcPct val="200000"/>
              </a:lnSpc>
              <a:buFont typeface="Arial" panose="020B0604020202020204" pitchFamily="34" charset="0"/>
              <a:buChar char="•"/>
            </a:pPr>
            <a:r>
              <a:rPr lang="zh-CN" altLang="en-US" sz="2400" dirty="0">
                <a:latin typeface="Arial" panose="020B0604020202020204" pitchFamily="34" charset="0"/>
              </a:rPr>
              <a:t>名称节点维护映射信息，数据节点同时向两个名称节点汇报信息</a:t>
            </a:r>
            <a:endParaRPr lang="zh-CN" altLang="en-US" sz="2400" dirty="0">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p:txBody>
          <a:bodyPr vert="horz" wrap="square" lIns="91440" tIns="45720" rIns="91440" bIns="45720" anchor="ctr" anchorCtr="0"/>
          <a:lstStyle/>
          <a:p>
            <a:r>
              <a:rPr lang="en-US" altLang="zh-CN" b="1" dirty="0"/>
              <a:t>8.</a:t>
            </a:r>
            <a:r>
              <a:rPr lang="zh-CN" altLang="zh-CN" b="1" dirty="0"/>
              <a:t>2.1HDFS HA</a:t>
            </a:r>
            <a:endParaRPr lang="zh-CN" altLang="en-US" dirty="0"/>
          </a:p>
        </p:txBody>
      </p:sp>
      <p:sp>
        <p:nvSpPr>
          <p:cNvPr id="15363" name="矩形 3"/>
          <p:cNvSpPr/>
          <p:nvPr/>
        </p:nvSpPr>
        <p:spPr>
          <a:xfrm>
            <a:off x="4853940" y="6224905"/>
            <a:ext cx="2519680" cy="460375"/>
          </a:xfrm>
          <a:prstGeom prst="rect">
            <a:avLst/>
          </a:prstGeom>
          <a:noFill/>
          <a:ln w="9525">
            <a:noFill/>
          </a:ln>
        </p:spPr>
        <p:txBody>
          <a:bodyPr wrap="none">
            <a:spAutoFit/>
          </a:bodyPr>
          <a:lstStyle/>
          <a:p>
            <a:r>
              <a:rPr lang="zh-CN" altLang="zh-CN" sz="2400" dirty="0">
                <a:latin typeface="Arial" panose="020B0604020202020204" pitchFamily="34" charset="0"/>
              </a:rPr>
              <a:t>图</a:t>
            </a:r>
            <a:r>
              <a:rPr lang="en-US" altLang="zh-CN" sz="2400" dirty="0">
                <a:latin typeface="Arial" panose="020B0604020202020204" pitchFamily="34" charset="0"/>
              </a:rPr>
              <a:t> HDFS HA</a:t>
            </a:r>
            <a:r>
              <a:rPr lang="zh-CN" altLang="zh-CN" sz="2400" dirty="0">
                <a:latin typeface="Arial" panose="020B0604020202020204" pitchFamily="34" charset="0"/>
              </a:rPr>
              <a:t>架构</a:t>
            </a:r>
            <a:endParaRPr lang="zh-CN" altLang="zh-CN" sz="2400" dirty="0">
              <a:latin typeface="Arial" panose="020B0604020202020204" pitchFamily="34" charset="0"/>
            </a:endParaRPr>
          </a:p>
        </p:txBody>
      </p:sp>
      <p:pic>
        <p:nvPicPr>
          <p:cNvPr id="15365" name="Picture 2"/>
          <p:cNvPicPr>
            <a:picLocks noChangeAspect="1"/>
          </p:cNvPicPr>
          <p:nvPr/>
        </p:nvPicPr>
        <p:blipFill>
          <a:blip r:embed="rId1"/>
          <a:stretch>
            <a:fillRect/>
          </a:stretch>
        </p:blipFill>
        <p:spPr>
          <a:xfrm>
            <a:off x="1508760" y="1468120"/>
            <a:ext cx="8625205" cy="4592955"/>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vert="horz" wrap="square" lIns="91440" tIns="45720" rIns="91440" bIns="45720" anchor="ctr" anchorCtr="0"/>
          <a:lstStyle/>
          <a:p>
            <a:r>
              <a:rPr lang="en-US" altLang="zh-CN" b="1" dirty="0"/>
              <a:t>8.</a:t>
            </a:r>
            <a:r>
              <a:rPr lang="zh-CN" altLang="zh-CN" b="1" dirty="0"/>
              <a:t>2.2HDFS 联邦</a:t>
            </a:r>
            <a:endParaRPr lang="zh-CN" altLang="en-US" dirty="0"/>
          </a:p>
        </p:txBody>
      </p:sp>
      <p:sp>
        <p:nvSpPr>
          <p:cNvPr id="16387" name="矩形 3"/>
          <p:cNvSpPr/>
          <p:nvPr/>
        </p:nvSpPr>
        <p:spPr>
          <a:xfrm>
            <a:off x="978535" y="2419350"/>
            <a:ext cx="9461500" cy="4028440"/>
          </a:xfrm>
          <a:prstGeom prst="rect">
            <a:avLst/>
          </a:prstGeom>
          <a:noFill/>
          <a:ln w="9525">
            <a:noFill/>
          </a:ln>
        </p:spPr>
        <p:txBody>
          <a:bodyPr wrap="square">
            <a:noAutofit/>
          </a:bodyPr>
          <a:lstStyle/>
          <a:p>
            <a:pPr indent="0">
              <a:lnSpc>
                <a:spcPct val="150000"/>
              </a:lnSpc>
              <a:buNone/>
            </a:pPr>
            <a:r>
              <a:rPr lang="zh-CN" altLang="zh-CN" sz="2400" dirty="0">
                <a:latin typeface="Arial" panose="020B0604020202020204" pitchFamily="34" charset="0"/>
              </a:rPr>
              <a:t>单点故障问题</a:t>
            </a:r>
            <a:r>
              <a:rPr lang="en-US" altLang="zh-CN" sz="2400" dirty="0">
                <a:latin typeface="Arial" panose="020B0604020202020204" pitchFamily="34" charset="0"/>
              </a:rPr>
              <a:t>--&gt;</a:t>
            </a:r>
            <a:r>
              <a:rPr lang="en-US" altLang="zh-CN" sz="2400" dirty="0">
                <a:latin typeface="Arial" panose="020B0604020202020204" pitchFamily="34" charset="0"/>
                <a:sym typeface="+mn-ea"/>
              </a:rPr>
              <a:t>HDFS HA</a:t>
            </a:r>
            <a:r>
              <a:rPr lang="zh-CN" altLang="en-US" sz="2400" dirty="0">
                <a:latin typeface="Arial" panose="020B0604020202020204" pitchFamily="34" charset="0"/>
                <a:sym typeface="+mn-ea"/>
              </a:rPr>
              <a:t>是热备份，提供高可用性</a:t>
            </a:r>
            <a:endParaRPr lang="zh-CN" altLang="en-US" sz="2400" dirty="0">
              <a:latin typeface="Arial" panose="020B0604020202020204" pitchFamily="34" charset="0"/>
              <a:sym typeface="+mn-ea"/>
            </a:endParaRPr>
          </a:p>
          <a:p>
            <a:pPr indent="0">
              <a:lnSpc>
                <a:spcPct val="150000"/>
              </a:lnSpc>
              <a:buNone/>
            </a:pPr>
            <a:r>
              <a:rPr lang="zh-CN" altLang="en-US" sz="2400" dirty="0">
                <a:latin typeface="Arial" panose="020B0604020202020204" pitchFamily="34" charset="0"/>
                <a:sym typeface="+mn-ea"/>
              </a:rPr>
              <a:t>但是无法解决</a:t>
            </a:r>
            <a:r>
              <a:rPr lang="en-US" altLang="zh-CN" sz="2400" dirty="0">
                <a:latin typeface="Arial" panose="020B0604020202020204" pitchFamily="34" charset="0"/>
                <a:sym typeface="+mn-ea"/>
              </a:rPr>
              <a:t>:</a:t>
            </a:r>
            <a:endParaRPr lang="en-US" altLang="zh-CN" sz="2400" dirty="0">
              <a:latin typeface="Arial" panose="020B0604020202020204" pitchFamily="34" charset="0"/>
              <a:sym typeface="+mn-ea"/>
            </a:endParaRPr>
          </a:p>
          <a:p>
            <a:pPr marL="457200" indent="-457200">
              <a:lnSpc>
                <a:spcPct val="150000"/>
              </a:lnSpc>
              <a:buAutoNum type="arabicPeriod"/>
            </a:pPr>
            <a:r>
              <a:rPr lang="zh-CN" altLang="en-US" sz="2400" dirty="0">
                <a:latin typeface="Arial" panose="020B0604020202020204" pitchFamily="34" charset="0"/>
                <a:sym typeface="+mn-ea"/>
              </a:rPr>
              <a:t>可扩展性</a:t>
            </a:r>
            <a:r>
              <a:rPr lang="en-US" altLang="zh-CN" sz="2400" dirty="0">
                <a:latin typeface="Arial" panose="020B0604020202020204" pitchFamily="34" charset="0"/>
                <a:sym typeface="+mn-ea"/>
              </a:rPr>
              <a:t>:</a:t>
            </a:r>
            <a:endParaRPr lang="en-US" altLang="zh-CN" sz="2400" dirty="0">
              <a:latin typeface="Arial" panose="020B0604020202020204" pitchFamily="34" charset="0"/>
              <a:sym typeface="+mn-ea"/>
            </a:endParaRPr>
          </a:p>
          <a:p>
            <a:pPr marL="914400" lvl="1" indent="-457200">
              <a:lnSpc>
                <a:spcPct val="150000"/>
              </a:lnSpc>
              <a:buFont typeface="Wingdings" panose="05000000000000000000" charset="0"/>
              <a:buChar char="l"/>
            </a:pPr>
            <a:r>
              <a:rPr lang="en-US" altLang="zh-CN" sz="2400" dirty="0">
                <a:latin typeface="Arial" panose="020B0604020202020204" pitchFamily="34" charset="0"/>
                <a:sym typeface="+mn-ea"/>
              </a:rPr>
              <a:t>名称节点为单个--&gt;不可水平扩展</a:t>
            </a:r>
            <a:endParaRPr lang="en-US" altLang="zh-CN" sz="2400" dirty="0">
              <a:latin typeface="Arial" panose="020B0604020202020204" pitchFamily="34" charset="0"/>
              <a:sym typeface="+mn-ea"/>
            </a:endParaRPr>
          </a:p>
          <a:p>
            <a:pPr marL="914400" lvl="1" indent="-457200">
              <a:lnSpc>
                <a:spcPct val="150000"/>
              </a:lnSpc>
              <a:buFont typeface="Wingdings" panose="05000000000000000000" charset="0"/>
              <a:buChar char="l"/>
            </a:pPr>
            <a:r>
              <a:rPr lang="en-US" altLang="zh-CN" sz="2400" dirty="0">
                <a:latin typeface="Arial" panose="020B0604020202020204" pitchFamily="34" charset="0"/>
                <a:sym typeface="+mn-ea"/>
              </a:rPr>
              <a:t>名称节点启动慢--&gt;不可纵向扩展</a:t>
            </a:r>
            <a:endParaRPr lang="en-US" altLang="zh-CN" sz="2400" dirty="0">
              <a:latin typeface="Arial" panose="020B0604020202020204" pitchFamily="34" charset="0"/>
              <a:sym typeface="+mn-ea"/>
            </a:endParaRPr>
          </a:p>
          <a:p>
            <a:pPr marL="457200" indent="-457200">
              <a:lnSpc>
                <a:spcPct val="150000"/>
              </a:lnSpc>
              <a:buFont typeface="+mj-lt"/>
              <a:buAutoNum type="arabicPeriod"/>
            </a:pPr>
            <a:r>
              <a:rPr lang="zh-CN" altLang="en-US" sz="2400" dirty="0">
                <a:latin typeface="Arial" panose="020B0604020202020204" pitchFamily="34" charset="0"/>
                <a:sym typeface="+mn-ea"/>
              </a:rPr>
              <a:t>系统性能</a:t>
            </a:r>
            <a:r>
              <a:rPr lang="en-US" altLang="zh-CN" sz="2400" dirty="0">
                <a:latin typeface="Arial" panose="020B0604020202020204" pitchFamily="34" charset="0"/>
                <a:sym typeface="+mn-ea"/>
              </a:rPr>
              <a:t>:</a:t>
            </a:r>
            <a:r>
              <a:rPr lang="zh-CN" altLang="zh-CN" sz="2400" dirty="0">
                <a:latin typeface="Arial" panose="020B0604020202020204" pitchFamily="34" charset="0"/>
              </a:rPr>
              <a:t>系统整体性能受限于单个名称节点的吞吐量</a:t>
            </a:r>
            <a:endParaRPr lang="en-US" altLang="zh-CN" sz="2400" dirty="0">
              <a:latin typeface="Arial" panose="020B0604020202020204" pitchFamily="34" charset="0"/>
            </a:endParaRPr>
          </a:p>
          <a:p>
            <a:pPr marL="457200" indent="-457200">
              <a:lnSpc>
                <a:spcPct val="150000"/>
              </a:lnSpc>
              <a:buFont typeface="+mj-lt"/>
              <a:buAutoNum type="arabicPeriod"/>
            </a:pPr>
            <a:r>
              <a:rPr lang="zh-CN" altLang="en-US" sz="2400" dirty="0">
                <a:latin typeface="Arial" panose="020B0604020202020204" pitchFamily="34" charset="0"/>
                <a:sym typeface="+mn-ea"/>
              </a:rPr>
              <a:t>隔离性</a:t>
            </a:r>
            <a:r>
              <a:rPr lang="en-US" altLang="zh-CN" sz="2400" dirty="0">
                <a:latin typeface="Arial" panose="020B0604020202020204" pitchFamily="34" charset="0"/>
                <a:sym typeface="+mn-ea"/>
              </a:rPr>
              <a:t>:</a:t>
            </a:r>
            <a:r>
              <a:rPr lang="zh-CN" altLang="zh-CN" sz="2400" dirty="0">
                <a:latin typeface="Arial" panose="020B0604020202020204" pitchFamily="34" charset="0"/>
              </a:rPr>
              <a:t>单个名称节点难以提供不同程序之间的隔离性</a:t>
            </a:r>
            <a:endParaRPr lang="en-US" altLang="zh-CN" sz="2400" dirty="0">
              <a:latin typeface="Arial" panose="020B0604020202020204" pitchFamily="34" charset="0"/>
            </a:endParaRPr>
          </a:p>
          <a:p>
            <a:pPr>
              <a:lnSpc>
                <a:spcPct val="150000"/>
              </a:lnSpc>
              <a:buFont typeface="Arial" panose="020B0604020202020204" pitchFamily="34" charset="0"/>
              <a:buChar char="•"/>
            </a:pPr>
            <a:endParaRPr lang="zh-CN" altLang="en-US" sz="2400" dirty="0">
              <a:latin typeface="Arial" panose="020B0604020202020204" pitchFamily="34" charset="0"/>
            </a:endParaRPr>
          </a:p>
        </p:txBody>
      </p:sp>
      <p:sp>
        <p:nvSpPr>
          <p:cNvPr id="16394" name="矩形 11"/>
          <p:cNvSpPr/>
          <p:nvPr/>
        </p:nvSpPr>
        <p:spPr>
          <a:xfrm>
            <a:off x="978535" y="1691005"/>
            <a:ext cx="3519170" cy="460375"/>
          </a:xfrm>
          <a:prstGeom prst="rect">
            <a:avLst/>
          </a:prstGeom>
          <a:noFill/>
          <a:ln w="9525">
            <a:noFill/>
          </a:ln>
        </p:spPr>
        <p:txBody>
          <a:bodyPr wrap="none">
            <a:spAutoFit/>
          </a:bodyPr>
          <a:lstStyle/>
          <a:p>
            <a:r>
              <a:rPr lang="en-US" altLang="zh-CN" sz="2400" b="1" dirty="0">
                <a:solidFill>
                  <a:srgbClr val="FF0000"/>
                </a:solidFill>
                <a:latin typeface="Arial" panose="020B0604020202020204" pitchFamily="34" charset="0"/>
              </a:rPr>
              <a:t>1.HDFS1.0</a:t>
            </a:r>
            <a:r>
              <a:rPr lang="zh-CN" altLang="zh-CN" sz="2400" b="1" dirty="0">
                <a:solidFill>
                  <a:srgbClr val="FF0000"/>
                </a:solidFill>
                <a:latin typeface="Arial" panose="020B0604020202020204" pitchFamily="34" charset="0"/>
              </a:rPr>
              <a:t>中存在的问题</a:t>
            </a:r>
            <a:endParaRPr lang="zh-CN" altLang="zh-CN" sz="2400" b="1" dirty="0">
              <a:solidFill>
                <a:srgbClr val="FF0000"/>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8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38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387">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387">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38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vert="horz" wrap="square" lIns="91440" tIns="45720" rIns="91440" bIns="45720" anchor="ctr" anchorCtr="0"/>
          <a:lstStyle/>
          <a:p>
            <a:r>
              <a:rPr lang="en-US" altLang="zh-CN" b="1" dirty="0">
                <a:sym typeface="+mn-ea"/>
              </a:rPr>
              <a:t>8.</a:t>
            </a:r>
            <a:r>
              <a:rPr lang="zh-CN" altLang="zh-CN" b="1" dirty="0">
                <a:sym typeface="+mn-ea"/>
              </a:rPr>
              <a:t>2.2HDFS 联邦</a:t>
            </a:r>
            <a:endParaRPr lang="zh-CN" altLang="en-US" dirty="0"/>
          </a:p>
        </p:txBody>
      </p:sp>
      <p:sp>
        <p:nvSpPr>
          <p:cNvPr id="16388" name="矩形 5"/>
          <p:cNvSpPr/>
          <p:nvPr/>
        </p:nvSpPr>
        <p:spPr>
          <a:xfrm>
            <a:off x="6463348" y="5880100"/>
            <a:ext cx="3553460" cy="460375"/>
          </a:xfrm>
          <a:prstGeom prst="rect">
            <a:avLst/>
          </a:prstGeom>
          <a:noFill/>
          <a:ln w="9525">
            <a:noFill/>
          </a:ln>
        </p:spPr>
        <p:txBody>
          <a:bodyPr wrap="none">
            <a:spAutoFit/>
          </a:bodyPr>
          <a:lstStyle/>
          <a:p>
            <a:r>
              <a:rPr lang="zh-CN" altLang="zh-CN" sz="2400" dirty="0">
                <a:latin typeface="Arial" panose="020B0604020202020204" pitchFamily="34" charset="0"/>
              </a:rPr>
              <a:t>图</a:t>
            </a:r>
            <a:r>
              <a:rPr lang="en-US" altLang="zh-CN" sz="2400" dirty="0">
                <a:latin typeface="Arial" panose="020B0604020202020204" pitchFamily="34" charset="0"/>
              </a:rPr>
              <a:t> HDFS Federation</a:t>
            </a:r>
            <a:r>
              <a:rPr lang="zh-CN" altLang="zh-CN" sz="2400" dirty="0">
                <a:latin typeface="Arial" panose="020B0604020202020204" pitchFamily="34" charset="0"/>
              </a:rPr>
              <a:t>架构</a:t>
            </a:r>
            <a:endParaRPr lang="zh-CN" altLang="zh-CN" sz="2400" dirty="0">
              <a:latin typeface="Arial" panose="020B0604020202020204" pitchFamily="34" charset="0"/>
            </a:endParaRPr>
          </a:p>
        </p:txBody>
      </p:sp>
      <p:sp>
        <p:nvSpPr>
          <p:cNvPr id="16389" name="矩形 6"/>
          <p:cNvSpPr/>
          <p:nvPr/>
        </p:nvSpPr>
        <p:spPr>
          <a:xfrm>
            <a:off x="735965" y="2084705"/>
            <a:ext cx="4028440" cy="2245360"/>
          </a:xfrm>
          <a:prstGeom prst="rect">
            <a:avLst/>
          </a:prstGeom>
          <a:noFill/>
          <a:ln w="9525">
            <a:noFill/>
          </a:ln>
        </p:spPr>
        <p:txBody>
          <a:bodyPr wrap="square">
            <a:spAutoFit/>
          </a:bodyPr>
          <a:lstStyle/>
          <a:p>
            <a:pPr>
              <a:buFont typeface="Arial" panose="020B0604020202020204" pitchFamily="34" charset="0"/>
              <a:buChar char="•"/>
            </a:pPr>
            <a:r>
              <a:rPr lang="zh-CN" altLang="zh-CN" sz="2000" dirty="0">
                <a:latin typeface="Arial" panose="020B0604020202020204" pitchFamily="34" charset="0"/>
              </a:rPr>
              <a:t>在</a:t>
            </a:r>
            <a:r>
              <a:rPr lang="en-US" altLang="zh-CN" sz="2000" dirty="0">
                <a:latin typeface="Arial" panose="020B0604020202020204" pitchFamily="34" charset="0"/>
              </a:rPr>
              <a:t>HDFS Federation</a:t>
            </a:r>
            <a:r>
              <a:rPr lang="zh-CN" altLang="zh-CN" sz="2000" dirty="0">
                <a:latin typeface="Arial" panose="020B0604020202020204" pitchFamily="34" charset="0"/>
              </a:rPr>
              <a:t>中，设计了多个</a:t>
            </a:r>
            <a:r>
              <a:rPr lang="zh-CN" altLang="zh-CN" sz="2000" dirty="0">
                <a:highlight>
                  <a:srgbClr val="FFFF00"/>
                </a:highlight>
                <a:latin typeface="Arial" panose="020B0604020202020204" pitchFamily="34" charset="0"/>
              </a:rPr>
              <a:t>相互独立</a:t>
            </a:r>
            <a:r>
              <a:rPr lang="zh-CN" altLang="zh-CN" sz="2000" dirty="0">
                <a:latin typeface="Arial" panose="020B0604020202020204" pitchFamily="34" charset="0"/>
              </a:rPr>
              <a:t>的名称节点，使得</a:t>
            </a:r>
            <a:r>
              <a:rPr lang="en-US" altLang="zh-CN" sz="2000" dirty="0">
                <a:latin typeface="Arial" panose="020B0604020202020204" pitchFamily="34" charset="0"/>
              </a:rPr>
              <a:t>HDFS</a:t>
            </a:r>
            <a:r>
              <a:rPr lang="zh-CN" altLang="zh-CN" sz="2000" dirty="0">
                <a:latin typeface="Arial" panose="020B0604020202020204" pitchFamily="34" charset="0"/>
              </a:rPr>
              <a:t>的命名服务能够水平扩展，这些名称节点分别进行各自命名空间和块的管理，相互之间是联盟</a:t>
            </a:r>
            <a:r>
              <a:rPr lang="zh-CN" altLang="en-US" sz="2000" dirty="0">
                <a:latin typeface="Arial" panose="020B0604020202020204" pitchFamily="34" charset="0"/>
              </a:rPr>
              <a:t>（</a:t>
            </a:r>
            <a:r>
              <a:rPr lang="en-US" altLang="zh-CN" sz="2000" dirty="0">
                <a:latin typeface="Arial" panose="020B0604020202020204" pitchFamily="34" charset="0"/>
              </a:rPr>
              <a:t>Federation</a:t>
            </a:r>
            <a:r>
              <a:rPr lang="zh-CN" altLang="en-US" sz="2000" dirty="0">
                <a:latin typeface="Arial" panose="020B0604020202020204" pitchFamily="34" charset="0"/>
              </a:rPr>
              <a:t>）</a:t>
            </a:r>
            <a:r>
              <a:rPr lang="zh-CN" altLang="zh-CN" sz="2000" dirty="0">
                <a:latin typeface="Arial" panose="020B0604020202020204" pitchFamily="34" charset="0"/>
              </a:rPr>
              <a:t>关系，不需要彼此协调</a:t>
            </a:r>
            <a:r>
              <a:rPr lang="zh-CN" altLang="en-US" sz="2000" dirty="0">
                <a:latin typeface="Arial" panose="020B0604020202020204" pitchFamily="34" charset="0"/>
              </a:rPr>
              <a:t>。并且向后兼容</a:t>
            </a:r>
            <a:endParaRPr lang="zh-CN" altLang="en-US" sz="2000" dirty="0">
              <a:latin typeface="Arial" panose="020B0604020202020204" pitchFamily="34" charset="0"/>
            </a:endParaRPr>
          </a:p>
        </p:txBody>
      </p:sp>
      <p:sp>
        <p:nvSpPr>
          <p:cNvPr id="16390" name="矩形 7"/>
          <p:cNvSpPr/>
          <p:nvPr/>
        </p:nvSpPr>
        <p:spPr>
          <a:xfrm>
            <a:off x="735965" y="4559935"/>
            <a:ext cx="4029075" cy="1014730"/>
          </a:xfrm>
          <a:prstGeom prst="rect">
            <a:avLst/>
          </a:prstGeom>
          <a:noFill/>
          <a:ln w="9525">
            <a:noFill/>
          </a:ln>
        </p:spPr>
        <p:txBody>
          <a:bodyPr wrap="square">
            <a:spAutoFit/>
          </a:bodyPr>
          <a:lstStyle/>
          <a:p>
            <a:pPr>
              <a:buFont typeface="Arial" panose="020B0604020202020204" pitchFamily="34" charset="0"/>
              <a:buChar char="•"/>
            </a:pPr>
            <a:r>
              <a:rPr lang="en-US" altLang="zh-CN" sz="2000" dirty="0">
                <a:latin typeface="Arial" panose="020B0604020202020204" pitchFamily="34" charset="0"/>
              </a:rPr>
              <a:t>HDFS Federation</a:t>
            </a:r>
            <a:r>
              <a:rPr lang="zh-CN" altLang="zh-CN" sz="2000" dirty="0">
                <a:latin typeface="Arial" panose="020B0604020202020204" pitchFamily="34" charset="0"/>
              </a:rPr>
              <a:t>中，所有名称节点会共享底层的数据节点存储资源</a:t>
            </a:r>
            <a:r>
              <a:rPr lang="zh-CN" altLang="en-US" sz="2000" dirty="0">
                <a:latin typeface="Arial" panose="020B0604020202020204" pitchFamily="34" charset="0"/>
              </a:rPr>
              <a:t>，数据节点向所有名称节点汇报</a:t>
            </a:r>
            <a:endParaRPr lang="zh-CN" altLang="en-US" sz="2000" dirty="0">
              <a:latin typeface="Arial" panose="020B0604020202020204" pitchFamily="34" charset="0"/>
            </a:endParaRPr>
          </a:p>
        </p:txBody>
      </p:sp>
      <p:sp>
        <p:nvSpPr>
          <p:cNvPr id="16391" name="矩形 8"/>
          <p:cNvSpPr/>
          <p:nvPr/>
        </p:nvSpPr>
        <p:spPr>
          <a:xfrm>
            <a:off x="735965" y="6005830"/>
            <a:ext cx="4949825" cy="398780"/>
          </a:xfrm>
          <a:prstGeom prst="rect">
            <a:avLst/>
          </a:prstGeom>
          <a:noFill/>
          <a:ln w="9525">
            <a:noFill/>
          </a:ln>
        </p:spPr>
        <p:txBody>
          <a:bodyPr wrap="square">
            <a:spAutoFit/>
          </a:bodyPr>
          <a:lstStyle/>
          <a:p>
            <a:pPr>
              <a:buFont typeface="Arial" panose="020B0604020202020204" pitchFamily="34" charset="0"/>
              <a:buChar char="•"/>
            </a:pPr>
            <a:r>
              <a:rPr lang="zh-CN" altLang="zh-CN" sz="2000" dirty="0">
                <a:latin typeface="Arial" panose="020B0604020202020204" pitchFamily="34" charset="0"/>
              </a:rPr>
              <a:t>属于同一个命名空间的块构成一个“块池”</a:t>
            </a:r>
            <a:endParaRPr lang="zh-CN" altLang="zh-CN" sz="2000" dirty="0">
              <a:latin typeface="Arial" panose="020B0604020202020204" pitchFamily="34" charset="0"/>
            </a:endParaRPr>
          </a:p>
        </p:txBody>
      </p:sp>
      <p:pic>
        <p:nvPicPr>
          <p:cNvPr id="16392" name="Picture 10"/>
          <p:cNvPicPr>
            <a:picLocks noChangeAspect="1"/>
          </p:cNvPicPr>
          <p:nvPr/>
        </p:nvPicPr>
        <p:blipFill>
          <a:blip r:embed="rId1"/>
          <a:stretch>
            <a:fillRect/>
          </a:stretch>
        </p:blipFill>
        <p:spPr>
          <a:xfrm>
            <a:off x="4958715" y="1854835"/>
            <a:ext cx="6563360" cy="3987165"/>
          </a:xfrm>
          <a:prstGeom prst="rect">
            <a:avLst/>
          </a:prstGeom>
          <a:noFill/>
          <a:ln w="9525">
            <a:noFill/>
          </a:ln>
        </p:spPr>
      </p:pic>
      <p:sp>
        <p:nvSpPr>
          <p:cNvPr id="16393" name="Rectangle 11"/>
          <p:cNvSpPr/>
          <p:nvPr/>
        </p:nvSpPr>
        <p:spPr>
          <a:xfrm>
            <a:off x="838200" y="1394460"/>
            <a:ext cx="3926205" cy="460375"/>
          </a:xfrm>
          <a:prstGeom prst="rect">
            <a:avLst/>
          </a:prstGeom>
          <a:noFill/>
          <a:ln w="9525">
            <a:noFill/>
          </a:ln>
        </p:spPr>
        <p:txBody>
          <a:bodyPr wrap="square" anchor="ctr" anchorCtr="0">
            <a:spAutoFit/>
          </a:bodyPr>
          <a:lstStyle/>
          <a:p>
            <a:pPr eaLnBrk="0" hangingPunct="0"/>
            <a:r>
              <a:rPr lang="en-US" altLang="zh-CN" sz="2400" b="1" dirty="0">
                <a:solidFill>
                  <a:srgbClr val="FF0000"/>
                </a:solidFill>
                <a:latin typeface="Times New Roman" panose="02020603050405020304" pitchFamily="18" charset="0"/>
                <a:cs typeface="Times New Roman" panose="02020603050405020304" pitchFamily="18" charset="0"/>
              </a:rPr>
              <a:t>2.HDFS </a:t>
            </a:r>
            <a:r>
              <a:rPr lang="zh-CN" altLang="en-US" sz="2400" b="1" dirty="0">
                <a:solidFill>
                  <a:srgbClr val="FF0000"/>
                </a:solidFill>
                <a:latin typeface="Times New Roman" panose="02020603050405020304" pitchFamily="18" charset="0"/>
                <a:cs typeface="Times New Roman" panose="02020603050405020304" pitchFamily="18" charset="0"/>
              </a:rPr>
              <a:t>联邦的设计</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vert="horz" wrap="square" lIns="91440" tIns="45720" rIns="91440" bIns="45720" anchor="ctr" anchorCtr="0"/>
          <a:lstStyle/>
          <a:p>
            <a:r>
              <a:rPr lang="en-US" altLang="zh-CN" b="1" dirty="0">
                <a:sym typeface="+mn-ea"/>
              </a:rPr>
              <a:t>8.</a:t>
            </a:r>
            <a:r>
              <a:rPr lang="zh-CN" altLang="zh-CN" b="1" dirty="0">
                <a:sym typeface="+mn-ea"/>
              </a:rPr>
              <a:t>2.2HDFS 联邦</a:t>
            </a:r>
            <a:endParaRPr lang="zh-CN" altLang="en-US" dirty="0"/>
          </a:p>
        </p:txBody>
      </p:sp>
      <p:pic>
        <p:nvPicPr>
          <p:cNvPr id="17411" name="Picture 2"/>
          <p:cNvPicPr>
            <a:picLocks noChangeAspect="1"/>
          </p:cNvPicPr>
          <p:nvPr/>
        </p:nvPicPr>
        <p:blipFill>
          <a:blip r:embed="rId1"/>
          <a:stretch>
            <a:fillRect/>
          </a:stretch>
        </p:blipFill>
        <p:spPr>
          <a:xfrm>
            <a:off x="7228205" y="1813560"/>
            <a:ext cx="3733800" cy="3819525"/>
          </a:xfrm>
          <a:prstGeom prst="rect">
            <a:avLst/>
          </a:prstGeom>
          <a:noFill/>
          <a:ln w="9525">
            <a:noFill/>
          </a:ln>
        </p:spPr>
      </p:pic>
      <p:sp>
        <p:nvSpPr>
          <p:cNvPr id="17412" name="矩形 3"/>
          <p:cNvSpPr/>
          <p:nvPr/>
        </p:nvSpPr>
        <p:spPr>
          <a:xfrm>
            <a:off x="6618605" y="6168073"/>
            <a:ext cx="5105400" cy="368300"/>
          </a:xfrm>
          <a:prstGeom prst="rect">
            <a:avLst/>
          </a:prstGeom>
          <a:noFill/>
          <a:ln w="9525">
            <a:noFill/>
          </a:ln>
        </p:spPr>
        <p:txBody>
          <a:bodyPr>
            <a:spAutoFit/>
          </a:bodyPr>
          <a:lstStyle/>
          <a:p>
            <a:pPr algn="ctr"/>
            <a:r>
              <a:rPr lang="zh-CN" altLang="zh-CN" dirty="0">
                <a:latin typeface="Arial" panose="020B0604020202020204" pitchFamily="34" charset="0"/>
              </a:rPr>
              <a:t>图</a:t>
            </a:r>
            <a:r>
              <a:rPr lang="en-US" altLang="zh-CN" dirty="0">
                <a:latin typeface="Arial" panose="020B0604020202020204" pitchFamily="34" charset="0"/>
              </a:rPr>
              <a:t> </a:t>
            </a:r>
            <a:r>
              <a:rPr lang="zh-CN" altLang="zh-CN" dirty="0">
                <a:latin typeface="Arial" panose="020B0604020202020204" pitchFamily="34" charset="0"/>
              </a:rPr>
              <a:t>客户端挂载表方式访问多个命名空间</a:t>
            </a:r>
            <a:endParaRPr lang="zh-CN" altLang="en-US" dirty="0">
              <a:latin typeface="Arial" panose="020B0604020202020204" pitchFamily="34" charset="0"/>
            </a:endParaRPr>
          </a:p>
        </p:txBody>
      </p:sp>
      <p:sp>
        <p:nvSpPr>
          <p:cNvPr id="17413" name="矩形 4"/>
          <p:cNvSpPr/>
          <p:nvPr/>
        </p:nvSpPr>
        <p:spPr>
          <a:xfrm>
            <a:off x="914400" y="2222500"/>
            <a:ext cx="5716905" cy="2306955"/>
          </a:xfrm>
          <a:prstGeom prst="rect">
            <a:avLst/>
          </a:prstGeom>
          <a:noFill/>
          <a:ln w="9525">
            <a:noFill/>
          </a:ln>
        </p:spPr>
        <p:txBody>
          <a:bodyPr wrap="square">
            <a:spAutoFit/>
          </a:bodyPr>
          <a:lstStyle/>
          <a:p>
            <a:pPr>
              <a:buFont typeface="Arial" panose="020B0604020202020204" pitchFamily="34" charset="0"/>
              <a:buChar char="•"/>
            </a:pPr>
            <a:r>
              <a:rPr lang="zh-CN" altLang="zh-CN" sz="2400" dirty="0">
                <a:latin typeface="Arial" panose="020B0604020202020204" pitchFamily="34" charset="0"/>
              </a:rPr>
              <a:t>对于</a:t>
            </a:r>
            <a:r>
              <a:rPr lang="en-US" altLang="zh-CN" sz="2400" dirty="0">
                <a:latin typeface="Arial" panose="020B0604020202020204" pitchFamily="34" charset="0"/>
              </a:rPr>
              <a:t>Federation</a:t>
            </a:r>
            <a:r>
              <a:rPr lang="zh-CN" altLang="zh-CN" sz="2400" dirty="0">
                <a:latin typeface="Arial" panose="020B0604020202020204" pitchFamily="34" charset="0"/>
              </a:rPr>
              <a:t>中的多个命名空间，可以采用客户端挂载表（</a:t>
            </a:r>
            <a:r>
              <a:rPr lang="en-US" altLang="zh-CN" sz="2400" dirty="0">
                <a:latin typeface="Arial" panose="020B0604020202020204" pitchFamily="34" charset="0"/>
              </a:rPr>
              <a:t>Client Side Mount Table</a:t>
            </a:r>
            <a:r>
              <a:rPr lang="zh-CN" altLang="zh-CN" sz="2400" dirty="0">
                <a:latin typeface="Arial" panose="020B0604020202020204" pitchFamily="34" charset="0"/>
              </a:rPr>
              <a:t>）方式进行数据共享和访问</a:t>
            </a:r>
            <a:endParaRPr lang="zh-CN" altLang="zh-CN" sz="2400" dirty="0">
              <a:latin typeface="Arial" panose="020B0604020202020204" pitchFamily="34" charset="0"/>
            </a:endParaRPr>
          </a:p>
          <a:p>
            <a:pPr>
              <a:buFont typeface="Arial" panose="020B0604020202020204" pitchFamily="34" charset="0"/>
              <a:buChar char="•"/>
            </a:pPr>
            <a:endParaRPr lang="en-US" altLang="zh-CN" sz="2400" dirty="0">
              <a:latin typeface="Arial" panose="020B0604020202020204" pitchFamily="34" charset="0"/>
            </a:endParaRPr>
          </a:p>
          <a:p>
            <a:pPr>
              <a:buFont typeface="Arial" panose="020B0604020202020204" pitchFamily="34" charset="0"/>
              <a:buChar char="•"/>
            </a:pPr>
            <a:r>
              <a:rPr lang="zh-CN" altLang="zh-CN" sz="2400" dirty="0">
                <a:latin typeface="Arial" panose="020B0604020202020204" pitchFamily="34" charset="0"/>
              </a:rPr>
              <a:t>客户可以访问不同的挂载点来访问不同的子命名空间</a:t>
            </a:r>
            <a:endParaRPr lang="zh-CN" altLang="zh-CN" sz="2400" dirty="0">
              <a:latin typeface="Arial" panose="020B0604020202020204" pitchFamily="34" charset="0"/>
            </a:endParaRPr>
          </a:p>
        </p:txBody>
      </p:sp>
      <p:sp>
        <p:nvSpPr>
          <p:cNvPr id="17414" name="矩形 5"/>
          <p:cNvSpPr/>
          <p:nvPr/>
        </p:nvSpPr>
        <p:spPr>
          <a:xfrm>
            <a:off x="914400" y="4863465"/>
            <a:ext cx="5596255" cy="1938020"/>
          </a:xfrm>
          <a:prstGeom prst="rect">
            <a:avLst/>
          </a:prstGeom>
          <a:noFill/>
          <a:ln w="9525">
            <a:noFill/>
          </a:ln>
        </p:spPr>
        <p:txBody>
          <a:bodyPr wrap="square">
            <a:spAutoFit/>
          </a:bodyPr>
          <a:lstStyle/>
          <a:p>
            <a:pPr>
              <a:buFont typeface="Arial" panose="020B0604020202020204" pitchFamily="34" charset="0"/>
              <a:buChar char="•"/>
            </a:pPr>
            <a:r>
              <a:rPr lang="zh-CN" altLang="zh-CN" sz="2400" dirty="0">
                <a:latin typeface="Arial" panose="020B0604020202020204" pitchFamily="34" charset="0"/>
              </a:rPr>
              <a:t>把各个命名空间挂载到全局“挂载表”（</a:t>
            </a:r>
            <a:r>
              <a:rPr lang="en-US" altLang="zh-CN" sz="2400" dirty="0">
                <a:latin typeface="Arial" panose="020B0604020202020204" pitchFamily="34" charset="0"/>
              </a:rPr>
              <a:t>mount-table</a:t>
            </a:r>
            <a:r>
              <a:rPr lang="zh-CN" altLang="zh-CN" sz="2400" dirty="0">
                <a:latin typeface="Arial" panose="020B0604020202020204" pitchFamily="34" charset="0"/>
              </a:rPr>
              <a:t>）中，实现数据全局共享</a:t>
            </a:r>
            <a:endParaRPr lang="zh-CN" altLang="zh-CN" sz="2400" dirty="0">
              <a:latin typeface="Arial" panose="020B0604020202020204" pitchFamily="34" charset="0"/>
            </a:endParaRPr>
          </a:p>
          <a:p>
            <a:pPr>
              <a:buFont typeface="Arial" panose="020B0604020202020204" pitchFamily="34" charset="0"/>
              <a:buChar char="•"/>
            </a:pPr>
            <a:endParaRPr lang="en-US" altLang="zh-CN" sz="2400" dirty="0">
              <a:latin typeface="Arial" panose="020B0604020202020204" pitchFamily="34" charset="0"/>
            </a:endParaRPr>
          </a:p>
          <a:p>
            <a:pPr>
              <a:buFont typeface="Arial" panose="020B0604020202020204" pitchFamily="34" charset="0"/>
              <a:buChar char="•"/>
            </a:pPr>
            <a:r>
              <a:rPr lang="zh-CN" altLang="zh-CN" sz="2400" dirty="0">
                <a:latin typeface="Arial" panose="020B0604020202020204" pitchFamily="34" charset="0"/>
              </a:rPr>
              <a:t>同样的命名空间挂载到个人的挂载表中，就成为应用程序可见的命名空间</a:t>
            </a:r>
            <a:endParaRPr lang="zh-CN" altLang="zh-CN" sz="2400" dirty="0">
              <a:latin typeface="Arial" panose="020B0604020202020204" pitchFamily="34" charset="0"/>
            </a:endParaRPr>
          </a:p>
        </p:txBody>
      </p:sp>
      <p:sp>
        <p:nvSpPr>
          <p:cNvPr id="17415" name="矩形 6"/>
          <p:cNvSpPr/>
          <p:nvPr/>
        </p:nvSpPr>
        <p:spPr>
          <a:xfrm>
            <a:off x="838200" y="1562735"/>
            <a:ext cx="3569335" cy="460375"/>
          </a:xfrm>
          <a:prstGeom prst="rect">
            <a:avLst/>
          </a:prstGeom>
          <a:noFill/>
          <a:ln w="9525">
            <a:noFill/>
          </a:ln>
        </p:spPr>
        <p:txBody>
          <a:bodyPr wrap="none">
            <a:spAutoFit/>
          </a:bodyPr>
          <a:lstStyle/>
          <a:p>
            <a:r>
              <a:rPr lang="en-US" altLang="zh-CN" sz="2400" b="1" dirty="0">
                <a:solidFill>
                  <a:srgbClr val="FF0000"/>
                </a:solidFill>
                <a:latin typeface="Arial" panose="020B0604020202020204" pitchFamily="34" charset="0"/>
              </a:rPr>
              <a:t>3. HDFS </a:t>
            </a:r>
            <a:r>
              <a:rPr lang="zh-CN" altLang="en-US" sz="2400" b="1" dirty="0">
                <a:solidFill>
                  <a:srgbClr val="FF0000"/>
                </a:solidFill>
                <a:latin typeface="Arial" panose="020B0604020202020204" pitchFamily="34" charset="0"/>
              </a:rPr>
              <a:t>联邦</a:t>
            </a:r>
            <a:r>
              <a:rPr lang="zh-CN" altLang="zh-CN" sz="2400" b="1" dirty="0">
                <a:solidFill>
                  <a:srgbClr val="FF0000"/>
                </a:solidFill>
                <a:latin typeface="Arial" panose="020B0604020202020204" pitchFamily="34" charset="0"/>
              </a:rPr>
              <a:t>的访问方式</a:t>
            </a:r>
            <a:endParaRPr lang="zh-CN" altLang="zh-CN" sz="2400" b="1" dirty="0">
              <a:solidFill>
                <a:srgbClr val="FF0000"/>
              </a:solidFill>
              <a:latin typeface="Arial" panose="020B0604020202020204" pitchFamily="34" charset="0"/>
            </a:endParaRPr>
          </a:p>
        </p:txBody>
      </p:sp>
      <p:sp>
        <p:nvSpPr>
          <p:cNvPr id="17416" name="矩形 7"/>
          <p:cNvSpPr/>
          <p:nvPr/>
        </p:nvSpPr>
        <p:spPr>
          <a:xfrm>
            <a:off x="10047605" y="4556760"/>
            <a:ext cx="1828800" cy="922020"/>
          </a:xfrm>
          <a:prstGeom prst="rect">
            <a:avLst/>
          </a:prstGeom>
          <a:noFill/>
          <a:ln w="9525">
            <a:noFill/>
          </a:ln>
        </p:spPr>
        <p:txBody>
          <a:bodyPr>
            <a:spAutoFit/>
          </a:bodyPr>
          <a:lstStyle/>
          <a:p>
            <a:r>
              <a:rPr lang="zh-CN" altLang="zh-CN" dirty="0">
                <a:latin typeface="Arial" panose="020B0604020202020204" pitchFamily="34" charset="0"/>
              </a:rPr>
              <a:t>每个阴影三角形代表一个独立的命名空间</a:t>
            </a:r>
            <a:endParaRPr lang="zh-CN" altLang="en-US" dirty="0">
              <a:latin typeface="Arial" panose="020B0604020202020204" pitchFamily="34" charset="0"/>
            </a:endParaRPr>
          </a:p>
        </p:txBody>
      </p:sp>
      <p:sp>
        <p:nvSpPr>
          <p:cNvPr id="17417" name="TextBox 8"/>
          <p:cNvSpPr txBox="1"/>
          <p:nvPr/>
        </p:nvSpPr>
        <p:spPr>
          <a:xfrm>
            <a:off x="6059805" y="4172585"/>
            <a:ext cx="1752600" cy="645160"/>
          </a:xfrm>
          <a:prstGeom prst="rect">
            <a:avLst/>
          </a:prstGeom>
          <a:noFill/>
          <a:ln w="9525">
            <a:noFill/>
          </a:ln>
        </p:spPr>
        <p:txBody>
          <a:bodyPr>
            <a:spAutoFit/>
          </a:bodyPr>
          <a:lstStyle/>
          <a:p>
            <a:r>
              <a:rPr lang="zh-CN" altLang="en-US" dirty="0">
                <a:latin typeface="Arial" panose="020B0604020202020204" pitchFamily="34" charset="0"/>
              </a:rPr>
              <a:t>名称节点</a:t>
            </a:r>
            <a:r>
              <a:rPr lang="en-US" altLang="zh-CN" dirty="0">
                <a:latin typeface="Arial" panose="020B0604020202020204" pitchFamily="34" charset="0"/>
              </a:rPr>
              <a:t>1</a:t>
            </a:r>
            <a:r>
              <a:rPr lang="zh-CN" altLang="en-US" dirty="0">
                <a:latin typeface="Arial" panose="020B0604020202020204" pitchFamily="34" charset="0"/>
              </a:rPr>
              <a:t>维护的命名空间</a:t>
            </a:r>
            <a:endParaRPr lang="zh-CN" altLang="en-US" dirty="0">
              <a:latin typeface="Arial" panose="020B0604020202020204" pitchFamily="34" charset="0"/>
            </a:endParaRPr>
          </a:p>
        </p:txBody>
      </p:sp>
      <p:sp>
        <p:nvSpPr>
          <p:cNvPr id="17418" name="TextBox 9"/>
          <p:cNvSpPr txBox="1"/>
          <p:nvPr/>
        </p:nvSpPr>
        <p:spPr>
          <a:xfrm>
            <a:off x="7914005" y="5587048"/>
            <a:ext cx="1600200" cy="645160"/>
          </a:xfrm>
          <a:prstGeom prst="rect">
            <a:avLst/>
          </a:prstGeom>
          <a:noFill/>
          <a:ln w="9525">
            <a:noFill/>
          </a:ln>
        </p:spPr>
        <p:txBody>
          <a:bodyPr>
            <a:spAutoFit/>
          </a:bodyPr>
          <a:lstStyle/>
          <a:p>
            <a:r>
              <a:rPr lang="zh-CN" altLang="en-US" dirty="0">
                <a:latin typeface="Arial" panose="020B0604020202020204" pitchFamily="34" charset="0"/>
              </a:rPr>
              <a:t>名称节点</a:t>
            </a:r>
            <a:r>
              <a:rPr lang="en-US" altLang="zh-CN" dirty="0">
                <a:latin typeface="Arial" panose="020B0604020202020204" pitchFamily="34" charset="0"/>
              </a:rPr>
              <a:t>2</a:t>
            </a:r>
            <a:r>
              <a:rPr lang="zh-CN" altLang="en-US" dirty="0">
                <a:latin typeface="Arial" panose="020B0604020202020204" pitchFamily="34" charset="0"/>
              </a:rPr>
              <a:t>维护的命名空间</a:t>
            </a:r>
            <a:endParaRPr lang="zh-CN" altLang="en-US" dirty="0">
              <a:latin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vert="horz" wrap="square" lIns="91440" tIns="45720" rIns="91440" bIns="45720" anchor="ctr" anchorCtr="0"/>
          <a:lstStyle/>
          <a:p>
            <a:r>
              <a:rPr lang="en-US" altLang="zh-CN" b="1" dirty="0">
                <a:sym typeface="+mn-ea"/>
              </a:rPr>
              <a:t>8.</a:t>
            </a:r>
            <a:r>
              <a:rPr lang="zh-CN" altLang="zh-CN" b="1" dirty="0">
                <a:sym typeface="+mn-ea"/>
              </a:rPr>
              <a:t>2.2HDFS 联邦</a:t>
            </a:r>
            <a:endParaRPr lang="zh-CN" altLang="en-US" dirty="0"/>
          </a:p>
        </p:txBody>
      </p:sp>
      <p:sp>
        <p:nvSpPr>
          <p:cNvPr id="18435" name="矩形 3"/>
          <p:cNvSpPr/>
          <p:nvPr/>
        </p:nvSpPr>
        <p:spPr>
          <a:xfrm>
            <a:off x="1012825" y="1954530"/>
            <a:ext cx="10047605" cy="4523105"/>
          </a:xfrm>
          <a:prstGeom prst="rect">
            <a:avLst/>
          </a:prstGeom>
          <a:noFill/>
          <a:ln w="9525">
            <a:noFill/>
          </a:ln>
        </p:spPr>
        <p:txBody>
          <a:bodyPr wrap="square">
            <a:spAutoFit/>
          </a:bodyPr>
          <a:lstStyle/>
          <a:p>
            <a:r>
              <a:rPr lang="en-US" altLang="zh-CN" sz="2400" dirty="0">
                <a:latin typeface="Arial" panose="020B0604020202020204" pitchFamily="34" charset="0"/>
              </a:rPr>
              <a:t>HDFS </a:t>
            </a:r>
            <a:r>
              <a:rPr lang="zh-CN" altLang="en-US" sz="2400" dirty="0">
                <a:latin typeface="Arial" panose="020B0604020202020204" pitchFamily="34" charset="0"/>
              </a:rPr>
              <a:t>联邦设计可解决单名称节点存在的</a:t>
            </a:r>
            <a:r>
              <a:rPr lang="en-US" altLang="zh-CN" sz="2400" dirty="0">
                <a:latin typeface="Arial" panose="020B0604020202020204" pitchFamily="34" charset="0"/>
              </a:rPr>
              <a:t>3</a:t>
            </a:r>
            <a:r>
              <a:rPr lang="zh-CN" altLang="en-US" sz="2400" dirty="0">
                <a:latin typeface="Arial" panose="020B0604020202020204" pitchFamily="34" charset="0"/>
              </a:rPr>
              <a:t>个问题：</a:t>
            </a:r>
            <a:endParaRPr lang="zh-CN" altLang="en-US" sz="2400" dirty="0">
              <a:latin typeface="Arial" panose="020B0604020202020204" pitchFamily="34" charset="0"/>
            </a:endParaRPr>
          </a:p>
          <a:p>
            <a:r>
              <a:rPr lang="zh-CN" altLang="en-US" sz="2400" b="1" dirty="0">
                <a:latin typeface="Arial" panose="020B0604020202020204" pitchFamily="34" charset="0"/>
              </a:rPr>
              <a:t>（</a:t>
            </a:r>
            <a:r>
              <a:rPr lang="en-US" altLang="zh-CN" sz="2400" b="1" dirty="0">
                <a:latin typeface="Arial" panose="020B0604020202020204" pitchFamily="34" charset="0"/>
              </a:rPr>
              <a:t>1</a:t>
            </a:r>
            <a:r>
              <a:rPr lang="zh-CN" altLang="en-US" sz="2400" b="1" dirty="0">
                <a:latin typeface="Arial" panose="020B0604020202020204" pitchFamily="34" charset="0"/>
              </a:rPr>
              <a:t>）</a:t>
            </a:r>
            <a:r>
              <a:rPr lang="en-US" altLang="zh-CN" sz="2400" b="1" dirty="0">
                <a:latin typeface="Arial" panose="020B0604020202020204" pitchFamily="34" charset="0"/>
              </a:rPr>
              <a:t>HDFS</a:t>
            </a:r>
            <a:r>
              <a:rPr lang="zh-CN" altLang="en-US" sz="2400" b="1" dirty="0">
                <a:latin typeface="Arial" panose="020B0604020202020204" pitchFamily="34" charset="0"/>
              </a:rPr>
              <a:t>集群扩展性</a:t>
            </a:r>
            <a:r>
              <a:rPr lang="zh-CN" altLang="en-US" sz="2400" dirty="0">
                <a:latin typeface="Arial" panose="020B0604020202020204" pitchFamily="34" charset="0"/>
              </a:rPr>
              <a:t>。多个名称节点各自分管一部分目录，使得一个集群可以扩展到更多节点，不再像</a:t>
            </a:r>
            <a:r>
              <a:rPr lang="en-US" altLang="zh-CN" sz="2400" dirty="0">
                <a:latin typeface="Arial" panose="020B0604020202020204" pitchFamily="34" charset="0"/>
              </a:rPr>
              <a:t>HDFS1.0</a:t>
            </a:r>
            <a:r>
              <a:rPr lang="zh-CN" altLang="en-US" sz="2400" dirty="0">
                <a:latin typeface="Arial" panose="020B0604020202020204" pitchFamily="34" charset="0"/>
              </a:rPr>
              <a:t>中那样由于内存的限制制约文件存储数目</a:t>
            </a:r>
            <a:endParaRPr lang="zh-CN" altLang="en-US" sz="2400" dirty="0">
              <a:latin typeface="Arial" panose="020B0604020202020204" pitchFamily="34" charset="0"/>
            </a:endParaRPr>
          </a:p>
          <a:p>
            <a:r>
              <a:rPr lang="zh-CN" altLang="en-US" sz="2400" b="1" dirty="0">
                <a:latin typeface="Arial" panose="020B0604020202020204" pitchFamily="34" charset="0"/>
              </a:rPr>
              <a:t>（</a:t>
            </a:r>
            <a:r>
              <a:rPr lang="en-US" altLang="zh-CN" sz="2400" b="1" dirty="0">
                <a:latin typeface="Arial" panose="020B0604020202020204" pitchFamily="34" charset="0"/>
              </a:rPr>
              <a:t>2</a:t>
            </a:r>
            <a:r>
              <a:rPr lang="zh-CN" altLang="en-US" sz="2400" b="1" dirty="0">
                <a:latin typeface="Arial" panose="020B0604020202020204" pitchFamily="34" charset="0"/>
              </a:rPr>
              <a:t>）性能更高效</a:t>
            </a:r>
            <a:r>
              <a:rPr lang="zh-CN" altLang="en-US" sz="2400" dirty="0">
                <a:latin typeface="Arial" panose="020B0604020202020204" pitchFamily="34" charset="0"/>
              </a:rPr>
              <a:t>。多个名称节点管理不同的数据，且同时对外提供服务，将为用户提供更高的读写吞吐率</a:t>
            </a:r>
            <a:endParaRPr lang="zh-CN" altLang="en-US" sz="2400" dirty="0">
              <a:latin typeface="Arial" panose="020B0604020202020204" pitchFamily="34" charset="0"/>
            </a:endParaRPr>
          </a:p>
          <a:p>
            <a:r>
              <a:rPr lang="zh-CN" altLang="en-US" sz="2400" b="1" dirty="0">
                <a:latin typeface="Arial" panose="020B0604020202020204" pitchFamily="34" charset="0"/>
              </a:rPr>
              <a:t>（</a:t>
            </a:r>
            <a:r>
              <a:rPr lang="en-US" altLang="zh-CN" sz="2400" b="1" dirty="0">
                <a:latin typeface="Arial" panose="020B0604020202020204" pitchFamily="34" charset="0"/>
              </a:rPr>
              <a:t>3</a:t>
            </a:r>
            <a:r>
              <a:rPr lang="zh-CN" altLang="en-US" sz="2400" b="1" dirty="0">
                <a:latin typeface="Arial" panose="020B0604020202020204" pitchFamily="34" charset="0"/>
              </a:rPr>
              <a:t>）良好的隔离性</a:t>
            </a:r>
            <a:r>
              <a:rPr lang="zh-CN" altLang="en-US" sz="2400" dirty="0">
                <a:latin typeface="Arial" panose="020B0604020202020204" pitchFamily="34" charset="0"/>
              </a:rPr>
              <a:t>。用户可根据需要将不同业务数据交由不同名称节点管理，这样不同业务之间影响很小</a:t>
            </a:r>
            <a:endParaRPr lang="en-US" altLang="zh-CN" sz="2400" dirty="0">
              <a:latin typeface="Arial" panose="020B0604020202020204" pitchFamily="34" charset="0"/>
            </a:endParaRPr>
          </a:p>
          <a:p>
            <a:endParaRPr lang="zh-CN" altLang="en-US" sz="2400" dirty="0">
              <a:latin typeface="Arial" panose="020B0604020202020204" pitchFamily="34" charset="0"/>
            </a:endParaRPr>
          </a:p>
          <a:p>
            <a:r>
              <a:rPr lang="zh-CN" altLang="en-US" sz="2400" dirty="0">
                <a:latin typeface="Arial" panose="020B0604020202020204" pitchFamily="34" charset="0"/>
              </a:rPr>
              <a:t>需要注意的，</a:t>
            </a:r>
            <a:r>
              <a:rPr lang="en-US" altLang="zh-CN" sz="2400" dirty="0">
                <a:latin typeface="Arial" panose="020B0604020202020204" pitchFamily="34" charset="0"/>
              </a:rPr>
              <a:t>HDFS Federation</a:t>
            </a:r>
            <a:r>
              <a:rPr lang="zh-CN" altLang="en-US" sz="2400" dirty="0">
                <a:latin typeface="Arial" panose="020B0604020202020204" pitchFamily="34" charset="0"/>
              </a:rPr>
              <a:t>并不能解决单点故障问题，也就是说，每个名称节点都存在在单点故障问题，需要为每个名称节点部署一个后备名称节点，以应对名称节点挂掉对业务产生的影响</a:t>
            </a:r>
            <a:endParaRPr lang="zh-CN" altLang="en-US" sz="2400" dirty="0">
              <a:latin typeface="Arial" panose="020B0604020202020204" pitchFamily="34" charset="0"/>
            </a:endParaRPr>
          </a:p>
        </p:txBody>
      </p:sp>
      <p:sp>
        <p:nvSpPr>
          <p:cNvPr id="18436" name="Rectangle 1"/>
          <p:cNvSpPr/>
          <p:nvPr/>
        </p:nvSpPr>
        <p:spPr>
          <a:xfrm>
            <a:off x="938213" y="1419543"/>
            <a:ext cx="4932680" cy="460375"/>
          </a:xfrm>
          <a:prstGeom prst="rect">
            <a:avLst/>
          </a:prstGeom>
          <a:noFill/>
          <a:ln w="9525">
            <a:noFill/>
          </a:ln>
        </p:spPr>
        <p:txBody>
          <a:bodyPr wrap="none" anchor="ctr" anchorCtr="0">
            <a:spAutoFit/>
          </a:bodyPr>
          <a:lstStyle/>
          <a:p>
            <a:pPr eaLnBrk="0" hangingPunct="0"/>
            <a:r>
              <a:rPr lang="en-US" altLang="zh-CN" sz="2400" b="1" dirty="0">
                <a:solidFill>
                  <a:srgbClr val="FF0000"/>
                </a:solidFill>
                <a:latin typeface="Times New Roman" panose="02020603050405020304" pitchFamily="18" charset="0"/>
                <a:cs typeface="Times New Roman" panose="02020603050405020304" pitchFamily="18" charset="0"/>
              </a:rPr>
              <a:t>4.HDFS </a:t>
            </a:r>
            <a:r>
              <a:rPr lang="zh-CN" altLang="en-US" sz="2400" b="1" dirty="0">
                <a:solidFill>
                  <a:srgbClr val="FF0000"/>
                </a:solidFill>
                <a:latin typeface="Times New Roman" panose="02020603050405020304" pitchFamily="18" charset="0"/>
                <a:cs typeface="Times New Roman" panose="02020603050405020304" pitchFamily="18" charset="0"/>
              </a:rPr>
              <a:t>联邦相对于</a:t>
            </a:r>
            <a:r>
              <a:rPr lang="en-US" altLang="zh-CN" sz="2400" b="1" dirty="0">
                <a:solidFill>
                  <a:srgbClr val="FF0000"/>
                </a:solidFill>
                <a:latin typeface="Times New Roman" panose="02020603050405020304" pitchFamily="18" charset="0"/>
                <a:cs typeface="Times New Roman" panose="02020603050405020304" pitchFamily="18" charset="0"/>
              </a:rPr>
              <a:t>HDFS1.0</a:t>
            </a:r>
            <a:r>
              <a:rPr lang="zh-CN" altLang="en-US" sz="2400" b="1" dirty="0">
                <a:solidFill>
                  <a:srgbClr val="FF0000"/>
                </a:solidFill>
                <a:latin typeface="Times New Roman" panose="02020603050405020304" pitchFamily="18" charset="0"/>
                <a:cs typeface="Times New Roman" panose="02020603050405020304" pitchFamily="18" charset="0"/>
              </a:rPr>
              <a:t>的优势</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3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43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43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E57CE09-A6DF-4F65-B9AD-CB157D51E68C}" type="slidenum">
              <a:rPr lang="zh-CN" altLang="en-US" smtClean="0"/>
            </a:fld>
            <a:endParaRPr lang="zh-CN" altLang="en-US"/>
          </a:p>
        </p:txBody>
      </p:sp>
      <p:sp>
        <p:nvSpPr>
          <p:cNvPr id="4" name="文本框 3"/>
          <p:cNvSpPr txBox="1"/>
          <p:nvPr>
            <p:custDataLst>
              <p:tags r:id="rId1"/>
            </p:custDataLst>
          </p:nvPr>
        </p:nvSpPr>
        <p:spPr>
          <a:xfrm>
            <a:off x="1219200" y="635000"/>
            <a:ext cx="9753600" cy="2143125"/>
          </a:xfrm>
          <a:prstGeom prst="rect">
            <a:avLst/>
          </a:prstGeom>
          <a:noFill/>
        </p:spPr>
        <p:txBody>
          <a:bodyPr wrap="square" rtlCol="0" anchor="ctr" anchorCtr="0">
            <a:noAutofit/>
          </a:bodyPr>
          <a:lstStyle/>
          <a:p>
            <a:pPr lvl="0" algn="l">
              <a:buNone/>
            </a:pPr>
            <a:r>
              <a:rPr lang="en-US" altLang="zh-CN" sz="2600">
                <a:solidFill>
                  <a:srgbClr val="000000"/>
                </a:solidFill>
                <a:latin typeface="微软雅黑" panose="020B0503020204020204" charset="-122"/>
                <a:ea typeface="微软雅黑" panose="020B0503020204020204" charset="-122"/>
              </a:rPr>
              <a:t>Hadoop</a:t>
            </a:r>
            <a:r>
              <a:rPr lang="zh-CN" altLang="en-US" sz="2600">
                <a:solidFill>
                  <a:srgbClr val="000000"/>
                </a:solidFill>
                <a:latin typeface="微软雅黑" panose="020B0503020204020204" charset="-122"/>
                <a:ea typeface="微软雅黑" panose="020B0503020204020204" charset="-122"/>
              </a:rPr>
              <a:t>的改进与提升主要体现在（）</a:t>
            </a:r>
            <a:endParaRPr lang="zh-CN" altLang="en-US" sz="2600">
              <a:solidFill>
                <a:srgbClr val="000000"/>
              </a:solidFill>
              <a:latin typeface="微软雅黑" panose="020B0503020204020204" charset="-122"/>
              <a:ea typeface="微软雅黑" panose="020B0503020204020204" charset="-122"/>
            </a:endParaRPr>
          </a:p>
        </p:txBody>
      </p:sp>
      <p:sp>
        <p:nvSpPr>
          <p:cNvPr id="5" name="文本框 4"/>
          <p:cNvSpPr txBox="1"/>
          <p:nvPr>
            <p:custDataLst>
              <p:tags r:id="rId2"/>
            </p:custDataLst>
          </p:nvPr>
        </p:nvSpPr>
        <p:spPr>
          <a:xfrm>
            <a:off x="2438400" y="2785745"/>
            <a:ext cx="85344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集群横向升级，采用更多的设备</a:t>
            </a:r>
            <a:endParaRPr lang="zh-CN" altLang="en-US" sz="2600">
              <a:solidFill>
                <a:srgbClr val="000000"/>
              </a:solidFill>
              <a:latin typeface="微软雅黑" panose="020B0503020204020204" charset="-122"/>
              <a:ea typeface="微软雅黑" panose="020B0503020204020204" charset="-122"/>
            </a:endParaRPr>
          </a:p>
        </p:txBody>
      </p:sp>
      <p:sp>
        <p:nvSpPr>
          <p:cNvPr id="6" name="文本框 5"/>
          <p:cNvSpPr txBox="1"/>
          <p:nvPr>
            <p:custDataLst>
              <p:tags r:id="rId3"/>
            </p:custDataLst>
          </p:nvPr>
        </p:nvSpPr>
        <p:spPr>
          <a:xfrm>
            <a:off x="2438400" y="3642995"/>
            <a:ext cx="85344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集群纵向升级，采用更好的设备</a:t>
            </a:r>
            <a:endParaRPr lang="zh-CN" altLang="en-US" sz="2600">
              <a:solidFill>
                <a:srgbClr val="000000"/>
              </a:solidFill>
              <a:latin typeface="微软雅黑" panose="020B0503020204020204" charset="-122"/>
              <a:ea typeface="微软雅黑" panose="020B0503020204020204" charset="-122"/>
            </a:endParaRPr>
          </a:p>
        </p:txBody>
      </p:sp>
      <p:sp>
        <p:nvSpPr>
          <p:cNvPr id="7" name="文本框 6"/>
          <p:cNvSpPr txBox="1"/>
          <p:nvPr>
            <p:custDataLst>
              <p:tags r:id="rId4"/>
            </p:custDataLst>
          </p:nvPr>
        </p:nvSpPr>
        <p:spPr>
          <a:xfrm>
            <a:off x="2438400" y="4500245"/>
            <a:ext cx="85344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sym typeface="+mn-ea"/>
              </a:rPr>
              <a:t>改进</a:t>
            </a:r>
            <a:r>
              <a:rPr lang="en-US" altLang="zh-CN" sz="2600">
                <a:solidFill>
                  <a:srgbClr val="000000"/>
                </a:solidFill>
                <a:latin typeface="微软雅黑" panose="020B0503020204020204" charset="-122"/>
                <a:ea typeface="微软雅黑" panose="020B0503020204020204" charset="-122"/>
                <a:sym typeface="+mn-ea"/>
              </a:rPr>
              <a:t>Hadoop</a:t>
            </a:r>
            <a:r>
              <a:rPr lang="zh-CN" altLang="en-US" sz="2600">
                <a:solidFill>
                  <a:srgbClr val="000000"/>
                </a:solidFill>
                <a:latin typeface="微软雅黑" panose="020B0503020204020204" charset="-122"/>
                <a:ea typeface="微软雅黑" panose="020B0503020204020204" charset="-122"/>
                <a:sym typeface="+mn-ea"/>
              </a:rPr>
              <a:t>框架，包括</a:t>
            </a:r>
            <a:r>
              <a:rPr lang="en-US" altLang="zh-CN" sz="2600">
                <a:solidFill>
                  <a:srgbClr val="000000"/>
                </a:solidFill>
                <a:latin typeface="微软雅黑" panose="020B0503020204020204" charset="-122"/>
                <a:ea typeface="微软雅黑" panose="020B0503020204020204" charset="-122"/>
                <a:sym typeface="+mn-ea"/>
              </a:rPr>
              <a:t>HDFS</a:t>
            </a:r>
            <a:r>
              <a:rPr lang="zh-CN" altLang="en-US" sz="2600">
                <a:solidFill>
                  <a:srgbClr val="000000"/>
                </a:solidFill>
                <a:latin typeface="微软雅黑" panose="020B0503020204020204" charset="-122"/>
                <a:ea typeface="微软雅黑" panose="020B0503020204020204" charset="-122"/>
                <a:sym typeface="+mn-ea"/>
              </a:rPr>
              <a:t>和</a:t>
            </a:r>
            <a:r>
              <a:rPr lang="en-US" altLang="zh-CN" sz="2600">
                <a:solidFill>
                  <a:srgbClr val="000000"/>
                </a:solidFill>
                <a:latin typeface="微软雅黑" panose="020B0503020204020204" charset="-122"/>
                <a:ea typeface="微软雅黑" panose="020B0503020204020204" charset="-122"/>
                <a:sym typeface="+mn-ea"/>
              </a:rPr>
              <a:t>MapReduce</a:t>
            </a:r>
            <a:endParaRPr lang="en-US" altLang="zh-CN" sz="2600">
              <a:solidFill>
                <a:srgbClr val="000000"/>
              </a:solidFill>
              <a:latin typeface="微软雅黑" panose="020B0503020204020204" charset="-122"/>
              <a:ea typeface="微软雅黑" panose="020B0503020204020204" charset="-122"/>
              <a:sym typeface="+mn-ea"/>
            </a:endParaRPr>
          </a:p>
        </p:txBody>
      </p:sp>
      <p:sp>
        <p:nvSpPr>
          <p:cNvPr id="8" name="文本框 7"/>
          <p:cNvSpPr txBox="1"/>
          <p:nvPr>
            <p:custDataLst>
              <p:tags r:id="rId5"/>
            </p:custDataLst>
          </p:nvPr>
        </p:nvSpPr>
        <p:spPr>
          <a:xfrm>
            <a:off x="2438400" y="5357495"/>
            <a:ext cx="85344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完善</a:t>
            </a:r>
            <a:r>
              <a:rPr lang="en-US" altLang="zh-CN" sz="2600">
                <a:solidFill>
                  <a:srgbClr val="000000"/>
                </a:solidFill>
                <a:latin typeface="微软雅黑" panose="020B0503020204020204" charset="-122"/>
                <a:ea typeface="微软雅黑" panose="020B0503020204020204" charset="-122"/>
              </a:rPr>
              <a:t>Hadoop</a:t>
            </a:r>
            <a:r>
              <a:rPr lang="zh-CN" altLang="en-US" sz="2600">
                <a:solidFill>
                  <a:srgbClr val="000000"/>
                </a:solidFill>
                <a:latin typeface="微软雅黑" panose="020B0503020204020204" charset="-122"/>
                <a:ea typeface="微软雅黑" panose="020B0503020204020204" charset="-122"/>
              </a:rPr>
              <a:t>生态系统</a:t>
            </a:r>
            <a:endParaRPr lang="zh-CN" altLang="en-US" sz="2600">
              <a:solidFill>
                <a:srgbClr val="000000"/>
              </a:solidFill>
              <a:latin typeface="微软雅黑" panose="020B0503020204020204" charset="-122"/>
              <a:ea typeface="微软雅黑" panose="020B0503020204020204" charset="-122"/>
            </a:endParaRPr>
          </a:p>
        </p:txBody>
      </p:sp>
      <p:sp>
        <p:nvSpPr>
          <p:cNvPr id="9" name="矩形 8"/>
          <p:cNvSpPr>
            <a:spLocks noChangeAspect="1"/>
          </p:cNvSpPr>
          <p:nvPr>
            <p:custDataLst>
              <p:tags r:id="rId6"/>
            </p:custDataLst>
          </p:nvPr>
        </p:nvSpPr>
        <p:spPr>
          <a:xfrm>
            <a:off x="1571625" y="2849880"/>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indent="0" algn="ctr"/>
            <a:r>
              <a:rPr lang="zh-CN" altLang="en-US" sz="1600">
                <a:solidFill>
                  <a:srgbClr val="FFFFFF"/>
                </a:solidFill>
                <a:latin typeface="微软雅黑" panose="020B0503020204020204" charset="-122"/>
                <a:ea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endParaRPr>
          </a:p>
        </p:txBody>
      </p:sp>
      <p:sp>
        <p:nvSpPr>
          <p:cNvPr id="10" name="矩形 9"/>
          <p:cNvSpPr>
            <a:spLocks noChangeAspect="1"/>
          </p:cNvSpPr>
          <p:nvPr>
            <p:custDataLst>
              <p:tags r:id="rId7"/>
            </p:custDataLst>
          </p:nvPr>
        </p:nvSpPr>
        <p:spPr>
          <a:xfrm>
            <a:off x="1571625" y="3707130"/>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indent="0" algn="ctr"/>
            <a:r>
              <a:rPr lang="zh-CN" altLang="en-US" sz="1600">
                <a:solidFill>
                  <a:srgbClr val="FFFFFF"/>
                </a:solidFill>
                <a:latin typeface="微软雅黑" panose="020B0503020204020204" charset="-122"/>
                <a:ea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endParaRPr>
          </a:p>
        </p:txBody>
      </p:sp>
      <p:sp>
        <p:nvSpPr>
          <p:cNvPr id="11" name="矩形 10"/>
          <p:cNvSpPr>
            <a:spLocks noChangeAspect="1"/>
          </p:cNvSpPr>
          <p:nvPr>
            <p:custDataLst>
              <p:tags r:id="rId8"/>
            </p:custDataLst>
          </p:nvPr>
        </p:nvSpPr>
        <p:spPr>
          <a:xfrm>
            <a:off x="1571625" y="4564380"/>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indent="0" algn="ctr"/>
            <a:r>
              <a:rPr lang="zh-CN" altLang="en-US" sz="1600">
                <a:solidFill>
                  <a:srgbClr val="FFFFFF"/>
                </a:solidFill>
                <a:latin typeface="微软雅黑" panose="020B0503020204020204" charset="-122"/>
                <a:ea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endParaRPr>
          </a:p>
        </p:txBody>
      </p:sp>
      <p:sp>
        <p:nvSpPr>
          <p:cNvPr id="12" name="矩形 11"/>
          <p:cNvSpPr>
            <a:spLocks noChangeAspect="1"/>
          </p:cNvSpPr>
          <p:nvPr>
            <p:custDataLst>
              <p:tags r:id="rId9"/>
            </p:custDataLst>
          </p:nvPr>
        </p:nvSpPr>
        <p:spPr>
          <a:xfrm>
            <a:off x="1571625" y="5421630"/>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indent="0" algn="ctr"/>
            <a:r>
              <a:rPr lang="zh-CN" altLang="en-US" sz="1600">
                <a:solidFill>
                  <a:srgbClr val="FFFFFF"/>
                </a:solidFill>
                <a:latin typeface="微软雅黑" panose="020B0503020204020204" charset="-122"/>
                <a:ea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endParaRPr>
          </a:p>
        </p:txBody>
      </p:sp>
      <p:sp>
        <p:nvSpPr>
          <p:cNvPr id="13" name="圆角矩形 12"/>
          <p:cNvSpPr/>
          <p:nvPr>
            <p:custDataLst>
              <p:tags r:id="rId10"/>
            </p:custDataLst>
          </p:nvPr>
        </p:nvSpPr>
        <p:spPr>
          <a:xfrm>
            <a:off x="8915400" y="621474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endParaRPr>
          </a:p>
        </p:txBody>
      </p:sp>
      <p:grpSp>
        <p:nvGrpSpPr>
          <p:cNvPr id="18" name="组合 17"/>
          <p:cNvGrpSpPr/>
          <p:nvPr>
            <p:custDataLst>
              <p:tags r:id="rId11"/>
            </p:custDataLst>
          </p:nvPr>
        </p:nvGrpSpPr>
        <p:grpSpPr>
          <a:xfrm>
            <a:off x="0" y="0"/>
            <a:ext cx="12192000" cy="635000"/>
            <a:chOff x="0" y="0"/>
            <a:chExt cx="19200" cy="1000"/>
          </a:xfrm>
        </p:grpSpPr>
        <p:sp>
          <p:nvSpPr>
            <p:cNvPr id="14" name="TitleBackground"/>
            <p:cNvSpPr/>
            <p:nvPr>
              <p:custDataLst>
                <p:tags r:id="rId12"/>
              </p:custDataLst>
            </p:nvPr>
          </p:nvSpPr>
          <p:spPr>
            <a:xfrm>
              <a:off x="0" y="0"/>
              <a:ext cx="192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3"/>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4"/>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多选题</a:t>
              </a:r>
              <a:endParaRPr lang="zh-CN" altLang="en-US" sz="2600">
                <a:solidFill>
                  <a:srgbClr val="000000"/>
                </a:solidFill>
                <a:latin typeface="微软雅黑" panose="020B0503020204020204" charset="-122"/>
                <a:ea typeface="微软雅黑" panose="020B0503020204020204" charset="-122"/>
              </a:endParaRPr>
            </a:p>
          </p:txBody>
        </p:sp>
        <p:sp>
          <p:nvSpPr>
            <p:cNvPr id="17" name="TipText"/>
            <p:cNvSpPr txBox="1"/>
            <p:nvPr>
              <p:custDataLst>
                <p:tags r:id="rId15"/>
              </p:custDataLst>
            </p:nvPr>
          </p:nvSpPr>
          <p:spPr>
            <a:xfrm>
              <a:off x="2403"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1分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3" name="图片 2" descr="tmp431E"/>
          <p:cNvPicPr>
            <a:picLocks noChangeAspect="1"/>
          </p:cNvPicPr>
          <p:nvPr>
            <p:custDataLst>
              <p:tags r:id="rId16"/>
            </p:custDataLst>
          </p:nvPr>
        </p:nvPicPr>
        <p:blipFill>
          <a:blip r:embed="rId17"/>
          <a:stretch>
            <a:fillRect/>
          </a:stretch>
        </p:blipFill>
        <p:spPr>
          <a:xfrm>
            <a:off x="10642600" y="63500"/>
            <a:ext cx="1422400" cy="508000"/>
          </a:xfrm>
          <a:prstGeom prst="rect">
            <a:avLst/>
          </a:prstGeom>
        </p:spPr>
      </p:pic>
    </p:spTree>
    <p:custDataLst>
      <p:tags r:id="rId18"/>
    </p:custData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sp>
        <p:nvSpPr>
          <p:cNvPr id="6" name="文本框 5"/>
          <p:cNvSpPr txBox="1"/>
          <p:nvPr>
            <p:custDataLst>
              <p:tags r:id="rId1"/>
            </p:custDataLst>
          </p:nvPr>
        </p:nvSpPr>
        <p:spPr>
          <a:xfrm>
            <a:off x="1219200" y="635000"/>
            <a:ext cx="9753600" cy="2143125"/>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关于</a:t>
            </a:r>
            <a:r>
              <a:rPr lang="en-US" altLang="zh-CN" sz="2600">
                <a:solidFill>
                  <a:srgbClr val="000000"/>
                </a:solidFill>
                <a:latin typeface="微软雅黑" panose="020B0503020204020204" charset="-122"/>
                <a:ea typeface="微软雅黑" panose="020B0503020204020204" charset="-122"/>
              </a:rPr>
              <a:t>HDFS, </a:t>
            </a:r>
            <a:r>
              <a:rPr lang="zh-CN" altLang="en-US" sz="2600">
                <a:solidFill>
                  <a:srgbClr val="000000"/>
                </a:solidFill>
                <a:latin typeface="微软雅黑" panose="020B0503020204020204" charset="-122"/>
                <a:ea typeface="微软雅黑" panose="020B0503020204020204" charset="-122"/>
              </a:rPr>
              <a:t>下列说法正确的是（）</a:t>
            </a:r>
            <a:endParaRPr lang="zh-CN" altLang="en-US" sz="2600">
              <a:solidFill>
                <a:srgbClr val="000000"/>
              </a:solidFill>
              <a:latin typeface="微软雅黑" panose="020B0503020204020204" charset="-122"/>
              <a:ea typeface="微软雅黑" panose="020B0503020204020204" charset="-122"/>
            </a:endParaRPr>
          </a:p>
        </p:txBody>
      </p:sp>
      <p:sp>
        <p:nvSpPr>
          <p:cNvPr id="8" name="文本框 7"/>
          <p:cNvSpPr txBox="1"/>
          <p:nvPr>
            <p:custDataLst>
              <p:tags r:id="rId2"/>
            </p:custDataLst>
          </p:nvPr>
        </p:nvSpPr>
        <p:spPr>
          <a:xfrm>
            <a:off x="2438400" y="3642995"/>
            <a:ext cx="85344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sym typeface="+mn-ea"/>
              </a:rPr>
              <a:t>第二名称节点能很好地解决单点故障问题</a:t>
            </a:r>
            <a:endParaRPr lang="zh-CN" altLang="en-US" sz="2600">
              <a:solidFill>
                <a:srgbClr val="000000"/>
              </a:solidFill>
              <a:latin typeface="微软雅黑" panose="020B0503020204020204" charset="-122"/>
              <a:ea typeface="微软雅黑" panose="020B0503020204020204" charset="-122"/>
            </a:endParaRPr>
          </a:p>
        </p:txBody>
      </p:sp>
      <p:sp>
        <p:nvSpPr>
          <p:cNvPr id="9" name="文本框 8"/>
          <p:cNvSpPr txBox="1"/>
          <p:nvPr>
            <p:custDataLst>
              <p:tags r:id="rId3"/>
            </p:custDataLst>
          </p:nvPr>
        </p:nvSpPr>
        <p:spPr>
          <a:xfrm>
            <a:off x="2438400" y="4500245"/>
            <a:ext cx="85344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sym typeface="+mn-ea"/>
              </a:rPr>
              <a:t>HDFS HA提供高可用性的同时，也实现了可扩展性和隔离性</a:t>
            </a:r>
            <a:endParaRPr lang="zh-CN" altLang="en-US" sz="2600">
              <a:solidFill>
                <a:srgbClr val="000000"/>
              </a:solidFill>
              <a:latin typeface="微软雅黑" panose="020B0503020204020204" charset="-122"/>
              <a:ea typeface="微软雅黑" panose="020B0503020204020204" charset="-122"/>
            </a:endParaRPr>
          </a:p>
        </p:txBody>
      </p:sp>
      <p:sp>
        <p:nvSpPr>
          <p:cNvPr id="10" name="文本框 9"/>
          <p:cNvSpPr txBox="1"/>
          <p:nvPr>
            <p:custDataLst>
              <p:tags r:id="rId4"/>
            </p:custDataLst>
          </p:nvPr>
        </p:nvSpPr>
        <p:spPr>
          <a:xfrm>
            <a:off x="2438400" y="5357495"/>
            <a:ext cx="8534400" cy="642620"/>
          </a:xfrm>
          <a:prstGeom prst="rect">
            <a:avLst/>
          </a:prstGeom>
          <a:noFill/>
        </p:spPr>
        <p:txBody>
          <a:bodyPr wrap="square" rtlCol="0" anchor="ctr" anchorCtr="0">
            <a:noAutofit/>
          </a:bodyPr>
          <a:lstStyle/>
          <a:p>
            <a:pPr lvl="0" algn="l">
              <a:buNone/>
            </a:pPr>
            <a:r>
              <a:rPr lang="en-US" altLang="zh-CN" sz="2600">
                <a:solidFill>
                  <a:srgbClr val="000000"/>
                </a:solidFill>
                <a:latin typeface="微软雅黑" panose="020B0503020204020204" charset="-122"/>
                <a:ea typeface="微软雅黑" panose="020B0503020204020204" charset="-122"/>
              </a:rPr>
              <a:t>HDFS HA</a:t>
            </a:r>
            <a:r>
              <a:rPr lang="zh-CN" altLang="en-US" sz="2600">
                <a:solidFill>
                  <a:srgbClr val="000000"/>
                </a:solidFill>
                <a:latin typeface="微软雅黑" panose="020B0503020204020204" charset="-122"/>
                <a:ea typeface="微软雅黑" panose="020B0503020204020204" charset="-122"/>
              </a:rPr>
              <a:t>中，两名称节点会同步更新数据但并非都处于</a:t>
            </a:r>
            <a:r>
              <a:rPr lang="en-US" altLang="zh-CN" sz="2600">
                <a:solidFill>
                  <a:srgbClr val="000000"/>
                </a:solidFill>
                <a:latin typeface="微软雅黑" panose="020B0503020204020204" charset="-122"/>
                <a:ea typeface="微软雅黑" panose="020B0503020204020204" charset="-122"/>
              </a:rPr>
              <a:t>“</a:t>
            </a:r>
            <a:r>
              <a:rPr lang="zh-CN" altLang="en-US" sz="2600">
                <a:solidFill>
                  <a:srgbClr val="000000"/>
                </a:solidFill>
                <a:latin typeface="微软雅黑" panose="020B0503020204020204" charset="-122"/>
                <a:ea typeface="微软雅黑" panose="020B0503020204020204" charset="-122"/>
              </a:rPr>
              <a:t>活跃</a:t>
            </a:r>
            <a:r>
              <a:rPr lang="en-US" altLang="zh-CN" sz="2600">
                <a:solidFill>
                  <a:srgbClr val="000000"/>
                </a:solidFill>
                <a:latin typeface="微软雅黑" panose="020B0503020204020204" charset="-122"/>
                <a:ea typeface="微软雅黑" panose="020B0503020204020204" charset="-122"/>
              </a:rPr>
              <a:t>”</a:t>
            </a:r>
            <a:r>
              <a:rPr lang="zh-CN" altLang="en-US" sz="2600">
                <a:solidFill>
                  <a:srgbClr val="000000"/>
                </a:solidFill>
                <a:latin typeface="微软雅黑" panose="020B0503020204020204" charset="-122"/>
                <a:ea typeface="微软雅黑" panose="020B0503020204020204" charset="-122"/>
              </a:rPr>
              <a:t>状态</a:t>
            </a:r>
            <a:endParaRPr lang="zh-CN" altLang="en-US" sz="2600">
              <a:solidFill>
                <a:srgbClr val="000000"/>
              </a:solidFill>
              <a:latin typeface="微软雅黑" panose="020B0503020204020204" charset="-122"/>
              <a:ea typeface="微软雅黑" panose="020B0503020204020204" charset="-122"/>
            </a:endParaRPr>
          </a:p>
        </p:txBody>
      </p:sp>
      <p:sp>
        <p:nvSpPr>
          <p:cNvPr id="11" name="椭圆 10"/>
          <p:cNvSpPr>
            <a:spLocks noChangeAspect="1"/>
          </p:cNvSpPr>
          <p:nvPr>
            <p:custDataLst>
              <p:tags r:id="rId5"/>
            </p:custDataLst>
          </p:nvPr>
        </p:nvSpPr>
        <p:spPr>
          <a:xfrm>
            <a:off x="1571625" y="2849880"/>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indent="0" algn="ctr"/>
            <a:r>
              <a:rPr lang="zh-CN" altLang="en-US" sz="1600">
                <a:solidFill>
                  <a:srgbClr val="FFFFFF"/>
                </a:solidFill>
                <a:latin typeface="微软雅黑" panose="020B0503020204020204" charset="-122"/>
                <a:ea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endParaRPr>
          </a:p>
        </p:txBody>
      </p:sp>
      <p:sp>
        <p:nvSpPr>
          <p:cNvPr id="12" name="椭圆 11"/>
          <p:cNvSpPr>
            <a:spLocks noChangeAspect="1"/>
          </p:cNvSpPr>
          <p:nvPr>
            <p:custDataLst>
              <p:tags r:id="rId6"/>
            </p:custDataLst>
          </p:nvPr>
        </p:nvSpPr>
        <p:spPr>
          <a:xfrm>
            <a:off x="1571625" y="3707130"/>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indent="0" algn="ctr"/>
            <a:r>
              <a:rPr lang="zh-CN" altLang="en-US" sz="1600">
                <a:solidFill>
                  <a:srgbClr val="FFFFFF"/>
                </a:solidFill>
                <a:latin typeface="微软雅黑" panose="020B0503020204020204" charset="-122"/>
                <a:ea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endParaRPr>
          </a:p>
        </p:txBody>
      </p:sp>
      <p:sp>
        <p:nvSpPr>
          <p:cNvPr id="13" name="椭圆 12"/>
          <p:cNvSpPr>
            <a:spLocks noChangeAspect="1"/>
          </p:cNvSpPr>
          <p:nvPr>
            <p:custDataLst>
              <p:tags r:id="rId7"/>
            </p:custDataLst>
          </p:nvPr>
        </p:nvSpPr>
        <p:spPr>
          <a:xfrm>
            <a:off x="1571625" y="4564380"/>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indent="0" algn="ctr"/>
            <a:r>
              <a:rPr lang="zh-CN" altLang="en-US" sz="1600">
                <a:solidFill>
                  <a:srgbClr val="FFFFFF"/>
                </a:solidFill>
                <a:latin typeface="微软雅黑" panose="020B0503020204020204" charset="-122"/>
                <a:ea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endParaRPr>
          </a:p>
        </p:txBody>
      </p:sp>
      <p:sp>
        <p:nvSpPr>
          <p:cNvPr id="14" name="椭圆 13"/>
          <p:cNvSpPr>
            <a:spLocks noChangeAspect="1"/>
          </p:cNvSpPr>
          <p:nvPr>
            <p:custDataLst>
              <p:tags r:id="rId8"/>
            </p:custDataLst>
          </p:nvPr>
        </p:nvSpPr>
        <p:spPr>
          <a:xfrm>
            <a:off x="1571625" y="5421630"/>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indent="0" algn="ctr"/>
            <a:r>
              <a:rPr lang="zh-CN" altLang="en-US" sz="1600">
                <a:solidFill>
                  <a:srgbClr val="FFFFFF"/>
                </a:solidFill>
                <a:latin typeface="微软雅黑" panose="020B0503020204020204" charset="-122"/>
                <a:ea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endParaRPr>
          </a:p>
        </p:txBody>
      </p:sp>
      <p:sp>
        <p:nvSpPr>
          <p:cNvPr id="15" name="圆角矩形 14"/>
          <p:cNvSpPr/>
          <p:nvPr>
            <p:custDataLst>
              <p:tags r:id="rId9"/>
            </p:custDataLst>
          </p:nvPr>
        </p:nvSpPr>
        <p:spPr>
          <a:xfrm>
            <a:off x="8915400" y="621474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endParaRPr>
          </a:p>
        </p:txBody>
      </p:sp>
      <p:sp>
        <p:nvSpPr>
          <p:cNvPr id="22" name="文本框 21"/>
          <p:cNvSpPr txBox="1"/>
          <p:nvPr>
            <p:custDataLst>
              <p:tags r:id="rId10"/>
            </p:custDataLst>
          </p:nvPr>
        </p:nvSpPr>
        <p:spPr>
          <a:xfrm>
            <a:off x="2438400" y="2785745"/>
            <a:ext cx="85344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sym typeface="+mn-ea"/>
              </a:rPr>
              <a:t>第二名称节点是热备份</a:t>
            </a:r>
            <a:endParaRPr lang="zh-CN" altLang="en-US" sz="2600">
              <a:solidFill>
                <a:srgbClr val="000000"/>
              </a:solidFill>
              <a:latin typeface="微软雅黑" panose="020B0503020204020204" charset="-122"/>
              <a:ea typeface="微软雅黑" panose="020B0503020204020204" charset="-122"/>
            </a:endParaRPr>
          </a:p>
        </p:txBody>
      </p:sp>
      <p:grpSp>
        <p:nvGrpSpPr>
          <p:cNvPr id="20" name="组合 19"/>
          <p:cNvGrpSpPr/>
          <p:nvPr>
            <p:custDataLst>
              <p:tags r:id="rId11"/>
            </p:custDataLst>
          </p:nvPr>
        </p:nvGrpSpPr>
        <p:grpSpPr>
          <a:xfrm>
            <a:off x="0" y="0"/>
            <a:ext cx="12192000" cy="635000"/>
            <a:chOff x="0" y="0"/>
            <a:chExt cx="19200" cy="1000"/>
          </a:xfrm>
        </p:grpSpPr>
        <p:sp>
          <p:nvSpPr>
            <p:cNvPr id="16" name="TitleBackground"/>
            <p:cNvSpPr/>
            <p:nvPr>
              <p:custDataLst>
                <p:tags r:id="rId12"/>
              </p:custDataLst>
            </p:nvPr>
          </p:nvSpPr>
          <p:spPr>
            <a:xfrm>
              <a:off x="0" y="0"/>
              <a:ext cx="192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13"/>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14"/>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9" name="TipText"/>
            <p:cNvSpPr txBox="1"/>
            <p:nvPr>
              <p:custDataLst>
                <p:tags r:id="rId15"/>
              </p:custDataLst>
            </p:nvPr>
          </p:nvSpPr>
          <p:spPr>
            <a:xfrm>
              <a:off x="2403"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1分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5" name="图片 4" descr="tmp431E"/>
          <p:cNvPicPr>
            <a:picLocks noChangeAspect="1"/>
          </p:cNvPicPr>
          <p:nvPr>
            <p:custDataLst>
              <p:tags r:id="rId16"/>
            </p:custDataLst>
          </p:nvPr>
        </p:nvPicPr>
        <p:blipFill>
          <a:blip r:embed="rId17"/>
          <a:stretch>
            <a:fillRect/>
          </a:stretch>
        </p:blipFill>
        <p:spPr>
          <a:xfrm>
            <a:off x="10642600" y="63500"/>
            <a:ext cx="1422400" cy="508000"/>
          </a:xfrm>
          <a:prstGeom prst="rect">
            <a:avLst/>
          </a:prstGeom>
        </p:spPr>
      </p:pic>
    </p:spTree>
    <p:custDataLst>
      <p:tags r:id="rId18"/>
    </p:custData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E57CE09-A6DF-4F65-B9AD-CB157D51E68C}" type="slidenum">
              <a:rPr lang="zh-CN" altLang="en-US" smtClean="0"/>
            </a:fld>
            <a:endParaRPr lang="zh-CN" altLang="en-US"/>
          </a:p>
        </p:txBody>
      </p:sp>
      <p:sp>
        <p:nvSpPr>
          <p:cNvPr id="4" name="文本框 3"/>
          <p:cNvSpPr txBox="1"/>
          <p:nvPr>
            <p:custDataLst>
              <p:tags r:id="rId1"/>
            </p:custDataLst>
          </p:nvPr>
        </p:nvSpPr>
        <p:spPr>
          <a:xfrm>
            <a:off x="1219200" y="635000"/>
            <a:ext cx="9753600" cy="2143125"/>
          </a:xfrm>
          <a:prstGeom prst="rect">
            <a:avLst/>
          </a:prstGeom>
          <a:noFill/>
        </p:spPr>
        <p:txBody>
          <a:bodyPr wrap="square" rtlCol="0" anchor="ctr" anchorCtr="0">
            <a:noAutofit/>
          </a:bodyPr>
          <a:lstStyle/>
          <a:p>
            <a:pPr lvl="0" algn="l">
              <a:buNone/>
            </a:pPr>
            <a:r>
              <a:rPr lang="en-US" altLang="zh-CN" sz="2600">
                <a:solidFill>
                  <a:srgbClr val="000000"/>
                </a:solidFill>
                <a:latin typeface="微软雅黑" panose="020B0503020204020204" charset="-122"/>
                <a:ea typeface="微软雅黑" panose="020B0503020204020204" charset="-122"/>
              </a:rPr>
              <a:t>HDFS</a:t>
            </a:r>
            <a:r>
              <a:rPr lang="zh-CN" altLang="en-US" sz="2600">
                <a:solidFill>
                  <a:srgbClr val="000000"/>
                </a:solidFill>
                <a:latin typeface="微软雅黑" panose="020B0503020204020204" charset="-122"/>
                <a:ea typeface="微软雅黑" panose="020B0503020204020204" charset="-122"/>
              </a:rPr>
              <a:t>联邦不能解决的问题是（）</a:t>
            </a:r>
            <a:endParaRPr lang="zh-CN" altLang="en-US" sz="2600">
              <a:solidFill>
                <a:srgbClr val="000000"/>
              </a:solidFill>
              <a:latin typeface="微软雅黑" panose="020B0503020204020204" charset="-122"/>
              <a:ea typeface="微软雅黑" panose="020B0503020204020204" charset="-122"/>
            </a:endParaRPr>
          </a:p>
        </p:txBody>
      </p:sp>
      <p:sp>
        <p:nvSpPr>
          <p:cNvPr id="5" name="文本框 4"/>
          <p:cNvSpPr txBox="1"/>
          <p:nvPr>
            <p:custDataLst>
              <p:tags r:id="rId2"/>
            </p:custDataLst>
          </p:nvPr>
        </p:nvSpPr>
        <p:spPr>
          <a:xfrm>
            <a:off x="2438400" y="2785745"/>
            <a:ext cx="85344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单点故障</a:t>
            </a:r>
            <a:endParaRPr lang="zh-CN" altLang="en-US" sz="2600">
              <a:solidFill>
                <a:srgbClr val="000000"/>
              </a:solidFill>
              <a:latin typeface="微软雅黑" panose="020B0503020204020204" charset="-122"/>
              <a:ea typeface="微软雅黑" panose="020B0503020204020204" charset="-122"/>
            </a:endParaRPr>
          </a:p>
        </p:txBody>
      </p:sp>
      <p:sp>
        <p:nvSpPr>
          <p:cNvPr id="6" name="文本框 5"/>
          <p:cNvSpPr txBox="1"/>
          <p:nvPr>
            <p:custDataLst>
              <p:tags r:id="rId3"/>
            </p:custDataLst>
          </p:nvPr>
        </p:nvSpPr>
        <p:spPr>
          <a:xfrm>
            <a:off x="2438400" y="3642995"/>
            <a:ext cx="85344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可扩展性</a:t>
            </a:r>
            <a:endParaRPr lang="zh-CN" altLang="en-US" sz="2600">
              <a:solidFill>
                <a:srgbClr val="000000"/>
              </a:solidFill>
              <a:latin typeface="微软雅黑" panose="020B0503020204020204" charset="-122"/>
              <a:ea typeface="微软雅黑" panose="020B0503020204020204" charset="-122"/>
            </a:endParaRPr>
          </a:p>
        </p:txBody>
      </p:sp>
      <p:sp>
        <p:nvSpPr>
          <p:cNvPr id="7" name="文本框 6"/>
          <p:cNvSpPr txBox="1"/>
          <p:nvPr>
            <p:custDataLst>
              <p:tags r:id="rId4"/>
            </p:custDataLst>
          </p:nvPr>
        </p:nvSpPr>
        <p:spPr>
          <a:xfrm>
            <a:off x="2438400" y="4500245"/>
            <a:ext cx="85344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系统整体性能</a:t>
            </a:r>
            <a:endParaRPr lang="zh-CN" altLang="en-US" sz="2600">
              <a:solidFill>
                <a:srgbClr val="000000"/>
              </a:solidFill>
              <a:latin typeface="微软雅黑" panose="020B0503020204020204" charset="-122"/>
              <a:ea typeface="微软雅黑" panose="020B0503020204020204" charset="-122"/>
            </a:endParaRPr>
          </a:p>
        </p:txBody>
      </p:sp>
      <p:sp>
        <p:nvSpPr>
          <p:cNvPr id="8" name="文本框 7"/>
          <p:cNvSpPr txBox="1"/>
          <p:nvPr>
            <p:custDataLst>
              <p:tags r:id="rId5"/>
            </p:custDataLst>
          </p:nvPr>
        </p:nvSpPr>
        <p:spPr>
          <a:xfrm>
            <a:off x="2438400" y="5357495"/>
            <a:ext cx="85344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良好的隔离性</a:t>
            </a:r>
            <a:endParaRPr lang="zh-CN" altLang="en-US" sz="2600">
              <a:solidFill>
                <a:srgbClr val="000000"/>
              </a:solidFill>
              <a:latin typeface="微软雅黑" panose="020B0503020204020204" charset="-122"/>
              <a:ea typeface="微软雅黑" panose="020B0503020204020204" charset="-122"/>
            </a:endParaRPr>
          </a:p>
        </p:txBody>
      </p:sp>
      <p:sp>
        <p:nvSpPr>
          <p:cNvPr id="9" name="椭圆 8"/>
          <p:cNvSpPr>
            <a:spLocks noChangeAspect="1"/>
          </p:cNvSpPr>
          <p:nvPr>
            <p:custDataLst>
              <p:tags r:id="rId6"/>
            </p:custDataLst>
          </p:nvPr>
        </p:nvSpPr>
        <p:spPr>
          <a:xfrm>
            <a:off x="1571625" y="2849880"/>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indent="0" algn="ctr"/>
            <a:r>
              <a:rPr lang="zh-CN" altLang="en-US" sz="1600">
                <a:solidFill>
                  <a:srgbClr val="FFFFFF"/>
                </a:solidFill>
                <a:latin typeface="微软雅黑" panose="020B0503020204020204" charset="-122"/>
                <a:ea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endParaRPr>
          </a:p>
        </p:txBody>
      </p:sp>
      <p:sp>
        <p:nvSpPr>
          <p:cNvPr id="10" name="椭圆 9"/>
          <p:cNvSpPr>
            <a:spLocks noChangeAspect="1"/>
          </p:cNvSpPr>
          <p:nvPr>
            <p:custDataLst>
              <p:tags r:id="rId7"/>
            </p:custDataLst>
          </p:nvPr>
        </p:nvSpPr>
        <p:spPr>
          <a:xfrm>
            <a:off x="1571625" y="3707130"/>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indent="0" algn="ctr"/>
            <a:r>
              <a:rPr lang="zh-CN" altLang="en-US" sz="1600">
                <a:solidFill>
                  <a:srgbClr val="FFFFFF"/>
                </a:solidFill>
                <a:latin typeface="微软雅黑" panose="020B0503020204020204" charset="-122"/>
                <a:ea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endParaRPr>
          </a:p>
        </p:txBody>
      </p:sp>
      <p:sp>
        <p:nvSpPr>
          <p:cNvPr id="11" name="椭圆 10"/>
          <p:cNvSpPr>
            <a:spLocks noChangeAspect="1"/>
          </p:cNvSpPr>
          <p:nvPr>
            <p:custDataLst>
              <p:tags r:id="rId8"/>
            </p:custDataLst>
          </p:nvPr>
        </p:nvSpPr>
        <p:spPr>
          <a:xfrm>
            <a:off x="1571625" y="4564380"/>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indent="0" algn="ctr"/>
            <a:r>
              <a:rPr lang="zh-CN" altLang="en-US" sz="1600">
                <a:solidFill>
                  <a:srgbClr val="FFFFFF"/>
                </a:solidFill>
                <a:latin typeface="微软雅黑" panose="020B0503020204020204" charset="-122"/>
                <a:ea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endParaRPr>
          </a:p>
        </p:txBody>
      </p:sp>
      <p:sp>
        <p:nvSpPr>
          <p:cNvPr id="12" name="椭圆 11"/>
          <p:cNvSpPr>
            <a:spLocks noChangeAspect="1"/>
          </p:cNvSpPr>
          <p:nvPr>
            <p:custDataLst>
              <p:tags r:id="rId9"/>
            </p:custDataLst>
          </p:nvPr>
        </p:nvSpPr>
        <p:spPr>
          <a:xfrm>
            <a:off x="1571625" y="5421630"/>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indent="0" algn="ctr"/>
            <a:r>
              <a:rPr lang="zh-CN" altLang="en-US" sz="1600">
                <a:solidFill>
                  <a:srgbClr val="FFFFFF"/>
                </a:solidFill>
                <a:latin typeface="微软雅黑" panose="020B0503020204020204" charset="-122"/>
                <a:ea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endParaRPr>
          </a:p>
        </p:txBody>
      </p:sp>
      <p:sp>
        <p:nvSpPr>
          <p:cNvPr id="13" name="圆角矩形 12"/>
          <p:cNvSpPr/>
          <p:nvPr>
            <p:custDataLst>
              <p:tags r:id="rId10"/>
            </p:custDataLst>
          </p:nvPr>
        </p:nvSpPr>
        <p:spPr>
          <a:xfrm>
            <a:off x="8915400" y="621474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endParaRPr>
          </a:p>
        </p:txBody>
      </p:sp>
      <p:grpSp>
        <p:nvGrpSpPr>
          <p:cNvPr id="18" name="组合 17"/>
          <p:cNvGrpSpPr/>
          <p:nvPr>
            <p:custDataLst>
              <p:tags r:id="rId11"/>
            </p:custDataLst>
          </p:nvPr>
        </p:nvGrpSpPr>
        <p:grpSpPr>
          <a:xfrm>
            <a:off x="0" y="0"/>
            <a:ext cx="12192000" cy="635000"/>
            <a:chOff x="0" y="0"/>
            <a:chExt cx="19200" cy="1000"/>
          </a:xfrm>
        </p:grpSpPr>
        <p:sp>
          <p:nvSpPr>
            <p:cNvPr id="14" name="TitleBackground"/>
            <p:cNvSpPr/>
            <p:nvPr>
              <p:custDataLst>
                <p:tags r:id="rId12"/>
              </p:custDataLst>
            </p:nvPr>
          </p:nvSpPr>
          <p:spPr>
            <a:xfrm>
              <a:off x="0" y="0"/>
              <a:ext cx="192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3"/>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4"/>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7" name="TipText"/>
            <p:cNvSpPr txBox="1"/>
            <p:nvPr>
              <p:custDataLst>
                <p:tags r:id="rId15"/>
              </p:custDataLst>
            </p:nvPr>
          </p:nvSpPr>
          <p:spPr>
            <a:xfrm>
              <a:off x="2403"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1分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3" name="图片 2" descr="tmp431E"/>
          <p:cNvPicPr>
            <a:picLocks noChangeAspect="1"/>
          </p:cNvPicPr>
          <p:nvPr>
            <p:custDataLst>
              <p:tags r:id="rId16"/>
            </p:custDataLst>
          </p:nvPr>
        </p:nvPicPr>
        <p:blipFill>
          <a:blip r:embed="rId17"/>
          <a:stretch>
            <a:fillRect/>
          </a:stretch>
        </p:blipFill>
        <p:spPr>
          <a:xfrm>
            <a:off x="10642600" y="63500"/>
            <a:ext cx="1422400" cy="508000"/>
          </a:xfrm>
          <a:prstGeom prst="rect">
            <a:avLst/>
          </a:prstGeom>
        </p:spPr>
      </p:pic>
    </p:spTree>
    <p:custDataLst>
      <p:tags r:id="rId18"/>
    </p:custData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b="1"/>
              <a:t>HDFS 3.0 </a:t>
            </a:r>
            <a:r>
              <a:rPr lang="zh-CN" altLang="en-US" b="1"/>
              <a:t>一些新特性</a:t>
            </a:r>
            <a:r>
              <a:rPr lang="en-US" altLang="zh-CN" b="1" baseline="30000"/>
              <a:t>[1]</a:t>
            </a:r>
            <a:endParaRPr lang="en-US" altLang="zh-CN" b="1" baseline="30000"/>
          </a:p>
        </p:txBody>
      </p:sp>
      <p:sp>
        <p:nvSpPr>
          <p:cNvPr id="4" name="内容占位符 3"/>
          <p:cNvSpPr>
            <a:spLocks noGrp="1"/>
          </p:cNvSpPr>
          <p:nvPr>
            <p:ph idx="1"/>
          </p:nvPr>
        </p:nvSpPr>
        <p:spPr>
          <a:xfrm>
            <a:off x="838200" y="1825625"/>
            <a:ext cx="6046470" cy="3679190"/>
          </a:xfrm>
        </p:spPr>
        <p:txBody>
          <a:bodyPr>
            <a:normAutofit fontScale="97500" lnSpcReduction="10000"/>
          </a:bodyPr>
          <a:lstStyle/>
          <a:p>
            <a:pPr marL="0" indent="0">
              <a:buNone/>
            </a:pPr>
            <a:r>
              <a:rPr lang="en-US" altLang="zh-CN"/>
              <a:t>1. </a:t>
            </a:r>
            <a:r>
              <a:rPr lang="zh-CN" altLang="en-US"/>
              <a:t>Support for </a:t>
            </a:r>
            <a:r>
              <a:rPr lang="en-US" altLang="zh-CN"/>
              <a:t>E</a:t>
            </a:r>
            <a:r>
              <a:rPr lang="zh-CN" altLang="en-US"/>
              <a:t>rasure </a:t>
            </a:r>
            <a:r>
              <a:rPr lang="en-US" altLang="zh-CN"/>
              <a:t>C</a:t>
            </a:r>
            <a:r>
              <a:rPr lang="zh-CN" altLang="en-US"/>
              <a:t>oding in HDFS</a:t>
            </a:r>
            <a:endParaRPr lang="zh-CN" altLang="en-US"/>
          </a:p>
          <a:p>
            <a:r>
              <a:rPr lang="zh-CN" altLang="en-US"/>
              <a:t>默认每一份数据存储3份</a:t>
            </a:r>
            <a:r>
              <a:rPr lang="en-US" altLang="zh-CN"/>
              <a:t> </a:t>
            </a:r>
            <a:r>
              <a:rPr lang="en-US" altLang="zh-CN">
                <a:latin typeface="Arial" panose="020B0604020202020204" pitchFamily="34" charset="0"/>
                <a:cs typeface="Arial" panose="020B0604020202020204" pitchFamily="34" charset="0"/>
              </a:rPr>
              <a:t>→ </a:t>
            </a:r>
            <a:r>
              <a:rPr lang="zh-CN" altLang="en-US"/>
              <a:t>1份数据+冗余校验数据存储方式</a:t>
            </a:r>
            <a:endParaRPr lang="zh-CN" altLang="en-US"/>
          </a:p>
          <a:p>
            <a:endParaRPr lang="zh-CN" altLang="en-US"/>
          </a:p>
          <a:p>
            <a:r>
              <a:rPr lang="zh-CN" altLang="en-US"/>
              <a:t>它可以将n份原始数据，增加m份数据做为校验位，并能通过n+m份中的任意n份数据，还原为原始数据。即如果有任意小于等于m份的数据失效，仍然能通过剩下的数据还原出来。</a:t>
            </a:r>
            <a:endParaRPr lang="zh-CN" altLang="en-US"/>
          </a:p>
        </p:txBody>
      </p:sp>
      <p:sp>
        <p:nvSpPr>
          <p:cNvPr id="2" name="灯片编号占位符 1"/>
          <p:cNvSpPr>
            <a:spLocks noGrp="1"/>
          </p:cNvSpPr>
          <p:nvPr>
            <p:ph type="sldNum" sz="quarter" idx="12"/>
          </p:nvPr>
        </p:nvSpPr>
        <p:spPr/>
        <p:txBody>
          <a:bodyPr/>
          <a:lstStyle/>
          <a:p>
            <a:fld id="{7E57CE09-A6DF-4F65-B9AD-CB157D51E68C}"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7176770" y="1814830"/>
            <a:ext cx="4352290" cy="2976880"/>
          </a:xfrm>
          <a:prstGeom prst="rect">
            <a:avLst/>
          </a:prstGeom>
        </p:spPr>
      </p:pic>
      <p:sp>
        <p:nvSpPr>
          <p:cNvPr id="6" name="文本框 5"/>
          <p:cNvSpPr txBox="1"/>
          <p:nvPr/>
        </p:nvSpPr>
        <p:spPr>
          <a:xfrm>
            <a:off x="7255510" y="4922520"/>
            <a:ext cx="4364355" cy="368300"/>
          </a:xfrm>
          <a:prstGeom prst="rect">
            <a:avLst/>
          </a:prstGeom>
          <a:noFill/>
        </p:spPr>
        <p:txBody>
          <a:bodyPr wrap="square" rtlCol="0" anchor="t">
            <a:spAutoFit/>
          </a:bodyPr>
          <a:lstStyle/>
          <a:p>
            <a:r>
              <a:rPr lang="zh-CN" altLang="en-US"/>
              <a:t>RS(Reed-Solomon)里德-所罗门类纠删码</a:t>
            </a:r>
            <a:endParaRPr lang="zh-CN" altLang="en-US"/>
          </a:p>
        </p:txBody>
      </p:sp>
      <p:sp>
        <p:nvSpPr>
          <p:cNvPr id="7" name="文本框 6"/>
          <p:cNvSpPr txBox="1"/>
          <p:nvPr/>
        </p:nvSpPr>
        <p:spPr>
          <a:xfrm>
            <a:off x="838200" y="5900420"/>
            <a:ext cx="6096000" cy="645160"/>
          </a:xfrm>
          <a:prstGeom prst="rect">
            <a:avLst/>
          </a:prstGeom>
          <a:noFill/>
        </p:spPr>
        <p:txBody>
          <a:bodyPr wrap="square" rtlCol="0" anchor="t">
            <a:spAutoFit/>
          </a:bodyPr>
          <a:lstStyle/>
          <a:p>
            <a:r>
              <a:rPr lang="en-US" altLang="zh-CN"/>
              <a:t>[1]</a:t>
            </a:r>
            <a:r>
              <a:rPr lang="zh-CN" altLang="en-US"/>
              <a:t>https://hadoop.apache.org/docs/r3.0.0/index.html</a:t>
            </a:r>
            <a:endParaRPr lang="zh-CN" altLang="en-US"/>
          </a:p>
          <a:p>
            <a:r>
              <a:rPr lang="en-US" altLang="zh-CN"/>
              <a:t>[2]</a:t>
            </a:r>
            <a:r>
              <a:rPr lang="zh-CN" altLang="en-US"/>
              <a:t>图片来自https://zhuanlan.zhihu.com/p/342082960</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a:sym typeface="+mn-ea"/>
              </a:rPr>
              <a:t>HDFS 3.0 </a:t>
            </a:r>
            <a:r>
              <a:rPr lang="zh-CN" altLang="en-US" b="1">
                <a:sym typeface="+mn-ea"/>
              </a:rPr>
              <a:t>一些新特性</a:t>
            </a:r>
            <a:endParaRPr lang="zh-CN" altLang="en-US"/>
          </a:p>
        </p:txBody>
      </p:sp>
      <p:sp>
        <p:nvSpPr>
          <p:cNvPr id="3" name="内容占位符 2"/>
          <p:cNvSpPr>
            <a:spLocks noGrp="1"/>
          </p:cNvSpPr>
          <p:nvPr>
            <p:ph idx="1"/>
          </p:nvPr>
        </p:nvSpPr>
        <p:spPr>
          <a:xfrm>
            <a:off x="737870" y="1405890"/>
            <a:ext cx="6483350" cy="503555"/>
          </a:xfrm>
        </p:spPr>
        <p:txBody>
          <a:bodyPr/>
          <a:lstStyle/>
          <a:p>
            <a:pPr marL="0" indent="0">
              <a:buNone/>
            </a:pPr>
            <a:r>
              <a:rPr lang="en-US" altLang="zh-CN"/>
              <a:t>2. </a:t>
            </a:r>
            <a:r>
              <a:rPr lang="zh-CN" altLang="en-US"/>
              <a:t>Support for more than 2 NameNodes</a:t>
            </a:r>
            <a:endParaRPr lang="zh-CN" altLang="en-US"/>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sp>
        <p:nvSpPr>
          <p:cNvPr id="5" name="椭圆 4"/>
          <p:cNvSpPr/>
          <p:nvPr/>
        </p:nvSpPr>
        <p:spPr>
          <a:xfrm>
            <a:off x="1166495" y="4985385"/>
            <a:ext cx="2327275" cy="11017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t>名称节点</a:t>
            </a:r>
            <a:endParaRPr lang="zh-CN" altLang="en-US" sz="2400"/>
          </a:p>
          <a:p>
            <a:pPr algn="ctr"/>
            <a:r>
              <a:rPr lang="zh-CN" altLang="en-US" sz="2400"/>
              <a:t>（活跃</a:t>
            </a:r>
            <a:r>
              <a:rPr lang="zh-CN" altLang="en-US"/>
              <a:t>）</a:t>
            </a:r>
            <a:endParaRPr lang="en-US" altLang="zh-CN"/>
          </a:p>
        </p:txBody>
      </p:sp>
      <p:sp>
        <p:nvSpPr>
          <p:cNvPr id="6" name="椭圆 5"/>
          <p:cNvSpPr/>
          <p:nvPr>
            <p:custDataLst>
              <p:tags r:id="rId1"/>
            </p:custDataLst>
          </p:nvPr>
        </p:nvSpPr>
        <p:spPr>
          <a:xfrm>
            <a:off x="4826635" y="4985385"/>
            <a:ext cx="2327275" cy="11017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sym typeface="+mn-ea"/>
              </a:rPr>
              <a:t>名称节点</a:t>
            </a:r>
            <a:endParaRPr lang="zh-CN" altLang="en-US" sz="2400"/>
          </a:p>
          <a:p>
            <a:pPr algn="ctr"/>
            <a:r>
              <a:rPr lang="zh-CN" altLang="en-US" sz="2400">
                <a:sym typeface="+mn-ea"/>
              </a:rPr>
              <a:t>（待命）</a:t>
            </a:r>
            <a:endParaRPr lang="zh-CN" altLang="en-US" sz="2400">
              <a:sym typeface="+mn-ea"/>
            </a:endParaRPr>
          </a:p>
        </p:txBody>
      </p:sp>
      <p:grpSp>
        <p:nvGrpSpPr>
          <p:cNvPr id="18" name="组合 17"/>
          <p:cNvGrpSpPr/>
          <p:nvPr/>
        </p:nvGrpSpPr>
        <p:grpSpPr>
          <a:xfrm>
            <a:off x="737870" y="2632075"/>
            <a:ext cx="5187315" cy="2353310"/>
            <a:chOff x="1162" y="4145"/>
            <a:chExt cx="8169" cy="3706"/>
          </a:xfrm>
        </p:grpSpPr>
        <p:sp>
          <p:nvSpPr>
            <p:cNvPr id="7" name="矩形 6"/>
            <p:cNvSpPr/>
            <p:nvPr/>
          </p:nvSpPr>
          <p:spPr>
            <a:xfrm>
              <a:off x="1162" y="4145"/>
              <a:ext cx="3237" cy="15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JournalNode</a:t>
              </a:r>
              <a:endParaRPr lang="en-US" altLang="zh-CN" sz="2400"/>
            </a:p>
          </p:txBody>
        </p:sp>
        <p:cxnSp>
          <p:nvCxnSpPr>
            <p:cNvPr id="8" name="直接箭头连接符 7"/>
            <p:cNvCxnSpPr>
              <a:stCxn id="5" idx="0"/>
              <a:endCxn id="7" idx="2"/>
            </p:cNvCxnSpPr>
            <p:nvPr/>
          </p:nvCxnSpPr>
          <p:spPr>
            <a:xfrm flipH="1" flipV="1">
              <a:off x="2781" y="5674"/>
              <a:ext cx="889" cy="217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a:stCxn id="7" idx="2"/>
            </p:cNvCxnSpPr>
            <p:nvPr>
              <p:custDataLst>
                <p:tags r:id="rId2"/>
              </p:custDataLst>
            </p:nvPr>
          </p:nvCxnSpPr>
          <p:spPr>
            <a:xfrm>
              <a:off x="2781" y="5674"/>
              <a:ext cx="6550" cy="213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2330450" y="2632075"/>
            <a:ext cx="3659505" cy="2352675"/>
            <a:chOff x="3670" y="4145"/>
            <a:chExt cx="5763" cy="3705"/>
          </a:xfrm>
        </p:grpSpPr>
        <p:sp>
          <p:nvSpPr>
            <p:cNvPr id="10" name="矩形 9"/>
            <p:cNvSpPr/>
            <p:nvPr>
              <p:custDataLst>
                <p:tags r:id="rId3"/>
              </p:custDataLst>
            </p:nvPr>
          </p:nvSpPr>
          <p:spPr>
            <a:xfrm>
              <a:off x="4806" y="4145"/>
              <a:ext cx="3237" cy="15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JournalNode</a:t>
              </a:r>
              <a:endParaRPr lang="en-US" altLang="zh-CN" sz="2400"/>
            </a:p>
          </p:txBody>
        </p:sp>
        <p:cxnSp>
          <p:nvCxnSpPr>
            <p:cNvPr id="11" name="直接箭头连接符 10"/>
            <p:cNvCxnSpPr>
              <a:stCxn id="5" idx="0"/>
              <a:endCxn id="10" idx="2"/>
            </p:cNvCxnSpPr>
            <p:nvPr>
              <p:custDataLst>
                <p:tags r:id="rId4"/>
              </p:custDataLst>
            </p:nvPr>
          </p:nvCxnSpPr>
          <p:spPr>
            <a:xfrm flipV="1">
              <a:off x="3670" y="5674"/>
              <a:ext cx="2755" cy="217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stCxn id="10" idx="2"/>
              <a:endCxn id="6" idx="0"/>
            </p:cNvCxnSpPr>
            <p:nvPr>
              <p:custDataLst>
                <p:tags r:id="rId5"/>
              </p:custDataLst>
            </p:nvPr>
          </p:nvCxnSpPr>
          <p:spPr>
            <a:xfrm>
              <a:off x="6425" y="5674"/>
              <a:ext cx="3009" cy="217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2330450" y="2632075"/>
            <a:ext cx="5090795" cy="2353310"/>
            <a:chOff x="3670" y="4145"/>
            <a:chExt cx="8017" cy="3706"/>
          </a:xfrm>
        </p:grpSpPr>
        <p:sp>
          <p:nvSpPr>
            <p:cNvPr id="13" name="矩形 12"/>
            <p:cNvSpPr/>
            <p:nvPr>
              <p:custDataLst>
                <p:tags r:id="rId6"/>
              </p:custDataLst>
            </p:nvPr>
          </p:nvSpPr>
          <p:spPr>
            <a:xfrm>
              <a:off x="8450" y="4145"/>
              <a:ext cx="3237" cy="15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JournalNode</a:t>
              </a:r>
              <a:endParaRPr lang="en-US" altLang="zh-CN" sz="2400"/>
            </a:p>
          </p:txBody>
        </p:sp>
        <p:cxnSp>
          <p:nvCxnSpPr>
            <p:cNvPr id="14" name="直接箭头连接符 13"/>
            <p:cNvCxnSpPr>
              <a:stCxn id="5" idx="0"/>
              <a:endCxn id="13" idx="2"/>
            </p:cNvCxnSpPr>
            <p:nvPr>
              <p:custDataLst>
                <p:tags r:id="rId7"/>
              </p:custDataLst>
            </p:nvPr>
          </p:nvCxnSpPr>
          <p:spPr>
            <a:xfrm flipV="1">
              <a:off x="3670" y="5674"/>
              <a:ext cx="6399" cy="217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stCxn id="13" idx="2"/>
              <a:endCxn id="6" idx="0"/>
            </p:cNvCxnSpPr>
            <p:nvPr>
              <p:custDataLst>
                <p:tags r:id="rId8"/>
              </p:custDataLst>
            </p:nvPr>
          </p:nvCxnSpPr>
          <p:spPr>
            <a:xfrm flipH="1">
              <a:off x="9434" y="5674"/>
              <a:ext cx="635" cy="217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grpSp>
        <p:nvGrpSpPr>
          <p:cNvPr id="25" name="组合 24"/>
          <p:cNvGrpSpPr/>
          <p:nvPr/>
        </p:nvGrpSpPr>
        <p:grpSpPr>
          <a:xfrm>
            <a:off x="1765935" y="3585845"/>
            <a:ext cx="9047480" cy="2473960"/>
            <a:chOff x="2781" y="5647"/>
            <a:chExt cx="14248" cy="3896"/>
          </a:xfrm>
        </p:grpSpPr>
        <p:sp>
          <p:nvSpPr>
            <p:cNvPr id="19" name="椭圆 18"/>
            <p:cNvSpPr/>
            <p:nvPr>
              <p:custDataLst>
                <p:tags r:id="rId9"/>
              </p:custDataLst>
            </p:nvPr>
          </p:nvSpPr>
          <p:spPr>
            <a:xfrm>
              <a:off x="13365" y="7809"/>
              <a:ext cx="3665" cy="1735"/>
            </a:xfrm>
            <a:prstGeom prst="ellipse">
              <a:avLst/>
            </a:prstGeom>
            <a:ln w="28575">
              <a:prstDash val="dash"/>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2400">
                  <a:sym typeface="+mn-ea"/>
                </a:rPr>
                <a:t>名称节点</a:t>
              </a:r>
              <a:endParaRPr lang="zh-CN" altLang="en-US" sz="2400"/>
            </a:p>
            <a:p>
              <a:pPr algn="ctr"/>
              <a:r>
                <a:rPr lang="zh-CN" altLang="en-US" sz="2400">
                  <a:sym typeface="+mn-ea"/>
                </a:rPr>
                <a:t>（待命）</a:t>
              </a:r>
              <a:endParaRPr lang="zh-CN" altLang="en-US" sz="2400">
                <a:sym typeface="+mn-ea"/>
              </a:endParaRPr>
            </a:p>
          </p:txBody>
        </p:sp>
        <p:cxnSp>
          <p:nvCxnSpPr>
            <p:cNvPr id="20" name="直接箭头连接符 19"/>
            <p:cNvCxnSpPr>
              <a:stCxn id="7" idx="2"/>
              <a:endCxn id="19" idx="1"/>
            </p:cNvCxnSpPr>
            <p:nvPr/>
          </p:nvCxnSpPr>
          <p:spPr>
            <a:xfrm>
              <a:off x="2781" y="5674"/>
              <a:ext cx="11121" cy="2389"/>
            </a:xfrm>
            <a:prstGeom prst="straightConnector1">
              <a:avLst/>
            </a:prstGeom>
            <a:ln w="28575">
              <a:tailEnd type="arrow" w="med" len="med"/>
            </a:ln>
          </p:spPr>
          <p:style>
            <a:lnRef idx="3">
              <a:schemeClr val="accent2"/>
            </a:lnRef>
            <a:fillRef idx="0">
              <a:schemeClr val="accent2"/>
            </a:fillRef>
            <a:effectRef idx="2">
              <a:schemeClr val="accent2"/>
            </a:effectRef>
            <a:fontRef idx="minor">
              <a:schemeClr val="tx1"/>
            </a:fontRef>
          </p:style>
        </p:cxnSp>
        <p:cxnSp>
          <p:nvCxnSpPr>
            <p:cNvPr id="21" name="直接箭头连接符 20"/>
            <p:cNvCxnSpPr>
              <a:endCxn id="19" idx="1"/>
            </p:cNvCxnSpPr>
            <p:nvPr>
              <p:custDataLst>
                <p:tags r:id="rId10"/>
              </p:custDataLst>
            </p:nvPr>
          </p:nvCxnSpPr>
          <p:spPr>
            <a:xfrm>
              <a:off x="6396" y="5647"/>
              <a:ext cx="7506" cy="2416"/>
            </a:xfrm>
            <a:prstGeom prst="straightConnector1">
              <a:avLst/>
            </a:prstGeom>
            <a:ln w="28575">
              <a:tailEnd type="arrow" w="med" len="med"/>
            </a:ln>
          </p:spPr>
          <p:style>
            <a:lnRef idx="3">
              <a:schemeClr val="accent2"/>
            </a:lnRef>
            <a:fillRef idx="0">
              <a:schemeClr val="accent2"/>
            </a:fillRef>
            <a:effectRef idx="2">
              <a:schemeClr val="accent2"/>
            </a:effectRef>
            <a:fontRef idx="minor">
              <a:schemeClr val="tx1"/>
            </a:fontRef>
          </p:style>
        </p:cxnSp>
        <p:cxnSp>
          <p:nvCxnSpPr>
            <p:cNvPr id="22" name="直接箭头连接符 21"/>
            <p:cNvCxnSpPr>
              <a:stCxn id="13" idx="2"/>
              <a:endCxn id="19" idx="1"/>
            </p:cNvCxnSpPr>
            <p:nvPr>
              <p:custDataLst>
                <p:tags r:id="rId11"/>
              </p:custDataLst>
            </p:nvPr>
          </p:nvCxnSpPr>
          <p:spPr>
            <a:xfrm>
              <a:off x="10069" y="5674"/>
              <a:ext cx="3833" cy="2389"/>
            </a:xfrm>
            <a:prstGeom prst="straightConnector1">
              <a:avLst/>
            </a:prstGeom>
            <a:ln w="28575">
              <a:tailEnd type="arrow" w="med" len="med"/>
            </a:ln>
          </p:spPr>
          <p:style>
            <a:lnRef idx="3">
              <a:schemeClr val="accent2"/>
            </a:lnRef>
            <a:fillRef idx="0">
              <a:schemeClr val="accent2"/>
            </a:fillRef>
            <a:effectRef idx="2">
              <a:schemeClr val="accent2"/>
            </a:effectRef>
            <a:fontRef idx="minor">
              <a:schemeClr val="tx1"/>
            </a:fontRef>
          </p:style>
        </p:cxnSp>
      </p:grpSp>
      <p:sp>
        <p:nvSpPr>
          <p:cNvPr id="23" name="矩形 22"/>
          <p:cNvSpPr/>
          <p:nvPr/>
        </p:nvSpPr>
        <p:spPr>
          <a:xfrm>
            <a:off x="7679690" y="2614930"/>
            <a:ext cx="2055495" cy="970915"/>
          </a:xfrm>
          <a:prstGeom prst="rect">
            <a:avLst/>
          </a:prstGeom>
          <a:ln w="28575">
            <a:prstDash val="dash"/>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2400"/>
              <a:t>JournalNode</a:t>
            </a:r>
            <a:endParaRPr lang="en-US" altLang="zh-CN" sz="2400"/>
          </a:p>
        </p:txBody>
      </p:sp>
      <p:sp>
        <p:nvSpPr>
          <p:cNvPr id="24" name="矩形 23"/>
          <p:cNvSpPr/>
          <p:nvPr/>
        </p:nvSpPr>
        <p:spPr>
          <a:xfrm>
            <a:off x="9993630" y="2614930"/>
            <a:ext cx="2055495" cy="970915"/>
          </a:xfrm>
          <a:prstGeom prst="rect">
            <a:avLst/>
          </a:prstGeom>
          <a:ln w="28575">
            <a:prstDash val="dash"/>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2400"/>
              <a:t>JournalNode</a:t>
            </a:r>
            <a:endParaRPr lang="en-US" altLang="zh-CN" sz="2400"/>
          </a:p>
        </p:txBody>
      </p:sp>
      <p:sp>
        <p:nvSpPr>
          <p:cNvPr id="26" name="文本框 25"/>
          <p:cNvSpPr txBox="1"/>
          <p:nvPr/>
        </p:nvSpPr>
        <p:spPr>
          <a:xfrm>
            <a:off x="1641475" y="1980565"/>
            <a:ext cx="9378950" cy="460375"/>
          </a:xfrm>
          <a:prstGeom prst="rect">
            <a:avLst/>
          </a:prstGeom>
        </p:spPr>
        <p:txBody>
          <a:bodyPr wrap="square">
            <a:spAutoFit/>
          </a:bodyPr>
          <a:p>
            <a:pPr marL="0" indent="0" algn="l"/>
            <a:r>
              <a:rPr lang="en-US" altLang="zh-CN" sz="2400">
                <a:sym typeface="+mn-ea"/>
              </a:rPr>
              <a:t>JournalNode</a:t>
            </a:r>
            <a:r>
              <a:rPr lang="zh-CN" altLang="en-US" sz="2400" b="0" i="0">
                <a:solidFill>
                  <a:srgbClr val="17233F"/>
                </a:solidFill>
                <a:latin typeface="-apple-system"/>
                <a:ea typeface="-apple-system"/>
              </a:rPr>
              <a:t>集群负责</a:t>
            </a:r>
            <a:r>
              <a:rPr lang="en-US" altLang="zh-CN" sz="2400" b="0" i="0">
                <a:solidFill>
                  <a:srgbClr val="17233F"/>
                </a:solidFill>
                <a:latin typeface="-apple-system"/>
                <a:ea typeface="-apple-system"/>
              </a:rPr>
              <a:t>Active NN</a:t>
            </a:r>
            <a:r>
              <a:rPr lang="zh-CN" altLang="en-US" sz="2400" b="0" i="0">
                <a:solidFill>
                  <a:srgbClr val="17233F"/>
                </a:solidFill>
                <a:latin typeface="-apple-system"/>
                <a:ea typeface="-apple-system"/>
              </a:rPr>
              <a:t>和</a:t>
            </a:r>
            <a:r>
              <a:rPr lang="en-US" altLang="zh-CN" sz="2400" b="0" i="0">
                <a:solidFill>
                  <a:srgbClr val="17233F"/>
                </a:solidFill>
                <a:latin typeface="-apple-system"/>
                <a:ea typeface="-apple-system"/>
              </a:rPr>
              <a:t>Standby NN</a:t>
            </a:r>
            <a:r>
              <a:rPr lang="zh-CN" altLang="en-US" sz="2400" b="0" i="0">
                <a:solidFill>
                  <a:srgbClr val="17233F"/>
                </a:solidFill>
                <a:latin typeface="-apple-system"/>
                <a:ea typeface="-apple-system"/>
              </a:rPr>
              <a:t>之间的元数据同步</a:t>
            </a:r>
            <a:endParaRPr lang="zh-CN" altLang="en-US" sz="2400" b="0" i="0">
              <a:solidFill>
                <a:srgbClr val="17233F"/>
              </a:solidFill>
              <a:latin typeface="-apple-system"/>
              <a:ea typeface="-apple-system"/>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3" grpId="1" animBg="1"/>
      <p:bldP spid="24" grpId="0" animBg="1"/>
      <p:bldP spid="24"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a:sym typeface="+mn-ea"/>
              </a:rPr>
              <a:t>HDFS 3.0 </a:t>
            </a:r>
            <a:r>
              <a:rPr lang="zh-CN" altLang="en-US" b="1">
                <a:sym typeface="+mn-ea"/>
              </a:rPr>
              <a:t>一些新特性</a:t>
            </a:r>
            <a:endParaRPr lang="zh-CN" altLang="en-US"/>
          </a:p>
        </p:txBody>
      </p:sp>
      <p:sp>
        <p:nvSpPr>
          <p:cNvPr id="3" name="内容占位符 2"/>
          <p:cNvSpPr>
            <a:spLocks noGrp="1"/>
          </p:cNvSpPr>
          <p:nvPr>
            <p:ph idx="1"/>
          </p:nvPr>
        </p:nvSpPr>
        <p:spPr/>
        <p:txBody>
          <a:bodyPr/>
          <a:lstStyle/>
          <a:p>
            <a:pPr marL="0" indent="0">
              <a:buNone/>
            </a:pPr>
            <a:r>
              <a:rPr lang="en-US" altLang="zh-CN"/>
              <a:t>3. Support for Opportunistic Containers and Distributed Scheduling.</a:t>
            </a:r>
            <a:endParaRPr lang="en-US" altLang="zh-CN"/>
          </a:p>
          <a:p>
            <a:pPr>
              <a:lnSpc>
                <a:spcPct val="200000"/>
              </a:lnSpc>
            </a:pPr>
            <a:r>
              <a:rPr lang="en-US" altLang="zh-CN"/>
              <a:t>引入了 ExecutionType 的概念</a:t>
            </a:r>
            <a:endParaRPr lang="en-US" altLang="zh-CN"/>
          </a:p>
          <a:p>
            <a:pPr>
              <a:lnSpc>
                <a:spcPct val="200000"/>
              </a:lnSpc>
            </a:pPr>
            <a:r>
              <a:rPr lang="en-US" altLang="zh-CN"/>
              <a:t>调度时没有可用的资源，可</a:t>
            </a:r>
            <a:r>
              <a:rPr lang="zh-CN" altLang="en-US"/>
              <a:t>用机会</a:t>
            </a:r>
            <a:r>
              <a:rPr lang="en-US" altLang="zh-CN"/>
              <a:t>容器在 NodeManager 上排队</a:t>
            </a:r>
            <a:endParaRPr lang="en-US" altLang="zh-CN"/>
          </a:p>
          <a:p>
            <a:pPr>
              <a:lnSpc>
                <a:spcPct val="200000"/>
              </a:lnSpc>
            </a:pPr>
            <a:r>
              <a:rPr lang="en-US" altLang="zh-CN"/>
              <a:t>机会容器的优先级低于默认的保证容器，因此在需要时会被抢占</a:t>
            </a:r>
            <a:endParaRPr lang="en-US" altLang="zh-CN"/>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a:sym typeface="+mn-ea"/>
              </a:rPr>
              <a:t>HDFS 3.0 </a:t>
            </a:r>
            <a:r>
              <a:rPr lang="zh-CN" altLang="en-US" b="1">
                <a:sym typeface="+mn-ea"/>
              </a:rPr>
              <a:t>一些新特性</a:t>
            </a:r>
            <a:endParaRPr lang="zh-CN" altLang="en-US"/>
          </a:p>
        </p:txBody>
      </p:sp>
      <p:sp>
        <p:nvSpPr>
          <p:cNvPr id="3" name="内容占位符 2"/>
          <p:cNvSpPr>
            <a:spLocks noGrp="1"/>
          </p:cNvSpPr>
          <p:nvPr>
            <p:ph idx="1"/>
          </p:nvPr>
        </p:nvSpPr>
        <p:spPr>
          <a:xfrm>
            <a:off x="838200" y="1825625"/>
            <a:ext cx="10702290" cy="4351655"/>
          </a:xfrm>
        </p:spPr>
        <p:txBody>
          <a:bodyPr/>
          <a:lstStyle/>
          <a:p>
            <a:pPr marL="0" indent="0">
              <a:buNone/>
            </a:pPr>
            <a:r>
              <a:rPr lang="en-US" altLang="zh-CN"/>
              <a:t>4. Intra-datanode balancer</a:t>
            </a:r>
            <a:endParaRPr lang="en-US" altLang="zh-CN"/>
          </a:p>
          <a:p>
            <a:pPr>
              <a:lnSpc>
                <a:spcPct val="150000"/>
              </a:lnSpc>
            </a:pPr>
            <a:r>
              <a:rPr lang="en-US" altLang="zh-CN"/>
              <a:t>现有的 HDFS 平衡器处理的，它关注的是 DN 之间的偏差，而不是 DN 内部的偏差</a:t>
            </a:r>
            <a:endParaRPr lang="en-US" altLang="zh-CN"/>
          </a:p>
          <a:p>
            <a:pPr>
              <a:lnSpc>
                <a:spcPct val="150000"/>
              </a:lnSpc>
            </a:pPr>
            <a:r>
              <a:rPr lang="en-US" altLang="zh-CN"/>
              <a:t>DN</a:t>
            </a:r>
            <a:r>
              <a:rPr lang="zh-CN" altLang="en-US"/>
              <a:t>内含多个磁盘，磁盘间数据不平衡的问题可用hdfs diskbalancer命令解决</a:t>
            </a:r>
            <a:endParaRPr lang="zh-CN" altLang="en-US"/>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a:sym typeface="+mn-ea"/>
              </a:rPr>
              <a:t>HDFS 3.0 </a:t>
            </a:r>
            <a:r>
              <a:rPr lang="zh-CN" altLang="en-US" b="1">
                <a:sym typeface="+mn-ea"/>
              </a:rPr>
              <a:t>一些新特性</a:t>
            </a:r>
            <a:endParaRPr lang="zh-CN" altLang="en-US"/>
          </a:p>
        </p:txBody>
      </p:sp>
      <p:sp>
        <p:nvSpPr>
          <p:cNvPr id="3" name="内容占位符 2"/>
          <p:cNvSpPr>
            <a:spLocks noGrp="1"/>
          </p:cNvSpPr>
          <p:nvPr>
            <p:ph idx="1"/>
          </p:nvPr>
        </p:nvSpPr>
        <p:spPr>
          <a:xfrm>
            <a:off x="838200" y="1825625"/>
            <a:ext cx="10515600" cy="2371090"/>
          </a:xfrm>
        </p:spPr>
        <p:txBody>
          <a:bodyPr>
            <a:normAutofit lnSpcReduction="10000"/>
          </a:bodyPr>
          <a:lstStyle/>
          <a:p>
            <a:pPr marL="0" indent="0">
              <a:buNone/>
            </a:pPr>
            <a:r>
              <a:rPr lang="en-US" altLang="zh-CN"/>
              <a:t>5. </a:t>
            </a:r>
            <a:r>
              <a:rPr lang="zh-CN" altLang="en-US"/>
              <a:t>HDFS Router-Based Federation</a:t>
            </a:r>
            <a:endParaRPr lang="zh-CN" altLang="en-US"/>
          </a:p>
          <a:p>
            <a:r>
              <a:rPr lang="zh-CN" altLang="en-US"/>
              <a:t>使用全局挂载表，难以保证所有客户端同步更新到新的挂载表</a:t>
            </a:r>
            <a:endParaRPr lang="zh-CN" altLang="en-US"/>
          </a:p>
          <a:p>
            <a:r>
              <a:rPr lang="zh-CN" altLang="en-US"/>
              <a:t>提出了新的联邦架构：Router-based Federation</a:t>
            </a:r>
            <a:endParaRPr lang="zh-CN" altLang="en-US"/>
          </a:p>
          <a:p>
            <a:r>
              <a:rPr lang="zh-CN" altLang="en-US"/>
              <a:t>引入新的代理服务，客户端直接请求代理服务，由其解析挂载表后将请求转发</a:t>
            </a:r>
            <a:endParaRPr lang="zh-CN" altLang="en-US"/>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pic>
        <p:nvPicPr>
          <p:cNvPr id="5" name="图片 4"/>
          <p:cNvPicPr>
            <a:picLocks noChangeAspect="1"/>
          </p:cNvPicPr>
          <p:nvPr>
            <p:custDataLst>
              <p:tags r:id="rId1"/>
            </p:custDataLst>
          </p:nvPr>
        </p:nvPicPr>
        <p:blipFill>
          <a:blip r:embed="rId2"/>
          <a:stretch>
            <a:fillRect/>
          </a:stretch>
        </p:blipFill>
        <p:spPr>
          <a:xfrm>
            <a:off x="3095625" y="3907790"/>
            <a:ext cx="5929630" cy="2376170"/>
          </a:xfrm>
          <a:prstGeom prst="rect">
            <a:avLst/>
          </a:prstGeom>
        </p:spPr>
      </p:pic>
      <p:sp>
        <p:nvSpPr>
          <p:cNvPr id="6" name="文本框 5"/>
          <p:cNvSpPr txBox="1"/>
          <p:nvPr/>
        </p:nvSpPr>
        <p:spPr>
          <a:xfrm>
            <a:off x="641350" y="6283960"/>
            <a:ext cx="10424160" cy="368300"/>
          </a:xfrm>
          <a:prstGeom prst="rect">
            <a:avLst/>
          </a:prstGeom>
          <a:noFill/>
        </p:spPr>
        <p:txBody>
          <a:bodyPr wrap="square" rtlCol="0" anchor="t">
            <a:spAutoFit/>
          </a:bodyPr>
          <a:lstStyle/>
          <a:p>
            <a:r>
              <a:rPr lang="zh-CN" altLang="en-US"/>
              <a:t>https://hadoop.apache.org/docs/r2.9.0/hadoop-project-dist/hadoop-hdfs/HDFSRouterFederation.html</a:t>
            </a: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b="1">
                <a:sym typeface="+mn-ea"/>
              </a:rPr>
              <a:t>HDFS 3.0 </a:t>
            </a:r>
            <a:r>
              <a:rPr lang="zh-CN" altLang="en-US" b="1">
                <a:sym typeface="+mn-ea"/>
              </a:rPr>
              <a:t>一些新特性</a:t>
            </a:r>
            <a:endParaRPr lang="zh-CN" altLang="en-US"/>
          </a:p>
        </p:txBody>
      </p:sp>
      <p:sp>
        <p:nvSpPr>
          <p:cNvPr id="4" name="内容占位符 3"/>
          <p:cNvSpPr>
            <a:spLocks noGrp="1"/>
          </p:cNvSpPr>
          <p:nvPr>
            <p:ph idx="1"/>
          </p:nvPr>
        </p:nvSpPr>
        <p:spPr/>
        <p:txBody>
          <a:bodyPr/>
          <a:lstStyle/>
          <a:p>
            <a:pPr marL="0" indent="0">
              <a:buNone/>
            </a:pPr>
            <a:r>
              <a:rPr lang="en-US" altLang="zh-CN"/>
              <a:t>6. YARN Resource Types</a:t>
            </a:r>
            <a:endParaRPr lang="en-US" altLang="zh-CN"/>
          </a:p>
          <a:p>
            <a:r>
              <a:rPr lang="zh-CN" altLang="en-US"/>
              <a:t>YARN 资源模型已通用化，以支持用户定义的 CPU 和内存之外的可数资源类型。</a:t>
            </a:r>
            <a:endParaRPr lang="zh-CN" altLang="en-US"/>
          </a:p>
          <a:p>
            <a:r>
              <a:rPr lang="zh-CN" altLang="en-US"/>
              <a:t>例如，群集管理员可以定义 GPU、软件许可证或本地附加存储等资源。然后，可以根据这些资源的可用性安排 YARN 任务。</a:t>
            </a:r>
            <a:endParaRPr lang="zh-CN" altLang="en-US"/>
          </a:p>
        </p:txBody>
      </p:sp>
      <p:sp>
        <p:nvSpPr>
          <p:cNvPr id="2" name="灯片编号占位符 1"/>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p:txBody>
          <a:bodyPr vert="horz" wrap="square" lIns="91440" tIns="45720" rIns="91440" bIns="45720" anchor="ctr" anchorCtr="0"/>
          <a:lstStyle/>
          <a:p>
            <a:r>
              <a:rPr lang="en-US" altLang="zh-CN" b="1" dirty="0"/>
              <a:t>8.</a:t>
            </a:r>
            <a:r>
              <a:rPr lang="zh-CN" altLang="zh-CN" b="1" dirty="0"/>
              <a:t>3</a:t>
            </a:r>
            <a:r>
              <a:rPr lang="zh-CN" altLang="en-US" b="1" dirty="0"/>
              <a:t>新一代资源管理调度框架</a:t>
            </a:r>
            <a:r>
              <a:rPr lang="zh-CN" altLang="zh-CN" b="1" dirty="0"/>
              <a:t>YARN</a:t>
            </a:r>
            <a:endParaRPr lang="zh-CN" altLang="en-US" dirty="0"/>
          </a:p>
        </p:txBody>
      </p:sp>
      <p:sp>
        <p:nvSpPr>
          <p:cNvPr id="19459" name="Rectangle 1"/>
          <p:cNvSpPr/>
          <p:nvPr/>
        </p:nvSpPr>
        <p:spPr>
          <a:xfrm>
            <a:off x="930275" y="1922780"/>
            <a:ext cx="9039860" cy="4206875"/>
          </a:xfrm>
          <a:prstGeom prst="rect">
            <a:avLst/>
          </a:prstGeom>
          <a:noFill/>
          <a:ln w="9525">
            <a:noFill/>
          </a:ln>
        </p:spPr>
        <p:txBody>
          <a:bodyPr wrap="square" tIns="165048" bIns="165048" anchor="ctr" anchorCtr="0">
            <a:spAutoFit/>
          </a:bodyPr>
          <a:lstStyle/>
          <a:p>
            <a:pPr eaLnBrk="0" hangingPunct="0">
              <a:lnSpc>
                <a:spcPct val="150000"/>
              </a:lnSpc>
            </a:pPr>
            <a:r>
              <a:rPr lang="en-US" altLang="zh-CN" sz="2800" dirty="0">
                <a:latin typeface="Arial" panose="020B0604020202020204" pitchFamily="34" charset="0"/>
              </a:rPr>
              <a:t>8.</a:t>
            </a:r>
            <a:r>
              <a:rPr lang="zh-CN" altLang="zh-CN" sz="2800" dirty="0">
                <a:latin typeface="Arial" panose="020B0604020202020204" pitchFamily="34" charset="0"/>
              </a:rPr>
              <a:t>3.1 MapReduce1.0的缺陷</a:t>
            </a:r>
            <a:endParaRPr lang="en-US" altLang="zh-CN" sz="2800" dirty="0">
              <a:latin typeface="Arial" panose="020B0604020202020204" pitchFamily="34" charset="0"/>
            </a:endParaRPr>
          </a:p>
          <a:p>
            <a:pPr eaLnBrk="0" hangingPunct="0">
              <a:lnSpc>
                <a:spcPct val="150000"/>
              </a:lnSpc>
            </a:pPr>
            <a:r>
              <a:rPr lang="en-US" altLang="zh-CN" sz="2800" dirty="0">
                <a:latin typeface="Arial" panose="020B0604020202020204" pitchFamily="34" charset="0"/>
              </a:rPr>
              <a:t>8.</a:t>
            </a:r>
            <a:r>
              <a:rPr lang="zh-CN" altLang="zh-CN" sz="2800" dirty="0">
                <a:latin typeface="Arial" panose="020B0604020202020204" pitchFamily="34" charset="0"/>
              </a:rPr>
              <a:t>3.2 YARN</a:t>
            </a:r>
            <a:r>
              <a:rPr lang="zh-CN" altLang="en-US" sz="2800" dirty="0">
                <a:latin typeface="Arial" panose="020B0604020202020204" pitchFamily="34" charset="0"/>
              </a:rPr>
              <a:t>设计思路</a:t>
            </a:r>
            <a:endParaRPr lang="zh-CN" altLang="zh-CN" sz="2800" dirty="0">
              <a:latin typeface="Arial" panose="020B0604020202020204" pitchFamily="34" charset="0"/>
            </a:endParaRPr>
          </a:p>
          <a:p>
            <a:pPr eaLnBrk="0" hangingPunct="0">
              <a:lnSpc>
                <a:spcPct val="150000"/>
              </a:lnSpc>
            </a:pPr>
            <a:r>
              <a:rPr lang="en-US" altLang="zh-CN" sz="2800" dirty="0">
                <a:latin typeface="Arial" panose="020B0604020202020204" pitchFamily="34" charset="0"/>
              </a:rPr>
              <a:t>8.</a:t>
            </a:r>
            <a:r>
              <a:rPr lang="zh-CN" altLang="zh-CN" sz="2800" dirty="0">
                <a:latin typeface="Arial" panose="020B0604020202020204" pitchFamily="34" charset="0"/>
              </a:rPr>
              <a:t>3.3 YARN</a:t>
            </a:r>
            <a:r>
              <a:rPr lang="zh-CN" altLang="en-US" sz="2800" dirty="0">
                <a:latin typeface="Arial" panose="020B0604020202020204" pitchFamily="34" charset="0"/>
              </a:rPr>
              <a:t>体系结构</a:t>
            </a:r>
            <a:endParaRPr lang="zh-CN" altLang="zh-CN" sz="2800" dirty="0">
              <a:latin typeface="Arial" panose="020B0604020202020204" pitchFamily="34" charset="0"/>
            </a:endParaRPr>
          </a:p>
          <a:p>
            <a:pPr eaLnBrk="0" hangingPunct="0">
              <a:lnSpc>
                <a:spcPct val="150000"/>
              </a:lnSpc>
            </a:pPr>
            <a:r>
              <a:rPr lang="en-US" altLang="zh-CN" sz="2800" dirty="0">
                <a:latin typeface="Arial" panose="020B0604020202020204" pitchFamily="34" charset="0"/>
              </a:rPr>
              <a:t>8.</a:t>
            </a:r>
            <a:r>
              <a:rPr lang="zh-CN" altLang="zh-CN" sz="2800" dirty="0">
                <a:latin typeface="Arial" panose="020B0604020202020204" pitchFamily="34" charset="0"/>
              </a:rPr>
              <a:t>3.4 YARN</a:t>
            </a:r>
            <a:r>
              <a:rPr lang="zh-CN" altLang="en-US" sz="2800" dirty="0">
                <a:latin typeface="Arial" panose="020B0604020202020204" pitchFamily="34" charset="0"/>
              </a:rPr>
              <a:t>工作流程</a:t>
            </a:r>
            <a:endParaRPr lang="zh-CN" altLang="zh-CN" sz="2800" dirty="0">
              <a:latin typeface="Arial" panose="020B0604020202020204" pitchFamily="34" charset="0"/>
            </a:endParaRPr>
          </a:p>
          <a:p>
            <a:pPr eaLnBrk="0" hangingPunct="0">
              <a:lnSpc>
                <a:spcPct val="150000"/>
              </a:lnSpc>
            </a:pPr>
            <a:r>
              <a:rPr lang="en-US" altLang="zh-CN" sz="2800" dirty="0">
                <a:latin typeface="Arial" panose="020B0604020202020204" pitchFamily="34" charset="0"/>
              </a:rPr>
              <a:t>8.</a:t>
            </a:r>
            <a:r>
              <a:rPr lang="zh-CN" altLang="zh-CN" sz="2800" dirty="0">
                <a:latin typeface="Arial" panose="020B0604020202020204" pitchFamily="34" charset="0"/>
              </a:rPr>
              <a:t>3.5YARN</a:t>
            </a:r>
            <a:r>
              <a:rPr lang="zh-CN" altLang="en-US" sz="2800" dirty="0">
                <a:latin typeface="Arial" panose="020B0604020202020204" pitchFamily="34" charset="0"/>
              </a:rPr>
              <a:t>框架与</a:t>
            </a:r>
            <a:r>
              <a:rPr lang="zh-CN" altLang="zh-CN" sz="2800" dirty="0">
                <a:latin typeface="Arial" panose="020B0604020202020204" pitchFamily="34" charset="0"/>
              </a:rPr>
              <a:t>MapReduce1.0</a:t>
            </a:r>
            <a:r>
              <a:rPr lang="zh-CN" altLang="en-US" sz="2800" dirty="0">
                <a:latin typeface="Arial" panose="020B0604020202020204" pitchFamily="34" charset="0"/>
              </a:rPr>
              <a:t>框架的对比分析</a:t>
            </a:r>
            <a:endParaRPr lang="zh-CN" altLang="zh-CN" sz="2800" dirty="0">
              <a:latin typeface="Arial" panose="020B0604020202020204" pitchFamily="34" charset="0"/>
            </a:endParaRPr>
          </a:p>
          <a:p>
            <a:pPr eaLnBrk="0" hangingPunct="0">
              <a:lnSpc>
                <a:spcPct val="150000"/>
              </a:lnSpc>
            </a:pPr>
            <a:r>
              <a:rPr lang="en-US" altLang="zh-CN" sz="2800" dirty="0">
                <a:latin typeface="Arial" panose="020B0604020202020204" pitchFamily="34" charset="0"/>
              </a:rPr>
              <a:t>8.</a:t>
            </a:r>
            <a:r>
              <a:rPr lang="zh-CN" altLang="zh-CN" sz="2800" dirty="0">
                <a:latin typeface="Arial" panose="020B0604020202020204" pitchFamily="34" charset="0"/>
              </a:rPr>
              <a:t>3.6 YARN</a:t>
            </a:r>
            <a:r>
              <a:rPr lang="zh-CN" altLang="en-US" sz="2800" dirty="0">
                <a:latin typeface="Arial" panose="020B0604020202020204" pitchFamily="34" charset="0"/>
              </a:rPr>
              <a:t>的发展目标</a:t>
            </a:r>
            <a:endParaRPr lang="zh-CN" altLang="en-US" sz="2800" dirty="0">
              <a:latin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标题 2"/>
          <p:cNvSpPr>
            <a:spLocks noGrp="1"/>
          </p:cNvSpPr>
          <p:nvPr>
            <p:ph type="title"/>
          </p:nvPr>
        </p:nvSpPr>
        <p:spPr/>
        <p:txBody>
          <a:bodyPr vert="horz" wrap="square" lIns="91440" tIns="45720" rIns="91440" bIns="45720" anchor="ctr" anchorCtr="0"/>
          <a:lstStyle/>
          <a:p>
            <a:r>
              <a:rPr lang="en-US" altLang="zh-CN" dirty="0"/>
              <a:t>MapReduce</a:t>
            </a:r>
            <a:r>
              <a:rPr lang="zh-CN" altLang="en-US" dirty="0"/>
              <a:t>的体系结构</a:t>
            </a:r>
            <a:endParaRPr lang="zh-CN" altLang="en-US" dirty="0"/>
          </a:p>
        </p:txBody>
      </p:sp>
      <p:sp>
        <p:nvSpPr>
          <p:cNvPr id="2052" name="Rectangle 2"/>
          <p:cNvSpPr/>
          <p:nvPr/>
        </p:nvSpPr>
        <p:spPr>
          <a:xfrm>
            <a:off x="1524000" y="-184150"/>
            <a:ext cx="30988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graphicFrame>
        <p:nvGraphicFramePr>
          <p:cNvPr id="2050" name="Object 1"/>
          <p:cNvGraphicFramePr/>
          <p:nvPr/>
        </p:nvGraphicFramePr>
        <p:xfrm>
          <a:off x="2209800" y="2213610"/>
          <a:ext cx="7661275" cy="4419600"/>
        </p:xfrm>
        <a:graphic>
          <a:graphicData uri="http://schemas.openxmlformats.org/presentationml/2006/ole">
            <mc:AlternateContent xmlns:mc="http://schemas.openxmlformats.org/markup-compatibility/2006">
              <mc:Choice xmlns:v="urn:schemas-microsoft-com:vml" Requires="v">
                <p:oleObj spid="_x0000_s3089" name="" r:id="rId1" imgW="8915400" imgH="5153025" progId="Visio.Drawing.15">
                  <p:embed/>
                </p:oleObj>
              </mc:Choice>
              <mc:Fallback>
                <p:oleObj name="" r:id="rId1" imgW="8915400" imgH="5153025" progId="Visio.Drawing.15">
                  <p:embed/>
                  <p:pic>
                    <p:nvPicPr>
                      <p:cNvPr id="0" name="图片 3077"/>
                      <p:cNvPicPr/>
                      <p:nvPr/>
                    </p:nvPicPr>
                    <p:blipFill>
                      <a:blip r:embed="rId2"/>
                      <a:stretch>
                        <a:fillRect/>
                      </a:stretch>
                    </p:blipFill>
                    <p:spPr>
                      <a:xfrm>
                        <a:off x="2209800" y="2213610"/>
                        <a:ext cx="7661275" cy="4419600"/>
                      </a:xfrm>
                      <a:prstGeom prst="rect">
                        <a:avLst/>
                      </a:prstGeom>
                      <a:noFill/>
                      <a:ln w="38100">
                        <a:noFill/>
                        <a:miter/>
                      </a:ln>
                    </p:spPr>
                  </p:pic>
                </p:oleObj>
              </mc:Fallback>
            </mc:AlternateContent>
          </a:graphicData>
        </a:graphic>
      </p:graphicFrame>
      <p:sp>
        <p:nvSpPr>
          <p:cNvPr id="2053" name="矩形 5"/>
          <p:cNvSpPr/>
          <p:nvPr/>
        </p:nvSpPr>
        <p:spPr>
          <a:xfrm>
            <a:off x="1308735" y="1304925"/>
            <a:ext cx="8001000" cy="829945"/>
          </a:xfrm>
          <a:prstGeom prst="rect">
            <a:avLst/>
          </a:prstGeom>
          <a:noFill/>
          <a:ln w="9525">
            <a:noFill/>
          </a:ln>
        </p:spPr>
        <p:txBody>
          <a:bodyPr>
            <a:spAutoFit/>
          </a:bodyPr>
          <a:lstStyle/>
          <a:p>
            <a:r>
              <a:rPr lang="en-US" altLang="zh-CN" sz="2400" dirty="0">
                <a:latin typeface="Arial" panose="020B0604020202020204" pitchFamily="34" charset="0"/>
              </a:rPr>
              <a:t>MapReduce</a:t>
            </a:r>
            <a:r>
              <a:rPr lang="zh-CN" altLang="en-US" sz="2400" dirty="0">
                <a:latin typeface="Arial" panose="020B0604020202020204" pitchFamily="34" charset="0"/>
              </a:rPr>
              <a:t>体系结构</a:t>
            </a:r>
            <a:r>
              <a:rPr lang="zh-CN" altLang="zh-CN" sz="2400" dirty="0">
                <a:latin typeface="Arial" panose="020B0604020202020204" pitchFamily="34" charset="0"/>
              </a:rPr>
              <a:t>主要由四个部分组成，分别是：</a:t>
            </a:r>
            <a:endParaRPr lang="zh-CN" altLang="zh-CN" sz="2400" dirty="0">
              <a:latin typeface="Arial" panose="020B0604020202020204" pitchFamily="34" charset="0"/>
            </a:endParaRPr>
          </a:p>
          <a:p>
            <a:r>
              <a:rPr lang="en-US" altLang="zh-CN" sz="2400" dirty="0">
                <a:latin typeface="Arial" panose="020B0604020202020204" pitchFamily="34" charset="0"/>
              </a:rPr>
              <a:t>Client</a:t>
            </a:r>
            <a:r>
              <a:rPr lang="zh-CN" altLang="zh-CN" sz="2400" dirty="0">
                <a:latin typeface="Arial" panose="020B0604020202020204" pitchFamily="34" charset="0"/>
              </a:rPr>
              <a:t>、</a:t>
            </a:r>
            <a:r>
              <a:rPr lang="en-US" altLang="zh-CN" sz="2400" dirty="0">
                <a:latin typeface="Arial" panose="020B0604020202020204" pitchFamily="34" charset="0"/>
              </a:rPr>
              <a:t>JobTracker</a:t>
            </a:r>
            <a:r>
              <a:rPr lang="zh-CN" altLang="zh-CN" sz="2400" dirty="0">
                <a:latin typeface="Arial" panose="020B0604020202020204" pitchFamily="34" charset="0"/>
              </a:rPr>
              <a:t>、</a:t>
            </a:r>
            <a:r>
              <a:rPr lang="en-US" altLang="zh-CN" sz="2400" dirty="0">
                <a:latin typeface="Arial" panose="020B0604020202020204" pitchFamily="34" charset="0"/>
              </a:rPr>
              <a:t>TaskTracker</a:t>
            </a:r>
            <a:r>
              <a:rPr lang="zh-CN" altLang="zh-CN" sz="2400" dirty="0">
                <a:latin typeface="Arial" panose="020B0604020202020204" pitchFamily="34" charset="0"/>
              </a:rPr>
              <a:t>以及</a:t>
            </a:r>
            <a:r>
              <a:rPr lang="en-US" altLang="zh-CN" sz="2400" dirty="0">
                <a:latin typeface="Arial" panose="020B0604020202020204" pitchFamily="34" charset="0"/>
              </a:rPr>
              <a:t>Task</a:t>
            </a:r>
            <a:endParaRPr lang="en-US" altLang="zh-CN" sz="2400" dirty="0">
              <a:latin typeface="Arial" panose="020B0604020202020204" pitchFamily="34" charset="0"/>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标题 1"/>
          <p:cNvSpPr>
            <a:spLocks noGrp="1"/>
          </p:cNvSpPr>
          <p:nvPr>
            <p:ph type="title"/>
          </p:nvPr>
        </p:nvSpPr>
        <p:spPr/>
        <p:txBody>
          <a:bodyPr vert="horz" wrap="square" lIns="91440" tIns="45720" rIns="91440" bIns="45720" anchor="ctr" anchorCtr="0"/>
          <a:lstStyle/>
          <a:p>
            <a:r>
              <a:rPr lang="en-US" altLang="zh-CN" dirty="0"/>
              <a:t>MapReduce</a:t>
            </a:r>
            <a:r>
              <a:rPr lang="zh-CN" altLang="en-US" dirty="0"/>
              <a:t>的体系结构</a:t>
            </a:r>
            <a:endParaRPr lang="zh-CN" altLang="en-US" dirty="0"/>
          </a:p>
        </p:txBody>
      </p:sp>
      <p:sp>
        <p:nvSpPr>
          <p:cNvPr id="3076" name="矩形 2"/>
          <p:cNvSpPr/>
          <p:nvPr/>
        </p:nvSpPr>
        <p:spPr>
          <a:xfrm>
            <a:off x="1083310" y="1561465"/>
            <a:ext cx="10024745" cy="4154170"/>
          </a:xfrm>
          <a:prstGeom prst="rect">
            <a:avLst/>
          </a:prstGeom>
          <a:noFill/>
          <a:ln w="9525">
            <a:noFill/>
          </a:ln>
        </p:spPr>
        <p:txBody>
          <a:bodyPr wrap="square">
            <a:spAutoFit/>
          </a:bodyPr>
          <a:lstStyle/>
          <a:p>
            <a:r>
              <a:rPr lang="en-US" altLang="zh-CN" sz="2400" b="1" dirty="0">
                <a:latin typeface="Arial" panose="020B0604020202020204" pitchFamily="34" charset="0"/>
              </a:rPr>
              <a:t>1</a:t>
            </a:r>
            <a:r>
              <a:rPr lang="zh-CN" altLang="en-US" sz="2400" b="1" dirty="0">
                <a:latin typeface="Arial" panose="020B0604020202020204" pitchFamily="34" charset="0"/>
              </a:rPr>
              <a:t>）</a:t>
            </a:r>
            <a:r>
              <a:rPr lang="en-US" altLang="zh-CN" sz="2400" b="1" dirty="0">
                <a:latin typeface="Arial" panose="020B0604020202020204" pitchFamily="34" charset="0"/>
              </a:rPr>
              <a:t>Client</a:t>
            </a:r>
            <a:endParaRPr lang="en-US" altLang="zh-CN" sz="2400" b="1" dirty="0">
              <a:latin typeface="Arial" panose="020B0604020202020204" pitchFamily="34" charset="0"/>
            </a:endParaRPr>
          </a:p>
          <a:p>
            <a:pPr>
              <a:buFont typeface="Arial" panose="020B0604020202020204" pitchFamily="34" charset="0"/>
              <a:buChar char="•"/>
            </a:pPr>
            <a:r>
              <a:rPr lang="zh-CN" altLang="en-US" sz="2400" dirty="0">
                <a:latin typeface="Arial" panose="020B0604020202020204" pitchFamily="34" charset="0"/>
              </a:rPr>
              <a:t>用户编写的</a:t>
            </a:r>
            <a:r>
              <a:rPr lang="en-US" altLang="zh-CN" sz="2400" dirty="0">
                <a:latin typeface="Arial" panose="020B0604020202020204" pitchFamily="34" charset="0"/>
              </a:rPr>
              <a:t>MapReduce</a:t>
            </a:r>
            <a:r>
              <a:rPr lang="zh-CN" altLang="en-US" sz="2400" dirty="0">
                <a:latin typeface="Arial" panose="020B0604020202020204" pitchFamily="34" charset="0"/>
              </a:rPr>
              <a:t>程序通过</a:t>
            </a:r>
            <a:r>
              <a:rPr lang="en-US" altLang="zh-CN" sz="2400" dirty="0">
                <a:latin typeface="Arial" panose="020B0604020202020204" pitchFamily="34" charset="0"/>
              </a:rPr>
              <a:t>Client</a:t>
            </a:r>
            <a:r>
              <a:rPr lang="zh-CN" altLang="en-US" sz="2400" dirty="0">
                <a:latin typeface="Arial" panose="020B0604020202020204" pitchFamily="34" charset="0"/>
              </a:rPr>
              <a:t>提交到</a:t>
            </a:r>
            <a:r>
              <a:rPr lang="en-US" altLang="zh-CN" sz="2400" dirty="0">
                <a:latin typeface="Arial" panose="020B0604020202020204" pitchFamily="34" charset="0"/>
              </a:rPr>
              <a:t>JobTracker</a:t>
            </a:r>
            <a:r>
              <a:rPr lang="zh-CN" altLang="en-US" sz="2400" dirty="0">
                <a:latin typeface="Arial" panose="020B0604020202020204" pitchFamily="34" charset="0"/>
              </a:rPr>
              <a:t>端</a:t>
            </a:r>
            <a:endParaRPr lang="en-US" altLang="zh-CN" sz="2400" dirty="0">
              <a:latin typeface="Arial" panose="020B0604020202020204" pitchFamily="34" charset="0"/>
            </a:endParaRPr>
          </a:p>
          <a:p>
            <a:pPr>
              <a:buFont typeface="Arial" panose="020B0604020202020204" pitchFamily="34" charset="0"/>
              <a:buChar char="•"/>
            </a:pPr>
            <a:r>
              <a:rPr lang="zh-CN" altLang="en-US" sz="2400" dirty="0">
                <a:latin typeface="Arial" panose="020B0604020202020204" pitchFamily="34" charset="0"/>
              </a:rPr>
              <a:t>用户可通过</a:t>
            </a:r>
            <a:r>
              <a:rPr lang="en-US" altLang="zh-CN" sz="2400" dirty="0">
                <a:latin typeface="Arial" panose="020B0604020202020204" pitchFamily="34" charset="0"/>
              </a:rPr>
              <a:t>Client</a:t>
            </a:r>
            <a:r>
              <a:rPr lang="zh-CN" altLang="en-US" sz="2400" dirty="0">
                <a:latin typeface="Arial" panose="020B0604020202020204" pitchFamily="34" charset="0"/>
              </a:rPr>
              <a:t>提供的一些接口查看作业运行状态</a:t>
            </a:r>
            <a:endParaRPr lang="zh-CN" altLang="en-US" sz="2400" dirty="0">
              <a:latin typeface="Arial" panose="020B0604020202020204" pitchFamily="34" charset="0"/>
            </a:endParaRPr>
          </a:p>
          <a:p>
            <a:pPr>
              <a:buFont typeface="Arial" panose="020B0604020202020204" pitchFamily="34" charset="0"/>
              <a:buChar char="•"/>
            </a:pPr>
            <a:endParaRPr lang="zh-CN" altLang="en-US" sz="2400" dirty="0">
              <a:latin typeface="Arial" panose="020B0604020202020204" pitchFamily="34" charset="0"/>
            </a:endParaRPr>
          </a:p>
          <a:p>
            <a:r>
              <a:rPr lang="en-US" altLang="zh-CN" sz="2400" b="1" dirty="0">
                <a:latin typeface="Arial" panose="020B0604020202020204" pitchFamily="34" charset="0"/>
              </a:rPr>
              <a:t>2</a:t>
            </a:r>
            <a:r>
              <a:rPr lang="zh-CN" altLang="en-US" sz="2400" b="1" dirty="0">
                <a:latin typeface="Arial" panose="020B0604020202020204" pitchFamily="34" charset="0"/>
              </a:rPr>
              <a:t>）</a:t>
            </a:r>
            <a:r>
              <a:rPr lang="en-US" altLang="zh-CN" sz="2400" b="1" dirty="0">
                <a:latin typeface="Arial" panose="020B0604020202020204" pitchFamily="34" charset="0"/>
              </a:rPr>
              <a:t>JobTracker</a:t>
            </a:r>
            <a:endParaRPr lang="zh-CN" altLang="en-US" sz="2400" dirty="0">
              <a:latin typeface="Arial" panose="020B0604020202020204" pitchFamily="34" charset="0"/>
            </a:endParaRPr>
          </a:p>
          <a:p>
            <a:pPr>
              <a:buFont typeface="Arial" panose="020B0604020202020204" pitchFamily="34" charset="0"/>
              <a:buChar char="•"/>
            </a:pPr>
            <a:r>
              <a:rPr lang="en-US" altLang="zh-CN" sz="2400" dirty="0">
                <a:latin typeface="Arial" panose="020B0604020202020204" pitchFamily="34" charset="0"/>
              </a:rPr>
              <a:t>JobTracker</a:t>
            </a:r>
            <a:r>
              <a:rPr lang="zh-CN" altLang="en-US" sz="2400" dirty="0">
                <a:latin typeface="Arial" panose="020B0604020202020204" pitchFamily="34" charset="0"/>
              </a:rPr>
              <a:t>负责</a:t>
            </a:r>
            <a:r>
              <a:rPr lang="zh-CN" altLang="en-US" sz="2400" dirty="0">
                <a:highlight>
                  <a:srgbClr val="FFFF00"/>
                </a:highlight>
                <a:latin typeface="Arial" panose="020B0604020202020204" pitchFamily="34" charset="0"/>
              </a:rPr>
              <a:t>资源</a:t>
            </a:r>
            <a:r>
              <a:rPr lang="zh-CN" altLang="en-US" sz="2400" dirty="0">
                <a:latin typeface="Arial" panose="020B0604020202020204" pitchFamily="34" charset="0"/>
              </a:rPr>
              <a:t>监控和</a:t>
            </a:r>
            <a:r>
              <a:rPr lang="zh-CN" altLang="en-US" sz="2400" dirty="0">
                <a:highlight>
                  <a:srgbClr val="FFFF00"/>
                </a:highlight>
                <a:latin typeface="Arial" panose="020B0604020202020204" pitchFamily="34" charset="0"/>
              </a:rPr>
              <a:t>作业调度</a:t>
            </a:r>
            <a:endParaRPr lang="en-US" altLang="zh-CN" sz="2400" dirty="0">
              <a:latin typeface="Arial" panose="020B0604020202020204" pitchFamily="34" charset="0"/>
            </a:endParaRPr>
          </a:p>
          <a:p>
            <a:pPr>
              <a:buFont typeface="Arial" panose="020B0604020202020204" pitchFamily="34" charset="0"/>
              <a:buChar char="•"/>
            </a:pPr>
            <a:r>
              <a:rPr lang="en-US" altLang="zh-CN" sz="2400" dirty="0">
                <a:latin typeface="Arial" panose="020B0604020202020204" pitchFamily="34" charset="0"/>
              </a:rPr>
              <a:t>JobTracker </a:t>
            </a:r>
            <a:r>
              <a:rPr lang="zh-CN" altLang="en-US" sz="2400" dirty="0">
                <a:highlight>
                  <a:srgbClr val="FFFF00"/>
                </a:highlight>
                <a:latin typeface="Arial" panose="020B0604020202020204" pitchFamily="34" charset="0"/>
              </a:rPr>
              <a:t>监控</a:t>
            </a:r>
            <a:r>
              <a:rPr lang="zh-CN" altLang="en-US" sz="2400" dirty="0">
                <a:latin typeface="Arial" panose="020B0604020202020204" pitchFamily="34" charset="0"/>
              </a:rPr>
              <a:t>所有</a:t>
            </a:r>
            <a:r>
              <a:rPr lang="en-US" altLang="zh-CN" sz="2400" dirty="0">
                <a:latin typeface="Arial" panose="020B0604020202020204" pitchFamily="34" charset="0"/>
              </a:rPr>
              <a:t>TaskTracker</a:t>
            </a:r>
            <a:r>
              <a:rPr lang="zh-CN" altLang="en-US" sz="2400" dirty="0">
                <a:latin typeface="Arial" panose="020B0604020202020204" pitchFamily="34" charset="0"/>
              </a:rPr>
              <a:t>与</a:t>
            </a:r>
            <a:r>
              <a:rPr lang="en-US" altLang="zh-CN" sz="2400" dirty="0">
                <a:latin typeface="Arial" panose="020B0604020202020204" pitchFamily="34" charset="0"/>
              </a:rPr>
              <a:t>Job</a:t>
            </a:r>
            <a:r>
              <a:rPr lang="zh-CN" altLang="en-US" sz="2400" dirty="0">
                <a:latin typeface="Arial" panose="020B0604020202020204" pitchFamily="34" charset="0"/>
              </a:rPr>
              <a:t>的健康状况，一旦发现失败，就将相应的任务转移到其他节点</a:t>
            </a:r>
            <a:endParaRPr lang="en-US" altLang="zh-CN" sz="2400" dirty="0">
              <a:latin typeface="Arial" panose="020B0604020202020204" pitchFamily="34" charset="0"/>
            </a:endParaRPr>
          </a:p>
          <a:p>
            <a:pPr>
              <a:buFont typeface="Arial" panose="020B0604020202020204" pitchFamily="34" charset="0"/>
              <a:buChar char="•"/>
            </a:pPr>
            <a:r>
              <a:rPr lang="en-US" altLang="zh-CN" sz="2400" dirty="0">
                <a:latin typeface="Arial" panose="020B0604020202020204" pitchFamily="34" charset="0"/>
              </a:rPr>
              <a:t>JobTracker </a:t>
            </a:r>
            <a:r>
              <a:rPr lang="zh-CN" altLang="en-US" sz="2400" dirty="0">
                <a:latin typeface="Arial" panose="020B0604020202020204" pitchFamily="34" charset="0"/>
              </a:rPr>
              <a:t>会跟踪任务的执行进度、资源使用量等信息，并将这些信息告诉任务调度器（</a:t>
            </a:r>
            <a:r>
              <a:rPr lang="en-US" altLang="zh-CN" sz="2400" dirty="0">
                <a:latin typeface="Arial" panose="020B0604020202020204" pitchFamily="34" charset="0"/>
              </a:rPr>
              <a:t>TaskScheduler</a:t>
            </a:r>
            <a:r>
              <a:rPr lang="zh-CN" altLang="en-US" sz="2400" dirty="0">
                <a:latin typeface="Arial" panose="020B0604020202020204" pitchFamily="34" charset="0"/>
              </a:rPr>
              <a:t>），而调度器会在资源出现空闲时，选择合适的任务去使用这些资源</a:t>
            </a:r>
            <a:endParaRPr lang="zh-CN" altLang="en-US" sz="2400" dirty="0">
              <a:latin typeface="Arial" panose="020B0604020202020204" pitchFamily="34" charset="0"/>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标题 1"/>
          <p:cNvSpPr>
            <a:spLocks noGrp="1"/>
          </p:cNvSpPr>
          <p:nvPr>
            <p:ph type="title"/>
          </p:nvPr>
        </p:nvSpPr>
        <p:spPr/>
        <p:txBody>
          <a:bodyPr vert="horz" wrap="square" lIns="91440" tIns="45720" rIns="91440" bIns="45720" anchor="ctr" anchorCtr="0"/>
          <a:lstStyle/>
          <a:p>
            <a:r>
              <a:rPr lang="en-US" altLang="zh-CN" dirty="0"/>
              <a:t>MapReduce</a:t>
            </a:r>
            <a:r>
              <a:rPr lang="zh-CN" altLang="en-US" dirty="0"/>
              <a:t>的体系结构</a:t>
            </a:r>
            <a:endParaRPr lang="zh-CN" altLang="en-US" dirty="0"/>
          </a:p>
        </p:txBody>
      </p:sp>
      <p:sp>
        <p:nvSpPr>
          <p:cNvPr id="4100" name="矩形 2"/>
          <p:cNvSpPr/>
          <p:nvPr/>
        </p:nvSpPr>
        <p:spPr>
          <a:xfrm>
            <a:off x="965835" y="1414145"/>
            <a:ext cx="9714230" cy="4154170"/>
          </a:xfrm>
          <a:prstGeom prst="rect">
            <a:avLst/>
          </a:prstGeom>
          <a:noFill/>
          <a:ln w="9525">
            <a:noFill/>
          </a:ln>
        </p:spPr>
        <p:txBody>
          <a:bodyPr wrap="square">
            <a:spAutoFit/>
          </a:bodyPr>
          <a:lstStyle/>
          <a:p>
            <a:r>
              <a:rPr lang="en-US" altLang="zh-CN" sz="2400" b="1" dirty="0">
                <a:latin typeface="Arial" panose="020B0604020202020204" pitchFamily="34" charset="0"/>
              </a:rPr>
              <a:t>3</a:t>
            </a:r>
            <a:r>
              <a:rPr lang="zh-CN" altLang="en-US" sz="2400" b="1" dirty="0">
                <a:latin typeface="Arial" panose="020B0604020202020204" pitchFamily="34" charset="0"/>
              </a:rPr>
              <a:t>）</a:t>
            </a:r>
            <a:r>
              <a:rPr lang="en-US" altLang="zh-CN" sz="2400" b="1" dirty="0">
                <a:latin typeface="Arial" panose="020B0604020202020204" pitchFamily="34" charset="0"/>
              </a:rPr>
              <a:t>TaskTracker</a:t>
            </a:r>
            <a:endParaRPr lang="zh-CN" altLang="en-US" sz="2400" dirty="0">
              <a:latin typeface="Arial" panose="020B0604020202020204" pitchFamily="34" charset="0"/>
            </a:endParaRPr>
          </a:p>
          <a:p>
            <a:pPr>
              <a:buFont typeface="Arial" panose="020B0604020202020204" pitchFamily="34" charset="0"/>
              <a:buChar char="•"/>
            </a:pPr>
            <a:r>
              <a:rPr lang="en-US" altLang="zh-CN" sz="2400" dirty="0">
                <a:latin typeface="Arial" panose="020B0604020202020204" pitchFamily="34" charset="0"/>
              </a:rPr>
              <a:t>TaskTracker </a:t>
            </a:r>
            <a:r>
              <a:rPr lang="zh-CN" altLang="en-US" sz="2400" dirty="0">
                <a:latin typeface="Arial" panose="020B0604020202020204" pitchFamily="34" charset="0"/>
              </a:rPr>
              <a:t>会周期性地通过“心跳”将本节点上资源的使用情况和任务的运行进度汇报给</a:t>
            </a:r>
            <a:r>
              <a:rPr lang="en-US" altLang="zh-CN" sz="2400" dirty="0">
                <a:latin typeface="Arial" panose="020B0604020202020204" pitchFamily="34" charset="0"/>
              </a:rPr>
              <a:t>JobTracker</a:t>
            </a:r>
            <a:r>
              <a:rPr lang="zh-CN" altLang="en-US" sz="2400" dirty="0">
                <a:latin typeface="Arial" panose="020B0604020202020204" pitchFamily="34" charset="0"/>
              </a:rPr>
              <a:t>，同时接收</a:t>
            </a:r>
            <a:r>
              <a:rPr lang="en-US" altLang="zh-CN" sz="2400" dirty="0">
                <a:latin typeface="Arial" panose="020B0604020202020204" pitchFamily="34" charset="0"/>
              </a:rPr>
              <a:t>JobTracker </a:t>
            </a:r>
            <a:r>
              <a:rPr lang="zh-CN" altLang="en-US" sz="2400" dirty="0">
                <a:latin typeface="Arial" panose="020B0604020202020204" pitchFamily="34" charset="0"/>
              </a:rPr>
              <a:t>发送过来的命令并执行相应的操作（如启动新任务、杀死任务等）</a:t>
            </a:r>
            <a:endParaRPr lang="en-US" altLang="zh-CN" sz="2400" dirty="0">
              <a:latin typeface="Arial" panose="020B0604020202020204" pitchFamily="34" charset="0"/>
            </a:endParaRPr>
          </a:p>
          <a:p>
            <a:pPr>
              <a:buFont typeface="Arial" panose="020B0604020202020204" pitchFamily="34" charset="0"/>
              <a:buChar char="•"/>
            </a:pPr>
            <a:r>
              <a:rPr lang="en-US" altLang="zh-CN" sz="2400" dirty="0">
                <a:latin typeface="Arial" panose="020B0604020202020204" pitchFamily="34" charset="0"/>
              </a:rPr>
              <a:t>TaskTracker </a:t>
            </a:r>
            <a:r>
              <a:rPr lang="zh-CN" altLang="en-US" sz="2400" dirty="0">
                <a:latin typeface="Arial" panose="020B0604020202020204" pitchFamily="34" charset="0"/>
              </a:rPr>
              <a:t>使用槽</a:t>
            </a:r>
            <a:r>
              <a:rPr lang="en-US" altLang="zh-CN" sz="2400" dirty="0">
                <a:latin typeface="Arial" panose="020B0604020202020204" pitchFamily="34" charset="0"/>
              </a:rPr>
              <a:t>(slot)</a:t>
            </a:r>
            <a:r>
              <a:rPr lang="zh-CN" altLang="en-US" sz="2400" dirty="0">
                <a:latin typeface="Arial" panose="020B0604020202020204" pitchFamily="34" charset="0"/>
              </a:rPr>
              <a:t>等量划分本节点上的资源量（</a:t>
            </a:r>
            <a:r>
              <a:rPr lang="en-US" altLang="zh-CN" sz="2400" dirty="0">
                <a:latin typeface="Arial" panose="020B0604020202020204" pitchFamily="34" charset="0"/>
              </a:rPr>
              <a:t>CPU</a:t>
            </a:r>
            <a:r>
              <a:rPr lang="zh-CN" altLang="en-US" sz="2400" dirty="0">
                <a:latin typeface="Arial" panose="020B0604020202020204" pitchFamily="34" charset="0"/>
              </a:rPr>
              <a:t>、内存等）。一个</a:t>
            </a:r>
            <a:r>
              <a:rPr lang="en-US" altLang="zh-CN" sz="2400" dirty="0">
                <a:latin typeface="Arial" panose="020B0604020202020204" pitchFamily="34" charset="0"/>
              </a:rPr>
              <a:t>Task </a:t>
            </a:r>
            <a:r>
              <a:rPr lang="zh-CN" altLang="en-US" sz="2400" dirty="0">
                <a:latin typeface="Arial" panose="020B0604020202020204" pitchFamily="34" charset="0"/>
              </a:rPr>
              <a:t>获取到一个</a:t>
            </a:r>
            <a:r>
              <a:rPr lang="en-US" altLang="zh-CN" sz="2400" dirty="0">
                <a:latin typeface="Arial" panose="020B0604020202020204" pitchFamily="34" charset="0"/>
              </a:rPr>
              <a:t>slot </a:t>
            </a:r>
            <a:r>
              <a:rPr lang="zh-CN" altLang="en-US" sz="2400" dirty="0">
                <a:latin typeface="Arial" panose="020B0604020202020204" pitchFamily="34" charset="0"/>
              </a:rPr>
              <a:t>后才有机会运行，而</a:t>
            </a:r>
            <a:r>
              <a:rPr lang="en-US" altLang="zh-CN" sz="2400" dirty="0">
                <a:latin typeface="Arial" panose="020B0604020202020204" pitchFamily="34" charset="0"/>
              </a:rPr>
              <a:t>Hadoop</a:t>
            </a:r>
            <a:r>
              <a:rPr lang="zh-CN" altLang="en-US" sz="2400" dirty="0">
                <a:latin typeface="Arial" panose="020B0604020202020204" pitchFamily="34" charset="0"/>
              </a:rPr>
              <a:t>调度器的作用就是将各个</a:t>
            </a:r>
            <a:r>
              <a:rPr lang="en-US" altLang="zh-CN" sz="2400" dirty="0">
                <a:latin typeface="Arial" panose="020B0604020202020204" pitchFamily="34" charset="0"/>
              </a:rPr>
              <a:t>TaskTracker</a:t>
            </a:r>
            <a:r>
              <a:rPr lang="zh-CN" altLang="en-US" sz="2400" dirty="0">
                <a:latin typeface="Arial" panose="020B0604020202020204" pitchFamily="34" charset="0"/>
              </a:rPr>
              <a:t>上的空闲</a:t>
            </a:r>
            <a:r>
              <a:rPr lang="en-US" altLang="zh-CN" sz="2400" dirty="0">
                <a:latin typeface="Arial" panose="020B0604020202020204" pitchFamily="34" charset="0"/>
              </a:rPr>
              <a:t>slot</a:t>
            </a:r>
            <a:r>
              <a:rPr lang="zh-CN" altLang="en-US" sz="2400" dirty="0">
                <a:latin typeface="Arial" panose="020B0604020202020204" pitchFamily="34" charset="0"/>
              </a:rPr>
              <a:t>分配给</a:t>
            </a:r>
            <a:r>
              <a:rPr lang="en-US" altLang="zh-CN" sz="2400" dirty="0">
                <a:latin typeface="Arial" panose="020B0604020202020204" pitchFamily="34" charset="0"/>
              </a:rPr>
              <a:t>Task</a:t>
            </a:r>
            <a:r>
              <a:rPr lang="zh-CN" altLang="en-US" sz="2400" dirty="0">
                <a:latin typeface="Arial" panose="020B0604020202020204" pitchFamily="34" charset="0"/>
              </a:rPr>
              <a:t>使用。</a:t>
            </a:r>
            <a:r>
              <a:rPr lang="en-US" altLang="zh-CN" sz="2400" dirty="0">
                <a:latin typeface="Arial" panose="020B0604020202020204" pitchFamily="34" charset="0"/>
              </a:rPr>
              <a:t>slot </a:t>
            </a:r>
            <a:r>
              <a:rPr lang="zh-CN" altLang="en-US" sz="2400" dirty="0">
                <a:latin typeface="Arial" panose="020B0604020202020204" pitchFamily="34" charset="0"/>
              </a:rPr>
              <a:t>分为</a:t>
            </a:r>
            <a:r>
              <a:rPr lang="en-US" altLang="zh-CN" sz="2400" dirty="0">
                <a:latin typeface="Arial" panose="020B0604020202020204" pitchFamily="34" charset="0"/>
              </a:rPr>
              <a:t>Map slot </a:t>
            </a:r>
            <a:r>
              <a:rPr lang="zh-CN" altLang="en-US" sz="2400" dirty="0">
                <a:latin typeface="Arial" panose="020B0604020202020204" pitchFamily="34" charset="0"/>
              </a:rPr>
              <a:t>和</a:t>
            </a:r>
            <a:r>
              <a:rPr lang="en-US" altLang="zh-CN" sz="2400" dirty="0">
                <a:latin typeface="Arial" panose="020B0604020202020204" pitchFamily="34" charset="0"/>
              </a:rPr>
              <a:t>Reduce slot </a:t>
            </a:r>
            <a:r>
              <a:rPr lang="zh-CN" altLang="en-US" sz="2400" dirty="0">
                <a:latin typeface="Arial" panose="020B0604020202020204" pitchFamily="34" charset="0"/>
              </a:rPr>
              <a:t>两种，分别供</a:t>
            </a:r>
            <a:r>
              <a:rPr lang="en-US" altLang="zh-CN" sz="2400" dirty="0">
                <a:latin typeface="Arial" panose="020B0604020202020204" pitchFamily="34" charset="0"/>
              </a:rPr>
              <a:t>MapTask </a:t>
            </a:r>
            <a:r>
              <a:rPr lang="zh-CN" altLang="en-US" sz="2400" dirty="0">
                <a:latin typeface="Arial" panose="020B0604020202020204" pitchFamily="34" charset="0"/>
              </a:rPr>
              <a:t>和</a:t>
            </a:r>
            <a:r>
              <a:rPr lang="en-US" altLang="zh-CN" sz="2400" dirty="0">
                <a:latin typeface="Arial" panose="020B0604020202020204" pitchFamily="34" charset="0"/>
              </a:rPr>
              <a:t>Reduce Task </a:t>
            </a:r>
            <a:r>
              <a:rPr lang="zh-CN" altLang="en-US" sz="2400" dirty="0">
                <a:latin typeface="Arial" panose="020B0604020202020204" pitchFamily="34" charset="0"/>
              </a:rPr>
              <a:t>使用</a:t>
            </a:r>
            <a:endParaRPr lang="zh-CN" altLang="en-US" sz="2400" dirty="0">
              <a:latin typeface="Arial" panose="020B0604020202020204" pitchFamily="34" charset="0"/>
            </a:endParaRPr>
          </a:p>
          <a:p>
            <a:pPr>
              <a:buFont typeface="Arial" panose="020B0604020202020204" pitchFamily="34" charset="0"/>
              <a:buChar char="•"/>
            </a:pPr>
            <a:endParaRPr lang="zh-CN" altLang="en-US" sz="2400" dirty="0">
              <a:latin typeface="Arial" panose="020B0604020202020204" pitchFamily="34" charset="0"/>
            </a:endParaRPr>
          </a:p>
          <a:p>
            <a:r>
              <a:rPr lang="en-US" altLang="zh-CN" sz="2400" b="1" dirty="0">
                <a:latin typeface="Arial" panose="020B0604020202020204" pitchFamily="34" charset="0"/>
              </a:rPr>
              <a:t>4</a:t>
            </a:r>
            <a:r>
              <a:rPr lang="zh-CN" altLang="en-US" sz="2400" b="1" dirty="0">
                <a:latin typeface="Arial" panose="020B0604020202020204" pitchFamily="34" charset="0"/>
              </a:rPr>
              <a:t>）</a:t>
            </a:r>
            <a:r>
              <a:rPr lang="en-US" altLang="zh-CN" sz="2400" b="1" dirty="0">
                <a:latin typeface="Arial" panose="020B0604020202020204" pitchFamily="34" charset="0"/>
              </a:rPr>
              <a:t>Task</a:t>
            </a:r>
            <a:endParaRPr lang="zh-CN" altLang="en-US" sz="2400" dirty="0">
              <a:latin typeface="Arial" panose="020B0604020202020204" pitchFamily="34" charset="0"/>
            </a:endParaRPr>
          </a:p>
          <a:p>
            <a:r>
              <a:rPr lang="en-US" altLang="zh-CN" sz="2400" dirty="0">
                <a:latin typeface="Arial" panose="020B0604020202020204" pitchFamily="34" charset="0"/>
              </a:rPr>
              <a:t>Task </a:t>
            </a:r>
            <a:r>
              <a:rPr lang="zh-CN" altLang="en-US" sz="2400" dirty="0">
                <a:latin typeface="Arial" panose="020B0604020202020204" pitchFamily="34" charset="0"/>
              </a:rPr>
              <a:t>分为</a:t>
            </a:r>
            <a:r>
              <a:rPr lang="en-US" altLang="zh-CN" sz="2400" dirty="0">
                <a:latin typeface="Arial" panose="020B0604020202020204" pitchFamily="34" charset="0"/>
              </a:rPr>
              <a:t>Map Task </a:t>
            </a:r>
            <a:r>
              <a:rPr lang="zh-CN" altLang="en-US" sz="2400" dirty="0">
                <a:latin typeface="Arial" panose="020B0604020202020204" pitchFamily="34" charset="0"/>
              </a:rPr>
              <a:t>和</a:t>
            </a:r>
            <a:r>
              <a:rPr lang="en-US" altLang="zh-CN" sz="2400" dirty="0">
                <a:latin typeface="Arial" panose="020B0604020202020204" pitchFamily="34" charset="0"/>
              </a:rPr>
              <a:t>Reduce Task </a:t>
            </a:r>
            <a:r>
              <a:rPr lang="zh-CN" altLang="en-US" sz="2400" dirty="0">
                <a:latin typeface="Arial" panose="020B0604020202020204" pitchFamily="34" charset="0"/>
              </a:rPr>
              <a:t>两种，均由</a:t>
            </a:r>
            <a:r>
              <a:rPr lang="en-US" altLang="zh-CN" sz="2400" dirty="0">
                <a:latin typeface="Arial" panose="020B0604020202020204" pitchFamily="34" charset="0"/>
              </a:rPr>
              <a:t>TaskTracker </a:t>
            </a:r>
            <a:r>
              <a:rPr lang="zh-CN" altLang="en-US" sz="2400" dirty="0">
                <a:latin typeface="Arial" panose="020B0604020202020204" pitchFamily="34" charset="0"/>
              </a:rPr>
              <a:t>启动</a:t>
            </a:r>
            <a:endParaRPr lang="zh-CN" altLang="en-US" sz="2400" dirty="0">
              <a:latin typeface="Arial" panose="020B0604020202020204" pitchFamily="34" charset="0"/>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vert="horz" wrap="square" lIns="91440" tIns="45720" rIns="91440" bIns="45720" anchor="ctr" anchorCtr="0"/>
          <a:lstStyle/>
          <a:p>
            <a:r>
              <a:rPr lang="en-US" altLang="zh-CN" b="1" dirty="0"/>
              <a:t>8.</a:t>
            </a:r>
            <a:r>
              <a:rPr lang="zh-CN" altLang="zh-CN" b="1" dirty="0"/>
              <a:t>3.1 MapReduce1.0的缺陷</a:t>
            </a:r>
            <a:endParaRPr lang="en-US" altLang="zh-CN" b="1" dirty="0"/>
          </a:p>
        </p:txBody>
      </p:sp>
      <p:pic>
        <p:nvPicPr>
          <p:cNvPr id="20483" name="Picture 2"/>
          <p:cNvPicPr>
            <a:picLocks noChangeAspect="1"/>
          </p:cNvPicPr>
          <p:nvPr/>
        </p:nvPicPr>
        <p:blipFill>
          <a:blip r:embed="rId1"/>
          <a:stretch>
            <a:fillRect/>
          </a:stretch>
        </p:blipFill>
        <p:spPr>
          <a:xfrm>
            <a:off x="5324793" y="2156460"/>
            <a:ext cx="6510337" cy="3763963"/>
          </a:xfrm>
          <a:prstGeom prst="rect">
            <a:avLst/>
          </a:prstGeom>
          <a:noFill/>
          <a:ln w="9525">
            <a:noFill/>
          </a:ln>
        </p:spPr>
      </p:pic>
      <p:sp>
        <p:nvSpPr>
          <p:cNvPr id="20484" name="矩形 3"/>
          <p:cNvSpPr/>
          <p:nvPr/>
        </p:nvSpPr>
        <p:spPr>
          <a:xfrm>
            <a:off x="7110730" y="6018213"/>
            <a:ext cx="2938780" cy="368300"/>
          </a:xfrm>
          <a:prstGeom prst="rect">
            <a:avLst/>
          </a:prstGeom>
          <a:noFill/>
          <a:ln w="9525">
            <a:noFill/>
          </a:ln>
        </p:spPr>
        <p:txBody>
          <a:bodyPr wrap="none">
            <a:spAutoFit/>
          </a:bodyPr>
          <a:lstStyle/>
          <a:p>
            <a:r>
              <a:rPr lang="zh-CN" altLang="zh-CN" dirty="0">
                <a:latin typeface="Arial" panose="020B0604020202020204" pitchFamily="34" charset="0"/>
              </a:rPr>
              <a:t>图</a:t>
            </a:r>
            <a:r>
              <a:rPr lang="en-US" altLang="zh-CN" dirty="0">
                <a:latin typeface="Arial" panose="020B0604020202020204" pitchFamily="34" charset="0"/>
              </a:rPr>
              <a:t> MapReduce1.0</a:t>
            </a:r>
            <a:r>
              <a:rPr lang="zh-CN" altLang="zh-CN" dirty="0">
                <a:latin typeface="Arial" panose="020B0604020202020204" pitchFamily="34" charset="0"/>
              </a:rPr>
              <a:t>体系结构</a:t>
            </a:r>
            <a:endParaRPr lang="zh-CN" altLang="en-US" dirty="0">
              <a:latin typeface="Arial" panose="020B0604020202020204" pitchFamily="34" charset="0"/>
            </a:endParaRPr>
          </a:p>
        </p:txBody>
      </p:sp>
      <p:sp>
        <p:nvSpPr>
          <p:cNvPr id="20485" name="矩形 4"/>
          <p:cNvSpPr/>
          <p:nvPr/>
        </p:nvSpPr>
        <p:spPr>
          <a:xfrm>
            <a:off x="837565" y="1864995"/>
            <a:ext cx="4487545" cy="4521835"/>
          </a:xfrm>
          <a:prstGeom prst="rect">
            <a:avLst/>
          </a:prstGeom>
          <a:noFill/>
          <a:ln w="9525">
            <a:noFill/>
          </a:ln>
        </p:spPr>
        <p:txBody>
          <a:bodyPr wrap="square">
            <a:spAutoFit/>
          </a:bodyPr>
          <a:lstStyle/>
          <a:p>
            <a:pPr>
              <a:lnSpc>
                <a:spcPct val="120000"/>
              </a:lnSpc>
            </a:pPr>
            <a:r>
              <a:rPr lang="zh-CN" altLang="zh-CN" sz="2400" dirty="0">
                <a:latin typeface="Arial" panose="020B0604020202020204" pitchFamily="34" charset="0"/>
              </a:rPr>
              <a:t>（</a:t>
            </a:r>
            <a:r>
              <a:rPr lang="en-US" altLang="zh-CN" sz="2400" dirty="0">
                <a:latin typeface="Arial" panose="020B0604020202020204" pitchFamily="34" charset="0"/>
              </a:rPr>
              <a:t>1</a:t>
            </a:r>
            <a:r>
              <a:rPr lang="zh-CN" altLang="zh-CN" sz="2400" dirty="0">
                <a:latin typeface="Arial" panose="020B0604020202020204" pitchFamily="34" charset="0"/>
              </a:rPr>
              <a:t>）存在单点故障</a:t>
            </a:r>
            <a:endParaRPr lang="en-US" altLang="zh-CN" sz="2400" dirty="0">
              <a:latin typeface="Arial" panose="020B0604020202020204" pitchFamily="34" charset="0"/>
            </a:endParaRPr>
          </a:p>
          <a:p>
            <a:pPr>
              <a:lnSpc>
                <a:spcPct val="120000"/>
              </a:lnSpc>
            </a:pPr>
            <a:r>
              <a:rPr lang="zh-CN" altLang="zh-CN" sz="2400" dirty="0">
                <a:latin typeface="Arial" panose="020B0604020202020204" pitchFamily="34" charset="0"/>
              </a:rPr>
              <a:t>（</a:t>
            </a:r>
            <a:r>
              <a:rPr lang="en-US" altLang="zh-CN" sz="2400" dirty="0">
                <a:latin typeface="Arial" panose="020B0604020202020204" pitchFamily="34" charset="0"/>
              </a:rPr>
              <a:t>2</a:t>
            </a:r>
            <a:r>
              <a:rPr lang="zh-CN" altLang="zh-CN" sz="2400" dirty="0">
                <a:latin typeface="Arial" panose="020B0604020202020204" pitchFamily="34" charset="0"/>
              </a:rPr>
              <a:t>）</a:t>
            </a:r>
            <a:r>
              <a:rPr lang="en-US" altLang="zh-CN" sz="2400" dirty="0">
                <a:latin typeface="Arial" panose="020B0604020202020204" pitchFamily="34" charset="0"/>
              </a:rPr>
              <a:t>JobTracker</a:t>
            </a:r>
            <a:r>
              <a:rPr lang="zh-CN" altLang="zh-CN" sz="2400" dirty="0">
                <a:latin typeface="Arial" panose="020B0604020202020204" pitchFamily="34" charset="0"/>
              </a:rPr>
              <a:t>“大包大揽”导致任务过重</a:t>
            </a:r>
            <a:r>
              <a:rPr lang="zh-CN" altLang="en-US" sz="2400" dirty="0">
                <a:latin typeface="Arial" panose="020B0604020202020204" pitchFamily="34" charset="0"/>
              </a:rPr>
              <a:t>（任务多时内存开销大，上限</a:t>
            </a:r>
            <a:r>
              <a:rPr lang="en-US" altLang="zh-CN" sz="2400" dirty="0">
                <a:latin typeface="Arial" panose="020B0604020202020204" pitchFamily="34" charset="0"/>
              </a:rPr>
              <a:t>4000</a:t>
            </a:r>
            <a:r>
              <a:rPr lang="zh-CN" altLang="en-US" sz="2400" dirty="0">
                <a:latin typeface="Arial" panose="020B0604020202020204" pitchFamily="34" charset="0"/>
              </a:rPr>
              <a:t>节点）</a:t>
            </a:r>
            <a:endParaRPr lang="en-US" altLang="zh-CN" sz="2400" dirty="0">
              <a:latin typeface="Arial" panose="020B0604020202020204" pitchFamily="34" charset="0"/>
            </a:endParaRPr>
          </a:p>
          <a:p>
            <a:pPr>
              <a:lnSpc>
                <a:spcPct val="120000"/>
              </a:lnSpc>
            </a:pPr>
            <a:r>
              <a:rPr lang="zh-CN" altLang="zh-CN" sz="2400" dirty="0">
                <a:latin typeface="Arial" panose="020B0604020202020204" pitchFamily="34" charset="0"/>
              </a:rPr>
              <a:t>（</a:t>
            </a:r>
            <a:r>
              <a:rPr lang="en-US" altLang="zh-CN" sz="2400" dirty="0">
                <a:latin typeface="Arial" panose="020B0604020202020204" pitchFamily="34" charset="0"/>
              </a:rPr>
              <a:t>4</a:t>
            </a:r>
            <a:r>
              <a:rPr lang="zh-CN" altLang="zh-CN" sz="2400" dirty="0">
                <a:latin typeface="Arial" panose="020B0604020202020204" pitchFamily="34" charset="0"/>
              </a:rPr>
              <a:t>）资源划分不合理</a:t>
            </a:r>
            <a:r>
              <a:rPr lang="zh-CN" altLang="en-US" sz="2400" dirty="0">
                <a:latin typeface="Arial" panose="020B0604020202020204" pitchFamily="34" charset="0"/>
              </a:rPr>
              <a:t>（强制划分为</a:t>
            </a:r>
            <a:r>
              <a:rPr lang="en-US" altLang="zh-CN" sz="2400" dirty="0">
                <a:latin typeface="Arial" panose="020B0604020202020204" pitchFamily="34" charset="0"/>
              </a:rPr>
              <a:t>slot </a:t>
            </a:r>
            <a:r>
              <a:rPr lang="zh-CN" altLang="en-US" sz="2400" dirty="0">
                <a:latin typeface="Arial" panose="020B0604020202020204" pitchFamily="34" charset="0"/>
              </a:rPr>
              <a:t>，包括</a:t>
            </a:r>
            <a:r>
              <a:rPr lang="en-US" altLang="zh-CN" sz="2400" dirty="0">
                <a:latin typeface="Arial" panose="020B0604020202020204" pitchFamily="34" charset="0"/>
              </a:rPr>
              <a:t>Map slot</a:t>
            </a:r>
            <a:r>
              <a:rPr lang="zh-CN" altLang="en-US" sz="2400" dirty="0">
                <a:latin typeface="Arial" panose="020B0604020202020204" pitchFamily="34" charset="0"/>
              </a:rPr>
              <a:t>和</a:t>
            </a:r>
            <a:r>
              <a:rPr lang="en-US" altLang="zh-CN" sz="2400" dirty="0">
                <a:latin typeface="Arial" panose="020B0604020202020204" pitchFamily="34" charset="0"/>
              </a:rPr>
              <a:t>Reduce slot</a:t>
            </a:r>
            <a:r>
              <a:rPr lang="zh-CN" altLang="en-US" sz="2400" dirty="0">
                <a:latin typeface="Arial" panose="020B0604020202020204" pitchFamily="34" charset="0"/>
              </a:rPr>
              <a:t>）</a:t>
            </a:r>
            <a:endParaRPr lang="zh-CN" altLang="en-US" sz="2400" dirty="0">
              <a:latin typeface="Arial" panose="020B0604020202020204" pitchFamily="34" charset="0"/>
            </a:endParaRPr>
          </a:p>
          <a:p>
            <a:pPr>
              <a:lnSpc>
                <a:spcPct val="120000"/>
              </a:lnSpc>
            </a:pPr>
            <a:r>
              <a:rPr lang="zh-CN" altLang="zh-CN" sz="2400" dirty="0">
                <a:latin typeface="Arial" panose="020B0604020202020204" pitchFamily="34" charset="0"/>
                <a:sym typeface="+mn-ea"/>
              </a:rPr>
              <a:t>（</a:t>
            </a:r>
            <a:r>
              <a:rPr lang="en-US" altLang="zh-CN" sz="2400" dirty="0">
                <a:latin typeface="Arial" panose="020B0604020202020204" pitchFamily="34" charset="0"/>
                <a:sym typeface="+mn-ea"/>
              </a:rPr>
              <a:t>3</a:t>
            </a:r>
            <a:r>
              <a:rPr lang="zh-CN" altLang="zh-CN" sz="2400" dirty="0">
                <a:latin typeface="Arial" panose="020B0604020202020204" pitchFamily="34" charset="0"/>
                <a:sym typeface="+mn-ea"/>
              </a:rPr>
              <a:t>）容易出现内存溢出</a:t>
            </a:r>
            <a:r>
              <a:rPr lang="zh-CN" altLang="en-US" sz="2400" dirty="0">
                <a:latin typeface="Arial" panose="020B0604020202020204" pitchFamily="34" charset="0"/>
                <a:sym typeface="+mn-ea"/>
              </a:rPr>
              <a:t>（分配资源只考虑</a:t>
            </a:r>
            <a:r>
              <a:rPr lang="en-US" altLang="zh-CN" sz="2400" dirty="0">
                <a:latin typeface="Arial" panose="020B0604020202020204" pitchFamily="34" charset="0"/>
                <a:sym typeface="+mn-ea"/>
              </a:rPr>
              <a:t>MapReduce</a:t>
            </a:r>
            <a:r>
              <a:rPr lang="zh-CN" altLang="en-US" sz="2400" dirty="0">
                <a:latin typeface="Arial" panose="020B0604020202020204" pitchFamily="34" charset="0"/>
                <a:sym typeface="+mn-ea"/>
              </a:rPr>
              <a:t>任务数，不考虑</a:t>
            </a:r>
            <a:r>
              <a:rPr lang="en-US" altLang="zh-CN" sz="2400" dirty="0">
                <a:latin typeface="Arial" panose="020B0604020202020204" pitchFamily="34" charset="0"/>
                <a:sym typeface="+mn-ea"/>
              </a:rPr>
              <a:t>CPU</a:t>
            </a:r>
            <a:r>
              <a:rPr lang="zh-CN" altLang="en-US" sz="2400" dirty="0">
                <a:latin typeface="Arial" panose="020B0604020202020204" pitchFamily="34" charset="0"/>
                <a:sym typeface="+mn-ea"/>
              </a:rPr>
              <a:t>、内存）</a:t>
            </a:r>
            <a:endParaRPr lang="zh-CN" altLang="en-US" sz="2400"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48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48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p:txBody>
          <a:bodyPr vert="horz" wrap="square" lIns="91440" tIns="45720" rIns="91440" bIns="45720" anchor="ctr" anchorCtr="0"/>
          <a:lstStyle/>
          <a:p>
            <a:r>
              <a:rPr lang="en-US" altLang="zh-CN" b="1" dirty="0"/>
              <a:t>8.</a:t>
            </a:r>
            <a:r>
              <a:rPr lang="zh-CN" altLang="zh-CN" b="1" dirty="0"/>
              <a:t>3.2 YARN</a:t>
            </a:r>
            <a:r>
              <a:rPr lang="zh-CN" altLang="en-US" b="1" dirty="0"/>
              <a:t>设计思路</a:t>
            </a:r>
            <a:endParaRPr lang="zh-CN" altLang="zh-CN" b="1" dirty="0"/>
          </a:p>
        </p:txBody>
      </p:sp>
      <p:sp>
        <p:nvSpPr>
          <p:cNvPr id="21507" name="Rectangle 2"/>
          <p:cNvSpPr/>
          <p:nvPr/>
        </p:nvSpPr>
        <p:spPr>
          <a:xfrm>
            <a:off x="1524000" y="-184150"/>
            <a:ext cx="30988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pic>
        <p:nvPicPr>
          <p:cNvPr id="21508" name="图片 5"/>
          <p:cNvPicPr>
            <a:picLocks noChangeAspect="1"/>
          </p:cNvPicPr>
          <p:nvPr/>
        </p:nvPicPr>
        <p:blipFill>
          <a:blip r:embed="rId1"/>
          <a:stretch>
            <a:fillRect/>
          </a:stretch>
        </p:blipFill>
        <p:spPr>
          <a:xfrm>
            <a:off x="431165" y="1322705"/>
            <a:ext cx="6652895" cy="5377180"/>
          </a:xfrm>
          <a:prstGeom prst="rect">
            <a:avLst/>
          </a:prstGeom>
          <a:noFill/>
          <a:ln w="9525">
            <a:noFill/>
          </a:ln>
        </p:spPr>
      </p:pic>
      <p:sp>
        <p:nvSpPr>
          <p:cNvPr id="21509" name="TextBox 4"/>
          <p:cNvSpPr txBox="1"/>
          <p:nvPr/>
        </p:nvSpPr>
        <p:spPr>
          <a:xfrm>
            <a:off x="7363460" y="1226820"/>
            <a:ext cx="4552950" cy="5262245"/>
          </a:xfrm>
          <a:prstGeom prst="rect">
            <a:avLst/>
          </a:prstGeom>
          <a:noFill/>
          <a:ln w="9525">
            <a:noFill/>
          </a:ln>
        </p:spPr>
        <p:txBody>
          <a:bodyPr wrap="square">
            <a:spAutoFit/>
          </a:bodyPr>
          <a:lstStyle/>
          <a:p>
            <a:pPr>
              <a:buFont typeface="Arial" panose="020B0604020202020204" pitchFamily="34" charset="0"/>
              <a:buChar char="•"/>
            </a:pPr>
            <a:r>
              <a:rPr lang="zh-CN" altLang="zh-CN" sz="2400" dirty="0">
                <a:latin typeface="Arial" panose="020B0604020202020204" pitchFamily="34" charset="0"/>
              </a:rPr>
              <a:t>到了</a:t>
            </a:r>
            <a:r>
              <a:rPr lang="en-US" altLang="zh-CN" sz="2400" dirty="0">
                <a:latin typeface="Arial" panose="020B0604020202020204" pitchFamily="34" charset="0"/>
              </a:rPr>
              <a:t>Hadoop2.0</a:t>
            </a:r>
            <a:r>
              <a:rPr lang="zh-CN" altLang="zh-CN" sz="2400" dirty="0">
                <a:latin typeface="Arial" panose="020B0604020202020204" pitchFamily="34" charset="0"/>
              </a:rPr>
              <a:t>以后，</a:t>
            </a:r>
            <a:r>
              <a:rPr lang="en-US" altLang="zh-CN" sz="2400" dirty="0">
                <a:latin typeface="Arial" panose="020B0604020202020204" pitchFamily="34" charset="0"/>
              </a:rPr>
              <a:t>MapReduce1.0</a:t>
            </a:r>
            <a:r>
              <a:rPr lang="zh-CN" altLang="zh-CN" sz="2400" dirty="0">
                <a:latin typeface="Arial" panose="020B0604020202020204" pitchFamily="34" charset="0"/>
              </a:rPr>
              <a:t>中的资源管理调度功能，被单独分离出来形成了</a:t>
            </a:r>
            <a:r>
              <a:rPr lang="en-US" altLang="zh-CN" sz="2400" dirty="0">
                <a:latin typeface="Arial" panose="020B0604020202020204" pitchFamily="34" charset="0"/>
              </a:rPr>
              <a:t>YARN</a:t>
            </a:r>
            <a:r>
              <a:rPr lang="zh-CN" altLang="zh-CN" sz="2400" dirty="0">
                <a:latin typeface="Arial" panose="020B0604020202020204" pitchFamily="34" charset="0"/>
              </a:rPr>
              <a:t>，它是一个纯粹的资源管理调度框架，而不是一个计算框架</a:t>
            </a:r>
            <a:endParaRPr lang="zh-CN" altLang="zh-CN" sz="2400" dirty="0">
              <a:latin typeface="Arial" panose="020B0604020202020204" pitchFamily="34" charset="0"/>
            </a:endParaRPr>
          </a:p>
          <a:p>
            <a:pPr>
              <a:buFont typeface="Arial" panose="020B0604020202020204" pitchFamily="34" charset="0"/>
              <a:buChar char="•"/>
            </a:pPr>
            <a:endParaRPr lang="en-US" altLang="zh-CN" sz="2400" dirty="0">
              <a:latin typeface="Arial" panose="020B0604020202020204" pitchFamily="34" charset="0"/>
            </a:endParaRPr>
          </a:p>
          <a:p>
            <a:pPr>
              <a:buFont typeface="Arial" panose="020B0604020202020204" pitchFamily="34" charset="0"/>
              <a:buChar char="•"/>
            </a:pPr>
            <a:r>
              <a:rPr lang="zh-CN" altLang="zh-CN" sz="2400" dirty="0">
                <a:latin typeface="Arial" panose="020B0604020202020204" pitchFamily="34" charset="0"/>
              </a:rPr>
              <a:t>被剥离了资源管理调度功能的</a:t>
            </a:r>
            <a:r>
              <a:rPr lang="en-US" altLang="zh-CN" sz="2400" dirty="0">
                <a:latin typeface="Arial" panose="020B0604020202020204" pitchFamily="34" charset="0"/>
              </a:rPr>
              <a:t>MapReduce </a:t>
            </a:r>
            <a:r>
              <a:rPr lang="zh-CN" altLang="zh-CN" sz="2400" dirty="0">
                <a:latin typeface="Arial" panose="020B0604020202020204" pitchFamily="34" charset="0"/>
              </a:rPr>
              <a:t>框架就变成了</a:t>
            </a:r>
            <a:r>
              <a:rPr lang="en-US" altLang="zh-CN" sz="2400" dirty="0">
                <a:latin typeface="Arial" panose="020B0604020202020204" pitchFamily="34" charset="0"/>
              </a:rPr>
              <a:t>MapReduce2.0</a:t>
            </a:r>
            <a:r>
              <a:rPr lang="zh-CN" altLang="zh-CN" sz="2400" dirty="0">
                <a:latin typeface="Arial" panose="020B0604020202020204" pitchFamily="34" charset="0"/>
              </a:rPr>
              <a:t>，它是运行在</a:t>
            </a:r>
            <a:r>
              <a:rPr lang="en-US" altLang="zh-CN" sz="2400" dirty="0">
                <a:latin typeface="Arial" panose="020B0604020202020204" pitchFamily="34" charset="0"/>
              </a:rPr>
              <a:t>YARN</a:t>
            </a:r>
            <a:r>
              <a:rPr lang="zh-CN" altLang="zh-CN" sz="2400" dirty="0">
                <a:latin typeface="Arial" panose="020B0604020202020204" pitchFamily="34" charset="0"/>
              </a:rPr>
              <a:t>之上的一个纯粹的计算框架，不再自己负责资源调度管理服务，而是由</a:t>
            </a:r>
            <a:r>
              <a:rPr lang="en-US" altLang="zh-CN" sz="2400" dirty="0">
                <a:latin typeface="Arial" panose="020B0604020202020204" pitchFamily="34" charset="0"/>
              </a:rPr>
              <a:t>YARN</a:t>
            </a:r>
            <a:r>
              <a:rPr lang="zh-CN" altLang="zh-CN" sz="2400" dirty="0">
                <a:latin typeface="Arial" panose="020B0604020202020204" pitchFamily="34" charset="0"/>
              </a:rPr>
              <a:t>为其提供资源管理调度服务</a:t>
            </a:r>
            <a:endParaRPr lang="zh-CN" altLang="zh-CN" sz="2400" dirty="0">
              <a:latin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标题 1"/>
          <p:cNvSpPr>
            <a:spLocks noGrp="1"/>
          </p:cNvSpPr>
          <p:nvPr>
            <p:ph type="title"/>
          </p:nvPr>
        </p:nvSpPr>
        <p:spPr/>
        <p:txBody>
          <a:bodyPr vert="horz" wrap="square" lIns="91440" tIns="45720" rIns="91440" bIns="45720" anchor="ctr" anchorCtr="0"/>
          <a:lstStyle/>
          <a:p>
            <a:r>
              <a:rPr lang="en-US" altLang="zh-CN" b="1" dirty="0"/>
              <a:t>8.</a:t>
            </a:r>
            <a:r>
              <a:rPr lang="zh-CN" altLang="zh-CN" b="1" dirty="0"/>
              <a:t>3.3 YARN</a:t>
            </a:r>
            <a:r>
              <a:rPr lang="zh-CN" altLang="en-US" b="1" dirty="0"/>
              <a:t>体系结构</a:t>
            </a:r>
            <a:endParaRPr lang="zh-CN" altLang="zh-CN" b="1" dirty="0"/>
          </a:p>
        </p:txBody>
      </p:sp>
      <p:sp>
        <p:nvSpPr>
          <p:cNvPr id="2052" name="Rectangle 2"/>
          <p:cNvSpPr/>
          <p:nvPr/>
        </p:nvSpPr>
        <p:spPr>
          <a:xfrm>
            <a:off x="1524000" y="-184150"/>
            <a:ext cx="30988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graphicFrame>
        <p:nvGraphicFramePr>
          <p:cNvPr id="2050" name="Object 1"/>
          <p:cNvGraphicFramePr/>
          <p:nvPr/>
        </p:nvGraphicFramePr>
        <p:xfrm>
          <a:off x="5048885" y="1438275"/>
          <a:ext cx="6926580" cy="4940935"/>
        </p:xfrm>
        <a:graphic>
          <a:graphicData uri="http://schemas.openxmlformats.org/presentationml/2006/ole">
            <mc:AlternateContent xmlns:mc="http://schemas.openxmlformats.org/markup-compatibility/2006">
              <mc:Choice xmlns:v="urn:schemas-microsoft-com:vml" Requires="v">
                <p:oleObj spid="_x0000_s4100" name="" r:id="rId1" imgW="9315450" imgH="6334125" progId="Visio.Drawing.15">
                  <p:embed/>
                </p:oleObj>
              </mc:Choice>
              <mc:Fallback>
                <p:oleObj name="" r:id="rId1" imgW="9315450" imgH="6334125" progId="Visio.Drawing.15">
                  <p:embed/>
                  <p:pic>
                    <p:nvPicPr>
                      <p:cNvPr id="0" name="图片 3075"/>
                      <p:cNvPicPr/>
                      <p:nvPr/>
                    </p:nvPicPr>
                    <p:blipFill>
                      <a:blip r:embed="rId2"/>
                      <a:stretch>
                        <a:fillRect/>
                      </a:stretch>
                    </p:blipFill>
                    <p:spPr>
                      <a:xfrm>
                        <a:off x="5048885" y="1438275"/>
                        <a:ext cx="6926580" cy="4940935"/>
                      </a:xfrm>
                      <a:prstGeom prst="rect">
                        <a:avLst/>
                      </a:prstGeom>
                      <a:noFill/>
                      <a:ln w="38100">
                        <a:noFill/>
                        <a:miter/>
                      </a:ln>
                    </p:spPr>
                  </p:pic>
                </p:oleObj>
              </mc:Fallback>
            </mc:AlternateContent>
          </a:graphicData>
        </a:graphic>
      </p:graphicFrame>
      <p:sp>
        <p:nvSpPr>
          <p:cNvPr id="2053" name="TextBox 4"/>
          <p:cNvSpPr txBox="1"/>
          <p:nvPr/>
        </p:nvSpPr>
        <p:spPr>
          <a:xfrm>
            <a:off x="838200" y="1339850"/>
            <a:ext cx="3823335" cy="1753235"/>
          </a:xfrm>
          <a:prstGeom prst="rect">
            <a:avLst/>
          </a:prstGeom>
          <a:noFill/>
          <a:ln w="9525">
            <a:noFill/>
          </a:ln>
        </p:spPr>
        <p:txBody>
          <a:bodyPr wrap="square">
            <a:spAutoFit/>
          </a:bodyPr>
          <a:lstStyle/>
          <a:p>
            <a:r>
              <a:rPr lang="en-US" altLang="zh-CN" sz="2800" dirty="0">
                <a:latin typeface="Arial" panose="020B0604020202020204" pitchFamily="34" charset="0"/>
              </a:rPr>
              <a:t>ResourceManager</a:t>
            </a:r>
            <a:endParaRPr lang="en-US" altLang="zh-CN" sz="2800" dirty="0">
              <a:latin typeface="Arial" panose="020B0604020202020204" pitchFamily="34" charset="0"/>
            </a:endParaRPr>
          </a:p>
          <a:p>
            <a:pPr>
              <a:buFont typeface="Arial" panose="020B0604020202020204" pitchFamily="34" charset="0"/>
              <a:buChar char="•"/>
            </a:pPr>
            <a:r>
              <a:rPr lang="zh-CN" altLang="en-US" sz="2000" dirty="0">
                <a:latin typeface="Arial" panose="020B0604020202020204" pitchFamily="34" charset="0"/>
              </a:rPr>
              <a:t>处理客户端请求</a:t>
            </a:r>
            <a:endParaRPr lang="en-US" altLang="zh-CN" sz="2000" dirty="0">
              <a:latin typeface="Arial" panose="020B0604020202020204" pitchFamily="34" charset="0"/>
            </a:endParaRPr>
          </a:p>
          <a:p>
            <a:pPr>
              <a:buFont typeface="Arial" panose="020B0604020202020204" pitchFamily="34" charset="0"/>
              <a:buChar char="•"/>
            </a:pPr>
            <a:r>
              <a:rPr lang="zh-CN" altLang="en-US" sz="2000" dirty="0">
                <a:latin typeface="Arial" panose="020B0604020202020204" pitchFamily="34" charset="0"/>
              </a:rPr>
              <a:t>启动</a:t>
            </a:r>
            <a:r>
              <a:rPr lang="en-US" altLang="zh-CN" sz="2000" dirty="0">
                <a:latin typeface="Arial" panose="020B0604020202020204" pitchFamily="34" charset="0"/>
              </a:rPr>
              <a:t>/</a:t>
            </a:r>
            <a:r>
              <a:rPr lang="zh-CN" altLang="en-US" sz="2000" dirty="0">
                <a:latin typeface="Arial" panose="020B0604020202020204" pitchFamily="34" charset="0"/>
              </a:rPr>
              <a:t>监控</a:t>
            </a:r>
            <a:r>
              <a:rPr lang="en-US" altLang="zh-CN" sz="2000" dirty="0">
                <a:latin typeface="Arial" panose="020B0604020202020204" pitchFamily="34" charset="0"/>
              </a:rPr>
              <a:t>ApplicationMaster</a:t>
            </a:r>
            <a:endParaRPr lang="en-US" altLang="zh-CN" sz="2000" dirty="0">
              <a:latin typeface="Arial" panose="020B0604020202020204" pitchFamily="34" charset="0"/>
            </a:endParaRPr>
          </a:p>
          <a:p>
            <a:pPr>
              <a:buFont typeface="Arial" panose="020B0604020202020204" pitchFamily="34" charset="0"/>
              <a:buChar char="•"/>
            </a:pPr>
            <a:r>
              <a:rPr lang="zh-CN" altLang="en-US" sz="2000" dirty="0">
                <a:latin typeface="Arial" panose="020B0604020202020204" pitchFamily="34" charset="0"/>
              </a:rPr>
              <a:t>监控</a:t>
            </a:r>
            <a:r>
              <a:rPr lang="en-US" altLang="zh-CN" sz="2000" dirty="0">
                <a:latin typeface="Arial" panose="020B0604020202020204" pitchFamily="34" charset="0"/>
              </a:rPr>
              <a:t>NodeManager</a:t>
            </a:r>
            <a:endParaRPr lang="en-US" altLang="zh-CN" sz="2000" dirty="0">
              <a:latin typeface="Arial" panose="020B0604020202020204" pitchFamily="34" charset="0"/>
            </a:endParaRPr>
          </a:p>
          <a:p>
            <a:pPr>
              <a:buFont typeface="Arial" panose="020B0604020202020204" pitchFamily="34" charset="0"/>
              <a:buChar char="•"/>
            </a:pPr>
            <a:r>
              <a:rPr lang="zh-CN" altLang="en-US" sz="2000" dirty="0">
                <a:latin typeface="Arial" panose="020B0604020202020204" pitchFamily="34" charset="0"/>
              </a:rPr>
              <a:t>资源分配与调度</a:t>
            </a:r>
            <a:endParaRPr lang="zh-CN" altLang="en-US" sz="2000" dirty="0">
              <a:latin typeface="Arial" panose="020B0604020202020204" pitchFamily="34" charset="0"/>
            </a:endParaRPr>
          </a:p>
        </p:txBody>
      </p:sp>
      <p:sp>
        <p:nvSpPr>
          <p:cNvPr id="2054" name="TextBox 5"/>
          <p:cNvSpPr txBox="1"/>
          <p:nvPr/>
        </p:nvSpPr>
        <p:spPr>
          <a:xfrm>
            <a:off x="982345" y="5210175"/>
            <a:ext cx="4066540" cy="1445260"/>
          </a:xfrm>
          <a:prstGeom prst="rect">
            <a:avLst/>
          </a:prstGeom>
          <a:noFill/>
          <a:ln w="9525">
            <a:noFill/>
          </a:ln>
        </p:spPr>
        <p:txBody>
          <a:bodyPr wrap="none">
            <a:spAutoFit/>
          </a:bodyPr>
          <a:lstStyle/>
          <a:p>
            <a:r>
              <a:rPr lang="en-US" altLang="zh-CN" sz="2800" dirty="0">
                <a:latin typeface="Arial" panose="020B0604020202020204" pitchFamily="34" charset="0"/>
              </a:rPr>
              <a:t>NodeManager</a:t>
            </a:r>
            <a:endParaRPr lang="en-US" altLang="zh-CN" sz="2800" dirty="0">
              <a:latin typeface="Arial" panose="020B0604020202020204" pitchFamily="34" charset="0"/>
            </a:endParaRPr>
          </a:p>
          <a:p>
            <a:pPr>
              <a:buFont typeface="Arial" panose="020B0604020202020204" pitchFamily="34" charset="0"/>
              <a:buChar char="•"/>
            </a:pPr>
            <a:r>
              <a:rPr lang="zh-CN" altLang="en-US" sz="2000" dirty="0">
                <a:latin typeface="Arial" panose="020B0604020202020204" pitchFamily="34" charset="0"/>
              </a:rPr>
              <a:t>单个节点上的资源管理</a:t>
            </a:r>
            <a:endParaRPr lang="en-US" altLang="zh-CN" sz="2000" dirty="0">
              <a:latin typeface="Arial" panose="020B0604020202020204" pitchFamily="34" charset="0"/>
            </a:endParaRPr>
          </a:p>
          <a:p>
            <a:pPr>
              <a:buFont typeface="Arial" panose="020B0604020202020204" pitchFamily="34" charset="0"/>
              <a:buChar char="•"/>
            </a:pPr>
            <a:r>
              <a:rPr lang="zh-CN" altLang="en-US" sz="2000" dirty="0">
                <a:latin typeface="Arial" panose="020B0604020202020204" pitchFamily="34" charset="0"/>
              </a:rPr>
              <a:t>处理来自</a:t>
            </a:r>
            <a:r>
              <a:rPr lang="en-US" altLang="zh-CN" sz="2000" dirty="0">
                <a:latin typeface="Arial" panose="020B0604020202020204" pitchFamily="34" charset="0"/>
              </a:rPr>
              <a:t>ResourceManger</a:t>
            </a:r>
            <a:r>
              <a:rPr lang="zh-CN" altLang="en-US" sz="2000" dirty="0">
                <a:latin typeface="Arial" panose="020B0604020202020204" pitchFamily="34" charset="0"/>
              </a:rPr>
              <a:t>的命令</a:t>
            </a:r>
            <a:endParaRPr lang="en-US" altLang="zh-CN" sz="2000" dirty="0">
              <a:latin typeface="Arial" panose="020B0604020202020204" pitchFamily="34" charset="0"/>
            </a:endParaRPr>
          </a:p>
          <a:p>
            <a:pPr>
              <a:buFont typeface="Arial" panose="020B0604020202020204" pitchFamily="34" charset="0"/>
              <a:buChar char="•"/>
            </a:pPr>
            <a:r>
              <a:rPr lang="zh-CN" altLang="en-US" sz="2000" dirty="0">
                <a:latin typeface="Arial" panose="020B0604020202020204" pitchFamily="34" charset="0"/>
              </a:rPr>
              <a:t>处理来自</a:t>
            </a:r>
            <a:r>
              <a:rPr lang="en-US" altLang="zh-CN" sz="2000" dirty="0">
                <a:latin typeface="Arial" panose="020B0604020202020204" pitchFamily="34" charset="0"/>
              </a:rPr>
              <a:t>ApplicationMaster</a:t>
            </a:r>
            <a:r>
              <a:rPr lang="zh-CN" altLang="en-US" sz="2000" dirty="0">
                <a:latin typeface="Arial" panose="020B0604020202020204" pitchFamily="34" charset="0"/>
              </a:rPr>
              <a:t>的命令</a:t>
            </a:r>
            <a:endParaRPr lang="zh-CN" altLang="en-US" sz="2000" dirty="0">
              <a:latin typeface="Arial" panose="020B0604020202020204" pitchFamily="34" charset="0"/>
            </a:endParaRPr>
          </a:p>
        </p:txBody>
      </p:sp>
      <p:sp>
        <p:nvSpPr>
          <p:cNvPr id="2055" name="TextBox 6"/>
          <p:cNvSpPr txBox="1"/>
          <p:nvPr/>
        </p:nvSpPr>
        <p:spPr>
          <a:xfrm>
            <a:off x="902335" y="3429000"/>
            <a:ext cx="3021330" cy="1445260"/>
          </a:xfrm>
          <a:prstGeom prst="rect">
            <a:avLst/>
          </a:prstGeom>
          <a:noFill/>
          <a:ln w="9525">
            <a:noFill/>
          </a:ln>
        </p:spPr>
        <p:txBody>
          <a:bodyPr wrap="square">
            <a:spAutoFit/>
          </a:bodyPr>
          <a:lstStyle/>
          <a:p>
            <a:r>
              <a:rPr lang="en-US" altLang="zh-CN" sz="2800" dirty="0">
                <a:latin typeface="Arial" panose="020B0604020202020204" pitchFamily="34" charset="0"/>
              </a:rPr>
              <a:t>ApplicationMaster</a:t>
            </a:r>
            <a:endParaRPr lang="en-US" altLang="zh-CN" sz="2800" dirty="0">
              <a:latin typeface="Arial" panose="020B0604020202020204" pitchFamily="34" charset="0"/>
            </a:endParaRPr>
          </a:p>
          <a:p>
            <a:pPr>
              <a:buFont typeface="Arial" panose="020B0604020202020204" pitchFamily="34" charset="0"/>
              <a:buChar char="•"/>
            </a:pPr>
            <a:r>
              <a:rPr lang="zh-CN" altLang="en-US" sz="2000" dirty="0">
                <a:latin typeface="Arial" panose="020B0604020202020204" pitchFamily="34" charset="0"/>
              </a:rPr>
              <a:t>为应用程序申请资源，并分配给内部任务</a:t>
            </a:r>
            <a:endParaRPr lang="en-US" altLang="zh-CN" sz="2000" dirty="0">
              <a:latin typeface="Arial" panose="020B0604020202020204" pitchFamily="34" charset="0"/>
            </a:endParaRPr>
          </a:p>
          <a:p>
            <a:pPr>
              <a:buFont typeface="Arial" panose="020B0604020202020204" pitchFamily="34" charset="0"/>
              <a:buChar char="•"/>
            </a:pPr>
            <a:r>
              <a:rPr lang="zh-CN" altLang="en-US" sz="2000" dirty="0">
                <a:latin typeface="Arial" panose="020B0604020202020204" pitchFamily="34" charset="0"/>
              </a:rPr>
              <a:t>任务调度、监控与容错</a:t>
            </a:r>
            <a:endParaRPr lang="zh-CN" altLang="en-US" sz="2000" dirty="0">
              <a:latin typeface="Arial" panose="020B0604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p:txBody>
          <a:bodyPr vert="horz" wrap="square" lIns="91440" tIns="45720" rIns="91440" bIns="45720" anchor="ctr" anchorCtr="0"/>
          <a:lstStyle/>
          <a:p>
            <a:r>
              <a:rPr lang="en-US" altLang="zh-CN" dirty="0"/>
              <a:t>8.</a:t>
            </a:r>
            <a:r>
              <a:rPr lang="zh-CN" altLang="zh-CN" b="1" dirty="0"/>
              <a:t>3.3 YARN体系结构</a:t>
            </a:r>
            <a:endParaRPr lang="zh-CN" altLang="en-US" dirty="0"/>
          </a:p>
        </p:txBody>
      </p:sp>
      <p:sp>
        <p:nvSpPr>
          <p:cNvPr id="22531" name="矩形 2"/>
          <p:cNvSpPr/>
          <p:nvPr/>
        </p:nvSpPr>
        <p:spPr>
          <a:xfrm>
            <a:off x="957580" y="1928495"/>
            <a:ext cx="10074910" cy="5015865"/>
          </a:xfrm>
          <a:prstGeom prst="rect">
            <a:avLst/>
          </a:prstGeom>
          <a:noFill/>
          <a:ln w="9525">
            <a:noFill/>
          </a:ln>
        </p:spPr>
        <p:txBody>
          <a:bodyPr wrap="square">
            <a:spAutoFit/>
          </a:bodyPr>
          <a:lstStyle/>
          <a:p>
            <a:pPr>
              <a:buFont typeface="Arial" panose="020B0604020202020204" pitchFamily="34" charset="0"/>
              <a:buChar char="•"/>
            </a:pPr>
            <a:r>
              <a:rPr lang="en-US" altLang="zh-CN" sz="2000" dirty="0">
                <a:latin typeface="Arial" panose="020B0604020202020204" pitchFamily="34" charset="0"/>
              </a:rPr>
              <a:t>ResourceManager</a:t>
            </a:r>
            <a:r>
              <a:rPr lang="zh-CN" altLang="zh-CN" sz="2000" dirty="0">
                <a:latin typeface="Arial" panose="020B0604020202020204" pitchFamily="34" charset="0"/>
              </a:rPr>
              <a:t>（</a:t>
            </a:r>
            <a:r>
              <a:rPr lang="en-US" altLang="zh-CN" sz="2000" dirty="0">
                <a:latin typeface="Arial" panose="020B0604020202020204" pitchFamily="34" charset="0"/>
              </a:rPr>
              <a:t>RM</a:t>
            </a:r>
            <a:r>
              <a:rPr lang="zh-CN" altLang="zh-CN" sz="2000" dirty="0">
                <a:latin typeface="Arial" panose="020B0604020202020204" pitchFamily="34" charset="0"/>
              </a:rPr>
              <a:t>）是一个全局的资源管理器，负责整个系统的资源管理和分配，主要包括两个组件，即调度器（</a:t>
            </a:r>
            <a:r>
              <a:rPr lang="en-US" altLang="zh-CN" sz="2000" dirty="0">
                <a:latin typeface="Arial" panose="020B0604020202020204" pitchFamily="34" charset="0"/>
              </a:rPr>
              <a:t>Scheduler</a:t>
            </a:r>
            <a:r>
              <a:rPr lang="zh-CN" altLang="zh-CN" sz="2000" dirty="0">
                <a:latin typeface="Arial" panose="020B0604020202020204" pitchFamily="34" charset="0"/>
              </a:rPr>
              <a:t>）和应用程序管理器（</a:t>
            </a:r>
            <a:r>
              <a:rPr lang="en-US" altLang="zh-CN" sz="2000" dirty="0">
                <a:latin typeface="Arial" panose="020B0604020202020204" pitchFamily="34" charset="0"/>
              </a:rPr>
              <a:t>Applications Manager</a:t>
            </a:r>
            <a:r>
              <a:rPr lang="zh-CN" altLang="zh-CN" sz="2000" dirty="0">
                <a:latin typeface="Arial" panose="020B0604020202020204" pitchFamily="34" charset="0"/>
              </a:rPr>
              <a:t>）</a:t>
            </a:r>
            <a:endParaRPr lang="en-US" altLang="zh-CN" sz="2000" dirty="0">
              <a:latin typeface="Arial" panose="020B0604020202020204" pitchFamily="34" charset="0"/>
            </a:endParaRPr>
          </a:p>
          <a:p>
            <a:pPr>
              <a:buFont typeface="Arial" panose="020B0604020202020204" pitchFamily="34" charset="0"/>
              <a:buChar char="•"/>
            </a:pPr>
            <a:endParaRPr lang="en-US" altLang="zh-CN" sz="2000" dirty="0">
              <a:latin typeface="Arial" panose="020B0604020202020204" pitchFamily="34" charset="0"/>
            </a:endParaRPr>
          </a:p>
          <a:p>
            <a:pPr>
              <a:buFont typeface="Arial" panose="020B0604020202020204" pitchFamily="34" charset="0"/>
              <a:buChar char="•"/>
            </a:pPr>
            <a:r>
              <a:rPr lang="zh-CN" altLang="zh-CN" sz="2000" dirty="0">
                <a:latin typeface="Arial" panose="020B0604020202020204" pitchFamily="34" charset="0"/>
              </a:rPr>
              <a:t>调度器接收来自</a:t>
            </a:r>
            <a:r>
              <a:rPr lang="en-US" altLang="zh-CN" sz="2000" dirty="0">
                <a:latin typeface="Arial" panose="020B0604020202020204" pitchFamily="34" charset="0"/>
              </a:rPr>
              <a:t>ApplicationMaster</a:t>
            </a:r>
            <a:r>
              <a:rPr lang="zh-CN" altLang="zh-CN" sz="2000" dirty="0">
                <a:latin typeface="Arial" panose="020B0604020202020204" pitchFamily="34" charset="0"/>
              </a:rPr>
              <a:t>的应用程序资源请求，把集群中的资源以“</a:t>
            </a:r>
            <a:r>
              <a:rPr lang="zh-CN" altLang="zh-CN" sz="2000" dirty="0">
                <a:highlight>
                  <a:srgbClr val="FFFF00"/>
                </a:highlight>
                <a:latin typeface="Arial" panose="020B0604020202020204" pitchFamily="34" charset="0"/>
              </a:rPr>
              <a:t>容器</a:t>
            </a:r>
            <a:r>
              <a:rPr lang="zh-CN" altLang="zh-CN" sz="2000" dirty="0">
                <a:latin typeface="Arial" panose="020B0604020202020204" pitchFamily="34" charset="0"/>
              </a:rPr>
              <a:t>”的形式分配给提出申请的应用程序，容器的选择通常会考虑应用程序所要处理的数据的位置，进行就近选择，从而实现“计算向数据靠拢”</a:t>
            </a:r>
            <a:endParaRPr lang="en-US" altLang="zh-CN" sz="2000" dirty="0">
              <a:latin typeface="Arial" panose="020B0604020202020204" pitchFamily="34" charset="0"/>
            </a:endParaRPr>
          </a:p>
          <a:p>
            <a:pPr>
              <a:buFont typeface="Arial" panose="020B0604020202020204" pitchFamily="34" charset="0"/>
              <a:buChar char="•"/>
            </a:pPr>
            <a:endParaRPr lang="en-US" altLang="zh-CN" sz="2000" dirty="0">
              <a:latin typeface="Arial" panose="020B0604020202020204" pitchFamily="34" charset="0"/>
            </a:endParaRPr>
          </a:p>
          <a:p>
            <a:pPr>
              <a:buFont typeface="Arial" panose="020B0604020202020204" pitchFamily="34" charset="0"/>
              <a:buChar char="•"/>
            </a:pPr>
            <a:r>
              <a:rPr lang="zh-CN" altLang="zh-CN" sz="2000" dirty="0">
                <a:latin typeface="Arial" panose="020B0604020202020204" pitchFamily="34" charset="0"/>
              </a:rPr>
              <a:t>容器（</a:t>
            </a:r>
            <a:r>
              <a:rPr lang="en-US" altLang="zh-CN" sz="2000" dirty="0">
                <a:latin typeface="Arial" panose="020B0604020202020204" pitchFamily="34" charset="0"/>
              </a:rPr>
              <a:t>Container</a:t>
            </a:r>
            <a:r>
              <a:rPr lang="zh-CN" altLang="zh-CN" sz="2000" dirty="0">
                <a:latin typeface="Arial" panose="020B0604020202020204" pitchFamily="34" charset="0"/>
              </a:rPr>
              <a:t>）作为动态资源分配单位，每个容器中都封装了一定数量的</a:t>
            </a:r>
            <a:r>
              <a:rPr lang="en-US" altLang="zh-CN" sz="2000" dirty="0">
                <a:latin typeface="Arial" panose="020B0604020202020204" pitchFamily="34" charset="0"/>
              </a:rPr>
              <a:t>CPU</a:t>
            </a:r>
            <a:r>
              <a:rPr lang="zh-CN" altLang="zh-CN" sz="2000" dirty="0">
                <a:latin typeface="Arial" panose="020B0604020202020204" pitchFamily="34" charset="0"/>
              </a:rPr>
              <a:t>、内存、磁盘等资源，从而限定每个应用程序可以使用的资源量</a:t>
            </a:r>
            <a:endParaRPr lang="en-US" altLang="zh-CN" sz="2000" dirty="0">
              <a:latin typeface="Arial" panose="020B0604020202020204" pitchFamily="34" charset="0"/>
            </a:endParaRPr>
          </a:p>
          <a:p>
            <a:pPr>
              <a:buFont typeface="Arial" panose="020B0604020202020204" pitchFamily="34" charset="0"/>
              <a:buChar char="•"/>
            </a:pPr>
            <a:endParaRPr lang="en-US" altLang="zh-CN" sz="2000" dirty="0">
              <a:latin typeface="Arial" panose="020B0604020202020204" pitchFamily="34" charset="0"/>
            </a:endParaRPr>
          </a:p>
          <a:p>
            <a:pPr>
              <a:buFont typeface="Arial" panose="020B0604020202020204" pitchFamily="34" charset="0"/>
              <a:buChar char="•"/>
            </a:pPr>
            <a:r>
              <a:rPr lang="zh-CN" altLang="zh-CN" sz="2000" dirty="0">
                <a:latin typeface="Arial" panose="020B0604020202020204" pitchFamily="34" charset="0"/>
              </a:rPr>
              <a:t>调度器被设计成是一个可插拔的组件，</a:t>
            </a:r>
            <a:r>
              <a:rPr lang="en-US" altLang="zh-CN" sz="2000" dirty="0">
                <a:latin typeface="Arial" panose="020B0604020202020204" pitchFamily="34" charset="0"/>
              </a:rPr>
              <a:t>YARN</a:t>
            </a:r>
            <a:r>
              <a:rPr lang="zh-CN" altLang="zh-CN" sz="2000" dirty="0">
                <a:latin typeface="Arial" panose="020B0604020202020204" pitchFamily="34" charset="0"/>
              </a:rPr>
              <a:t>不仅自身提供了许多种直接可用的调度器，也允许用户根据自己的需求重新设计调度器</a:t>
            </a:r>
            <a:endParaRPr lang="en-US" altLang="zh-CN" sz="2000" dirty="0">
              <a:latin typeface="Arial" panose="020B0604020202020204" pitchFamily="34" charset="0"/>
            </a:endParaRPr>
          </a:p>
          <a:p>
            <a:pPr>
              <a:buFont typeface="Arial" panose="020B0604020202020204" pitchFamily="34" charset="0"/>
              <a:buChar char="•"/>
            </a:pPr>
            <a:endParaRPr lang="en-US" altLang="zh-CN" sz="2000" dirty="0">
              <a:latin typeface="Arial" panose="020B0604020202020204" pitchFamily="34" charset="0"/>
            </a:endParaRPr>
          </a:p>
          <a:p>
            <a:pPr>
              <a:buFont typeface="Arial" panose="020B0604020202020204" pitchFamily="34" charset="0"/>
              <a:buChar char="•"/>
            </a:pPr>
            <a:r>
              <a:rPr lang="zh-CN" altLang="zh-CN" sz="2000" dirty="0">
                <a:latin typeface="Arial" panose="020B0604020202020204" pitchFamily="34" charset="0"/>
              </a:rPr>
              <a:t>应用程序管理器（</a:t>
            </a:r>
            <a:r>
              <a:rPr lang="en-US" altLang="zh-CN" sz="2000" dirty="0">
                <a:latin typeface="Arial" panose="020B0604020202020204" pitchFamily="34" charset="0"/>
              </a:rPr>
              <a:t>Applications Manager</a:t>
            </a:r>
            <a:r>
              <a:rPr lang="zh-CN" altLang="zh-CN" sz="2000" dirty="0">
                <a:latin typeface="Arial" panose="020B0604020202020204" pitchFamily="34" charset="0"/>
              </a:rPr>
              <a:t>）负责系统中所有应用程序的管理工作，主要包括应用程序提交、与调度器协商资源以启动</a:t>
            </a:r>
            <a:r>
              <a:rPr lang="en-US" altLang="zh-CN" sz="2000" dirty="0">
                <a:latin typeface="Arial" panose="020B0604020202020204" pitchFamily="34" charset="0"/>
              </a:rPr>
              <a:t>ApplicationMaster</a:t>
            </a:r>
            <a:r>
              <a:rPr lang="zh-CN" altLang="zh-CN" sz="2000" dirty="0">
                <a:latin typeface="Arial" panose="020B0604020202020204" pitchFamily="34" charset="0"/>
              </a:rPr>
              <a:t>、监控</a:t>
            </a:r>
            <a:r>
              <a:rPr lang="en-US" altLang="zh-CN" sz="2000" dirty="0">
                <a:latin typeface="Arial" panose="020B0604020202020204" pitchFamily="34" charset="0"/>
              </a:rPr>
              <a:t>ApplicationMaster</a:t>
            </a:r>
            <a:r>
              <a:rPr lang="zh-CN" altLang="zh-CN" sz="2000" dirty="0">
                <a:latin typeface="Arial" panose="020B0604020202020204" pitchFamily="34" charset="0"/>
              </a:rPr>
              <a:t>运行状态并在失败时重新启动等</a:t>
            </a:r>
            <a:endParaRPr lang="zh-CN" altLang="zh-CN" sz="2000" dirty="0">
              <a:latin typeface="Arial" panose="020B0604020202020204" pitchFamily="34" charset="0"/>
            </a:endParaRPr>
          </a:p>
        </p:txBody>
      </p:sp>
      <p:sp>
        <p:nvSpPr>
          <p:cNvPr id="22532" name="TextBox 3"/>
          <p:cNvSpPr txBox="1"/>
          <p:nvPr/>
        </p:nvSpPr>
        <p:spPr>
          <a:xfrm>
            <a:off x="957580" y="1322705"/>
            <a:ext cx="2825750" cy="460375"/>
          </a:xfrm>
          <a:prstGeom prst="rect">
            <a:avLst/>
          </a:prstGeom>
          <a:noFill/>
          <a:ln w="9525">
            <a:noFill/>
          </a:ln>
        </p:spPr>
        <p:txBody>
          <a:bodyPr wrap="none">
            <a:spAutoFit/>
          </a:bodyPr>
          <a:lstStyle/>
          <a:p>
            <a:r>
              <a:rPr lang="en-US" altLang="zh-CN" sz="2400" b="1" dirty="0">
                <a:solidFill>
                  <a:srgbClr val="FF0000"/>
                </a:solidFill>
                <a:latin typeface="Arial" panose="020B0604020202020204" pitchFamily="34" charset="0"/>
              </a:rPr>
              <a:t>ResourceManager</a:t>
            </a:r>
            <a:endParaRPr lang="en-US" altLang="zh-CN" sz="2400" b="1" dirty="0">
              <a:solidFill>
                <a:srgbClr val="FF0000"/>
              </a:solidFill>
              <a:latin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p:txBody>
          <a:bodyPr vert="horz" wrap="square" lIns="91440" tIns="45720" rIns="91440" bIns="45720" anchor="ctr" anchorCtr="0"/>
          <a:lstStyle/>
          <a:p>
            <a:r>
              <a:rPr lang="en-US" altLang="zh-CN" dirty="0"/>
              <a:t>8.</a:t>
            </a:r>
            <a:r>
              <a:rPr lang="zh-CN" altLang="zh-CN" b="1" dirty="0"/>
              <a:t>3.3 YARN体系结构</a:t>
            </a:r>
            <a:endParaRPr lang="zh-CN" altLang="en-US" dirty="0"/>
          </a:p>
        </p:txBody>
      </p:sp>
      <p:sp>
        <p:nvSpPr>
          <p:cNvPr id="23555" name="矩形 2"/>
          <p:cNvSpPr/>
          <p:nvPr/>
        </p:nvSpPr>
        <p:spPr>
          <a:xfrm>
            <a:off x="970915" y="1326515"/>
            <a:ext cx="2824480" cy="460375"/>
          </a:xfrm>
          <a:prstGeom prst="rect">
            <a:avLst/>
          </a:prstGeom>
          <a:noFill/>
          <a:ln w="9525">
            <a:noFill/>
          </a:ln>
        </p:spPr>
        <p:txBody>
          <a:bodyPr wrap="none">
            <a:spAutoFit/>
          </a:bodyPr>
          <a:lstStyle/>
          <a:p>
            <a:r>
              <a:rPr lang="en-US" altLang="zh-CN" sz="2400" b="1" dirty="0">
                <a:solidFill>
                  <a:srgbClr val="FF0000"/>
                </a:solidFill>
                <a:latin typeface="Arial" panose="020B0604020202020204" pitchFamily="34" charset="0"/>
              </a:rPr>
              <a:t>ApplicationMaster</a:t>
            </a:r>
            <a:endParaRPr lang="en-US" altLang="zh-CN" sz="2400" b="1" dirty="0">
              <a:solidFill>
                <a:srgbClr val="FF0000"/>
              </a:solidFill>
              <a:latin typeface="Arial" panose="020B0604020202020204" pitchFamily="34" charset="0"/>
            </a:endParaRPr>
          </a:p>
        </p:txBody>
      </p:sp>
      <p:sp>
        <p:nvSpPr>
          <p:cNvPr id="23556" name="矩形 3"/>
          <p:cNvSpPr/>
          <p:nvPr/>
        </p:nvSpPr>
        <p:spPr>
          <a:xfrm>
            <a:off x="970915" y="1786890"/>
            <a:ext cx="10798810" cy="768350"/>
          </a:xfrm>
          <a:prstGeom prst="rect">
            <a:avLst/>
          </a:prstGeom>
          <a:noFill/>
          <a:ln w="9525">
            <a:noFill/>
          </a:ln>
        </p:spPr>
        <p:txBody>
          <a:bodyPr wrap="square">
            <a:spAutoFit/>
          </a:bodyPr>
          <a:lstStyle/>
          <a:p>
            <a:r>
              <a:rPr lang="en-US" altLang="zh-CN" sz="2200" dirty="0">
                <a:latin typeface="Arial" panose="020B0604020202020204" pitchFamily="34" charset="0"/>
              </a:rPr>
              <a:t>ResourceManager</a:t>
            </a:r>
            <a:r>
              <a:rPr lang="zh-CN" altLang="zh-CN" sz="2200" dirty="0">
                <a:latin typeface="Arial" panose="020B0604020202020204" pitchFamily="34" charset="0"/>
              </a:rPr>
              <a:t>接收用户提交的作业，按照作业的上下文信息以及从</a:t>
            </a:r>
            <a:r>
              <a:rPr lang="en-US" altLang="zh-CN" sz="2200" dirty="0">
                <a:latin typeface="Arial" panose="020B0604020202020204" pitchFamily="34" charset="0"/>
              </a:rPr>
              <a:t>NodeManager</a:t>
            </a:r>
            <a:r>
              <a:rPr lang="zh-CN" altLang="zh-CN" sz="2200" dirty="0">
                <a:latin typeface="Arial" panose="020B0604020202020204" pitchFamily="34" charset="0"/>
              </a:rPr>
              <a:t>收集来的容器状态信息，启动调度过程，为用户作业启动一个</a:t>
            </a:r>
            <a:r>
              <a:rPr lang="en-US" altLang="zh-CN" sz="2200" dirty="0">
                <a:latin typeface="Arial" panose="020B0604020202020204" pitchFamily="34" charset="0"/>
              </a:rPr>
              <a:t>ApplicationMaster</a:t>
            </a:r>
            <a:endParaRPr lang="en-US" altLang="zh-CN" sz="2200" dirty="0">
              <a:latin typeface="Arial" panose="020B0604020202020204" pitchFamily="34" charset="0"/>
            </a:endParaRPr>
          </a:p>
        </p:txBody>
      </p:sp>
      <p:sp>
        <p:nvSpPr>
          <p:cNvPr id="23557" name="矩形 4"/>
          <p:cNvSpPr/>
          <p:nvPr/>
        </p:nvSpPr>
        <p:spPr>
          <a:xfrm>
            <a:off x="970915" y="2731770"/>
            <a:ext cx="10905490" cy="3476625"/>
          </a:xfrm>
          <a:prstGeom prst="rect">
            <a:avLst/>
          </a:prstGeom>
          <a:noFill/>
          <a:ln w="9525">
            <a:noFill/>
          </a:ln>
        </p:spPr>
        <p:txBody>
          <a:bodyPr wrap="square">
            <a:spAutoFit/>
          </a:bodyPr>
          <a:lstStyle/>
          <a:p>
            <a:r>
              <a:rPr lang="en-US" altLang="zh-CN" sz="2200" dirty="0">
                <a:latin typeface="Arial" panose="020B0604020202020204" pitchFamily="34" charset="0"/>
              </a:rPr>
              <a:t>ApplicationMaster</a:t>
            </a:r>
            <a:r>
              <a:rPr lang="zh-CN" altLang="zh-CN" sz="2200" dirty="0">
                <a:latin typeface="Arial" panose="020B0604020202020204" pitchFamily="34" charset="0"/>
              </a:rPr>
              <a:t>的主要功能是：</a:t>
            </a:r>
            <a:endParaRPr lang="en-US" altLang="zh-CN" sz="2200" dirty="0">
              <a:latin typeface="Arial" panose="020B0604020202020204" pitchFamily="34" charset="0"/>
            </a:endParaRPr>
          </a:p>
          <a:p>
            <a:r>
              <a:rPr lang="zh-CN" altLang="zh-CN" sz="2200" dirty="0">
                <a:latin typeface="Arial" panose="020B0604020202020204" pitchFamily="34" charset="0"/>
              </a:rPr>
              <a:t>（</a:t>
            </a:r>
            <a:r>
              <a:rPr lang="en-US" altLang="zh-CN" sz="2200" dirty="0">
                <a:latin typeface="Arial" panose="020B0604020202020204" pitchFamily="34" charset="0"/>
              </a:rPr>
              <a:t>1</a:t>
            </a:r>
            <a:r>
              <a:rPr lang="zh-CN" altLang="zh-CN" sz="2200" dirty="0">
                <a:latin typeface="Arial" panose="020B0604020202020204" pitchFamily="34" charset="0"/>
              </a:rPr>
              <a:t>）当用户作业提交时，</a:t>
            </a:r>
            <a:r>
              <a:rPr lang="en-US" altLang="zh-CN" sz="2200" dirty="0">
                <a:latin typeface="Arial" panose="020B0604020202020204" pitchFamily="34" charset="0"/>
              </a:rPr>
              <a:t>ApplicationMaster</a:t>
            </a:r>
            <a:r>
              <a:rPr lang="zh-CN" altLang="zh-CN" sz="2200" dirty="0">
                <a:latin typeface="Arial" panose="020B0604020202020204" pitchFamily="34" charset="0"/>
              </a:rPr>
              <a:t>与</a:t>
            </a:r>
            <a:r>
              <a:rPr lang="en-US" altLang="zh-CN" sz="2200" dirty="0">
                <a:latin typeface="Arial" panose="020B0604020202020204" pitchFamily="34" charset="0"/>
              </a:rPr>
              <a:t>ResourceManager</a:t>
            </a:r>
            <a:r>
              <a:rPr lang="zh-CN" altLang="zh-CN" sz="2200" dirty="0">
                <a:latin typeface="Arial" panose="020B0604020202020204" pitchFamily="34" charset="0"/>
              </a:rPr>
              <a:t>协商获取资源，</a:t>
            </a:r>
            <a:r>
              <a:rPr lang="en-US" altLang="zh-CN" sz="2200" dirty="0">
                <a:latin typeface="Arial" panose="020B0604020202020204" pitchFamily="34" charset="0"/>
              </a:rPr>
              <a:t>ResourceManager</a:t>
            </a:r>
            <a:r>
              <a:rPr lang="zh-CN" altLang="zh-CN" sz="2200" dirty="0">
                <a:latin typeface="Arial" panose="020B0604020202020204" pitchFamily="34" charset="0"/>
              </a:rPr>
              <a:t>会以容器的形式为</a:t>
            </a:r>
            <a:r>
              <a:rPr lang="en-US" altLang="zh-CN" sz="2200" dirty="0">
                <a:latin typeface="Arial" panose="020B0604020202020204" pitchFamily="34" charset="0"/>
              </a:rPr>
              <a:t>ApplicationMaster</a:t>
            </a:r>
            <a:r>
              <a:rPr lang="zh-CN" altLang="zh-CN" sz="2200" dirty="0">
                <a:latin typeface="Arial" panose="020B0604020202020204" pitchFamily="34" charset="0"/>
              </a:rPr>
              <a:t>分配资源；</a:t>
            </a:r>
            <a:endParaRPr lang="en-US" altLang="zh-CN" sz="2200" dirty="0">
              <a:latin typeface="Arial" panose="020B0604020202020204" pitchFamily="34" charset="0"/>
            </a:endParaRPr>
          </a:p>
          <a:p>
            <a:r>
              <a:rPr lang="zh-CN" altLang="zh-CN" sz="2200" dirty="0">
                <a:latin typeface="Arial" panose="020B0604020202020204" pitchFamily="34" charset="0"/>
              </a:rPr>
              <a:t>（</a:t>
            </a:r>
            <a:r>
              <a:rPr lang="en-US" altLang="zh-CN" sz="2200" dirty="0">
                <a:latin typeface="Arial" panose="020B0604020202020204" pitchFamily="34" charset="0"/>
              </a:rPr>
              <a:t>2</a:t>
            </a:r>
            <a:r>
              <a:rPr lang="zh-CN" altLang="zh-CN" sz="2200" dirty="0">
                <a:latin typeface="Arial" panose="020B0604020202020204" pitchFamily="34" charset="0"/>
              </a:rPr>
              <a:t>）把获得的资源进一步分配给内部的各个任务（</a:t>
            </a:r>
            <a:r>
              <a:rPr lang="en-US" altLang="zh-CN" sz="2200" dirty="0">
                <a:latin typeface="Arial" panose="020B0604020202020204" pitchFamily="34" charset="0"/>
              </a:rPr>
              <a:t>Map</a:t>
            </a:r>
            <a:r>
              <a:rPr lang="zh-CN" altLang="zh-CN" sz="2200" dirty="0">
                <a:latin typeface="Arial" panose="020B0604020202020204" pitchFamily="34" charset="0"/>
              </a:rPr>
              <a:t>任务或</a:t>
            </a:r>
            <a:r>
              <a:rPr lang="en-US" altLang="zh-CN" sz="2200" dirty="0">
                <a:latin typeface="Arial" panose="020B0604020202020204" pitchFamily="34" charset="0"/>
              </a:rPr>
              <a:t>Reduce</a:t>
            </a:r>
            <a:r>
              <a:rPr lang="zh-CN" altLang="zh-CN" sz="2200" dirty="0">
                <a:latin typeface="Arial" panose="020B0604020202020204" pitchFamily="34" charset="0"/>
              </a:rPr>
              <a:t>任务），实现资源的“二次分配”；</a:t>
            </a:r>
            <a:endParaRPr lang="en-US" altLang="zh-CN" sz="2200" dirty="0">
              <a:latin typeface="Arial" panose="020B0604020202020204" pitchFamily="34" charset="0"/>
            </a:endParaRPr>
          </a:p>
          <a:p>
            <a:r>
              <a:rPr lang="zh-CN" altLang="zh-CN" sz="2200" dirty="0">
                <a:latin typeface="Arial" panose="020B0604020202020204" pitchFamily="34" charset="0"/>
              </a:rPr>
              <a:t>（</a:t>
            </a:r>
            <a:r>
              <a:rPr lang="en-US" altLang="zh-CN" sz="2200" dirty="0">
                <a:latin typeface="Arial" panose="020B0604020202020204" pitchFamily="34" charset="0"/>
              </a:rPr>
              <a:t>3</a:t>
            </a:r>
            <a:r>
              <a:rPr lang="zh-CN" altLang="zh-CN" sz="2200" dirty="0">
                <a:latin typeface="Arial" panose="020B0604020202020204" pitchFamily="34" charset="0"/>
              </a:rPr>
              <a:t>）与</a:t>
            </a:r>
            <a:r>
              <a:rPr lang="en-US" altLang="zh-CN" sz="2200" dirty="0">
                <a:latin typeface="Arial" panose="020B0604020202020204" pitchFamily="34" charset="0"/>
              </a:rPr>
              <a:t>NodeManager</a:t>
            </a:r>
            <a:r>
              <a:rPr lang="zh-CN" altLang="zh-CN" sz="2200" dirty="0">
                <a:latin typeface="Arial" panose="020B0604020202020204" pitchFamily="34" charset="0"/>
              </a:rPr>
              <a:t>保持交互通信进行应用程序的启动、运行、监控和停止，监控申请到的资源的使用情况，对所有任务的执行进度和状态进行监控，并在任务发生失败时执行失败恢复（即重新申请资源重启任务）；</a:t>
            </a:r>
            <a:endParaRPr lang="en-US" altLang="zh-CN" sz="2200" dirty="0">
              <a:latin typeface="Arial" panose="020B0604020202020204" pitchFamily="34" charset="0"/>
            </a:endParaRPr>
          </a:p>
          <a:p>
            <a:r>
              <a:rPr lang="zh-CN" altLang="zh-CN" sz="2200" dirty="0">
                <a:latin typeface="Arial" panose="020B0604020202020204" pitchFamily="34" charset="0"/>
              </a:rPr>
              <a:t>（</a:t>
            </a:r>
            <a:r>
              <a:rPr lang="en-US" altLang="zh-CN" sz="2200" dirty="0">
                <a:latin typeface="Arial" panose="020B0604020202020204" pitchFamily="34" charset="0"/>
              </a:rPr>
              <a:t>4</a:t>
            </a:r>
            <a:r>
              <a:rPr lang="zh-CN" altLang="zh-CN" sz="2200" dirty="0">
                <a:latin typeface="Arial" panose="020B0604020202020204" pitchFamily="34" charset="0"/>
              </a:rPr>
              <a:t>）定时向</a:t>
            </a:r>
            <a:r>
              <a:rPr lang="en-US" altLang="zh-CN" sz="2200" dirty="0">
                <a:latin typeface="Arial" panose="020B0604020202020204" pitchFamily="34" charset="0"/>
              </a:rPr>
              <a:t>ResourceManager</a:t>
            </a:r>
            <a:r>
              <a:rPr lang="zh-CN" altLang="zh-CN" sz="2200" dirty="0">
                <a:latin typeface="Arial" panose="020B0604020202020204" pitchFamily="34" charset="0"/>
              </a:rPr>
              <a:t>发送“心跳”，报告资源的使用情况和应用的进度信息；</a:t>
            </a:r>
            <a:endParaRPr lang="en-US" altLang="zh-CN" sz="2200" dirty="0">
              <a:latin typeface="Arial" panose="020B0604020202020204" pitchFamily="34" charset="0"/>
            </a:endParaRPr>
          </a:p>
          <a:p>
            <a:r>
              <a:rPr lang="zh-CN" altLang="zh-CN" sz="2200" dirty="0">
                <a:latin typeface="Arial" panose="020B0604020202020204" pitchFamily="34" charset="0"/>
              </a:rPr>
              <a:t>（</a:t>
            </a:r>
            <a:r>
              <a:rPr lang="en-US" altLang="zh-CN" sz="2200" dirty="0">
                <a:latin typeface="Arial" panose="020B0604020202020204" pitchFamily="34" charset="0"/>
              </a:rPr>
              <a:t>5</a:t>
            </a:r>
            <a:r>
              <a:rPr lang="zh-CN" altLang="zh-CN" sz="2200" dirty="0">
                <a:latin typeface="Arial" panose="020B0604020202020204" pitchFamily="34" charset="0"/>
              </a:rPr>
              <a:t>）当作业完成时，</a:t>
            </a:r>
            <a:r>
              <a:rPr lang="en-US" altLang="zh-CN" sz="2200" dirty="0">
                <a:latin typeface="Arial" panose="020B0604020202020204" pitchFamily="34" charset="0"/>
              </a:rPr>
              <a:t>ApplicationMaster</a:t>
            </a:r>
            <a:r>
              <a:rPr lang="zh-CN" altLang="zh-CN" sz="2200" dirty="0">
                <a:latin typeface="Arial" panose="020B0604020202020204" pitchFamily="34" charset="0"/>
              </a:rPr>
              <a:t>向</a:t>
            </a:r>
            <a:r>
              <a:rPr lang="en-US" altLang="zh-CN" sz="2200" dirty="0">
                <a:latin typeface="Arial" panose="020B0604020202020204" pitchFamily="34" charset="0"/>
              </a:rPr>
              <a:t>ResourceManager</a:t>
            </a:r>
            <a:r>
              <a:rPr lang="zh-CN" altLang="zh-CN" sz="2200" dirty="0">
                <a:latin typeface="Arial" panose="020B0604020202020204" pitchFamily="34" charset="0"/>
              </a:rPr>
              <a:t>注销容器，执行周期完成。</a:t>
            </a:r>
            <a:endParaRPr lang="zh-CN" altLang="zh-CN" sz="2200" dirty="0">
              <a:latin typeface="Arial" panose="020B0604020202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p:txBody>
          <a:bodyPr vert="horz" wrap="square" lIns="91440" tIns="45720" rIns="91440" bIns="45720" anchor="ctr" anchorCtr="0"/>
          <a:lstStyle/>
          <a:p>
            <a:r>
              <a:rPr lang="en-US" altLang="zh-CN" dirty="0"/>
              <a:t>8.</a:t>
            </a:r>
            <a:r>
              <a:rPr lang="zh-CN" altLang="zh-CN" b="1" dirty="0"/>
              <a:t>3.3 YARN体系结构</a:t>
            </a:r>
            <a:endParaRPr lang="zh-CN" altLang="en-US" dirty="0"/>
          </a:p>
        </p:txBody>
      </p:sp>
      <p:sp>
        <p:nvSpPr>
          <p:cNvPr id="24579" name="矩形 2"/>
          <p:cNvSpPr/>
          <p:nvPr/>
        </p:nvSpPr>
        <p:spPr>
          <a:xfrm>
            <a:off x="972820" y="1310005"/>
            <a:ext cx="2198370" cy="460375"/>
          </a:xfrm>
          <a:prstGeom prst="rect">
            <a:avLst/>
          </a:prstGeom>
          <a:noFill/>
          <a:ln w="9525">
            <a:noFill/>
          </a:ln>
        </p:spPr>
        <p:txBody>
          <a:bodyPr wrap="none">
            <a:spAutoFit/>
          </a:bodyPr>
          <a:lstStyle/>
          <a:p>
            <a:r>
              <a:rPr lang="en-US" altLang="zh-CN" sz="2400" b="1" dirty="0">
                <a:solidFill>
                  <a:srgbClr val="FF0000"/>
                </a:solidFill>
                <a:latin typeface="Arial" panose="020B0604020202020204" pitchFamily="34" charset="0"/>
              </a:rPr>
              <a:t>NodeManager</a:t>
            </a:r>
            <a:endParaRPr lang="en-US" altLang="zh-CN" sz="2400" b="1" dirty="0">
              <a:solidFill>
                <a:srgbClr val="FF0000"/>
              </a:solidFill>
              <a:latin typeface="Arial" panose="020B0604020202020204" pitchFamily="34" charset="0"/>
            </a:endParaRPr>
          </a:p>
        </p:txBody>
      </p:sp>
      <p:sp>
        <p:nvSpPr>
          <p:cNvPr id="24580" name="矩形 3"/>
          <p:cNvSpPr/>
          <p:nvPr/>
        </p:nvSpPr>
        <p:spPr>
          <a:xfrm>
            <a:off x="972820" y="1770380"/>
            <a:ext cx="10380980" cy="4523105"/>
          </a:xfrm>
          <a:prstGeom prst="rect">
            <a:avLst/>
          </a:prstGeom>
          <a:noFill/>
          <a:ln w="9525">
            <a:noFill/>
          </a:ln>
        </p:spPr>
        <p:txBody>
          <a:bodyPr wrap="square">
            <a:spAutoFit/>
          </a:bodyPr>
          <a:lstStyle/>
          <a:p>
            <a:r>
              <a:rPr lang="en-US" altLang="zh-CN" sz="2400" dirty="0">
                <a:latin typeface="Arial" panose="020B0604020202020204" pitchFamily="34" charset="0"/>
              </a:rPr>
              <a:t>NodeManager</a:t>
            </a:r>
            <a:r>
              <a:rPr lang="zh-CN" altLang="zh-CN" sz="2400" dirty="0">
                <a:latin typeface="Arial" panose="020B0604020202020204" pitchFamily="34" charset="0"/>
              </a:rPr>
              <a:t>是驻留在一个</a:t>
            </a:r>
            <a:r>
              <a:rPr lang="en-US" altLang="zh-CN" sz="2400" dirty="0">
                <a:latin typeface="Arial" panose="020B0604020202020204" pitchFamily="34" charset="0"/>
              </a:rPr>
              <a:t>YARN</a:t>
            </a:r>
            <a:r>
              <a:rPr lang="zh-CN" altLang="zh-CN" sz="2400" dirty="0">
                <a:latin typeface="Arial" panose="020B0604020202020204" pitchFamily="34" charset="0"/>
              </a:rPr>
              <a:t>集群中的每个节点上的代理，主要负责</a:t>
            </a:r>
            <a:r>
              <a:rPr lang="zh-CN" altLang="en-US" sz="2400" dirty="0">
                <a:latin typeface="Arial" panose="020B0604020202020204" pitchFamily="34" charset="0"/>
              </a:rPr>
              <a:t>：</a:t>
            </a:r>
            <a:endParaRPr lang="en-US" altLang="zh-CN" sz="2400" dirty="0">
              <a:latin typeface="Arial" panose="020B0604020202020204" pitchFamily="34" charset="0"/>
            </a:endParaRPr>
          </a:p>
          <a:p>
            <a:pPr>
              <a:buFont typeface="Arial" panose="020B0604020202020204" pitchFamily="34" charset="0"/>
              <a:buChar char="•"/>
            </a:pPr>
            <a:r>
              <a:rPr lang="zh-CN" altLang="zh-CN" sz="2400" dirty="0">
                <a:latin typeface="Arial" panose="020B0604020202020204" pitchFamily="34" charset="0"/>
              </a:rPr>
              <a:t>容器生命周期管理</a:t>
            </a:r>
            <a:endParaRPr lang="en-US" altLang="zh-CN" sz="2400" dirty="0">
              <a:latin typeface="Arial" panose="020B0604020202020204" pitchFamily="34" charset="0"/>
            </a:endParaRPr>
          </a:p>
          <a:p>
            <a:pPr>
              <a:buFont typeface="Arial" panose="020B0604020202020204" pitchFamily="34" charset="0"/>
              <a:buChar char="•"/>
            </a:pPr>
            <a:r>
              <a:rPr lang="zh-CN" altLang="zh-CN" sz="2400" dirty="0">
                <a:latin typeface="Arial" panose="020B0604020202020204" pitchFamily="34" charset="0"/>
              </a:rPr>
              <a:t>监控每个容器的资源（</a:t>
            </a:r>
            <a:r>
              <a:rPr lang="en-US" altLang="zh-CN" sz="2400" dirty="0">
                <a:latin typeface="Arial" panose="020B0604020202020204" pitchFamily="34" charset="0"/>
              </a:rPr>
              <a:t>CPU</a:t>
            </a:r>
            <a:r>
              <a:rPr lang="zh-CN" altLang="zh-CN" sz="2400" dirty="0">
                <a:latin typeface="Arial" panose="020B0604020202020204" pitchFamily="34" charset="0"/>
              </a:rPr>
              <a:t>、内存等）使用情况</a:t>
            </a:r>
            <a:endParaRPr lang="en-US" altLang="zh-CN" sz="2400" dirty="0">
              <a:latin typeface="Arial" panose="020B0604020202020204" pitchFamily="34" charset="0"/>
            </a:endParaRPr>
          </a:p>
          <a:p>
            <a:pPr>
              <a:buFont typeface="Arial" panose="020B0604020202020204" pitchFamily="34" charset="0"/>
              <a:buChar char="•"/>
            </a:pPr>
            <a:r>
              <a:rPr lang="zh-CN" altLang="zh-CN" sz="2400" dirty="0">
                <a:latin typeface="Arial" panose="020B0604020202020204" pitchFamily="34" charset="0"/>
              </a:rPr>
              <a:t>跟踪节点健康状况</a:t>
            </a:r>
            <a:endParaRPr lang="en-US" altLang="zh-CN" sz="2400" dirty="0">
              <a:latin typeface="Arial" panose="020B0604020202020204" pitchFamily="34" charset="0"/>
            </a:endParaRPr>
          </a:p>
          <a:p>
            <a:pPr>
              <a:buFont typeface="Arial" panose="020B0604020202020204" pitchFamily="34" charset="0"/>
              <a:buChar char="•"/>
            </a:pPr>
            <a:r>
              <a:rPr lang="zh-CN" altLang="zh-CN" sz="2400" dirty="0">
                <a:latin typeface="Arial" panose="020B0604020202020204" pitchFamily="34" charset="0"/>
              </a:rPr>
              <a:t>以“心跳”的方式与</a:t>
            </a:r>
            <a:r>
              <a:rPr lang="en-US" altLang="zh-CN" sz="2400" dirty="0">
                <a:latin typeface="Arial" panose="020B0604020202020204" pitchFamily="34" charset="0"/>
              </a:rPr>
              <a:t>ResourceManager</a:t>
            </a:r>
            <a:r>
              <a:rPr lang="zh-CN" altLang="zh-CN" sz="2400" dirty="0">
                <a:latin typeface="Arial" panose="020B0604020202020204" pitchFamily="34" charset="0"/>
              </a:rPr>
              <a:t>保持通信</a:t>
            </a:r>
            <a:endParaRPr lang="en-US" altLang="zh-CN" sz="2400" dirty="0">
              <a:latin typeface="Arial" panose="020B0604020202020204" pitchFamily="34" charset="0"/>
            </a:endParaRPr>
          </a:p>
          <a:p>
            <a:pPr>
              <a:buFont typeface="Arial" panose="020B0604020202020204" pitchFamily="34" charset="0"/>
              <a:buChar char="•"/>
            </a:pPr>
            <a:r>
              <a:rPr lang="zh-CN" altLang="zh-CN" sz="2400" dirty="0">
                <a:latin typeface="Arial" panose="020B0604020202020204" pitchFamily="34" charset="0"/>
              </a:rPr>
              <a:t>向</a:t>
            </a:r>
            <a:r>
              <a:rPr lang="en-US" altLang="zh-CN" sz="2400" dirty="0">
                <a:latin typeface="Arial" panose="020B0604020202020204" pitchFamily="34" charset="0"/>
              </a:rPr>
              <a:t>ResourceManager</a:t>
            </a:r>
            <a:r>
              <a:rPr lang="zh-CN" altLang="zh-CN" sz="2400" dirty="0">
                <a:latin typeface="Arial" panose="020B0604020202020204" pitchFamily="34" charset="0"/>
              </a:rPr>
              <a:t>汇报作业的资源使用情况和每个容器的运行状态</a:t>
            </a:r>
            <a:endParaRPr lang="en-US" altLang="zh-CN" sz="2400" dirty="0">
              <a:latin typeface="Arial" panose="020B0604020202020204" pitchFamily="34" charset="0"/>
            </a:endParaRPr>
          </a:p>
          <a:p>
            <a:pPr>
              <a:buFont typeface="Arial" panose="020B0604020202020204" pitchFamily="34" charset="0"/>
              <a:buChar char="•"/>
            </a:pPr>
            <a:r>
              <a:rPr lang="zh-CN" altLang="zh-CN" sz="2400" dirty="0">
                <a:latin typeface="Arial" panose="020B0604020202020204" pitchFamily="34" charset="0"/>
              </a:rPr>
              <a:t>接收来自</a:t>
            </a:r>
            <a:r>
              <a:rPr lang="en-US" altLang="zh-CN" sz="2400" dirty="0">
                <a:latin typeface="Arial" panose="020B0604020202020204" pitchFamily="34" charset="0"/>
              </a:rPr>
              <a:t>ApplicationMaster</a:t>
            </a:r>
            <a:r>
              <a:rPr lang="zh-CN" altLang="zh-CN" sz="2400" dirty="0">
                <a:latin typeface="Arial" panose="020B0604020202020204" pitchFamily="34" charset="0"/>
              </a:rPr>
              <a:t>的启动</a:t>
            </a:r>
            <a:r>
              <a:rPr lang="en-US" altLang="zh-CN" sz="2400" dirty="0">
                <a:latin typeface="Arial" panose="020B0604020202020204" pitchFamily="34" charset="0"/>
              </a:rPr>
              <a:t>/</a:t>
            </a:r>
            <a:r>
              <a:rPr lang="zh-CN" altLang="zh-CN" sz="2400" dirty="0">
                <a:latin typeface="Arial" panose="020B0604020202020204" pitchFamily="34" charset="0"/>
              </a:rPr>
              <a:t>停止容器的各种请求</a:t>
            </a:r>
            <a:endParaRPr lang="en-US" altLang="zh-CN" sz="2400" dirty="0">
              <a:latin typeface="Arial" panose="020B0604020202020204" pitchFamily="34" charset="0"/>
            </a:endParaRPr>
          </a:p>
          <a:p>
            <a:pPr>
              <a:buFont typeface="Arial" panose="020B0604020202020204" pitchFamily="34" charset="0"/>
              <a:buChar char="•"/>
            </a:pPr>
            <a:endParaRPr lang="en-US" altLang="zh-CN" sz="2400" dirty="0">
              <a:latin typeface="Arial" panose="020B0604020202020204" pitchFamily="34" charset="0"/>
            </a:endParaRPr>
          </a:p>
          <a:p>
            <a:r>
              <a:rPr lang="zh-CN" altLang="zh-CN" sz="2400" dirty="0">
                <a:latin typeface="Arial" panose="020B0604020202020204" pitchFamily="34" charset="0"/>
              </a:rPr>
              <a:t>需要说明的是，</a:t>
            </a:r>
            <a:r>
              <a:rPr lang="en-US" altLang="zh-CN" sz="2400" dirty="0">
                <a:latin typeface="Arial" panose="020B0604020202020204" pitchFamily="34" charset="0"/>
              </a:rPr>
              <a:t>NodeManager</a:t>
            </a:r>
            <a:r>
              <a:rPr lang="zh-CN" altLang="zh-CN" sz="2400" dirty="0">
                <a:latin typeface="Arial" panose="020B0604020202020204" pitchFamily="34" charset="0"/>
              </a:rPr>
              <a:t>主要负责管理抽象的容器，只处理与容器相关的事情，而不具体负责每个任务（</a:t>
            </a:r>
            <a:r>
              <a:rPr lang="en-US" altLang="zh-CN" sz="2400" dirty="0">
                <a:latin typeface="Arial" panose="020B0604020202020204" pitchFamily="34" charset="0"/>
              </a:rPr>
              <a:t>Map</a:t>
            </a:r>
            <a:r>
              <a:rPr lang="zh-CN" altLang="zh-CN" sz="2400" dirty="0">
                <a:latin typeface="Arial" panose="020B0604020202020204" pitchFamily="34" charset="0"/>
              </a:rPr>
              <a:t>任务或</a:t>
            </a:r>
            <a:r>
              <a:rPr lang="en-US" altLang="zh-CN" sz="2400" dirty="0">
                <a:latin typeface="Arial" panose="020B0604020202020204" pitchFamily="34" charset="0"/>
              </a:rPr>
              <a:t>Reduce</a:t>
            </a:r>
            <a:r>
              <a:rPr lang="zh-CN" altLang="zh-CN" sz="2400" dirty="0">
                <a:latin typeface="Arial" panose="020B0604020202020204" pitchFamily="34" charset="0"/>
              </a:rPr>
              <a:t>任务）自身状态的管理，因为这些管理工作是由</a:t>
            </a:r>
            <a:r>
              <a:rPr lang="en-US" altLang="zh-CN" sz="2400" dirty="0">
                <a:latin typeface="Arial" panose="020B0604020202020204" pitchFamily="34" charset="0"/>
              </a:rPr>
              <a:t>ApplicationMaster</a:t>
            </a:r>
            <a:r>
              <a:rPr lang="zh-CN" altLang="zh-CN" sz="2400" dirty="0">
                <a:latin typeface="Arial" panose="020B0604020202020204" pitchFamily="34" charset="0"/>
              </a:rPr>
              <a:t>完成的，</a:t>
            </a:r>
            <a:r>
              <a:rPr lang="en-US" altLang="zh-CN" sz="2400" dirty="0">
                <a:latin typeface="Arial" panose="020B0604020202020204" pitchFamily="34" charset="0"/>
              </a:rPr>
              <a:t>ApplicationMaster</a:t>
            </a:r>
            <a:r>
              <a:rPr lang="zh-CN" altLang="zh-CN" sz="2400" dirty="0">
                <a:latin typeface="Arial" panose="020B0604020202020204" pitchFamily="34" charset="0"/>
              </a:rPr>
              <a:t>会通过不断与</a:t>
            </a:r>
            <a:r>
              <a:rPr lang="en-US" altLang="zh-CN" sz="2400" dirty="0">
                <a:latin typeface="Arial" panose="020B0604020202020204" pitchFamily="34" charset="0"/>
              </a:rPr>
              <a:t>NodeManager</a:t>
            </a:r>
            <a:r>
              <a:rPr lang="zh-CN" altLang="zh-CN" sz="2400" dirty="0">
                <a:latin typeface="Arial" panose="020B0604020202020204" pitchFamily="34" charset="0"/>
              </a:rPr>
              <a:t>通信来掌握各个任务的执行状态</a:t>
            </a:r>
            <a:endParaRPr lang="zh-CN" altLang="zh-CN" sz="2400" dirty="0">
              <a:latin typeface="Arial" panose="020B060402020202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vert="horz" wrap="square" lIns="91440" tIns="45720" rIns="91440" bIns="45720" anchor="ctr" anchorCtr="0"/>
          <a:lstStyle/>
          <a:p>
            <a:r>
              <a:rPr lang="en-US" altLang="zh-CN" dirty="0"/>
              <a:t>8.</a:t>
            </a:r>
            <a:r>
              <a:rPr lang="zh-CN" altLang="zh-CN" b="1" dirty="0"/>
              <a:t>3.3 YARN</a:t>
            </a:r>
            <a:r>
              <a:rPr lang="zh-CN" altLang="en-US" b="1" dirty="0"/>
              <a:t>体系结构</a:t>
            </a:r>
            <a:endParaRPr lang="zh-CN" altLang="en-US" dirty="0"/>
          </a:p>
        </p:txBody>
      </p:sp>
      <p:sp>
        <p:nvSpPr>
          <p:cNvPr id="25603" name="矩形 3"/>
          <p:cNvSpPr/>
          <p:nvPr/>
        </p:nvSpPr>
        <p:spPr>
          <a:xfrm>
            <a:off x="3602355" y="6304280"/>
            <a:ext cx="6260465" cy="460375"/>
          </a:xfrm>
          <a:prstGeom prst="rect">
            <a:avLst/>
          </a:prstGeom>
          <a:noFill/>
          <a:ln w="9525">
            <a:noFill/>
          </a:ln>
        </p:spPr>
        <p:txBody>
          <a:bodyPr wrap="square">
            <a:spAutoFit/>
          </a:bodyPr>
          <a:lstStyle/>
          <a:p>
            <a:r>
              <a:rPr lang="zh-CN" altLang="zh-CN" sz="2400" dirty="0">
                <a:latin typeface="Arial" panose="020B0604020202020204" pitchFamily="34" charset="0"/>
              </a:rPr>
              <a:t>图</a:t>
            </a:r>
            <a:r>
              <a:rPr lang="en-US" altLang="zh-CN" sz="2400" dirty="0">
                <a:latin typeface="Arial" panose="020B0604020202020204" pitchFamily="34" charset="0"/>
              </a:rPr>
              <a:t> YARN</a:t>
            </a:r>
            <a:r>
              <a:rPr lang="zh-CN" altLang="zh-CN" sz="2400" dirty="0">
                <a:latin typeface="Arial" panose="020B0604020202020204" pitchFamily="34" charset="0"/>
              </a:rPr>
              <a:t>和</a:t>
            </a:r>
            <a:r>
              <a:rPr lang="en-US" altLang="zh-CN" sz="2400" dirty="0">
                <a:latin typeface="Arial" panose="020B0604020202020204" pitchFamily="34" charset="0"/>
              </a:rPr>
              <a:t>Hadoop</a:t>
            </a:r>
            <a:r>
              <a:rPr lang="zh-CN" altLang="zh-CN" sz="2400" dirty="0">
                <a:latin typeface="Arial" panose="020B0604020202020204" pitchFamily="34" charset="0"/>
              </a:rPr>
              <a:t>平台其他组件的统一部署</a:t>
            </a:r>
            <a:endParaRPr lang="zh-CN" altLang="zh-CN" sz="2400" dirty="0">
              <a:latin typeface="Arial" panose="020B0604020202020204" pitchFamily="34" charset="0"/>
            </a:endParaRPr>
          </a:p>
        </p:txBody>
      </p:sp>
      <p:sp>
        <p:nvSpPr>
          <p:cNvPr id="25604" name="矩形 4"/>
          <p:cNvSpPr/>
          <p:nvPr/>
        </p:nvSpPr>
        <p:spPr>
          <a:xfrm>
            <a:off x="1271905" y="1429385"/>
            <a:ext cx="9647555" cy="829945"/>
          </a:xfrm>
          <a:prstGeom prst="rect">
            <a:avLst/>
          </a:prstGeom>
          <a:noFill/>
          <a:ln w="9525">
            <a:noFill/>
          </a:ln>
        </p:spPr>
        <p:txBody>
          <a:bodyPr wrap="square">
            <a:spAutoFit/>
          </a:bodyPr>
          <a:lstStyle/>
          <a:p>
            <a:r>
              <a:rPr lang="zh-CN" altLang="zh-CN" sz="2400" dirty="0">
                <a:latin typeface="Arial" panose="020B0604020202020204" pitchFamily="34" charset="0"/>
              </a:rPr>
              <a:t>在集群部署方面，</a:t>
            </a:r>
            <a:r>
              <a:rPr lang="en-US" altLang="zh-CN" sz="2400" dirty="0">
                <a:latin typeface="Arial" panose="020B0604020202020204" pitchFamily="34" charset="0"/>
              </a:rPr>
              <a:t>YARN</a:t>
            </a:r>
            <a:r>
              <a:rPr lang="zh-CN" altLang="zh-CN" sz="2400" dirty="0">
                <a:latin typeface="Arial" panose="020B0604020202020204" pitchFamily="34" charset="0"/>
              </a:rPr>
              <a:t>的各个组件是和</a:t>
            </a:r>
            <a:r>
              <a:rPr lang="en-US" altLang="zh-CN" sz="2400" dirty="0">
                <a:latin typeface="Arial" panose="020B0604020202020204" pitchFamily="34" charset="0"/>
              </a:rPr>
              <a:t>Hadoop</a:t>
            </a:r>
            <a:r>
              <a:rPr lang="zh-CN" altLang="zh-CN" sz="2400" dirty="0">
                <a:latin typeface="Arial" panose="020B0604020202020204" pitchFamily="34" charset="0"/>
              </a:rPr>
              <a:t>集群中的其他组件进行统一部署的</a:t>
            </a:r>
            <a:endParaRPr lang="zh-CN" altLang="zh-CN" sz="2400" dirty="0">
              <a:latin typeface="Arial" panose="020B0604020202020204" pitchFamily="34" charset="0"/>
            </a:endParaRPr>
          </a:p>
        </p:txBody>
      </p:sp>
      <p:pic>
        <p:nvPicPr>
          <p:cNvPr id="25605" name="Picture 6"/>
          <p:cNvPicPr>
            <a:picLocks noChangeAspect="1"/>
          </p:cNvPicPr>
          <p:nvPr/>
        </p:nvPicPr>
        <p:blipFill>
          <a:blip r:embed="rId1"/>
          <a:stretch>
            <a:fillRect/>
          </a:stretch>
        </p:blipFill>
        <p:spPr>
          <a:xfrm>
            <a:off x="1786890" y="1936750"/>
            <a:ext cx="8847455" cy="4367530"/>
          </a:xfrm>
          <a:prstGeom prst="rect">
            <a:avLst/>
          </a:prstGeom>
          <a:noFill/>
          <a:ln w="9525">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vert="horz" wrap="square" lIns="91440" tIns="45720" rIns="91440" bIns="45720" anchor="ctr" anchorCtr="0"/>
          <a:lstStyle/>
          <a:p>
            <a:r>
              <a:rPr lang="en-US" altLang="zh-CN" dirty="0"/>
              <a:t>8.</a:t>
            </a:r>
            <a:r>
              <a:rPr lang="zh-CN" altLang="zh-CN" b="1" dirty="0"/>
              <a:t>3.4 YARN</a:t>
            </a:r>
            <a:r>
              <a:rPr lang="zh-CN" altLang="en-US" b="1" dirty="0"/>
              <a:t>工作流程</a:t>
            </a:r>
            <a:endParaRPr lang="zh-CN" altLang="en-US" dirty="0"/>
          </a:p>
        </p:txBody>
      </p:sp>
      <p:pic>
        <p:nvPicPr>
          <p:cNvPr id="26627" name="图片 9"/>
          <p:cNvPicPr>
            <a:picLocks noChangeAspect="1"/>
          </p:cNvPicPr>
          <p:nvPr/>
        </p:nvPicPr>
        <p:blipFill>
          <a:blip r:embed="rId1"/>
          <a:stretch>
            <a:fillRect/>
          </a:stretch>
        </p:blipFill>
        <p:spPr>
          <a:xfrm>
            <a:off x="1144905" y="2752090"/>
            <a:ext cx="5083810" cy="3668395"/>
          </a:xfrm>
          <a:prstGeom prst="rect">
            <a:avLst/>
          </a:prstGeom>
          <a:noFill/>
          <a:ln w="9525">
            <a:noFill/>
          </a:ln>
        </p:spPr>
      </p:pic>
      <p:sp>
        <p:nvSpPr>
          <p:cNvPr id="26628" name="矩形 3"/>
          <p:cNvSpPr/>
          <p:nvPr/>
        </p:nvSpPr>
        <p:spPr>
          <a:xfrm>
            <a:off x="2433955" y="6369368"/>
            <a:ext cx="2914650" cy="460375"/>
          </a:xfrm>
          <a:prstGeom prst="rect">
            <a:avLst/>
          </a:prstGeom>
          <a:noFill/>
          <a:ln w="9525">
            <a:noFill/>
          </a:ln>
        </p:spPr>
        <p:txBody>
          <a:bodyPr wrap="none">
            <a:spAutoFit/>
          </a:bodyPr>
          <a:lstStyle/>
          <a:p>
            <a:r>
              <a:rPr lang="zh-CN" altLang="zh-CN" sz="2400" dirty="0">
                <a:latin typeface="Arial" panose="020B0604020202020204" pitchFamily="34" charset="0"/>
              </a:rPr>
              <a:t>图</a:t>
            </a:r>
            <a:r>
              <a:rPr lang="en-US" altLang="zh-CN" sz="2400" dirty="0">
                <a:latin typeface="Arial" panose="020B0604020202020204" pitchFamily="34" charset="0"/>
              </a:rPr>
              <a:t> YARN</a:t>
            </a:r>
            <a:r>
              <a:rPr lang="zh-CN" altLang="zh-CN" sz="2400" dirty="0">
                <a:latin typeface="Arial" panose="020B0604020202020204" pitchFamily="34" charset="0"/>
              </a:rPr>
              <a:t>的工作流程</a:t>
            </a:r>
            <a:endParaRPr lang="zh-CN" altLang="zh-CN" sz="2400" dirty="0">
              <a:latin typeface="Arial" panose="020B0604020202020204" pitchFamily="34" charset="0"/>
            </a:endParaRPr>
          </a:p>
        </p:txBody>
      </p:sp>
      <p:sp>
        <p:nvSpPr>
          <p:cNvPr id="26629" name="矩形 4"/>
          <p:cNvSpPr/>
          <p:nvPr/>
        </p:nvSpPr>
        <p:spPr>
          <a:xfrm>
            <a:off x="6618605" y="2695575"/>
            <a:ext cx="5319395" cy="3784600"/>
          </a:xfrm>
          <a:prstGeom prst="rect">
            <a:avLst/>
          </a:prstGeom>
          <a:noFill/>
          <a:ln w="9525">
            <a:noFill/>
          </a:ln>
        </p:spPr>
        <p:txBody>
          <a:bodyPr wrap="square">
            <a:spAutoFit/>
          </a:bodyPr>
          <a:lstStyle/>
          <a:p>
            <a:r>
              <a:rPr lang="zh-CN" altLang="zh-CN" sz="2000" dirty="0">
                <a:latin typeface="Arial" panose="020B0604020202020204" pitchFamily="34" charset="0"/>
              </a:rPr>
              <a:t>步骤</a:t>
            </a:r>
            <a:r>
              <a:rPr lang="en-US" altLang="zh-CN" sz="2000" dirty="0">
                <a:latin typeface="Arial" panose="020B0604020202020204" pitchFamily="34" charset="0"/>
              </a:rPr>
              <a:t>3</a:t>
            </a:r>
            <a:r>
              <a:rPr lang="zh-CN" altLang="zh-CN" sz="2000" dirty="0">
                <a:latin typeface="Arial" panose="020B0604020202020204" pitchFamily="34" charset="0"/>
              </a:rPr>
              <a:t>：</a:t>
            </a:r>
            <a:r>
              <a:rPr lang="en-US" altLang="zh-CN" sz="2000" dirty="0">
                <a:latin typeface="Arial" panose="020B0604020202020204" pitchFamily="34" charset="0"/>
              </a:rPr>
              <a:t>ApplicationMaster</a:t>
            </a:r>
            <a:r>
              <a:rPr lang="zh-CN" altLang="zh-CN" sz="2000" dirty="0">
                <a:latin typeface="Arial" panose="020B0604020202020204" pitchFamily="34" charset="0"/>
              </a:rPr>
              <a:t>被创建后会首先向</a:t>
            </a:r>
            <a:r>
              <a:rPr lang="en-US" altLang="zh-CN" sz="2000" dirty="0">
                <a:latin typeface="Arial" panose="020B0604020202020204" pitchFamily="34" charset="0"/>
              </a:rPr>
              <a:t>ResourceManager</a:t>
            </a:r>
            <a:r>
              <a:rPr lang="zh-CN" altLang="zh-CN" sz="2000" dirty="0">
                <a:latin typeface="Arial" panose="020B0604020202020204" pitchFamily="34" charset="0"/>
              </a:rPr>
              <a:t>注册</a:t>
            </a:r>
            <a:endParaRPr lang="en-US" altLang="zh-CN" sz="2000" dirty="0">
              <a:latin typeface="Arial" panose="020B0604020202020204" pitchFamily="34" charset="0"/>
            </a:endParaRPr>
          </a:p>
          <a:p>
            <a:r>
              <a:rPr lang="zh-CN" altLang="zh-CN" sz="2000" dirty="0">
                <a:latin typeface="Arial" panose="020B0604020202020204" pitchFamily="34" charset="0"/>
              </a:rPr>
              <a:t>步骤</a:t>
            </a:r>
            <a:r>
              <a:rPr lang="en-US" altLang="zh-CN" sz="2000" dirty="0">
                <a:latin typeface="Arial" panose="020B0604020202020204" pitchFamily="34" charset="0"/>
              </a:rPr>
              <a:t>4</a:t>
            </a:r>
            <a:r>
              <a:rPr lang="zh-CN" altLang="zh-CN" sz="2000" dirty="0">
                <a:latin typeface="Arial" panose="020B0604020202020204" pitchFamily="34" charset="0"/>
              </a:rPr>
              <a:t>：</a:t>
            </a:r>
            <a:r>
              <a:rPr lang="en-US" altLang="zh-CN" sz="2000" dirty="0">
                <a:latin typeface="Arial" panose="020B0604020202020204" pitchFamily="34" charset="0"/>
              </a:rPr>
              <a:t>ApplicationMaster</a:t>
            </a:r>
            <a:r>
              <a:rPr lang="zh-CN" altLang="zh-CN" sz="2000" dirty="0">
                <a:latin typeface="Arial" panose="020B0604020202020204" pitchFamily="34" charset="0"/>
              </a:rPr>
              <a:t>采用轮询的方式向</a:t>
            </a:r>
            <a:r>
              <a:rPr lang="en-US" altLang="zh-CN" sz="2000" dirty="0">
                <a:latin typeface="Arial" panose="020B0604020202020204" pitchFamily="34" charset="0"/>
              </a:rPr>
              <a:t>ResourceManager</a:t>
            </a:r>
            <a:r>
              <a:rPr lang="zh-CN" altLang="zh-CN" sz="2000" dirty="0">
                <a:latin typeface="Arial" panose="020B0604020202020204" pitchFamily="34" charset="0"/>
              </a:rPr>
              <a:t>申请资源</a:t>
            </a:r>
            <a:endParaRPr lang="en-US" altLang="zh-CN" sz="2000" dirty="0">
              <a:latin typeface="Arial" panose="020B0604020202020204" pitchFamily="34" charset="0"/>
            </a:endParaRPr>
          </a:p>
          <a:p>
            <a:r>
              <a:rPr lang="zh-CN" altLang="zh-CN" sz="2000" dirty="0">
                <a:latin typeface="Arial" panose="020B0604020202020204" pitchFamily="34" charset="0"/>
              </a:rPr>
              <a:t>步骤</a:t>
            </a:r>
            <a:r>
              <a:rPr lang="en-US" altLang="zh-CN" sz="2000" dirty="0">
                <a:latin typeface="Arial" panose="020B0604020202020204" pitchFamily="34" charset="0"/>
              </a:rPr>
              <a:t>5</a:t>
            </a:r>
            <a:r>
              <a:rPr lang="zh-CN" altLang="zh-CN" sz="2000" dirty="0">
                <a:latin typeface="Arial" panose="020B0604020202020204" pitchFamily="34" charset="0"/>
              </a:rPr>
              <a:t>：</a:t>
            </a:r>
            <a:r>
              <a:rPr lang="en-US" altLang="zh-CN" sz="2000" dirty="0">
                <a:latin typeface="Arial" panose="020B0604020202020204" pitchFamily="34" charset="0"/>
              </a:rPr>
              <a:t>ResourceManager</a:t>
            </a:r>
            <a:r>
              <a:rPr lang="zh-CN" altLang="zh-CN" sz="2000" dirty="0">
                <a:latin typeface="Arial" panose="020B0604020202020204" pitchFamily="34" charset="0"/>
              </a:rPr>
              <a:t>以“容器”的形式向提出申请的</a:t>
            </a:r>
            <a:r>
              <a:rPr lang="en-US" altLang="zh-CN" sz="2000" dirty="0">
                <a:latin typeface="Arial" panose="020B0604020202020204" pitchFamily="34" charset="0"/>
              </a:rPr>
              <a:t>ApplicationMaster</a:t>
            </a:r>
            <a:r>
              <a:rPr lang="zh-CN" altLang="zh-CN" sz="2000" dirty="0">
                <a:latin typeface="Arial" panose="020B0604020202020204" pitchFamily="34" charset="0"/>
              </a:rPr>
              <a:t>分配资源</a:t>
            </a:r>
            <a:endParaRPr lang="en-US" altLang="zh-CN" sz="2000" dirty="0">
              <a:latin typeface="Arial" panose="020B0604020202020204" pitchFamily="34" charset="0"/>
            </a:endParaRPr>
          </a:p>
          <a:p>
            <a:r>
              <a:rPr lang="zh-CN" altLang="zh-CN" sz="2000" dirty="0">
                <a:latin typeface="Arial" panose="020B0604020202020204" pitchFamily="34" charset="0"/>
              </a:rPr>
              <a:t>步骤</a:t>
            </a:r>
            <a:r>
              <a:rPr lang="en-US" altLang="zh-CN" sz="2000" dirty="0">
                <a:latin typeface="Arial" panose="020B0604020202020204" pitchFamily="34" charset="0"/>
              </a:rPr>
              <a:t>6</a:t>
            </a:r>
            <a:r>
              <a:rPr lang="zh-CN" altLang="zh-CN" sz="2000" dirty="0">
                <a:latin typeface="Arial" panose="020B0604020202020204" pitchFamily="34" charset="0"/>
              </a:rPr>
              <a:t>：</a:t>
            </a:r>
            <a:r>
              <a:rPr lang="zh-CN" altLang="en-US" sz="2000" dirty="0">
                <a:latin typeface="Arial" panose="020B0604020202020204" pitchFamily="34" charset="0"/>
              </a:rPr>
              <a:t>在容器中启动任务（运行环境、脚本）</a:t>
            </a:r>
            <a:endParaRPr lang="en-US" altLang="zh-CN" sz="2000" dirty="0">
              <a:latin typeface="Arial" panose="020B0604020202020204" pitchFamily="34" charset="0"/>
            </a:endParaRPr>
          </a:p>
          <a:p>
            <a:r>
              <a:rPr lang="zh-CN" altLang="zh-CN" sz="2000" dirty="0">
                <a:latin typeface="Arial" panose="020B0604020202020204" pitchFamily="34" charset="0"/>
              </a:rPr>
              <a:t>步骤</a:t>
            </a:r>
            <a:r>
              <a:rPr lang="en-US" altLang="zh-CN" sz="2000" dirty="0">
                <a:latin typeface="Arial" panose="020B0604020202020204" pitchFamily="34" charset="0"/>
              </a:rPr>
              <a:t>7</a:t>
            </a:r>
            <a:r>
              <a:rPr lang="zh-CN" altLang="zh-CN" sz="2000" dirty="0">
                <a:latin typeface="Arial" panose="020B0604020202020204" pitchFamily="34" charset="0"/>
              </a:rPr>
              <a:t>：各个任务向</a:t>
            </a:r>
            <a:r>
              <a:rPr lang="en-US" altLang="zh-CN" sz="2000" dirty="0">
                <a:latin typeface="Arial" panose="020B0604020202020204" pitchFamily="34" charset="0"/>
              </a:rPr>
              <a:t>ApplicationMaster</a:t>
            </a:r>
            <a:r>
              <a:rPr lang="zh-CN" altLang="zh-CN" sz="2000" dirty="0">
                <a:latin typeface="Arial" panose="020B0604020202020204" pitchFamily="34" charset="0"/>
              </a:rPr>
              <a:t>汇报自己的状态和进度</a:t>
            </a:r>
            <a:endParaRPr lang="en-US" altLang="zh-CN" sz="2000" dirty="0">
              <a:latin typeface="Arial" panose="020B0604020202020204" pitchFamily="34" charset="0"/>
            </a:endParaRPr>
          </a:p>
          <a:p>
            <a:r>
              <a:rPr lang="zh-CN" altLang="zh-CN" sz="2000" dirty="0">
                <a:latin typeface="Arial" panose="020B0604020202020204" pitchFamily="34" charset="0"/>
              </a:rPr>
              <a:t>步骤</a:t>
            </a:r>
            <a:r>
              <a:rPr lang="en-US" altLang="zh-CN" sz="2000" dirty="0">
                <a:latin typeface="Arial" panose="020B0604020202020204" pitchFamily="34" charset="0"/>
              </a:rPr>
              <a:t>8</a:t>
            </a:r>
            <a:r>
              <a:rPr lang="zh-CN" altLang="zh-CN" sz="2000" dirty="0">
                <a:latin typeface="Arial" panose="020B0604020202020204" pitchFamily="34" charset="0"/>
              </a:rPr>
              <a:t>：应用程序运行完成后，</a:t>
            </a:r>
            <a:r>
              <a:rPr lang="en-US" altLang="zh-CN" sz="2000" dirty="0">
                <a:latin typeface="Arial" panose="020B0604020202020204" pitchFamily="34" charset="0"/>
              </a:rPr>
              <a:t>ApplicationMaster</a:t>
            </a:r>
            <a:r>
              <a:rPr lang="zh-CN" altLang="zh-CN" sz="2000" dirty="0">
                <a:latin typeface="Arial" panose="020B0604020202020204" pitchFamily="34" charset="0"/>
              </a:rPr>
              <a:t>向</a:t>
            </a:r>
            <a:r>
              <a:rPr lang="en-US" altLang="zh-CN" sz="2000" dirty="0">
                <a:latin typeface="Arial" panose="020B0604020202020204" pitchFamily="34" charset="0"/>
              </a:rPr>
              <a:t>ResourceManager</a:t>
            </a:r>
            <a:r>
              <a:rPr lang="zh-CN" altLang="zh-CN" sz="2000" dirty="0">
                <a:latin typeface="Arial" panose="020B0604020202020204" pitchFamily="34" charset="0"/>
              </a:rPr>
              <a:t>的应用程序管理器注销并关闭自己</a:t>
            </a:r>
            <a:endParaRPr lang="zh-CN" altLang="zh-CN" sz="2000" dirty="0">
              <a:latin typeface="Arial" panose="020B0604020202020204" pitchFamily="34" charset="0"/>
            </a:endParaRPr>
          </a:p>
        </p:txBody>
      </p:sp>
      <p:sp>
        <p:nvSpPr>
          <p:cNvPr id="26630" name="矩形 5"/>
          <p:cNvSpPr/>
          <p:nvPr/>
        </p:nvSpPr>
        <p:spPr>
          <a:xfrm>
            <a:off x="920750" y="1379220"/>
            <a:ext cx="10432415" cy="706755"/>
          </a:xfrm>
          <a:prstGeom prst="rect">
            <a:avLst/>
          </a:prstGeom>
          <a:noFill/>
          <a:ln w="9525">
            <a:noFill/>
          </a:ln>
        </p:spPr>
        <p:txBody>
          <a:bodyPr wrap="square">
            <a:spAutoFit/>
          </a:bodyPr>
          <a:lstStyle/>
          <a:p>
            <a:r>
              <a:rPr lang="zh-CN" altLang="zh-CN" sz="2000" dirty="0">
                <a:latin typeface="Arial" panose="020B0604020202020204" pitchFamily="34" charset="0"/>
              </a:rPr>
              <a:t>步骤</a:t>
            </a:r>
            <a:r>
              <a:rPr lang="en-US" altLang="zh-CN" sz="2000" dirty="0">
                <a:latin typeface="Arial" panose="020B0604020202020204" pitchFamily="34" charset="0"/>
              </a:rPr>
              <a:t>1</a:t>
            </a:r>
            <a:r>
              <a:rPr lang="zh-CN" altLang="zh-CN" sz="2000" dirty="0">
                <a:latin typeface="Arial" panose="020B0604020202020204" pitchFamily="34" charset="0"/>
              </a:rPr>
              <a:t>：用户编写客户端应用程序，向</a:t>
            </a:r>
            <a:r>
              <a:rPr lang="en-US" altLang="zh-CN" sz="2000" dirty="0">
                <a:latin typeface="Arial" panose="020B0604020202020204" pitchFamily="34" charset="0"/>
              </a:rPr>
              <a:t>YARN</a:t>
            </a:r>
            <a:r>
              <a:rPr lang="zh-CN" altLang="zh-CN" sz="2000" dirty="0">
                <a:latin typeface="Arial" panose="020B0604020202020204" pitchFamily="34" charset="0"/>
              </a:rPr>
              <a:t>提交应用程序</a:t>
            </a:r>
            <a:r>
              <a:rPr lang="zh-CN" altLang="en-US" sz="2000" dirty="0">
                <a:latin typeface="Arial" panose="020B0604020202020204" pitchFamily="34" charset="0"/>
              </a:rPr>
              <a:t>，</a:t>
            </a:r>
            <a:r>
              <a:rPr lang="zh-CN" altLang="zh-CN" sz="2000" dirty="0">
                <a:latin typeface="Arial" panose="020B0604020202020204" pitchFamily="34" charset="0"/>
              </a:rPr>
              <a:t>提交的内容包括</a:t>
            </a:r>
            <a:r>
              <a:rPr lang="en-US" altLang="zh-CN" sz="2000" dirty="0">
                <a:latin typeface="Arial" panose="020B0604020202020204" pitchFamily="34" charset="0"/>
              </a:rPr>
              <a:t>ApplicationMaster</a:t>
            </a:r>
            <a:r>
              <a:rPr lang="zh-CN" altLang="zh-CN" sz="2000" dirty="0">
                <a:latin typeface="Arial" panose="020B0604020202020204" pitchFamily="34" charset="0"/>
              </a:rPr>
              <a:t>程序、启动</a:t>
            </a:r>
            <a:r>
              <a:rPr lang="en-US" altLang="zh-CN" sz="2000" dirty="0">
                <a:latin typeface="Arial" panose="020B0604020202020204" pitchFamily="34" charset="0"/>
              </a:rPr>
              <a:t>ApplicationMaster</a:t>
            </a:r>
            <a:r>
              <a:rPr lang="zh-CN" altLang="zh-CN" sz="2000" dirty="0">
                <a:latin typeface="Arial" panose="020B0604020202020204" pitchFamily="34" charset="0"/>
              </a:rPr>
              <a:t>的命令、用户程序等</a:t>
            </a:r>
            <a:endParaRPr lang="zh-CN" altLang="zh-CN" sz="2000" dirty="0">
              <a:latin typeface="Arial" panose="020B0604020202020204" pitchFamily="34" charset="0"/>
            </a:endParaRPr>
          </a:p>
        </p:txBody>
      </p:sp>
      <p:sp>
        <p:nvSpPr>
          <p:cNvPr id="26631" name="矩形 6"/>
          <p:cNvSpPr/>
          <p:nvPr/>
        </p:nvSpPr>
        <p:spPr>
          <a:xfrm>
            <a:off x="920750" y="1988820"/>
            <a:ext cx="10335895" cy="706755"/>
          </a:xfrm>
          <a:prstGeom prst="rect">
            <a:avLst/>
          </a:prstGeom>
          <a:noFill/>
          <a:ln w="9525">
            <a:noFill/>
          </a:ln>
        </p:spPr>
        <p:txBody>
          <a:bodyPr wrap="square">
            <a:spAutoFit/>
          </a:bodyPr>
          <a:lstStyle/>
          <a:p>
            <a:r>
              <a:rPr lang="zh-CN" altLang="zh-CN" sz="2000" dirty="0">
                <a:latin typeface="Arial" panose="020B0604020202020204" pitchFamily="34" charset="0"/>
              </a:rPr>
              <a:t>步骤</a:t>
            </a:r>
            <a:r>
              <a:rPr lang="en-US" altLang="zh-CN" sz="2000" dirty="0">
                <a:latin typeface="Arial" panose="020B0604020202020204" pitchFamily="34" charset="0"/>
              </a:rPr>
              <a:t>2</a:t>
            </a:r>
            <a:r>
              <a:rPr lang="zh-CN" altLang="zh-CN" sz="2000" dirty="0">
                <a:latin typeface="Arial" panose="020B0604020202020204" pitchFamily="34" charset="0"/>
              </a:rPr>
              <a:t>：</a:t>
            </a:r>
            <a:r>
              <a:rPr lang="en-US" altLang="zh-CN" sz="2000" dirty="0">
                <a:latin typeface="Arial" panose="020B0604020202020204" pitchFamily="34" charset="0"/>
              </a:rPr>
              <a:t>YARN</a:t>
            </a:r>
            <a:r>
              <a:rPr lang="zh-CN" altLang="zh-CN" sz="2000" dirty="0">
                <a:latin typeface="Arial" panose="020B0604020202020204" pitchFamily="34" charset="0"/>
              </a:rPr>
              <a:t>中的</a:t>
            </a:r>
            <a:r>
              <a:rPr lang="en-US" altLang="zh-CN" sz="2000" dirty="0">
                <a:latin typeface="Arial" panose="020B0604020202020204" pitchFamily="34" charset="0"/>
              </a:rPr>
              <a:t>ResourceManager</a:t>
            </a:r>
            <a:r>
              <a:rPr lang="zh-CN" altLang="zh-CN" sz="2000" dirty="0">
                <a:latin typeface="Arial" panose="020B0604020202020204" pitchFamily="34" charset="0"/>
              </a:rPr>
              <a:t>负责接收和处理来自客户端的请求</a:t>
            </a:r>
            <a:r>
              <a:rPr lang="zh-CN" altLang="en-US" sz="2000" dirty="0">
                <a:latin typeface="Arial" panose="020B0604020202020204" pitchFamily="34" charset="0"/>
              </a:rPr>
              <a:t>，</a:t>
            </a:r>
            <a:r>
              <a:rPr lang="zh-CN" altLang="zh-CN" sz="2000" dirty="0">
                <a:latin typeface="Arial" panose="020B0604020202020204" pitchFamily="34" charset="0"/>
              </a:rPr>
              <a:t>为应用程序分配一个容器</a:t>
            </a:r>
            <a:r>
              <a:rPr lang="zh-CN" altLang="en-US" sz="2000" dirty="0">
                <a:latin typeface="Arial" panose="020B0604020202020204" pitchFamily="34" charset="0"/>
              </a:rPr>
              <a:t>，</a:t>
            </a:r>
            <a:r>
              <a:rPr lang="zh-CN" altLang="zh-CN" sz="2000" dirty="0">
                <a:latin typeface="Arial" panose="020B0604020202020204" pitchFamily="34" charset="0"/>
              </a:rPr>
              <a:t>在该容器中启动一个</a:t>
            </a:r>
            <a:r>
              <a:rPr lang="en-US" altLang="zh-CN" sz="2000" dirty="0">
                <a:latin typeface="Arial" panose="020B0604020202020204" pitchFamily="34" charset="0"/>
              </a:rPr>
              <a:t>ApplicationMaster</a:t>
            </a:r>
            <a:endParaRPr lang="en-US" altLang="zh-CN" sz="2000" dirty="0">
              <a:latin typeface="Arial" panose="020B0604020202020204"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p:txBody>
          <a:bodyPr vert="horz" wrap="square" lIns="91440" tIns="45720" rIns="91440" bIns="45720" anchor="ctr" anchorCtr="0"/>
          <a:lstStyle/>
          <a:p>
            <a:r>
              <a:rPr lang="en-US" altLang="zh-CN" sz="3800" dirty="0"/>
              <a:t>8.</a:t>
            </a:r>
            <a:r>
              <a:rPr lang="zh-CN" altLang="zh-CN" sz="3800" dirty="0"/>
              <a:t>3.5YARN</a:t>
            </a:r>
            <a:r>
              <a:rPr lang="zh-CN" altLang="en-US" sz="3800" dirty="0"/>
              <a:t>框架与</a:t>
            </a:r>
            <a:r>
              <a:rPr lang="zh-CN" altLang="zh-CN" sz="3800" dirty="0"/>
              <a:t>MapReduce1.0</a:t>
            </a:r>
            <a:r>
              <a:rPr lang="zh-CN" altLang="en-US" sz="3800" dirty="0"/>
              <a:t>框架的对比分析</a:t>
            </a:r>
            <a:endParaRPr lang="zh-CN" altLang="en-US" sz="3800" dirty="0"/>
          </a:p>
        </p:txBody>
      </p:sp>
      <p:sp>
        <p:nvSpPr>
          <p:cNvPr id="27651" name="矩形 2"/>
          <p:cNvSpPr/>
          <p:nvPr/>
        </p:nvSpPr>
        <p:spPr>
          <a:xfrm>
            <a:off x="973455" y="2912110"/>
            <a:ext cx="10222230" cy="3784600"/>
          </a:xfrm>
          <a:prstGeom prst="rect">
            <a:avLst/>
          </a:prstGeom>
          <a:noFill/>
          <a:ln w="9525">
            <a:noFill/>
          </a:ln>
        </p:spPr>
        <p:txBody>
          <a:bodyPr wrap="square">
            <a:spAutoFit/>
          </a:bodyPr>
          <a:lstStyle/>
          <a:p>
            <a:r>
              <a:rPr lang="zh-CN" altLang="zh-CN" sz="2400" dirty="0">
                <a:latin typeface="Arial" panose="020B0604020202020204" pitchFamily="34" charset="0"/>
              </a:rPr>
              <a:t>总体而言，</a:t>
            </a:r>
            <a:r>
              <a:rPr lang="en-US" altLang="zh-CN" sz="2400" dirty="0">
                <a:latin typeface="Arial" panose="020B0604020202020204" pitchFamily="34" charset="0"/>
              </a:rPr>
              <a:t>YARN</a:t>
            </a:r>
            <a:r>
              <a:rPr lang="zh-CN" altLang="zh-CN" sz="2400" dirty="0">
                <a:latin typeface="Arial" panose="020B0604020202020204" pitchFamily="34" charset="0"/>
              </a:rPr>
              <a:t>相对于</a:t>
            </a:r>
            <a:r>
              <a:rPr lang="en-US" altLang="zh-CN" sz="2400" dirty="0">
                <a:latin typeface="Arial" panose="020B0604020202020204" pitchFamily="34" charset="0"/>
              </a:rPr>
              <a:t>MapReduce1.0</a:t>
            </a:r>
            <a:r>
              <a:rPr lang="zh-CN" altLang="zh-CN" sz="2400" dirty="0">
                <a:latin typeface="Arial" panose="020B0604020202020204" pitchFamily="34" charset="0"/>
              </a:rPr>
              <a:t>来说具有以下优势：</a:t>
            </a:r>
            <a:endParaRPr lang="en-US" altLang="zh-CN" sz="2400" dirty="0">
              <a:latin typeface="Arial" panose="020B0604020202020204" pitchFamily="34" charset="0"/>
            </a:endParaRPr>
          </a:p>
          <a:p>
            <a:pPr>
              <a:buFont typeface="Arial" panose="020B0604020202020204" pitchFamily="34" charset="0"/>
              <a:buChar char="•"/>
            </a:pPr>
            <a:r>
              <a:rPr lang="zh-CN" altLang="zh-CN" sz="2400" dirty="0">
                <a:latin typeface="Arial" panose="020B0604020202020204" pitchFamily="34" charset="0"/>
              </a:rPr>
              <a:t>大大</a:t>
            </a:r>
            <a:r>
              <a:rPr lang="zh-CN" altLang="zh-CN" sz="2400" dirty="0">
                <a:highlight>
                  <a:srgbClr val="FFFF00"/>
                </a:highlight>
                <a:latin typeface="Arial" panose="020B0604020202020204" pitchFamily="34" charset="0"/>
              </a:rPr>
              <a:t>减少</a:t>
            </a:r>
            <a:r>
              <a:rPr lang="zh-CN" altLang="zh-CN" sz="2400" dirty="0">
                <a:latin typeface="Arial" panose="020B0604020202020204" pitchFamily="34" charset="0"/>
              </a:rPr>
              <a:t>了承担中心服务功能的</a:t>
            </a:r>
            <a:r>
              <a:rPr lang="en-US" altLang="zh-CN" sz="2400" dirty="0">
                <a:latin typeface="Arial" panose="020B0604020202020204" pitchFamily="34" charset="0"/>
              </a:rPr>
              <a:t>ResourceManager</a:t>
            </a:r>
            <a:r>
              <a:rPr lang="zh-CN" altLang="zh-CN" sz="2400" dirty="0">
                <a:latin typeface="Arial" panose="020B0604020202020204" pitchFamily="34" charset="0"/>
              </a:rPr>
              <a:t>的资源</a:t>
            </a:r>
            <a:r>
              <a:rPr lang="zh-CN" altLang="zh-CN" sz="2400" dirty="0">
                <a:highlight>
                  <a:srgbClr val="FFFF00"/>
                </a:highlight>
                <a:latin typeface="Arial" panose="020B0604020202020204" pitchFamily="34" charset="0"/>
              </a:rPr>
              <a:t>消耗</a:t>
            </a:r>
            <a:endParaRPr lang="en-US" altLang="zh-CN" sz="2400" dirty="0">
              <a:latin typeface="Arial" panose="020B0604020202020204" pitchFamily="34" charset="0"/>
            </a:endParaRPr>
          </a:p>
          <a:p>
            <a:pPr lvl="1" eaLnBrk="1" hangingPunct="1">
              <a:buFont typeface="Arial" panose="020B0604020202020204" pitchFamily="34" charset="0"/>
              <a:buChar char="•"/>
            </a:pPr>
            <a:r>
              <a:rPr lang="en-US" altLang="zh-CN" sz="2400" dirty="0">
                <a:latin typeface="Arial" panose="020B0604020202020204" pitchFamily="34" charset="0"/>
              </a:rPr>
              <a:t>ApplicationMaster</a:t>
            </a:r>
            <a:r>
              <a:rPr lang="zh-CN" altLang="en-US" sz="2400" dirty="0">
                <a:latin typeface="Arial" panose="020B0604020202020204" pitchFamily="34" charset="0"/>
              </a:rPr>
              <a:t>来完成需要大量资源消耗的任务调度和监控</a:t>
            </a:r>
            <a:endParaRPr lang="en-US" altLang="zh-CN" sz="2400" dirty="0">
              <a:latin typeface="Arial" panose="020B0604020202020204" pitchFamily="34" charset="0"/>
            </a:endParaRPr>
          </a:p>
          <a:p>
            <a:pPr lvl="1" eaLnBrk="1" hangingPunct="1">
              <a:buFont typeface="Arial" panose="020B0604020202020204" pitchFamily="34" charset="0"/>
              <a:buChar char="•"/>
            </a:pPr>
            <a:r>
              <a:rPr lang="zh-CN" altLang="en-US" sz="2400" dirty="0">
                <a:latin typeface="Arial" panose="020B0604020202020204" pitchFamily="34" charset="0"/>
              </a:rPr>
              <a:t>多个作业对应多个</a:t>
            </a:r>
            <a:r>
              <a:rPr lang="en-US" altLang="zh-CN" sz="2400" dirty="0">
                <a:latin typeface="Arial" panose="020B0604020202020204" pitchFamily="34" charset="0"/>
              </a:rPr>
              <a:t>ApplicationMaster</a:t>
            </a:r>
            <a:r>
              <a:rPr lang="zh-CN" altLang="en-US" sz="2400" dirty="0">
                <a:latin typeface="Arial" panose="020B0604020202020204" pitchFamily="34" charset="0"/>
              </a:rPr>
              <a:t>，实现了监控分布化</a:t>
            </a:r>
            <a:endParaRPr lang="en-US" altLang="zh-CN" sz="2400" dirty="0">
              <a:latin typeface="Arial" panose="020B0604020202020204" pitchFamily="34" charset="0"/>
            </a:endParaRPr>
          </a:p>
          <a:p>
            <a:pPr>
              <a:buFont typeface="Arial" panose="020B0604020202020204" pitchFamily="34" charset="0"/>
              <a:buChar char="•"/>
            </a:pPr>
            <a:r>
              <a:rPr lang="en-US" altLang="zh-CN" sz="2400" dirty="0">
                <a:latin typeface="Arial" panose="020B0604020202020204" pitchFamily="34" charset="0"/>
              </a:rPr>
              <a:t>MapReduce1.0</a:t>
            </a:r>
            <a:r>
              <a:rPr lang="zh-CN" altLang="zh-CN" sz="2400" dirty="0">
                <a:latin typeface="Arial" panose="020B0604020202020204" pitchFamily="34" charset="0"/>
              </a:rPr>
              <a:t>既是一个计算框架，又是一个资源管理调度框架，但是，只能支持</a:t>
            </a:r>
            <a:r>
              <a:rPr lang="en-US" altLang="zh-CN" sz="2400" dirty="0">
                <a:latin typeface="Arial" panose="020B0604020202020204" pitchFamily="34" charset="0"/>
              </a:rPr>
              <a:t>MapReduce</a:t>
            </a:r>
            <a:r>
              <a:rPr lang="zh-CN" altLang="zh-CN" sz="2400" dirty="0">
                <a:latin typeface="Arial" panose="020B0604020202020204" pitchFamily="34" charset="0"/>
              </a:rPr>
              <a:t>编程模型。而</a:t>
            </a:r>
            <a:r>
              <a:rPr lang="en-US" altLang="zh-CN" sz="2400" dirty="0">
                <a:latin typeface="Arial" panose="020B0604020202020204" pitchFamily="34" charset="0"/>
              </a:rPr>
              <a:t>YARN</a:t>
            </a:r>
            <a:r>
              <a:rPr lang="zh-CN" altLang="zh-CN" sz="2400" dirty="0">
                <a:latin typeface="Arial" panose="020B0604020202020204" pitchFamily="34" charset="0"/>
              </a:rPr>
              <a:t>则是一个</a:t>
            </a:r>
            <a:r>
              <a:rPr lang="zh-CN" altLang="zh-CN" sz="2400" dirty="0">
                <a:highlight>
                  <a:srgbClr val="FFFF00"/>
                </a:highlight>
                <a:latin typeface="Arial" panose="020B0604020202020204" pitchFamily="34" charset="0"/>
              </a:rPr>
              <a:t>纯粹的资源调度管理</a:t>
            </a:r>
            <a:r>
              <a:rPr lang="zh-CN" altLang="zh-CN" sz="2400" dirty="0">
                <a:latin typeface="Arial" panose="020B0604020202020204" pitchFamily="34" charset="0"/>
              </a:rPr>
              <a:t>框架，在它上面可以运行包括</a:t>
            </a:r>
            <a:r>
              <a:rPr lang="en-US" altLang="zh-CN" sz="2400" dirty="0">
                <a:latin typeface="Arial" panose="020B0604020202020204" pitchFamily="34" charset="0"/>
              </a:rPr>
              <a:t>MapReduce</a:t>
            </a:r>
            <a:r>
              <a:rPr lang="zh-CN" altLang="zh-CN" sz="2400" dirty="0">
                <a:latin typeface="Arial" panose="020B0604020202020204" pitchFamily="34" charset="0"/>
              </a:rPr>
              <a:t>在内的不同类型的计算框架</a:t>
            </a:r>
            <a:r>
              <a:rPr lang="zh-CN" altLang="en-US" sz="2400" dirty="0">
                <a:latin typeface="Arial" panose="020B0604020202020204" pitchFamily="34" charset="0"/>
              </a:rPr>
              <a:t>，只要编程实现相应的</a:t>
            </a:r>
            <a:r>
              <a:rPr lang="en-US" altLang="zh-CN" sz="2400" dirty="0">
                <a:latin typeface="Arial" panose="020B0604020202020204" pitchFamily="34" charset="0"/>
              </a:rPr>
              <a:t>ApplicationMaster</a:t>
            </a:r>
            <a:endParaRPr lang="en-US" altLang="zh-CN" sz="2400" dirty="0">
              <a:latin typeface="Arial" panose="020B0604020202020204" pitchFamily="34" charset="0"/>
            </a:endParaRPr>
          </a:p>
          <a:p>
            <a:pPr>
              <a:buFont typeface="Arial" panose="020B0604020202020204" pitchFamily="34" charset="0"/>
              <a:buChar char="•"/>
            </a:pPr>
            <a:r>
              <a:rPr lang="en-US" altLang="zh-CN" sz="2400" dirty="0">
                <a:latin typeface="Arial" panose="020B0604020202020204" pitchFamily="34" charset="0"/>
              </a:rPr>
              <a:t>YARN</a:t>
            </a:r>
            <a:r>
              <a:rPr lang="zh-CN" altLang="zh-CN" sz="2400" dirty="0">
                <a:latin typeface="Arial" panose="020B0604020202020204" pitchFamily="34" charset="0"/>
              </a:rPr>
              <a:t>中的资源管理比</a:t>
            </a:r>
            <a:r>
              <a:rPr lang="en-US" altLang="zh-CN" sz="2400" dirty="0">
                <a:latin typeface="Arial" panose="020B0604020202020204" pitchFamily="34" charset="0"/>
              </a:rPr>
              <a:t>MapReduce1.0</a:t>
            </a:r>
            <a:r>
              <a:rPr lang="zh-CN" altLang="zh-CN" sz="2400" dirty="0">
                <a:highlight>
                  <a:srgbClr val="FFFF00"/>
                </a:highlight>
                <a:latin typeface="Arial" panose="020B0604020202020204" pitchFamily="34" charset="0"/>
              </a:rPr>
              <a:t>更加高效</a:t>
            </a:r>
            <a:endParaRPr lang="en-US" altLang="zh-CN" sz="2400" dirty="0">
              <a:highlight>
                <a:srgbClr val="FFFF00"/>
              </a:highlight>
              <a:latin typeface="Arial" panose="020B0604020202020204" pitchFamily="34" charset="0"/>
            </a:endParaRPr>
          </a:p>
          <a:p>
            <a:pPr lvl="1" eaLnBrk="1" hangingPunct="1">
              <a:buFont typeface="Arial" panose="020B0604020202020204" pitchFamily="34" charset="0"/>
              <a:buChar char="•"/>
            </a:pPr>
            <a:r>
              <a:rPr lang="zh-CN" altLang="en-US" sz="2400" dirty="0">
                <a:latin typeface="Arial" panose="020B0604020202020204" pitchFamily="34" charset="0"/>
              </a:rPr>
              <a:t>以容器为单位，而不是以槽</a:t>
            </a:r>
            <a:r>
              <a:rPr lang="zh-CN" altLang="en-US" sz="2400" dirty="0">
                <a:latin typeface="Arial" panose="020B0604020202020204" pitchFamily="34" charset="0"/>
              </a:rPr>
              <a:t>为单位</a:t>
            </a:r>
            <a:endParaRPr lang="zh-CN" altLang="en-US" sz="2400" dirty="0">
              <a:latin typeface="Arial" panose="020B0604020202020204" pitchFamily="34" charset="0"/>
            </a:endParaRPr>
          </a:p>
        </p:txBody>
      </p:sp>
      <p:sp>
        <p:nvSpPr>
          <p:cNvPr id="27652" name="矩形 3"/>
          <p:cNvSpPr/>
          <p:nvPr/>
        </p:nvSpPr>
        <p:spPr>
          <a:xfrm>
            <a:off x="973455" y="1377950"/>
            <a:ext cx="10034270" cy="1198880"/>
          </a:xfrm>
          <a:prstGeom prst="rect">
            <a:avLst/>
          </a:prstGeom>
          <a:noFill/>
          <a:ln w="9525">
            <a:noFill/>
          </a:ln>
        </p:spPr>
        <p:txBody>
          <a:bodyPr wrap="square">
            <a:spAutoFit/>
          </a:bodyPr>
          <a:lstStyle/>
          <a:p>
            <a:pPr indent="0">
              <a:buNone/>
            </a:pPr>
            <a:r>
              <a:rPr lang="zh-CN" altLang="zh-CN" sz="2400" dirty="0">
                <a:latin typeface="Arial" panose="020B0604020202020204" pitchFamily="34" charset="0"/>
              </a:rPr>
              <a:t>从</a:t>
            </a:r>
            <a:r>
              <a:rPr lang="en-US" altLang="zh-CN" sz="2400" dirty="0">
                <a:latin typeface="Arial" panose="020B0604020202020204" pitchFamily="34" charset="0"/>
              </a:rPr>
              <a:t>MapReduce1.0</a:t>
            </a:r>
            <a:r>
              <a:rPr lang="zh-CN" altLang="zh-CN" sz="2400" dirty="0">
                <a:latin typeface="Arial" panose="020B0604020202020204" pitchFamily="34" charset="0"/>
              </a:rPr>
              <a:t>框架发展到</a:t>
            </a:r>
            <a:r>
              <a:rPr lang="en-US" altLang="zh-CN" sz="2400" dirty="0">
                <a:latin typeface="Arial" panose="020B0604020202020204" pitchFamily="34" charset="0"/>
              </a:rPr>
              <a:t>YARN</a:t>
            </a:r>
            <a:r>
              <a:rPr lang="zh-CN" altLang="zh-CN" sz="2400" dirty="0">
                <a:latin typeface="Arial" panose="020B0604020202020204" pitchFamily="34" charset="0"/>
              </a:rPr>
              <a:t>框架，客户端并没有发生变化，其大部分调用</a:t>
            </a:r>
            <a:r>
              <a:rPr lang="en-US" altLang="zh-CN" sz="2400" dirty="0">
                <a:latin typeface="Arial" panose="020B0604020202020204" pitchFamily="34" charset="0"/>
              </a:rPr>
              <a:t>API</a:t>
            </a:r>
            <a:r>
              <a:rPr lang="zh-CN" altLang="zh-CN" sz="2400" dirty="0">
                <a:latin typeface="Arial" panose="020B0604020202020204" pitchFamily="34" charset="0"/>
              </a:rPr>
              <a:t>及接口都</a:t>
            </a:r>
            <a:r>
              <a:rPr lang="zh-CN" altLang="zh-CN" sz="2400" dirty="0">
                <a:highlight>
                  <a:srgbClr val="FFFF00"/>
                </a:highlight>
                <a:latin typeface="Arial" panose="020B0604020202020204" pitchFamily="34" charset="0"/>
              </a:rPr>
              <a:t>保持兼容</a:t>
            </a:r>
            <a:r>
              <a:rPr lang="zh-CN" altLang="zh-CN" sz="2400" dirty="0">
                <a:latin typeface="Arial" panose="020B0604020202020204" pitchFamily="34" charset="0"/>
              </a:rPr>
              <a:t>，因此，原来针对</a:t>
            </a:r>
            <a:r>
              <a:rPr lang="en-US" altLang="zh-CN" sz="2400" dirty="0">
                <a:latin typeface="Arial" panose="020B0604020202020204" pitchFamily="34" charset="0"/>
              </a:rPr>
              <a:t>Hadoop1.0</a:t>
            </a:r>
            <a:r>
              <a:rPr lang="zh-CN" altLang="zh-CN" sz="2400" dirty="0">
                <a:latin typeface="Arial" panose="020B0604020202020204" pitchFamily="34" charset="0"/>
              </a:rPr>
              <a:t>开发的代码不用做大的改动，就可以直接放到</a:t>
            </a:r>
            <a:r>
              <a:rPr lang="en-US" altLang="zh-CN" sz="2400" dirty="0">
                <a:latin typeface="Arial" panose="020B0604020202020204" pitchFamily="34" charset="0"/>
              </a:rPr>
              <a:t>Hadoop2.0</a:t>
            </a:r>
            <a:r>
              <a:rPr lang="zh-CN" altLang="zh-CN" sz="2400" dirty="0">
                <a:latin typeface="Arial" panose="020B0604020202020204" pitchFamily="34" charset="0"/>
              </a:rPr>
              <a:t>平台上运行</a:t>
            </a:r>
            <a:endParaRPr lang="zh-CN" altLang="zh-CN" sz="2400" dirty="0">
              <a:latin typeface="Arial" panose="020B060402020202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p:txBody>
          <a:bodyPr vert="horz" wrap="square" lIns="91440" tIns="45720" rIns="91440" bIns="45720" anchor="ctr" anchorCtr="0"/>
          <a:lstStyle/>
          <a:p>
            <a:r>
              <a:rPr lang="en-US" altLang="zh-CN" dirty="0"/>
              <a:t>8.</a:t>
            </a:r>
            <a:r>
              <a:rPr lang="zh-CN" altLang="zh-CN" b="1" dirty="0"/>
              <a:t>3.6 YARN的发展目标</a:t>
            </a:r>
            <a:endParaRPr lang="zh-CN" altLang="en-US" dirty="0"/>
          </a:p>
        </p:txBody>
      </p:sp>
      <p:sp>
        <p:nvSpPr>
          <p:cNvPr id="28675" name="矩形 2"/>
          <p:cNvSpPr/>
          <p:nvPr/>
        </p:nvSpPr>
        <p:spPr>
          <a:xfrm>
            <a:off x="1017905" y="2014855"/>
            <a:ext cx="10452100" cy="4523105"/>
          </a:xfrm>
          <a:prstGeom prst="rect">
            <a:avLst/>
          </a:prstGeom>
          <a:noFill/>
          <a:ln w="9525">
            <a:noFill/>
          </a:ln>
        </p:spPr>
        <p:txBody>
          <a:bodyPr wrap="square">
            <a:spAutoFit/>
          </a:bodyPr>
          <a:lstStyle/>
          <a:p>
            <a:pPr>
              <a:buFont typeface="Arial" panose="020B0604020202020204" pitchFamily="34" charset="0"/>
              <a:buChar char="•"/>
            </a:pPr>
            <a:r>
              <a:rPr lang="zh-CN" altLang="zh-CN" sz="2400" dirty="0">
                <a:latin typeface="Arial" panose="020B0604020202020204" pitchFamily="34" charset="0"/>
              </a:rPr>
              <a:t>一个企业当中同时存在各种不同的业务应用场景，需要采用不同的计算框架</a:t>
            </a:r>
            <a:endParaRPr lang="en-US" altLang="zh-CN" sz="2400" dirty="0">
              <a:latin typeface="Arial" panose="020B0604020202020204" pitchFamily="34" charset="0"/>
            </a:endParaRPr>
          </a:p>
          <a:p>
            <a:pPr lvl="1" eaLnBrk="1" hangingPunct="1">
              <a:buFont typeface="Arial" panose="020B0604020202020204" pitchFamily="34" charset="0"/>
              <a:buChar char="•"/>
            </a:pPr>
            <a:r>
              <a:rPr lang="en-US" altLang="zh-CN" sz="2400" dirty="0">
                <a:latin typeface="Arial" panose="020B0604020202020204" pitchFamily="34" charset="0"/>
              </a:rPr>
              <a:t>MapReduce</a:t>
            </a:r>
            <a:r>
              <a:rPr lang="zh-CN" altLang="zh-CN" sz="2400" dirty="0">
                <a:latin typeface="Arial" panose="020B0604020202020204" pitchFamily="34" charset="0"/>
              </a:rPr>
              <a:t>实现离线批处理</a:t>
            </a:r>
            <a:endParaRPr lang="en-US" altLang="zh-CN" sz="2400" dirty="0">
              <a:latin typeface="Arial" panose="020B0604020202020204" pitchFamily="34" charset="0"/>
            </a:endParaRPr>
          </a:p>
          <a:p>
            <a:pPr lvl="1" eaLnBrk="1" hangingPunct="1">
              <a:buFont typeface="Arial" panose="020B0604020202020204" pitchFamily="34" charset="0"/>
              <a:buChar char="•"/>
            </a:pPr>
            <a:r>
              <a:rPr lang="zh-CN" altLang="zh-CN" sz="2400" dirty="0">
                <a:latin typeface="Arial" panose="020B0604020202020204" pitchFamily="34" charset="0"/>
              </a:rPr>
              <a:t>使用</a:t>
            </a:r>
            <a:r>
              <a:rPr lang="en-US" altLang="zh-CN" sz="2400" dirty="0">
                <a:latin typeface="Arial" panose="020B0604020202020204" pitchFamily="34" charset="0"/>
              </a:rPr>
              <a:t>Impala</a:t>
            </a:r>
            <a:r>
              <a:rPr lang="zh-CN" altLang="zh-CN" sz="2400" dirty="0">
                <a:latin typeface="Arial" panose="020B0604020202020204" pitchFamily="34" charset="0"/>
              </a:rPr>
              <a:t>实现实时交互式查询分析</a:t>
            </a:r>
            <a:endParaRPr lang="en-US" altLang="zh-CN" sz="2400" dirty="0">
              <a:latin typeface="Arial" panose="020B0604020202020204" pitchFamily="34" charset="0"/>
            </a:endParaRPr>
          </a:p>
          <a:p>
            <a:pPr lvl="1" eaLnBrk="1" hangingPunct="1">
              <a:buFont typeface="Arial" panose="020B0604020202020204" pitchFamily="34" charset="0"/>
              <a:buChar char="•"/>
            </a:pPr>
            <a:r>
              <a:rPr lang="zh-CN" altLang="zh-CN" sz="2400" dirty="0">
                <a:latin typeface="Arial" panose="020B0604020202020204" pitchFamily="34" charset="0"/>
              </a:rPr>
              <a:t>使用</a:t>
            </a:r>
            <a:r>
              <a:rPr lang="en-US" altLang="zh-CN" sz="2400" dirty="0">
                <a:latin typeface="Arial" panose="020B0604020202020204" pitchFamily="34" charset="0"/>
              </a:rPr>
              <a:t>Storm</a:t>
            </a:r>
            <a:r>
              <a:rPr lang="zh-CN" altLang="zh-CN" sz="2400" dirty="0">
                <a:latin typeface="Arial" panose="020B0604020202020204" pitchFamily="34" charset="0"/>
              </a:rPr>
              <a:t>实现流式数据实时分析</a:t>
            </a:r>
            <a:endParaRPr lang="en-US" altLang="zh-CN" sz="2400" dirty="0">
              <a:latin typeface="Arial" panose="020B0604020202020204" pitchFamily="34" charset="0"/>
            </a:endParaRPr>
          </a:p>
          <a:p>
            <a:pPr lvl="1" eaLnBrk="1" hangingPunct="1">
              <a:buFont typeface="Arial" panose="020B0604020202020204" pitchFamily="34" charset="0"/>
              <a:buChar char="•"/>
            </a:pPr>
            <a:r>
              <a:rPr lang="zh-CN" altLang="zh-CN" sz="2400" dirty="0">
                <a:latin typeface="Arial" panose="020B0604020202020204" pitchFamily="34" charset="0"/>
              </a:rPr>
              <a:t>使用</a:t>
            </a:r>
            <a:r>
              <a:rPr lang="en-US" altLang="zh-CN" sz="2400" dirty="0">
                <a:latin typeface="Arial" panose="020B0604020202020204" pitchFamily="34" charset="0"/>
              </a:rPr>
              <a:t>Spark</a:t>
            </a:r>
            <a:r>
              <a:rPr lang="zh-CN" altLang="zh-CN" sz="2400" dirty="0">
                <a:latin typeface="Arial" panose="020B0604020202020204" pitchFamily="34" charset="0"/>
              </a:rPr>
              <a:t>实现迭代计算</a:t>
            </a:r>
            <a:endParaRPr lang="en-US" altLang="zh-CN" sz="2400" dirty="0">
              <a:latin typeface="Arial" panose="020B0604020202020204" pitchFamily="34" charset="0"/>
            </a:endParaRPr>
          </a:p>
          <a:p>
            <a:pPr>
              <a:buFont typeface="Arial" panose="020B0604020202020204" pitchFamily="34" charset="0"/>
              <a:buChar char="•"/>
            </a:pPr>
            <a:r>
              <a:rPr lang="zh-CN" altLang="zh-CN" sz="2400" dirty="0">
                <a:latin typeface="Arial" panose="020B0604020202020204" pitchFamily="34" charset="0"/>
              </a:rPr>
              <a:t>这些产品通常来自不同的开发团队，具有各自的资源调度管理机制</a:t>
            </a:r>
            <a:endParaRPr lang="en-US" altLang="zh-CN" sz="2400" dirty="0">
              <a:latin typeface="Arial" panose="020B0604020202020204" pitchFamily="34" charset="0"/>
            </a:endParaRPr>
          </a:p>
          <a:p>
            <a:pPr>
              <a:buFont typeface="Arial" panose="020B0604020202020204" pitchFamily="34" charset="0"/>
              <a:buChar char="•"/>
            </a:pPr>
            <a:r>
              <a:rPr lang="zh-CN" altLang="zh-CN" sz="2400" dirty="0">
                <a:latin typeface="Arial" panose="020B0604020202020204" pitchFamily="34" charset="0"/>
              </a:rPr>
              <a:t>为了避免不同类型应用之间互相干扰，企业就需要把内部的服务器拆分成多个集群，分别安装运行不同的计算框架，即“一个框架一个集群”</a:t>
            </a:r>
            <a:endParaRPr lang="en-US" altLang="zh-CN" sz="2400" dirty="0">
              <a:latin typeface="Arial" panose="020B0604020202020204" pitchFamily="34" charset="0"/>
            </a:endParaRPr>
          </a:p>
          <a:p>
            <a:pPr>
              <a:buFont typeface="Arial" panose="020B0604020202020204" pitchFamily="34" charset="0"/>
              <a:buChar char="•"/>
            </a:pPr>
            <a:r>
              <a:rPr lang="zh-CN" altLang="en-US" sz="2400" dirty="0">
                <a:latin typeface="Arial" panose="020B0604020202020204" pitchFamily="34" charset="0"/>
              </a:rPr>
              <a:t>导致问题</a:t>
            </a:r>
            <a:endParaRPr lang="en-US" altLang="zh-CN" sz="2400" dirty="0">
              <a:latin typeface="Arial" panose="020B0604020202020204" pitchFamily="34" charset="0"/>
            </a:endParaRPr>
          </a:p>
          <a:p>
            <a:pPr lvl="1" eaLnBrk="1" hangingPunct="1">
              <a:buFont typeface="Arial" panose="020B0604020202020204" pitchFamily="34" charset="0"/>
              <a:buChar char="•"/>
            </a:pPr>
            <a:r>
              <a:rPr lang="zh-CN" altLang="zh-CN" sz="2400" dirty="0">
                <a:latin typeface="Arial" panose="020B0604020202020204" pitchFamily="34" charset="0"/>
              </a:rPr>
              <a:t>集群资源利用率低</a:t>
            </a:r>
            <a:endParaRPr lang="en-US" altLang="zh-CN" sz="2400" dirty="0">
              <a:latin typeface="Arial" panose="020B0604020202020204" pitchFamily="34" charset="0"/>
            </a:endParaRPr>
          </a:p>
          <a:p>
            <a:pPr lvl="1" eaLnBrk="1" hangingPunct="1">
              <a:buFont typeface="Arial" panose="020B0604020202020204" pitchFamily="34" charset="0"/>
              <a:buChar char="•"/>
            </a:pPr>
            <a:r>
              <a:rPr lang="zh-CN" altLang="en-US" sz="2400" dirty="0">
                <a:latin typeface="Arial" panose="020B0604020202020204" pitchFamily="34" charset="0"/>
              </a:rPr>
              <a:t>数据无法共享</a:t>
            </a:r>
            <a:endParaRPr lang="en-US" altLang="zh-CN" sz="2400" dirty="0">
              <a:latin typeface="Arial" panose="020B0604020202020204" pitchFamily="34" charset="0"/>
            </a:endParaRPr>
          </a:p>
          <a:p>
            <a:pPr lvl="1" eaLnBrk="1" hangingPunct="1">
              <a:buFont typeface="Arial" panose="020B0604020202020204" pitchFamily="34" charset="0"/>
              <a:buChar char="•"/>
            </a:pPr>
            <a:r>
              <a:rPr lang="zh-CN" altLang="en-US" sz="2400" dirty="0">
                <a:latin typeface="Arial" panose="020B0604020202020204" pitchFamily="34" charset="0"/>
              </a:rPr>
              <a:t>维护代价高</a:t>
            </a:r>
            <a:endParaRPr lang="zh-CN" altLang="en-US" sz="2400" dirty="0">
              <a:latin typeface="Arial" panose="020B0604020202020204" pitchFamily="34" charset="0"/>
            </a:endParaRPr>
          </a:p>
        </p:txBody>
      </p:sp>
      <p:sp>
        <p:nvSpPr>
          <p:cNvPr id="28676" name="TextBox 3"/>
          <p:cNvSpPr txBox="1"/>
          <p:nvPr/>
        </p:nvSpPr>
        <p:spPr>
          <a:xfrm>
            <a:off x="981393" y="1387475"/>
            <a:ext cx="7376160" cy="460375"/>
          </a:xfrm>
          <a:prstGeom prst="rect">
            <a:avLst/>
          </a:prstGeom>
          <a:noFill/>
          <a:ln w="9525">
            <a:noFill/>
          </a:ln>
        </p:spPr>
        <p:txBody>
          <a:bodyPr wrap="none">
            <a:spAutoFit/>
          </a:bodyPr>
          <a:lstStyle/>
          <a:p>
            <a:r>
              <a:rPr lang="en-US" altLang="zh-CN" sz="2400" b="1" dirty="0">
                <a:solidFill>
                  <a:srgbClr val="FF0000"/>
                </a:solidFill>
                <a:latin typeface="Arial" panose="020B0604020202020204" pitchFamily="34" charset="0"/>
              </a:rPr>
              <a:t>YARN</a:t>
            </a:r>
            <a:r>
              <a:rPr lang="zh-CN" altLang="zh-CN" sz="2400" b="1" dirty="0">
                <a:solidFill>
                  <a:srgbClr val="FF0000"/>
                </a:solidFill>
                <a:latin typeface="Arial" panose="020B0604020202020204" pitchFamily="34" charset="0"/>
              </a:rPr>
              <a:t>的目标就是实现“一个集群多个框架”</a:t>
            </a:r>
            <a:r>
              <a:rPr lang="zh-CN" altLang="en-US" sz="2400" b="1" dirty="0">
                <a:solidFill>
                  <a:srgbClr val="FF0000"/>
                </a:solidFill>
                <a:latin typeface="Arial" panose="020B0604020202020204" pitchFamily="34" charset="0"/>
              </a:rPr>
              <a:t>，为什么？</a:t>
            </a:r>
            <a:endParaRPr lang="zh-CN" altLang="en-US" sz="2400" b="1" dirty="0">
              <a:solidFill>
                <a:srgbClr val="FF0000"/>
              </a:solidFill>
              <a:latin typeface="Arial" panose="020B060402020202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vert="horz" wrap="square" lIns="91440" tIns="45720" rIns="91440" bIns="45720" anchor="ctr" anchorCtr="0"/>
          <a:lstStyle/>
          <a:p>
            <a:r>
              <a:rPr lang="en-US" altLang="zh-CN" dirty="0"/>
              <a:t>8.</a:t>
            </a:r>
            <a:r>
              <a:rPr lang="zh-CN" altLang="zh-CN" b="1" dirty="0"/>
              <a:t>3.6 YARN</a:t>
            </a:r>
            <a:r>
              <a:rPr lang="zh-CN" altLang="en-US" b="1" dirty="0"/>
              <a:t>的发展目标</a:t>
            </a:r>
            <a:endParaRPr lang="zh-CN" altLang="en-US" dirty="0"/>
          </a:p>
        </p:txBody>
      </p:sp>
      <p:sp>
        <p:nvSpPr>
          <p:cNvPr id="29699" name="Rectangle 2"/>
          <p:cNvSpPr/>
          <p:nvPr/>
        </p:nvSpPr>
        <p:spPr>
          <a:xfrm>
            <a:off x="1524000" y="44450"/>
            <a:ext cx="30988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pic>
        <p:nvPicPr>
          <p:cNvPr id="29700" name="图片 10"/>
          <p:cNvPicPr>
            <a:picLocks noChangeAspect="1"/>
          </p:cNvPicPr>
          <p:nvPr/>
        </p:nvPicPr>
        <p:blipFill>
          <a:blip r:embed="rId1"/>
          <a:stretch>
            <a:fillRect/>
          </a:stretch>
        </p:blipFill>
        <p:spPr>
          <a:xfrm>
            <a:off x="2286000" y="3689033"/>
            <a:ext cx="7315200" cy="2693987"/>
          </a:xfrm>
          <a:prstGeom prst="rect">
            <a:avLst/>
          </a:prstGeom>
          <a:noFill/>
          <a:ln w="9525">
            <a:noFill/>
          </a:ln>
        </p:spPr>
      </p:pic>
      <p:sp>
        <p:nvSpPr>
          <p:cNvPr id="29701" name="Rectangle 3"/>
          <p:cNvSpPr/>
          <p:nvPr/>
        </p:nvSpPr>
        <p:spPr>
          <a:xfrm>
            <a:off x="3581400" y="6459062"/>
            <a:ext cx="4648200" cy="398780"/>
          </a:xfrm>
          <a:prstGeom prst="rect">
            <a:avLst/>
          </a:prstGeom>
          <a:noFill/>
          <a:ln w="9525">
            <a:noFill/>
          </a:ln>
        </p:spPr>
        <p:txBody>
          <a:bodyPr anchor="ctr" anchorCtr="0">
            <a:spAutoFit/>
          </a:bodyPr>
          <a:lstStyle/>
          <a:p>
            <a:pPr algn="ctr" eaLnBrk="0" hangingPunct="0"/>
            <a:r>
              <a:rPr lang="zh-CN" altLang="en-US" sz="2000" dirty="0">
                <a:latin typeface="Times New Roman" panose="02020603050405020304" pitchFamily="18" charset="0"/>
                <a:cs typeface="Times New Roman" panose="02020603050405020304" pitchFamily="18" charset="0"/>
              </a:rPr>
              <a:t>图</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在</a:t>
            </a:r>
            <a:r>
              <a:rPr lang="en-US" altLang="zh-CN" sz="2000" dirty="0">
                <a:latin typeface="Times New Roman" panose="02020603050405020304" pitchFamily="18" charset="0"/>
                <a:cs typeface="Times New Roman" panose="02020603050405020304" pitchFamily="18" charset="0"/>
              </a:rPr>
              <a:t>YARN</a:t>
            </a:r>
            <a:r>
              <a:rPr lang="zh-CN" altLang="en-US" sz="2000" dirty="0">
                <a:latin typeface="Times New Roman" panose="02020603050405020304" pitchFamily="18" charset="0"/>
                <a:cs typeface="Times New Roman" panose="02020603050405020304" pitchFamily="18" charset="0"/>
              </a:rPr>
              <a:t>上部署各种计算框架</a:t>
            </a:r>
            <a:endParaRPr lang="zh-CN" altLang="en-US" sz="2000" dirty="0">
              <a:latin typeface="Arial" panose="020B0604020202020204" pitchFamily="34" charset="0"/>
            </a:endParaRPr>
          </a:p>
        </p:txBody>
      </p:sp>
      <p:sp>
        <p:nvSpPr>
          <p:cNvPr id="29702" name="矩形 5"/>
          <p:cNvSpPr/>
          <p:nvPr/>
        </p:nvSpPr>
        <p:spPr>
          <a:xfrm>
            <a:off x="939165" y="1416050"/>
            <a:ext cx="10781030" cy="2273300"/>
          </a:xfrm>
          <a:prstGeom prst="rect">
            <a:avLst/>
          </a:prstGeom>
          <a:noFill/>
          <a:ln w="9525">
            <a:noFill/>
          </a:ln>
        </p:spPr>
        <p:txBody>
          <a:bodyPr wrap="square">
            <a:noAutofit/>
          </a:bodyPr>
          <a:lstStyle/>
          <a:p>
            <a:pPr>
              <a:buFont typeface="Arial" panose="020B0604020202020204" pitchFamily="34" charset="0"/>
              <a:buChar char="•"/>
            </a:pPr>
            <a:r>
              <a:rPr lang="en-US" altLang="zh-CN" sz="2400" dirty="0">
                <a:latin typeface="Arial" panose="020B0604020202020204" pitchFamily="34" charset="0"/>
              </a:rPr>
              <a:t>YARN</a:t>
            </a:r>
            <a:r>
              <a:rPr lang="zh-CN" altLang="zh-CN" sz="2400" dirty="0">
                <a:latin typeface="Arial" panose="020B0604020202020204" pitchFamily="34" charset="0"/>
              </a:rPr>
              <a:t>的目标就是实现“一个集群多个框架”，即在一个集群上部署一个统一的资源调度管理框架</a:t>
            </a:r>
            <a:r>
              <a:rPr lang="en-US" altLang="zh-CN" sz="2400" dirty="0">
                <a:latin typeface="Arial" panose="020B0604020202020204" pitchFamily="34" charset="0"/>
              </a:rPr>
              <a:t>YARN</a:t>
            </a:r>
            <a:r>
              <a:rPr lang="zh-CN" altLang="zh-CN" sz="2400" dirty="0">
                <a:latin typeface="Arial" panose="020B0604020202020204" pitchFamily="34" charset="0"/>
              </a:rPr>
              <a:t>，在</a:t>
            </a:r>
            <a:r>
              <a:rPr lang="en-US" altLang="zh-CN" sz="2400" dirty="0">
                <a:latin typeface="Arial" panose="020B0604020202020204" pitchFamily="34" charset="0"/>
              </a:rPr>
              <a:t>YARN</a:t>
            </a:r>
            <a:r>
              <a:rPr lang="zh-CN" altLang="zh-CN" sz="2400" dirty="0">
                <a:latin typeface="Arial" panose="020B0604020202020204" pitchFamily="34" charset="0"/>
              </a:rPr>
              <a:t>之上可以部署其他各种计算框架</a:t>
            </a:r>
            <a:endParaRPr lang="en-US" altLang="zh-CN" sz="2400" dirty="0">
              <a:latin typeface="Arial" panose="020B0604020202020204" pitchFamily="34" charset="0"/>
            </a:endParaRPr>
          </a:p>
          <a:p>
            <a:pPr>
              <a:buFont typeface="Arial" panose="020B0604020202020204" pitchFamily="34" charset="0"/>
              <a:buChar char="•"/>
            </a:pPr>
            <a:r>
              <a:rPr lang="zh-CN" altLang="zh-CN" sz="2400" dirty="0">
                <a:latin typeface="Arial" panose="020B0604020202020204" pitchFamily="34" charset="0"/>
              </a:rPr>
              <a:t>由</a:t>
            </a:r>
            <a:r>
              <a:rPr lang="en-US" altLang="zh-CN" sz="2400" dirty="0">
                <a:latin typeface="Arial" panose="020B0604020202020204" pitchFamily="34" charset="0"/>
              </a:rPr>
              <a:t>YARN</a:t>
            </a:r>
            <a:r>
              <a:rPr lang="zh-CN" altLang="zh-CN" sz="2400" dirty="0">
                <a:latin typeface="Arial" panose="020B0604020202020204" pitchFamily="34" charset="0"/>
              </a:rPr>
              <a:t>为这些计算框架提供统一的资源调度管理服务，并且能够根据各种计算框架的负载需求，调整各自占用的资源，实现集群资源共享和资源弹性收缩</a:t>
            </a:r>
            <a:endParaRPr lang="en-US" altLang="zh-CN" sz="2400" dirty="0">
              <a:latin typeface="Arial" panose="020B0604020202020204" pitchFamily="34" charset="0"/>
            </a:endParaRPr>
          </a:p>
          <a:p>
            <a:pPr>
              <a:buFont typeface="Arial" panose="020B0604020202020204" pitchFamily="34" charset="0"/>
              <a:buChar char="•"/>
            </a:pPr>
            <a:r>
              <a:rPr lang="zh-CN" altLang="zh-CN" sz="2400" dirty="0">
                <a:latin typeface="Arial" panose="020B0604020202020204" pitchFamily="34" charset="0"/>
              </a:rPr>
              <a:t>可以实现一个集群上的不同应用负载混搭，有效提高了集群的利用率</a:t>
            </a:r>
            <a:endParaRPr lang="en-US" altLang="zh-CN" sz="2400" dirty="0">
              <a:latin typeface="Arial" panose="020B0604020202020204" pitchFamily="34" charset="0"/>
            </a:endParaRPr>
          </a:p>
          <a:p>
            <a:pPr>
              <a:buFont typeface="Arial" panose="020B0604020202020204" pitchFamily="34" charset="0"/>
              <a:buChar char="•"/>
            </a:pPr>
            <a:r>
              <a:rPr lang="zh-CN" altLang="zh-CN" sz="2400" dirty="0">
                <a:latin typeface="Arial" panose="020B0604020202020204" pitchFamily="34" charset="0"/>
              </a:rPr>
              <a:t>不同计算框架可以共享底层存储</a:t>
            </a:r>
            <a:r>
              <a:rPr lang="zh-CN" altLang="en-US" sz="2400" dirty="0">
                <a:latin typeface="Arial" panose="020B0604020202020204" pitchFamily="34" charset="0"/>
              </a:rPr>
              <a:t>，</a:t>
            </a:r>
            <a:r>
              <a:rPr lang="zh-CN" altLang="zh-CN" sz="2400" dirty="0">
                <a:latin typeface="Arial" panose="020B0604020202020204" pitchFamily="34" charset="0"/>
              </a:rPr>
              <a:t>避免了数据集跨集群移动</a:t>
            </a:r>
            <a:endParaRPr lang="zh-CN" altLang="en-US" sz="2400" dirty="0">
              <a:latin typeface="Arial" panose="020B0604020202020204" pitchFamily="34" charset="0"/>
            </a:endParaRPr>
          </a:p>
          <a:p>
            <a:endParaRPr lang="zh-CN" altLang="en-US" sz="2400" dirty="0">
              <a:latin typeface="Arial" panose="020B060402020202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E57CE09-A6DF-4F65-B9AD-CB157D51E68C}" type="slidenum">
              <a:rPr lang="zh-CN" altLang="en-US" smtClean="0"/>
            </a:fld>
            <a:endParaRPr lang="zh-CN" altLang="en-US"/>
          </a:p>
        </p:txBody>
      </p:sp>
      <p:sp>
        <p:nvSpPr>
          <p:cNvPr id="4" name="文本框 3"/>
          <p:cNvSpPr txBox="1"/>
          <p:nvPr>
            <p:custDataLst>
              <p:tags r:id="rId1"/>
            </p:custDataLst>
          </p:nvPr>
        </p:nvSpPr>
        <p:spPr>
          <a:xfrm>
            <a:off x="1219200" y="635000"/>
            <a:ext cx="9753600" cy="2143125"/>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关于新一代资源管理</a:t>
            </a:r>
            <a:r>
              <a:rPr lang="zh-CN" altLang="en-US" sz="2600">
                <a:solidFill>
                  <a:srgbClr val="000000"/>
                </a:solidFill>
                <a:latin typeface="微软雅黑" panose="020B0503020204020204" charset="-122"/>
                <a:ea typeface="微软雅黑" panose="020B0503020204020204" charset="-122"/>
                <a:sym typeface="+mn-ea"/>
              </a:rPr>
              <a:t>调度框架</a:t>
            </a:r>
            <a:r>
              <a:rPr lang="en-US" altLang="zh-CN" sz="2600">
                <a:solidFill>
                  <a:srgbClr val="000000"/>
                </a:solidFill>
                <a:latin typeface="微软雅黑" panose="020B0503020204020204" charset="-122"/>
                <a:ea typeface="微软雅黑" panose="020B0503020204020204" charset="-122"/>
                <a:sym typeface="+mn-ea"/>
              </a:rPr>
              <a:t>YARN</a:t>
            </a:r>
            <a:r>
              <a:rPr lang="zh-CN" altLang="en-US" sz="2600">
                <a:solidFill>
                  <a:srgbClr val="000000"/>
                </a:solidFill>
                <a:latin typeface="微软雅黑" panose="020B0503020204020204" charset="-122"/>
                <a:ea typeface="微软雅黑" panose="020B0503020204020204" charset="-122"/>
                <a:sym typeface="+mn-ea"/>
              </a:rPr>
              <a:t>，下列说法错误的是（）</a:t>
            </a:r>
            <a:endParaRPr lang="zh-CN" altLang="en-US" sz="2600">
              <a:solidFill>
                <a:srgbClr val="000000"/>
              </a:solidFill>
              <a:latin typeface="微软雅黑" panose="020B0503020204020204" charset="-122"/>
              <a:ea typeface="微软雅黑" panose="020B0503020204020204" charset="-122"/>
              <a:sym typeface="+mn-ea"/>
            </a:endParaRPr>
          </a:p>
        </p:txBody>
      </p:sp>
      <p:sp>
        <p:nvSpPr>
          <p:cNvPr id="5" name="文本框 4"/>
          <p:cNvSpPr txBox="1"/>
          <p:nvPr>
            <p:custDataLst>
              <p:tags r:id="rId2"/>
            </p:custDataLst>
          </p:nvPr>
        </p:nvSpPr>
        <p:spPr>
          <a:xfrm>
            <a:off x="2438400" y="2785745"/>
            <a:ext cx="8534400" cy="642620"/>
          </a:xfrm>
          <a:prstGeom prst="rect">
            <a:avLst/>
          </a:prstGeom>
          <a:noFill/>
        </p:spPr>
        <p:txBody>
          <a:bodyPr wrap="square" rtlCol="0" anchor="ctr" anchorCtr="0">
            <a:noAutofit/>
          </a:bodyPr>
          <a:lstStyle/>
          <a:p>
            <a:pPr lvl="0" algn="l">
              <a:buNone/>
            </a:pPr>
            <a:r>
              <a:rPr lang="zh-CN" altLang="en-US" sz="2200">
                <a:solidFill>
                  <a:srgbClr val="000000"/>
                </a:solidFill>
                <a:latin typeface="微软雅黑" panose="020B0503020204020204" charset="-122"/>
                <a:ea typeface="微软雅黑" panose="020B0503020204020204" charset="-122"/>
              </a:rPr>
              <a:t>MapReduce2.0是运行在YARN之上的计算框架，由YARN来为MapReduce提供资源管理调度服务</a:t>
            </a:r>
            <a:endParaRPr lang="zh-CN" altLang="en-US" sz="2200">
              <a:solidFill>
                <a:srgbClr val="000000"/>
              </a:solidFill>
              <a:latin typeface="微软雅黑" panose="020B0503020204020204" charset="-122"/>
              <a:ea typeface="微软雅黑" panose="020B0503020204020204" charset="-122"/>
            </a:endParaRPr>
          </a:p>
        </p:txBody>
      </p:sp>
      <p:sp>
        <p:nvSpPr>
          <p:cNvPr id="6" name="文本框 5"/>
          <p:cNvSpPr txBox="1"/>
          <p:nvPr>
            <p:custDataLst>
              <p:tags r:id="rId3"/>
            </p:custDataLst>
          </p:nvPr>
        </p:nvSpPr>
        <p:spPr>
          <a:xfrm>
            <a:off x="2438400" y="3642995"/>
            <a:ext cx="8534400" cy="642620"/>
          </a:xfrm>
          <a:prstGeom prst="rect">
            <a:avLst/>
          </a:prstGeom>
          <a:noFill/>
        </p:spPr>
        <p:txBody>
          <a:bodyPr wrap="square" rtlCol="0" anchor="ctr" anchorCtr="0">
            <a:noAutofit/>
          </a:bodyPr>
          <a:lstStyle/>
          <a:p>
            <a:pPr lvl="0" algn="l">
              <a:buNone/>
            </a:pPr>
            <a:r>
              <a:rPr lang="zh-CN" altLang="en-US" sz="2200">
                <a:solidFill>
                  <a:srgbClr val="000000"/>
                </a:solidFill>
                <a:latin typeface="微软雅黑" panose="020B0503020204020204" charset="-122"/>
                <a:ea typeface="微软雅黑" panose="020B0503020204020204" charset="-122"/>
              </a:rPr>
              <a:t>YARN可以实现“一个集群多个框架”，即在一个集群上部署一个统一的资源调度管理框架</a:t>
            </a:r>
            <a:endParaRPr lang="zh-CN" altLang="en-US" sz="2200">
              <a:solidFill>
                <a:srgbClr val="000000"/>
              </a:solidFill>
              <a:latin typeface="微软雅黑" panose="020B0503020204020204" charset="-122"/>
              <a:ea typeface="微软雅黑" panose="020B0503020204020204" charset="-122"/>
            </a:endParaRPr>
          </a:p>
        </p:txBody>
      </p:sp>
      <p:sp>
        <p:nvSpPr>
          <p:cNvPr id="7" name="文本框 6"/>
          <p:cNvSpPr txBox="1"/>
          <p:nvPr>
            <p:custDataLst>
              <p:tags r:id="rId4"/>
            </p:custDataLst>
          </p:nvPr>
        </p:nvSpPr>
        <p:spPr>
          <a:xfrm>
            <a:off x="2438400" y="4500245"/>
            <a:ext cx="8534400" cy="642620"/>
          </a:xfrm>
          <a:prstGeom prst="rect">
            <a:avLst/>
          </a:prstGeom>
          <a:noFill/>
        </p:spPr>
        <p:txBody>
          <a:bodyPr wrap="square" rtlCol="0" anchor="ctr" anchorCtr="0">
            <a:noAutofit/>
          </a:bodyPr>
          <a:lstStyle/>
          <a:p>
            <a:pPr lvl="0" algn="l">
              <a:buNone/>
            </a:pPr>
            <a:r>
              <a:rPr lang="zh-CN" altLang="en-US" sz="2200">
                <a:solidFill>
                  <a:srgbClr val="000000"/>
                </a:solidFill>
                <a:latin typeface="微软雅黑" panose="020B0503020204020204" charset="-122"/>
                <a:ea typeface="微软雅黑" panose="020B0503020204020204" charset="-122"/>
              </a:rPr>
              <a:t>YARN的体系结构包括三个组件: ResourceManager，NodeManager，ApplicationMaster</a:t>
            </a:r>
            <a:endParaRPr lang="zh-CN" altLang="en-US" sz="2200">
              <a:solidFill>
                <a:srgbClr val="000000"/>
              </a:solidFill>
              <a:latin typeface="微软雅黑" panose="020B0503020204020204" charset="-122"/>
              <a:ea typeface="微软雅黑" panose="020B0503020204020204" charset="-122"/>
            </a:endParaRPr>
          </a:p>
        </p:txBody>
      </p:sp>
      <p:sp>
        <p:nvSpPr>
          <p:cNvPr id="8" name="文本框 7"/>
          <p:cNvSpPr txBox="1"/>
          <p:nvPr>
            <p:custDataLst>
              <p:tags r:id="rId5"/>
            </p:custDataLst>
          </p:nvPr>
        </p:nvSpPr>
        <p:spPr>
          <a:xfrm>
            <a:off x="2438400" y="5357495"/>
            <a:ext cx="8534400" cy="642620"/>
          </a:xfrm>
          <a:prstGeom prst="rect">
            <a:avLst/>
          </a:prstGeom>
          <a:noFill/>
        </p:spPr>
        <p:txBody>
          <a:bodyPr wrap="square" rtlCol="0" anchor="ctr" anchorCtr="0">
            <a:noAutofit/>
          </a:bodyPr>
          <a:lstStyle/>
          <a:p>
            <a:pPr lvl="0" algn="l">
              <a:buNone/>
            </a:pPr>
            <a:r>
              <a:rPr lang="zh-CN" altLang="en-US" sz="2200">
                <a:solidFill>
                  <a:srgbClr val="000000"/>
                </a:solidFill>
                <a:latin typeface="微软雅黑" panose="020B0503020204020204" charset="-122"/>
                <a:ea typeface="微软雅黑" panose="020B0503020204020204" charset="-122"/>
              </a:rPr>
              <a:t>YARN既是资源管理调度框架，也是一个计算框架</a:t>
            </a:r>
            <a:endParaRPr lang="zh-CN" altLang="en-US" sz="2200">
              <a:solidFill>
                <a:srgbClr val="000000"/>
              </a:solidFill>
              <a:latin typeface="微软雅黑" panose="020B0503020204020204" charset="-122"/>
              <a:ea typeface="微软雅黑" panose="020B0503020204020204" charset="-122"/>
            </a:endParaRPr>
          </a:p>
        </p:txBody>
      </p:sp>
      <p:sp>
        <p:nvSpPr>
          <p:cNvPr id="9" name="椭圆 8"/>
          <p:cNvSpPr>
            <a:spLocks noChangeAspect="1"/>
          </p:cNvSpPr>
          <p:nvPr>
            <p:custDataLst>
              <p:tags r:id="rId6"/>
            </p:custDataLst>
          </p:nvPr>
        </p:nvSpPr>
        <p:spPr>
          <a:xfrm>
            <a:off x="1571625" y="2849880"/>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indent="0" algn="ctr"/>
            <a:r>
              <a:rPr lang="zh-CN" altLang="en-US" sz="1600">
                <a:solidFill>
                  <a:srgbClr val="FFFFFF"/>
                </a:solidFill>
                <a:latin typeface="微软雅黑" panose="020B0503020204020204" charset="-122"/>
                <a:ea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endParaRPr>
          </a:p>
        </p:txBody>
      </p:sp>
      <p:sp>
        <p:nvSpPr>
          <p:cNvPr id="10" name="椭圆 9"/>
          <p:cNvSpPr>
            <a:spLocks noChangeAspect="1"/>
          </p:cNvSpPr>
          <p:nvPr>
            <p:custDataLst>
              <p:tags r:id="rId7"/>
            </p:custDataLst>
          </p:nvPr>
        </p:nvSpPr>
        <p:spPr>
          <a:xfrm>
            <a:off x="1571625" y="3707130"/>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indent="0" algn="ctr"/>
            <a:r>
              <a:rPr lang="zh-CN" altLang="en-US" sz="1600">
                <a:solidFill>
                  <a:srgbClr val="FFFFFF"/>
                </a:solidFill>
                <a:latin typeface="微软雅黑" panose="020B0503020204020204" charset="-122"/>
                <a:ea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endParaRPr>
          </a:p>
        </p:txBody>
      </p:sp>
      <p:sp>
        <p:nvSpPr>
          <p:cNvPr id="11" name="椭圆 10"/>
          <p:cNvSpPr>
            <a:spLocks noChangeAspect="1"/>
          </p:cNvSpPr>
          <p:nvPr>
            <p:custDataLst>
              <p:tags r:id="rId8"/>
            </p:custDataLst>
          </p:nvPr>
        </p:nvSpPr>
        <p:spPr>
          <a:xfrm>
            <a:off x="1571625" y="4564380"/>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indent="0" algn="ctr"/>
            <a:r>
              <a:rPr lang="zh-CN" altLang="en-US" sz="1600">
                <a:solidFill>
                  <a:srgbClr val="FFFFFF"/>
                </a:solidFill>
                <a:latin typeface="微软雅黑" panose="020B0503020204020204" charset="-122"/>
                <a:ea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endParaRPr>
          </a:p>
        </p:txBody>
      </p:sp>
      <p:sp>
        <p:nvSpPr>
          <p:cNvPr id="12" name="椭圆 11"/>
          <p:cNvSpPr>
            <a:spLocks noChangeAspect="1"/>
          </p:cNvSpPr>
          <p:nvPr>
            <p:custDataLst>
              <p:tags r:id="rId9"/>
            </p:custDataLst>
          </p:nvPr>
        </p:nvSpPr>
        <p:spPr>
          <a:xfrm>
            <a:off x="1571625" y="5421630"/>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indent="0" algn="ctr"/>
            <a:r>
              <a:rPr lang="zh-CN" altLang="en-US" sz="1600">
                <a:solidFill>
                  <a:srgbClr val="FFFFFF"/>
                </a:solidFill>
                <a:latin typeface="微软雅黑" panose="020B0503020204020204" charset="-122"/>
                <a:ea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endParaRPr>
          </a:p>
        </p:txBody>
      </p:sp>
      <p:sp>
        <p:nvSpPr>
          <p:cNvPr id="13" name="圆角矩形 12"/>
          <p:cNvSpPr/>
          <p:nvPr>
            <p:custDataLst>
              <p:tags r:id="rId10"/>
            </p:custDataLst>
          </p:nvPr>
        </p:nvSpPr>
        <p:spPr>
          <a:xfrm>
            <a:off x="8915400" y="621474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endParaRPr>
          </a:p>
        </p:txBody>
      </p:sp>
      <p:grpSp>
        <p:nvGrpSpPr>
          <p:cNvPr id="18" name="组合 17"/>
          <p:cNvGrpSpPr/>
          <p:nvPr>
            <p:custDataLst>
              <p:tags r:id="rId11"/>
            </p:custDataLst>
          </p:nvPr>
        </p:nvGrpSpPr>
        <p:grpSpPr>
          <a:xfrm>
            <a:off x="0" y="0"/>
            <a:ext cx="12192000" cy="635000"/>
            <a:chOff x="0" y="0"/>
            <a:chExt cx="19200" cy="1000"/>
          </a:xfrm>
        </p:grpSpPr>
        <p:sp>
          <p:nvSpPr>
            <p:cNvPr id="14" name="TitleBackground"/>
            <p:cNvSpPr/>
            <p:nvPr>
              <p:custDataLst>
                <p:tags r:id="rId12"/>
              </p:custDataLst>
            </p:nvPr>
          </p:nvSpPr>
          <p:spPr>
            <a:xfrm>
              <a:off x="0" y="0"/>
              <a:ext cx="192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3"/>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4"/>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7" name="TipText"/>
            <p:cNvSpPr txBox="1"/>
            <p:nvPr>
              <p:custDataLst>
                <p:tags r:id="rId15"/>
              </p:custDataLst>
            </p:nvPr>
          </p:nvSpPr>
          <p:spPr>
            <a:xfrm>
              <a:off x="2403"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1分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3" name="图片 2" descr="tmp431E"/>
          <p:cNvPicPr>
            <a:picLocks noChangeAspect="1"/>
          </p:cNvPicPr>
          <p:nvPr>
            <p:custDataLst>
              <p:tags r:id="rId16"/>
            </p:custDataLst>
          </p:nvPr>
        </p:nvPicPr>
        <p:blipFill>
          <a:blip r:embed="rId17"/>
          <a:stretch>
            <a:fillRect/>
          </a:stretch>
        </p:blipFill>
        <p:spPr>
          <a:xfrm>
            <a:off x="10642600" y="63500"/>
            <a:ext cx="1422400" cy="508000"/>
          </a:xfrm>
          <a:prstGeom prst="rect">
            <a:avLst/>
          </a:prstGeom>
        </p:spPr>
      </p:pic>
    </p:spTree>
    <p:custDataLst>
      <p:tags r:id="rId18"/>
    </p:custData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vert="horz" wrap="square" lIns="91440" tIns="45720" rIns="91440" bIns="45720" anchor="ctr" anchorCtr="0"/>
          <a:lstStyle/>
          <a:p>
            <a:r>
              <a:rPr lang="en-US" altLang="zh-CN" sz="4000" b="1" dirty="0"/>
              <a:t>8.4Hadoop</a:t>
            </a:r>
            <a:r>
              <a:rPr lang="zh-CN" altLang="en-US" sz="4000" b="1" dirty="0"/>
              <a:t>生态系统中具有代表性的功能组件</a:t>
            </a:r>
            <a:endParaRPr lang="zh-CN" altLang="en-US" sz="4000" b="1" dirty="0"/>
          </a:p>
        </p:txBody>
      </p:sp>
      <p:sp>
        <p:nvSpPr>
          <p:cNvPr id="30723" name="矩形 4"/>
          <p:cNvSpPr/>
          <p:nvPr/>
        </p:nvSpPr>
        <p:spPr>
          <a:xfrm>
            <a:off x="1026795" y="1691005"/>
            <a:ext cx="3101975" cy="3046095"/>
          </a:xfrm>
          <a:prstGeom prst="rect">
            <a:avLst/>
          </a:prstGeom>
          <a:noFill/>
          <a:ln w="9525">
            <a:noFill/>
          </a:ln>
        </p:spPr>
        <p:txBody>
          <a:bodyPr wrap="square">
            <a:spAutoFit/>
          </a:bodyPr>
          <a:lstStyle/>
          <a:p>
            <a:pPr>
              <a:lnSpc>
                <a:spcPct val="200000"/>
              </a:lnSpc>
            </a:pPr>
            <a:r>
              <a:rPr lang="en-US" altLang="zh-CN" sz="3200" dirty="0">
                <a:latin typeface="Arial" panose="020B0604020202020204" pitchFamily="34" charset="0"/>
              </a:rPr>
              <a:t>8.</a:t>
            </a:r>
            <a:r>
              <a:rPr lang="zh-CN" altLang="zh-CN" sz="3200" dirty="0">
                <a:latin typeface="Arial" panose="020B0604020202020204" pitchFamily="34" charset="0"/>
              </a:rPr>
              <a:t>4.1</a:t>
            </a:r>
            <a:r>
              <a:rPr lang="en-US" altLang="zh-CN" sz="3200" dirty="0">
                <a:latin typeface="Arial" panose="020B0604020202020204" pitchFamily="34" charset="0"/>
              </a:rPr>
              <a:t> </a:t>
            </a:r>
            <a:r>
              <a:rPr lang="zh-CN" altLang="zh-CN" sz="3200" dirty="0">
                <a:latin typeface="Arial" panose="020B0604020202020204" pitchFamily="34" charset="0"/>
              </a:rPr>
              <a:t>Pig</a:t>
            </a:r>
            <a:endParaRPr lang="en-US" altLang="zh-CN" sz="3200" dirty="0">
              <a:latin typeface="Arial" panose="020B0604020202020204" pitchFamily="34" charset="0"/>
            </a:endParaRPr>
          </a:p>
          <a:p>
            <a:pPr>
              <a:lnSpc>
                <a:spcPct val="200000"/>
              </a:lnSpc>
            </a:pPr>
            <a:r>
              <a:rPr lang="en-US" altLang="zh-CN" sz="3200" dirty="0">
                <a:latin typeface="Arial" panose="020B0604020202020204" pitchFamily="34" charset="0"/>
              </a:rPr>
              <a:t>8.</a:t>
            </a:r>
            <a:r>
              <a:rPr lang="zh-CN" altLang="zh-CN" sz="3200" dirty="0">
                <a:latin typeface="Arial" panose="020B0604020202020204" pitchFamily="34" charset="0"/>
              </a:rPr>
              <a:t>4.2</a:t>
            </a:r>
            <a:r>
              <a:rPr lang="en-US" altLang="zh-CN" sz="3200" dirty="0">
                <a:latin typeface="Arial" panose="020B0604020202020204" pitchFamily="34" charset="0"/>
              </a:rPr>
              <a:t> </a:t>
            </a:r>
            <a:r>
              <a:rPr lang="zh-CN" altLang="zh-CN" sz="3200" dirty="0">
                <a:latin typeface="Arial" panose="020B0604020202020204" pitchFamily="34" charset="0"/>
              </a:rPr>
              <a:t>Tez</a:t>
            </a:r>
            <a:endParaRPr lang="en-US" altLang="zh-CN" sz="3200" dirty="0">
              <a:latin typeface="Arial" panose="020B0604020202020204" pitchFamily="34" charset="0"/>
            </a:endParaRPr>
          </a:p>
          <a:p>
            <a:pPr>
              <a:lnSpc>
                <a:spcPct val="200000"/>
              </a:lnSpc>
            </a:pPr>
            <a:r>
              <a:rPr lang="en-US" altLang="zh-CN" sz="3200" dirty="0">
                <a:latin typeface="Arial" panose="020B0604020202020204" pitchFamily="34" charset="0"/>
              </a:rPr>
              <a:t>8.</a:t>
            </a:r>
            <a:r>
              <a:rPr lang="zh-CN" altLang="zh-CN" sz="3200" dirty="0">
                <a:latin typeface="Arial" panose="020B0604020202020204" pitchFamily="34" charset="0"/>
              </a:rPr>
              <a:t>4.</a:t>
            </a:r>
            <a:r>
              <a:rPr lang="en-US" altLang="zh-CN" sz="3200" dirty="0">
                <a:latin typeface="Arial" panose="020B0604020202020204" pitchFamily="34" charset="0"/>
              </a:rPr>
              <a:t>3 Kafka</a:t>
            </a:r>
            <a:endParaRPr lang="en-US" altLang="zh-CN" sz="3200" dirty="0">
              <a:latin typeface="Arial" panose="020B0604020202020204"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p:txBody>
          <a:bodyPr vert="horz" wrap="square" lIns="91440" tIns="45720" rIns="91440" bIns="45720" anchor="ctr" anchorCtr="0"/>
          <a:lstStyle/>
          <a:p>
            <a:r>
              <a:rPr lang="en-US" altLang="zh-CN" b="1" dirty="0"/>
              <a:t>8.</a:t>
            </a:r>
            <a:r>
              <a:rPr lang="zh-CN" altLang="zh-CN" b="1" dirty="0"/>
              <a:t>4.1Pig</a:t>
            </a:r>
            <a:endParaRPr lang="zh-CN" altLang="en-US" dirty="0"/>
          </a:p>
        </p:txBody>
      </p:sp>
      <p:sp>
        <p:nvSpPr>
          <p:cNvPr id="31747" name="矩形 2"/>
          <p:cNvSpPr/>
          <p:nvPr/>
        </p:nvSpPr>
        <p:spPr>
          <a:xfrm>
            <a:off x="838200" y="1536700"/>
            <a:ext cx="10187305" cy="4961890"/>
          </a:xfrm>
          <a:prstGeom prst="rect">
            <a:avLst/>
          </a:prstGeom>
          <a:noFill/>
          <a:ln w="9525">
            <a:noFill/>
          </a:ln>
        </p:spPr>
        <p:txBody>
          <a:bodyPr wrap="square">
            <a:spAutoFit/>
          </a:bodyPr>
          <a:lstStyle/>
          <a:p>
            <a:pPr>
              <a:lnSpc>
                <a:spcPct val="110000"/>
              </a:lnSpc>
              <a:buFont typeface="Arial" panose="020B0604020202020204" pitchFamily="34" charset="0"/>
              <a:buChar char="•"/>
            </a:pPr>
            <a:r>
              <a:rPr lang="en-US" altLang="zh-CN" sz="2400" dirty="0">
                <a:latin typeface="Arial" panose="020B0604020202020204" pitchFamily="34" charset="0"/>
              </a:rPr>
              <a:t>Pig</a:t>
            </a:r>
            <a:r>
              <a:rPr lang="zh-CN" altLang="zh-CN" sz="2400" dirty="0">
                <a:latin typeface="Arial" panose="020B0604020202020204" pitchFamily="34" charset="0"/>
              </a:rPr>
              <a:t>是</a:t>
            </a:r>
            <a:r>
              <a:rPr lang="en-US" altLang="zh-CN" sz="2400" dirty="0">
                <a:latin typeface="Arial" panose="020B0604020202020204" pitchFamily="34" charset="0"/>
              </a:rPr>
              <a:t>Hadoop</a:t>
            </a:r>
            <a:r>
              <a:rPr lang="zh-CN" altLang="zh-CN" sz="2400" dirty="0">
                <a:latin typeface="Arial" panose="020B0604020202020204" pitchFamily="34" charset="0"/>
              </a:rPr>
              <a:t>生态系统的一个组件</a:t>
            </a:r>
            <a:endParaRPr lang="en-US" altLang="zh-CN" sz="2400" dirty="0">
              <a:latin typeface="Arial" panose="020B0604020202020204" pitchFamily="34" charset="0"/>
            </a:endParaRPr>
          </a:p>
          <a:p>
            <a:pPr>
              <a:lnSpc>
                <a:spcPct val="110000"/>
              </a:lnSpc>
              <a:buFont typeface="Arial" panose="020B0604020202020204" pitchFamily="34" charset="0"/>
              <a:buChar char="•"/>
            </a:pPr>
            <a:r>
              <a:rPr lang="zh-CN" altLang="zh-CN" sz="2400" dirty="0">
                <a:latin typeface="Arial" panose="020B0604020202020204" pitchFamily="34" charset="0"/>
              </a:rPr>
              <a:t>提供了类似</a:t>
            </a:r>
            <a:r>
              <a:rPr lang="en-US" altLang="zh-CN" sz="2400" dirty="0">
                <a:latin typeface="Arial" panose="020B0604020202020204" pitchFamily="34" charset="0"/>
              </a:rPr>
              <a:t>SQL</a:t>
            </a:r>
            <a:r>
              <a:rPr lang="zh-CN" altLang="zh-CN" sz="2400" dirty="0">
                <a:latin typeface="Arial" panose="020B0604020202020204" pitchFamily="34" charset="0"/>
              </a:rPr>
              <a:t>的</a:t>
            </a:r>
            <a:r>
              <a:rPr lang="en-US" altLang="zh-CN" sz="2400" dirty="0">
                <a:latin typeface="Arial" panose="020B0604020202020204" pitchFamily="34" charset="0"/>
              </a:rPr>
              <a:t>Pig Latin</a:t>
            </a:r>
            <a:r>
              <a:rPr lang="zh-CN" altLang="zh-CN" sz="2400" dirty="0">
                <a:latin typeface="Arial" panose="020B0604020202020204" pitchFamily="34" charset="0"/>
              </a:rPr>
              <a:t>语言（包含</a:t>
            </a:r>
            <a:r>
              <a:rPr lang="en-US" altLang="zh-CN" sz="2400" dirty="0">
                <a:latin typeface="Arial" panose="020B0604020202020204" pitchFamily="34" charset="0"/>
              </a:rPr>
              <a:t>Filter</a:t>
            </a:r>
            <a:r>
              <a:rPr lang="zh-CN" altLang="zh-CN" sz="2400" dirty="0">
                <a:latin typeface="Arial" panose="020B0604020202020204" pitchFamily="34" charset="0"/>
              </a:rPr>
              <a:t>、</a:t>
            </a:r>
            <a:r>
              <a:rPr lang="en-US" altLang="zh-CN" sz="2400" dirty="0">
                <a:latin typeface="Arial" panose="020B0604020202020204" pitchFamily="34" charset="0"/>
              </a:rPr>
              <a:t>GroupBy</a:t>
            </a:r>
            <a:r>
              <a:rPr lang="zh-CN" altLang="zh-CN" sz="2400" dirty="0">
                <a:latin typeface="Arial" panose="020B0604020202020204" pitchFamily="34" charset="0"/>
              </a:rPr>
              <a:t>、</a:t>
            </a:r>
            <a:r>
              <a:rPr lang="en-US" altLang="zh-CN" sz="2400" dirty="0">
                <a:latin typeface="Arial" panose="020B0604020202020204" pitchFamily="34" charset="0"/>
              </a:rPr>
              <a:t>Join</a:t>
            </a:r>
            <a:r>
              <a:rPr lang="zh-CN" altLang="zh-CN" sz="2400" dirty="0">
                <a:latin typeface="Arial" panose="020B0604020202020204" pitchFamily="34" charset="0"/>
              </a:rPr>
              <a:t>、</a:t>
            </a:r>
            <a:r>
              <a:rPr lang="en-US" altLang="zh-CN" sz="2400" dirty="0">
                <a:latin typeface="Arial" panose="020B0604020202020204" pitchFamily="34" charset="0"/>
              </a:rPr>
              <a:t>OrderBy</a:t>
            </a:r>
            <a:r>
              <a:rPr lang="zh-CN" altLang="zh-CN" sz="2400" dirty="0">
                <a:latin typeface="Arial" panose="020B0604020202020204" pitchFamily="34" charset="0"/>
              </a:rPr>
              <a:t>等操作，同时也支持用户自定义函数）</a:t>
            </a:r>
            <a:endParaRPr lang="en-US" altLang="zh-CN" sz="2400" dirty="0">
              <a:latin typeface="Arial" panose="020B0604020202020204" pitchFamily="34" charset="0"/>
            </a:endParaRPr>
          </a:p>
          <a:p>
            <a:pPr>
              <a:lnSpc>
                <a:spcPct val="110000"/>
              </a:lnSpc>
              <a:buFont typeface="Arial" panose="020B0604020202020204" pitchFamily="34" charset="0"/>
              <a:buChar char="•"/>
            </a:pPr>
            <a:r>
              <a:rPr lang="zh-CN" altLang="zh-CN" sz="2400" dirty="0">
                <a:latin typeface="Arial" panose="020B0604020202020204" pitchFamily="34" charset="0"/>
              </a:rPr>
              <a:t>允许用户通过编写</a:t>
            </a:r>
            <a:r>
              <a:rPr lang="zh-CN" altLang="zh-CN" sz="2400" dirty="0">
                <a:highlight>
                  <a:srgbClr val="FFFF00"/>
                </a:highlight>
                <a:latin typeface="Arial" panose="020B0604020202020204" pitchFamily="34" charset="0"/>
              </a:rPr>
              <a:t>简单的脚本</a:t>
            </a:r>
            <a:r>
              <a:rPr lang="zh-CN" altLang="zh-CN" sz="2400" dirty="0">
                <a:latin typeface="Arial" panose="020B0604020202020204" pitchFamily="34" charset="0"/>
              </a:rPr>
              <a:t>来实现复杂的数据分析，而不需要编写复杂的</a:t>
            </a:r>
            <a:r>
              <a:rPr lang="en-US" altLang="zh-CN" sz="2400" dirty="0">
                <a:latin typeface="Arial" panose="020B0604020202020204" pitchFamily="34" charset="0"/>
              </a:rPr>
              <a:t>MapReduce</a:t>
            </a:r>
            <a:r>
              <a:rPr lang="zh-CN" altLang="zh-CN" sz="2400" dirty="0">
                <a:latin typeface="Arial" panose="020B0604020202020204" pitchFamily="34" charset="0"/>
              </a:rPr>
              <a:t>应用程序</a:t>
            </a:r>
            <a:endParaRPr lang="en-US" altLang="zh-CN" sz="2400" dirty="0">
              <a:latin typeface="Arial" panose="020B0604020202020204" pitchFamily="34" charset="0"/>
            </a:endParaRPr>
          </a:p>
          <a:p>
            <a:pPr>
              <a:lnSpc>
                <a:spcPct val="110000"/>
              </a:lnSpc>
              <a:buFont typeface="Arial" panose="020B0604020202020204" pitchFamily="34" charset="0"/>
              <a:buChar char="•"/>
            </a:pPr>
            <a:r>
              <a:rPr lang="en-US" altLang="zh-CN" sz="2400" dirty="0">
                <a:latin typeface="Arial" panose="020B0604020202020204" pitchFamily="34" charset="0"/>
              </a:rPr>
              <a:t>Pig</a:t>
            </a:r>
            <a:r>
              <a:rPr lang="zh-CN" altLang="zh-CN" sz="2400" dirty="0">
                <a:latin typeface="Arial" panose="020B0604020202020204" pitchFamily="34" charset="0"/>
              </a:rPr>
              <a:t>会自动把用户编写的脚本转换成</a:t>
            </a:r>
            <a:r>
              <a:rPr lang="en-US" altLang="zh-CN" sz="2400" dirty="0">
                <a:latin typeface="Arial" panose="020B0604020202020204" pitchFamily="34" charset="0"/>
              </a:rPr>
              <a:t>MapReduce</a:t>
            </a:r>
            <a:r>
              <a:rPr lang="zh-CN" altLang="zh-CN" sz="2400" dirty="0">
                <a:latin typeface="Arial" panose="020B0604020202020204" pitchFamily="34" charset="0"/>
              </a:rPr>
              <a:t>作业在</a:t>
            </a:r>
            <a:r>
              <a:rPr lang="en-US" altLang="zh-CN" sz="2400" dirty="0">
                <a:latin typeface="Arial" panose="020B0604020202020204" pitchFamily="34" charset="0"/>
              </a:rPr>
              <a:t>Hadoop</a:t>
            </a:r>
            <a:r>
              <a:rPr lang="zh-CN" altLang="zh-CN" sz="2400" dirty="0">
                <a:latin typeface="Arial" panose="020B0604020202020204" pitchFamily="34" charset="0"/>
              </a:rPr>
              <a:t>集群上运行，而且具备对生成的</a:t>
            </a:r>
            <a:r>
              <a:rPr lang="en-US" altLang="zh-CN" sz="2400" dirty="0">
                <a:latin typeface="Arial" panose="020B0604020202020204" pitchFamily="34" charset="0"/>
              </a:rPr>
              <a:t>MapReduce</a:t>
            </a:r>
            <a:r>
              <a:rPr lang="zh-CN" altLang="zh-CN" sz="2400" dirty="0">
                <a:latin typeface="Arial" panose="020B0604020202020204" pitchFamily="34" charset="0"/>
              </a:rPr>
              <a:t>程序进行自动优化的功能</a:t>
            </a:r>
            <a:endParaRPr lang="en-US" altLang="zh-CN" sz="2400" dirty="0">
              <a:latin typeface="Arial" panose="020B0604020202020204" pitchFamily="34" charset="0"/>
            </a:endParaRPr>
          </a:p>
          <a:p>
            <a:pPr>
              <a:lnSpc>
                <a:spcPct val="110000"/>
              </a:lnSpc>
              <a:buFont typeface="Arial" panose="020B0604020202020204" pitchFamily="34" charset="0"/>
              <a:buChar char="•"/>
            </a:pPr>
            <a:r>
              <a:rPr lang="zh-CN" altLang="zh-CN" sz="2400" dirty="0">
                <a:latin typeface="Arial" panose="020B0604020202020204" pitchFamily="34" charset="0"/>
              </a:rPr>
              <a:t>用户在编写</a:t>
            </a:r>
            <a:r>
              <a:rPr lang="en-US" altLang="zh-CN" sz="2400" dirty="0">
                <a:latin typeface="Arial" panose="020B0604020202020204" pitchFamily="34" charset="0"/>
              </a:rPr>
              <a:t>Pig</a:t>
            </a:r>
            <a:r>
              <a:rPr lang="zh-CN" altLang="zh-CN" sz="2400" dirty="0">
                <a:latin typeface="Arial" panose="020B0604020202020204" pitchFamily="34" charset="0"/>
              </a:rPr>
              <a:t>程序的时候，不需要关心程序的运行效率，这就大大减少了用户编程时间</a:t>
            </a:r>
            <a:endParaRPr lang="en-US" altLang="zh-CN" sz="2400" dirty="0">
              <a:latin typeface="Arial" panose="020B0604020202020204" pitchFamily="34" charset="0"/>
            </a:endParaRPr>
          </a:p>
          <a:p>
            <a:pPr>
              <a:lnSpc>
                <a:spcPct val="110000"/>
              </a:lnSpc>
              <a:buFont typeface="Arial" panose="020B0604020202020204" pitchFamily="34" charset="0"/>
              <a:buChar char="•"/>
            </a:pPr>
            <a:r>
              <a:rPr lang="zh-CN" altLang="zh-CN" sz="2400" dirty="0">
                <a:latin typeface="Arial" panose="020B0604020202020204" pitchFamily="34" charset="0"/>
              </a:rPr>
              <a:t>通过配合使用</a:t>
            </a:r>
            <a:r>
              <a:rPr lang="en-US" altLang="zh-CN" sz="2400" dirty="0">
                <a:latin typeface="Arial" panose="020B0604020202020204" pitchFamily="34" charset="0"/>
              </a:rPr>
              <a:t>Pig</a:t>
            </a:r>
            <a:r>
              <a:rPr lang="zh-CN" altLang="zh-CN" sz="2400" dirty="0">
                <a:latin typeface="Arial" panose="020B0604020202020204" pitchFamily="34" charset="0"/>
              </a:rPr>
              <a:t>和</a:t>
            </a:r>
            <a:r>
              <a:rPr lang="en-US" altLang="zh-CN" sz="2400" dirty="0">
                <a:latin typeface="Arial" panose="020B0604020202020204" pitchFamily="34" charset="0"/>
              </a:rPr>
              <a:t>Hadoop</a:t>
            </a:r>
            <a:r>
              <a:rPr lang="zh-CN" altLang="zh-CN" sz="2400" dirty="0">
                <a:latin typeface="Arial" panose="020B0604020202020204" pitchFamily="34" charset="0"/>
              </a:rPr>
              <a:t>，在处理海量数据时就可以实现事半功倍的效果，比使用</a:t>
            </a:r>
            <a:r>
              <a:rPr lang="en-US" altLang="zh-CN" sz="2400" dirty="0">
                <a:latin typeface="Arial" panose="020B0604020202020204" pitchFamily="34" charset="0"/>
              </a:rPr>
              <a:t>Java</a:t>
            </a:r>
            <a:r>
              <a:rPr lang="zh-CN" altLang="zh-CN" sz="2400" dirty="0">
                <a:latin typeface="Arial" panose="020B0604020202020204" pitchFamily="34" charset="0"/>
              </a:rPr>
              <a:t>、</a:t>
            </a:r>
            <a:r>
              <a:rPr lang="en-US" altLang="zh-CN" sz="2400" dirty="0">
                <a:latin typeface="Arial" panose="020B0604020202020204" pitchFamily="34" charset="0"/>
              </a:rPr>
              <a:t>C++</a:t>
            </a:r>
            <a:r>
              <a:rPr lang="zh-CN" altLang="zh-CN" sz="2400" dirty="0">
                <a:latin typeface="Arial" panose="020B0604020202020204" pitchFamily="34" charset="0"/>
              </a:rPr>
              <a:t>等语言编写</a:t>
            </a:r>
            <a:r>
              <a:rPr lang="en-US" altLang="zh-CN" sz="2400" dirty="0">
                <a:latin typeface="Arial" panose="020B0604020202020204" pitchFamily="34" charset="0"/>
              </a:rPr>
              <a:t>MapReduce</a:t>
            </a:r>
            <a:r>
              <a:rPr lang="zh-CN" altLang="zh-CN" sz="2400" dirty="0">
                <a:latin typeface="Arial" panose="020B0604020202020204" pitchFamily="34" charset="0"/>
              </a:rPr>
              <a:t>程序的难度要小很多，并且用更少的代码量实现了相同的数据处理分析功能</a:t>
            </a:r>
            <a:endParaRPr lang="zh-CN" altLang="zh-CN" sz="2400" dirty="0">
              <a:latin typeface="Arial" panose="020B060402020202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2"/>
          <p:cNvSpPr>
            <a:spLocks noGrp="1"/>
          </p:cNvSpPr>
          <p:nvPr>
            <p:ph type="title"/>
          </p:nvPr>
        </p:nvSpPr>
        <p:spPr/>
        <p:txBody>
          <a:bodyPr vert="horz" wrap="square" lIns="91440" tIns="45720" rIns="91440" bIns="45720" anchor="ctr" anchorCtr="0"/>
          <a:lstStyle/>
          <a:p>
            <a:r>
              <a:rPr lang="en-US" altLang="zh-CN" b="1" dirty="0"/>
              <a:t>8.</a:t>
            </a:r>
            <a:r>
              <a:rPr lang="zh-CN" altLang="zh-CN" b="1" dirty="0"/>
              <a:t>4.1Pig</a:t>
            </a:r>
            <a:endParaRPr lang="zh-CN" altLang="zh-CN" b="1" dirty="0"/>
          </a:p>
        </p:txBody>
      </p:sp>
      <p:sp>
        <p:nvSpPr>
          <p:cNvPr id="32771" name="矩形 7"/>
          <p:cNvSpPr/>
          <p:nvPr/>
        </p:nvSpPr>
        <p:spPr>
          <a:xfrm>
            <a:off x="889635" y="1398905"/>
            <a:ext cx="10230485" cy="2676525"/>
          </a:xfrm>
          <a:prstGeom prst="rect">
            <a:avLst/>
          </a:prstGeom>
          <a:noFill/>
          <a:ln w="9525">
            <a:noFill/>
          </a:ln>
        </p:spPr>
        <p:txBody>
          <a:bodyPr wrap="square">
            <a:spAutoFit/>
          </a:bodyPr>
          <a:lstStyle/>
          <a:p>
            <a:r>
              <a:rPr lang="en-US" altLang="zh-CN" sz="2400" dirty="0">
                <a:latin typeface="Arial" panose="020B0604020202020204" pitchFamily="34" charset="0"/>
              </a:rPr>
              <a:t>Pig</a:t>
            </a:r>
            <a:r>
              <a:rPr lang="zh-CN" altLang="zh-CN" sz="2400" dirty="0">
                <a:latin typeface="Arial" panose="020B0604020202020204" pitchFamily="34" charset="0"/>
              </a:rPr>
              <a:t>可以加载数据、表达转换数据以及存储最终结果</a:t>
            </a:r>
            <a:endParaRPr lang="en-US" altLang="zh-CN" sz="2400" dirty="0">
              <a:latin typeface="Arial" panose="020B0604020202020204" pitchFamily="34" charset="0"/>
            </a:endParaRPr>
          </a:p>
          <a:p>
            <a:endParaRPr lang="en-US" altLang="zh-CN" sz="2400" dirty="0">
              <a:latin typeface="Arial" panose="020B0604020202020204" pitchFamily="34" charset="0"/>
            </a:endParaRPr>
          </a:p>
          <a:p>
            <a:r>
              <a:rPr lang="en-US" altLang="zh-CN" sz="2400" dirty="0">
                <a:latin typeface="Arial" panose="020B0604020202020204" pitchFamily="34" charset="0"/>
              </a:rPr>
              <a:t>Pig</a:t>
            </a:r>
            <a:r>
              <a:rPr lang="zh-CN" altLang="en-US" sz="2400" dirty="0">
                <a:latin typeface="Arial" panose="020B0604020202020204" pitchFamily="34" charset="0"/>
              </a:rPr>
              <a:t>语句通常按照如下的格式来编写</a:t>
            </a:r>
            <a:r>
              <a:rPr lang="en-US" altLang="zh-CN" sz="2400" dirty="0">
                <a:latin typeface="Arial" panose="020B0604020202020204" pitchFamily="34" charset="0"/>
              </a:rPr>
              <a:t>:</a:t>
            </a:r>
            <a:endParaRPr lang="zh-CN" altLang="en-US" sz="2400" dirty="0">
              <a:latin typeface="Arial" panose="020B0604020202020204" pitchFamily="34" charset="0"/>
            </a:endParaRPr>
          </a:p>
          <a:p>
            <a:pPr>
              <a:buFont typeface="Arial" panose="020B0604020202020204" pitchFamily="34" charset="0"/>
              <a:buChar char="•"/>
            </a:pPr>
            <a:r>
              <a:rPr lang="zh-CN" altLang="en-US" sz="2400" dirty="0">
                <a:latin typeface="Arial" panose="020B0604020202020204" pitchFamily="34" charset="0"/>
              </a:rPr>
              <a:t>通过</a:t>
            </a:r>
            <a:r>
              <a:rPr lang="en-US" altLang="zh-CN" sz="2400" dirty="0">
                <a:latin typeface="Arial" panose="020B0604020202020204" pitchFamily="34" charset="0"/>
              </a:rPr>
              <a:t>LOAD</a:t>
            </a:r>
            <a:r>
              <a:rPr lang="zh-CN" altLang="en-US" sz="2400" dirty="0">
                <a:latin typeface="Arial" panose="020B0604020202020204" pitchFamily="34" charset="0"/>
              </a:rPr>
              <a:t>语句从文件系统读取数据</a:t>
            </a:r>
            <a:endParaRPr lang="zh-CN" altLang="en-US" sz="2400" dirty="0">
              <a:latin typeface="Arial" panose="020B0604020202020204" pitchFamily="34" charset="0"/>
            </a:endParaRPr>
          </a:p>
          <a:p>
            <a:pPr>
              <a:buFont typeface="Arial" panose="020B0604020202020204" pitchFamily="34" charset="0"/>
              <a:buChar char="•"/>
            </a:pPr>
            <a:r>
              <a:rPr lang="zh-CN" altLang="en-US" sz="2400" dirty="0">
                <a:latin typeface="Arial" panose="020B0604020202020204" pitchFamily="34" charset="0"/>
              </a:rPr>
              <a:t>通过一系列“转换”语句对数据进行处理</a:t>
            </a:r>
            <a:endParaRPr lang="zh-CN" altLang="en-US" sz="2400" dirty="0">
              <a:latin typeface="Arial" panose="020B0604020202020204" pitchFamily="34" charset="0"/>
            </a:endParaRPr>
          </a:p>
          <a:p>
            <a:pPr>
              <a:buFont typeface="Arial" panose="020B0604020202020204" pitchFamily="34" charset="0"/>
              <a:buChar char="•"/>
            </a:pPr>
            <a:r>
              <a:rPr lang="zh-CN" altLang="en-US" sz="2400" dirty="0">
                <a:latin typeface="Arial" panose="020B0604020202020204" pitchFamily="34" charset="0"/>
              </a:rPr>
              <a:t>通过一条</a:t>
            </a:r>
            <a:r>
              <a:rPr lang="en-US" altLang="zh-CN" sz="2400" dirty="0">
                <a:latin typeface="Arial" panose="020B0604020202020204" pitchFamily="34" charset="0"/>
              </a:rPr>
              <a:t>STORE</a:t>
            </a:r>
            <a:r>
              <a:rPr lang="zh-CN" altLang="en-US" sz="2400" dirty="0">
                <a:latin typeface="Arial" panose="020B0604020202020204" pitchFamily="34" charset="0"/>
              </a:rPr>
              <a:t>语句把处理结果输出到文件系统中，或者使用</a:t>
            </a:r>
            <a:r>
              <a:rPr lang="en-US" altLang="zh-CN" sz="2400" dirty="0">
                <a:latin typeface="Arial" panose="020B0604020202020204" pitchFamily="34" charset="0"/>
              </a:rPr>
              <a:t>DUMP</a:t>
            </a:r>
            <a:r>
              <a:rPr lang="zh-CN" altLang="en-US" sz="2400" dirty="0">
                <a:latin typeface="Arial" panose="020B0604020202020204" pitchFamily="34" charset="0"/>
              </a:rPr>
              <a:t>语句把处理结果输出到屏幕上</a:t>
            </a:r>
            <a:endParaRPr lang="zh-CN" altLang="en-US" sz="2400" dirty="0">
              <a:latin typeface="Arial" panose="020B0604020202020204" pitchFamily="34" charset="0"/>
            </a:endParaRPr>
          </a:p>
        </p:txBody>
      </p:sp>
      <p:pic>
        <p:nvPicPr>
          <p:cNvPr id="32772" name="Picture 8"/>
          <p:cNvPicPr>
            <a:picLocks noChangeAspect="1"/>
          </p:cNvPicPr>
          <p:nvPr/>
        </p:nvPicPr>
        <p:blipFill>
          <a:blip r:embed="rId1"/>
          <a:stretch>
            <a:fillRect/>
          </a:stretch>
        </p:blipFill>
        <p:spPr>
          <a:xfrm>
            <a:off x="2590800" y="4398010"/>
            <a:ext cx="7056438" cy="1752600"/>
          </a:xfrm>
          <a:prstGeom prst="rect">
            <a:avLst/>
          </a:prstGeom>
          <a:noFill/>
          <a:ln w="9525">
            <a:noFill/>
          </a:ln>
        </p:spPr>
      </p:pic>
      <p:sp>
        <p:nvSpPr>
          <p:cNvPr id="32773" name="矩形 5"/>
          <p:cNvSpPr/>
          <p:nvPr/>
        </p:nvSpPr>
        <p:spPr>
          <a:xfrm>
            <a:off x="3749675" y="6285230"/>
            <a:ext cx="5059680" cy="460375"/>
          </a:xfrm>
          <a:prstGeom prst="rect">
            <a:avLst/>
          </a:prstGeom>
          <a:noFill/>
          <a:ln w="9525">
            <a:noFill/>
          </a:ln>
        </p:spPr>
        <p:txBody>
          <a:bodyPr wrap="none">
            <a:spAutoFit/>
          </a:bodyPr>
          <a:lstStyle/>
          <a:p>
            <a:r>
              <a:rPr lang="zh-CN" altLang="zh-CN" sz="2400" dirty="0">
                <a:latin typeface="Arial" panose="020B0604020202020204" pitchFamily="34" charset="0"/>
              </a:rPr>
              <a:t>图</a:t>
            </a:r>
            <a:r>
              <a:rPr lang="en-US" altLang="zh-CN" sz="2400" dirty="0">
                <a:latin typeface="Arial" panose="020B0604020202020204" pitchFamily="34" charset="0"/>
              </a:rPr>
              <a:t>  Pig</a:t>
            </a:r>
            <a:r>
              <a:rPr lang="zh-CN" altLang="zh-CN" sz="2400" dirty="0">
                <a:latin typeface="Arial" panose="020B0604020202020204" pitchFamily="34" charset="0"/>
              </a:rPr>
              <a:t>在企业数据分析系统中的作用</a:t>
            </a:r>
            <a:endParaRPr lang="zh-CN" altLang="zh-CN" sz="2400" dirty="0">
              <a:latin typeface="Arial" panose="020B0604020202020204"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2"/>
          <p:cNvSpPr>
            <a:spLocks noGrp="1"/>
          </p:cNvSpPr>
          <p:nvPr>
            <p:ph type="title"/>
          </p:nvPr>
        </p:nvSpPr>
        <p:spPr/>
        <p:txBody>
          <a:bodyPr vert="horz" wrap="square" lIns="91440" tIns="45720" rIns="91440" bIns="45720" anchor="ctr" anchorCtr="0"/>
          <a:lstStyle/>
          <a:p>
            <a:r>
              <a:rPr lang="en-US" altLang="zh-CN" b="1" dirty="0"/>
              <a:t>8.</a:t>
            </a:r>
            <a:r>
              <a:rPr lang="zh-CN" altLang="zh-CN" b="1" dirty="0"/>
              <a:t>4.1Pig</a:t>
            </a:r>
            <a:endParaRPr lang="zh-CN" altLang="en-US" dirty="0"/>
          </a:p>
        </p:txBody>
      </p:sp>
      <p:sp>
        <p:nvSpPr>
          <p:cNvPr id="33795" name="矩形 3"/>
          <p:cNvSpPr/>
          <p:nvPr/>
        </p:nvSpPr>
        <p:spPr>
          <a:xfrm>
            <a:off x="978535" y="1450340"/>
            <a:ext cx="10152380" cy="829945"/>
          </a:xfrm>
          <a:prstGeom prst="rect">
            <a:avLst/>
          </a:prstGeom>
          <a:noFill/>
          <a:ln w="9525">
            <a:noFill/>
          </a:ln>
        </p:spPr>
        <p:txBody>
          <a:bodyPr wrap="square">
            <a:spAutoFit/>
          </a:bodyPr>
          <a:lstStyle/>
          <a:p>
            <a:pPr indent="0">
              <a:buFont typeface="Arial" panose="020B0604020202020204" pitchFamily="34" charset="0"/>
              <a:buNone/>
            </a:pPr>
            <a:r>
              <a:rPr lang="zh-CN" altLang="zh-CN" sz="2400" dirty="0">
                <a:latin typeface="Arial" panose="020B0604020202020204" pitchFamily="34" charset="0"/>
              </a:rPr>
              <a:t>下面是一个采用</a:t>
            </a:r>
            <a:r>
              <a:rPr lang="en-US" altLang="zh-CN" sz="2400" dirty="0">
                <a:latin typeface="Arial" panose="020B0604020202020204" pitchFamily="34" charset="0"/>
              </a:rPr>
              <a:t>Pig Latin</a:t>
            </a:r>
            <a:r>
              <a:rPr lang="zh-CN" altLang="zh-CN" sz="2400" dirty="0">
                <a:latin typeface="Arial" panose="020B0604020202020204" pitchFamily="34" charset="0"/>
              </a:rPr>
              <a:t>语言编写的应用程序实例，实现对</a:t>
            </a:r>
            <a:r>
              <a:rPr lang="zh-CN" altLang="en-US" sz="2400" dirty="0">
                <a:latin typeface="Arial" panose="020B0604020202020204" pitchFamily="34" charset="0"/>
              </a:rPr>
              <a:t>用户访问</a:t>
            </a:r>
            <a:r>
              <a:rPr lang="zh-CN" altLang="zh-CN" sz="2400" dirty="0">
                <a:latin typeface="Arial" panose="020B0604020202020204" pitchFamily="34" charset="0"/>
              </a:rPr>
              <a:t>网页</a:t>
            </a:r>
            <a:r>
              <a:rPr lang="zh-CN" altLang="en-US" sz="2400" dirty="0">
                <a:latin typeface="Arial" panose="020B0604020202020204" pitchFamily="34" charset="0"/>
              </a:rPr>
              <a:t>情况的</a:t>
            </a:r>
            <a:r>
              <a:rPr lang="zh-CN" altLang="zh-CN" sz="2400" dirty="0">
                <a:latin typeface="Arial" panose="020B0604020202020204" pitchFamily="34" charset="0"/>
              </a:rPr>
              <a:t>统计分析</a:t>
            </a:r>
            <a:r>
              <a:rPr lang="zh-CN" altLang="en-US" sz="2400" dirty="0">
                <a:latin typeface="Arial" panose="020B0604020202020204" pitchFamily="34" charset="0"/>
              </a:rPr>
              <a:t>：</a:t>
            </a:r>
            <a:endParaRPr lang="en-US" altLang="zh-CN" sz="2400" dirty="0">
              <a:latin typeface="Arial" panose="020B0604020202020204" pitchFamily="34" charset="0"/>
            </a:endParaRPr>
          </a:p>
        </p:txBody>
      </p:sp>
      <p:sp>
        <p:nvSpPr>
          <p:cNvPr id="7" name="矩形 6"/>
          <p:cNvSpPr/>
          <p:nvPr>
            <p:custDataLst>
              <p:tags r:id="rId1"/>
            </p:custDataLst>
          </p:nvPr>
        </p:nvSpPr>
        <p:spPr>
          <a:xfrm>
            <a:off x="1109345" y="2280285"/>
            <a:ext cx="9400540" cy="4523105"/>
          </a:xfrm>
          <a:prstGeom prst="rect">
            <a:avLst/>
          </a:prstGeom>
          <a:solidFill>
            <a:schemeClr val="bg1">
              <a:lumMod val="85000"/>
            </a:schemeClr>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1</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visits             = load ‘/data/visits’ as (user, </a:t>
            </a:r>
            <a:r>
              <a:rPr kumimoji="0" lang="en-US" altLang="zh-CN" sz="2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url</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time);</a:t>
            </a:r>
            <a:endPar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2</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a:t>
            </a:r>
            <a:r>
              <a:rPr kumimoji="0" lang="en-US" altLang="zh-CN" sz="2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gVisits</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 group visits by </a:t>
            </a:r>
            <a:r>
              <a:rPr kumimoji="0" lang="en-US" altLang="zh-CN" sz="2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url</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endPar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3</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a:t>
            </a:r>
            <a:r>
              <a:rPr kumimoji="0" lang="en-US" altLang="zh-CN" sz="2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visitCounts</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 </a:t>
            </a:r>
            <a:r>
              <a:rPr kumimoji="0" lang="en-US" altLang="zh-CN" sz="2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foreach</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a:t>
            </a:r>
            <a:r>
              <a:rPr kumimoji="0" lang="en-US" altLang="zh-CN" sz="2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gVisits</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generate </a:t>
            </a:r>
            <a:r>
              <a:rPr kumimoji="0" lang="en-US" altLang="zh-CN" sz="2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url</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count(visits);</a:t>
            </a:r>
            <a:endPar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r>
              <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得到的表的结构</a:t>
            </a:r>
            <a:r>
              <a:rPr kumimoji="0" lang="en-US" altLang="zh-CN" sz="2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visitCounts</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r>
              <a:rPr kumimoji="0" lang="en-US" altLang="zh-CN" sz="2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url,visits</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endPar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4</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a:t>
            </a:r>
            <a:r>
              <a:rPr kumimoji="0" lang="en-US" altLang="zh-CN" sz="2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urlInfo</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 load ‘/data/</a:t>
            </a:r>
            <a:r>
              <a:rPr kumimoji="0" lang="en-US" altLang="zh-CN" sz="2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urlInfo</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as (</a:t>
            </a:r>
            <a:r>
              <a:rPr kumimoji="0" lang="en-US" altLang="zh-CN" sz="2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url</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category, </a:t>
            </a:r>
            <a:r>
              <a:rPr kumimoji="0" lang="en-US" altLang="zh-CN" sz="2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pRank</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endPar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5</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a:t>
            </a:r>
            <a:r>
              <a:rPr kumimoji="0" lang="en-US" altLang="zh-CN" sz="2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visitCounts</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 join </a:t>
            </a:r>
            <a:r>
              <a:rPr kumimoji="0" lang="en-US" altLang="zh-CN" sz="2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visitCounts</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by </a:t>
            </a:r>
            <a:r>
              <a:rPr kumimoji="0" lang="en-US" altLang="zh-CN" sz="2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url</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a:t>
            </a:r>
            <a:r>
              <a:rPr kumimoji="0" lang="en-US" altLang="zh-CN" sz="2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urlInfo</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by </a:t>
            </a:r>
            <a:r>
              <a:rPr kumimoji="0" lang="en-US" altLang="zh-CN" sz="2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url</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endPar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r>
              <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得到的连接结果表的结构</a:t>
            </a:r>
            <a:r>
              <a:rPr kumimoji="0" lang="en-US" altLang="zh-CN" sz="2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visitCounts</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r>
              <a:rPr kumimoji="0" lang="en-US" altLang="zh-CN" sz="2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url,visits,category,pRank</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endPar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6</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a:t>
            </a:r>
            <a:r>
              <a:rPr kumimoji="0" lang="en-US" altLang="zh-CN" sz="2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gCategories</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 group </a:t>
            </a:r>
            <a:r>
              <a:rPr kumimoji="0" lang="en-US" altLang="zh-CN" sz="2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visitCounts</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by category;</a:t>
            </a:r>
            <a:endPar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7</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a:t>
            </a:r>
            <a:r>
              <a:rPr kumimoji="0" lang="en-US" altLang="zh-CN" sz="2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topUrls</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 </a:t>
            </a:r>
            <a:r>
              <a:rPr kumimoji="0" lang="en-US" altLang="zh-CN" sz="2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foreach</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a:t>
            </a:r>
            <a:r>
              <a:rPr kumimoji="0" lang="en-US" altLang="zh-CN" sz="2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gCategories</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generate top(visitCounts,10);</a:t>
            </a:r>
            <a:endPar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8</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store </a:t>
            </a:r>
            <a:r>
              <a:rPr kumimoji="0" lang="en-US" altLang="zh-CN" sz="2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topUrls</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into ‘/data/</a:t>
            </a:r>
            <a:r>
              <a:rPr kumimoji="0" lang="en-US" altLang="zh-CN" sz="2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topUrls</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endPar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38200" y="3200400"/>
            <a:ext cx="5638800" cy="2891790"/>
          </a:xfrm>
          <a:prstGeom prst="rect">
            <a:avLst/>
          </a:prstGeom>
          <a:solidFill>
            <a:schemeClr val="bg1">
              <a:lumMod val="85000"/>
            </a:schemeClr>
          </a:solidFill>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1</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visits             = load ‘/data/visits’ as (user, </a:t>
            </a:r>
            <a:r>
              <a:rPr kumimoji="0" lang="en-US" altLang="zh-CN" sz="1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url</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time);</a:t>
            </a: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2</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a:t>
            </a:r>
            <a:r>
              <a:rPr kumimoji="0" lang="en-US" altLang="zh-CN" sz="1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gVisits</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 group visits by </a:t>
            </a:r>
            <a:r>
              <a:rPr kumimoji="0" lang="en-US" altLang="zh-CN" sz="1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url</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3</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a:t>
            </a:r>
            <a:r>
              <a:rPr kumimoji="0" lang="en-US" altLang="zh-CN" sz="1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visitCounts</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 </a:t>
            </a:r>
            <a:r>
              <a:rPr kumimoji="0" lang="en-US" altLang="zh-CN" sz="1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foreach</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a:t>
            </a:r>
            <a:r>
              <a:rPr kumimoji="0" lang="en-US" altLang="zh-CN" sz="1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gVisits</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generate </a:t>
            </a:r>
            <a:r>
              <a:rPr kumimoji="0" lang="en-US" altLang="zh-CN" sz="1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url</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count(visits);</a:t>
            </a: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r>
              <a:rPr kumimoji="0" lang="zh-CN" altLang="en-US"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得到的表的结构</a:t>
            </a:r>
            <a:r>
              <a:rPr kumimoji="0" lang="en-US" altLang="zh-CN" sz="1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visitCounts</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r>
              <a:rPr kumimoji="0" lang="en-US" altLang="zh-CN" sz="1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url,visits</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4</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a:t>
            </a:r>
            <a:r>
              <a:rPr kumimoji="0" lang="en-US" altLang="zh-CN" sz="1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urlInfo</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 load ‘/data/</a:t>
            </a:r>
            <a:r>
              <a:rPr kumimoji="0" lang="en-US" altLang="zh-CN" sz="1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urlInfo</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as (</a:t>
            </a:r>
            <a:r>
              <a:rPr kumimoji="0" lang="en-US" altLang="zh-CN" sz="1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url</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category, </a:t>
            </a:r>
            <a:r>
              <a:rPr kumimoji="0" lang="en-US" altLang="zh-CN" sz="1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pRank</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5</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a:t>
            </a:r>
            <a:r>
              <a:rPr kumimoji="0" lang="en-US" altLang="zh-CN" sz="1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visitCounts</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 join </a:t>
            </a:r>
            <a:r>
              <a:rPr kumimoji="0" lang="en-US" altLang="zh-CN" sz="1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visitCounts</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by </a:t>
            </a:r>
            <a:r>
              <a:rPr kumimoji="0" lang="en-US" altLang="zh-CN" sz="1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url</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a:t>
            </a:r>
            <a:r>
              <a:rPr kumimoji="0" lang="en-US" altLang="zh-CN" sz="1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urlInfo</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by </a:t>
            </a:r>
            <a:r>
              <a:rPr kumimoji="0" lang="en-US" altLang="zh-CN" sz="1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url</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r>
              <a:rPr kumimoji="0" lang="zh-CN" altLang="en-US"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得到的连接结果表的结构</a:t>
            </a:r>
            <a:r>
              <a:rPr kumimoji="0" lang="en-US" altLang="zh-CN" sz="1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visitCounts</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r>
              <a:rPr kumimoji="0" lang="en-US" altLang="zh-CN" sz="1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url,visits,category,pRank</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6</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a:t>
            </a:r>
            <a:r>
              <a:rPr kumimoji="0" lang="en-US" altLang="zh-CN" sz="1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gCategories</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 group </a:t>
            </a:r>
            <a:r>
              <a:rPr kumimoji="0" lang="en-US" altLang="zh-CN" sz="1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visitCounts</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by category;</a:t>
            </a: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7</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a:t>
            </a:r>
            <a:r>
              <a:rPr kumimoji="0" lang="en-US" altLang="zh-CN" sz="1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topUrls</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 </a:t>
            </a:r>
            <a:r>
              <a:rPr kumimoji="0" lang="en-US" altLang="zh-CN" sz="1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foreach</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a:t>
            </a:r>
            <a:r>
              <a:rPr kumimoji="0" lang="en-US" altLang="zh-CN" sz="1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gCategories</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generate top(visitCounts,10);</a:t>
            </a: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8</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store </a:t>
            </a:r>
            <a:r>
              <a:rPr kumimoji="0" lang="en-US" altLang="zh-CN" sz="1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topUrls</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into ‘/data/</a:t>
            </a:r>
            <a:r>
              <a:rPr kumimoji="0" lang="en-US" altLang="zh-CN" sz="1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topUrls</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34819" name="Picture 8"/>
          <p:cNvPicPr>
            <a:picLocks noChangeAspect="1"/>
          </p:cNvPicPr>
          <p:nvPr/>
        </p:nvPicPr>
        <p:blipFill>
          <a:blip r:embed="rId1"/>
          <a:stretch>
            <a:fillRect/>
          </a:stretch>
        </p:blipFill>
        <p:spPr>
          <a:xfrm>
            <a:off x="5715000" y="776605"/>
            <a:ext cx="5518150" cy="5498465"/>
          </a:xfrm>
          <a:prstGeom prst="rect">
            <a:avLst/>
          </a:prstGeom>
          <a:noFill/>
          <a:ln w="9525">
            <a:noFill/>
          </a:ln>
        </p:spPr>
      </p:pic>
      <p:sp>
        <p:nvSpPr>
          <p:cNvPr id="34820" name="标题 2"/>
          <p:cNvSpPr>
            <a:spLocks noGrp="1"/>
          </p:cNvSpPr>
          <p:nvPr>
            <p:ph type="title"/>
          </p:nvPr>
        </p:nvSpPr>
        <p:spPr/>
        <p:txBody>
          <a:bodyPr vert="horz" wrap="square" lIns="91440" tIns="45720" rIns="91440" bIns="45720" anchor="ctr" anchorCtr="0"/>
          <a:lstStyle/>
          <a:p>
            <a:r>
              <a:rPr lang="en-US" altLang="zh-CN" b="1" dirty="0"/>
              <a:t>8.</a:t>
            </a:r>
            <a:r>
              <a:rPr lang="zh-CN" altLang="zh-CN" b="1" dirty="0"/>
              <a:t>4.1Pig</a:t>
            </a:r>
            <a:endParaRPr lang="zh-CN" altLang="en-US" dirty="0"/>
          </a:p>
        </p:txBody>
      </p:sp>
      <p:sp>
        <p:nvSpPr>
          <p:cNvPr id="34821" name="矩形 4"/>
          <p:cNvSpPr/>
          <p:nvPr/>
        </p:nvSpPr>
        <p:spPr>
          <a:xfrm>
            <a:off x="3048000" y="6259513"/>
            <a:ext cx="6248400" cy="398780"/>
          </a:xfrm>
          <a:prstGeom prst="rect">
            <a:avLst/>
          </a:prstGeom>
          <a:noFill/>
          <a:ln w="9525">
            <a:noFill/>
          </a:ln>
        </p:spPr>
        <p:txBody>
          <a:bodyPr>
            <a:spAutoFit/>
          </a:bodyPr>
          <a:lstStyle/>
          <a:p>
            <a:pPr algn="ctr"/>
            <a:r>
              <a:rPr lang="zh-CN" altLang="zh-CN" sz="2000" dirty="0">
                <a:latin typeface="Arial" panose="020B0604020202020204" pitchFamily="34" charset="0"/>
              </a:rPr>
              <a:t>图</a:t>
            </a:r>
            <a:r>
              <a:rPr lang="en-US" altLang="zh-CN" sz="2000" dirty="0">
                <a:latin typeface="Arial" panose="020B0604020202020204" pitchFamily="34" charset="0"/>
              </a:rPr>
              <a:t> </a:t>
            </a:r>
            <a:r>
              <a:rPr lang="zh-CN" altLang="zh-CN" sz="2000" dirty="0">
                <a:latin typeface="Arial" panose="020B0604020202020204" pitchFamily="34" charset="0"/>
              </a:rPr>
              <a:t>从</a:t>
            </a:r>
            <a:r>
              <a:rPr lang="en-US" altLang="zh-CN" sz="2000" dirty="0">
                <a:latin typeface="Arial" panose="020B0604020202020204" pitchFamily="34" charset="0"/>
              </a:rPr>
              <a:t>Pig Latin</a:t>
            </a:r>
            <a:r>
              <a:rPr lang="zh-CN" altLang="zh-CN" sz="2000" dirty="0">
                <a:latin typeface="Arial" panose="020B0604020202020204" pitchFamily="34" charset="0"/>
              </a:rPr>
              <a:t>脚本转化得到的</a:t>
            </a:r>
            <a:r>
              <a:rPr lang="en-US" altLang="zh-CN" sz="2000" dirty="0">
                <a:latin typeface="Arial" panose="020B0604020202020204" pitchFamily="34" charset="0"/>
              </a:rPr>
              <a:t>MapReduce</a:t>
            </a:r>
            <a:r>
              <a:rPr lang="zh-CN" altLang="zh-CN" sz="2000" dirty="0">
                <a:latin typeface="Arial" panose="020B0604020202020204" pitchFamily="34" charset="0"/>
              </a:rPr>
              <a:t>作业</a:t>
            </a:r>
            <a:endParaRPr lang="zh-CN" altLang="zh-CN" sz="2000" dirty="0">
              <a:latin typeface="Arial" panose="020B0604020202020204" pitchFamily="34" charset="0"/>
            </a:endParaRPr>
          </a:p>
        </p:txBody>
      </p:sp>
      <p:sp>
        <p:nvSpPr>
          <p:cNvPr id="34822" name="矩形 5"/>
          <p:cNvSpPr/>
          <p:nvPr/>
        </p:nvSpPr>
        <p:spPr>
          <a:xfrm>
            <a:off x="838200" y="1402715"/>
            <a:ext cx="4418330" cy="1322070"/>
          </a:xfrm>
          <a:prstGeom prst="rect">
            <a:avLst/>
          </a:prstGeom>
          <a:noFill/>
          <a:ln w="9525">
            <a:noFill/>
          </a:ln>
        </p:spPr>
        <p:txBody>
          <a:bodyPr wrap="square">
            <a:spAutoFit/>
          </a:bodyPr>
          <a:lstStyle/>
          <a:p>
            <a:r>
              <a:rPr lang="en-US" altLang="zh-CN" sz="2000" dirty="0">
                <a:latin typeface="Arial" panose="020B0604020202020204" pitchFamily="34" charset="0"/>
              </a:rPr>
              <a:t>Pig Latin</a:t>
            </a:r>
            <a:r>
              <a:rPr lang="zh-CN" altLang="en-US" sz="2000" dirty="0">
                <a:latin typeface="Arial" panose="020B0604020202020204" pitchFamily="34" charset="0"/>
              </a:rPr>
              <a:t>是通过编译为</a:t>
            </a:r>
            <a:r>
              <a:rPr lang="en-US" altLang="zh-CN" sz="2000" dirty="0">
                <a:latin typeface="Arial" panose="020B0604020202020204" pitchFamily="34" charset="0"/>
              </a:rPr>
              <a:t>MapReduce</a:t>
            </a:r>
            <a:r>
              <a:rPr lang="zh-CN" altLang="en-US" sz="2000" dirty="0">
                <a:latin typeface="Arial" panose="020B0604020202020204" pitchFamily="34" charset="0"/>
              </a:rPr>
              <a:t>在</a:t>
            </a:r>
            <a:r>
              <a:rPr lang="en-US" altLang="zh-CN" sz="2000" dirty="0">
                <a:latin typeface="Arial" panose="020B0604020202020204" pitchFamily="34" charset="0"/>
              </a:rPr>
              <a:t>Hadoop</a:t>
            </a:r>
            <a:r>
              <a:rPr lang="zh-CN" altLang="en-US" sz="2000" dirty="0">
                <a:latin typeface="Arial" panose="020B0604020202020204" pitchFamily="34" charset="0"/>
              </a:rPr>
              <a:t>集群上执行的。统计用户访问量程序被编译成</a:t>
            </a:r>
            <a:r>
              <a:rPr lang="en-US" altLang="zh-CN" sz="2000" dirty="0">
                <a:latin typeface="Arial" panose="020B0604020202020204" pitchFamily="34" charset="0"/>
              </a:rPr>
              <a:t>MapReduce</a:t>
            </a:r>
            <a:r>
              <a:rPr lang="zh-CN" altLang="en-US" sz="2000" dirty="0">
                <a:latin typeface="Arial" panose="020B0604020202020204" pitchFamily="34" charset="0"/>
              </a:rPr>
              <a:t>时，会产生如图所示的</a:t>
            </a:r>
            <a:r>
              <a:rPr lang="en-US" altLang="zh-CN" sz="2000" dirty="0">
                <a:latin typeface="Arial" panose="020B0604020202020204" pitchFamily="34" charset="0"/>
              </a:rPr>
              <a:t>Map</a:t>
            </a:r>
            <a:r>
              <a:rPr lang="zh-CN" altLang="en-US" sz="2000" dirty="0">
                <a:latin typeface="Arial" panose="020B0604020202020204" pitchFamily="34" charset="0"/>
              </a:rPr>
              <a:t>和</a:t>
            </a:r>
            <a:r>
              <a:rPr lang="en-US" altLang="zh-CN" sz="2000" dirty="0">
                <a:latin typeface="Arial" panose="020B0604020202020204" pitchFamily="34" charset="0"/>
              </a:rPr>
              <a:t>Reduce</a:t>
            </a:r>
            <a:endParaRPr lang="en-US" altLang="zh-CN" sz="2000" dirty="0">
              <a:latin typeface="Arial" panose="020B0604020202020204" pitchFamily="34" charset="0"/>
            </a:endParaRPr>
          </a:p>
        </p:txBody>
      </p:sp>
      <p:sp>
        <p:nvSpPr>
          <p:cNvPr id="34823" name="TextBox 8"/>
          <p:cNvSpPr txBox="1"/>
          <p:nvPr/>
        </p:nvSpPr>
        <p:spPr>
          <a:xfrm>
            <a:off x="5859463" y="1795463"/>
            <a:ext cx="388937" cy="337185"/>
          </a:xfrm>
          <a:prstGeom prst="rect">
            <a:avLst/>
          </a:prstGeom>
          <a:noFill/>
          <a:ln w="9525">
            <a:noFill/>
          </a:ln>
        </p:spPr>
        <p:txBody>
          <a:bodyPr>
            <a:spAutoFit/>
          </a:bodyPr>
          <a:lstStyle/>
          <a:p>
            <a:r>
              <a:rPr lang="en-US" altLang="zh-CN" sz="1600" dirty="0">
                <a:solidFill>
                  <a:srgbClr val="FF0000"/>
                </a:solidFill>
                <a:latin typeface="Arial" panose="020B0604020202020204" pitchFamily="34" charset="0"/>
              </a:rPr>
              <a:t>1</a:t>
            </a:r>
            <a:endParaRPr lang="zh-CN" altLang="en-US" sz="1600" dirty="0">
              <a:solidFill>
                <a:srgbClr val="FF0000"/>
              </a:solidFill>
              <a:latin typeface="Arial" panose="020B0604020202020204" pitchFamily="34" charset="0"/>
            </a:endParaRPr>
          </a:p>
        </p:txBody>
      </p:sp>
      <p:sp>
        <p:nvSpPr>
          <p:cNvPr id="34824" name="TextBox 9"/>
          <p:cNvSpPr txBox="1"/>
          <p:nvPr/>
        </p:nvSpPr>
        <p:spPr>
          <a:xfrm>
            <a:off x="6324600" y="2438400"/>
            <a:ext cx="388938" cy="306705"/>
          </a:xfrm>
          <a:prstGeom prst="rect">
            <a:avLst/>
          </a:prstGeom>
          <a:noFill/>
          <a:ln w="9525">
            <a:noFill/>
          </a:ln>
        </p:spPr>
        <p:txBody>
          <a:bodyPr>
            <a:spAutoFit/>
          </a:bodyPr>
          <a:lstStyle/>
          <a:p>
            <a:r>
              <a:rPr lang="en-US" altLang="zh-CN" sz="1400" dirty="0">
                <a:solidFill>
                  <a:srgbClr val="FF0000"/>
                </a:solidFill>
                <a:latin typeface="Arial" panose="020B0604020202020204" pitchFamily="34" charset="0"/>
              </a:rPr>
              <a:t>2</a:t>
            </a:r>
            <a:endParaRPr lang="zh-CN" altLang="en-US" sz="1400" dirty="0">
              <a:solidFill>
                <a:srgbClr val="FF0000"/>
              </a:solidFill>
              <a:latin typeface="Arial" panose="020B0604020202020204" pitchFamily="34" charset="0"/>
            </a:endParaRPr>
          </a:p>
        </p:txBody>
      </p:sp>
      <p:sp>
        <p:nvSpPr>
          <p:cNvPr id="34825" name="TextBox 10"/>
          <p:cNvSpPr txBox="1"/>
          <p:nvPr/>
        </p:nvSpPr>
        <p:spPr>
          <a:xfrm>
            <a:off x="6697663" y="3243263"/>
            <a:ext cx="388937" cy="337185"/>
          </a:xfrm>
          <a:prstGeom prst="rect">
            <a:avLst/>
          </a:prstGeom>
          <a:noFill/>
          <a:ln w="9525">
            <a:noFill/>
          </a:ln>
        </p:spPr>
        <p:txBody>
          <a:bodyPr>
            <a:spAutoFit/>
          </a:bodyPr>
          <a:lstStyle/>
          <a:p>
            <a:r>
              <a:rPr lang="en-US" altLang="zh-CN" sz="1600" dirty="0">
                <a:solidFill>
                  <a:srgbClr val="FF0000"/>
                </a:solidFill>
                <a:latin typeface="Arial" panose="020B0604020202020204" pitchFamily="34" charset="0"/>
              </a:rPr>
              <a:t>3</a:t>
            </a:r>
            <a:endParaRPr lang="zh-CN" altLang="en-US" sz="1600" dirty="0">
              <a:solidFill>
                <a:srgbClr val="FF0000"/>
              </a:solidFill>
              <a:latin typeface="Arial" panose="020B0604020202020204" pitchFamily="34" charset="0"/>
            </a:endParaRPr>
          </a:p>
        </p:txBody>
      </p:sp>
      <p:sp>
        <p:nvSpPr>
          <p:cNvPr id="34826" name="TextBox 11"/>
          <p:cNvSpPr txBox="1"/>
          <p:nvPr/>
        </p:nvSpPr>
        <p:spPr>
          <a:xfrm>
            <a:off x="8907463" y="3200400"/>
            <a:ext cx="388937" cy="337185"/>
          </a:xfrm>
          <a:prstGeom prst="rect">
            <a:avLst/>
          </a:prstGeom>
          <a:noFill/>
          <a:ln w="9525">
            <a:noFill/>
          </a:ln>
        </p:spPr>
        <p:txBody>
          <a:bodyPr>
            <a:spAutoFit/>
          </a:bodyPr>
          <a:lstStyle/>
          <a:p>
            <a:r>
              <a:rPr lang="en-US" altLang="zh-CN" sz="1600" dirty="0">
                <a:solidFill>
                  <a:srgbClr val="FF0000"/>
                </a:solidFill>
                <a:latin typeface="Arial" panose="020B0604020202020204" pitchFamily="34" charset="0"/>
              </a:rPr>
              <a:t>4</a:t>
            </a:r>
            <a:endParaRPr lang="zh-CN" altLang="en-US" sz="1600" dirty="0">
              <a:solidFill>
                <a:srgbClr val="FF0000"/>
              </a:solidFill>
              <a:latin typeface="Arial" panose="020B0604020202020204" pitchFamily="34" charset="0"/>
            </a:endParaRPr>
          </a:p>
        </p:txBody>
      </p:sp>
      <p:sp>
        <p:nvSpPr>
          <p:cNvPr id="34827" name="TextBox 12"/>
          <p:cNvSpPr txBox="1"/>
          <p:nvPr/>
        </p:nvSpPr>
        <p:spPr>
          <a:xfrm>
            <a:off x="7993063" y="4005263"/>
            <a:ext cx="388937" cy="337185"/>
          </a:xfrm>
          <a:prstGeom prst="rect">
            <a:avLst/>
          </a:prstGeom>
          <a:noFill/>
          <a:ln w="9525">
            <a:noFill/>
          </a:ln>
        </p:spPr>
        <p:txBody>
          <a:bodyPr>
            <a:spAutoFit/>
          </a:bodyPr>
          <a:lstStyle/>
          <a:p>
            <a:r>
              <a:rPr lang="en-US" altLang="zh-CN" sz="1600" dirty="0">
                <a:solidFill>
                  <a:srgbClr val="FF0000"/>
                </a:solidFill>
                <a:latin typeface="Arial" panose="020B0604020202020204" pitchFamily="34" charset="0"/>
              </a:rPr>
              <a:t>5</a:t>
            </a:r>
            <a:endParaRPr lang="zh-CN" altLang="en-US" sz="1600" dirty="0">
              <a:solidFill>
                <a:srgbClr val="FF0000"/>
              </a:solidFill>
              <a:latin typeface="Arial" panose="020B0604020202020204" pitchFamily="34" charset="0"/>
            </a:endParaRPr>
          </a:p>
        </p:txBody>
      </p:sp>
      <p:sp>
        <p:nvSpPr>
          <p:cNvPr id="34828" name="TextBox 14"/>
          <p:cNvSpPr txBox="1"/>
          <p:nvPr/>
        </p:nvSpPr>
        <p:spPr>
          <a:xfrm>
            <a:off x="7696200" y="4648200"/>
            <a:ext cx="388938" cy="337185"/>
          </a:xfrm>
          <a:prstGeom prst="rect">
            <a:avLst/>
          </a:prstGeom>
          <a:noFill/>
          <a:ln w="9525">
            <a:noFill/>
          </a:ln>
        </p:spPr>
        <p:txBody>
          <a:bodyPr>
            <a:spAutoFit/>
          </a:bodyPr>
          <a:lstStyle/>
          <a:p>
            <a:r>
              <a:rPr lang="en-US" altLang="zh-CN" sz="1600" dirty="0">
                <a:solidFill>
                  <a:srgbClr val="FF0000"/>
                </a:solidFill>
                <a:latin typeface="Arial" panose="020B0604020202020204" pitchFamily="34" charset="0"/>
              </a:rPr>
              <a:t>6</a:t>
            </a:r>
            <a:endParaRPr lang="zh-CN" altLang="en-US" sz="1600" dirty="0">
              <a:solidFill>
                <a:srgbClr val="FF0000"/>
              </a:solidFill>
              <a:latin typeface="Arial" panose="020B0604020202020204" pitchFamily="34" charset="0"/>
            </a:endParaRPr>
          </a:p>
        </p:txBody>
      </p:sp>
      <p:sp>
        <p:nvSpPr>
          <p:cNvPr id="34829" name="TextBox 15"/>
          <p:cNvSpPr txBox="1"/>
          <p:nvPr/>
        </p:nvSpPr>
        <p:spPr>
          <a:xfrm>
            <a:off x="7696200" y="5453063"/>
            <a:ext cx="388938" cy="337185"/>
          </a:xfrm>
          <a:prstGeom prst="rect">
            <a:avLst/>
          </a:prstGeom>
          <a:noFill/>
          <a:ln w="9525">
            <a:noFill/>
          </a:ln>
        </p:spPr>
        <p:txBody>
          <a:bodyPr>
            <a:spAutoFit/>
          </a:bodyPr>
          <a:lstStyle/>
          <a:p>
            <a:r>
              <a:rPr lang="en-US" altLang="zh-CN" sz="1600" dirty="0">
                <a:solidFill>
                  <a:srgbClr val="FF0000"/>
                </a:solidFill>
                <a:latin typeface="Arial" panose="020B0604020202020204" pitchFamily="34" charset="0"/>
              </a:rPr>
              <a:t>7</a:t>
            </a:r>
            <a:endParaRPr lang="zh-CN" altLang="en-US" sz="1600" dirty="0">
              <a:solidFill>
                <a:srgbClr val="FF0000"/>
              </a:solidFill>
              <a:latin typeface="Arial" panose="020B060402020202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2"/>
          <p:cNvSpPr>
            <a:spLocks noGrp="1"/>
          </p:cNvSpPr>
          <p:nvPr>
            <p:ph type="title"/>
          </p:nvPr>
        </p:nvSpPr>
        <p:spPr/>
        <p:txBody>
          <a:bodyPr vert="horz" wrap="square" lIns="91440" tIns="45720" rIns="91440" bIns="45720" anchor="ctr" anchorCtr="0"/>
          <a:lstStyle/>
          <a:p>
            <a:r>
              <a:rPr lang="en-US" altLang="zh-CN" b="1" dirty="0"/>
              <a:t>8.</a:t>
            </a:r>
            <a:r>
              <a:rPr lang="zh-CN" altLang="zh-CN" b="1" dirty="0"/>
              <a:t>4.1Pig</a:t>
            </a:r>
            <a:endParaRPr lang="zh-CN" altLang="en-US" dirty="0"/>
          </a:p>
        </p:txBody>
      </p:sp>
      <p:pic>
        <p:nvPicPr>
          <p:cNvPr id="35843" name="Picture 2" descr="c:\users\lenovo\appdata\roaming\360se6\User Data\temp\apache-pig.png"/>
          <p:cNvPicPr>
            <a:picLocks noChangeAspect="1"/>
          </p:cNvPicPr>
          <p:nvPr/>
        </p:nvPicPr>
        <p:blipFill>
          <a:blip r:embed="rId1"/>
          <a:stretch>
            <a:fillRect/>
          </a:stretch>
        </p:blipFill>
        <p:spPr>
          <a:xfrm>
            <a:off x="605790" y="1524000"/>
            <a:ext cx="6942455" cy="4685665"/>
          </a:xfrm>
          <a:prstGeom prst="rect">
            <a:avLst/>
          </a:prstGeom>
          <a:noFill/>
          <a:ln w="9525">
            <a:noFill/>
          </a:ln>
        </p:spPr>
      </p:pic>
      <p:sp>
        <p:nvSpPr>
          <p:cNvPr id="35844" name="矩形 5"/>
          <p:cNvSpPr/>
          <p:nvPr/>
        </p:nvSpPr>
        <p:spPr>
          <a:xfrm>
            <a:off x="7638415" y="1691005"/>
            <a:ext cx="4342765" cy="2306955"/>
          </a:xfrm>
          <a:prstGeom prst="rect">
            <a:avLst/>
          </a:prstGeom>
          <a:noFill/>
          <a:ln w="9525">
            <a:noFill/>
          </a:ln>
        </p:spPr>
        <p:txBody>
          <a:bodyPr wrap="square">
            <a:spAutoFit/>
          </a:bodyPr>
          <a:lstStyle/>
          <a:p>
            <a:r>
              <a:rPr lang="en-US" altLang="zh-CN" sz="2400" dirty="0">
                <a:latin typeface="Arial" panose="020B0604020202020204" pitchFamily="34" charset="0"/>
              </a:rPr>
              <a:t>Pig</a:t>
            </a:r>
            <a:r>
              <a:rPr lang="zh-CN" altLang="en-US" sz="2400" dirty="0">
                <a:latin typeface="Arial" panose="020B0604020202020204" pitchFamily="34" charset="0"/>
              </a:rPr>
              <a:t>的应用场景</a:t>
            </a:r>
            <a:endParaRPr lang="zh-CN" altLang="en-US" sz="2400" dirty="0">
              <a:latin typeface="Arial" panose="020B0604020202020204" pitchFamily="34" charset="0"/>
            </a:endParaRPr>
          </a:p>
          <a:p>
            <a:pPr>
              <a:buFont typeface="Arial" panose="020B0604020202020204" pitchFamily="34" charset="0"/>
              <a:buChar char="•"/>
            </a:pPr>
            <a:r>
              <a:rPr lang="zh-CN" altLang="en-US" sz="2400" dirty="0">
                <a:latin typeface="Arial" panose="020B0604020202020204" pitchFamily="34" charset="0"/>
              </a:rPr>
              <a:t>数据查询只面向相关技术人员</a:t>
            </a:r>
            <a:endParaRPr lang="zh-CN" altLang="en-US" sz="2400" dirty="0">
              <a:latin typeface="Arial" panose="020B0604020202020204" pitchFamily="34" charset="0"/>
            </a:endParaRPr>
          </a:p>
          <a:p>
            <a:pPr>
              <a:buFont typeface="Arial" panose="020B0604020202020204" pitchFamily="34" charset="0"/>
              <a:buChar char="•"/>
            </a:pPr>
            <a:r>
              <a:rPr lang="zh-CN" altLang="en-US" sz="2400" dirty="0">
                <a:latin typeface="Arial" panose="020B0604020202020204" pitchFamily="34" charset="0"/>
              </a:rPr>
              <a:t>即时性的数据处理需求，这样可以通过</a:t>
            </a:r>
            <a:r>
              <a:rPr lang="en-US" altLang="zh-CN" sz="2400" dirty="0">
                <a:latin typeface="Arial" panose="020B0604020202020204" pitchFamily="34" charset="0"/>
              </a:rPr>
              <a:t>pig</a:t>
            </a:r>
            <a:r>
              <a:rPr lang="zh-CN" altLang="en-US" sz="2400" dirty="0">
                <a:latin typeface="Arial" panose="020B0604020202020204" pitchFamily="34" charset="0"/>
              </a:rPr>
              <a:t>很快写一个脚本开始运行处理，而不需要创建表等相关的事先准备工作</a:t>
            </a:r>
            <a:endParaRPr lang="zh-CN" altLang="en-US" sz="2400" dirty="0">
              <a:latin typeface="Arial" panose="020B0604020202020204" pitchFamily="34" charset="0"/>
            </a:endParaRPr>
          </a:p>
        </p:txBody>
      </p:sp>
      <p:sp>
        <p:nvSpPr>
          <p:cNvPr id="35845" name="矩形 6"/>
          <p:cNvSpPr/>
          <p:nvPr/>
        </p:nvSpPr>
        <p:spPr>
          <a:xfrm>
            <a:off x="4744720" y="4271645"/>
            <a:ext cx="6988175" cy="1938020"/>
          </a:xfrm>
          <a:prstGeom prst="rect">
            <a:avLst/>
          </a:prstGeom>
          <a:noFill/>
          <a:ln w="9525">
            <a:noFill/>
          </a:ln>
        </p:spPr>
        <p:txBody>
          <a:bodyPr wrap="square">
            <a:spAutoFit/>
          </a:bodyPr>
          <a:lstStyle/>
          <a:p>
            <a:r>
              <a:rPr lang="en-US" altLang="zh-CN" sz="2400" dirty="0">
                <a:latin typeface="Arial" panose="020B0604020202020204" pitchFamily="34" charset="0"/>
              </a:rPr>
              <a:t>Pig</a:t>
            </a:r>
            <a:r>
              <a:rPr lang="zh-CN" altLang="en-US" sz="2400" dirty="0">
                <a:latin typeface="Arial" panose="020B0604020202020204" pitchFamily="34" charset="0"/>
              </a:rPr>
              <a:t>主要用户</a:t>
            </a:r>
            <a:endParaRPr lang="zh-CN" altLang="en-US" sz="2400" dirty="0">
              <a:latin typeface="Arial" panose="020B0604020202020204" pitchFamily="34" charset="0"/>
            </a:endParaRPr>
          </a:p>
          <a:p>
            <a:pPr>
              <a:buFont typeface="Arial" panose="020B0604020202020204" pitchFamily="34" charset="0"/>
              <a:buChar char="•"/>
            </a:pPr>
            <a:r>
              <a:rPr lang="en-US" altLang="zh-CN" sz="2400" dirty="0">
                <a:latin typeface="Arial" panose="020B0604020202020204" pitchFamily="34" charset="0"/>
              </a:rPr>
              <a:t>Yahoo!: 90%</a:t>
            </a:r>
            <a:r>
              <a:rPr lang="zh-CN" altLang="en-US" sz="2400" dirty="0">
                <a:latin typeface="Arial" panose="020B0604020202020204" pitchFamily="34" charset="0"/>
              </a:rPr>
              <a:t>以上的</a:t>
            </a:r>
            <a:r>
              <a:rPr lang="en-US" altLang="zh-CN" sz="2400" dirty="0">
                <a:latin typeface="Arial" panose="020B0604020202020204" pitchFamily="34" charset="0"/>
              </a:rPr>
              <a:t>MapReduce</a:t>
            </a:r>
            <a:r>
              <a:rPr lang="zh-CN" altLang="en-US" sz="2400" dirty="0">
                <a:latin typeface="Arial" panose="020B0604020202020204" pitchFamily="34" charset="0"/>
              </a:rPr>
              <a:t>作业是</a:t>
            </a:r>
            <a:r>
              <a:rPr lang="en-US" altLang="zh-CN" sz="2400" dirty="0">
                <a:latin typeface="Arial" panose="020B0604020202020204" pitchFamily="34" charset="0"/>
              </a:rPr>
              <a:t>Pig</a:t>
            </a:r>
            <a:r>
              <a:rPr lang="zh-CN" altLang="en-US" sz="2400" dirty="0">
                <a:latin typeface="Arial" panose="020B0604020202020204" pitchFamily="34" charset="0"/>
              </a:rPr>
              <a:t>生成的</a:t>
            </a:r>
            <a:endParaRPr lang="zh-CN" altLang="en-US" sz="2400" dirty="0">
              <a:latin typeface="Arial" panose="020B0604020202020204" pitchFamily="34" charset="0"/>
            </a:endParaRPr>
          </a:p>
          <a:p>
            <a:pPr>
              <a:buFont typeface="Arial" panose="020B0604020202020204" pitchFamily="34" charset="0"/>
              <a:buChar char="•"/>
            </a:pPr>
            <a:r>
              <a:rPr lang="en-US" altLang="zh-CN" sz="2400" dirty="0">
                <a:latin typeface="Arial" panose="020B0604020202020204" pitchFamily="34" charset="0"/>
              </a:rPr>
              <a:t>Twitter: 80%</a:t>
            </a:r>
            <a:r>
              <a:rPr lang="zh-CN" altLang="en-US" sz="2400" dirty="0">
                <a:latin typeface="Arial" panose="020B0604020202020204" pitchFamily="34" charset="0"/>
              </a:rPr>
              <a:t>以上的</a:t>
            </a:r>
            <a:r>
              <a:rPr lang="en-US" altLang="zh-CN" sz="2400" dirty="0">
                <a:latin typeface="Arial" panose="020B0604020202020204" pitchFamily="34" charset="0"/>
              </a:rPr>
              <a:t>MapReduce</a:t>
            </a:r>
            <a:r>
              <a:rPr lang="zh-CN" altLang="en-US" sz="2400" dirty="0">
                <a:latin typeface="Arial" panose="020B0604020202020204" pitchFamily="34" charset="0"/>
              </a:rPr>
              <a:t>作业是</a:t>
            </a:r>
            <a:r>
              <a:rPr lang="en-US" altLang="zh-CN" sz="2400" dirty="0">
                <a:latin typeface="Arial" panose="020B0604020202020204" pitchFamily="34" charset="0"/>
              </a:rPr>
              <a:t>Pig</a:t>
            </a:r>
            <a:r>
              <a:rPr lang="zh-CN" altLang="en-US" sz="2400" dirty="0">
                <a:latin typeface="Arial" panose="020B0604020202020204" pitchFamily="34" charset="0"/>
              </a:rPr>
              <a:t>生成的</a:t>
            </a:r>
            <a:endParaRPr lang="zh-CN" altLang="en-US" sz="2400" dirty="0">
              <a:latin typeface="Arial" panose="020B0604020202020204" pitchFamily="34" charset="0"/>
            </a:endParaRPr>
          </a:p>
          <a:p>
            <a:pPr>
              <a:buFont typeface="Arial" panose="020B0604020202020204" pitchFamily="34" charset="0"/>
              <a:buChar char="•"/>
            </a:pPr>
            <a:r>
              <a:rPr lang="en-US" altLang="zh-CN" sz="2400" dirty="0">
                <a:latin typeface="Arial" panose="020B0604020202020204" pitchFamily="34" charset="0"/>
              </a:rPr>
              <a:t>Linkedin: </a:t>
            </a:r>
            <a:r>
              <a:rPr lang="zh-CN" altLang="en-US" sz="2400" dirty="0">
                <a:latin typeface="Arial" panose="020B0604020202020204" pitchFamily="34" charset="0"/>
              </a:rPr>
              <a:t>大部分的</a:t>
            </a:r>
            <a:r>
              <a:rPr lang="en-US" altLang="zh-CN" sz="2400" dirty="0">
                <a:latin typeface="Arial" panose="020B0604020202020204" pitchFamily="34" charset="0"/>
              </a:rPr>
              <a:t>MapReduce</a:t>
            </a:r>
            <a:r>
              <a:rPr lang="zh-CN" altLang="en-US" sz="2400" dirty="0">
                <a:latin typeface="Arial" panose="020B0604020202020204" pitchFamily="34" charset="0"/>
              </a:rPr>
              <a:t>作业是</a:t>
            </a:r>
            <a:r>
              <a:rPr lang="en-US" altLang="zh-CN" sz="2400" dirty="0">
                <a:latin typeface="Arial" panose="020B0604020202020204" pitchFamily="34" charset="0"/>
              </a:rPr>
              <a:t>Pig</a:t>
            </a:r>
            <a:r>
              <a:rPr lang="zh-CN" altLang="en-US" sz="2400" dirty="0">
                <a:latin typeface="Arial" panose="020B0604020202020204" pitchFamily="34" charset="0"/>
              </a:rPr>
              <a:t>生成的</a:t>
            </a:r>
            <a:endParaRPr lang="zh-CN" altLang="en-US" sz="2400" dirty="0">
              <a:latin typeface="Arial" panose="020B0604020202020204" pitchFamily="34" charset="0"/>
            </a:endParaRPr>
          </a:p>
          <a:p>
            <a:pPr>
              <a:buFont typeface="Arial" panose="020B0604020202020204" pitchFamily="34" charset="0"/>
              <a:buChar char="•"/>
            </a:pPr>
            <a:r>
              <a:rPr lang="zh-CN" altLang="en-US" sz="2400" dirty="0">
                <a:latin typeface="Arial" panose="020B0604020202020204" pitchFamily="34" charset="0"/>
              </a:rPr>
              <a:t>其他主要用户</a:t>
            </a:r>
            <a:r>
              <a:rPr lang="en-US" altLang="zh-CN" sz="2400" dirty="0">
                <a:latin typeface="Arial" panose="020B0604020202020204" pitchFamily="34" charset="0"/>
              </a:rPr>
              <a:t>: Salesforce, Nokia, AOL, comScore</a:t>
            </a:r>
            <a:endParaRPr lang="en-US" altLang="zh-CN" sz="2400" dirty="0">
              <a:latin typeface="Arial" panose="020B060402020202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2"/>
          <p:cNvSpPr>
            <a:spLocks noGrp="1"/>
          </p:cNvSpPr>
          <p:nvPr>
            <p:ph type="title"/>
          </p:nvPr>
        </p:nvSpPr>
        <p:spPr/>
        <p:txBody>
          <a:bodyPr vert="horz" wrap="square" lIns="91440" tIns="45720" rIns="91440" bIns="45720" anchor="ctr" anchorCtr="0"/>
          <a:lstStyle/>
          <a:p>
            <a:r>
              <a:rPr lang="en-US" altLang="zh-CN" b="1" dirty="0"/>
              <a:t>8.</a:t>
            </a:r>
            <a:r>
              <a:rPr lang="zh-CN" altLang="zh-CN" b="1" dirty="0"/>
              <a:t>4.2Tez</a:t>
            </a:r>
            <a:endParaRPr lang="zh-CN" altLang="zh-CN" b="1" dirty="0"/>
          </a:p>
        </p:txBody>
      </p:sp>
      <p:sp>
        <p:nvSpPr>
          <p:cNvPr id="36867" name="矩形 3"/>
          <p:cNvSpPr/>
          <p:nvPr/>
        </p:nvSpPr>
        <p:spPr>
          <a:xfrm>
            <a:off x="944245" y="1536700"/>
            <a:ext cx="10709275" cy="4887595"/>
          </a:xfrm>
          <a:prstGeom prst="rect">
            <a:avLst/>
          </a:prstGeom>
          <a:noFill/>
          <a:ln w="9525">
            <a:noFill/>
          </a:ln>
        </p:spPr>
        <p:txBody>
          <a:bodyPr wrap="square">
            <a:spAutoFit/>
          </a:bodyPr>
          <a:lstStyle/>
          <a:p>
            <a:pPr>
              <a:lnSpc>
                <a:spcPct val="130000"/>
              </a:lnSpc>
              <a:buFont typeface="Arial" panose="020B0604020202020204" pitchFamily="34" charset="0"/>
              <a:buChar char="•"/>
            </a:pPr>
            <a:r>
              <a:rPr lang="en-US" altLang="zh-CN" sz="2400" dirty="0">
                <a:latin typeface="Arial" panose="020B0604020202020204" pitchFamily="34" charset="0"/>
              </a:rPr>
              <a:t>Tez</a:t>
            </a:r>
            <a:r>
              <a:rPr lang="zh-CN" altLang="en-US" sz="2400" dirty="0">
                <a:latin typeface="Arial" panose="020B0604020202020204" pitchFamily="34" charset="0"/>
              </a:rPr>
              <a:t>是</a:t>
            </a:r>
            <a:r>
              <a:rPr lang="en-US" altLang="zh-CN" sz="2400" dirty="0">
                <a:latin typeface="Arial" panose="020B0604020202020204" pitchFamily="34" charset="0"/>
              </a:rPr>
              <a:t>Apache</a:t>
            </a:r>
            <a:r>
              <a:rPr lang="zh-CN" altLang="en-US" sz="2400" dirty="0">
                <a:latin typeface="Arial" panose="020B0604020202020204" pitchFamily="34" charset="0"/>
              </a:rPr>
              <a:t>开源的支持</a:t>
            </a:r>
            <a:r>
              <a:rPr lang="en-US" altLang="zh-CN" sz="2400" dirty="0">
                <a:latin typeface="Arial" panose="020B0604020202020204" pitchFamily="34" charset="0"/>
              </a:rPr>
              <a:t>DAG</a:t>
            </a:r>
            <a:r>
              <a:rPr lang="zh-CN" altLang="en-US" sz="2400" dirty="0">
                <a:latin typeface="Arial" panose="020B0604020202020204" pitchFamily="34" charset="0"/>
              </a:rPr>
              <a:t>作业的计算框架，它直接源于</a:t>
            </a:r>
            <a:r>
              <a:rPr lang="en-US" altLang="zh-CN" sz="2400" dirty="0">
                <a:latin typeface="Arial" panose="020B0604020202020204" pitchFamily="34" charset="0"/>
              </a:rPr>
              <a:t>MapReduce</a:t>
            </a:r>
            <a:r>
              <a:rPr lang="zh-CN" altLang="en-US" sz="2400" dirty="0">
                <a:latin typeface="Arial" panose="020B0604020202020204" pitchFamily="34" charset="0"/>
              </a:rPr>
              <a:t>框架</a:t>
            </a:r>
            <a:endParaRPr lang="en-US" altLang="zh-CN" sz="2400" dirty="0">
              <a:latin typeface="Arial" panose="020B0604020202020204" pitchFamily="34" charset="0"/>
            </a:endParaRPr>
          </a:p>
          <a:p>
            <a:pPr>
              <a:lnSpc>
                <a:spcPct val="130000"/>
              </a:lnSpc>
              <a:buFont typeface="Arial" panose="020B0604020202020204" pitchFamily="34" charset="0"/>
              <a:buChar char="•"/>
            </a:pPr>
            <a:r>
              <a:rPr lang="zh-CN" altLang="en-US" sz="2400" dirty="0">
                <a:latin typeface="Arial" panose="020B0604020202020204" pitchFamily="34" charset="0"/>
              </a:rPr>
              <a:t>核心思想是将</a:t>
            </a:r>
            <a:r>
              <a:rPr lang="en-US" altLang="zh-CN" sz="2400" dirty="0">
                <a:latin typeface="Arial" panose="020B0604020202020204" pitchFamily="34" charset="0"/>
              </a:rPr>
              <a:t>Map</a:t>
            </a:r>
            <a:r>
              <a:rPr lang="zh-CN" altLang="en-US" sz="2400" dirty="0">
                <a:latin typeface="Arial" panose="020B0604020202020204" pitchFamily="34" charset="0"/>
              </a:rPr>
              <a:t>和</a:t>
            </a:r>
            <a:r>
              <a:rPr lang="en-US" altLang="zh-CN" sz="2400" dirty="0">
                <a:latin typeface="Arial" panose="020B0604020202020204" pitchFamily="34" charset="0"/>
              </a:rPr>
              <a:t>Reduce</a:t>
            </a:r>
            <a:r>
              <a:rPr lang="zh-CN" altLang="en-US" sz="2400" dirty="0">
                <a:latin typeface="Arial" panose="020B0604020202020204" pitchFamily="34" charset="0"/>
              </a:rPr>
              <a:t>两个操作进一步拆分</a:t>
            </a:r>
            <a:endParaRPr lang="en-US" altLang="zh-CN" sz="2400" dirty="0">
              <a:latin typeface="Arial" panose="020B0604020202020204" pitchFamily="34" charset="0"/>
            </a:endParaRPr>
          </a:p>
          <a:p>
            <a:pPr>
              <a:lnSpc>
                <a:spcPct val="130000"/>
              </a:lnSpc>
              <a:buFont typeface="Arial" panose="020B0604020202020204" pitchFamily="34" charset="0"/>
              <a:buChar char="•"/>
            </a:pPr>
            <a:r>
              <a:rPr lang="en-US" altLang="zh-CN" sz="2400" dirty="0">
                <a:latin typeface="Arial" panose="020B0604020202020204" pitchFamily="34" charset="0"/>
              </a:rPr>
              <a:t>Map</a:t>
            </a:r>
            <a:r>
              <a:rPr lang="zh-CN" altLang="en-US" sz="2400" dirty="0">
                <a:latin typeface="Arial" panose="020B0604020202020204" pitchFamily="34" charset="0"/>
              </a:rPr>
              <a:t>被拆分成</a:t>
            </a:r>
            <a:r>
              <a:rPr lang="en-US" altLang="zh-CN" sz="2400" dirty="0">
                <a:latin typeface="Arial" panose="020B0604020202020204" pitchFamily="34" charset="0"/>
              </a:rPr>
              <a:t>Input</a:t>
            </a:r>
            <a:r>
              <a:rPr lang="zh-CN" altLang="en-US" sz="2400" dirty="0">
                <a:latin typeface="Arial" panose="020B0604020202020204" pitchFamily="34" charset="0"/>
              </a:rPr>
              <a:t>、</a:t>
            </a:r>
            <a:r>
              <a:rPr lang="en-US" altLang="zh-CN" sz="2400" dirty="0">
                <a:latin typeface="Arial" panose="020B0604020202020204" pitchFamily="34" charset="0"/>
              </a:rPr>
              <a:t>Processor</a:t>
            </a:r>
            <a:r>
              <a:rPr lang="zh-CN" altLang="en-US" sz="2400" dirty="0">
                <a:latin typeface="Arial" panose="020B0604020202020204" pitchFamily="34" charset="0"/>
              </a:rPr>
              <a:t>、</a:t>
            </a:r>
            <a:r>
              <a:rPr lang="en-US" altLang="zh-CN" sz="2400" dirty="0">
                <a:latin typeface="Arial" panose="020B0604020202020204" pitchFamily="34" charset="0"/>
              </a:rPr>
              <a:t>Sort</a:t>
            </a:r>
            <a:r>
              <a:rPr lang="zh-CN" altLang="en-US" sz="2400" dirty="0">
                <a:latin typeface="Arial" panose="020B0604020202020204" pitchFamily="34" charset="0"/>
              </a:rPr>
              <a:t>、</a:t>
            </a:r>
            <a:r>
              <a:rPr lang="en-US" altLang="zh-CN" sz="2400" dirty="0">
                <a:latin typeface="Arial" panose="020B0604020202020204" pitchFamily="34" charset="0"/>
              </a:rPr>
              <a:t>Merge</a:t>
            </a:r>
            <a:r>
              <a:rPr lang="zh-CN" altLang="en-US" sz="2400" dirty="0">
                <a:latin typeface="Arial" panose="020B0604020202020204" pitchFamily="34" charset="0"/>
              </a:rPr>
              <a:t>和</a:t>
            </a:r>
            <a:r>
              <a:rPr lang="en-US" altLang="zh-CN" sz="2400" dirty="0">
                <a:latin typeface="Arial" panose="020B0604020202020204" pitchFamily="34" charset="0"/>
              </a:rPr>
              <a:t>Output</a:t>
            </a:r>
            <a:endParaRPr lang="en-US" altLang="zh-CN" sz="2400" dirty="0">
              <a:latin typeface="Arial" panose="020B0604020202020204" pitchFamily="34" charset="0"/>
            </a:endParaRPr>
          </a:p>
          <a:p>
            <a:pPr>
              <a:lnSpc>
                <a:spcPct val="130000"/>
              </a:lnSpc>
              <a:buFont typeface="Arial" panose="020B0604020202020204" pitchFamily="34" charset="0"/>
              <a:buChar char="•"/>
            </a:pPr>
            <a:r>
              <a:rPr lang="zh-CN" altLang="en-US" sz="2400" dirty="0">
                <a:latin typeface="Arial" panose="020B0604020202020204" pitchFamily="34" charset="0"/>
              </a:rPr>
              <a:t> </a:t>
            </a:r>
            <a:r>
              <a:rPr lang="en-US" altLang="zh-CN" sz="2400" dirty="0">
                <a:latin typeface="Arial" panose="020B0604020202020204" pitchFamily="34" charset="0"/>
              </a:rPr>
              <a:t>Reduce</a:t>
            </a:r>
            <a:r>
              <a:rPr lang="zh-CN" altLang="en-US" sz="2400" dirty="0">
                <a:latin typeface="Arial" panose="020B0604020202020204" pitchFamily="34" charset="0"/>
              </a:rPr>
              <a:t>被拆分成</a:t>
            </a:r>
            <a:r>
              <a:rPr lang="en-US" altLang="zh-CN" sz="2400" dirty="0">
                <a:latin typeface="Arial" panose="020B0604020202020204" pitchFamily="34" charset="0"/>
              </a:rPr>
              <a:t>Input</a:t>
            </a:r>
            <a:r>
              <a:rPr lang="zh-CN" altLang="en-US" sz="2400" dirty="0">
                <a:latin typeface="Arial" panose="020B0604020202020204" pitchFamily="34" charset="0"/>
              </a:rPr>
              <a:t>、</a:t>
            </a:r>
            <a:r>
              <a:rPr lang="en-US" altLang="zh-CN" sz="2400" dirty="0">
                <a:latin typeface="Arial" panose="020B0604020202020204" pitchFamily="34" charset="0"/>
              </a:rPr>
              <a:t>Shuffle</a:t>
            </a:r>
            <a:r>
              <a:rPr lang="zh-CN" altLang="en-US" sz="2400" dirty="0">
                <a:latin typeface="Arial" panose="020B0604020202020204" pitchFamily="34" charset="0"/>
              </a:rPr>
              <a:t>、</a:t>
            </a:r>
            <a:r>
              <a:rPr lang="en-US" altLang="zh-CN" sz="2400" dirty="0">
                <a:latin typeface="Arial" panose="020B0604020202020204" pitchFamily="34" charset="0"/>
              </a:rPr>
              <a:t>Sort</a:t>
            </a:r>
            <a:r>
              <a:rPr lang="zh-CN" altLang="en-US" sz="2400" dirty="0">
                <a:latin typeface="Arial" panose="020B0604020202020204" pitchFamily="34" charset="0"/>
              </a:rPr>
              <a:t>、</a:t>
            </a:r>
            <a:r>
              <a:rPr lang="en-US" altLang="zh-CN" sz="2400" dirty="0">
                <a:latin typeface="Arial" panose="020B0604020202020204" pitchFamily="34" charset="0"/>
              </a:rPr>
              <a:t>Merge</a:t>
            </a:r>
            <a:r>
              <a:rPr lang="zh-CN" altLang="en-US" sz="2400" dirty="0">
                <a:latin typeface="Arial" panose="020B0604020202020204" pitchFamily="34" charset="0"/>
              </a:rPr>
              <a:t>、</a:t>
            </a:r>
            <a:r>
              <a:rPr lang="en-US" altLang="zh-CN" sz="2400" dirty="0">
                <a:latin typeface="Arial" panose="020B0604020202020204" pitchFamily="34" charset="0"/>
              </a:rPr>
              <a:t>Processor</a:t>
            </a:r>
            <a:r>
              <a:rPr lang="zh-CN" altLang="en-US" sz="2400" dirty="0">
                <a:latin typeface="Arial" panose="020B0604020202020204" pitchFamily="34" charset="0"/>
              </a:rPr>
              <a:t>和</a:t>
            </a:r>
            <a:r>
              <a:rPr lang="en-US" altLang="zh-CN" sz="2400" dirty="0">
                <a:latin typeface="Arial" panose="020B0604020202020204" pitchFamily="34" charset="0"/>
              </a:rPr>
              <a:t>Output</a:t>
            </a:r>
            <a:r>
              <a:rPr lang="zh-CN" altLang="en-US" sz="2400" dirty="0">
                <a:latin typeface="Arial" panose="020B0604020202020204" pitchFamily="34" charset="0"/>
              </a:rPr>
              <a:t>等</a:t>
            </a:r>
            <a:endParaRPr lang="en-US" altLang="zh-CN" sz="2400" dirty="0">
              <a:latin typeface="Arial" panose="020B0604020202020204" pitchFamily="34" charset="0"/>
            </a:endParaRPr>
          </a:p>
          <a:p>
            <a:pPr>
              <a:lnSpc>
                <a:spcPct val="130000"/>
              </a:lnSpc>
              <a:buFont typeface="Arial" panose="020B0604020202020204" pitchFamily="34" charset="0"/>
              <a:buChar char="•"/>
            </a:pPr>
            <a:r>
              <a:rPr lang="zh-CN" altLang="en-US" sz="2400" dirty="0">
                <a:latin typeface="Arial" panose="020B0604020202020204" pitchFamily="34" charset="0"/>
              </a:rPr>
              <a:t>分解后的元操作可以任意灵活组合，产生新的操作</a:t>
            </a:r>
            <a:endParaRPr lang="en-US" altLang="zh-CN" sz="2400" dirty="0">
              <a:latin typeface="Arial" panose="020B0604020202020204" pitchFamily="34" charset="0"/>
            </a:endParaRPr>
          </a:p>
          <a:p>
            <a:pPr>
              <a:lnSpc>
                <a:spcPct val="130000"/>
              </a:lnSpc>
              <a:buFont typeface="Arial" panose="020B0604020202020204" pitchFamily="34" charset="0"/>
              <a:buChar char="•"/>
            </a:pPr>
            <a:r>
              <a:rPr lang="zh-CN" altLang="en-US" sz="2400" dirty="0">
                <a:latin typeface="Arial" panose="020B0604020202020204" pitchFamily="34" charset="0"/>
              </a:rPr>
              <a:t>这些操作经过一些控制程序组装后，可形成一个大的</a:t>
            </a:r>
            <a:r>
              <a:rPr lang="en-US" altLang="zh-CN" sz="2400" dirty="0">
                <a:latin typeface="Arial" panose="020B0604020202020204" pitchFamily="34" charset="0"/>
              </a:rPr>
              <a:t>DAG</a:t>
            </a:r>
            <a:r>
              <a:rPr lang="zh-CN" altLang="en-US" sz="2400" dirty="0">
                <a:latin typeface="Arial" panose="020B0604020202020204" pitchFamily="34" charset="0"/>
              </a:rPr>
              <a:t>作业</a:t>
            </a:r>
            <a:endParaRPr lang="en-US" altLang="zh-CN" sz="2400" dirty="0">
              <a:latin typeface="Arial" panose="020B0604020202020204" pitchFamily="34" charset="0"/>
            </a:endParaRPr>
          </a:p>
          <a:p>
            <a:pPr>
              <a:lnSpc>
                <a:spcPct val="130000"/>
              </a:lnSpc>
              <a:buFont typeface="Arial" panose="020B0604020202020204" pitchFamily="34" charset="0"/>
              <a:buChar char="•"/>
            </a:pPr>
            <a:r>
              <a:rPr lang="zh-CN" altLang="zh-CN" sz="2400" dirty="0">
                <a:latin typeface="Arial" panose="020B0604020202020204" pitchFamily="34" charset="0"/>
              </a:rPr>
              <a:t>通过</a:t>
            </a:r>
            <a:r>
              <a:rPr lang="en-US" altLang="zh-CN" sz="2400" dirty="0">
                <a:latin typeface="Arial" panose="020B0604020202020204" pitchFamily="34" charset="0"/>
              </a:rPr>
              <a:t>DAG</a:t>
            </a:r>
            <a:r>
              <a:rPr lang="zh-CN" altLang="zh-CN" sz="2400" dirty="0">
                <a:latin typeface="Arial" panose="020B0604020202020204" pitchFamily="34" charset="0"/>
              </a:rPr>
              <a:t>作业的方式运行</a:t>
            </a:r>
            <a:r>
              <a:rPr lang="en-US" altLang="zh-CN" sz="2400" dirty="0">
                <a:latin typeface="Arial" panose="020B0604020202020204" pitchFamily="34" charset="0"/>
              </a:rPr>
              <a:t>MapReduce</a:t>
            </a:r>
            <a:r>
              <a:rPr lang="zh-CN" altLang="zh-CN" sz="2400" dirty="0">
                <a:latin typeface="Arial" panose="020B0604020202020204" pitchFamily="34" charset="0"/>
              </a:rPr>
              <a:t>作业，提供了程序运行的整体处理逻辑，就可以去除工作流当中多余的</a:t>
            </a:r>
            <a:r>
              <a:rPr lang="en-US" altLang="zh-CN" sz="2400" dirty="0">
                <a:latin typeface="Arial" panose="020B0604020202020204" pitchFamily="34" charset="0"/>
              </a:rPr>
              <a:t>Map</a:t>
            </a:r>
            <a:r>
              <a:rPr lang="zh-CN" altLang="zh-CN" sz="2400" dirty="0">
                <a:latin typeface="Arial" panose="020B0604020202020204" pitchFamily="34" charset="0"/>
              </a:rPr>
              <a:t>阶段，减少不必要的操作，提升数据处理的性能</a:t>
            </a:r>
            <a:endParaRPr lang="en-US" altLang="zh-CN" sz="2400" dirty="0">
              <a:latin typeface="Arial" panose="020B0604020202020204" pitchFamily="34" charset="0"/>
            </a:endParaRPr>
          </a:p>
          <a:p>
            <a:pPr>
              <a:lnSpc>
                <a:spcPct val="130000"/>
              </a:lnSpc>
              <a:buFont typeface="Arial" panose="020B0604020202020204" pitchFamily="34" charset="0"/>
              <a:buChar char="•"/>
            </a:pPr>
            <a:r>
              <a:rPr lang="en-US" altLang="zh-CN" sz="2400" dirty="0">
                <a:latin typeface="Arial" panose="020B0604020202020204" pitchFamily="34" charset="0"/>
              </a:rPr>
              <a:t>Hortonworks</a:t>
            </a:r>
            <a:r>
              <a:rPr lang="zh-CN" altLang="zh-CN" sz="2400" dirty="0">
                <a:latin typeface="Arial" panose="020B0604020202020204" pitchFamily="34" charset="0"/>
              </a:rPr>
              <a:t>把</a:t>
            </a:r>
            <a:r>
              <a:rPr lang="en-US" altLang="zh-CN" sz="2400" dirty="0">
                <a:latin typeface="Arial" panose="020B0604020202020204" pitchFamily="34" charset="0"/>
              </a:rPr>
              <a:t>Tez</a:t>
            </a:r>
            <a:r>
              <a:rPr lang="zh-CN" altLang="zh-CN" sz="2400" dirty="0">
                <a:latin typeface="Arial" panose="020B0604020202020204" pitchFamily="34" charset="0"/>
              </a:rPr>
              <a:t>应用到数据仓库</a:t>
            </a:r>
            <a:r>
              <a:rPr lang="en-US" altLang="zh-CN" sz="2400" dirty="0">
                <a:latin typeface="Arial" panose="020B0604020202020204" pitchFamily="34" charset="0"/>
              </a:rPr>
              <a:t>Hive</a:t>
            </a:r>
            <a:r>
              <a:rPr lang="zh-CN" altLang="zh-CN" sz="2400" dirty="0">
                <a:latin typeface="Arial" panose="020B0604020202020204" pitchFamily="34" charset="0"/>
              </a:rPr>
              <a:t>的优化中，使得性能提升了约</a:t>
            </a:r>
            <a:r>
              <a:rPr lang="en-US" altLang="zh-CN" sz="2400" dirty="0">
                <a:latin typeface="Arial" panose="020B0604020202020204" pitchFamily="34" charset="0"/>
              </a:rPr>
              <a:t>100</a:t>
            </a:r>
            <a:r>
              <a:rPr lang="zh-CN" altLang="zh-CN" sz="2400" dirty="0">
                <a:latin typeface="Arial" panose="020B0604020202020204" pitchFamily="34" charset="0"/>
              </a:rPr>
              <a:t>倍</a:t>
            </a:r>
            <a:endParaRPr lang="zh-CN" altLang="zh-CN" sz="2400" dirty="0">
              <a:latin typeface="Arial" panose="020B0604020202020204"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2"/>
          <p:cNvSpPr>
            <a:spLocks noGrp="1"/>
          </p:cNvSpPr>
          <p:nvPr>
            <p:ph type="title"/>
          </p:nvPr>
        </p:nvSpPr>
        <p:spPr/>
        <p:txBody>
          <a:bodyPr vert="horz" wrap="square" lIns="91440" tIns="45720" rIns="91440" bIns="45720" anchor="ctr" anchorCtr="0"/>
          <a:lstStyle/>
          <a:p>
            <a:r>
              <a:rPr lang="en-US" altLang="zh-CN" b="1" dirty="0"/>
              <a:t>8.</a:t>
            </a:r>
            <a:r>
              <a:rPr lang="zh-CN" altLang="zh-CN" b="1" dirty="0"/>
              <a:t>4.2Tez</a:t>
            </a:r>
            <a:endParaRPr lang="zh-CN" altLang="en-US" dirty="0"/>
          </a:p>
        </p:txBody>
      </p:sp>
      <p:pic>
        <p:nvPicPr>
          <p:cNvPr id="37891" name="Picture 2"/>
          <p:cNvPicPr>
            <a:picLocks noChangeAspect="1"/>
          </p:cNvPicPr>
          <p:nvPr/>
        </p:nvPicPr>
        <p:blipFill>
          <a:blip r:embed="rId1"/>
          <a:stretch>
            <a:fillRect/>
          </a:stretch>
        </p:blipFill>
        <p:spPr>
          <a:xfrm>
            <a:off x="4678045" y="1273175"/>
            <a:ext cx="7129780" cy="4899025"/>
          </a:xfrm>
          <a:prstGeom prst="rect">
            <a:avLst/>
          </a:prstGeom>
          <a:noFill/>
          <a:ln w="9525">
            <a:noFill/>
          </a:ln>
        </p:spPr>
      </p:pic>
      <p:sp>
        <p:nvSpPr>
          <p:cNvPr id="37892" name="矩形 4"/>
          <p:cNvSpPr/>
          <p:nvPr/>
        </p:nvSpPr>
        <p:spPr>
          <a:xfrm>
            <a:off x="838200" y="1605280"/>
            <a:ext cx="4157345" cy="1938020"/>
          </a:xfrm>
          <a:prstGeom prst="rect">
            <a:avLst/>
          </a:prstGeom>
          <a:noFill/>
          <a:ln w="9525">
            <a:noFill/>
          </a:ln>
        </p:spPr>
        <p:txBody>
          <a:bodyPr wrap="square">
            <a:spAutoFit/>
          </a:bodyPr>
          <a:lstStyle/>
          <a:p>
            <a:r>
              <a:rPr lang="en-US" altLang="zh-CN" sz="2000" dirty="0">
                <a:latin typeface="Arial" panose="020B0604020202020204" pitchFamily="34" charset="0"/>
              </a:rPr>
              <a:t>SELECT a.state, COUNT(*),AVERAGE(c.price)</a:t>
            </a:r>
            <a:endParaRPr lang="en-US" altLang="zh-CN" sz="2000" dirty="0">
              <a:latin typeface="Arial" panose="020B0604020202020204" pitchFamily="34" charset="0"/>
            </a:endParaRPr>
          </a:p>
          <a:p>
            <a:r>
              <a:rPr lang="en-US" altLang="zh-CN" sz="2000" dirty="0">
                <a:latin typeface="Arial" panose="020B0604020202020204" pitchFamily="34" charset="0"/>
              </a:rPr>
              <a:t>FROM a</a:t>
            </a:r>
            <a:endParaRPr lang="en-US" altLang="zh-CN" sz="2000" dirty="0">
              <a:latin typeface="Arial" panose="020B0604020202020204" pitchFamily="34" charset="0"/>
            </a:endParaRPr>
          </a:p>
          <a:p>
            <a:r>
              <a:rPr lang="en-US" altLang="zh-CN" sz="2000" dirty="0">
                <a:latin typeface="Arial" panose="020B0604020202020204" pitchFamily="34" charset="0"/>
              </a:rPr>
              <a:t>JOIN b ON (a.id = b.id)</a:t>
            </a:r>
            <a:endParaRPr lang="en-US" altLang="zh-CN" sz="2000" dirty="0">
              <a:latin typeface="Arial" panose="020B0604020202020204" pitchFamily="34" charset="0"/>
            </a:endParaRPr>
          </a:p>
          <a:p>
            <a:r>
              <a:rPr lang="en-US" altLang="zh-CN" sz="2000" dirty="0">
                <a:latin typeface="Arial" panose="020B0604020202020204" pitchFamily="34" charset="0"/>
              </a:rPr>
              <a:t>JOIN c ON (a.itemId = c.itemId)</a:t>
            </a:r>
            <a:endParaRPr lang="en-US" altLang="zh-CN" sz="2000" dirty="0">
              <a:latin typeface="Arial" panose="020B0604020202020204" pitchFamily="34" charset="0"/>
            </a:endParaRPr>
          </a:p>
          <a:p>
            <a:r>
              <a:rPr lang="en-US" altLang="zh-CN" sz="2000" dirty="0">
                <a:latin typeface="Arial" panose="020B0604020202020204" pitchFamily="34" charset="0"/>
              </a:rPr>
              <a:t>GROUP BY a.state</a:t>
            </a:r>
            <a:endParaRPr lang="en-US" altLang="zh-CN" sz="2000" dirty="0">
              <a:latin typeface="Arial" panose="020B0604020202020204" pitchFamily="34" charset="0"/>
            </a:endParaRPr>
          </a:p>
        </p:txBody>
      </p:sp>
      <p:sp>
        <p:nvSpPr>
          <p:cNvPr id="37893" name="矩形 5"/>
          <p:cNvSpPr/>
          <p:nvPr/>
        </p:nvSpPr>
        <p:spPr>
          <a:xfrm>
            <a:off x="5219700" y="6172200"/>
            <a:ext cx="6324600" cy="398780"/>
          </a:xfrm>
          <a:prstGeom prst="rect">
            <a:avLst/>
          </a:prstGeom>
          <a:noFill/>
          <a:ln w="9525">
            <a:noFill/>
          </a:ln>
        </p:spPr>
        <p:txBody>
          <a:bodyPr>
            <a:spAutoFit/>
          </a:bodyPr>
          <a:lstStyle/>
          <a:p>
            <a:r>
              <a:rPr lang="zh-CN" altLang="zh-CN" sz="2000" dirty="0">
                <a:latin typeface="Arial" panose="020B0604020202020204" pitchFamily="34" charset="0"/>
              </a:rPr>
              <a:t>图</a:t>
            </a:r>
            <a:r>
              <a:rPr lang="en-US" altLang="zh-CN" sz="2000" dirty="0">
                <a:latin typeface="Arial" panose="020B0604020202020204" pitchFamily="34" charset="0"/>
              </a:rPr>
              <a:t> HiveQL</a:t>
            </a:r>
            <a:r>
              <a:rPr lang="zh-CN" altLang="zh-CN" sz="2000" dirty="0">
                <a:latin typeface="Arial" panose="020B0604020202020204" pitchFamily="34" charset="0"/>
              </a:rPr>
              <a:t>语句在</a:t>
            </a:r>
            <a:r>
              <a:rPr lang="en-US" altLang="zh-CN" sz="2000" dirty="0">
                <a:latin typeface="Arial" panose="020B0604020202020204" pitchFamily="34" charset="0"/>
              </a:rPr>
              <a:t>MapReduce</a:t>
            </a:r>
            <a:r>
              <a:rPr lang="zh-CN" altLang="zh-CN" sz="2000" dirty="0">
                <a:latin typeface="Arial" panose="020B0604020202020204" pitchFamily="34" charset="0"/>
              </a:rPr>
              <a:t>和</a:t>
            </a:r>
            <a:r>
              <a:rPr lang="en-US" altLang="zh-CN" sz="2000" dirty="0">
                <a:latin typeface="Arial" panose="020B0604020202020204" pitchFamily="34" charset="0"/>
              </a:rPr>
              <a:t>Tez</a:t>
            </a:r>
            <a:r>
              <a:rPr lang="zh-CN" altLang="zh-CN" sz="2000" dirty="0">
                <a:latin typeface="Arial" panose="020B0604020202020204" pitchFamily="34" charset="0"/>
              </a:rPr>
              <a:t>中的执行情况对比</a:t>
            </a:r>
            <a:endParaRPr lang="zh-CN" altLang="zh-CN" sz="2000" dirty="0">
              <a:latin typeface="Arial" panose="020B0604020202020204" pitchFamily="34" charset="0"/>
            </a:endParaRPr>
          </a:p>
        </p:txBody>
      </p:sp>
      <p:sp>
        <p:nvSpPr>
          <p:cNvPr id="37894" name="矩形 6"/>
          <p:cNvSpPr/>
          <p:nvPr/>
        </p:nvSpPr>
        <p:spPr>
          <a:xfrm>
            <a:off x="838200" y="4234180"/>
            <a:ext cx="3265170" cy="1938020"/>
          </a:xfrm>
          <a:prstGeom prst="rect">
            <a:avLst/>
          </a:prstGeom>
          <a:noFill/>
          <a:ln w="9525">
            <a:noFill/>
          </a:ln>
        </p:spPr>
        <p:txBody>
          <a:bodyPr wrap="square">
            <a:spAutoFit/>
          </a:bodyPr>
          <a:lstStyle/>
          <a:p>
            <a:pPr>
              <a:buFont typeface="Arial" panose="020B0604020202020204" pitchFamily="34" charset="0"/>
              <a:buChar char="•"/>
            </a:pPr>
            <a:r>
              <a:rPr lang="en-US" altLang="zh-CN" sz="2400" dirty="0">
                <a:latin typeface="Arial" panose="020B0604020202020204" pitchFamily="34" charset="0"/>
              </a:rPr>
              <a:t>Tez</a:t>
            </a:r>
            <a:r>
              <a:rPr lang="zh-CN" altLang="en-US" sz="2400" dirty="0">
                <a:latin typeface="Arial" panose="020B0604020202020204" pitchFamily="34" charset="0"/>
              </a:rPr>
              <a:t>的优化主要体现在：</a:t>
            </a:r>
            <a:endParaRPr lang="zh-CN" altLang="en-US" sz="2400" dirty="0">
              <a:latin typeface="Arial" panose="020B0604020202020204" pitchFamily="34" charset="0"/>
            </a:endParaRPr>
          </a:p>
          <a:p>
            <a:pPr>
              <a:buFont typeface="Arial" panose="020B0604020202020204" pitchFamily="34" charset="0"/>
              <a:buChar char="•"/>
            </a:pPr>
            <a:r>
              <a:rPr lang="zh-CN" altLang="en-US" sz="2400" dirty="0">
                <a:latin typeface="Arial" panose="020B0604020202020204" pitchFamily="34" charset="0"/>
              </a:rPr>
              <a:t>去除了连续两个作业之间的“写入</a:t>
            </a:r>
            <a:r>
              <a:rPr lang="en-US" altLang="zh-CN" sz="2400" dirty="0">
                <a:latin typeface="Arial" panose="020B0604020202020204" pitchFamily="34" charset="0"/>
              </a:rPr>
              <a:t>HDFS</a:t>
            </a:r>
            <a:r>
              <a:rPr lang="zh-CN" altLang="en-US" sz="2400" dirty="0">
                <a:latin typeface="Arial" panose="020B0604020202020204" pitchFamily="34" charset="0"/>
              </a:rPr>
              <a:t>”</a:t>
            </a:r>
            <a:endParaRPr lang="zh-CN" altLang="en-US" sz="2400" dirty="0">
              <a:latin typeface="Arial" panose="020B0604020202020204" pitchFamily="34" charset="0"/>
            </a:endParaRPr>
          </a:p>
          <a:p>
            <a:pPr>
              <a:buFont typeface="Arial" panose="020B0604020202020204" pitchFamily="34" charset="0"/>
              <a:buChar char="•"/>
            </a:pPr>
            <a:r>
              <a:rPr lang="zh-CN" altLang="en-US" sz="2400" dirty="0">
                <a:latin typeface="Arial" panose="020B0604020202020204" pitchFamily="34" charset="0"/>
              </a:rPr>
              <a:t>去除了每个工作流中多余的</a:t>
            </a:r>
            <a:r>
              <a:rPr lang="en-US" altLang="zh-CN" sz="2400" dirty="0">
                <a:latin typeface="Arial" panose="020B0604020202020204" pitchFamily="34" charset="0"/>
              </a:rPr>
              <a:t>Map</a:t>
            </a:r>
            <a:r>
              <a:rPr lang="zh-CN" altLang="en-US" sz="2400" dirty="0">
                <a:latin typeface="Arial" panose="020B0604020202020204" pitchFamily="34" charset="0"/>
              </a:rPr>
              <a:t>阶段</a:t>
            </a:r>
            <a:endParaRPr lang="zh-CN" altLang="en-US" sz="2400" dirty="0">
              <a:latin typeface="Arial" panose="020B0604020202020204"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2"/>
          <p:cNvSpPr>
            <a:spLocks noGrp="1"/>
          </p:cNvSpPr>
          <p:nvPr>
            <p:ph type="title"/>
          </p:nvPr>
        </p:nvSpPr>
        <p:spPr/>
        <p:txBody>
          <a:bodyPr vert="horz" wrap="square" lIns="91440" tIns="45720" rIns="91440" bIns="45720" anchor="ctr" anchorCtr="0"/>
          <a:lstStyle/>
          <a:p>
            <a:r>
              <a:rPr lang="en-US" altLang="zh-CN" b="1" dirty="0"/>
              <a:t>8.</a:t>
            </a:r>
            <a:r>
              <a:rPr lang="zh-CN" altLang="zh-CN" b="1" dirty="0"/>
              <a:t>4.2Tez</a:t>
            </a:r>
            <a:endParaRPr lang="zh-CN" altLang="zh-CN" b="1" dirty="0"/>
          </a:p>
        </p:txBody>
      </p:sp>
      <p:pic>
        <p:nvPicPr>
          <p:cNvPr id="38915" name="图片 3" descr="http://s8.51cto.com/wyfs01/M02/37/52/wKioOVKdQhnxYblDAAD7pPh4rKU350.png"/>
          <p:cNvPicPr>
            <a:picLocks noChangeAspect="1"/>
          </p:cNvPicPr>
          <p:nvPr/>
        </p:nvPicPr>
        <p:blipFill>
          <a:blip r:embed="rId1"/>
          <a:srcRect l="40320"/>
          <a:stretch>
            <a:fillRect/>
          </a:stretch>
        </p:blipFill>
        <p:spPr>
          <a:xfrm>
            <a:off x="3763010" y="2929255"/>
            <a:ext cx="4506913" cy="3505200"/>
          </a:xfrm>
          <a:prstGeom prst="rect">
            <a:avLst/>
          </a:prstGeom>
          <a:noFill/>
          <a:ln w="9525">
            <a:noFill/>
          </a:ln>
        </p:spPr>
      </p:pic>
      <p:sp>
        <p:nvSpPr>
          <p:cNvPr id="38916" name="矩形 4"/>
          <p:cNvSpPr/>
          <p:nvPr/>
        </p:nvSpPr>
        <p:spPr>
          <a:xfrm>
            <a:off x="3450590" y="6397625"/>
            <a:ext cx="5721985" cy="460375"/>
          </a:xfrm>
          <a:prstGeom prst="rect">
            <a:avLst/>
          </a:prstGeom>
          <a:noFill/>
          <a:ln w="9525">
            <a:noFill/>
          </a:ln>
        </p:spPr>
        <p:txBody>
          <a:bodyPr wrap="square">
            <a:spAutoFit/>
          </a:bodyPr>
          <a:lstStyle/>
          <a:p>
            <a:r>
              <a:rPr lang="zh-CN" altLang="zh-CN" sz="2400" dirty="0">
                <a:latin typeface="Arial" panose="020B0604020202020204" pitchFamily="34" charset="0"/>
              </a:rPr>
              <a:t>图</a:t>
            </a:r>
            <a:r>
              <a:rPr lang="en-US" altLang="zh-CN" sz="2400" dirty="0">
                <a:latin typeface="Arial" panose="020B0604020202020204" pitchFamily="34" charset="0"/>
              </a:rPr>
              <a:t> Tez</a:t>
            </a:r>
            <a:r>
              <a:rPr lang="zh-CN" altLang="zh-CN" sz="2400" dirty="0">
                <a:latin typeface="Arial" panose="020B0604020202020204" pitchFamily="34" charset="0"/>
              </a:rPr>
              <a:t>框架在</a:t>
            </a:r>
            <a:r>
              <a:rPr lang="en-US" altLang="zh-CN" sz="2400" dirty="0">
                <a:latin typeface="Arial" panose="020B0604020202020204" pitchFamily="34" charset="0"/>
              </a:rPr>
              <a:t>Hadoop</a:t>
            </a:r>
            <a:r>
              <a:rPr lang="zh-CN" altLang="zh-CN" sz="2400" dirty="0">
                <a:latin typeface="Arial" panose="020B0604020202020204" pitchFamily="34" charset="0"/>
              </a:rPr>
              <a:t>生态系统中的作用</a:t>
            </a:r>
            <a:endParaRPr lang="zh-CN" altLang="zh-CN" sz="2400" dirty="0">
              <a:latin typeface="Arial" panose="020B0604020202020204" pitchFamily="34" charset="0"/>
            </a:endParaRPr>
          </a:p>
        </p:txBody>
      </p:sp>
      <p:sp>
        <p:nvSpPr>
          <p:cNvPr id="38917" name="矩形 5"/>
          <p:cNvSpPr/>
          <p:nvPr/>
        </p:nvSpPr>
        <p:spPr>
          <a:xfrm>
            <a:off x="838200" y="1416050"/>
            <a:ext cx="10779760" cy="1938020"/>
          </a:xfrm>
          <a:prstGeom prst="rect">
            <a:avLst/>
          </a:prstGeom>
          <a:noFill/>
          <a:ln w="9525">
            <a:noFill/>
          </a:ln>
        </p:spPr>
        <p:txBody>
          <a:bodyPr wrap="square">
            <a:spAutoFit/>
          </a:bodyPr>
          <a:lstStyle/>
          <a:p>
            <a:pPr>
              <a:buFont typeface="Arial" panose="020B0604020202020204" pitchFamily="34" charset="0"/>
              <a:buChar char="•"/>
            </a:pPr>
            <a:r>
              <a:rPr lang="zh-CN" altLang="zh-CN" sz="2400" dirty="0">
                <a:latin typeface="Arial" panose="020B0604020202020204" pitchFamily="34" charset="0"/>
              </a:rPr>
              <a:t>在</a:t>
            </a:r>
            <a:r>
              <a:rPr lang="en-US" altLang="zh-CN" sz="2400" dirty="0">
                <a:latin typeface="Arial" panose="020B0604020202020204" pitchFamily="34" charset="0"/>
              </a:rPr>
              <a:t>Hadoop2.0</a:t>
            </a:r>
            <a:r>
              <a:rPr lang="zh-CN" altLang="zh-CN" sz="2400" dirty="0">
                <a:latin typeface="Arial" panose="020B0604020202020204" pitchFamily="34" charset="0"/>
              </a:rPr>
              <a:t>生态系统中，</a:t>
            </a:r>
            <a:r>
              <a:rPr lang="en-US" altLang="zh-CN" sz="2400" dirty="0">
                <a:latin typeface="Arial" panose="020B0604020202020204" pitchFamily="34" charset="0"/>
              </a:rPr>
              <a:t>MapReduce</a:t>
            </a:r>
            <a:r>
              <a:rPr lang="zh-CN" altLang="zh-CN" sz="2400" dirty="0">
                <a:latin typeface="Arial" panose="020B0604020202020204" pitchFamily="34" charset="0"/>
              </a:rPr>
              <a:t>、</a:t>
            </a:r>
            <a:r>
              <a:rPr lang="en-US" altLang="zh-CN" sz="2400" dirty="0">
                <a:latin typeface="Arial" panose="020B0604020202020204" pitchFamily="34" charset="0"/>
              </a:rPr>
              <a:t>Hive</a:t>
            </a:r>
            <a:r>
              <a:rPr lang="zh-CN" altLang="zh-CN" sz="2400" dirty="0">
                <a:latin typeface="Arial" panose="020B0604020202020204" pitchFamily="34" charset="0"/>
              </a:rPr>
              <a:t>、</a:t>
            </a:r>
            <a:r>
              <a:rPr lang="en-US" altLang="zh-CN" sz="2400" dirty="0">
                <a:latin typeface="Arial" panose="020B0604020202020204" pitchFamily="34" charset="0"/>
              </a:rPr>
              <a:t>Pig</a:t>
            </a:r>
            <a:r>
              <a:rPr lang="zh-CN" altLang="zh-CN" sz="2400" dirty="0">
                <a:latin typeface="Arial" panose="020B0604020202020204" pitchFamily="34" charset="0"/>
              </a:rPr>
              <a:t>等计算框架，都需要最终以</a:t>
            </a:r>
            <a:r>
              <a:rPr lang="en-US" altLang="zh-CN" sz="2400" dirty="0">
                <a:latin typeface="Arial" panose="020B0604020202020204" pitchFamily="34" charset="0"/>
              </a:rPr>
              <a:t>MapReduce</a:t>
            </a:r>
            <a:r>
              <a:rPr lang="zh-CN" altLang="zh-CN" sz="2400" dirty="0">
                <a:latin typeface="Arial" panose="020B0604020202020204" pitchFamily="34" charset="0"/>
              </a:rPr>
              <a:t>任务的形式执行数据分析，因此，</a:t>
            </a:r>
            <a:r>
              <a:rPr lang="en-US" altLang="zh-CN" sz="2400" dirty="0">
                <a:latin typeface="Arial" panose="020B0604020202020204" pitchFamily="34" charset="0"/>
              </a:rPr>
              <a:t>Tez</a:t>
            </a:r>
            <a:r>
              <a:rPr lang="zh-CN" altLang="zh-CN" sz="2400" dirty="0">
                <a:latin typeface="Arial" panose="020B0604020202020204" pitchFamily="34" charset="0"/>
              </a:rPr>
              <a:t>框架可以发挥重要的作用</a:t>
            </a:r>
            <a:endParaRPr lang="en-US" altLang="zh-CN" sz="2400" dirty="0">
              <a:latin typeface="Arial" panose="020B0604020202020204" pitchFamily="34" charset="0"/>
            </a:endParaRPr>
          </a:p>
          <a:p>
            <a:pPr>
              <a:buFont typeface="Arial" panose="020B0604020202020204" pitchFamily="34" charset="0"/>
              <a:buChar char="•"/>
            </a:pPr>
            <a:r>
              <a:rPr lang="zh-CN" altLang="zh-CN" sz="2400" dirty="0">
                <a:latin typeface="Arial" panose="020B0604020202020204" pitchFamily="34" charset="0"/>
              </a:rPr>
              <a:t>借助于</a:t>
            </a:r>
            <a:r>
              <a:rPr lang="en-US" altLang="zh-CN" sz="2400" dirty="0">
                <a:latin typeface="Arial" panose="020B0604020202020204" pitchFamily="34" charset="0"/>
              </a:rPr>
              <a:t>Tez</a:t>
            </a:r>
            <a:r>
              <a:rPr lang="zh-CN" altLang="zh-CN" sz="2400" dirty="0">
                <a:latin typeface="Arial" panose="020B0604020202020204" pitchFamily="34" charset="0"/>
              </a:rPr>
              <a:t>框架实现对</a:t>
            </a:r>
            <a:r>
              <a:rPr lang="en-US" altLang="zh-CN" sz="2400" dirty="0">
                <a:latin typeface="Arial" panose="020B0604020202020204" pitchFamily="34" charset="0"/>
              </a:rPr>
              <a:t>MapReduce</a:t>
            </a:r>
            <a:r>
              <a:rPr lang="zh-CN" altLang="zh-CN" sz="2400" dirty="0">
                <a:latin typeface="Arial" panose="020B0604020202020204" pitchFamily="34" charset="0"/>
              </a:rPr>
              <a:t>、</a:t>
            </a:r>
            <a:r>
              <a:rPr lang="en-US" altLang="zh-CN" sz="2400" dirty="0">
                <a:latin typeface="Arial" panose="020B0604020202020204" pitchFamily="34" charset="0"/>
              </a:rPr>
              <a:t>Pig</a:t>
            </a:r>
            <a:r>
              <a:rPr lang="zh-CN" altLang="zh-CN" sz="2400" dirty="0">
                <a:latin typeface="Arial" panose="020B0604020202020204" pitchFamily="34" charset="0"/>
              </a:rPr>
              <a:t>和</a:t>
            </a:r>
            <a:r>
              <a:rPr lang="en-US" altLang="zh-CN" sz="2400" dirty="0">
                <a:latin typeface="Arial" panose="020B0604020202020204" pitchFamily="34" charset="0"/>
              </a:rPr>
              <a:t>Hive</a:t>
            </a:r>
            <a:r>
              <a:rPr lang="zh-CN" altLang="zh-CN" sz="2400" dirty="0">
                <a:latin typeface="Arial" panose="020B0604020202020204" pitchFamily="34" charset="0"/>
              </a:rPr>
              <a:t>等的性能优化</a:t>
            </a:r>
            <a:endParaRPr lang="en-US" altLang="zh-CN" sz="2400" dirty="0">
              <a:latin typeface="Arial" panose="020B0604020202020204" pitchFamily="34" charset="0"/>
            </a:endParaRPr>
          </a:p>
          <a:p>
            <a:pPr>
              <a:buFont typeface="Arial" panose="020B0604020202020204" pitchFamily="34" charset="0"/>
              <a:buChar char="•"/>
            </a:pPr>
            <a:r>
              <a:rPr lang="zh-CN" altLang="en-US" sz="2400" dirty="0">
                <a:latin typeface="Arial" panose="020B0604020202020204" pitchFamily="34" charset="0"/>
              </a:rPr>
              <a:t>可以解决现有</a:t>
            </a:r>
            <a:r>
              <a:rPr lang="en-US" altLang="zh-CN" sz="2400" dirty="0">
                <a:latin typeface="Arial" panose="020B0604020202020204" pitchFamily="34" charset="0"/>
              </a:rPr>
              <a:t>MR</a:t>
            </a:r>
            <a:r>
              <a:rPr lang="zh-CN" altLang="en-US" sz="2400" dirty="0">
                <a:latin typeface="Arial" panose="020B0604020202020204" pitchFamily="34" charset="0"/>
              </a:rPr>
              <a:t>框架在迭代计算（如</a:t>
            </a:r>
            <a:r>
              <a:rPr lang="en-US" altLang="zh-CN" sz="2400" dirty="0">
                <a:latin typeface="Arial" panose="020B0604020202020204" pitchFamily="34" charset="0"/>
              </a:rPr>
              <a:t>PageRank</a:t>
            </a:r>
            <a:r>
              <a:rPr lang="zh-CN" altLang="en-US" sz="2400" dirty="0">
                <a:latin typeface="Arial" panose="020B0604020202020204" pitchFamily="34" charset="0"/>
              </a:rPr>
              <a:t>计算）和交互式计算方面的问题</a:t>
            </a:r>
            <a:endParaRPr lang="zh-CN" altLang="en-US" sz="2400" dirty="0">
              <a:latin typeface="Arial" panose="020B0604020202020204" pitchFamily="3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2"/>
          <p:cNvSpPr>
            <a:spLocks noGrp="1"/>
          </p:cNvSpPr>
          <p:nvPr>
            <p:ph type="title"/>
          </p:nvPr>
        </p:nvSpPr>
        <p:spPr/>
        <p:txBody>
          <a:bodyPr vert="horz" wrap="square" lIns="91440" tIns="45720" rIns="91440" bIns="45720" anchor="ctr" anchorCtr="0"/>
          <a:lstStyle/>
          <a:p>
            <a:r>
              <a:rPr lang="en-US" altLang="zh-CN" b="1" dirty="0"/>
              <a:t>8.</a:t>
            </a:r>
            <a:r>
              <a:rPr lang="zh-CN" altLang="zh-CN" b="1" dirty="0"/>
              <a:t>4.2Tez</a:t>
            </a:r>
            <a:endParaRPr lang="zh-CN" altLang="en-US" dirty="0"/>
          </a:p>
        </p:txBody>
      </p:sp>
      <p:sp>
        <p:nvSpPr>
          <p:cNvPr id="39939" name="矩形 3"/>
          <p:cNvSpPr/>
          <p:nvPr/>
        </p:nvSpPr>
        <p:spPr>
          <a:xfrm>
            <a:off x="838200" y="1363345"/>
            <a:ext cx="10761980" cy="5631180"/>
          </a:xfrm>
          <a:prstGeom prst="rect">
            <a:avLst/>
          </a:prstGeom>
          <a:noFill/>
          <a:ln w="9525">
            <a:noFill/>
          </a:ln>
        </p:spPr>
        <p:txBody>
          <a:bodyPr wrap="square">
            <a:spAutoFit/>
          </a:bodyPr>
          <a:lstStyle/>
          <a:p>
            <a:r>
              <a:rPr lang="en-US" altLang="zh-CN" sz="2400" dirty="0">
                <a:solidFill>
                  <a:srgbClr val="FF0000"/>
                </a:solidFill>
                <a:latin typeface="Arial" panose="020B0604020202020204" pitchFamily="34" charset="0"/>
              </a:rPr>
              <a:t>(Tez+Hive)</a:t>
            </a:r>
            <a:r>
              <a:rPr lang="zh-CN" altLang="en-US" sz="2400" dirty="0">
                <a:solidFill>
                  <a:srgbClr val="FF0000"/>
                </a:solidFill>
                <a:latin typeface="Arial" panose="020B0604020202020204" pitchFamily="34" charset="0"/>
              </a:rPr>
              <a:t>与</a:t>
            </a:r>
            <a:r>
              <a:rPr lang="en-US" altLang="zh-CN" sz="2400" dirty="0">
                <a:solidFill>
                  <a:srgbClr val="FF0000"/>
                </a:solidFill>
                <a:latin typeface="Arial" panose="020B0604020202020204" pitchFamily="34" charset="0"/>
              </a:rPr>
              <a:t>Impala</a:t>
            </a:r>
            <a:r>
              <a:rPr lang="zh-CN" altLang="en-US" sz="2400" dirty="0">
                <a:solidFill>
                  <a:srgbClr val="FF0000"/>
                </a:solidFill>
                <a:latin typeface="Arial" panose="020B0604020202020204" pitchFamily="34" charset="0"/>
              </a:rPr>
              <a:t>、</a:t>
            </a:r>
            <a:r>
              <a:rPr lang="en-US" altLang="zh-CN" sz="2400" dirty="0">
                <a:solidFill>
                  <a:srgbClr val="FF0000"/>
                </a:solidFill>
                <a:latin typeface="Arial" panose="020B0604020202020204" pitchFamily="34" charset="0"/>
              </a:rPr>
              <a:t>Dremel</a:t>
            </a:r>
            <a:r>
              <a:rPr lang="zh-CN" altLang="en-US" sz="2400" dirty="0">
                <a:solidFill>
                  <a:srgbClr val="FF0000"/>
                </a:solidFill>
                <a:latin typeface="Arial" panose="020B0604020202020204" pitchFamily="34" charset="0"/>
              </a:rPr>
              <a:t>和</a:t>
            </a:r>
            <a:r>
              <a:rPr lang="en-US" altLang="zh-CN" sz="2400" dirty="0">
                <a:solidFill>
                  <a:srgbClr val="FF0000"/>
                </a:solidFill>
                <a:latin typeface="Arial" panose="020B0604020202020204" pitchFamily="34" charset="0"/>
              </a:rPr>
              <a:t>Drill</a:t>
            </a:r>
            <a:r>
              <a:rPr lang="zh-CN" altLang="en-US" sz="2400" dirty="0">
                <a:solidFill>
                  <a:srgbClr val="FF0000"/>
                </a:solidFill>
                <a:latin typeface="Arial" panose="020B0604020202020204" pitchFamily="34" charset="0"/>
              </a:rPr>
              <a:t>的区别？</a:t>
            </a:r>
            <a:endParaRPr lang="en-US" altLang="zh-CN" sz="2400" dirty="0">
              <a:solidFill>
                <a:srgbClr val="FF0000"/>
              </a:solidFill>
              <a:latin typeface="Arial" panose="020B0604020202020204" pitchFamily="34" charset="0"/>
            </a:endParaRPr>
          </a:p>
          <a:p>
            <a:endParaRPr lang="zh-CN" altLang="en-US" sz="2400" dirty="0">
              <a:latin typeface="Arial" panose="020B0604020202020204" pitchFamily="34" charset="0"/>
            </a:endParaRPr>
          </a:p>
          <a:p>
            <a:pPr>
              <a:buFont typeface="Arial" panose="020B0604020202020204" pitchFamily="34" charset="0"/>
              <a:buChar char="•"/>
            </a:pPr>
            <a:r>
              <a:rPr lang="en-US" altLang="zh-CN" sz="2400" dirty="0">
                <a:latin typeface="Arial" panose="020B0604020202020204" pitchFamily="34" charset="0"/>
              </a:rPr>
              <a:t>Tez</a:t>
            </a:r>
            <a:r>
              <a:rPr lang="zh-CN" altLang="en-US" sz="2400" dirty="0">
                <a:latin typeface="Arial" panose="020B0604020202020204" pitchFamily="34" charset="0"/>
              </a:rPr>
              <a:t>在解决</a:t>
            </a:r>
            <a:r>
              <a:rPr lang="en-US" altLang="zh-CN" sz="2400" dirty="0">
                <a:latin typeface="Arial" panose="020B0604020202020204" pitchFamily="34" charset="0"/>
              </a:rPr>
              <a:t>Hive</a:t>
            </a:r>
            <a:r>
              <a:rPr lang="zh-CN" altLang="en-US" sz="2400" dirty="0">
                <a:latin typeface="Arial" panose="020B0604020202020204" pitchFamily="34" charset="0"/>
              </a:rPr>
              <a:t>、</a:t>
            </a:r>
            <a:r>
              <a:rPr lang="en-US" altLang="zh-CN" sz="2400" dirty="0">
                <a:latin typeface="Arial" panose="020B0604020202020204" pitchFamily="34" charset="0"/>
              </a:rPr>
              <a:t>Pig</a:t>
            </a:r>
            <a:r>
              <a:rPr lang="zh-CN" altLang="en-US" sz="2400" dirty="0">
                <a:latin typeface="Arial" panose="020B0604020202020204" pitchFamily="34" charset="0"/>
              </a:rPr>
              <a:t>延迟大、性能低等问题的思路，是和那些支持实时交互式查询分析的产品（如</a:t>
            </a:r>
            <a:r>
              <a:rPr lang="en-US" altLang="zh-CN" sz="2400" dirty="0">
                <a:latin typeface="Arial" panose="020B0604020202020204" pitchFamily="34" charset="0"/>
              </a:rPr>
              <a:t>Impala</a:t>
            </a:r>
            <a:r>
              <a:rPr lang="zh-CN" altLang="en-US" sz="2400" dirty="0">
                <a:latin typeface="Arial" panose="020B0604020202020204" pitchFamily="34" charset="0"/>
              </a:rPr>
              <a:t>、</a:t>
            </a:r>
            <a:r>
              <a:rPr lang="en-US" altLang="zh-CN" sz="2400" dirty="0">
                <a:latin typeface="Arial" panose="020B0604020202020204" pitchFamily="34" charset="0"/>
              </a:rPr>
              <a:t>Dremel</a:t>
            </a:r>
            <a:r>
              <a:rPr lang="zh-CN" altLang="en-US" sz="2400" dirty="0">
                <a:latin typeface="Arial" panose="020B0604020202020204" pitchFamily="34" charset="0"/>
              </a:rPr>
              <a:t>和</a:t>
            </a:r>
            <a:r>
              <a:rPr lang="en-US" altLang="zh-CN" sz="2400" dirty="0">
                <a:latin typeface="Arial" panose="020B0604020202020204" pitchFamily="34" charset="0"/>
              </a:rPr>
              <a:t>Drill</a:t>
            </a:r>
            <a:r>
              <a:rPr lang="zh-CN" altLang="en-US" sz="2400" dirty="0">
                <a:latin typeface="Arial" panose="020B0604020202020204" pitchFamily="34" charset="0"/>
              </a:rPr>
              <a:t>等）是不同的</a:t>
            </a:r>
            <a:endParaRPr lang="en-US" altLang="zh-CN" sz="2400" dirty="0">
              <a:latin typeface="Arial" panose="020B0604020202020204" pitchFamily="34" charset="0"/>
            </a:endParaRPr>
          </a:p>
          <a:p>
            <a:pPr>
              <a:buFont typeface="Arial" panose="020B0604020202020204" pitchFamily="34" charset="0"/>
              <a:buChar char="•"/>
            </a:pPr>
            <a:endParaRPr lang="en-US" altLang="zh-CN" sz="2400" dirty="0">
              <a:latin typeface="Arial" panose="020B0604020202020204" pitchFamily="34" charset="0"/>
            </a:endParaRPr>
          </a:p>
          <a:p>
            <a:pPr>
              <a:buFont typeface="Arial" panose="020B0604020202020204" pitchFamily="34" charset="0"/>
              <a:buChar char="•"/>
            </a:pPr>
            <a:r>
              <a:rPr lang="en-US" altLang="zh-CN" sz="2400" dirty="0">
                <a:latin typeface="Arial" panose="020B0604020202020204" pitchFamily="34" charset="0"/>
              </a:rPr>
              <a:t>Impala</a:t>
            </a:r>
            <a:r>
              <a:rPr lang="zh-CN" altLang="en-US" sz="2400" dirty="0">
                <a:latin typeface="Arial" panose="020B0604020202020204" pitchFamily="34" charset="0"/>
              </a:rPr>
              <a:t>、</a:t>
            </a:r>
            <a:r>
              <a:rPr lang="en-US" altLang="zh-CN" sz="2400" dirty="0">
                <a:latin typeface="Arial" panose="020B0604020202020204" pitchFamily="34" charset="0"/>
              </a:rPr>
              <a:t>Dremel</a:t>
            </a:r>
            <a:r>
              <a:rPr lang="zh-CN" altLang="en-US" sz="2400" dirty="0">
                <a:latin typeface="Arial" panose="020B0604020202020204" pitchFamily="34" charset="0"/>
              </a:rPr>
              <a:t>和</a:t>
            </a:r>
            <a:r>
              <a:rPr lang="en-US" altLang="zh-CN" sz="2400" dirty="0">
                <a:latin typeface="Arial" panose="020B0604020202020204" pitchFamily="34" charset="0"/>
              </a:rPr>
              <a:t>Drill</a:t>
            </a:r>
            <a:r>
              <a:rPr lang="zh-CN" altLang="en-US" sz="2400" dirty="0">
                <a:latin typeface="Arial" panose="020B0604020202020204" pitchFamily="34" charset="0"/>
              </a:rPr>
              <a:t>的解决问题思路是抛弃</a:t>
            </a:r>
            <a:r>
              <a:rPr lang="en-US" altLang="zh-CN" sz="2400" dirty="0">
                <a:latin typeface="Arial" panose="020B0604020202020204" pitchFamily="34" charset="0"/>
              </a:rPr>
              <a:t>MapReduce</a:t>
            </a:r>
            <a:r>
              <a:rPr lang="zh-CN" altLang="en-US" sz="2400" dirty="0">
                <a:latin typeface="Arial" panose="020B0604020202020204" pitchFamily="34" charset="0"/>
              </a:rPr>
              <a:t>计算框架，不再将类似</a:t>
            </a:r>
            <a:r>
              <a:rPr lang="en-US" altLang="zh-CN" sz="2400" dirty="0">
                <a:latin typeface="Arial" panose="020B0604020202020204" pitchFamily="34" charset="0"/>
              </a:rPr>
              <a:t>SQL</a:t>
            </a:r>
            <a:r>
              <a:rPr lang="zh-CN" altLang="en-US" sz="2400" dirty="0">
                <a:latin typeface="Arial" panose="020B0604020202020204" pitchFamily="34" charset="0"/>
              </a:rPr>
              <a:t>语句的</a:t>
            </a:r>
            <a:r>
              <a:rPr lang="en-US" altLang="zh-CN" sz="2400" dirty="0">
                <a:latin typeface="Arial" panose="020B0604020202020204" pitchFamily="34" charset="0"/>
              </a:rPr>
              <a:t>HiveQL</a:t>
            </a:r>
            <a:r>
              <a:rPr lang="zh-CN" altLang="en-US" sz="2400" dirty="0">
                <a:latin typeface="Arial" panose="020B0604020202020204" pitchFamily="34" charset="0"/>
              </a:rPr>
              <a:t>或者</a:t>
            </a:r>
            <a:r>
              <a:rPr lang="en-US" altLang="zh-CN" sz="2400" dirty="0">
                <a:latin typeface="Arial" panose="020B0604020202020204" pitchFamily="34" charset="0"/>
              </a:rPr>
              <a:t>Pig</a:t>
            </a:r>
            <a:r>
              <a:rPr lang="zh-CN" altLang="en-US" sz="2400" dirty="0">
                <a:latin typeface="Arial" panose="020B0604020202020204" pitchFamily="34" charset="0"/>
              </a:rPr>
              <a:t>语句翻译成</a:t>
            </a:r>
            <a:r>
              <a:rPr lang="en-US" altLang="zh-CN" sz="2400" dirty="0">
                <a:latin typeface="Arial" panose="020B0604020202020204" pitchFamily="34" charset="0"/>
              </a:rPr>
              <a:t>MapReduce</a:t>
            </a:r>
            <a:r>
              <a:rPr lang="zh-CN" altLang="en-US" sz="2400" dirty="0">
                <a:latin typeface="Arial" panose="020B0604020202020204" pitchFamily="34" charset="0"/>
              </a:rPr>
              <a:t>程序，而是采用与商用并行关系数据库类似的分布式查询引擎，可以直接从</a:t>
            </a:r>
            <a:r>
              <a:rPr lang="en-US" altLang="zh-CN" sz="2400" dirty="0">
                <a:latin typeface="Arial" panose="020B0604020202020204" pitchFamily="34" charset="0"/>
              </a:rPr>
              <a:t>HDFS</a:t>
            </a:r>
            <a:r>
              <a:rPr lang="zh-CN" altLang="en-US" sz="2400" dirty="0">
                <a:latin typeface="Arial" panose="020B0604020202020204" pitchFamily="34" charset="0"/>
              </a:rPr>
              <a:t>或者</a:t>
            </a:r>
            <a:r>
              <a:rPr lang="en-US" altLang="zh-CN" sz="2400" dirty="0">
                <a:latin typeface="Arial" panose="020B0604020202020204" pitchFamily="34" charset="0"/>
              </a:rPr>
              <a:t>HBase</a:t>
            </a:r>
            <a:r>
              <a:rPr lang="zh-CN" altLang="en-US" sz="2400" dirty="0">
                <a:latin typeface="Arial" panose="020B0604020202020204" pitchFamily="34" charset="0"/>
              </a:rPr>
              <a:t>中用</a:t>
            </a:r>
            <a:r>
              <a:rPr lang="en-US" altLang="zh-CN" sz="2400" dirty="0">
                <a:latin typeface="Arial" panose="020B0604020202020204" pitchFamily="34" charset="0"/>
              </a:rPr>
              <a:t>SQL</a:t>
            </a:r>
            <a:r>
              <a:rPr lang="zh-CN" altLang="en-US" sz="2400" dirty="0">
                <a:latin typeface="Arial" panose="020B0604020202020204" pitchFamily="34" charset="0"/>
              </a:rPr>
              <a:t>语句查询数据，而不需要把</a:t>
            </a:r>
            <a:r>
              <a:rPr lang="en-US" altLang="zh-CN" sz="2400" dirty="0">
                <a:latin typeface="Arial" panose="020B0604020202020204" pitchFamily="34" charset="0"/>
              </a:rPr>
              <a:t>SQL</a:t>
            </a:r>
            <a:r>
              <a:rPr lang="zh-CN" altLang="en-US" sz="2400" dirty="0">
                <a:latin typeface="Arial" panose="020B0604020202020204" pitchFamily="34" charset="0"/>
              </a:rPr>
              <a:t>语句转化成</a:t>
            </a:r>
            <a:r>
              <a:rPr lang="en-US" altLang="zh-CN" sz="2400" dirty="0">
                <a:latin typeface="Arial" panose="020B0604020202020204" pitchFamily="34" charset="0"/>
              </a:rPr>
              <a:t>MapReduce</a:t>
            </a:r>
            <a:r>
              <a:rPr lang="zh-CN" altLang="en-US" sz="2400" dirty="0">
                <a:latin typeface="Arial" panose="020B0604020202020204" pitchFamily="34" charset="0"/>
              </a:rPr>
              <a:t>任务来执行，从而大大降低了延迟，很好地满足了实时查询的要求</a:t>
            </a:r>
            <a:endParaRPr lang="en-US" altLang="zh-CN" sz="2400" dirty="0">
              <a:latin typeface="Arial" panose="020B0604020202020204" pitchFamily="34" charset="0"/>
            </a:endParaRPr>
          </a:p>
          <a:p>
            <a:pPr>
              <a:buFont typeface="Arial" panose="020B0604020202020204" pitchFamily="34" charset="0"/>
              <a:buChar char="•"/>
            </a:pPr>
            <a:endParaRPr lang="en-US" altLang="zh-CN" sz="2400" dirty="0">
              <a:latin typeface="Arial" panose="020B0604020202020204" pitchFamily="34" charset="0"/>
            </a:endParaRPr>
          </a:p>
          <a:p>
            <a:pPr>
              <a:buFont typeface="Arial" panose="020B0604020202020204" pitchFamily="34" charset="0"/>
              <a:buChar char="•"/>
            </a:pPr>
            <a:r>
              <a:rPr lang="en-US" altLang="zh-CN" sz="2400" dirty="0">
                <a:latin typeface="Arial" panose="020B0604020202020204" pitchFamily="34" charset="0"/>
              </a:rPr>
              <a:t>Tez</a:t>
            </a:r>
            <a:r>
              <a:rPr lang="zh-CN" altLang="en-US" sz="2400" dirty="0">
                <a:latin typeface="Arial" panose="020B0604020202020204" pitchFamily="34" charset="0"/>
              </a:rPr>
              <a:t>则不同，比如，针对</a:t>
            </a:r>
            <a:r>
              <a:rPr lang="en-US" altLang="zh-CN" sz="2400" dirty="0">
                <a:latin typeface="Arial" panose="020B0604020202020204" pitchFamily="34" charset="0"/>
              </a:rPr>
              <a:t>Hive</a:t>
            </a:r>
            <a:r>
              <a:rPr lang="zh-CN" altLang="en-US" sz="2400" dirty="0">
                <a:latin typeface="Arial" panose="020B0604020202020204" pitchFamily="34" charset="0"/>
              </a:rPr>
              <a:t>数据仓库进行优化的“</a:t>
            </a:r>
            <a:r>
              <a:rPr lang="en-US" altLang="zh-CN" sz="2400" dirty="0">
                <a:latin typeface="Arial" panose="020B0604020202020204" pitchFamily="34" charset="0"/>
              </a:rPr>
              <a:t>Tez+Hive”</a:t>
            </a:r>
            <a:r>
              <a:rPr lang="zh-CN" altLang="en-US" sz="2400" dirty="0">
                <a:latin typeface="Arial" panose="020B0604020202020204" pitchFamily="34" charset="0"/>
              </a:rPr>
              <a:t>解决方案，仍采用</a:t>
            </a:r>
            <a:r>
              <a:rPr lang="en-US" altLang="zh-CN" sz="2400" dirty="0">
                <a:latin typeface="Arial" panose="020B0604020202020204" pitchFamily="34" charset="0"/>
              </a:rPr>
              <a:t>MapReduce</a:t>
            </a:r>
            <a:r>
              <a:rPr lang="zh-CN" altLang="en-US" sz="2400" dirty="0">
                <a:latin typeface="Arial" panose="020B0604020202020204" pitchFamily="34" charset="0"/>
              </a:rPr>
              <a:t>计算框架，但是对</a:t>
            </a:r>
            <a:r>
              <a:rPr lang="en-US" altLang="zh-CN" sz="2400" dirty="0">
                <a:latin typeface="Arial" panose="020B0604020202020204" pitchFamily="34" charset="0"/>
              </a:rPr>
              <a:t>DAG</a:t>
            </a:r>
            <a:r>
              <a:rPr lang="zh-CN" altLang="en-US" sz="2400" dirty="0">
                <a:latin typeface="Arial" panose="020B0604020202020204" pitchFamily="34" charset="0"/>
              </a:rPr>
              <a:t>的作业依赖关系进行了裁剪，并将多个小作业合并成一个大作业，这样，不仅计算量减少了，而且写</a:t>
            </a:r>
            <a:r>
              <a:rPr lang="en-US" altLang="zh-CN" sz="2400" dirty="0">
                <a:latin typeface="Arial" panose="020B0604020202020204" pitchFamily="34" charset="0"/>
              </a:rPr>
              <a:t>HDFS</a:t>
            </a:r>
            <a:r>
              <a:rPr lang="zh-CN" altLang="en-US" sz="2400" dirty="0">
                <a:latin typeface="Arial" panose="020B0604020202020204" pitchFamily="34" charset="0"/>
              </a:rPr>
              <a:t>次数也会大大减少</a:t>
            </a:r>
            <a:endParaRPr lang="zh-CN" altLang="en-US" sz="2400" dirty="0">
              <a:latin typeface="Arial" panose="020B0604020202020204"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2"/>
          <p:cNvSpPr>
            <a:spLocks noGrp="1"/>
          </p:cNvSpPr>
          <p:nvPr>
            <p:ph type="title"/>
          </p:nvPr>
        </p:nvSpPr>
        <p:spPr/>
        <p:txBody>
          <a:bodyPr vert="horz" wrap="square" lIns="91440" tIns="45720" rIns="91440" bIns="45720" anchor="ctr" anchorCtr="0"/>
          <a:lstStyle/>
          <a:p>
            <a:r>
              <a:rPr lang="en-US" altLang="zh-CN" b="1" dirty="0"/>
              <a:t>8.</a:t>
            </a:r>
            <a:r>
              <a:rPr lang="zh-CN" altLang="zh-CN" b="1" dirty="0"/>
              <a:t>4.</a:t>
            </a:r>
            <a:r>
              <a:rPr lang="en-US" altLang="zh-CN" b="1" dirty="0"/>
              <a:t>3</a:t>
            </a:r>
            <a:r>
              <a:rPr lang="zh-CN" altLang="zh-CN" b="1" dirty="0"/>
              <a:t>Kafka</a:t>
            </a:r>
            <a:endParaRPr lang="zh-CN" altLang="zh-CN" b="1" dirty="0"/>
          </a:p>
        </p:txBody>
      </p:sp>
      <p:sp>
        <p:nvSpPr>
          <p:cNvPr id="41987" name="矩形 3"/>
          <p:cNvSpPr/>
          <p:nvPr/>
        </p:nvSpPr>
        <p:spPr>
          <a:xfrm>
            <a:off x="955040" y="1363980"/>
            <a:ext cx="9874885" cy="1014730"/>
          </a:xfrm>
          <a:prstGeom prst="rect">
            <a:avLst/>
          </a:prstGeom>
          <a:noFill/>
          <a:ln w="9525">
            <a:noFill/>
          </a:ln>
        </p:spPr>
        <p:txBody>
          <a:bodyPr wrap="square">
            <a:spAutoFit/>
          </a:bodyPr>
          <a:lstStyle/>
          <a:p>
            <a:pPr>
              <a:buFont typeface="Arial" panose="020B0604020202020204" pitchFamily="34" charset="0"/>
              <a:buChar char="•"/>
            </a:pPr>
            <a:r>
              <a:rPr lang="en-US" altLang="zh-CN" sz="2000" dirty="0">
                <a:latin typeface="Arial" panose="020B0604020202020204" pitchFamily="34" charset="0"/>
              </a:rPr>
              <a:t>Kafka</a:t>
            </a:r>
            <a:r>
              <a:rPr lang="zh-CN" altLang="zh-CN" sz="2000" dirty="0">
                <a:latin typeface="Arial" panose="020B0604020202020204" pitchFamily="34" charset="0"/>
              </a:rPr>
              <a:t>是一种高吞吐量的分布式发布订阅消息系统，用户通过</a:t>
            </a:r>
            <a:r>
              <a:rPr lang="en-US" altLang="zh-CN" sz="2000" dirty="0">
                <a:latin typeface="Arial" panose="020B0604020202020204" pitchFamily="34" charset="0"/>
              </a:rPr>
              <a:t>Kafka</a:t>
            </a:r>
            <a:r>
              <a:rPr lang="zh-CN" altLang="zh-CN" sz="2000" dirty="0">
                <a:latin typeface="Arial" panose="020B0604020202020204" pitchFamily="34" charset="0"/>
              </a:rPr>
              <a:t>系统可以发布大量的消息，同时也能实时订阅消费消息</a:t>
            </a:r>
            <a:endParaRPr lang="en-US" altLang="zh-CN" sz="2000" dirty="0">
              <a:latin typeface="Arial" panose="020B0604020202020204" pitchFamily="34" charset="0"/>
            </a:endParaRPr>
          </a:p>
          <a:p>
            <a:pPr>
              <a:buFont typeface="Arial" panose="020B0604020202020204" pitchFamily="34" charset="0"/>
              <a:buChar char="•"/>
            </a:pPr>
            <a:r>
              <a:rPr lang="en-US" altLang="zh-CN" sz="2000" dirty="0">
                <a:latin typeface="Arial" panose="020B0604020202020204" pitchFamily="34" charset="0"/>
              </a:rPr>
              <a:t>Kafka</a:t>
            </a:r>
            <a:r>
              <a:rPr lang="zh-CN" altLang="zh-CN" sz="2000" dirty="0">
                <a:latin typeface="Arial" panose="020B0604020202020204" pitchFamily="34" charset="0"/>
              </a:rPr>
              <a:t>可以同时满足在线实时处理和批量离线处理</a:t>
            </a:r>
            <a:endParaRPr lang="zh-CN" altLang="zh-CN" sz="2000" dirty="0">
              <a:latin typeface="Arial" panose="020B0604020202020204" pitchFamily="34" charset="0"/>
            </a:endParaRPr>
          </a:p>
        </p:txBody>
      </p:sp>
      <p:sp>
        <p:nvSpPr>
          <p:cNvPr id="41988" name="矩形 4"/>
          <p:cNvSpPr/>
          <p:nvPr/>
        </p:nvSpPr>
        <p:spPr>
          <a:xfrm>
            <a:off x="955040" y="2528570"/>
            <a:ext cx="2677160" cy="3784600"/>
          </a:xfrm>
          <a:prstGeom prst="rect">
            <a:avLst/>
          </a:prstGeom>
          <a:noFill/>
          <a:ln w="9525">
            <a:noFill/>
          </a:ln>
        </p:spPr>
        <p:txBody>
          <a:bodyPr wrap="square">
            <a:spAutoFit/>
          </a:bodyPr>
          <a:lstStyle/>
          <a:p>
            <a:pPr>
              <a:buFont typeface="Arial" panose="020B0604020202020204" pitchFamily="34" charset="0"/>
              <a:buChar char="•"/>
            </a:pPr>
            <a:r>
              <a:rPr lang="zh-CN" altLang="zh-CN" sz="2000" dirty="0">
                <a:latin typeface="Arial" panose="020B0604020202020204" pitchFamily="34" charset="0"/>
              </a:rPr>
              <a:t>在公司的大数据生态系统中，可以把</a:t>
            </a:r>
            <a:r>
              <a:rPr lang="en-US" altLang="zh-CN" sz="2000" dirty="0">
                <a:latin typeface="Arial" panose="020B0604020202020204" pitchFamily="34" charset="0"/>
              </a:rPr>
              <a:t>Kafka</a:t>
            </a:r>
            <a:r>
              <a:rPr lang="zh-CN" altLang="zh-CN" sz="2000" dirty="0">
                <a:latin typeface="Arial" panose="020B0604020202020204" pitchFamily="34" charset="0"/>
              </a:rPr>
              <a:t>作为数据交换枢纽，不同类型的分布式系统（关系数据库、</a:t>
            </a:r>
            <a:r>
              <a:rPr lang="en-US" altLang="zh-CN" sz="2000" dirty="0">
                <a:latin typeface="Arial" panose="020B0604020202020204" pitchFamily="34" charset="0"/>
              </a:rPr>
              <a:t>NoSQL</a:t>
            </a:r>
            <a:r>
              <a:rPr lang="zh-CN" altLang="zh-CN" sz="2000" dirty="0">
                <a:latin typeface="Arial" panose="020B0604020202020204" pitchFamily="34" charset="0"/>
              </a:rPr>
              <a:t>数据库、流处理系统、批处理系统等），可以统一接入到</a:t>
            </a:r>
            <a:r>
              <a:rPr lang="en-US" altLang="zh-CN" sz="2000" dirty="0">
                <a:latin typeface="Arial" panose="020B0604020202020204" pitchFamily="34" charset="0"/>
              </a:rPr>
              <a:t>Kafka</a:t>
            </a:r>
            <a:r>
              <a:rPr lang="zh-CN" altLang="zh-CN" sz="2000" dirty="0">
                <a:latin typeface="Arial" panose="020B0604020202020204" pitchFamily="34" charset="0"/>
              </a:rPr>
              <a:t>，实现和</a:t>
            </a:r>
            <a:r>
              <a:rPr lang="en-US" altLang="zh-CN" sz="2000" dirty="0">
                <a:latin typeface="Arial" panose="020B0604020202020204" pitchFamily="34" charset="0"/>
              </a:rPr>
              <a:t>Hadoop</a:t>
            </a:r>
            <a:r>
              <a:rPr lang="zh-CN" altLang="zh-CN" sz="2000" dirty="0">
                <a:latin typeface="Arial" panose="020B0604020202020204" pitchFamily="34" charset="0"/>
              </a:rPr>
              <a:t>各个组件之间的不同类型数据的实时高效交换</a:t>
            </a:r>
            <a:endParaRPr lang="zh-CN" altLang="zh-CN" sz="2000" dirty="0">
              <a:latin typeface="Arial" panose="020B0604020202020204" pitchFamily="34" charset="0"/>
            </a:endParaRPr>
          </a:p>
        </p:txBody>
      </p:sp>
      <p:pic>
        <p:nvPicPr>
          <p:cNvPr id="41989" name="Picture 5"/>
          <p:cNvPicPr>
            <a:picLocks noChangeAspect="1"/>
          </p:cNvPicPr>
          <p:nvPr/>
        </p:nvPicPr>
        <p:blipFill>
          <a:blip r:embed="rId1"/>
          <a:stretch>
            <a:fillRect/>
          </a:stretch>
        </p:blipFill>
        <p:spPr>
          <a:xfrm>
            <a:off x="4095750" y="2286000"/>
            <a:ext cx="7190105" cy="4130675"/>
          </a:xfrm>
          <a:prstGeom prst="rect">
            <a:avLst/>
          </a:prstGeom>
          <a:noFill/>
          <a:ln w="9525">
            <a:noFill/>
          </a:ln>
        </p:spPr>
      </p:pic>
      <p:sp>
        <p:nvSpPr>
          <p:cNvPr id="41990" name="矩形 6"/>
          <p:cNvSpPr/>
          <p:nvPr/>
        </p:nvSpPr>
        <p:spPr>
          <a:xfrm>
            <a:off x="5796280" y="6313170"/>
            <a:ext cx="3789680" cy="460375"/>
          </a:xfrm>
          <a:prstGeom prst="rect">
            <a:avLst/>
          </a:prstGeom>
          <a:noFill/>
          <a:ln w="9525">
            <a:noFill/>
          </a:ln>
        </p:spPr>
        <p:txBody>
          <a:bodyPr wrap="none">
            <a:spAutoFit/>
          </a:bodyPr>
          <a:lstStyle/>
          <a:p>
            <a:r>
              <a:rPr lang="zh-CN" altLang="zh-CN" sz="2400" dirty="0">
                <a:latin typeface="Arial" panose="020B0604020202020204" pitchFamily="34" charset="0"/>
              </a:rPr>
              <a:t>图</a:t>
            </a:r>
            <a:r>
              <a:rPr lang="en-US" altLang="zh-CN" sz="2400" dirty="0">
                <a:latin typeface="Arial" panose="020B0604020202020204" pitchFamily="34" charset="0"/>
              </a:rPr>
              <a:t> Kafka</a:t>
            </a:r>
            <a:r>
              <a:rPr lang="zh-CN" altLang="zh-CN" sz="2400" dirty="0">
                <a:latin typeface="Arial" panose="020B0604020202020204" pitchFamily="34" charset="0"/>
              </a:rPr>
              <a:t>作为数据交换枢纽</a:t>
            </a:r>
            <a:endParaRPr lang="zh-CN" altLang="zh-CN" sz="2400" dirty="0">
              <a:latin typeface="Arial" panose="020B0604020202020204"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2"/>
          <p:cNvSpPr>
            <a:spLocks noGrp="1"/>
          </p:cNvSpPr>
          <p:nvPr>
            <p:ph type="title"/>
          </p:nvPr>
        </p:nvSpPr>
        <p:spPr/>
        <p:txBody>
          <a:bodyPr vert="horz" wrap="square" lIns="91440" tIns="45720" rIns="91440" bIns="45720" anchor="ctr" anchorCtr="0"/>
          <a:lstStyle/>
          <a:p>
            <a:r>
              <a:rPr lang="zh-CN" altLang="en-US" dirty="0"/>
              <a:t>本章小结</a:t>
            </a:r>
            <a:endParaRPr lang="zh-CN" altLang="en-US" dirty="0"/>
          </a:p>
        </p:txBody>
      </p:sp>
      <p:sp>
        <p:nvSpPr>
          <p:cNvPr id="43011" name="矩形 3"/>
          <p:cNvSpPr/>
          <p:nvPr/>
        </p:nvSpPr>
        <p:spPr>
          <a:xfrm>
            <a:off x="978535" y="1371600"/>
            <a:ext cx="10205720" cy="4965065"/>
          </a:xfrm>
          <a:prstGeom prst="rect">
            <a:avLst/>
          </a:prstGeom>
          <a:noFill/>
          <a:ln w="9525">
            <a:noFill/>
          </a:ln>
        </p:spPr>
        <p:txBody>
          <a:bodyPr wrap="square">
            <a:spAutoFit/>
          </a:bodyPr>
          <a:lstStyle/>
          <a:p>
            <a:pPr>
              <a:lnSpc>
                <a:spcPct val="120000"/>
              </a:lnSpc>
              <a:buFont typeface="Arial" panose="020B0604020202020204" pitchFamily="34" charset="0"/>
              <a:buChar char="•"/>
            </a:pPr>
            <a:r>
              <a:rPr lang="en-US" altLang="zh-CN" sz="2400" dirty="0">
                <a:latin typeface="Arial" panose="020B0604020202020204" pitchFamily="34" charset="0"/>
              </a:rPr>
              <a:t>Hadoop</a:t>
            </a:r>
            <a:r>
              <a:rPr lang="zh-CN" altLang="zh-CN" sz="2400" dirty="0">
                <a:latin typeface="Arial" panose="020B0604020202020204" pitchFamily="34" charset="0"/>
              </a:rPr>
              <a:t>在不断完善自身核心组件性能的同时，生态系统也在不断丰富发展</a:t>
            </a:r>
            <a:endParaRPr lang="en-US" altLang="zh-CN" sz="2400" dirty="0">
              <a:latin typeface="Arial" panose="020B0604020202020204" pitchFamily="34" charset="0"/>
            </a:endParaRPr>
          </a:p>
          <a:p>
            <a:pPr>
              <a:lnSpc>
                <a:spcPct val="120000"/>
              </a:lnSpc>
              <a:buFont typeface="Arial" panose="020B0604020202020204" pitchFamily="34" charset="0"/>
              <a:buChar char="•"/>
            </a:pPr>
            <a:r>
              <a:rPr lang="zh-CN" altLang="zh-CN" sz="2400" dirty="0">
                <a:latin typeface="Arial" panose="020B0604020202020204" pitchFamily="34" charset="0"/>
              </a:rPr>
              <a:t>本章详细介绍了</a:t>
            </a:r>
            <a:r>
              <a:rPr lang="en-US" altLang="zh-CN" sz="2400" dirty="0">
                <a:latin typeface="Arial" panose="020B0604020202020204" pitchFamily="34" charset="0"/>
              </a:rPr>
              <a:t>Hadoop</a:t>
            </a:r>
            <a:r>
              <a:rPr lang="zh-CN" altLang="zh-CN" sz="2400" dirty="0">
                <a:latin typeface="Arial" panose="020B0604020202020204" pitchFamily="34" charset="0"/>
              </a:rPr>
              <a:t>存在的不足之处，以及针对这些缺陷发展出来的一系列解决方案，包括</a:t>
            </a:r>
            <a:r>
              <a:rPr lang="en-US" altLang="zh-CN" sz="2400" dirty="0">
                <a:latin typeface="Arial" panose="020B0604020202020204" pitchFamily="34" charset="0"/>
              </a:rPr>
              <a:t>HDFS HA</a:t>
            </a:r>
            <a:r>
              <a:rPr lang="zh-CN" altLang="zh-CN" sz="2400" dirty="0">
                <a:latin typeface="Arial" panose="020B0604020202020204" pitchFamily="34" charset="0"/>
              </a:rPr>
              <a:t>、</a:t>
            </a:r>
            <a:r>
              <a:rPr lang="en-US" altLang="zh-CN" sz="2400" dirty="0">
                <a:latin typeface="Arial" panose="020B0604020202020204" pitchFamily="34" charset="0"/>
              </a:rPr>
              <a:t>HDFS</a:t>
            </a:r>
            <a:r>
              <a:rPr lang="zh-CN" altLang="zh-CN" sz="2400" dirty="0">
                <a:latin typeface="Arial" panose="020B0604020202020204" pitchFamily="34" charset="0"/>
              </a:rPr>
              <a:t>联邦、</a:t>
            </a:r>
            <a:r>
              <a:rPr lang="en-US" altLang="zh-CN" sz="2400" dirty="0">
                <a:latin typeface="Arial" panose="020B0604020202020204" pitchFamily="34" charset="0"/>
              </a:rPr>
              <a:t>YARN</a:t>
            </a:r>
            <a:r>
              <a:rPr lang="zh-CN" altLang="zh-CN" sz="2400" dirty="0">
                <a:latin typeface="Arial" panose="020B0604020202020204" pitchFamily="34" charset="0"/>
              </a:rPr>
              <a:t>等，这些技术改进都为</a:t>
            </a:r>
            <a:r>
              <a:rPr lang="en-US" altLang="zh-CN" sz="2400" dirty="0">
                <a:latin typeface="Arial" panose="020B0604020202020204" pitchFamily="34" charset="0"/>
              </a:rPr>
              <a:t>Hadoop</a:t>
            </a:r>
            <a:r>
              <a:rPr lang="zh-CN" altLang="zh-CN" sz="2400" dirty="0">
                <a:latin typeface="Arial" panose="020B0604020202020204" pitchFamily="34" charset="0"/>
              </a:rPr>
              <a:t>的长足发展奠定了坚实的基础</a:t>
            </a:r>
            <a:endParaRPr lang="en-US" altLang="zh-CN" sz="2400" dirty="0">
              <a:latin typeface="Arial" panose="020B0604020202020204" pitchFamily="34" charset="0"/>
            </a:endParaRPr>
          </a:p>
          <a:p>
            <a:pPr>
              <a:lnSpc>
                <a:spcPct val="120000"/>
              </a:lnSpc>
              <a:buFont typeface="Arial" panose="020B0604020202020204" pitchFamily="34" charset="0"/>
              <a:buChar char="•"/>
            </a:pPr>
            <a:r>
              <a:rPr lang="zh-CN" altLang="zh-CN" sz="2400" dirty="0">
                <a:latin typeface="Arial" panose="020B0604020202020204" pitchFamily="34" charset="0"/>
              </a:rPr>
              <a:t>作为</a:t>
            </a:r>
            <a:r>
              <a:rPr lang="en-US" altLang="zh-CN" sz="2400" dirty="0">
                <a:latin typeface="Arial" panose="020B0604020202020204" pitchFamily="34" charset="0"/>
              </a:rPr>
              <a:t>Hadoop</a:t>
            </a:r>
            <a:r>
              <a:rPr lang="zh-CN" altLang="zh-CN" sz="2400" dirty="0">
                <a:latin typeface="Arial" panose="020B0604020202020204" pitchFamily="34" charset="0"/>
              </a:rPr>
              <a:t>核心组件，</a:t>
            </a:r>
            <a:r>
              <a:rPr lang="en-US" altLang="zh-CN" sz="2400" dirty="0">
                <a:latin typeface="Arial" panose="020B0604020202020204" pitchFamily="34" charset="0"/>
              </a:rPr>
              <a:t>YARN</a:t>
            </a:r>
            <a:r>
              <a:rPr lang="zh-CN" altLang="zh-CN" sz="2400" dirty="0">
                <a:latin typeface="Arial" panose="020B0604020202020204" pitchFamily="34" charset="0"/>
              </a:rPr>
              <a:t>框架更是被寄予了厚望，将来将扮演为多个不同类型计算框架提供统一的资源调度服务的功能；目前，基于内存的大数据处理框架</a:t>
            </a:r>
            <a:r>
              <a:rPr lang="en-US" altLang="zh-CN" sz="2400" dirty="0">
                <a:latin typeface="Arial" panose="020B0604020202020204" pitchFamily="34" charset="0"/>
              </a:rPr>
              <a:t>Spark</a:t>
            </a:r>
            <a:r>
              <a:rPr lang="zh-CN" altLang="zh-CN" sz="2400" dirty="0">
                <a:latin typeface="Arial" panose="020B0604020202020204" pitchFamily="34" charset="0"/>
              </a:rPr>
              <a:t>正在迅速崛起，而</a:t>
            </a:r>
            <a:r>
              <a:rPr lang="en-US" altLang="zh-CN" sz="2400" dirty="0">
                <a:latin typeface="Arial" panose="020B0604020202020204" pitchFamily="34" charset="0"/>
              </a:rPr>
              <a:t>Spark</a:t>
            </a:r>
            <a:r>
              <a:rPr lang="zh-CN" altLang="zh-CN" sz="2400" dirty="0">
                <a:latin typeface="Arial" panose="020B0604020202020204" pitchFamily="34" charset="0"/>
              </a:rPr>
              <a:t>也可以借助于</a:t>
            </a:r>
            <a:r>
              <a:rPr lang="en-US" altLang="zh-CN" sz="2400" dirty="0">
                <a:latin typeface="Arial" panose="020B0604020202020204" pitchFamily="34" charset="0"/>
              </a:rPr>
              <a:t>YARN</a:t>
            </a:r>
            <a:r>
              <a:rPr lang="zh-CN" altLang="zh-CN" sz="2400" dirty="0">
                <a:latin typeface="Arial" panose="020B0604020202020204" pitchFamily="34" charset="0"/>
              </a:rPr>
              <a:t>为自身提供资源调度服务，因此，</a:t>
            </a:r>
            <a:r>
              <a:rPr lang="en-US" altLang="zh-CN" sz="2400" dirty="0">
                <a:latin typeface="Arial" panose="020B0604020202020204" pitchFamily="34" charset="0"/>
              </a:rPr>
              <a:t>Spark</a:t>
            </a:r>
            <a:r>
              <a:rPr lang="zh-CN" altLang="zh-CN" sz="2400" dirty="0">
                <a:latin typeface="Arial" panose="020B0604020202020204" pitchFamily="34" charset="0"/>
              </a:rPr>
              <a:t>和</a:t>
            </a:r>
            <a:r>
              <a:rPr lang="en-US" altLang="zh-CN" sz="2400" dirty="0">
                <a:latin typeface="Arial" panose="020B0604020202020204" pitchFamily="34" charset="0"/>
              </a:rPr>
              <a:t>Hadoop</a:t>
            </a:r>
            <a:r>
              <a:rPr lang="zh-CN" altLang="zh-CN" sz="2400" dirty="0">
                <a:latin typeface="Arial" panose="020B0604020202020204" pitchFamily="34" charset="0"/>
              </a:rPr>
              <a:t>具备了统一集群部署的条件，可以预见，两者在未来将实现更好的融合</a:t>
            </a:r>
            <a:endParaRPr lang="en-US" altLang="zh-CN" sz="2400" dirty="0">
              <a:latin typeface="Arial" panose="020B0604020202020204" pitchFamily="34" charset="0"/>
            </a:endParaRPr>
          </a:p>
          <a:p>
            <a:pPr>
              <a:lnSpc>
                <a:spcPct val="120000"/>
              </a:lnSpc>
              <a:buFont typeface="Arial" panose="020B0604020202020204" pitchFamily="34" charset="0"/>
              <a:buChar char="•"/>
            </a:pPr>
            <a:r>
              <a:rPr lang="zh-CN" altLang="zh-CN" sz="2400" dirty="0">
                <a:latin typeface="Arial" panose="020B0604020202020204" pitchFamily="34" charset="0"/>
              </a:rPr>
              <a:t>本章最后介绍了Hadoop生态系统中具有代表性的功能组件，包括Pig、Tez和Kafka等</a:t>
            </a:r>
            <a:endParaRPr lang="zh-CN" altLang="zh-CN" sz="2400" dirty="0">
              <a:latin typeface="Arial" panose="020B0604020202020204" pitchFamily="34" charset="0"/>
            </a:endParaRPr>
          </a:p>
        </p:txBody>
      </p:sp>
    </p:spTree>
  </p:cSld>
  <p:clrMapOvr>
    <a:masterClrMapping/>
  </p:clrMapOvr>
</p:sld>
</file>

<file path=ppt/tags/tag1.xml><?xml version="1.0" encoding="utf-8"?>
<p:tagLst xmlns:p="http://schemas.openxmlformats.org/presentationml/2006/main">
  <p:tag name="KSO_WM_UNIT_TABLE_BEAUTIFY" val="smartTable{934ba231-614a-4e77-8264-6d19d5838224}"/>
  <p:tag name="TABLE_ENDDRAG_ORIGIN_RECT" val="851*125"/>
  <p:tag name="TABLE_ENDDRAG_RECT" val="66*396*851*125"/>
</p:tagLst>
</file>

<file path=ppt/tags/tag2.xml><?xml version="1.0" encoding="utf-8"?>
<p:tagLst xmlns:p="http://schemas.openxmlformats.org/presentationml/2006/main">
  <p:tag name="KSO_WM_UNIT_TABLE_BEAUTIFY" val="smartTable{ae86a3e9-56b2-407c-9695-18d15af3598d}"/>
  <p:tag name="TABLE_ENDDRAG_ORIGIN_RECT" val="820*374"/>
  <p:tag name="TABLE_ENDDRAG_RECT" val="66*132*820*374"/>
</p:tagLst>
</file>

<file path=ppt/tags/tag3.xml><?xml version="1.0" encoding="utf-8"?>
<p:tagLst xmlns:p="http://schemas.openxmlformats.org/presentationml/2006/main">
  <p:tag name="KSO_WM_UNIT_PLACING_PICTURE_USER_VIEWPORT" val="{&quot;height&quot;:2857.5007874015746,&quot;width&quot;:2100}"/>
</p:tagLst>
</file>

<file path=ppt/tags/tag4.xml><?xml version="1.0" encoding="utf-8"?>
<p:tagLst xmlns:p="http://schemas.openxmlformats.org/presentationml/2006/main">
  <p:tag name="RAINPROBLEM" val="ProblemBody"/>
</p:tagLst>
</file>

<file path=ppt/tags/tag5.xml><?xml version="1.0" encoding="utf-8"?>
<p:tagLst xmlns:p="http://schemas.openxmlformats.org/presentationml/2006/main">
  <p:tag name="RAINPROBLEM" val="ProblemItem"/>
</p:tagLst>
</file>

<file path=ppt/tags/tag6.xml><?xml version="1.0" encoding="utf-8"?>
<p:tagLst xmlns:p="http://schemas.openxmlformats.org/presentationml/2006/main">
  <p:tag name="RAINPROBLEM" val="ProblemItem"/>
</p:tagLst>
</file>

<file path=ppt/tags/tag7.xml><?xml version="1.0" encoding="utf-8"?>
<p:tagLst xmlns:p="http://schemas.openxmlformats.org/presentationml/2006/main">
  <p:tag name="RAINPROBLEM" val="ProblemItem"/>
</p:tagLst>
</file>

<file path=ppt/tags/tag8.xml><?xml version="1.0" encoding="utf-8"?>
<p:tagLst xmlns:p="http://schemas.openxmlformats.org/presentationml/2006/main">
  <p:tag name="RAINPROBLEM" val="ProblemItem"/>
</p:tagLst>
</file>

<file path=ppt/tags/tag9.xml><?xml version="1.0" encoding="utf-8"?>
<p:tagLst xmlns:p="http://schemas.openxmlformats.org/presentationml/2006/main">
  <p:tag name="RAINPROBLEM" val="ProblemBullet"/>
  <p:tag name="RAINPROBLEMTYPE" val="MultipleChoiceMA"/>
  <p:tag name="RAINBULLET" val="Wrong"/>
</p:tagLst>
</file>

<file path=ppt/tags/tag10.xml><?xml version="1.0" encoding="utf-8"?>
<p:tagLst xmlns:p="http://schemas.openxmlformats.org/presentationml/2006/main">
  <p:tag name="RAINPROBLEM" val="ProblemBullet"/>
  <p:tag name="RAINPROBLEMTYPE" val="MultipleChoiceMA"/>
  <p:tag name="RAINBULLET" val="Wrong"/>
</p:tagLst>
</file>

<file path=ppt/tags/tag11.xml><?xml version="1.0" encoding="utf-8"?>
<p:tagLst xmlns:p="http://schemas.openxmlformats.org/presentationml/2006/main">
  <p:tag name="RAINPROBLEM" val="ProblemBullet"/>
  <p:tag name="RAINPROBLEMTYPE" val="MultipleChoiceMA"/>
  <p:tag name="RAINBULLET" val="Correct"/>
</p:tagLst>
</file>

<file path=ppt/tags/tag12.xml><?xml version="1.0" encoding="utf-8"?>
<p:tagLst xmlns:p="http://schemas.openxmlformats.org/presentationml/2006/main">
  <p:tag name="RAINPROBLEM" val="ProblemBullet"/>
  <p:tag name="RAINPROBLEMTYPE" val="MultipleChoiceMA"/>
  <p:tag name="RAINBULLET" val="Correct"/>
</p:tagLst>
</file>

<file path=ppt/tags/tag13.xml><?xml version="1.0" encoding="utf-8"?>
<p:tagLst xmlns:p="http://schemas.openxmlformats.org/presentationml/2006/main">
  <p:tag name="RAINPROBLEM" val="ProblemSubmit"/>
  <p:tag name="RAINPROBLEMTYPE" val="MultipleChoiceMA"/>
</p:tagLst>
</file>

<file path=ppt/tags/tag14.xml><?xml version="1.0" encoding="utf-8"?>
<p:tagLst xmlns:p="http://schemas.openxmlformats.org/presentationml/2006/main">
  <p:tag name="RAINPROBLEMTYPE" val="ProblemTypeMarker"/>
</p:tagLst>
</file>

<file path=ppt/tags/tag15.xml><?xml version="1.0" encoding="utf-8"?>
<p:tagLst xmlns:p="http://schemas.openxmlformats.org/presentationml/2006/main">
  <p:tag name="RAINPROBLEMTYPE" val="ProblemTypeMarker"/>
</p:tagLst>
</file>

<file path=ppt/tags/tag16.xml><?xml version="1.0" encoding="utf-8"?>
<p:tagLst xmlns:p="http://schemas.openxmlformats.org/presentationml/2006/main">
  <p:tag name="RAINPROBLEMTYPE" val="ProblemTypeMarker"/>
</p:tagLst>
</file>

<file path=ppt/tags/tag17.xml><?xml version="1.0" encoding="utf-8"?>
<p:tagLst xmlns:p="http://schemas.openxmlformats.org/presentationml/2006/main">
  <p:tag name="RAINPROBLEMTYPE" val="ProblemTypeMarker"/>
</p:tagLst>
</file>

<file path=ppt/tags/tag18.xml><?xml version="1.0" encoding="utf-8"?>
<p:tagLst xmlns:p="http://schemas.openxmlformats.org/presentationml/2006/main">
  <p:tag name="RAINPROBLEMTYPE" val="ProblemTypeMarker"/>
</p:tagLst>
</file>

<file path=ppt/tags/tag19.xml><?xml version="1.0" encoding="utf-8"?>
<p:tagLst xmlns:p="http://schemas.openxmlformats.org/presentationml/2006/main">
  <p:tag name="RAINPROBLEM" val="ProblemSetting"/>
  <p:tag name="RAINPROBLEMTYPE" val="MultipleChoiceMA"/>
</p:tagLst>
</file>

<file path=ppt/tags/tag20.xml><?xml version="1.0" encoding="utf-8"?>
<p:tagLst xmlns:p="http://schemas.openxmlformats.org/presentationml/2006/main">
  <p:tag name="RAINPROBLEM" val="MultipleChoiceMA"/>
  <p:tag name="PROBLEMSCORE" val="1.0"/>
  <p:tag name="PROBLEMSCORE_HALF" val="0.0"/>
</p:tagLst>
</file>

<file path=ppt/tags/tag21.xml><?xml version="1.0" encoding="utf-8"?>
<p:tagLst xmlns:p="http://schemas.openxmlformats.org/presentationml/2006/main">
  <p:tag name="RAINPROBLEM" val="ProblemBody"/>
</p:tagLst>
</file>

<file path=ppt/tags/tag22.xml><?xml version="1.0" encoding="utf-8"?>
<p:tagLst xmlns:p="http://schemas.openxmlformats.org/presentationml/2006/main">
  <p:tag name="RAINPROBLEM" val="ProblemItem"/>
</p:tagLst>
</file>

<file path=ppt/tags/tag23.xml><?xml version="1.0" encoding="utf-8"?>
<p:tagLst xmlns:p="http://schemas.openxmlformats.org/presentationml/2006/main">
  <p:tag name="RAINPROBLEM" val="ProblemItem"/>
</p:tagLst>
</file>

<file path=ppt/tags/tag24.xml><?xml version="1.0" encoding="utf-8"?>
<p:tagLst xmlns:p="http://schemas.openxmlformats.org/presentationml/2006/main">
  <p:tag name="RAINPROBLEM" val="ProblemItem"/>
</p:tagLst>
</file>

<file path=ppt/tags/tag25.xml><?xml version="1.0" encoding="utf-8"?>
<p:tagLst xmlns:p="http://schemas.openxmlformats.org/presentationml/2006/main">
  <p:tag name="RAINPROBLEM" val="ProblemBullet"/>
  <p:tag name="RAINPROBLEMTYPE" val="MultipleChoice"/>
  <p:tag name="RAINBULLET" val="Wrong"/>
</p:tagLst>
</file>

<file path=ppt/tags/tag26.xml><?xml version="1.0" encoding="utf-8"?>
<p:tagLst xmlns:p="http://schemas.openxmlformats.org/presentationml/2006/main">
  <p:tag name="RAINPROBLEM" val="ProblemBullet"/>
  <p:tag name="RAINPROBLEMTYPE" val="MultipleChoice"/>
  <p:tag name="RAINBULLET" val="Wrong"/>
</p:tagLst>
</file>

<file path=ppt/tags/tag27.xml><?xml version="1.0" encoding="utf-8"?>
<p:tagLst xmlns:p="http://schemas.openxmlformats.org/presentationml/2006/main">
  <p:tag name="RAINPROBLEM" val="ProblemBullet"/>
  <p:tag name="RAINPROBLEMTYPE" val="MultipleChoice"/>
  <p:tag name="RAINBULLET" val="Wrong"/>
</p:tagLst>
</file>

<file path=ppt/tags/tag28.xml><?xml version="1.0" encoding="utf-8"?>
<p:tagLst xmlns:p="http://schemas.openxmlformats.org/presentationml/2006/main">
  <p:tag name="RAINPROBLEM" val="ProblemBullet"/>
  <p:tag name="RAINPROBLEMTYPE" val="MultipleChoice"/>
  <p:tag name="RAINBULLET" val="Correct"/>
</p:tagLst>
</file>

<file path=ppt/tags/tag29.xml><?xml version="1.0" encoding="utf-8"?>
<p:tagLst xmlns:p="http://schemas.openxmlformats.org/presentationml/2006/main">
  <p:tag name="RAINPROBLEM" val="ProblemSubmit"/>
  <p:tag name="RAINPROBLEMTYPE" val="MultipleChoice"/>
</p:tagLst>
</file>

<file path=ppt/tags/tag30.xml><?xml version="1.0" encoding="utf-8"?>
<p:tagLst xmlns:p="http://schemas.openxmlformats.org/presentationml/2006/main">
  <p:tag name="RAINPROBLEM" val="ProblemItem"/>
  <p:tag name="KSO_WM_BEAUTIFY_FLAG" val=""/>
</p:tagLst>
</file>

<file path=ppt/tags/tag31.xml><?xml version="1.0" encoding="utf-8"?>
<p:tagLst xmlns:p="http://schemas.openxmlformats.org/presentationml/2006/main">
  <p:tag name="RAINPROBLEMTYPE" val="ProblemTypeMarker"/>
</p:tagLst>
</file>

<file path=ppt/tags/tag32.xml><?xml version="1.0" encoding="utf-8"?>
<p:tagLst xmlns:p="http://schemas.openxmlformats.org/presentationml/2006/main">
  <p:tag name="RAINPROBLEMTYPE" val="ProblemTypeMarker"/>
</p:tagLst>
</file>

<file path=ppt/tags/tag33.xml><?xml version="1.0" encoding="utf-8"?>
<p:tagLst xmlns:p="http://schemas.openxmlformats.org/presentationml/2006/main">
  <p:tag name="RAINPROBLEMTYPE" val="ProblemTypeMarker"/>
</p:tagLst>
</file>

<file path=ppt/tags/tag34.xml><?xml version="1.0" encoding="utf-8"?>
<p:tagLst xmlns:p="http://schemas.openxmlformats.org/presentationml/2006/main">
  <p:tag name="RAINPROBLEMTYPE" val="ProblemTypeMarker"/>
</p:tagLst>
</file>

<file path=ppt/tags/tag35.xml><?xml version="1.0" encoding="utf-8"?>
<p:tagLst xmlns:p="http://schemas.openxmlformats.org/presentationml/2006/main">
  <p:tag name="RAINPROBLEMTYPE" val="ProblemTypeMarker"/>
</p:tagLst>
</file>

<file path=ppt/tags/tag36.xml><?xml version="1.0" encoding="utf-8"?>
<p:tagLst xmlns:p="http://schemas.openxmlformats.org/presentationml/2006/main">
  <p:tag name="RAINPROBLEM" val="ProblemSetting"/>
  <p:tag name="RAINPROBLEMTYPE" val="MultipleChoice"/>
</p:tagLst>
</file>

<file path=ppt/tags/tag37.xml><?xml version="1.0" encoding="utf-8"?>
<p:tagLst xmlns:p="http://schemas.openxmlformats.org/presentationml/2006/main">
  <p:tag name="RAINPROBLEM" val="MultipleChoice"/>
  <p:tag name="PROBLEMSCORE" val="1.0"/>
</p:tagLst>
</file>

<file path=ppt/tags/tag38.xml><?xml version="1.0" encoding="utf-8"?>
<p:tagLst xmlns:p="http://schemas.openxmlformats.org/presentationml/2006/main">
  <p:tag name="RAINPROBLEM" val="ProblemBody"/>
</p:tagLst>
</file>

<file path=ppt/tags/tag39.xml><?xml version="1.0" encoding="utf-8"?>
<p:tagLst xmlns:p="http://schemas.openxmlformats.org/presentationml/2006/main">
  <p:tag name="RAINPROBLEM" val="ProblemItem"/>
</p:tagLst>
</file>

<file path=ppt/tags/tag40.xml><?xml version="1.0" encoding="utf-8"?>
<p:tagLst xmlns:p="http://schemas.openxmlformats.org/presentationml/2006/main">
  <p:tag name="RAINPROBLEM" val="ProblemItem"/>
</p:tagLst>
</file>

<file path=ppt/tags/tag41.xml><?xml version="1.0" encoding="utf-8"?>
<p:tagLst xmlns:p="http://schemas.openxmlformats.org/presentationml/2006/main">
  <p:tag name="RAINPROBLEM" val="ProblemItem"/>
</p:tagLst>
</file>

<file path=ppt/tags/tag42.xml><?xml version="1.0" encoding="utf-8"?>
<p:tagLst xmlns:p="http://schemas.openxmlformats.org/presentationml/2006/main">
  <p:tag name="RAINPROBLEM" val="ProblemItem"/>
</p:tagLst>
</file>

<file path=ppt/tags/tag43.xml><?xml version="1.0" encoding="utf-8"?>
<p:tagLst xmlns:p="http://schemas.openxmlformats.org/presentationml/2006/main">
  <p:tag name="RAINPROBLEM" val="ProblemBullet"/>
  <p:tag name="RAINPROBLEMTYPE" val="MultipleChoice"/>
  <p:tag name="RAINBULLET" val="Correct"/>
</p:tagLst>
</file>

<file path=ppt/tags/tag44.xml><?xml version="1.0" encoding="utf-8"?>
<p:tagLst xmlns:p="http://schemas.openxmlformats.org/presentationml/2006/main">
  <p:tag name="RAINPROBLEM" val="ProblemBullet"/>
  <p:tag name="RAINPROBLEMTYPE" val="MultipleChoice"/>
  <p:tag name="RAINBULLET" val="Wrong"/>
</p:tagLst>
</file>

<file path=ppt/tags/tag45.xml><?xml version="1.0" encoding="utf-8"?>
<p:tagLst xmlns:p="http://schemas.openxmlformats.org/presentationml/2006/main">
  <p:tag name="RAINPROBLEM" val="ProblemBullet"/>
  <p:tag name="RAINPROBLEMTYPE" val="MultipleChoice"/>
  <p:tag name="RAINBULLET" val="Wrong"/>
</p:tagLst>
</file>

<file path=ppt/tags/tag46.xml><?xml version="1.0" encoding="utf-8"?>
<p:tagLst xmlns:p="http://schemas.openxmlformats.org/presentationml/2006/main">
  <p:tag name="RAINPROBLEM" val="ProblemBullet"/>
  <p:tag name="RAINPROBLEMTYPE" val="MultipleChoice"/>
  <p:tag name="RAINBULLET" val="Wrong"/>
</p:tagLst>
</file>

<file path=ppt/tags/tag47.xml><?xml version="1.0" encoding="utf-8"?>
<p:tagLst xmlns:p="http://schemas.openxmlformats.org/presentationml/2006/main">
  <p:tag name="RAINPROBLEM" val="ProblemSubmit"/>
  <p:tag name="RAINPROBLEMTYPE" val="MultipleChoice"/>
</p:tagLst>
</file>

<file path=ppt/tags/tag48.xml><?xml version="1.0" encoding="utf-8"?>
<p:tagLst xmlns:p="http://schemas.openxmlformats.org/presentationml/2006/main">
  <p:tag name="RAINPROBLEMTYPE" val="ProblemTypeMarker"/>
</p:tagLst>
</file>

<file path=ppt/tags/tag49.xml><?xml version="1.0" encoding="utf-8"?>
<p:tagLst xmlns:p="http://schemas.openxmlformats.org/presentationml/2006/main">
  <p:tag name="RAINPROBLEMTYPE" val="ProblemTypeMarker"/>
</p:tagLst>
</file>

<file path=ppt/tags/tag50.xml><?xml version="1.0" encoding="utf-8"?>
<p:tagLst xmlns:p="http://schemas.openxmlformats.org/presentationml/2006/main">
  <p:tag name="RAINPROBLEMTYPE" val="ProblemTypeMarker"/>
</p:tagLst>
</file>

<file path=ppt/tags/tag51.xml><?xml version="1.0" encoding="utf-8"?>
<p:tagLst xmlns:p="http://schemas.openxmlformats.org/presentationml/2006/main">
  <p:tag name="RAINPROBLEMTYPE" val="ProblemTypeMarker"/>
</p:tagLst>
</file>

<file path=ppt/tags/tag52.xml><?xml version="1.0" encoding="utf-8"?>
<p:tagLst xmlns:p="http://schemas.openxmlformats.org/presentationml/2006/main">
  <p:tag name="RAINPROBLEMTYPE" val="ProblemTypeMarker"/>
</p:tagLst>
</file>

<file path=ppt/tags/tag53.xml><?xml version="1.0" encoding="utf-8"?>
<p:tagLst xmlns:p="http://schemas.openxmlformats.org/presentationml/2006/main">
  <p:tag name="RAINPROBLEM" val="ProblemSetting"/>
  <p:tag name="RAINPROBLEMTYPE" val="MultipleChoice"/>
</p:tagLst>
</file>

<file path=ppt/tags/tag54.xml><?xml version="1.0" encoding="utf-8"?>
<p:tagLst xmlns:p="http://schemas.openxmlformats.org/presentationml/2006/main">
  <p:tag name="RAINPROBLEM" val="MultipleChoice"/>
  <p:tag name="PROBLEMSCORE" val="1.0"/>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RAINPROBLEM" val="ProblemBody"/>
</p:tagLst>
</file>

<file path=ppt/tags/tag68.xml><?xml version="1.0" encoding="utf-8"?>
<p:tagLst xmlns:p="http://schemas.openxmlformats.org/presentationml/2006/main">
  <p:tag name="RAINPROBLEM" val="ProblemItem"/>
</p:tagLst>
</file>

<file path=ppt/tags/tag69.xml><?xml version="1.0" encoding="utf-8"?>
<p:tagLst xmlns:p="http://schemas.openxmlformats.org/presentationml/2006/main">
  <p:tag name="RAINPROBLEM" val="ProblemItem"/>
</p:tagLst>
</file>

<file path=ppt/tags/tag70.xml><?xml version="1.0" encoding="utf-8"?>
<p:tagLst xmlns:p="http://schemas.openxmlformats.org/presentationml/2006/main">
  <p:tag name="RAINPROBLEM" val="ProblemItem"/>
</p:tagLst>
</file>

<file path=ppt/tags/tag71.xml><?xml version="1.0" encoding="utf-8"?>
<p:tagLst xmlns:p="http://schemas.openxmlformats.org/presentationml/2006/main">
  <p:tag name="RAINPROBLEM" val="ProblemItem"/>
</p:tagLst>
</file>

<file path=ppt/tags/tag72.xml><?xml version="1.0" encoding="utf-8"?>
<p:tagLst xmlns:p="http://schemas.openxmlformats.org/presentationml/2006/main">
  <p:tag name="RAINPROBLEM" val="ProblemBullet"/>
  <p:tag name="RAINPROBLEMTYPE" val="MultipleChoice"/>
  <p:tag name="RAINBULLET" val="Wrong"/>
</p:tagLst>
</file>

<file path=ppt/tags/tag73.xml><?xml version="1.0" encoding="utf-8"?>
<p:tagLst xmlns:p="http://schemas.openxmlformats.org/presentationml/2006/main">
  <p:tag name="RAINPROBLEM" val="ProblemBullet"/>
  <p:tag name="RAINPROBLEMTYPE" val="MultipleChoice"/>
  <p:tag name="RAINBULLET" val="Wrong"/>
</p:tagLst>
</file>

<file path=ppt/tags/tag74.xml><?xml version="1.0" encoding="utf-8"?>
<p:tagLst xmlns:p="http://schemas.openxmlformats.org/presentationml/2006/main">
  <p:tag name="RAINPROBLEM" val="ProblemBullet"/>
  <p:tag name="RAINPROBLEMTYPE" val="MultipleChoice"/>
  <p:tag name="RAINBULLET" val="Wrong"/>
</p:tagLst>
</file>

<file path=ppt/tags/tag75.xml><?xml version="1.0" encoding="utf-8"?>
<p:tagLst xmlns:p="http://schemas.openxmlformats.org/presentationml/2006/main">
  <p:tag name="RAINPROBLEM" val="ProblemBullet"/>
  <p:tag name="RAINPROBLEMTYPE" val="MultipleChoice"/>
  <p:tag name="RAINBULLET" val="Correct"/>
</p:tagLst>
</file>

<file path=ppt/tags/tag76.xml><?xml version="1.0" encoding="utf-8"?>
<p:tagLst xmlns:p="http://schemas.openxmlformats.org/presentationml/2006/main">
  <p:tag name="RAINPROBLEM" val="ProblemSubmit"/>
  <p:tag name="RAINPROBLEMTYPE" val="MultipleChoice"/>
</p:tagLst>
</file>

<file path=ppt/tags/tag77.xml><?xml version="1.0" encoding="utf-8"?>
<p:tagLst xmlns:p="http://schemas.openxmlformats.org/presentationml/2006/main">
  <p:tag name="RAINPROBLEMTYPE" val="ProblemTypeMarker"/>
</p:tagLst>
</file>

<file path=ppt/tags/tag78.xml><?xml version="1.0" encoding="utf-8"?>
<p:tagLst xmlns:p="http://schemas.openxmlformats.org/presentationml/2006/main">
  <p:tag name="RAINPROBLEMTYPE" val="ProblemTypeMarker"/>
</p:tagLst>
</file>

<file path=ppt/tags/tag79.xml><?xml version="1.0" encoding="utf-8"?>
<p:tagLst xmlns:p="http://schemas.openxmlformats.org/presentationml/2006/main">
  <p:tag name="RAINPROBLEMTYPE" val="ProblemTypeMarker"/>
</p:tagLst>
</file>

<file path=ppt/tags/tag80.xml><?xml version="1.0" encoding="utf-8"?>
<p:tagLst xmlns:p="http://schemas.openxmlformats.org/presentationml/2006/main">
  <p:tag name="RAINPROBLEMTYPE" val="ProblemTypeMarker"/>
</p:tagLst>
</file>

<file path=ppt/tags/tag81.xml><?xml version="1.0" encoding="utf-8"?>
<p:tagLst xmlns:p="http://schemas.openxmlformats.org/presentationml/2006/main">
  <p:tag name="RAINPROBLEMTYPE" val="ProblemTypeMarker"/>
</p:tagLst>
</file>

<file path=ppt/tags/tag82.xml><?xml version="1.0" encoding="utf-8"?>
<p:tagLst xmlns:p="http://schemas.openxmlformats.org/presentationml/2006/main">
  <p:tag name="RAINPROBLEM" val="ProblemSetting"/>
  <p:tag name="RAINPROBLEMTYPE" val="MultipleChoice"/>
</p:tagLst>
</file>

<file path=ppt/tags/tag83.xml><?xml version="1.0" encoding="utf-8"?>
<p:tagLst xmlns:p="http://schemas.openxmlformats.org/presentationml/2006/main">
  <p:tag name="RAINPROBLEM" val="MultipleChoice"/>
  <p:tag name="PROBLEMSCORE" val="1.0"/>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PP_MARK_KEY" val="6603ea97-e6fc-4ca0-bd86-c0c191acb811"/>
  <p:tag name="COMMONDATA" val="eyJoZGlkIjoiOTRkNmFmZjRjMzI3MTQ3ZWFlYjhlZWM3YzFkOWNmN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11947</Words>
  <Application>WPS 演示</Application>
  <PresentationFormat>宽屏</PresentationFormat>
  <Paragraphs>725</Paragraphs>
  <Slides>52</Slides>
  <Notes>0</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2</vt:i4>
      </vt:variant>
      <vt:variant>
        <vt:lpstr>幻灯片标题</vt:lpstr>
      </vt:variant>
      <vt:variant>
        <vt:i4>52</vt:i4>
      </vt:variant>
    </vt:vector>
  </HeadingPairs>
  <TitlesOfParts>
    <vt:vector size="68" baseType="lpstr">
      <vt:lpstr>Arial</vt:lpstr>
      <vt:lpstr>宋体</vt:lpstr>
      <vt:lpstr>Wingdings</vt:lpstr>
      <vt:lpstr>黑体</vt:lpstr>
      <vt:lpstr>Times New Roman</vt:lpstr>
      <vt:lpstr>Times New Roman</vt:lpstr>
      <vt:lpstr>等线 Light</vt:lpstr>
      <vt:lpstr>等线</vt:lpstr>
      <vt:lpstr>微软雅黑</vt:lpstr>
      <vt:lpstr>Arial Unicode MS</vt:lpstr>
      <vt:lpstr>Wingdings</vt:lpstr>
      <vt:lpstr>-apple-system</vt:lpstr>
      <vt:lpstr>Segoe Print</vt:lpstr>
      <vt:lpstr>Office 主题​​</vt:lpstr>
      <vt:lpstr>Visio.Drawing.15</vt:lpstr>
      <vt:lpstr>Visio.Drawing.15</vt:lpstr>
      <vt:lpstr>第 8 章 Hadoop再探讨</vt:lpstr>
      <vt:lpstr>第 8 章 Hadoop再探讨</vt:lpstr>
      <vt:lpstr>8.1.1Hadoop的局限与不足</vt:lpstr>
      <vt:lpstr>8.1.2针对Hadoop的改进与提升</vt:lpstr>
      <vt:lpstr>8.1.2针对Hadoop的改进与提升</vt:lpstr>
      <vt:lpstr>8.2HDFS2.0的新特性</vt:lpstr>
      <vt:lpstr>8.2.1HDFS HA</vt:lpstr>
      <vt:lpstr>3.3.2	名称节点和数据节点</vt:lpstr>
      <vt:lpstr>8.2.1HDFS HA</vt:lpstr>
      <vt:lpstr>8.2.1HDFS HA</vt:lpstr>
      <vt:lpstr>8.2.1HDFS HA</vt:lpstr>
      <vt:lpstr>8.2.2HDFS 联邦</vt:lpstr>
      <vt:lpstr>8.2.2HDFS 联邦</vt:lpstr>
      <vt:lpstr>8.2.2HDFS 联邦</vt:lpstr>
      <vt:lpstr>8.2.2HDFS 联邦</vt:lpstr>
      <vt:lpstr>PowerPoint 演示文稿</vt:lpstr>
      <vt:lpstr>PowerPoint 演示文稿</vt:lpstr>
      <vt:lpstr>PowerPoint 演示文稿</vt:lpstr>
      <vt:lpstr>HDFS 3.0 一些新特性[1]</vt:lpstr>
      <vt:lpstr>HDFS 3.0 一些新特性</vt:lpstr>
      <vt:lpstr>HDFS 3.0 一些新特性</vt:lpstr>
      <vt:lpstr>HDFS 3.0 一些新特性</vt:lpstr>
      <vt:lpstr>HDFS 3.0 一些新特性</vt:lpstr>
      <vt:lpstr>HDFS 3.0 一些新特性</vt:lpstr>
      <vt:lpstr>8.3新一代资源管理调度框架YARN</vt:lpstr>
      <vt:lpstr>MapReduce的体系结构</vt:lpstr>
      <vt:lpstr>MapReduce的体系结构</vt:lpstr>
      <vt:lpstr>MapReduce的体系结构</vt:lpstr>
      <vt:lpstr>8.3.1 MapReduce1.0的缺陷</vt:lpstr>
      <vt:lpstr>8.3.2 YARN设计思路</vt:lpstr>
      <vt:lpstr>8.3.3 YARN体系结构</vt:lpstr>
      <vt:lpstr>8.3.3 YARN体系结构</vt:lpstr>
      <vt:lpstr>8.3.3 YARN体系结构</vt:lpstr>
      <vt:lpstr>8.3.3 YARN体系结构</vt:lpstr>
      <vt:lpstr>8.3.3 YARN体系结构</vt:lpstr>
      <vt:lpstr>8.3.4 YARN工作流程</vt:lpstr>
      <vt:lpstr>8.3.5YARN框架与MapReduce1.0框架的对比分析</vt:lpstr>
      <vt:lpstr>8.3.6 YARN的发展目标</vt:lpstr>
      <vt:lpstr>8.3.6 YARN的发展目标</vt:lpstr>
      <vt:lpstr>PowerPoint 演示文稿</vt:lpstr>
      <vt:lpstr>8.4Hadoop生态系统中具有代表性的功能组件</vt:lpstr>
      <vt:lpstr>8.4.1Pig</vt:lpstr>
      <vt:lpstr>8.4.1Pig</vt:lpstr>
      <vt:lpstr>8.4.1Pig</vt:lpstr>
      <vt:lpstr>8.4.1Pig</vt:lpstr>
      <vt:lpstr>8.4.1Pig</vt:lpstr>
      <vt:lpstr>8.4.2Tez</vt:lpstr>
      <vt:lpstr>8.4.2Tez</vt:lpstr>
      <vt:lpstr>8.4.2Tez</vt:lpstr>
      <vt:lpstr>8.4.2Tez</vt:lpstr>
      <vt:lpstr>8.4.3Kafka</vt:lpstr>
      <vt:lpstr>本章小结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大数据管理</dc:title>
  <dc:creator>zitong chen</dc:creator>
  <cp:lastModifiedBy>大洋儿</cp:lastModifiedBy>
  <cp:revision>199</cp:revision>
  <dcterms:created xsi:type="dcterms:W3CDTF">2023-01-31T13:03:00Z</dcterms:created>
  <dcterms:modified xsi:type="dcterms:W3CDTF">2026-06-15T17:59:29Z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59D19141392645C587473909C9AA136C</vt:lpwstr>
  </property>
  <property fmtid="{D5CDD505-2E9C-101B-9397-08002B2CF9AE}" pid="3" name="KSOProductBuildVer">
    <vt:lpwstr>2052-12.1.0.26895</vt:lpwstr>
  </property>
</Properties>
</file>