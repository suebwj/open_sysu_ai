
<file path=[Content_Types].xml><?xml version="1.0" encoding="utf-8"?>
<Types xmlns="http://schemas.openxmlformats.org/package/2006/content-types">
  <Default Extension="jpeg" ContentType="image/jpeg"/>
  <Default Extension="JPG" ContentType="image/.jpg"/>
  <Default Extension="vml" ContentType="application/vnd.openxmlformats-officedocument.vmlDrawing"/>
  <Default Extension="bin" ContentType="application/vnd.openxmlformats-officedocument.oleObject"/>
  <Default Extension="png" ContentType="image/png"/>
  <Default Extension="emf" ContentType="image/x-e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Override1.xml" ContentType="application/vnd.openxmlformats-officedocument.themeOverrid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64"/>
  </p:notesMasterIdLst>
  <p:handoutMasterIdLst>
    <p:handoutMasterId r:id="rId65"/>
  </p:handoutMasterIdLst>
  <p:sldIdLst>
    <p:sldId id="614" r:id="rId3"/>
    <p:sldId id="420" r:id="rId4"/>
    <p:sldId id="505" r:id="rId5"/>
    <p:sldId id="565" r:id="rId6"/>
    <p:sldId id="795" r:id="rId7"/>
    <p:sldId id="693" r:id="rId8"/>
    <p:sldId id="694" r:id="rId9"/>
    <p:sldId id="695" r:id="rId10"/>
    <p:sldId id="696" r:id="rId11"/>
    <p:sldId id="697" r:id="rId12"/>
    <p:sldId id="796" r:id="rId13"/>
    <p:sldId id="699" r:id="rId14"/>
    <p:sldId id="701" r:id="rId15"/>
    <p:sldId id="702" r:id="rId16"/>
    <p:sldId id="703" r:id="rId17"/>
    <p:sldId id="704" r:id="rId18"/>
    <p:sldId id="851" r:id="rId19"/>
    <p:sldId id="853" r:id="rId20"/>
    <p:sldId id="852" r:id="rId21"/>
    <p:sldId id="707" r:id="rId22"/>
    <p:sldId id="708" r:id="rId23"/>
    <p:sldId id="709" r:id="rId24"/>
    <p:sldId id="710" r:id="rId25"/>
    <p:sldId id="711" r:id="rId26"/>
    <p:sldId id="855" r:id="rId27"/>
    <p:sldId id="712" r:id="rId28"/>
    <p:sldId id="713" r:id="rId29"/>
    <p:sldId id="898" r:id="rId30"/>
    <p:sldId id="714" r:id="rId31"/>
    <p:sldId id="715" r:id="rId32"/>
    <p:sldId id="716" r:id="rId33"/>
    <p:sldId id="899" r:id="rId34"/>
    <p:sldId id="901" r:id="rId35"/>
    <p:sldId id="717" r:id="rId36"/>
    <p:sldId id="718" r:id="rId37"/>
    <p:sldId id="719" r:id="rId38"/>
    <p:sldId id="721" r:id="rId39"/>
    <p:sldId id="722" r:id="rId40"/>
    <p:sldId id="720" r:id="rId41"/>
    <p:sldId id="724" r:id="rId42"/>
    <p:sldId id="725" r:id="rId43"/>
    <p:sldId id="935" r:id="rId44"/>
    <p:sldId id="936" r:id="rId45"/>
    <p:sldId id="937" r:id="rId46"/>
    <p:sldId id="938" r:id="rId47"/>
    <p:sldId id="734" r:id="rId48"/>
    <p:sldId id="735" r:id="rId49"/>
    <p:sldId id="736" r:id="rId50"/>
    <p:sldId id="737" r:id="rId51"/>
    <p:sldId id="738" r:id="rId52"/>
    <p:sldId id="739" r:id="rId53"/>
    <p:sldId id="740" r:id="rId54"/>
    <p:sldId id="741" r:id="rId55"/>
    <p:sldId id="742" r:id="rId56"/>
    <p:sldId id="743" r:id="rId57"/>
    <p:sldId id="744" r:id="rId58"/>
    <p:sldId id="745" r:id="rId59"/>
    <p:sldId id="954" r:id="rId60"/>
    <p:sldId id="746" r:id="rId61"/>
    <p:sldId id="955" r:id="rId62"/>
    <p:sldId id="748" r:id="rId63"/>
  </p:sldIdLst>
  <p:sldSz cx="12192000" cy="6858000"/>
  <p:notesSz cx="6858000" cy="9144000"/>
  <p:custDataLst>
    <p:tags r:id="rId69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第一篇" id="{3E72D914-66BA-4579-8F52-77CB28085651}">
          <p14:sldIdLst>
            <p14:sldId id="614"/>
            <p14:sldId id="420"/>
            <p14:sldId id="505"/>
            <p14:sldId id="565"/>
            <p14:sldId id="795"/>
            <p14:sldId id="693"/>
            <p14:sldId id="694"/>
            <p14:sldId id="695"/>
            <p14:sldId id="696"/>
            <p14:sldId id="697"/>
            <p14:sldId id="796"/>
            <p14:sldId id="699"/>
            <p14:sldId id="701"/>
            <p14:sldId id="702"/>
            <p14:sldId id="703"/>
            <p14:sldId id="704"/>
            <p14:sldId id="851"/>
            <p14:sldId id="853"/>
            <p14:sldId id="852"/>
            <p14:sldId id="707"/>
            <p14:sldId id="708"/>
            <p14:sldId id="709"/>
            <p14:sldId id="710"/>
            <p14:sldId id="711"/>
            <p14:sldId id="855"/>
            <p14:sldId id="712"/>
            <p14:sldId id="713"/>
            <p14:sldId id="898"/>
            <p14:sldId id="714"/>
            <p14:sldId id="715"/>
            <p14:sldId id="716"/>
            <p14:sldId id="899"/>
            <p14:sldId id="901"/>
            <p14:sldId id="717"/>
            <p14:sldId id="718"/>
            <p14:sldId id="719"/>
            <p14:sldId id="721"/>
            <p14:sldId id="722"/>
            <p14:sldId id="720"/>
            <p14:sldId id="724"/>
            <p14:sldId id="725"/>
            <p14:sldId id="935"/>
            <p14:sldId id="936"/>
            <p14:sldId id="937"/>
            <p14:sldId id="938"/>
            <p14:sldId id="734"/>
            <p14:sldId id="735"/>
            <p14:sldId id="736"/>
            <p14:sldId id="737"/>
            <p14:sldId id="738"/>
            <p14:sldId id="739"/>
            <p14:sldId id="740"/>
            <p14:sldId id="741"/>
            <p14:sldId id="742"/>
            <p14:sldId id="743"/>
            <p14:sldId id="744"/>
            <p14:sldId id="745"/>
            <p14:sldId id="954"/>
            <p14:sldId id="746"/>
            <p14:sldId id="955"/>
            <p14:sldId id="748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E9EBF5"/>
    <a:srgbClr val="CFD5E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505E3EF-67EA-436B-97B2-0124C06EBD24}" styleName="中度样式 4 - 强调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0" d="100"/>
          <a:sy n="80" d="100"/>
        </p:scale>
        <p:origin x="354" y="1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9" Type="http://schemas.openxmlformats.org/officeDocument/2006/relationships/tags" Target="tags/tag108.xml"/><Relationship Id="rId68" Type="http://schemas.openxmlformats.org/officeDocument/2006/relationships/tableStyles" Target="tableStyles.xml"/><Relationship Id="rId67" Type="http://schemas.openxmlformats.org/officeDocument/2006/relationships/viewProps" Target="viewProps.xml"/><Relationship Id="rId66" Type="http://schemas.openxmlformats.org/officeDocument/2006/relationships/presProps" Target="presProps.xml"/><Relationship Id="rId65" Type="http://schemas.openxmlformats.org/officeDocument/2006/relationships/handoutMaster" Target="handoutMasters/handoutMaster1.xml"/><Relationship Id="rId64" Type="http://schemas.openxmlformats.org/officeDocument/2006/relationships/notesMaster" Target="notesMasters/notesMaster1.xml"/><Relationship Id="rId63" Type="http://schemas.openxmlformats.org/officeDocument/2006/relationships/slide" Target="slides/slide61.xml"/><Relationship Id="rId62" Type="http://schemas.openxmlformats.org/officeDocument/2006/relationships/slide" Target="slides/slide60.xml"/><Relationship Id="rId61" Type="http://schemas.openxmlformats.org/officeDocument/2006/relationships/slide" Target="slides/slide59.xml"/><Relationship Id="rId60" Type="http://schemas.openxmlformats.org/officeDocument/2006/relationships/slide" Target="slides/slide58.xml"/><Relationship Id="rId6" Type="http://schemas.openxmlformats.org/officeDocument/2006/relationships/slide" Target="slides/slide4.xml"/><Relationship Id="rId59" Type="http://schemas.openxmlformats.org/officeDocument/2006/relationships/slide" Target="slides/slide57.xml"/><Relationship Id="rId58" Type="http://schemas.openxmlformats.org/officeDocument/2006/relationships/slide" Target="slides/slide56.xml"/><Relationship Id="rId57" Type="http://schemas.openxmlformats.org/officeDocument/2006/relationships/slide" Target="slides/slide55.xml"/><Relationship Id="rId56" Type="http://schemas.openxmlformats.org/officeDocument/2006/relationships/slide" Target="slides/slide54.xml"/><Relationship Id="rId55" Type="http://schemas.openxmlformats.org/officeDocument/2006/relationships/slide" Target="slides/slide53.xml"/><Relationship Id="rId54" Type="http://schemas.openxmlformats.org/officeDocument/2006/relationships/slide" Target="slides/slide52.xml"/><Relationship Id="rId53" Type="http://schemas.openxmlformats.org/officeDocument/2006/relationships/slide" Target="slides/slide51.xml"/><Relationship Id="rId52" Type="http://schemas.openxmlformats.org/officeDocument/2006/relationships/slide" Target="slides/slide50.xml"/><Relationship Id="rId51" Type="http://schemas.openxmlformats.org/officeDocument/2006/relationships/slide" Target="slides/slide49.xml"/><Relationship Id="rId50" Type="http://schemas.openxmlformats.org/officeDocument/2006/relationships/slide" Target="slides/slide48.xml"/><Relationship Id="rId5" Type="http://schemas.openxmlformats.org/officeDocument/2006/relationships/slide" Target="slides/slide3.xml"/><Relationship Id="rId49" Type="http://schemas.openxmlformats.org/officeDocument/2006/relationships/slide" Target="slides/slide47.xml"/><Relationship Id="rId48" Type="http://schemas.openxmlformats.org/officeDocument/2006/relationships/slide" Target="slides/slide46.xml"/><Relationship Id="rId47" Type="http://schemas.openxmlformats.org/officeDocument/2006/relationships/slide" Target="slides/slide45.xml"/><Relationship Id="rId46" Type="http://schemas.openxmlformats.org/officeDocument/2006/relationships/slide" Target="slides/slide44.xml"/><Relationship Id="rId45" Type="http://schemas.openxmlformats.org/officeDocument/2006/relationships/slide" Target="slides/slide43.xml"/><Relationship Id="rId44" Type="http://schemas.openxmlformats.org/officeDocument/2006/relationships/slide" Target="slides/slide42.xml"/><Relationship Id="rId43" Type="http://schemas.openxmlformats.org/officeDocument/2006/relationships/slide" Target="slides/slide41.xml"/><Relationship Id="rId42" Type="http://schemas.openxmlformats.org/officeDocument/2006/relationships/slide" Target="slides/slide40.xml"/><Relationship Id="rId41" Type="http://schemas.openxmlformats.org/officeDocument/2006/relationships/slide" Target="slides/slide39.xml"/><Relationship Id="rId40" Type="http://schemas.openxmlformats.org/officeDocument/2006/relationships/slide" Target="slides/slide38.xml"/><Relationship Id="rId4" Type="http://schemas.openxmlformats.org/officeDocument/2006/relationships/slide" Target="slides/slide2.xml"/><Relationship Id="rId39" Type="http://schemas.openxmlformats.org/officeDocument/2006/relationships/slide" Target="slides/slide37.xml"/><Relationship Id="rId38" Type="http://schemas.openxmlformats.org/officeDocument/2006/relationships/slide" Target="slides/slide36.xml"/><Relationship Id="rId37" Type="http://schemas.openxmlformats.org/officeDocument/2006/relationships/slide" Target="slides/slide35.xml"/><Relationship Id="rId36" Type="http://schemas.openxmlformats.org/officeDocument/2006/relationships/slide" Target="slides/slide34.xml"/><Relationship Id="rId35" Type="http://schemas.openxmlformats.org/officeDocument/2006/relationships/slide" Target="slides/slide33.xml"/><Relationship Id="rId34" Type="http://schemas.openxmlformats.org/officeDocument/2006/relationships/slide" Target="slides/slide32.xml"/><Relationship Id="rId33" Type="http://schemas.openxmlformats.org/officeDocument/2006/relationships/slide" Target="slides/slide31.xml"/><Relationship Id="rId32" Type="http://schemas.openxmlformats.org/officeDocument/2006/relationships/slide" Target="slides/slide30.xml"/><Relationship Id="rId31" Type="http://schemas.openxmlformats.org/officeDocument/2006/relationships/slide" Target="slides/slide29.xml"/><Relationship Id="rId30" Type="http://schemas.openxmlformats.org/officeDocument/2006/relationships/slide" Target="slides/slide28.xml"/><Relationship Id="rId3" Type="http://schemas.openxmlformats.org/officeDocument/2006/relationships/slide" Target="slides/slide1.xml"/><Relationship Id="rId29" Type="http://schemas.openxmlformats.org/officeDocument/2006/relationships/slide" Target="slides/slide27.xml"/><Relationship Id="rId28" Type="http://schemas.openxmlformats.org/officeDocument/2006/relationships/slide" Target="slides/slide26.xml"/><Relationship Id="rId27" Type="http://schemas.openxmlformats.org/officeDocument/2006/relationships/slide" Target="slides/slide25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charts/_rels/chart1.xml.rels><?xml version="1.0" encoding="UTF-8" standalone="yes"?>
<Relationships xmlns="http://schemas.openxmlformats.org/package/2006/relationships"><Relationship Id="rId2" Type="http://schemas.openxmlformats.org/officeDocument/2006/relationships/themeOverride" Target="../theme/themeOverride1.xml"/><Relationship Id="rId1" Type="http://schemas.openxmlformats.org/officeDocument/2006/relationships/oleObject" Target="&#24037;&#20316;&#31807;1" TargetMode="Externa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>
        <c:manualLayout>
          <c:layoutTarget val="inner"/>
          <c:xMode val="edge"/>
          <c:yMode val="edge"/>
          <c:x val="0.229055193432712"/>
          <c:y val="0.00781262175181536"/>
          <c:w val="0.765079617250984"/>
          <c:h val="0.806246980554979"/>
        </c:manualLayout>
      </c:layout>
      <c:barChart>
        <c:barDir val="col"/>
        <c:grouping val="clustered"/>
        <c:varyColors val="0"/>
        <c:ser>
          <c:idx val="0"/>
          <c:order val="0"/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zh-CN"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prstDash val="solid"/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Sheet1!$A$1:$B$1</c:f>
              <c:strCache>
                <c:ptCount val="2"/>
                <c:pt idx="0">
                  <c:v>Hadoop</c:v>
                </c:pt>
                <c:pt idx="1">
                  <c:v>Spark</c:v>
                </c:pt>
              </c:strCache>
            </c:strRef>
          </c:cat>
          <c:val>
            <c:numRef>
              <c:f>Sheet1!$A$2:$B$2</c:f>
              <c:numCache>
                <c:formatCode>General</c:formatCode>
                <c:ptCount val="2"/>
                <c:pt idx="0">
                  <c:v>110</c:v>
                </c:pt>
                <c:pt idx="1">
                  <c:v>0.9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180690304"/>
        <c:axId val="180692480"/>
      </c:barChart>
      <c:catAx>
        <c:axId val="18069030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prstDash val="solid"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10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180692480"/>
        <c:crosses val="autoZero"/>
        <c:auto val="1"/>
        <c:lblAlgn val="ctr"/>
        <c:lblOffset val="100"/>
        <c:noMultiLvlLbl val="0"/>
      </c:catAx>
      <c:valAx>
        <c:axId val="18069248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prstDash val="solid"/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lang="zh-CN"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zh-CN" altLang="en-US"/>
                  <a:t>执行时间</a:t>
                </a:r>
                <a:r>
                  <a:rPr lang="en-US" altLang="zh-CN"/>
                  <a:t>(s)</a:t>
                </a:r>
                <a:endParaRPr lang="zh-CN" altLang="en-US"/>
              </a:p>
            </c:rich>
          </c:tx>
          <c:layout/>
          <c:overlay val="0"/>
          <c:spPr>
            <a:noFill/>
            <a:ln>
              <a:noFill/>
            </a:ln>
            <a:effectLst/>
          </c:sp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noFill/>
            <a:prstDash val="solid"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18069030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uri="{0b15fc19-7d7d-44ad-8c2d-2c3a37ce22c3}">
        <chartProps xmlns="https://web.wps.cn/et/2018/main" chartId="{b9ddf2b7-84c7-4b61-8141-30ad49a8ef79}"/>
      </c:ext>
    </c:extLst>
  </c:chart>
  <c:spPr>
    <a:solidFill>
      <a:schemeClr val="bg1"/>
    </a:solidFill>
    <a:ln w="9525" cap="flat" cmpd="sng" algn="ctr">
      <a:solidFill>
        <a:schemeClr val="tx1">
          <a:lumMod val="15000"/>
          <a:lumOff val="85000"/>
        </a:schemeClr>
      </a:solidFill>
      <a:round/>
    </a:ln>
    <a:effectLst/>
  </c:spPr>
  <c:txPr>
    <a:bodyPr/>
    <a:lstStyle/>
    <a:p>
      <a:pPr>
        <a:defRPr lang="zh-CN"/>
      </a:pPr>
    </a:p>
  </c:txPr>
  <c:externalData r:id="rId1">
    <c:autoUpdate val="0"/>
  </c:externalData>
</c:chartSpace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0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22.e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0EA424B-F2C7-4EC9-8DA2-5CFAACF65E18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3860B0A-E707-4489-B72C-209A0C1058FB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1D01BD-4741-4184-BE56-DAF04E336C97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57CE09-A6DF-4F65-B9AD-CB157D51E68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ECF920-1DC5-4C71-8718-0D3D51DA5754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57CE09-A6DF-4F65-B9AD-CB157D51E68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DFB8C7-156C-4269-A9D3-236C9122148A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57CE09-A6DF-4F65-B9AD-CB157D51E68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A235BB-B880-4407-ACFF-512D8BC24B90}" type="datetime1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57CE09-A6DF-4F65-B9AD-CB157D51E68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29A4FC-A20D-40C9-ABAC-C696099A86F2}" type="datetime1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57CE09-A6DF-4F65-B9AD-CB157D51E68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8C5C66-F7B6-4A16-8359-13B29DD706AB}" type="datetime1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57CE09-A6DF-4F65-B9AD-CB157D51E68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B552A2-5CC8-435E-A513-EF450F74AF85}" type="datetime1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57CE09-A6DF-4F65-B9AD-CB157D51E68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2593F0-41FC-4EC0-B9B0-30C4E0373CF4}" type="datetime1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57CE09-A6DF-4F65-B9AD-CB157D51E68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ADD0A6-25F9-45E6-B1AB-8802F7FB4BFD}" type="datetime1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57CE09-A6DF-4F65-B9AD-CB157D51E68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55DAC9-C380-4E94-9EDF-CE70C1A17B94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57CE09-A6DF-4F65-B9AD-CB157D51E68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9B58E9-DE7D-4AC4-86BB-A1A3764A53E4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57CE09-A6DF-4F65-B9AD-CB157D51E68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1"/>
          <p:cNvSpPr>
            <a:spLocks noGrp="1" noChangeArrowheads="1"/>
          </p:cNvSpPr>
          <p:nvPr>
            <p:ph type="title"/>
          </p:nvPr>
        </p:nvSpPr>
        <p:spPr bwMode="auto">
          <a:xfrm>
            <a:off x="1524000" y="76200"/>
            <a:ext cx="10668000" cy="9144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/>
          <a:p>
            <a:pPr lvl="0"/>
            <a:r>
              <a:rPr lang="zh-CN" noProof="1"/>
              <a:t>单击此处编辑母版标题样式</a:t>
            </a:r>
            <a:endParaRPr lang="zh-CN" noProof="1"/>
          </a:p>
        </p:txBody>
      </p:sp>
    </p:spTree>
  </p:cSld>
  <p:clrMapOvr>
    <a:masterClrMapping/>
  </p:clrMapOvr>
  <p:hf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1"/>
          <p:cNvSpPr>
            <a:spLocks noGrp="1" noChangeArrowheads="1"/>
          </p:cNvSpPr>
          <p:nvPr>
            <p:ph type="title"/>
          </p:nvPr>
        </p:nvSpPr>
        <p:spPr bwMode="auto">
          <a:xfrm>
            <a:off x="1524000" y="76200"/>
            <a:ext cx="10668000" cy="9144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/>
          <a:p>
            <a:pPr lvl="0"/>
            <a:r>
              <a:rPr lang="zh-CN" noProof="1"/>
              <a:t>单击此处编辑母版标题样式</a:t>
            </a:r>
            <a:endParaRPr lang="zh-CN" noProof="1"/>
          </a:p>
        </p:txBody>
      </p:sp>
    </p:spTree>
  </p:cSld>
  <p:clrMapOvr>
    <a:masterClrMapping/>
  </p:clrMapOvr>
  <p:hf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1"/>
          <p:cNvSpPr>
            <a:spLocks noGrp="1" noChangeArrowheads="1"/>
          </p:cNvSpPr>
          <p:nvPr>
            <p:ph type="title"/>
          </p:nvPr>
        </p:nvSpPr>
        <p:spPr bwMode="auto">
          <a:xfrm>
            <a:off x="1524000" y="76200"/>
            <a:ext cx="10668000" cy="9144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/>
          <a:p>
            <a:pPr lvl="0"/>
            <a:r>
              <a:rPr lang="zh-CN" noProof="1"/>
              <a:t>单击此处编辑母版标题样式</a:t>
            </a:r>
            <a:endParaRPr lang="zh-CN" noProof="1"/>
          </a:p>
        </p:txBody>
      </p:sp>
    </p:spTree>
  </p:cSld>
  <p:clrMapOvr>
    <a:masterClrMapping/>
  </p:clrMapOvr>
  <p:hf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1"/>
          <p:cNvSpPr>
            <a:spLocks noGrp="1" noChangeArrowheads="1"/>
          </p:cNvSpPr>
          <p:nvPr>
            <p:ph type="title"/>
          </p:nvPr>
        </p:nvSpPr>
        <p:spPr bwMode="auto">
          <a:xfrm>
            <a:off x="1524000" y="76200"/>
            <a:ext cx="10668000" cy="9144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/>
          <a:p>
            <a:pPr lvl="0"/>
            <a:r>
              <a:rPr lang="zh-CN" noProof="1"/>
              <a:t>单击此处编辑母版标题样式</a:t>
            </a:r>
            <a:endParaRPr lang="zh-CN" noProof="1"/>
          </a:p>
        </p:txBody>
      </p:sp>
    </p:spTree>
  </p:cSld>
  <p:clrMapOvr>
    <a:masterClrMapping/>
  </p:clrMapOvr>
  <p:hf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1"/>
          <p:cNvSpPr>
            <a:spLocks noGrp="1" noChangeArrowheads="1"/>
          </p:cNvSpPr>
          <p:nvPr>
            <p:ph type="title"/>
          </p:nvPr>
        </p:nvSpPr>
        <p:spPr bwMode="auto">
          <a:xfrm>
            <a:off x="1524000" y="76200"/>
            <a:ext cx="10668000" cy="9144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/>
          <a:p>
            <a:pPr lvl="0"/>
            <a:r>
              <a:rPr lang="zh-CN" noProof="1"/>
              <a:t>单击此处编辑母版标题样式</a:t>
            </a:r>
            <a:endParaRPr lang="zh-CN" noProof="1"/>
          </a:p>
        </p:txBody>
      </p:sp>
    </p:spTree>
  </p:cSld>
  <p:clrMapOvr>
    <a:masterClrMapping/>
  </p:clrMapOvr>
  <p:hf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6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1"/>
          <p:cNvSpPr>
            <a:spLocks noGrp="1" noChangeArrowheads="1"/>
          </p:cNvSpPr>
          <p:nvPr>
            <p:ph type="title"/>
          </p:nvPr>
        </p:nvSpPr>
        <p:spPr bwMode="auto">
          <a:xfrm>
            <a:off x="1524000" y="76200"/>
            <a:ext cx="10668000" cy="9144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/>
          <a:p>
            <a:pPr lvl="0"/>
            <a:r>
              <a:rPr lang="zh-CN" noProof="1"/>
              <a:t>单击此处编辑母版标题样式</a:t>
            </a:r>
            <a:endParaRPr lang="zh-CN" noProof="1"/>
          </a:p>
        </p:txBody>
      </p:sp>
    </p:spTree>
  </p:cSld>
  <p:clrMapOvr>
    <a:masterClrMapping/>
  </p:clrMapOvr>
  <p:hf hdr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7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1"/>
          <p:cNvSpPr>
            <a:spLocks noGrp="1" noChangeArrowheads="1"/>
          </p:cNvSpPr>
          <p:nvPr>
            <p:ph type="title"/>
          </p:nvPr>
        </p:nvSpPr>
        <p:spPr bwMode="auto">
          <a:xfrm>
            <a:off x="1524000" y="76200"/>
            <a:ext cx="10668000" cy="9144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/>
          <a:p>
            <a:pPr lvl="0"/>
            <a:r>
              <a:rPr lang="zh-CN" noProof="1"/>
              <a:t>单击此处编辑母版标题样式</a:t>
            </a:r>
            <a:endParaRPr lang="zh-CN" noProof="1"/>
          </a:p>
        </p:txBody>
      </p:sp>
    </p:spTree>
  </p:cSld>
  <p:clrMapOvr>
    <a:masterClrMapping/>
  </p:clrMapOvr>
  <p:hf hdr="0" ftr="0" dt="0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8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1"/>
          <p:cNvSpPr>
            <a:spLocks noGrp="1" noChangeArrowheads="1"/>
          </p:cNvSpPr>
          <p:nvPr>
            <p:ph type="title"/>
          </p:nvPr>
        </p:nvSpPr>
        <p:spPr bwMode="auto">
          <a:xfrm>
            <a:off x="1524000" y="76200"/>
            <a:ext cx="10668000" cy="9144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/>
          <a:p>
            <a:pPr lvl="0"/>
            <a:r>
              <a:rPr lang="zh-CN" noProof="1"/>
              <a:t>单击此处编辑母版标题样式</a:t>
            </a:r>
            <a:endParaRPr lang="zh-CN" noProof="1"/>
          </a:p>
        </p:txBody>
      </p:sp>
    </p:spTree>
  </p:cSld>
  <p:clrMapOvr>
    <a:masterClrMapping/>
  </p:clrMapOvr>
  <p:hf hdr="0" ftr="0" dt="0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9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1"/>
          <p:cNvSpPr>
            <a:spLocks noGrp="1" noChangeArrowheads="1"/>
          </p:cNvSpPr>
          <p:nvPr>
            <p:ph type="title"/>
          </p:nvPr>
        </p:nvSpPr>
        <p:spPr bwMode="auto">
          <a:xfrm>
            <a:off x="1524000" y="76200"/>
            <a:ext cx="10668000" cy="9144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/>
          <a:p>
            <a:pPr lvl="0"/>
            <a:r>
              <a:rPr lang="zh-CN" noProof="1"/>
              <a:t>单击此处编辑母版标题样式</a:t>
            </a:r>
            <a:endParaRPr lang="zh-CN" noProof="1"/>
          </a:p>
        </p:txBody>
      </p:sp>
    </p:spTree>
  </p:cSld>
  <p:clrMapOvr>
    <a:masterClrMapping/>
  </p:clrMapOvr>
  <p:hf hdr="0" ftr="0" dt="0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0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1"/>
          <p:cNvSpPr>
            <a:spLocks noGrp="1" noChangeArrowheads="1"/>
          </p:cNvSpPr>
          <p:nvPr>
            <p:ph type="title"/>
          </p:nvPr>
        </p:nvSpPr>
        <p:spPr bwMode="auto">
          <a:xfrm>
            <a:off x="1524000" y="76200"/>
            <a:ext cx="10668000" cy="9144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/>
          <a:p>
            <a:pPr lvl="0"/>
            <a:r>
              <a:rPr lang="zh-CN" noProof="1"/>
              <a:t>单击此处编辑母版标题样式</a:t>
            </a:r>
            <a:endParaRPr lang="zh-CN" noProof="1"/>
          </a:p>
        </p:txBody>
      </p:sp>
    </p:spTree>
  </p:cSld>
  <p:clrMapOvr>
    <a:masterClrMapping/>
  </p:clrMapOvr>
  <p:hf hdr="0" ftr="0" dt="0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1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1"/>
          <p:cNvSpPr>
            <a:spLocks noGrp="1" noChangeArrowheads="1"/>
          </p:cNvSpPr>
          <p:nvPr>
            <p:ph type="title"/>
          </p:nvPr>
        </p:nvSpPr>
        <p:spPr bwMode="auto">
          <a:xfrm>
            <a:off x="1524000" y="76200"/>
            <a:ext cx="10668000" cy="9144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/>
          <a:p>
            <a:pPr lvl="0"/>
            <a:r>
              <a:rPr lang="zh-CN" noProof="1"/>
              <a:t>单击此处编辑母版标题样式</a:t>
            </a:r>
            <a:endParaRPr lang="zh-CN" noProof="1"/>
          </a:p>
        </p:txBody>
      </p:sp>
    </p:spTree>
  </p:cSld>
  <p:clrMapOvr>
    <a:masterClrMapping/>
  </p:clrMapOvr>
  <p:hf hdr="0" ftr="0" dt="0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2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1"/>
          <p:cNvSpPr>
            <a:spLocks noGrp="1" noChangeArrowheads="1"/>
          </p:cNvSpPr>
          <p:nvPr>
            <p:ph type="title"/>
          </p:nvPr>
        </p:nvSpPr>
        <p:spPr bwMode="auto">
          <a:xfrm>
            <a:off x="1524000" y="76200"/>
            <a:ext cx="10668000" cy="9144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/>
          <a:p>
            <a:pPr lvl="0"/>
            <a:r>
              <a:rPr lang="zh-CN" noProof="1"/>
              <a:t>单击此处编辑母版标题样式</a:t>
            </a:r>
            <a:endParaRPr lang="zh-CN" noProof="1"/>
          </a:p>
        </p:txBody>
      </p:sp>
    </p:spTree>
  </p:cSld>
  <p:clrMapOvr>
    <a:masterClrMapping/>
  </p:clrMapOvr>
  <p:hf hdr="0" ftr="0" dt="0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3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1"/>
          <p:cNvSpPr>
            <a:spLocks noGrp="1" noChangeArrowheads="1"/>
          </p:cNvSpPr>
          <p:nvPr>
            <p:ph type="title"/>
          </p:nvPr>
        </p:nvSpPr>
        <p:spPr bwMode="auto">
          <a:xfrm>
            <a:off x="1524000" y="76200"/>
            <a:ext cx="10668000" cy="9144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/>
          <a:p>
            <a:pPr lvl="0"/>
            <a:r>
              <a:rPr lang="zh-CN" noProof="1"/>
              <a:t>单击此处编辑母版标题样式</a:t>
            </a:r>
            <a:endParaRPr lang="zh-CN" noProof="1"/>
          </a:p>
        </p:txBody>
      </p:sp>
    </p:spTree>
  </p:cSld>
  <p:clrMapOvr>
    <a:masterClrMapping/>
  </p:clrMapOvr>
  <p:hf hdr="0" ftr="0" dt="0"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4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1"/>
          <p:cNvSpPr>
            <a:spLocks noGrp="1" noChangeArrowheads="1"/>
          </p:cNvSpPr>
          <p:nvPr>
            <p:ph type="title"/>
          </p:nvPr>
        </p:nvSpPr>
        <p:spPr bwMode="auto">
          <a:xfrm>
            <a:off x="1524000" y="76200"/>
            <a:ext cx="10668000" cy="9144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/>
          <a:p>
            <a:pPr lvl="0"/>
            <a:r>
              <a:rPr lang="zh-CN" noProof="1"/>
              <a:t>单击此处编辑母版标题样式</a:t>
            </a:r>
            <a:endParaRPr lang="zh-CN" noProof="1"/>
          </a:p>
        </p:txBody>
      </p:sp>
    </p:spTree>
  </p:cSld>
  <p:clrMapOvr>
    <a:masterClrMapping/>
  </p:clrMapOvr>
  <p:hf hdr="0" ftr="0" dt="0"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5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1"/>
          <p:cNvSpPr>
            <a:spLocks noGrp="1" noChangeArrowheads="1"/>
          </p:cNvSpPr>
          <p:nvPr>
            <p:ph type="title"/>
          </p:nvPr>
        </p:nvSpPr>
        <p:spPr bwMode="auto">
          <a:xfrm>
            <a:off x="1524000" y="76200"/>
            <a:ext cx="10668000" cy="9144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/>
          <a:p>
            <a:pPr lvl="0"/>
            <a:r>
              <a:rPr lang="zh-CN" noProof="1"/>
              <a:t>单击此处编辑母版标题样式</a:t>
            </a:r>
            <a:endParaRPr lang="zh-CN" noProof="1"/>
          </a:p>
        </p:txBody>
      </p:sp>
    </p:spTree>
  </p:cSld>
  <p:clrMapOvr>
    <a:masterClrMapping/>
  </p:clrMapOvr>
  <p:hf hdr="0" ftr="0" dt="0"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6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1"/>
          <p:cNvSpPr>
            <a:spLocks noGrp="1" noChangeArrowheads="1"/>
          </p:cNvSpPr>
          <p:nvPr>
            <p:ph type="title"/>
          </p:nvPr>
        </p:nvSpPr>
        <p:spPr bwMode="auto">
          <a:xfrm>
            <a:off x="1524000" y="76200"/>
            <a:ext cx="10668000" cy="9144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/>
          <a:p>
            <a:pPr lvl="0"/>
            <a:r>
              <a:rPr lang="zh-CN" noProof="1"/>
              <a:t>单击此处编辑母版标题样式</a:t>
            </a:r>
            <a:endParaRPr lang="zh-CN" noProof="1"/>
          </a:p>
        </p:txBody>
      </p:sp>
    </p:spTree>
  </p:cSld>
  <p:clrMapOvr>
    <a:masterClrMapping/>
  </p:clrMapOvr>
  <p:hf hdr="0" ftr="0" dt="0"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7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1"/>
          <p:cNvSpPr>
            <a:spLocks noGrp="1" noChangeArrowheads="1"/>
          </p:cNvSpPr>
          <p:nvPr>
            <p:ph type="title"/>
          </p:nvPr>
        </p:nvSpPr>
        <p:spPr bwMode="auto">
          <a:xfrm>
            <a:off x="1524000" y="76200"/>
            <a:ext cx="10668000" cy="9144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/>
          <a:p>
            <a:pPr lvl="0"/>
            <a:r>
              <a:rPr lang="zh-CN" noProof="1"/>
              <a:t>单击此处编辑母版标题样式</a:t>
            </a:r>
            <a:endParaRPr lang="zh-CN" noProof="1"/>
          </a:p>
        </p:txBody>
      </p:sp>
    </p:spTree>
  </p:cSld>
  <p:clrMapOvr>
    <a:masterClrMapping/>
  </p:clrMapOvr>
  <p:hf hdr="0" ftr="0" dt="0"/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8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1"/>
          <p:cNvSpPr>
            <a:spLocks noGrp="1" noChangeArrowheads="1"/>
          </p:cNvSpPr>
          <p:nvPr>
            <p:ph type="title"/>
          </p:nvPr>
        </p:nvSpPr>
        <p:spPr bwMode="auto">
          <a:xfrm>
            <a:off x="1524000" y="76200"/>
            <a:ext cx="10668000" cy="9144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/>
          <a:p>
            <a:pPr lvl="0"/>
            <a:r>
              <a:rPr lang="zh-CN" noProof="1"/>
              <a:t>单击此处编辑母版标题样式</a:t>
            </a:r>
            <a:endParaRPr lang="zh-CN" noProof="1"/>
          </a:p>
        </p:txBody>
      </p:sp>
    </p:spTree>
  </p:cSld>
  <p:clrMapOvr>
    <a:masterClrMapping/>
  </p:clrMapOvr>
  <p:hf hdr="0" ftr="0" dt="0"/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9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1"/>
          <p:cNvSpPr>
            <a:spLocks noGrp="1" noChangeArrowheads="1"/>
          </p:cNvSpPr>
          <p:nvPr>
            <p:ph type="title"/>
          </p:nvPr>
        </p:nvSpPr>
        <p:spPr bwMode="auto">
          <a:xfrm>
            <a:off x="1524000" y="76200"/>
            <a:ext cx="10668000" cy="9144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/>
          <a:p>
            <a:pPr lvl="0"/>
            <a:r>
              <a:rPr lang="zh-CN" noProof="1"/>
              <a:t>单击此处编辑母版标题样式</a:t>
            </a:r>
            <a:endParaRPr lang="zh-CN" noProof="1"/>
          </a:p>
        </p:txBody>
      </p:sp>
    </p:spTree>
  </p:cSld>
  <p:clrMapOvr>
    <a:masterClrMapping/>
  </p:clrMapOvr>
  <p:hf hdr="0" ftr="0" dt="0"/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0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1"/>
          <p:cNvSpPr>
            <a:spLocks noGrp="1" noChangeArrowheads="1"/>
          </p:cNvSpPr>
          <p:nvPr>
            <p:ph type="title"/>
          </p:nvPr>
        </p:nvSpPr>
        <p:spPr bwMode="auto">
          <a:xfrm>
            <a:off x="1524000" y="76200"/>
            <a:ext cx="10668000" cy="9144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/>
          <a:p>
            <a:pPr lvl="0"/>
            <a:r>
              <a:rPr lang="zh-CN" noProof="1"/>
              <a:t>单击此处编辑母版标题样式</a:t>
            </a:r>
            <a:endParaRPr lang="zh-CN" noProof="1"/>
          </a:p>
        </p:txBody>
      </p:sp>
    </p:spTree>
  </p:cSld>
  <p:clrMapOvr>
    <a:masterClrMapping/>
  </p:clrMapOvr>
  <p:hf hdr="0" ftr="0" dt="0"/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524000" y="76200"/>
            <a:ext cx="10668000" cy="9144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609600" y="1600200"/>
            <a:ext cx="5384800" cy="452596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600200"/>
            <a:ext cx="5384800" cy="452596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  <p:hf hdr="0" ftr="0" dt="0"/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4" Type="http://schemas.openxmlformats.org/officeDocument/2006/relationships/theme" Target="../theme/theme1.xml"/><Relationship Id="rId33" Type="http://schemas.openxmlformats.org/officeDocument/2006/relationships/image" Target="../media/image1.png"/><Relationship Id="rId32" Type="http://schemas.openxmlformats.org/officeDocument/2006/relationships/slideLayout" Target="../slideLayouts/slideLayout32.xml"/><Relationship Id="rId31" Type="http://schemas.openxmlformats.org/officeDocument/2006/relationships/slideLayout" Target="../slideLayouts/slideLayout31.xml"/><Relationship Id="rId30" Type="http://schemas.openxmlformats.org/officeDocument/2006/relationships/slideLayout" Target="../slideLayouts/slideLayout30.xml"/><Relationship Id="rId3" Type="http://schemas.openxmlformats.org/officeDocument/2006/relationships/slideLayout" Target="../slideLayouts/slideLayout3.xml"/><Relationship Id="rId29" Type="http://schemas.openxmlformats.org/officeDocument/2006/relationships/slideLayout" Target="../slideLayouts/slideLayout29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0" Type="http://schemas.openxmlformats.org/officeDocument/2006/relationships/slideLayout" Target="../slideLayouts/slideLayout20.xml"/><Relationship Id="rId2" Type="http://schemas.openxmlformats.org/officeDocument/2006/relationships/slideLayout" Target="../slideLayouts/slideLayout2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250D025-EB81-4291-9E40-972558CDBCB9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E57CE09-A6DF-4F65-B9AD-CB157D51E68C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  <p:sldLayoutId id="2147483672" r:id="rId24"/>
    <p:sldLayoutId id="2147483673" r:id="rId25"/>
    <p:sldLayoutId id="2147483674" r:id="rId26"/>
    <p:sldLayoutId id="2147483675" r:id="rId27"/>
    <p:sldLayoutId id="2147483676" r:id="rId28"/>
    <p:sldLayoutId id="2147483677" r:id="rId29"/>
    <p:sldLayoutId id="2147483678" r:id="rId30"/>
    <p:sldLayoutId id="2147483679" r:id="rId31"/>
    <p:sldLayoutId id="2147483680" r:id="rId3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jpe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image" Target="../media/image3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2.xml"/><Relationship Id="rId1" Type="http://schemas.openxmlformats.org/officeDocument/2006/relationships/tags" Target="../tags/tag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6.xml"/><Relationship Id="rId6" Type="http://schemas.openxmlformats.org/officeDocument/2006/relationships/tags" Target="../tags/tag5.xml"/><Relationship Id="rId5" Type="http://schemas.openxmlformats.org/officeDocument/2006/relationships/image" Target="../media/image7.png"/><Relationship Id="rId4" Type="http://schemas.openxmlformats.org/officeDocument/2006/relationships/tags" Target="../tags/tag4.xml"/><Relationship Id="rId3" Type="http://schemas.openxmlformats.org/officeDocument/2006/relationships/image" Target="../media/image6.png"/><Relationship Id="rId2" Type="http://schemas.openxmlformats.org/officeDocument/2006/relationships/tags" Target="../tags/tag3.xml"/><Relationship Id="rId1" Type="http://schemas.openxmlformats.org/officeDocument/2006/relationships/chart" Target="../charts/chart1.xml"/></Relationships>
</file>

<file path=ppt/slides/_rels/slide11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6.xml"/><Relationship Id="rId6" Type="http://schemas.openxmlformats.org/officeDocument/2006/relationships/tags" Target="../tags/tag9.xml"/><Relationship Id="rId5" Type="http://schemas.openxmlformats.org/officeDocument/2006/relationships/tags" Target="../tags/tag8.xml"/><Relationship Id="rId4" Type="http://schemas.openxmlformats.org/officeDocument/2006/relationships/image" Target="../media/image9.png"/><Relationship Id="rId3" Type="http://schemas.openxmlformats.org/officeDocument/2006/relationships/tags" Target="../tags/tag7.xml"/><Relationship Id="rId2" Type="http://schemas.openxmlformats.org/officeDocument/2006/relationships/image" Target="../media/image8.png"/><Relationship Id="rId1" Type="http://schemas.openxmlformats.org/officeDocument/2006/relationships/tags" Target="../tags/tag6.xml"/></Relationships>
</file>

<file path=ppt/slides/_rels/slide1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6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tags" Target="../tags/tag10.xml"/></Relationships>
</file>

<file path=ppt/slides/_rels/slide13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1.vml"/><Relationship Id="rId3" Type="http://schemas.openxmlformats.org/officeDocument/2006/relationships/slideLayout" Target="../slideLayouts/slideLayout6.xml"/><Relationship Id="rId2" Type="http://schemas.openxmlformats.org/officeDocument/2006/relationships/image" Target="../media/image10.emf"/><Relationship Id="rId1" Type="http://schemas.openxmlformats.org/officeDocument/2006/relationships/oleObject" Target="../embeddings/oleObject1.bin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tags" Target="../tags/tag1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6.xml"/><Relationship Id="rId4" Type="http://schemas.openxmlformats.org/officeDocument/2006/relationships/tags" Target="../tags/tag17.xml"/><Relationship Id="rId3" Type="http://schemas.openxmlformats.org/officeDocument/2006/relationships/tags" Target="../tags/tag16.xml"/><Relationship Id="rId2" Type="http://schemas.openxmlformats.org/officeDocument/2006/relationships/tags" Target="../tags/tag15.xml"/><Relationship Id="rId1" Type="http://schemas.openxmlformats.org/officeDocument/2006/relationships/tags" Target="../tags/tag14.xml"/></Relationships>
</file>

<file path=ppt/slides/_rels/slide18.xml.rels><?xml version="1.0" encoding="UTF-8" standalone="yes"?>
<Relationships xmlns="http://schemas.openxmlformats.org/package/2006/relationships"><Relationship Id="rId9" Type="http://schemas.openxmlformats.org/officeDocument/2006/relationships/tags" Target="../tags/tag26.xml"/><Relationship Id="rId8" Type="http://schemas.openxmlformats.org/officeDocument/2006/relationships/tags" Target="../tags/tag25.xml"/><Relationship Id="rId7" Type="http://schemas.openxmlformats.org/officeDocument/2006/relationships/tags" Target="../tags/tag24.xml"/><Relationship Id="rId6" Type="http://schemas.openxmlformats.org/officeDocument/2006/relationships/tags" Target="../tags/tag23.xml"/><Relationship Id="rId5" Type="http://schemas.openxmlformats.org/officeDocument/2006/relationships/tags" Target="../tags/tag22.xml"/><Relationship Id="rId4" Type="http://schemas.openxmlformats.org/officeDocument/2006/relationships/tags" Target="../tags/tag21.xml"/><Relationship Id="rId3" Type="http://schemas.openxmlformats.org/officeDocument/2006/relationships/tags" Target="../tags/tag20.xml"/><Relationship Id="rId28" Type="http://schemas.openxmlformats.org/officeDocument/2006/relationships/slideLayout" Target="../slideLayouts/slideLayout6.xml"/><Relationship Id="rId27" Type="http://schemas.openxmlformats.org/officeDocument/2006/relationships/tags" Target="../tags/tag44.xml"/><Relationship Id="rId26" Type="http://schemas.openxmlformats.org/officeDocument/2006/relationships/tags" Target="../tags/tag43.xml"/><Relationship Id="rId25" Type="http://schemas.openxmlformats.org/officeDocument/2006/relationships/tags" Target="../tags/tag42.xml"/><Relationship Id="rId24" Type="http://schemas.openxmlformats.org/officeDocument/2006/relationships/tags" Target="../tags/tag41.xml"/><Relationship Id="rId23" Type="http://schemas.openxmlformats.org/officeDocument/2006/relationships/tags" Target="../tags/tag40.xml"/><Relationship Id="rId22" Type="http://schemas.openxmlformats.org/officeDocument/2006/relationships/tags" Target="../tags/tag39.xml"/><Relationship Id="rId21" Type="http://schemas.openxmlformats.org/officeDocument/2006/relationships/tags" Target="../tags/tag38.xml"/><Relationship Id="rId20" Type="http://schemas.openxmlformats.org/officeDocument/2006/relationships/tags" Target="../tags/tag37.xml"/><Relationship Id="rId2" Type="http://schemas.openxmlformats.org/officeDocument/2006/relationships/tags" Target="../tags/tag19.xml"/><Relationship Id="rId19" Type="http://schemas.openxmlformats.org/officeDocument/2006/relationships/tags" Target="../tags/tag36.xml"/><Relationship Id="rId18" Type="http://schemas.openxmlformats.org/officeDocument/2006/relationships/tags" Target="../tags/tag35.xml"/><Relationship Id="rId17" Type="http://schemas.openxmlformats.org/officeDocument/2006/relationships/tags" Target="../tags/tag34.xml"/><Relationship Id="rId16" Type="http://schemas.openxmlformats.org/officeDocument/2006/relationships/tags" Target="../tags/tag33.xml"/><Relationship Id="rId15" Type="http://schemas.openxmlformats.org/officeDocument/2006/relationships/tags" Target="../tags/tag32.xml"/><Relationship Id="rId14" Type="http://schemas.openxmlformats.org/officeDocument/2006/relationships/tags" Target="../tags/tag31.xml"/><Relationship Id="rId13" Type="http://schemas.openxmlformats.org/officeDocument/2006/relationships/tags" Target="../tags/tag30.xml"/><Relationship Id="rId12" Type="http://schemas.openxmlformats.org/officeDocument/2006/relationships/tags" Target="../tags/tag29.xml"/><Relationship Id="rId11" Type="http://schemas.openxmlformats.org/officeDocument/2006/relationships/tags" Target="../tags/tag28.xml"/><Relationship Id="rId10" Type="http://schemas.openxmlformats.org/officeDocument/2006/relationships/tags" Target="../tags/tag27.xml"/><Relationship Id="rId1" Type="http://schemas.openxmlformats.org/officeDocument/2006/relationships/tags" Target="../tags/tag18.xml"/></Relationships>
</file>

<file path=ppt/slides/_rels/slide19.xml.rels><?xml version="1.0" encoding="UTF-8" standalone="yes"?>
<Relationships xmlns="http://schemas.openxmlformats.org/package/2006/relationships"><Relationship Id="rId9" Type="http://schemas.openxmlformats.org/officeDocument/2006/relationships/tags" Target="../tags/tag53.xml"/><Relationship Id="rId8" Type="http://schemas.openxmlformats.org/officeDocument/2006/relationships/tags" Target="../tags/tag52.xml"/><Relationship Id="rId7" Type="http://schemas.openxmlformats.org/officeDocument/2006/relationships/tags" Target="../tags/tag51.xml"/><Relationship Id="rId6" Type="http://schemas.openxmlformats.org/officeDocument/2006/relationships/tags" Target="../tags/tag50.xml"/><Relationship Id="rId5" Type="http://schemas.openxmlformats.org/officeDocument/2006/relationships/tags" Target="../tags/tag49.xml"/><Relationship Id="rId4" Type="http://schemas.openxmlformats.org/officeDocument/2006/relationships/tags" Target="../tags/tag48.xml"/><Relationship Id="rId3" Type="http://schemas.openxmlformats.org/officeDocument/2006/relationships/tags" Target="../tags/tag47.xml"/><Relationship Id="rId28" Type="http://schemas.openxmlformats.org/officeDocument/2006/relationships/slideLayout" Target="../slideLayouts/slideLayout6.xml"/><Relationship Id="rId27" Type="http://schemas.openxmlformats.org/officeDocument/2006/relationships/tags" Target="../tags/tag71.xml"/><Relationship Id="rId26" Type="http://schemas.openxmlformats.org/officeDocument/2006/relationships/tags" Target="../tags/tag70.xml"/><Relationship Id="rId25" Type="http://schemas.openxmlformats.org/officeDocument/2006/relationships/tags" Target="../tags/tag69.xml"/><Relationship Id="rId24" Type="http://schemas.openxmlformats.org/officeDocument/2006/relationships/tags" Target="../tags/tag68.xml"/><Relationship Id="rId23" Type="http://schemas.openxmlformats.org/officeDocument/2006/relationships/tags" Target="../tags/tag67.xml"/><Relationship Id="rId22" Type="http://schemas.openxmlformats.org/officeDocument/2006/relationships/tags" Target="../tags/tag66.xml"/><Relationship Id="rId21" Type="http://schemas.openxmlformats.org/officeDocument/2006/relationships/tags" Target="../tags/tag65.xml"/><Relationship Id="rId20" Type="http://schemas.openxmlformats.org/officeDocument/2006/relationships/tags" Target="../tags/tag64.xml"/><Relationship Id="rId2" Type="http://schemas.openxmlformats.org/officeDocument/2006/relationships/tags" Target="../tags/tag46.xml"/><Relationship Id="rId19" Type="http://schemas.openxmlformats.org/officeDocument/2006/relationships/tags" Target="../tags/tag63.xml"/><Relationship Id="rId18" Type="http://schemas.openxmlformats.org/officeDocument/2006/relationships/tags" Target="../tags/tag62.xml"/><Relationship Id="rId17" Type="http://schemas.openxmlformats.org/officeDocument/2006/relationships/tags" Target="../tags/tag61.xml"/><Relationship Id="rId16" Type="http://schemas.openxmlformats.org/officeDocument/2006/relationships/tags" Target="../tags/tag60.xml"/><Relationship Id="rId15" Type="http://schemas.openxmlformats.org/officeDocument/2006/relationships/tags" Target="../tags/tag59.xml"/><Relationship Id="rId14" Type="http://schemas.openxmlformats.org/officeDocument/2006/relationships/tags" Target="../tags/tag58.xml"/><Relationship Id="rId13" Type="http://schemas.openxmlformats.org/officeDocument/2006/relationships/tags" Target="../tags/tag57.xml"/><Relationship Id="rId12" Type="http://schemas.openxmlformats.org/officeDocument/2006/relationships/tags" Target="../tags/tag56.xml"/><Relationship Id="rId11" Type="http://schemas.openxmlformats.org/officeDocument/2006/relationships/tags" Target="../tags/tag55.xml"/><Relationship Id="rId10" Type="http://schemas.openxmlformats.org/officeDocument/2006/relationships/tags" Target="../tags/tag54.xml"/><Relationship Id="rId1" Type="http://schemas.openxmlformats.org/officeDocument/2006/relationships/tags" Target="../tags/tag45.xml"/></Relationships>
</file>

<file path=ppt/slides/_rels/slide20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6.xml"/><Relationship Id="rId5" Type="http://schemas.openxmlformats.org/officeDocument/2006/relationships/tags" Target="../tags/tag76.xml"/><Relationship Id="rId4" Type="http://schemas.openxmlformats.org/officeDocument/2006/relationships/tags" Target="../tags/tag75.xml"/><Relationship Id="rId3" Type="http://schemas.openxmlformats.org/officeDocument/2006/relationships/tags" Target="../tags/tag74.xml"/><Relationship Id="rId2" Type="http://schemas.openxmlformats.org/officeDocument/2006/relationships/tags" Target="../tags/tag73.xml"/><Relationship Id="rId1" Type="http://schemas.openxmlformats.org/officeDocument/2006/relationships/tags" Target="../tags/tag7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6.xml"/><Relationship Id="rId4" Type="http://schemas.openxmlformats.org/officeDocument/2006/relationships/tags" Target="../tags/tag80.xml"/><Relationship Id="rId3" Type="http://schemas.openxmlformats.org/officeDocument/2006/relationships/tags" Target="../tags/tag79.xml"/><Relationship Id="rId2" Type="http://schemas.openxmlformats.org/officeDocument/2006/relationships/tags" Target="../tags/tag78.xml"/><Relationship Id="rId1" Type="http://schemas.openxmlformats.org/officeDocument/2006/relationships/tags" Target="../tags/tag7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tags" Target="../tags/tag81.xml"/></Relationships>
</file>

<file path=ppt/slides/_rels/slide27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6.xml"/><Relationship Id="rId4" Type="http://schemas.openxmlformats.org/officeDocument/2006/relationships/tags" Target="../tags/tag84.xml"/><Relationship Id="rId3" Type="http://schemas.openxmlformats.org/officeDocument/2006/relationships/tags" Target="../tags/tag83.xml"/><Relationship Id="rId2" Type="http://schemas.openxmlformats.org/officeDocument/2006/relationships/image" Target="../media/image11.png"/><Relationship Id="rId1" Type="http://schemas.openxmlformats.org/officeDocument/2006/relationships/tags" Target="../tags/tag8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tags" Target="../tags/tag85.xml"/><Relationship Id="rId1" Type="http://schemas.openxmlformats.org/officeDocument/2006/relationships/image" Target="../media/image12.emf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.xml"/><Relationship Id="rId7" Type="http://schemas.openxmlformats.org/officeDocument/2006/relationships/tags" Target="../tags/tag91.xml"/><Relationship Id="rId6" Type="http://schemas.openxmlformats.org/officeDocument/2006/relationships/tags" Target="../tags/tag90.xml"/><Relationship Id="rId5" Type="http://schemas.openxmlformats.org/officeDocument/2006/relationships/tags" Target="../tags/tag89.xml"/><Relationship Id="rId4" Type="http://schemas.openxmlformats.org/officeDocument/2006/relationships/tags" Target="../tags/tag88.xml"/><Relationship Id="rId3" Type="http://schemas.openxmlformats.org/officeDocument/2006/relationships/tags" Target="../tags/tag87.xml"/><Relationship Id="rId2" Type="http://schemas.openxmlformats.org/officeDocument/2006/relationships/image" Target="../media/image13.png"/><Relationship Id="rId1" Type="http://schemas.openxmlformats.org/officeDocument/2006/relationships/tags" Target="../tags/tag86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tags" Target="../tags/tag93.xml"/><Relationship Id="rId1" Type="http://schemas.openxmlformats.org/officeDocument/2006/relationships/tags" Target="../tags/tag92.xml"/></Relationships>
</file>

<file path=ppt/slides/_rels/slide3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6.xml"/><Relationship Id="rId3" Type="http://schemas.openxmlformats.org/officeDocument/2006/relationships/tags" Target="../tags/tag95.xml"/><Relationship Id="rId2" Type="http://schemas.openxmlformats.org/officeDocument/2006/relationships/tags" Target="../tags/tag94.xml"/><Relationship Id="rId1" Type="http://schemas.openxmlformats.org/officeDocument/2006/relationships/image" Target="../media/image14.emf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6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6.xml"/><Relationship Id="rId5" Type="http://schemas.openxmlformats.org/officeDocument/2006/relationships/tags" Target="../tags/tag99.xml"/><Relationship Id="rId4" Type="http://schemas.openxmlformats.org/officeDocument/2006/relationships/tags" Target="../tags/tag98.xml"/><Relationship Id="rId3" Type="http://schemas.openxmlformats.org/officeDocument/2006/relationships/tags" Target="../tags/tag97.xml"/><Relationship Id="rId2" Type="http://schemas.openxmlformats.org/officeDocument/2006/relationships/tags" Target="../tags/tag96.xml"/><Relationship Id="rId1" Type="http://schemas.openxmlformats.org/officeDocument/2006/relationships/image" Target="../media/image15.emf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tags" Target="../tags/tag100.xml"/><Relationship Id="rId1" Type="http://schemas.openxmlformats.org/officeDocument/2006/relationships/image" Target="../media/image16.emf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tags" Target="../tags/tag101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tags" Target="../tags/tag102.xml"/><Relationship Id="rId1" Type="http://schemas.openxmlformats.org/officeDocument/2006/relationships/image" Target="../media/image17.emf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18.emf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image" Target="../media/image19.emf"/><Relationship Id="rId1" Type="http://schemas.openxmlformats.org/officeDocument/2006/relationships/tags" Target="../tags/tag103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tags" Target="../tags/tag104.xml"/><Relationship Id="rId1" Type="http://schemas.openxmlformats.org/officeDocument/2006/relationships/image" Target="../media/image20.emf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tags" Target="../tags/tag105.xml"/><Relationship Id="rId1" Type="http://schemas.openxmlformats.org/officeDocument/2006/relationships/image" Target="../media/image21.emf"/></Relationships>
</file>

<file path=ppt/slides/_rels/slide45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2.vml"/><Relationship Id="rId3" Type="http://schemas.openxmlformats.org/officeDocument/2006/relationships/slideLayout" Target="../slideLayouts/slideLayout6.xml"/><Relationship Id="rId2" Type="http://schemas.openxmlformats.org/officeDocument/2006/relationships/image" Target="../media/image22.emf"/><Relationship Id="rId1" Type="http://schemas.openxmlformats.org/officeDocument/2006/relationships/oleObject" Target="../embeddings/oleObject2.bin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image" Target="../media/image23.png"/><Relationship Id="rId1" Type="http://schemas.openxmlformats.org/officeDocument/2006/relationships/hyperlink" Target="http://spark.apache.org/" TargetMode="Externa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24.png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tags" Target="../tags/tag107.xml"/><Relationship Id="rId1" Type="http://schemas.openxmlformats.org/officeDocument/2006/relationships/tags" Target="../tags/tag106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b="1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第</a:t>
            </a:r>
            <a:r>
              <a:rPr lang="en-US" altLang="zh-CN" b="1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10</a:t>
            </a:r>
            <a:r>
              <a:rPr lang="zh-CN" altLang="en-US" b="1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章	</a:t>
            </a:r>
            <a:r>
              <a:rPr lang="en-US" altLang="zh-CN" b="1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Spark</a:t>
            </a:r>
            <a:endParaRPr lang="en-US" altLang="zh-CN" b="1" dirty="0">
              <a:solidFill>
                <a:srgbClr val="000000"/>
              </a:solidFill>
              <a:effectLst/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57CE09-A6DF-4F65-B9AD-CB157D51E68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92175"/>
          </a:xfrm>
        </p:spPr>
        <p:txBody>
          <a:bodyPr/>
          <a:lstStyle/>
          <a:p>
            <a:r>
              <a:rPr lang="zh-CN" altLang="en-US" sz="4800" b="1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第</a:t>
            </a:r>
            <a:r>
              <a:rPr lang="en-US" altLang="zh-CN" sz="4800" b="1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10</a:t>
            </a:r>
            <a:r>
              <a:rPr lang="zh-CN" altLang="en-US" sz="4800" b="1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章	</a:t>
            </a:r>
            <a:r>
              <a:rPr lang="en-US" altLang="zh-CN" sz="4800" b="1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Spark</a:t>
            </a:r>
            <a:endParaRPr lang="en-US" altLang="zh-CN" sz="4800" b="1" dirty="0">
              <a:solidFill>
                <a:srgbClr val="000000"/>
              </a:solidFill>
              <a:effectLst/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57CE09-A6DF-4F65-B9AD-CB157D51E68C}" type="slidenum">
              <a:rPr lang="zh-CN" altLang="en-US" smtClean="0"/>
            </a:fld>
            <a:endParaRPr lang="zh-CN" altLang="en-US"/>
          </a:p>
        </p:txBody>
      </p:sp>
      <p:sp>
        <p:nvSpPr>
          <p:cNvPr id="5" name="圆角矩形 4"/>
          <p:cNvSpPr/>
          <p:nvPr/>
        </p:nvSpPr>
        <p:spPr>
          <a:xfrm>
            <a:off x="534670" y="2572385"/>
            <a:ext cx="2787650" cy="590550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/>
              <a:t>10.1 </a:t>
            </a:r>
            <a:r>
              <a:rPr lang="zh-CN" altLang="en-US" sz="2800"/>
              <a:t>概述</a:t>
            </a:r>
            <a:endParaRPr lang="zh-CN" altLang="en-US" sz="2800"/>
          </a:p>
        </p:txBody>
      </p:sp>
      <p:sp>
        <p:nvSpPr>
          <p:cNvPr id="6" name="圆角矩形 5"/>
          <p:cNvSpPr/>
          <p:nvPr/>
        </p:nvSpPr>
        <p:spPr>
          <a:xfrm>
            <a:off x="4309745" y="1553210"/>
            <a:ext cx="2787650" cy="590550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/>
              <a:t>10.2 </a:t>
            </a:r>
            <a:r>
              <a:rPr lang="zh-CN" altLang="en-US" sz="2800"/>
              <a:t>生态系统</a:t>
            </a:r>
            <a:endParaRPr lang="zh-CN" altLang="en-US" sz="2800"/>
          </a:p>
        </p:txBody>
      </p:sp>
      <p:sp>
        <p:nvSpPr>
          <p:cNvPr id="7" name="圆角矩形 6"/>
          <p:cNvSpPr/>
          <p:nvPr/>
        </p:nvSpPr>
        <p:spPr>
          <a:xfrm>
            <a:off x="8168005" y="2489200"/>
            <a:ext cx="2787650" cy="590550"/>
          </a:xfrm>
          <a:prstGeom prst="roundRect">
            <a:avLst/>
          </a:prstGeom>
          <a:solidFill>
            <a:srgbClr val="FFFF00"/>
          </a:solidFill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2800" dirty="0"/>
              <a:t>10.3 </a:t>
            </a:r>
            <a:r>
              <a:rPr lang="zh-CN" altLang="en-US" sz="2800" dirty="0"/>
              <a:t>运行架构</a:t>
            </a:r>
            <a:endParaRPr lang="zh-CN" altLang="en-US" sz="2800" dirty="0"/>
          </a:p>
        </p:txBody>
      </p:sp>
      <p:sp>
        <p:nvSpPr>
          <p:cNvPr id="8" name="圆角矩形 7"/>
          <p:cNvSpPr/>
          <p:nvPr/>
        </p:nvSpPr>
        <p:spPr>
          <a:xfrm>
            <a:off x="8168005" y="4046855"/>
            <a:ext cx="2787015" cy="894715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2800"/>
              <a:t>10.4 </a:t>
            </a:r>
            <a:r>
              <a:rPr lang="zh-CN" altLang="en-US" sz="2800"/>
              <a:t>部署和应用方式</a:t>
            </a:r>
            <a:endParaRPr lang="zh-CN" altLang="en-US" sz="2800"/>
          </a:p>
        </p:txBody>
      </p:sp>
      <p:sp>
        <p:nvSpPr>
          <p:cNvPr id="10" name="圆角矩形 9"/>
          <p:cNvSpPr/>
          <p:nvPr/>
        </p:nvSpPr>
        <p:spPr>
          <a:xfrm>
            <a:off x="477520" y="4351655"/>
            <a:ext cx="2910205" cy="590550"/>
          </a:xfrm>
          <a:prstGeom prst="roundRect">
            <a:avLst/>
          </a:prstGeom>
          <a:solidFill>
            <a:schemeClr val="bg2"/>
          </a:solidFill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2800"/>
              <a:t>10.5</a:t>
            </a:r>
            <a:r>
              <a:rPr lang="zh-CN" altLang="en-US" sz="2800"/>
              <a:t>编程实践</a:t>
            </a:r>
            <a:endParaRPr lang="zh-CN" altLang="en-US" sz="2800"/>
          </a:p>
        </p:txBody>
      </p:sp>
      <p:pic>
        <p:nvPicPr>
          <p:cNvPr id="100" name="图片 99"/>
          <p:cNvPicPr/>
          <p:nvPr/>
        </p:nvPicPr>
        <p:blipFill>
          <a:blip r:embed="rId1"/>
          <a:srcRect l="7964" t="11253" r="24112" b="17440"/>
          <a:stretch>
            <a:fillRect/>
          </a:stretch>
        </p:blipFill>
        <p:spPr>
          <a:xfrm>
            <a:off x="3890645" y="2978785"/>
            <a:ext cx="3802380" cy="196278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ldLvl="0" animBg="1"/>
      <p:bldP spid="5" grpId="1" animBg="1"/>
      <p:bldP spid="6" grpId="0" bldLvl="0" animBg="1"/>
      <p:bldP spid="6" grpId="1" animBg="1"/>
      <p:bldP spid="7" grpId="0" bldLvl="0" animBg="1"/>
      <p:bldP spid="7" grpId="1" animBg="1"/>
      <p:bldP spid="8" grpId="0" bldLvl="0" animBg="1"/>
      <p:bldP spid="8" grpId="1" animBg="1"/>
      <p:bldP spid="10" grpId="0" bldLvl="0" animBg="1"/>
      <p:bldP spid="10" grpId="1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lstStyle/>
          <a:p>
            <a:r>
              <a:rPr lang="en-US" altLang="zh-CN" b="1" dirty="0"/>
              <a:t>10.1	</a:t>
            </a:r>
            <a:r>
              <a:rPr lang="zh-CN" altLang="en-US" b="1" dirty="0"/>
              <a:t>概述</a:t>
            </a:r>
            <a:endParaRPr lang="zh-CN" altLang="en-US" b="1" dirty="0"/>
          </a:p>
        </p:txBody>
      </p:sp>
      <p:sp>
        <p:nvSpPr>
          <p:cNvPr id="14339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>
            <a:normAutofit/>
          </a:bodyPr>
          <a:lstStyle/>
          <a:p>
            <a:pPr marL="0" indent="0">
              <a:lnSpc>
                <a:spcPct val="200000"/>
              </a:lnSpc>
              <a:buNone/>
            </a:pPr>
            <a:r>
              <a:rPr lang="en-US" altLang="zh-CN" sz="3300" dirty="0"/>
              <a:t>10.1.1	Spark</a:t>
            </a:r>
            <a:r>
              <a:rPr lang="zh-CN" altLang="en-US" sz="3300" dirty="0"/>
              <a:t>简介</a:t>
            </a:r>
            <a:endParaRPr lang="zh-CN" altLang="en-US" sz="3300" dirty="0"/>
          </a:p>
          <a:p>
            <a:pPr marL="0" indent="0">
              <a:lnSpc>
                <a:spcPct val="200000"/>
              </a:lnSpc>
              <a:buNone/>
            </a:pPr>
            <a:r>
              <a:rPr lang="en-US" altLang="zh-CN" sz="3300" dirty="0"/>
              <a:t>10.1.2	Scala</a:t>
            </a:r>
            <a:r>
              <a:rPr lang="zh-CN" altLang="en-US" sz="3300" dirty="0"/>
              <a:t>简介</a:t>
            </a:r>
            <a:endParaRPr lang="zh-CN" altLang="en-US" sz="3300" dirty="0"/>
          </a:p>
          <a:p>
            <a:pPr marL="0" indent="0">
              <a:lnSpc>
                <a:spcPct val="200000"/>
              </a:lnSpc>
              <a:buNone/>
            </a:pPr>
            <a:r>
              <a:rPr lang="en-US" altLang="zh-CN" sz="3300" dirty="0">
                <a:sym typeface="+mn-ea"/>
              </a:rPr>
              <a:t>10.1.3	Spark</a:t>
            </a:r>
            <a:r>
              <a:rPr lang="zh-CN" altLang="en-US" sz="3300" dirty="0">
                <a:sym typeface="+mn-ea"/>
              </a:rPr>
              <a:t>与</a:t>
            </a:r>
            <a:r>
              <a:rPr lang="en-US" altLang="zh-CN" sz="3300" dirty="0">
                <a:sym typeface="+mn-ea"/>
              </a:rPr>
              <a:t>Hadoop</a:t>
            </a:r>
            <a:r>
              <a:rPr lang="zh-CN" altLang="en-US" sz="3300" dirty="0">
                <a:sym typeface="+mn-ea"/>
              </a:rPr>
              <a:t>的对比</a:t>
            </a:r>
            <a:endParaRPr lang="zh-CN" altLang="en-US" sz="2400" dirty="0"/>
          </a:p>
          <a:p>
            <a:endParaRPr lang="zh-CN" altLang="en-US" sz="2400" dirty="0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57CE09-A6DF-4F65-B9AD-CB157D51E68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>
                <a:sym typeface="+mn-ea"/>
              </a:rPr>
              <a:t>10.1.1	Spark</a:t>
            </a:r>
            <a:r>
              <a:rPr lang="zh-CN" altLang="en-US" b="1" dirty="0">
                <a:sym typeface="+mn-ea"/>
              </a:rPr>
              <a:t>简介</a:t>
            </a:r>
            <a:endParaRPr lang="zh-CN" altLang="en-US" b="1" dirty="0">
              <a:sym typeface="+mn-ea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57CE09-A6DF-4F65-B9AD-CB157D51E68C}" type="slidenum">
              <a:rPr lang="zh-CN" altLang="en-US" smtClean="0"/>
            </a:fld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2612390" y="1420495"/>
            <a:ext cx="7237095" cy="658495"/>
          </a:xfrm>
          <a:prstGeom prst="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3200"/>
              <a:t>基于内存计算的大数据并行计算框架</a:t>
            </a:r>
            <a:endParaRPr lang="zh-CN" altLang="en-US" sz="3200"/>
          </a:p>
        </p:txBody>
      </p:sp>
      <p:pic>
        <p:nvPicPr>
          <p:cNvPr id="101" name="图片 100"/>
          <p:cNvPicPr/>
          <p:nvPr/>
        </p:nvPicPr>
        <p:blipFill>
          <a:blip r:embed="rId1"/>
          <a:srcRect l="11873" t="32908" r="11045" b="33384"/>
          <a:stretch>
            <a:fillRect/>
          </a:stretch>
        </p:blipFill>
        <p:spPr>
          <a:xfrm>
            <a:off x="1061720" y="2234565"/>
            <a:ext cx="3691890" cy="118046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5" name="文本框 4"/>
          <p:cNvSpPr txBox="1"/>
          <p:nvPr/>
        </p:nvSpPr>
        <p:spPr>
          <a:xfrm>
            <a:off x="1257300" y="3570605"/>
            <a:ext cx="3300730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zh-CN" sz="2400">
                <a:sym typeface="+mn-ea"/>
              </a:rPr>
              <a:t>AMP</a:t>
            </a:r>
            <a:r>
              <a:rPr lang="zh-CN" altLang="en-US" sz="2400">
                <a:sym typeface="+mn-ea"/>
              </a:rPr>
              <a:t>实验室</a:t>
            </a:r>
            <a:r>
              <a:rPr lang="en-US" altLang="zh-CN" sz="2400">
                <a:sym typeface="+mn-ea"/>
              </a:rPr>
              <a:t> 2009</a:t>
            </a:r>
            <a:r>
              <a:rPr lang="zh-CN" altLang="en-US" sz="2400">
                <a:sym typeface="+mn-ea"/>
              </a:rPr>
              <a:t>开发</a:t>
            </a:r>
            <a:endParaRPr lang="zh-CN" altLang="en-US" sz="2400">
              <a:sym typeface="+mn-ea"/>
            </a:endParaRPr>
          </a:p>
        </p:txBody>
      </p:sp>
      <p:pic>
        <p:nvPicPr>
          <p:cNvPr id="102" name="图片 101"/>
          <p:cNvPicPr/>
          <p:nvPr/>
        </p:nvPicPr>
        <p:blipFill>
          <a:blip r:embed="rId2"/>
          <a:stretch>
            <a:fillRect/>
          </a:stretch>
        </p:blipFill>
        <p:spPr>
          <a:xfrm>
            <a:off x="1790700" y="4114800"/>
            <a:ext cx="1727200" cy="160274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8" name="文本框 7"/>
          <p:cNvSpPr txBox="1"/>
          <p:nvPr/>
        </p:nvSpPr>
        <p:spPr>
          <a:xfrm>
            <a:off x="1348740" y="5895975"/>
            <a:ext cx="2516505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sz="2400">
                <a:sym typeface="+mn-ea"/>
              </a:rPr>
              <a:t>2013</a:t>
            </a:r>
            <a:r>
              <a:rPr lang="zh-CN" altLang="en-US" sz="2400">
                <a:sym typeface="+mn-ea"/>
              </a:rPr>
              <a:t>年</a:t>
            </a:r>
            <a:r>
              <a:rPr lang="en-US" altLang="zh-CN" sz="2400">
                <a:sym typeface="+mn-ea"/>
              </a:rPr>
              <a:t> </a:t>
            </a:r>
            <a:r>
              <a:rPr lang="zh-CN" altLang="en-US" sz="2400">
                <a:sym typeface="+mn-ea"/>
              </a:rPr>
              <a:t>迅速发展</a:t>
            </a:r>
            <a:endParaRPr lang="zh-CN" altLang="en-US" sz="2400">
              <a:sym typeface="+mn-ea"/>
            </a:endParaRPr>
          </a:p>
        </p:txBody>
      </p:sp>
      <p:pic>
        <p:nvPicPr>
          <p:cNvPr id="103" name="图片 102"/>
          <p:cNvPicPr/>
          <p:nvPr/>
        </p:nvPicPr>
        <p:blipFill>
          <a:blip r:embed="rId3"/>
          <a:stretch>
            <a:fillRect/>
          </a:stretch>
        </p:blipFill>
        <p:spPr>
          <a:xfrm>
            <a:off x="6045200" y="2788920"/>
            <a:ext cx="4762500" cy="28575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9" name="文本框 8"/>
          <p:cNvSpPr txBox="1"/>
          <p:nvPr/>
        </p:nvSpPr>
        <p:spPr>
          <a:xfrm>
            <a:off x="6727190" y="5450205"/>
            <a:ext cx="3633470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2400">
                <a:sym typeface="+mn-ea"/>
              </a:rPr>
              <a:t>三大分布式计算系统之一</a:t>
            </a:r>
            <a:endParaRPr lang="zh-CN" altLang="en-US" sz="2400"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5" grpId="1"/>
      <p:bldP spid="8" grpId="0"/>
      <p:bldP spid="8" grpId="1"/>
      <p:bldP spid="9" grpId="0"/>
      <p:bldP spid="9" grpId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>
                <a:sym typeface="+mn-ea"/>
              </a:rPr>
              <a:t>10.1.1	Spark</a:t>
            </a:r>
            <a:r>
              <a:rPr lang="zh-CN" altLang="en-US" b="1" dirty="0">
                <a:sym typeface="+mn-ea"/>
              </a:rPr>
              <a:t>简介</a:t>
            </a:r>
            <a:endParaRPr lang="zh-CN" altLang="en-US" b="1" dirty="0">
              <a:sym typeface="+mn-ea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57CE09-A6DF-4F65-B9AD-CB157D51E68C}" type="slidenum">
              <a:rPr lang="zh-CN" altLang="en-US" smtClean="0"/>
            </a:fld>
            <a:endParaRPr lang="zh-CN" altLang="en-US"/>
          </a:p>
        </p:txBody>
      </p:sp>
      <p:sp>
        <p:nvSpPr>
          <p:cNvPr id="10" name="文本框 9"/>
          <p:cNvSpPr txBox="1"/>
          <p:nvPr/>
        </p:nvSpPr>
        <p:spPr>
          <a:xfrm>
            <a:off x="1024890" y="1553845"/>
            <a:ext cx="7998460" cy="82994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2400"/>
              <a:t>Sort Benchmark 全球排序竞赛</a:t>
            </a:r>
            <a:r>
              <a:rPr lang="en-US" altLang="zh-CN" sz="2400"/>
              <a:t>, </a:t>
            </a:r>
            <a:r>
              <a:rPr lang="zh-CN" altLang="en-US" sz="2400">
                <a:sym typeface="+mn-ea"/>
              </a:rPr>
              <a:t>100TB 的数据排序</a:t>
            </a:r>
            <a:endParaRPr lang="zh-CN" altLang="en-US" sz="2400"/>
          </a:p>
          <a:p>
            <a:r>
              <a:rPr lang="zh-CN" altLang="en-US" sz="2400"/>
              <a:t>http://sortbenchmark.org/</a:t>
            </a:r>
            <a:endParaRPr lang="zh-CN" altLang="en-US" sz="2400"/>
          </a:p>
        </p:txBody>
      </p:sp>
      <p:graphicFrame>
        <p:nvGraphicFramePr>
          <p:cNvPr id="11" name="表格 10"/>
          <p:cNvGraphicFramePr/>
          <p:nvPr>
            <p:custDataLst>
              <p:tags r:id="rId1"/>
            </p:custDataLst>
          </p:nvPr>
        </p:nvGraphicFramePr>
        <p:xfrm>
          <a:off x="2686685" y="2504440"/>
          <a:ext cx="5473700" cy="182308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63065"/>
                <a:gridCol w="1604010"/>
                <a:gridCol w="2206625"/>
              </a:tblGrid>
              <a:tr h="46863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zh-CN" altLang="en-US" sz="2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2400"/>
                        <a:t>年份</a:t>
                      </a:r>
                      <a:endParaRPr lang="zh-CN" altLang="en-US" sz="2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2400"/>
                        <a:t>时间</a:t>
                      </a:r>
                      <a:r>
                        <a:rPr lang="en-US" altLang="zh-CN" sz="2400"/>
                        <a:t>(s)</a:t>
                      </a:r>
                      <a:endParaRPr lang="en-US" altLang="zh-CN" sz="2400"/>
                    </a:p>
                  </a:txBody>
                  <a:tcPr anchor="ctr"/>
                </a:tc>
              </a:tr>
              <a:tr h="67691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2400"/>
                        <a:t>Hadoop</a:t>
                      </a:r>
                      <a:endParaRPr lang="en-US" altLang="zh-CN" sz="2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2400">
                          <a:sym typeface="+mn-ea"/>
                        </a:rPr>
                        <a:t>2013</a:t>
                      </a:r>
                      <a:endParaRPr lang="en-US" altLang="zh-CN" sz="2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2400"/>
                        <a:t>4328</a:t>
                      </a:r>
                      <a:endParaRPr lang="en-US" altLang="zh-CN" sz="2400"/>
                    </a:p>
                  </a:txBody>
                  <a:tcPr anchor="ctr"/>
                </a:tc>
              </a:tr>
              <a:tr h="67754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2400"/>
                        <a:t>Spark </a:t>
                      </a:r>
                      <a:endParaRPr lang="en-US" altLang="zh-CN" sz="2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2400">
                          <a:sym typeface="+mn-ea"/>
                        </a:rPr>
                        <a:t>2014</a:t>
                      </a:r>
                      <a:endParaRPr lang="en-US" altLang="zh-CN" sz="2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2400"/>
                        <a:t>1406</a:t>
                      </a:r>
                      <a:endParaRPr lang="en-US" altLang="zh-CN" sz="2400"/>
                    </a:p>
                  </a:txBody>
                  <a:tcPr anchor="ctr"/>
                </a:tc>
              </a:tr>
            </a:tbl>
          </a:graphicData>
        </a:graphic>
      </p:graphicFrame>
      <p:graphicFrame>
        <p:nvGraphicFramePr>
          <p:cNvPr id="6" name="表格 5"/>
          <p:cNvGraphicFramePr/>
          <p:nvPr>
            <p:custDataLst>
              <p:tags r:id="rId2"/>
            </p:custDataLst>
          </p:nvPr>
        </p:nvGraphicFramePr>
        <p:xfrm>
          <a:off x="2686685" y="4594860"/>
          <a:ext cx="5473700" cy="2028825"/>
        </p:xfrm>
        <a:graphic>
          <a:graphicData uri="http://schemas.openxmlformats.org/drawingml/2006/table">
            <a:tbl>
              <a:tblPr firstRow="1" bandRow="1">
                <a:tableStyleId>{0505E3EF-67EA-436B-97B2-0124C06EBD24}</a:tableStyleId>
              </a:tblPr>
              <a:tblGrid>
                <a:gridCol w="1663065"/>
                <a:gridCol w="1604010"/>
                <a:gridCol w="2206625"/>
              </a:tblGrid>
              <a:tr h="6756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2400" b="0"/>
                        <a:t>百度</a:t>
                      </a:r>
                      <a:endParaRPr lang="zh-CN" altLang="en-US" sz="2400" b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2400" b="0"/>
                        <a:t>2014</a:t>
                      </a:r>
                      <a:endParaRPr lang="en-US" altLang="zh-CN" sz="2400" b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2400" b="0"/>
                        <a:t>716</a:t>
                      </a:r>
                      <a:endParaRPr lang="en-US" altLang="zh-CN" sz="2400" b="0"/>
                    </a:p>
                  </a:txBody>
                  <a:tcPr anchor="ctr"/>
                </a:tc>
              </a:tr>
              <a:tr h="6756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2400"/>
                        <a:t>阿里巴巴</a:t>
                      </a:r>
                      <a:endParaRPr lang="zh-CN" altLang="en-US" sz="2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2400"/>
                        <a:t>2015</a:t>
                      </a:r>
                      <a:endParaRPr lang="en-US" altLang="zh-CN" sz="2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2400"/>
                        <a:t>329</a:t>
                      </a:r>
                      <a:endParaRPr lang="en-US" altLang="zh-CN" sz="2400"/>
                    </a:p>
                  </a:txBody>
                  <a:tcPr anchor="ctr"/>
                </a:tc>
              </a:tr>
              <a:tr h="67754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2400"/>
                        <a:t>腾讯</a:t>
                      </a:r>
                      <a:endParaRPr lang="zh-CN" altLang="en-US" sz="2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2400"/>
                        <a:t>2016</a:t>
                      </a:r>
                      <a:endParaRPr lang="en-US" altLang="zh-CN" sz="2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2400"/>
                        <a:t>98.8</a:t>
                      </a:r>
                      <a:endParaRPr lang="en-US" altLang="zh-CN" sz="2400"/>
                    </a:p>
                  </a:txBody>
                  <a:tcPr anchor="ctr"/>
                </a:tc>
              </a:tr>
            </a:tbl>
          </a:graphicData>
        </a:graphic>
      </p:graphicFrame>
      <p:sp>
        <p:nvSpPr>
          <p:cNvPr id="12" name="文本框 11"/>
          <p:cNvSpPr txBox="1"/>
          <p:nvPr/>
        </p:nvSpPr>
        <p:spPr>
          <a:xfrm>
            <a:off x="8382635" y="3497580"/>
            <a:ext cx="3033395" cy="82994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lvl="1" indent="0" eaLnBrk="1" hangingPunct="1">
              <a:buNone/>
            </a:pPr>
            <a:r>
              <a:rPr lang="en-US" altLang="zh-CN" sz="2400" dirty="0">
                <a:latin typeface="Arial" panose="020B0604020202020204" pitchFamily="34" charset="0"/>
                <a:sym typeface="+mn-ea"/>
              </a:rPr>
              <a:t>1/10</a:t>
            </a:r>
            <a:r>
              <a:rPr lang="zh-CN" altLang="en-US" sz="2400" dirty="0">
                <a:latin typeface="Arial" panose="020B0604020202020204" pitchFamily="34" charset="0"/>
                <a:sym typeface="+mn-ea"/>
              </a:rPr>
              <a:t>的计算资源</a:t>
            </a:r>
            <a:endParaRPr lang="zh-CN" altLang="en-US" sz="2400" dirty="0">
              <a:latin typeface="Arial" panose="020B0604020202020204" pitchFamily="34" charset="0"/>
              <a:sym typeface="+mn-ea"/>
            </a:endParaRPr>
          </a:p>
          <a:p>
            <a:pPr lvl="1" indent="0" eaLnBrk="1" hangingPunct="1">
              <a:buNone/>
            </a:pPr>
            <a:r>
              <a:rPr lang="zh-CN" altLang="en-US" sz="2400" dirty="0">
                <a:latin typeface="Arial" panose="020B0604020202020204" pitchFamily="34" charset="0"/>
                <a:sym typeface="+mn-ea"/>
              </a:rPr>
              <a:t>快</a:t>
            </a:r>
            <a:r>
              <a:rPr lang="en-US" altLang="zh-CN" sz="2400" dirty="0">
                <a:latin typeface="Arial" panose="020B0604020202020204" pitchFamily="34" charset="0"/>
                <a:sym typeface="+mn-ea"/>
              </a:rPr>
              <a:t>3</a:t>
            </a:r>
            <a:r>
              <a:rPr lang="zh-CN" altLang="en-US" sz="2400" dirty="0">
                <a:latin typeface="Arial" panose="020B0604020202020204" pitchFamily="34" charset="0"/>
                <a:sym typeface="+mn-ea"/>
              </a:rPr>
              <a:t>倍的速度</a:t>
            </a:r>
            <a:endParaRPr lang="zh-CN" altLang="en-US" sz="2400" dirty="0">
              <a:latin typeface="Arial" panose="020B0604020202020204" pitchFamily="34" charset="0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标题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lstStyle/>
          <a:p>
            <a:r>
              <a:rPr lang="en-US" altLang="zh-CN" b="1" dirty="0"/>
              <a:t>10.1.1 Spark</a:t>
            </a:r>
            <a:r>
              <a:rPr lang="zh-CN" altLang="zh-CN" b="1" dirty="0"/>
              <a:t>简介</a:t>
            </a:r>
            <a:endParaRPr lang="zh-CN" altLang="en-US" b="1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57CE09-A6DF-4F65-B9AD-CB157D51E68C}" type="slidenum">
              <a:rPr lang="zh-CN" altLang="en-US" smtClean="0"/>
            </a:fld>
            <a:endParaRPr lang="zh-CN" altLang="en-US"/>
          </a:p>
        </p:txBody>
      </p:sp>
      <p:sp>
        <p:nvSpPr>
          <p:cNvPr id="2" name="文本框 1"/>
          <p:cNvSpPr txBox="1"/>
          <p:nvPr/>
        </p:nvSpPr>
        <p:spPr>
          <a:xfrm>
            <a:off x="949325" y="1599565"/>
            <a:ext cx="2604135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eaLnBrk="0" hangingPunct="0"/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4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个主要特点：</a:t>
            </a:r>
            <a:endParaRPr lang="zh-CN" altLang="en-US" sz="2800" dirty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027430" y="2334895"/>
            <a:ext cx="9861550" cy="413512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marL="342900" indent="-342900" eaLnBrk="0" hangingPunct="0">
              <a:buFont typeface="Arial" panose="020B0604020202020204" pitchFamily="34" charset="0"/>
              <a:buChar char="•"/>
            </a:pP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运行速度快：使用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DAG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执行引擎以支持循环数据流与内存计算</a:t>
            </a:r>
            <a:endParaRPr lang="zh-CN" altLang="en-US" sz="2400" dirty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marL="342900" indent="-342900" eaLnBrk="0" hangingPunct="0">
              <a:buFont typeface="Arial" panose="020B0604020202020204" pitchFamily="34" charset="0"/>
              <a:buChar char="•"/>
            </a:pPr>
            <a:endParaRPr lang="zh-CN" altLang="en-US" sz="2400" dirty="0">
              <a:latin typeface="Arial" panose="020B0604020202020204" pitchFamily="34" charset="0"/>
            </a:endParaRPr>
          </a:p>
          <a:p>
            <a:pPr marL="342900" indent="-342900" eaLnBrk="0" hangingPunct="0">
              <a:buFont typeface="Arial" panose="020B0604020202020204" pitchFamily="34" charset="0"/>
              <a:buChar char="•"/>
            </a:pP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容易使用：支持使用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Scala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、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Java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、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Python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和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R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语言进行编程，</a:t>
            </a:r>
            <a:endParaRPr lang="zh-CN" altLang="en-US" sz="2400" dirty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indent="0" eaLnBrk="0" hangingPunct="0">
              <a:buFont typeface="Arial" panose="020B0604020202020204" pitchFamily="34" charset="0"/>
              <a:buNone/>
            </a:pP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                       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可以通过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Spark Shell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进行交互式编程</a:t>
            </a:r>
            <a:endParaRPr lang="zh-CN" altLang="en-US" sz="2400" dirty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marL="342900" indent="-342900" eaLnBrk="0" hangingPunct="0">
              <a:buFont typeface="Arial" panose="020B0604020202020204" pitchFamily="34" charset="0"/>
              <a:buChar char="•"/>
            </a:pPr>
            <a:endParaRPr lang="zh-CN" altLang="en-US" sz="2400" dirty="0">
              <a:latin typeface="Arial" panose="020B0604020202020204" pitchFamily="34" charset="0"/>
            </a:endParaRPr>
          </a:p>
          <a:p>
            <a:pPr marL="342900" indent="-342900" eaLnBrk="0" hangingPunct="0">
              <a:buFont typeface="Arial" panose="020B0604020202020204" pitchFamily="34" charset="0"/>
              <a:buChar char="•"/>
            </a:pP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通用性：提供了完整而强大的技术栈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,</a:t>
            </a:r>
            <a:endParaRPr lang="zh-CN" altLang="en-US" sz="2400" dirty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indent="0" eaLnBrk="0" hangingPunct="0">
              <a:buFont typeface="Arial" panose="020B0604020202020204" pitchFamily="34" charset="0"/>
              <a:buNone/>
            </a:pP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                  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包括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SQL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查询、流式计算、机器学习和图算法组件</a:t>
            </a:r>
            <a:endParaRPr lang="zh-CN" altLang="en-US" sz="2400" dirty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marL="342900" indent="-342900" eaLnBrk="0" hangingPunct="0">
              <a:buFont typeface="Arial" panose="020B0604020202020204" pitchFamily="34" charset="0"/>
              <a:buChar char="•"/>
            </a:pPr>
            <a:endParaRPr lang="en-US" altLang="zh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eaLnBrk="0" hangingPunct="0">
              <a:buFont typeface="Arial" panose="020B0604020202020204" pitchFamily="34" charset="0"/>
              <a:buChar char="•"/>
            </a:pP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运行模式多样：可运行于独立的集群模式中，可运行于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Hadoop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中，也可运行于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Amazon EC2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等云环境中，并且可以访问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HDFS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、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Cassandra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、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HBase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、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Hive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等多种数据源</a:t>
            </a:r>
            <a:r>
              <a:rPr lang="zh-CN" altLang="en-US" sz="2400" dirty="0">
                <a:latin typeface="Arial" panose="020B0604020202020204" pitchFamily="34" charset="0"/>
                <a:sym typeface="+mn-ea"/>
              </a:rPr>
              <a:t> </a:t>
            </a:r>
            <a:endParaRPr lang="zh-CN" altLang="en-US" sz="2400" dirty="0">
              <a:latin typeface="Arial" panose="020B0604020202020204" pitchFamily="34" charset="0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标题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lstStyle/>
          <a:p>
            <a:r>
              <a:rPr lang="en-US" altLang="zh-CN" b="1" dirty="0"/>
              <a:t>10.1.2 Scala</a:t>
            </a:r>
            <a:r>
              <a:rPr lang="zh-CN" altLang="zh-CN" b="1" dirty="0"/>
              <a:t>简介</a:t>
            </a:r>
            <a:endParaRPr lang="zh-CN" altLang="en-US" b="1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57CE09-A6DF-4F65-B9AD-CB157D51E68C}" type="slidenum">
              <a:rPr lang="zh-CN" altLang="en-US" smtClean="0"/>
            </a:fld>
            <a:endParaRPr lang="zh-CN" altLang="en-US"/>
          </a:p>
        </p:txBody>
      </p:sp>
      <p:sp>
        <p:nvSpPr>
          <p:cNvPr id="15363" name="Rectangle 1"/>
          <p:cNvSpPr/>
          <p:nvPr/>
        </p:nvSpPr>
        <p:spPr>
          <a:xfrm>
            <a:off x="1243330" y="1520190"/>
            <a:ext cx="9110980" cy="1198880"/>
          </a:xfrm>
          <a:prstGeom prst="rect">
            <a:avLst/>
          </a:prstGeom>
          <a:noFill/>
          <a:ln w="9525">
            <a:noFill/>
          </a:ln>
        </p:spPr>
        <p:txBody>
          <a:bodyPr wrap="square" anchor="ctr" anchorCtr="0">
            <a:spAutoFit/>
          </a:bodyPr>
          <a:lstStyle/>
          <a:p>
            <a:pPr eaLnBrk="0" hangingPunct="0"/>
            <a:r>
              <a:rPr lang="zh-CN" altLang="en-US" sz="2400" dirty="0">
                <a:latin typeface="Arial" panose="020B0604020202020204" pitchFamily="34" charset="0"/>
              </a:rPr>
              <a:t>名称来自</a:t>
            </a:r>
            <a:r>
              <a:rPr lang="en-US" altLang="zh-CN" sz="2400" dirty="0">
                <a:latin typeface="Arial" panose="020B0604020202020204" pitchFamily="34" charset="0"/>
              </a:rPr>
              <a:t>“</a:t>
            </a:r>
            <a:r>
              <a:rPr lang="zh-CN" altLang="en-US" sz="2400" dirty="0">
                <a:latin typeface="Arial" panose="020B0604020202020204" pitchFamily="34" charset="0"/>
              </a:rPr>
              <a:t>可扩展的语言</a:t>
            </a:r>
            <a:r>
              <a:rPr lang="en-US" altLang="zh-CN" sz="2400" dirty="0">
                <a:latin typeface="Arial" panose="020B0604020202020204" pitchFamily="34" charset="0"/>
              </a:rPr>
              <a:t>”(A Scalable Language)</a:t>
            </a:r>
            <a:endParaRPr lang="en-US" altLang="zh-CN" sz="2400" dirty="0">
              <a:latin typeface="Arial" panose="020B0604020202020204" pitchFamily="34" charset="0"/>
            </a:endParaRPr>
          </a:p>
          <a:p>
            <a:pPr eaLnBrk="0" hangingPunct="0"/>
            <a:r>
              <a:rPr lang="zh-CN" altLang="zh-CN" sz="2400" dirty="0">
                <a:latin typeface="Arial" panose="020B0604020202020204" pitchFamily="34" charset="0"/>
              </a:rPr>
              <a:t>一门现代的多范式编程语言，旨在简练、优雅地编程</a:t>
            </a:r>
            <a:endParaRPr lang="zh-CN" altLang="zh-CN" sz="2400" dirty="0">
              <a:latin typeface="Arial" panose="020B0604020202020204" pitchFamily="34" charset="0"/>
            </a:endParaRPr>
          </a:p>
          <a:p>
            <a:pPr eaLnBrk="0" hangingPunct="0"/>
            <a:r>
              <a:rPr lang="zh-CN" altLang="zh-CN" sz="2400" dirty="0">
                <a:latin typeface="Arial" panose="020B0604020202020204" pitchFamily="34" charset="0"/>
              </a:rPr>
              <a:t>运行于</a:t>
            </a:r>
            <a:r>
              <a:rPr lang="en-US" altLang="zh-CN" sz="2400" dirty="0">
                <a:latin typeface="Arial" panose="020B0604020202020204" pitchFamily="34" charset="0"/>
              </a:rPr>
              <a:t>Java</a:t>
            </a:r>
            <a:r>
              <a:rPr lang="zh-CN" altLang="zh-CN" sz="2400" dirty="0">
                <a:latin typeface="Arial" panose="020B0604020202020204" pitchFamily="34" charset="0"/>
              </a:rPr>
              <a:t>平台（</a:t>
            </a:r>
            <a:r>
              <a:rPr lang="en-US" altLang="zh-CN" sz="2400" dirty="0">
                <a:latin typeface="Arial" panose="020B0604020202020204" pitchFamily="34" charset="0"/>
              </a:rPr>
              <a:t>JVM</a:t>
            </a:r>
            <a:r>
              <a:rPr lang="zh-CN" altLang="zh-CN" sz="2400" dirty="0">
                <a:latin typeface="Arial" panose="020B0604020202020204" pitchFamily="34" charset="0"/>
              </a:rPr>
              <a:t>，</a:t>
            </a:r>
            <a:r>
              <a:rPr lang="en-US" altLang="zh-CN" sz="2400" dirty="0">
                <a:latin typeface="Arial" panose="020B0604020202020204" pitchFamily="34" charset="0"/>
              </a:rPr>
              <a:t>Java </a:t>
            </a:r>
            <a:r>
              <a:rPr lang="zh-CN" altLang="zh-CN" sz="2400" dirty="0">
                <a:latin typeface="Arial" panose="020B0604020202020204" pitchFamily="34" charset="0"/>
              </a:rPr>
              <a:t>虚拟机），并兼容现有的</a:t>
            </a:r>
            <a:r>
              <a:rPr lang="en-US" altLang="zh-CN" sz="2400" dirty="0">
                <a:latin typeface="Arial" panose="020B0604020202020204" pitchFamily="34" charset="0"/>
              </a:rPr>
              <a:t>Java</a:t>
            </a:r>
            <a:r>
              <a:rPr lang="zh-CN" altLang="zh-CN" sz="2400" dirty="0">
                <a:latin typeface="Arial" panose="020B0604020202020204" pitchFamily="34" charset="0"/>
              </a:rPr>
              <a:t>程序</a:t>
            </a:r>
            <a:endParaRPr lang="zh-CN" altLang="zh-CN" sz="2400" dirty="0">
              <a:latin typeface="Arial" panose="020B0604020202020204" pitchFamily="34" charset="0"/>
            </a:endParaRPr>
          </a:p>
        </p:txBody>
      </p:sp>
      <p:sp>
        <p:nvSpPr>
          <p:cNvPr id="15364" name="矩形 3"/>
          <p:cNvSpPr/>
          <p:nvPr/>
        </p:nvSpPr>
        <p:spPr>
          <a:xfrm>
            <a:off x="1243330" y="5379085"/>
            <a:ext cx="8652510" cy="82994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r>
              <a:rPr lang="zh-CN" altLang="zh-CN" sz="2400" dirty="0">
                <a:latin typeface="Arial" panose="020B0604020202020204" pitchFamily="34" charset="0"/>
              </a:rPr>
              <a:t>优势：提供了</a:t>
            </a:r>
            <a:r>
              <a:rPr lang="en-US" altLang="zh-CN" sz="2400" dirty="0">
                <a:latin typeface="Arial" panose="020B0604020202020204" pitchFamily="34" charset="0"/>
              </a:rPr>
              <a:t>REPL</a:t>
            </a:r>
            <a:r>
              <a:rPr lang="zh-CN" altLang="zh-CN" sz="2400" dirty="0">
                <a:latin typeface="Arial" panose="020B0604020202020204" pitchFamily="34" charset="0"/>
              </a:rPr>
              <a:t>（</a:t>
            </a:r>
            <a:r>
              <a:rPr lang="en-US" altLang="zh-CN" sz="2400" dirty="0">
                <a:latin typeface="Arial" panose="020B0604020202020204" pitchFamily="34" charset="0"/>
              </a:rPr>
              <a:t>Read-Eval-Print Loop</a:t>
            </a:r>
            <a:r>
              <a:rPr lang="zh-CN" altLang="zh-CN" sz="2400" dirty="0">
                <a:latin typeface="Arial" panose="020B0604020202020204" pitchFamily="34" charset="0"/>
              </a:rPr>
              <a:t>，交互式解释器）</a:t>
            </a:r>
            <a:r>
              <a:rPr lang="zh-CN" altLang="en-US" sz="2400" dirty="0">
                <a:latin typeface="Arial" panose="020B0604020202020204" pitchFamily="34" charset="0"/>
              </a:rPr>
              <a:t>，提高程序开发效率</a:t>
            </a:r>
            <a:endParaRPr lang="zh-CN" altLang="en-US" sz="2400" dirty="0">
              <a:latin typeface="Arial" panose="020B0604020202020204" pitchFamily="34" charset="0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43330" y="2999740"/>
            <a:ext cx="10019030" cy="20097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eaLnBrk="0" hangingPunct="0">
              <a:lnSpc>
                <a:spcPct val="130000"/>
              </a:lnSpc>
            </a:pP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特性：</a:t>
            </a:r>
            <a:endParaRPr lang="zh-CN" altLang="en-US" sz="2400" dirty="0">
              <a:latin typeface="Arial" panose="020B0604020202020204" pitchFamily="34" charset="0"/>
            </a:endParaRPr>
          </a:p>
          <a:p>
            <a:pPr eaLnBrk="0" hangingPunct="0">
              <a:lnSpc>
                <a:spcPct val="130000"/>
              </a:lnSpc>
              <a:buFontTx/>
              <a:buChar char="•"/>
            </a:pP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强大的并发性，支持函数式编程，可以更好地支持分布式系统</a:t>
            </a:r>
            <a:endParaRPr lang="zh-CN" altLang="en-US" sz="2400" dirty="0">
              <a:latin typeface="Arial" panose="020B0604020202020204" pitchFamily="34" charset="0"/>
            </a:endParaRPr>
          </a:p>
          <a:p>
            <a:pPr eaLnBrk="0" hangingPunct="0">
              <a:lnSpc>
                <a:spcPct val="130000"/>
              </a:lnSpc>
              <a:buFontTx/>
              <a:buChar char="•"/>
            </a:pP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语法简洁，能提供优雅的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API</a:t>
            </a:r>
            <a:endParaRPr lang="en-US" altLang="zh-CN" sz="2400" dirty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eaLnBrk="0" hangingPunct="0">
              <a:lnSpc>
                <a:spcPct val="130000"/>
              </a:lnSpc>
              <a:buFontTx/>
              <a:buChar char="•"/>
            </a:pP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兼容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Java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，运行速度快，且能融合到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Hadoop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生态圈中</a:t>
            </a:r>
            <a:r>
              <a:rPr lang="zh-CN" altLang="en-US" sz="2400" dirty="0">
                <a:latin typeface="Arial" panose="020B0604020202020204" pitchFamily="34" charset="0"/>
                <a:sym typeface="+mn-ea"/>
              </a:rPr>
              <a:t> </a:t>
            </a:r>
            <a:endParaRPr lang="zh-CN" altLang="en-US" sz="2400" dirty="0">
              <a:latin typeface="Arial" panose="020B0604020202020204" pitchFamily="34" charset="0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364" grpId="0"/>
      <p:bldP spid="15364" grpId="1"/>
      <p:bldP spid="2" grpId="0"/>
      <p:bldP spid="2" grpId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标题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lstStyle/>
          <a:p>
            <a:r>
              <a:rPr lang="en-US" altLang="zh-CN" b="1" dirty="0"/>
              <a:t>10.1.3 Spark</a:t>
            </a:r>
            <a:r>
              <a:rPr lang="zh-CN" altLang="zh-CN" b="1" dirty="0"/>
              <a:t>与</a:t>
            </a:r>
            <a:r>
              <a:rPr lang="en-US" altLang="zh-CN" b="1" dirty="0"/>
              <a:t>Hadoop</a:t>
            </a:r>
            <a:r>
              <a:rPr lang="zh-CN" altLang="zh-CN" b="1" dirty="0"/>
              <a:t>的对比</a:t>
            </a:r>
            <a:endParaRPr lang="zh-CN" altLang="en-US" b="1" dirty="0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57CE09-A6DF-4F65-B9AD-CB157D51E68C}" type="slidenum">
              <a:rPr lang="zh-CN" altLang="en-US" smtClean="0"/>
            </a:fld>
            <a:endParaRPr lang="zh-CN" altLang="en-US"/>
          </a:p>
        </p:txBody>
      </p:sp>
      <p:sp>
        <p:nvSpPr>
          <p:cNvPr id="54273" name="Rectangle 1"/>
          <p:cNvSpPr>
            <a:spLocks noChangeArrowheads="1"/>
          </p:cNvSpPr>
          <p:nvPr/>
        </p:nvSpPr>
        <p:spPr bwMode="auto">
          <a:xfrm>
            <a:off x="999490" y="1690688"/>
            <a:ext cx="9064625" cy="4154170"/>
          </a:xfrm>
          <a:prstGeom prst="rect">
            <a:avLst/>
          </a:prstGeom>
          <a:noFill/>
          <a:ln w="9525" cmpd="sng">
            <a:noFill/>
            <a:miter lim="800000"/>
          </a:ln>
          <a:effectLst/>
        </p:spPr>
        <p:txBody>
          <a:bodyPr wrap="square" anchor="ctr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Hadoop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存在如下一些缺点：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marR="0" lvl="0" indent="2667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表达能力有限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磁盘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IO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开销大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延迟高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任务之间的衔接涉及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IO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开销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在前一个任务执行完成之前，其他任务就无法开始，难以胜任复杂、多阶段的计算任务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 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标题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lstStyle/>
          <a:p>
            <a:r>
              <a:rPr lang="en-US" altLang="zh-CN" b="1" dirty="0"/>
              <a:t>10.1.3 Spark</a:t>
            </a:r>
            <a:r>
              <a:rPr lang="zh-CN" altLang="zh-CN" b="1" dirty="0"/>
              <a:t>与</a:t>
            </a:r>
            <a:r>
              <a:rPr lang="en-US" altLang="zh-CN" b="1" dirty="0"/>
              <a:t>Hadoop</a:t>
            </a:r>
            <a:r>
              <a:rPr lang="zh-CN" altLang="zh-CN" b="1" dirty="0"/>
              <a:t>的对比</a:t>
            </a:r>
            <a:endParaRPr lang="zh-CN" altLang="en-US" b="1" dirty="0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57CE09-A6DF-4F65-B9AD-CB157D51E68C}" type="slidenum">
              <a:rPr lang="zh-CN" altLang="en-US" smtClean="0"/>
            </a:fld>
            <a:endParaRPr lang="zh-CN" altLang="en-US"/>
          </a:p>
        </p:txBody>
      </p:sp>
      <p:sp>
        <p:nvSpPr>
          <p:cNvPr id="55297" name="Rectangle 1"/>
          <p:cNvSpPr>
            <a:spLocks noChangeArrowheads="1"/>
          </p:cNvSpPr>
          <p:nvPr/>
        </p:nvSpPr>
        <p:spPr bwMode="auto">
          <a:xfrm>
            <a:off x="932815" y="1891983"/>
            <a:ext cx="10129520" cy="3784600"/>
          </a:xfrm>
          <a:prstGeom prst="rect">
            <a:avLst/>
          </a:prstGeom>
          <a:noFill/>
          <a:ln w="9525" cmpd="sng">
            <a:noFill/>
            <a:miter lim="800000"/>
          </a:ln>
          <a:effectLst/>
        </p:spPr>
        <p:txBody>
          <a:bodyPr wrap="square" anchor="ctr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相比于</a:t>
            </a:r>
            <a:r>
              <a:rPr kumimoji="0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Hadoop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kumimoji="0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MapReduce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Spark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主要具有如下优点：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编程模型灵活：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Spark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的计算模式也属于</a:t>
            </a:r>
            <a:r>
              <a:rPr kumimoji="0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MapReduce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，但不局限于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Map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和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Reduce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操作，还提供了多种数据集操作类型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提供内存计算：中间结果可放到内存中，对于迭代运算效率更高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基于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DAG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的任务调度执行机制：优于</a:t>
            </a:r>
            <a:r>
              <a:rPr kumimoji="0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Hadoop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kumimoji="0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MapReduce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的迭代执行机制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 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标题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lstStyle/>
          <a:p>
            <a:r>
              <a:rPr lang="en-US" altLang="zh-CN" b="1" dirty="0"/>
              <a:t>10.1.3 Spark</a:t>
            </a:r>
            <a:r>
              <a:rPr lang="zh-CN" altLang="zh-CN" b="1" dirty="0"/>
              <a:t>与</a:t>
            </a:r>
            <a:r>
              <a:rPr lang="en-US" altLang="zh-CN" b="1" dirty="0"/>
              <a:t>Hadoop</a:t>
            </a:r>
            <a:r>
              <a:rPr lang="zh-CN" altLang="zh-CN" b="1" dirty="0"/>
              <a:t>的对比</a:t>
            </a:r>
            <a:endParaRPr lang="zh-CN" altLang="en-US" b="1" dirty="0"/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57CE09-A6DF-4F65-B9AD-CB157D51E68C}" type="slidenum">
              <a:rPr lang="zh-CN" altLang="en-US" smtClean="0"/>
            </a:fld>
            <a:endParaRPr lang="zh-CN" altLang="en-US"/>
          </a:p>
        </p:txBody>
      </p:sp>
      <p:sp>
        <p:nvSpPr>
          <p:cNvPr id="2052" name="Rectangle 2"/>
          <p:cNvSpPr/>
          <p:nvPr/>
        </p:nvSpPr>
        <p:spPr>
          <a:xfrm>
            <a:off x="1524000" y="-184150"/>
            <a:ext cx="309880" cy="3683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/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2053" name="矩形 4"/>
          <p:cNvSpPr/>
          <p:nvPr/>
        </p:nvSpPr>
        <p:spPr>
          <a:xfrm>
            <a:off x="267970" y="2576830"/>
            <a:ext cx="467360" cy="267652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r>
              <a:rPr lang="zh-CN" altLang="zh-CN" sz="2800" dirty="0">
                <a:latin typeface="Arial" panose="020B0604020202020204" pitchFamily="34" charset="0"/>
              </a:rPr>
              <a:t>执行流程对比</a:t>
            </a:r>
            <a:endParaRPr lang="zh-CN" altLang="zh-CN" sz="2800" dirty="0">
              <a:latin typeface="Arial" panose="020B0604020202020204" pitchFamily="34" charset="0"/>
            </a:endParaRPr>
          </a:p>
        </p:txBody>
      </p:sp>
      <p:pic>
        <p:nvPicPr>
          <p:cNvPr id="2" name="图片 1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1117600" y="1871980"/>
            <a:ext cx="7304405" cy="1181100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1117600" y="4406900"/>
            <a:ext cx="7215505" cy="1143000"/>
          </a:xfrm>
          <a:prstGeom prst="rect">
            <a:avLst/>
          </a:prstGeom>
        </p:spPr>
      </p:pic>
      <p:sp>
        <p:nvSpPr>
          <p:cNvPr id="6" name="圆角矩形 5"/>
          <p:cNvSpPr/>
          <p:nvPr/>
        </p:nvSpPr>
        <p:spPr>
          <a:xfrm>
            <a:off x="3707130" y="3053080"/>
            <a:ext cx="1434465" cy="464185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/>
              <a:t>Hadoop</a:t>
            </a:r>
            <a:endParaRPr lang="en-US" altLang="zh-CN" sz="2400"/>
          </a:p>
        </p:txBody>
      </p:sp>
      <p:sp>
        <p:nvSpPr>
          <p:cNvPr id="7" name="圆角矩形 6"/>
          <p:cNvSpPr/>
          <p:nvPr>
            <p:custDataLst>
              <p:tags r:id="rId6"/>
            </p:custDataLst>
          </p:nvPr>
        </p:nvSpPr>
        <p:spPr>
          <a:xfrm>
            <a:off x="3707130" y="5485130"/>
            <a:ext cx="1434465" cy="464185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/>
              <a:t>Spark</a:t>
            </a:r>
            <a:endParaRPr lang="en-US" altLang="zh-CN" sz="2400"/>
          </a:p>
        </p:txBody>
      </p:sp>
      <p:graphicFrame>
        <p:nvGraphicFramePr>
          <p:cNvPr id="8" name="图表 7"/>
          <p:cNvGraphicFramePr/>
          <p:nvPr/>
        </p:nvGraphicFramePr>
        <p:xfrm>
          <a:off x="8662091" y="2508270"/>
          <a:ext cx="3247977" cy="243836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9" name="文本框 8"/>
          <p:cNvSpPr txBox="1"/>
          <p:nvPr/>
        </p:nvSpPr>
        <p:spPr>
          <a:xfrm>
            <a:off x="8968740" y="5113020"/>
            <a:ext cx="2751455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zh-CN" dirty="0">
                <a:latin typeface="Arial" panose="020B0604020202020204" pitchFamily="34" charset="0"/>
                <a:sym typeface="+mn-ea"/>
              </a:rPr>
              <a:t>执行逻辑回归的时间对比</a:t>
            </a:r>
            <a:endParaRPr lang="zh-CN" altLang="zh-CN" dirty="0">
              <a:latin typeface="Arial" panose="020B0604020202020204" pitchFamily="34" charset="0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9" grpId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标题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lstStyle/>
          <a:p>
            <a:r>
              <a:rPr lang="en-US" altLang="zh-CN" b="1" dirty="0"/>
              <a:t>10.1.3 Spark</a:t>
            </a:r>
            <a:r>
              <a:rPr lang="zh-CN" altLang="zh-CN" b="1" dirty="0"/>
              <a:t>与</a:t>
            </a:r>
            <a:r>
              <a:rPr lang="en-US" altLang="zh-CN" b="1" dirty="0"/>
              <a:t>Hadoop</a:t>
            </a:r>
            <a:r>
              <a:rPr lang="zh-CN" altLang="zh-CN" b="1" dirty="0"/>
              <a:t>的对比</a:t>
            </a:r>
            <a:endParaRPr lang="zh-CN" altLang="en-US" b="1" dirty="0"/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57CE09-A6DF-4F65-B9AD-CB157D51E68C}" type="slidenum">
              <a:rPr lang="zh-CN" altLang="en-US" smtClean="0"/>
            </a:fld>
            <a:endParaRPr lang="zh-CN" altLang="en-US"/>
          </a:p>
        </p:txBody>
      </p:sp>
      <p:sp>
        <p:nvSpPr>
          <p:cNvPr id="2052" name="Rectangle 2"/>
          <p:cNvSpPr/>
          <p:nvPr/>
        </p:nvSpPr>
        <p:spPr>
          <a:xfrm>
            <a:off x="1524000" y="-184150"/>
            <a:ext cx="309880" cy="3683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/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2053" name="矩形 4"/>
          <p:cNvSpPr/>
          <p:nvPr/>
        </p:nvSpPr>
        <p:spPr>
          <a:xfrm>
            <a:off x="454660" y="2576830"/>
            <a:ext cx="467360" cy="267652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r>
              <a:rPr lang="zh-CN" altLang="zh-CN" sz="2800" dirty="0">
                <a:latin typeface="Arial" panose="020B0604020202020204" pitchFamily="34" charset="0"/>
              </a:rPr>
              <a:t>执行流程对比</a:t>
            </a:r>
            <a:endParaRPr lang="zh-CN" altLang="zh-CN" sz="2800" dirty="0">
              <a:latin typeface="Arial" panose="020B0604020202020204" pitchFamily="34" charset="0"/>
            </a:endParaRPr>
          </a:p>
        </p:txBody>
      </p:sp>
      <p:pic>
        <p:nvPicPr>
          <p:cNvPr id="4" name="图片 3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1599565" y="2815590"/>
            <a:ext cx="4048125" cy="163830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6260465" y="2815590"/>
            <a:ext cx="5457825" cy="1619250"/>
          </a:xfrm>
          <a:prstGeom prst="rect">
            <a:avLst/>
          </a:prstGeom>
        </p:spPr>
      </p:pic>
      <p:sp>
        <p:nvSpPr>
          <p:cNvPr id="6" name="圆角矩形 5"/>
          <p:cNvSpPr/>
          <p:nvPr>
            <p:custDataLst>
              <p:tags r:id="rId5"/>
            </p:custDataLst>
          </p:nvPr>
        </p:nvSpPr>
        <p:spPr>
          <a:xfrm>
            <a:off x="2804795" y="5161280"/>
            <a:ext cx="1434465" cy="464185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/>
              <a:t>Hadoop</a:t>
            </a:r>
            <a:endParaRPr lang="en-US" altLang="zh-CN" sz="2400"/>
          </a:p>
        </p:txBody>
      </p:sp>
      <p:sp>
        <p:nvSpPr>
          <p:cNvPr id="7" name="圆角矩形 6"/>
          <p:cNvSpPr/>
          <p:nvPr>
            <p:custDataLst>
              <p:tags r:id="rId6"/>
            </p:custDataLst>
          </p:nvPr>
        </p:nvSpPr>
        <p:spPr>
          <a:xfrm>
            <a:off x="8272145" y="5161280"/>
            <a:ext cx="1434465" cy="464185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/>
              <a:t>Spark</a:t>
            </a:r>
            <a:endParaRPr lang="en-US" altLang="zh-CN" sz="24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标题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lstStyle/>
          <a:p>
            <a:r>
              <a:rPr lang="en-US" altLang="zh-CN" b="1" dirty="0"/>
              <a:t>10.2 Spark</a:t>
            </a:r>
            <a:r>
              <a:rPr lang="zh-CN" altLang="en-US" b="1" dirty="0"/>
              <a:t>生态系统</a:t>
            </a:r>
            <a:endParaRPr lang="zh-CN" altLang="en-US" b="1" dirty="0"/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57CE09-A6DF-4F65-B9AD-CB157D51E68C}" type="slidenum">
              <a:rPr lang="zh-CN" altLang="en-US" smtClean="0"/>
            </a:fld>
            <a:endParaRPr lang="zh-CN" altLang="en-US"/>
          </a:p>
        </p:txBody>
      </p:sp>
      <p:sp>
        <p:nvSpPr>
          <p:cNvPr id="19459" name="矩形 2"/>
          <p:cNvSpPr/>
          <p:nvPr/>
        </p:nvSpPr>
        <p:spPr>
          <a:xfrm>
            <a:off x="816610" y="1457960"/>
            <a:ext cx="7080250" cy="301434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noAutofit/>
          </a:bodyPr>
          <a:lstStyle/>
          <a:p>
            <a:pPr>
              <a:lnSpc>
                <a:spcPct val="120000"/>
              </a:lnSpc>
            </a:pPr>
            <a:r>
              <a:rPr lang="zh-CN" altLang="zh-CN" sz="2400" dirty="0">
                <a:latin typeface="Arial" panose="020B0604020202020204" pitchFamily="34" charset="0"/>
              </a:rPr>
              <a:t>在实际应用中，大数据处理主要包括以下三个类型：</a:t>
            </a:r>
            <a:endParaRPr lang="en-US" altLang="zh-CN" sz="2400" dirty="0">
              <a:latin typeface="Arial" panose="020B0604020202020204" pitchFamily="34" charset="0"/>
            </a:endParaRPr>
          </a:p>
          <a:p>
            <a:pPr>
              <a:lnSpc>
                <a:spcPct val="120000"/>
              </a:lnSpc>
            </a:pPr>
            <a:endParaRPr lang="zh-CN" altLang="zh-CN" sz="2000" dirty="0">
              <a:latin typeface="Arial" panose="020B0604020202020204" pitchFamily="34" charset="0"/>
            </a:endParaRPr>
          </a:p>
          <a:p>
            <a:pPr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zh-CN" altLang="zh-CN" sz="2400" dirty="0">
                <a:latin typeface="Arial" panose="020B0604020202020204" pitchFamily="34" charset="0"/>
              </a:rPr>
              <a:t>复杂的批量数据处理</a:t>
            </a:r>
            <a:r>
              <a:rPr lang="en-US" altLang="zh-CN" sz="2400" dirty="0">
                <a:latin typeface="Arial" panose="020B0604020202020204" pitchFamily="34" charset="0"/>
              </a:rPr>
              <a:t>     </a:t>
            </a:r>
            <a:endParaRPr lang="en-US" altLang="zh-CN" sz="2400" dirty="0">
              <a:latin typeface="Arial" panose="020B0604020202020204" pitchFamily="34" charset="0"/>
            </a:endParaRPr>
          </a:p>
          <a:p>
            <a:pPr>
              <a:lnSpc>
                <a:spcPct val="120000"/>
              </a:lnSpc>
              <a:buFont typeface="Arial" panose="020B0604020202020204" pitchFamily="34" charset="0"/>
              <a:buChar char="•"/>
            </a:pPr>
            <a:endParaRPr lang="zh-CN" altLang="zh-CN" sz="2400" dirty="0">
              <a:latin typeface="Arial" panose="020B0604020202020204" pitchFamily="34" charset="0"/>
            </a:endParaRPr>
          </a:p>
          <a:p>
            <a:pPr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zh-CN" altLang="zh-CN" sz="2400" dirty="0">
                <a:latin typeface="Arial" panose="020B0604020202020204" pitchFamily="34" charset="0"/>
              </a:rPr>
              <a:t>基于历史数据的交互式查询</a:t>
            </a:r>
            <a:endParaRPr lang="zh-CN" altLang="zh-CN" sz="2400" dirty="0">
              <a:latin typeface="Arial" panose="020B0604020202020204" pitchFamily="34" charset="0"/>
            </a:endParaRPr>
          </a:p>
          <a:p>
            <a:pPr>
              <a:lnSpc>
                <a:spcPct val="120000"/>
              </a:lnSpc>
              <a:buFont typeface="Arial" panose="020B0604020202020204" pitchFamily="34" charset="0"/>
              <a:buChar char="•"/>
            </a:pPr>
            <a:endParaRPr lang="zh-CN" altLang="zh-CN" sz="2400" dirty="0">
              <a:latin typeface="Arial" panose="020B0604020202020204" pitchFamily="34" charset="0"/>
            </a:endParaRPr>
          </a:p>
          <a:p>
            <a:pPr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zh-CN" altLang="zh-CN" sz="2400" dirty="0">
                <a:latin typeface="Arial" panose="020B0604020202020204" pitchFamily="34" charset="0"/>
              </a:rPr>
              <a:t>基于实时数据流的数据处理</a:t>
            </a:r>
            <a:endParaRPr lang="zh-CN" altLang="zh-CN" sz="2400" dirty="0">
              <a:latin typeface="Arial" panose="020B0604020202020204" pitchFamily="34" charset="0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5283835" y="2326005"/>
            <a:ext cx="1780540" cy="460375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wrap="square" rtlCol="0" anchor="t">
            <a:spAutoFit/>
          </a:bodyPr>
          <a:lstStyle/>
          <a:p>
            <a:pPr algn="ctr"/>
            <a:r>
              <a:rPr lang="zh-CN" altLang="en-US" sz="2400" dirty="0">
                <a:latin typeface="Arial" panose="020B0604020202020204" pitchFamily="34" charset="0"/>
                <a:sym typeface="+mn-ea"/>
              </a:rPr>
              <a:t>小时级</a:t>
            </a:r>
            <a:endParaRPr lang="zh-CN" altLang="en-US" sz="2400" dirty="0">
              <a:latin typeface="Arial" panose="020B0604020202020204" pitchFamily="34" charset="0"/>
              <a:sym typeface="+mn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5283835" y="3168650"/>
            <a:ext cx="1780540" cy="460375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wrap="square" rtlCol="0" anchor="t">
            <a:spAutoFit/>
          </a:bodyPr>
          <a:lstStyle/>
          <a:p>
            <a:pPr algn="ctr"/>
            <a:r>
              <a:rPr lang="zh-CN" altLang="zh-CN" sz="2400" dirty="0">
                <a:latin typeface="Arial" panose="020B0604020202020204" pitchFamily="34" charset="0"/>
                <a:sym typeface="+mn-ea"/>
              </a:rPr>
              <a:t>分秒级</a:t>
            </a:r>
            <a:endParaRPr lang="zh-CN" altLang="en-US" sz="2400" dirty="0">
              <a:latin typeface="Arial" panose="020B0604020202020204" pitchFamily="34" charset="0"/>
              <a:sym typeface="+mn-ea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5283835" y="4011295"/>
            <a:ext cx="1780540" cy="460375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wrap="square" rtlCol="0" anchor="t">
            <a:spAutoFit/>
          </a:bodyPr>
          <a:lstStyle/>
          <a:p>
            <a:pPr algn="ctr"/>
            <a:r>
              <a:rPr lang="zh-CN" altLang="zh-CN" sz="2400" dirty="0">
                <a:latin typeface="Arial" panose="020B0604020202020204" pitchFamily="34" charset="0"/>
                <a:sym typeface="+mn-ea"/>
              </a:rPr>
              <a:t>毫秒、秒级</a:t>
            </a:r>
            <a:endParaRPr lang="zh-CN" altLang="en-US" sz="2400" dirty="0">
              <a:latin typeface="Arial" panose="020B0604020202020204" pitchFamily="34" charset="0"/>
              <a:sym typeface="+mn-ea"/>
            </a:endParaRPr>
          </a:p>
        </p:txBody>
      </p:sp>
      <p:sp>
        <p:nvSpPr>
          <p:cNvPr id="5" name="文本框 4"/>
          <p:cNvSpPr txBox="1"/>
          <p:nvPr>
            <p:custDataLst>
              <p:tags r:id="rId1"/>
            </p:custDataLst>
          </p:nvPr>
        </p:nvSpPr>
        <p:spPr>
          <a:xfrm>
            <a:off x="7661910" y="2326005"/>
            <a:ext cx="2025015" cy="460375"/>
          </a:xfrm>
          <a:prstGeom prst="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wrap="square" rtlCol="0" anchor="t">
            <a:spAutoFit/>
          </a:bodyPr>
          <a:lstStyle/>
          <a:p>
            <a:pPr algn="ctr"/>
            <a:r>
              <a:rPr lang="en-US" altLang="zh-CN" sz="240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MapReduce</a:t>
            </a:r>
            <a:endParaRPr lang="en-US" altLang="zh-CN" sz="2400" noProof="0" dirty="0" err="1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sym typeface="+mn-ea"/>
            </a:endParaRPr>
          </a:p>
        </p:txBody>
      </p:sp>
      <p:sp>
        <p:nvSpPr>
          <p:cNvPr id="6" name="文本框 5"/>
          <p:cNvSpPr txBox="1"/>
          <p:nvPr>
            <p:custDataLst>
              <p:tags r:id="rId2"/>
            </p:custDataLst>
          </p:nvPr>
        </p:nvSpPr>
        <p:spPr>
          <a:xfrm>
            <a:off x="7661910" y="3168650"/>
            <a:ext cx="2025015" cy="460375"/>
          </a:xfrm>
          <a:prstGeom prst="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wrap="square" rtlCol="0" anchor="t">
            <a:spAutoFit/>
          </a:bodyPr>
          <a:lstStyle/>
          <a:p>
            <a:pPr algn="ctr"/>
            <a:r>
              <a:rPr lang="en-US" altLang="zh-CN" sz="240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Impala</a:t>
            </a:r>
            <a:endParaRPr lang="en-US" altLang="zh-CN" sz="240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sym typeface="+mn-ea"/>
            </a:endParaRPr>
          </a:p>
        </p:txBody>
      </p:sp>
      <p:sp>
        <p:nvSpPr>
          <p:cNvPr id="7" name="文本框 6"/>
          <p:cNvSpPr txBox="1"/>
          <p:nvPr>
            <p:custDataLst>
              <p:tags r:id="rId3"/>
            </p:custDataLst>
          </p:nvPr>
        </p:nvSpPr>
        <p:spPr>
          <a:xfrm>
            <a:off x="7661910" y="4011295"/>
            <a:ext cx="2025015" cy="460375"/>
          </a:xfrm>
          <a:prstGeom prst="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wrap="square" rtlCol="0" anchor="t">
            <a:spAutoFit/>
          </a:bodyPr>
          <a:lstStyle/>
          <a:p>
            <a:pPr algn="ctr"/>
            <a:r>
              <a:rPr lang="en-US" altLang="zh-CN" sz="240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Storm</a:t>
            </a:r>
            <a:endParaRPr lang="en-US" altLang="zh-CN" sz="240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sym typeface="+mn-ea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838200" y="5008880"/>
            <a:ext cx="4179570" cy="156845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0" marR="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CN" altLang="zh-CN" sz="240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同时部署三类软件潜在问题： </a:t>
            </a:r>
            <a:endParaRPr kumimoji="0" lang="zh-CN" altLang="zh-CN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zh-CN" altLang="zh-CN" sz="240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数据格式转换</a:t>
            </a:r>
            <a:r>
              <a:rPr lang="en-US" altLang="zh-CN" sz="240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--</a:t>
            </a:r>
            <a:r>
              <a:rPr lang="zh-CN" altLang="zh-CN" sz="240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通常需要</a:t>
            </a:r>
            <a:endParaRPr kumimoji="0" lang="zh-CN" altLang="zh-CN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zh-CN" altLang="zh-CN" sz="240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开发和维护成本</a:t>
            </a:r>
            <a:r>
              <a:rPr lang="en-US" altLang="zh-CN" sz="240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--</a:t>
            </a:r>
            <a:r>
              <a:rPr lang="zh-CN" altLang="zh-CN" sz="240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较高</a:t>
            </a:r>
            <a:endParaRPr kumimoji="0" lang="zh-CN" altLang="zh-CN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zh-CN" altLang="zh-CN" sz="240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统一的资源协调和分配</a:t>
            </a:r>
            <a:r>
              <a:rPr lang="en-US" altLang="zh-CN" sz="240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--</a:t>
            </a:r>
            <a:r>
              <a:rPr lang="zh-CN" altLang="zh-CN" sz="240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困难</a:t>
            </a:r>
            <a:endParaRPr lang="zh-CN" altLang="zh-CN" sz="2400" noProof="0" dirty="0">
              <a:ln>
                <a:noFill/>
              </a:ln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sym typeface="+mn-ea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5509260" y="4755515"/>
            <a:ext cx="5727700" cy="19380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altLang="zh-CN" sz="2000" dirty="0">
                <a:latin typeface="Arial" panose="020B0604020202020204" pitchFamily="34" charset="0"/>
                <a:sym typeface="+mn-ea"/>
              </a:rPr>
              <a:t>Spark</a:t>
            </a:r>
            <a:r>
              <a:rPr lang="zh-CN" altLang="zh-CN" sz="2000" dirty="0">
                <a:latin typeface="Arial" panose="020B0604020202020204" pitchFamily="34" charset="0"/>
                <a:sym typeface="+mn-ea"/>
              </a:rPr>
              <a:t>的设计遵循“一个软件栈满足不同应用场景”的理念，逐渐形成了一套完整的生态系统</a:t>
            </a:r>
            <a:endParaRPr lang="en-US" altLang="zh-CN" sz="2000" dirty="0">
              <a:latin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zh-CN" altLang="zh-CN" sz="2000" dirty="0">
                <a:latin typeface="Arial" panose="020B0604020202020204" pitchFamily="34" charset="0"/>
                <a:sym typeface="+mn-ea"/>
              </a:rPr>
              <a:t>既能够提供内存计算框架，也可以支持</a:t>
            </a:r>
            <a:r>
              <a:rPr lang="en-US" altLang="zh-CN" sz="2000" dirty="0">
                <a:latin typeface="Arial" panose="020B0604020202020204" pitchFamily="34" charset="0"/>
                <a:sym typeface="+mn-ea"/>
              </a:rPr>
              <a:t>SQL</a:t>
            </a:r>
            <a:r>
              <a:rPr lang="zh-CN" altLang="zh-CN" sz="2000" dirty="0">
                <a:latin typeface="Arial" panose="020B0604020202020204" pitchFamily="34" charset="0"/>
                <a:sym typeface="+mn-ea"/>
              </a:rPr>
              <a:t>即席查询、实时流式计算、机器学习和图计算等</a:t>
            </a:r>
            <a:endParaRPr lang="en-US" altLang="zh-CN" sz="2000" dirty="0">
              <a:latin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altLang="zh-CN" sz="2000" dirty="0">
                <a:latin typeface="Arial" panose="020B0604020202020204" pitchFamily="34" charset="0"/>
                <a:sym typeface="+mn-ea"/>
              </a:rPr>
              <a:t>Spark</a:t>
            </a:r>
            <a:r>
              <a:rPr lang="zh-CN" altLang="zh-CN" sz="2000" dirty="0">
                <a:latin typeface="Arial" panose="020B0604020202020204" pitchFamily="34" charset="0"/>
                <a:sym typeface="+mn-ea"/>
              </a:rPr>
              <a:t>可以部署在资源管理器</a:t>
            </a:r>
            <a:r>
              <a:rPr lang="en-US" altLang="zh-CN" sz="2000" dirty="0">
                <a:latin typeface="Arial" panose="020B0604020202020204" pitchFamily="34" charset="0"/>
                <a:sym typeface="+mn-ea"/>
              </a:rPr>
              <a:t>YARN</a:t>
            </a:r>
            <a:r>
              <a:rPr lang="zh-CN" altLang="zh-CN" sz="2000" dirty="0">
                <a:latin typeface="Arial" panose="020B0604020202020204" pitchFamily="34" charset="0"/>
                <a:sym typeface="+mn-ea"/>
              </a:rPr>
              <a:t>之上，提供一站式的大数据解决方案</a:t>
            </a:r>
            <a:endParaRPr lang="zh-CN" altLang="zh-CN" sz="2000" dirty="0">
              <a:latin typeface="Arial" panose="020B0604020202020204" pitchFamily="34" charset="0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000"/>
                            </p:stCondLst>
                            <p:childTnLst>
                              <p:par>
                                <p:cTn id="26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ldLvl="0" animBg="1"/>
      <p:bldP spid="2" grpId="1" animBg="1"/>
      <p:bldP spid="3" grpId="0" bldLvl="0" animBg="1"/>
      <p:bldP spid="3" grpId="1" animBg="1"/>
      <p:bldP spid="4" grpId="0" bldLvl="0" animBg="1"/>
      <p:bldP spid="4" grpId="1" animBg="1"/>
      <p:bldP spid="5" grpId="0" bldLvl="0" animBg="1"/>
      <p:bldP spid="5" grpId="1" animBg="1"/>
      <p:bldP spid="6" grpId="0" bldLvl="0" animBg="1"/>
      <p:bldP spid="6" grpId="1" animBg="1"/>
      <p:bldP spid="7" grpId="0" bldLvl="0" animBg="1"/>
      <p:bldP spid="7" grpId="1" animBg="1"/>
      <p:bldP spid="8" grpId="0"/>
      <p:bldP spid="8" grpId="1"/>
      <p:bldP spid="9" grpId="0"/>
      <p:bldP spid="9" grpId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标题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lstStyle/>
          <a:p>
            <a:r>
              <a:rPr lang="en-US" altLang="zh-CN" b="1" dirty="0"/>
              <a:t>10.2 Spark</a:t>
            </a:r>
            <a:r>
              <a:rPr lang="zh-CN" altLang="en-US" b="1" dirty="0"/>
              <a:t>生态系统</a:t>
            </a:r>
            <a:endParaRPr lang="zh-CN" altLang="en-US" b="1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57CE09-A6DF-4F65-B9AD-CB157D51E68C}" type="slidenum">
              <a:rPr lang="zh-CN" altLang="en-US" smtClean="0"/>
            </a:fld>
            <a:endParaRPr lang="zh-CN" altLang="en-US"/>
          </a:p>
        </p:txBody>
      </p:sp>
      <p:sp>
        <p:nvSpPr>
          <p:cNvPr id="3076" name="Rectangle 2"/>
          <p:cNvSpPr/>
          <p:nvPr/>
        </p:nvSpPr>
        <p:spPr>
          <a:xfrm>
            <a:off x="1524000" y="-184150"/>
            <a:ext cx="309880" cy="3683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/>
          <a:p>
            <a:endParaRPr lang="zh-CN" altLang="en-US" dirty="0">
              <a:latin typeface="Arial" panose="020B0604020202020204" pitchFamily="34" charset="0"/>
            </a:endParaRPr>
          </a:p>
        </p:txBody>
      </p:sp>
      <p:graphicFrame>
        <p:nvGraphicFramePr>
          <p:cNvPr id="3074" name="Object 1"/>
          <p:cNvGraphicFramePr/>
          <p:nvPr/>
        </p:nvGraphicFramePr>
        <p:xfrm>
          <a:off x="2947353" y="2447925"/>
          <a:ext cx="6297612" cy="289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7" name="" r:id="rId1" imgW="6339840" imgH="2915920" progId="Visio.Drawing.15">
                  <p:embed/>
                </p:oleObj>
              </mc:Choice>
              <mc:Fallback>
                <p:oleObj name="" r:id="rId1" imgW="6339840" imgH="2915920" progId="Visio.Drawing.15">
                  <p:embed/>
                  <p:pic>
                    <p:nvPicPr>
                      <p:cNvPr id="0" name="图片 1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2947353" y="2447925"/>
                        <a:ext cx="6297612" cy="28956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77" name="矩形 4"/>
          <p:cNvSpPr/>
          <p:nvPr/>
        </p:nvSpPr>
        <p:spPr>
          <a:xfrm>
            <a:off x="1248410" y="5801995"/>
            <a:ext cx="9725660" cy="70675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r>
              <a:rPr lang="zh-CN" altLang="zh-CN" sz="2000" dirty="0">
                <a:latin typeface="Arial" panose="020B0604020202020204" pitchFamily="34" charset="0"/>
              </a:rPr>
              <a:t>主要包含：</a:t>
            </a:r>
            <a:r>
              <a:rPr lang="en-US" altLang="zh-CN" sz="2000" dirty="0">
                <a:latin typeface="Arial" panose="020B0604020202020204" pitchFamily="34" charset="0"/>
              </a:rPr>
              <a:t>Spark Core</a:t>
            </a:r>
            <a:r>
              <a:rPr lang="zh-CN" altLang="zh-CN" sz="2000" dirty="0">
                <a:latin typeface="Arial" panose="020B0604020202020204" pitchFamily="34" charset="0"/>
              </a:rPr>
              <a:t>、</a:t>
            </a:r>
            <a:r>
              <a:rPr lang="en-US" altLang="zh-CN" sz="2000" dirty="0">
                <a:latin typeface="Arial" panose="020B0604020202020204" pitchFamily="34" charset="0"/>
              </a:rPr>
              <a:t>Spark SQL</a:t>
            </a:r>
            <a:r>
              <a:rPr lang="zh-CN" altLang="zh-CN" sz="2000" dirty="0">
                <a:latin typeface="Arial" panose="020B0604020202020204" pitchFamily="34" charset="0"/>
              </a:rPr>
              <a:t>、</a:t>
            </a:r>
            <a:r>
              <a:rPr lang="en-US" altLang="zh-CN" sz="2000" dirty="0">
                <a:latin typeface="Arial" panose="020B0604020202020204" pitchFamily="34" charset="0"/>
              </a:rPr>
              <a:t>Spark Streaming</a:t>
            </a:r>
            <a:r>
              <a:rPr lang="zh-CN" altLang="zh-CN" sz="2000" dirty="0">
                <a:latin typeface="Arial" panose="020B0604020202020204" pitchFamily="34" charset="0"/>
              </a:rPr>
              <a:t>、</a:t>
            </a:r>
            <a:r>
              <a:rPr lang="en-US" altLang="zh-CN" sz="2000" dirty="0">
                <a:latin typeface="Arial" panose="020B0604020202020204" pitchFamily="34" charset="0"/>
              </a:rPr>
              <a:t>Structured Streaming</a:t>
            </a:r>
            <a:r>
              <a:rPr lang="zh-CN" altLang="en-US" sz="2000" dirty="0">
                <a:latin typeface="Arial" panose="020B0604020202020204" pitchFamily="34" charset="0"/>
              </a:rPr>
              <a:t>、</a:t>
            </a:r>
            <a:r>
              <a:rPr lang="en-US" altLang="zh-CN" sz="2000" dirty="0">
                <a:latin typeface="Arial" panose="020B0604020202020204" pitchFamily="34" charset="0"/>
              </a:rPr>
              <a:t> MLLib</a:t>
            </a:r>
            <a:r>
              <a:rPr lang="zh-CN" altLang="zh-CN" sz="2000" dirty="0">
                <a:latin typeface="Arial" panose="020B0604020202020204" pitchFamily="34" charset="0"/>
              </a:rPr>
              <a:t>和</a:t>
            </a:r>
            <a:r>
              <a:rPr lang="en-US" altLang="zh-CN" sz="2000" dirty="0">
                <a:latin typeface="Arial" panose="020B0604020202020204" pitchFamily="34" charset="0"/>
              </a:rPr>
              <a:t>GraphX </a:t>
            </a:r>
            <a:r>
              <a:rPr lang="zh-CN" altLang="zh-CN" sz="2000" dirty="0">
                <a:latin typeface="Arial" panose="020B0604020202020204" pitchFamily="34" charset="0"/>
              </a:rPr>
              <a:t>等组件</a:t>
            </a:r>
            <a:endParaRPr lang="zh-CN" altLang="zh-CN" sz="2000" dirty="0">
              <a:latin typeface="Arial" panose="020B0604020202020204" pitchFamily="34" charset="0"/>
            </a:endParaRPr>
          </a:p>
        </p:txBody>
      </p:sp>
      <p:sp>
        <p:nvSpPr>
          <p:cNvPr id="3078" name="矩形 5"/>
          <p:cNvSpPr/>
          <p:nvPr/>
        </p:nvSpPr>
        <p:spPr>
          <a:xfrm>
            <a:off x="5218430" y="5433378"/>
            <a:ext cx="2011680" cy="3683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r>
              <a:rPr lang="zh-CN" altLang="zh-CN" dirty="0">
                <a:latin typeface="Arial" panose="020B0604020202020204" pitchFamily="34" charset="0"/>
              </a:rPr>
              <a:t>图</a:t>
            </a:r>
            <a:r>
              <a:rPr lang="en-US" altLang="zh-CN" dirty="0">
                <a:latin typeface="Arial" panose="020B0604020202020204" pitchFamily="34" charset="0"/>
              </a:rPr>
              <a:t>10-3 BDAS</a:t>
            </a:r>
            <a:r>
              <a:rPr lang="zh-CN" altLang="zh-CN" dirty="0">
                <a:latin typeface="Arial" panose="020B0604020202020204" pitchFamily="34" charset="0"/>
              </a:rPr>
              <a:t>架构</a:t>
            </a:r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3079" name="矩形 6"/>
          <p:cNvSpPr/>
          <p:nvPr/>
        </p:nvSpPr>
        <p:spPr>
          <a:xfrm>
            <a:off x="1091565" y="1370330"/>
            <a:ext cx="9650095" cy="82994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r>
              <a:rPr lang="en-US" altLang="zh-CN" sz="2400" dirty="0">
                <a:latin typeface="Arial" panose="020B0604020202020204" pitchFamily="34" charset="0"/>
              </a:rPr>
              <a:t>Spark</a:t>
            </a:r>
            <a:r>
              <a:rPr lang="zh-CN" altLang="zh-CN" sz="2400" dirty="0">
                <a:latin typeface="Arial" panose="020B0604020202020204" pitchFamily="34" charset="0"/>
              </a:rPr>
              <a:t>生态系统已经成为伯克利数据分析软件栈</a:t>
            </a:r>
            <a:r>
              <a:rPr lang="en-US" altLang="zh-CN" sz="2400" dirty="0">
                <a:latin typeface="Arial" panose="020B0604020202020204" pitchFamily="34" charset="0"/>
              </a:rPr>
              <a:t>BDAS</a:t>
            </a:r>
            <a:endParaRPr lang="en-US" altLang="zh-CN" sz="2400" dirty="0">
              <a:latin typeface="Arial" panose="020B0604020202020204" pitchFamily="34" charset="0"/>
            </a:endParaRPr>
          </a:p>
          <a:p>
            <a:r>
              <a:rPr lang="zh-CN" altLang="zh-CN" sz="2400" dirty="0">
                <a:latin typeface="Arial" panose="020B0604020202020204" pitchFamily="34" charset="0"/>
              </a:rPr>
              <a:t>（</a:t>
            </a:r>
            <a:r>
              <a:rPr lang="en-US" altLang="zh-CN" sz="2400" dirty="0">
                <a:latin typeface="Arial" panose="020B0604020202020204" pitchFamily="34" charset="0"/>
              </a:rPr>
              <a:t>Berkeley Data Analytics Stack</a:t>
            </a:r>
            <a:r>
              <a:rPr lang="zh-CN" altLang="zh-CN" sz="2400" dirty="0">
                <a:latin typeface="Arial" panose="020B0604020202020204" pitchFamily="34" charset="0"/>
              </a:rPr>
              <a:t>）的重要组成部分</a:t>
            </a:r>
            <a:endParaRPr lang="zh-CN" altLang="zh-CN" sz="2400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标题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lstStyle/>
          <a:p>
            <a:r>
              <a:rPr lang="en-US" altLang="zh-CN" b="1" dirty="0"/>
              <a:t>10.2 Spark</a:t>
            </a:r>
            <a:r>
              <a:rPr lang="zh-CN" altLang="en-US" b="1" dirty="0"/>
              <a:t>生态系统</a:t>
            </a:r>
            <a:endParaRPr lang="zh-CN" altLang="en-US" b="1" dirty="0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57CE09-A6DF-4F65-B9AD-CB157D51E68C}" type="slidenum">
              <a:rPr lang="zh-CN" altLang="en-US" smtClean="0"/>
            </a:fld>
            <a:endParaRPr lang="zh-CN" altLang="en-US"/>
          </a:p>
        </p:txBody>
      </p:sp>
      <p:graphicFrame>
        <p:nvGraphicFramePr>
          <p:cNvPr id="3" name="表格 2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838200" y="2390775"/>
          <a:ext cx="10403205" cy="3019425"/>
        </p:xfrm>
        <a:graphic>
          <a:graphicData uri="http://schemas.openxmlformats.org/drawingml/2006/table">
            <a:tbl>
              <a:tblPr/>
              <a:tblGrid>
                <a:gridCol w="3214370"/>
                <a:gridCol w="1753870"/>
                <a:gridCol w="2571115"/>
                <a:gridCol w="2863850"/>
              </a:tblGrid>
              <a:tr h="401955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2000" b="1" kern="100">
                          <a:latin typeface="Times New Roman" panose="02020603050405020304"/>
                          <a:ea typeface="宋体" panose="02010600030101010101" pitchFamily="2" charset="-122"/>
                        </a:rPr>
                        <a:t>应用场景</a:t>
                      </a:r>
                      <a:endParaRPr lang="zh-CN" sz="2000" b="1" kern="100"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2000" b="1" kern="100" dirty="0">
                          <a:latin typeface="Times New Roman" panose="02020603050405020304"/>
                          <a:ea typeface="宋体" panose="02010600030101010101" pitchFamily="2" charset="-122"/>
                        </a:rPr>
                        <a:t>时间跨度</a:t>
                      </a:r>
                      <a:endParaRPr lang="zh-CN" sz="2000" b="1" kern="100" dirty="0"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2000" b="1" kern="100">
                          <a:latin typeface="Times New Roman" panose="02020603050405020304"/>
                          <a:ea typeface="宋体" panose="02010600030101010101" pitchFamily="2" charset="-122"/>
                        </a:rPr>
                        <a:t>其他框架</a:t>
                      </a:r>
                      <a:endParaRPr lang="zh-CN" sz="2000" b="1" kern="100"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b="1" kern="100">
                          <a:latin typeface="Times New Roman" panose="02020603050405020304"/>
                          <a:ea typeface="宋体" panose="02010600030101010101" pitchFamily="2" charset="-122"/>
                        </a:rPr>
                        <a:t>Spark</a:t>
                      </a:r>
                      <a:r>
                        <a:rPr lang="zh-CN" sz="2000" b="1" kern="100">
                          <a:latin typeface="Times New Roman" panose="02020603050405020304"/>
                          <a:ea typeface="宋体" panose="02010600030101010101" pitchFamily="2" charset="-122"/>
                        </a:rPr>
                        <a:t>生态系统中的组件</a:t>
                      </a:r>
                      <a:endParaRPr lang="zh-CN" sz="2000" b="1" kern="100"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99745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2000" kern="100">
                          <a:latin typeface="Times New Roman" panose="02020603050405020304"/>
                          <a:ea typeface="宋体" panose="02010600030101010101" pitchFamily="2" charset="-122"/>
                        </a:rPr>
                        <a:t>复杂的批量数据处理</a:t>
                      </a:r>
                      <a:endParaRPr lang="zh-CN" sz="2000" kern="100"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2000" kern="100">
                          <a:latin typeface="Times New Roman" panose="02020603050405020304"/>
                          <a:ea typeface="宋体" panose="02010600030101010101" pitchFamily="2" charset="-122"/>
                        </a:rPr>
                        <a:t>小时级</a:t>
                      </a:r>
                      <a:endParaRPr lang="zh-CN" sz="2000" kern="100"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2000" kern="100">
                          <a:latin typeface="Times New Roman" panose="02020603050405020304"/>
                          <a:ea typeface="宋体" panose="02010600030101010101" pitchFamily="2" charset="-122"/>
                        </a:rPr>
                        <a:t>MapReduce</a:t>
                      </a:r>
                      <a:r>
                        <a:rPr lang="zh-CN" sz="2000" kern="100">
                          <a:latin typeface="Times New Roman" panose="02020603050405020304"/>
                          <a:ea typeface="宋体" panose="02010600030101010101" pitchFamily="2" charset="-122"/>
                        </a:rPr>
                        <a:t>、</a:t>
                      </a:r>
                      <a:r>
                        <a:rPr lang="en-US" sz="2000" kern="100">
                          <a:latin typeface="Times New Roman" panose="02020603050405020304"/>
                          <a:ea typeface="宋体" panose="02010600030101010101" pitchFamily="2" charset="-122"/>
                        </a:rPr>
                        <a:t>Hive</a:t>
                      </a:r>
                      <a:endParaRPr lang="en-US" sz="2000" kern="100"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2000" kern="100">
                          <a:latin typeface="Times New Roman" panose="02020603050405020304"/>
                          <a:ea typeface="宋体" panose="02010600030101010101" pitchFamily="2" charset="-122"/>
                        </a:rPr>
                        <a:t>Spark</a:t>
                      </a:r>
                      <a:endParaRPr lang="en-US" sz="2000" kern="100"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9430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2000" kern="100">
                          <a:latin typeface="Times New Roman" panose="02020603050405020304"/>
                          <a:ea typeface="宋体" panose="02010600030101010101" pitchFamily="2" charset="-122"/>
                        </a:rPr>
                        <a:t>基于历史数据的交互式查询</a:t>
                      </a:r>
                      <a:endParaRPr lang="zh-CN" sz="2000" kern="100"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2000" kern="100">
                          <a:latin typeface="Times New Roman" panose="02020603050405020304"/>
                          <a:ea typeface="宋体" panose="02010600030101010101" pitchFamily="2" charset="-122"/>
                        </a:rPr>
                        <a:t>分钟级、秒级</a:t>
                      </a:r>
                      <a:endParaRPr lang="zh-CN" sz="2000" kern="100"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2000" kern="100">
                          <a:latin typeface="Times New Roman" panose="02020603050405020304"/>
                          <a:ea typeface="宋体" panose="02010600030101010101" pitchFamily="2" charset="-122"/>
                        </a:rPr>
                        <a:t>Impala</a:t>
                      </a:r>
                      <a:r>
                        <a:rPr lang="zh-CN" sz="2000" kern="100">
                          <a:latin typeface="Times New Roman" panose="02020603050405020304"/>
                          <a:ea typeface="宋体" panose="02010600030101010101" pitchFamily="2" charset="-122"/>
                        </a:rPr>
                        <a:t>、</a:t>
                      </a:r>
                      <a:r>
                        <a:rPr lang="en-US" sz="2000" kern="100">
                          <a:latin typeface="Times New Roman" panose="02020603050405020304"/>
                          <a:ea typeface="宋体" panose="02010600030101010101" pitchFamily="2" charset="-122"/>
                        </a:rPr>
                        <a:t>Dremel</a:t>
                      </a:r>
                      <a:r>
                        <a:rPr lang="zh-CN" sz="2000" kern="100">
                          <a:latin typeface="Times New Roman" panose="02020603050405020304"/>
                          <a:ea typeface="宋体" panose="02010600030101010101" pitchFamily="2" charset="-122"/>
                        </a:rPr>
                        <a:t>、</a:t>
                      </a:r>
                      <a:r>
                        <a:rPr lang="en-US" sz="2000" kern="100">
                          <a:latin typeface="Times New Roman" panose="02020603050405020304"/>
                          <a:ea typeface="宋体" panose="02010600030101010101" pitchFamily="2" charset="-122"/>
                        </a:rPr>
                        <a:t>Drill</a:t>
                      </a:r>
                      <a:endParaRPr lang="en-US" sz="2000" kern="100"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2000" kern="100">
                          <a:latin typeface="Times New Roman" panose="02020603050405020304"/>
                          <a:ea typeface="宋体" panose="02010600030101010101" pitchFamily="2" charset="-122"/>
                        </a:rPr>
                        <a:t>Spark SQL</a:t>
                      </a:r>
                      <a:endParaRPr lang="en-US" sz="2000" kern="100"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9270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2000" kern="100">
                          <a:latin typeface="Times New Roman" panose="02020603050405020304"/>
                          <a:ea typeface="宋体" panose="02010600030101010101" pitchFamily="2" charset="-122"/>
                        </a:rPr>
                        <a:t>基于实时数据流的数据处理</a:t>
                      </a:r>
                      <a:endParaRPr lang="zh-CN" sz="2000" kern="100"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2000" kern="100">
                          <a:latin typeface="Times New Roman" panose="02020603050405020304"/>
                          <a:ea typeface="宋体" panose="02010600030101010101" pitchFamily="2" charset="-122"/>
                        </a:rPr>
                        <a:t>毫秒、秒级</a:t>
                      </a:r>
                      <a:endParaRPr lang="zh-CN" sz="2000" kern="100"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2000" kern="100" dirty="0">
                          <a:latin typeface="Times New Roman" panose="02020603050405020304"/>
                          <a:ea typeface="宋体" panose="02010600030101010101" pitchFamily="2" charset="-122"/>
                        </a:rPr>
                        <a:t>Storm</a:t>
                      </a:r>
                      <a:r>
                        <a:rPr lang="zh-CN" sz="2000" kern="100" dirty="0">
                          <a:latin typeface="Times New Roman" panose="02020603050405020304"/>
                          <a:ea typeface="宋体" panose="02010600030101010101" pitchFamily="2" charset="-122"/>
                        </a:rPr>
                        <a:t>、</a:t>
                      </a:r>
                      <a:r>
                        <a:rPr lang="en-US" sz="2000" kern="100" dirty="0">
                          <a:latin typeface="Times New Roman" panose="02020603050405020304"/>
                          <a:ea typeface="宋体" panose="02010600030101010101" pitchFamily="2" charset="-122"/>
                        </a:rPr>
                        <a:t>S4</a:t>
                      </a:r>
                      <a:endParaRPr lang="en-US" sz="2000" kern="100" dirty="0"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2000" kern="100">
                          <a:latin typeface="Times New Roman" panose="02020603050405020304"/>
                          <a:ea typeface="宋体" panose="02010600030101010101" pitchFamily="2" charset="-122"/>
                        </a:rPr>
                        <a:t>Spark Streaming</a:t>
                      </a:r>
                      <a:endParaRPr lang="en-US" sz="2000" kern="100"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88950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2000" kern="100">
                          <a:latin typeface="Times New Roman" panose="02020603050405020304"/>
                          <a:ea typeface="宋体" panose="02010600030101010101" pitchFamily="2" charset="-122"/>
                        </a:rPr>
                        <a:t>基于历史数据的数据挖掘</a:t>
                      </a:r>
                      <a:endParaRPr lang="zh-CN" sz="2000" kern="100"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2000" kern="100">
                          <a:latin typeface="Times New Roman" panose="02020603050405020304"/>
                          <a:ea typeface="宋体" panose="02010600030101010101" pitchFamily="2" charset="-122"/>
                        </a:rPr>
                        <a:t>-</a:t>
                      </a:r>
                      <a:endParaRPr lang="en-US" sz="2000" kern="100"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2000" kern="100">
                          <a:latin typeface="Times New Roman" panose="02020603050405020304"/>
                          <a:ea typeface="宋体" panose="02010600030101010101" pitchFamily="2" charset="-122"/>
                        </a:rPr>
                        <a:t>Mahout</a:t>
                      </a:r>
                      <a:endParaRPr lang="en-US" sz="2000" kern="100"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2000" kern="100">
                          <a:latin typeface="Times New Roman" panose="02020603050405020304"/>
                          <a:ea typeface="宋体" panose="02010600030101010101" pitchFamily="2" charset="-122"/>
                        </a:rPr>
                        <a:t>MLlib</a:t>
                      </a:r>
                      <a:endParaRPr lang="en-US" sz="2000" kern="100"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9905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2000" kern="100">
                          <a:latin typeface="Times New Roman" panose="02020603050405020304"/>
                          <a:ea typeface="宋体" panose="02010600030101010101" pitchFamily="2" charset="-122"/>
                        </a:rPr>
                        <a:t>图结构数据的处理</a:t>
                      </a:r>
                      <a:endParaRPr lang="zh-CN" sz="2000" kern="100"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2000" kern="100">
                          <a:latin typeface="Times New Roman" panose="02020603050405020304"/>
                          <a:ea typeface="宋体" panose="02010600030101010101" pitchFamily="2" charset="-122"/>
                        </a:rPr>
                        <a:t>-</a:t>
                      </a:r>
                      <a:endParaRPr lang="en-US" sz="2000" kern="100"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2000" kern="100">
                          <a:latin typeface="Times New Roman" panose="02020603050405020304"/>
                          <a:ea typeface="宋体" panose="02010600030101010101" pitchFamily="2" charset="-122"/>
                        </a:rPr>
                        <a:t>Pregel</a:t>
                      </a:r>
                      <a:r>
                        <a:rPr lang="zh-CN" sz="2000" kern="100">
                          <a:latin typeface="Times New Roman" panose="02020603050405020304"/>
                          <a:ea typeface="宋体" panose="02010600030101010101" pitchFamily="2" charset="-122"/>
                        </a:rPr>
                        <a:t>、</a:t>
                      </a:r>
                      <a:r>
                        <a:rPr lang="en-US" sz="2000" kern="100">
                          <a:latin typeface="Times New Roman" panose="02020603050405020304"/>
                          <a:ea typeface="宋体" panose="02010600030101010101" pitchFamily="2" charset="-122"/>
                        </a:rPr>
                        <a:t>Hama</a:t>
                      </a:r>
                      <a:endParaRPr lang="en-US" sz="2000" kern="100"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2000" kern="100" dirty="0" err="1">
                          <a:latin typeface="Times New Roman" panose="02020603050405020304"/>
                          <a:ea typeface="宋体" panose="02010600030101010101" pitchFamily="2" charset="-122"/>
                        </a:rPr>
                        <a:t>GraphX</a:t>
                      </a:r>
                      <a:endParaRPr lang="en-US" sz="2000" kern="100" dirty="0" err="1"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1544" name="矩形 4"/>
          <p:cNvSpPr/>
          <p:nvPr/>
        </p:nvSpPr>
        <p:spPr>
          <a:xfrm>
            <a:off x="3430270" y="1622425"/>
            <a:ext cx="5331460" cy="4603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r>
              <a:rPr lang="zh-CN" altLang="zh-CN" sz="2400" dirty="0">
                <a:latin typeface="Arial" panose="020B0604020202020204" pitchFamily="34" charset="0"/>
              </a:rPr>
              <a:t>表</a:t>
            </a:r>
            <a:r>
              <a:rPr lang="en-US" altLang="zh-CN" sz="2400" dirty="0">
                <a:latin typeface="Arial" panose="020B0604020202020204" pitchFamily="34" charset="0"/>
              </a:rPr>
              <a:t>10-1 Spark</a:t>
            </a:r>
            <a:r>
              <a:rPr lang="zh-CN" altLang="en-US" sz="2400" dirty="0">
                <a:latin typeface="Arial" panose="020B0604020202020204" pitchFamily="34" charset="0"/>
              </a:rPr>
              <a:t>生态系统组件</a:t>
            </a:r>
            <a:r>
              <a:rPr lang="zh-CN" altLang="zh-CN" sz="2400" dirty="0">
                <a:latin typeface="Arial" panose="020B0604020202020204" pitchFamily="34" charset="0"/>
              </a:rPr>
              <a:t>的应用场景</a:t>
            </a:r>
            <a:endParaRPr lang="zh-CN" altLang="zh-CN" sz="2400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标题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lstStyle/>
          <a:p>
            <a:r>
              <a:rPr lang="en-US" altLang="zh-CN" b="1" dirty="0"/>
              <a:t>10.3 Spark</a:t>
            </a:r>
            <a:r>
              <a:rPr lang="zh-CN" altLang="zh-CN" b="1" dirty="0"/>
              <a:t>运行架构</a:t>
            </a:r>
            <a:endParaRPr lang="zh-CN" altLang="en-US" b="1" dirty="0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57CE09-A6DF-4F65-B9AD-CB157D51E68C}" type="slidenum">
              <a:rPr lang="zh-CN" altLang="en-US" smtClean="0"/>
            </a:fld>
            <a:endParaRPr lang="zh-CN" altLang="en-US"/>
          </a:p>
        </p:txBody>
      </p:sp>
      <p:sp>
        <p:nvSpPr>
          <p:cNvPr id="22531" name="TextBox 2"/>
          <p:cNvSpPr txBox="1"/>
          <p:nvPr/>
        </p:nvSpPr>
        <p:spPr>
          <a:xfrm>
            <a:off x="1073150" y="1614805"/>
            <a:ext cx="5557520" cy="403098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zh-CN" sz="3200" dirty="0">
                <a:latin typeface="Arial" panose="020B0604020202020204" pitchFamily="34" charset="0"/>
              </a:rPr>
              <a:t>10.3.1 </a:t>
            </a:r>
            <a:r>
              <a:rPr lang="zh-CN" altLang="en-US" sz="3200" dirty="0">
                <a:latin typeface="Arial" panose="020B0604020202020204" pitchFamily="34" charset="0"/>
              </a:rPr>
              <a:t>基本概念</a:t>
            </a:r>
            <a:endParaRPr lang="en-US" altLang="zh-CN" sz="3200" dirty="0">
              <a:latin typeface="Arial" panose="020B0604020202020204" pitchFamily="34" charset="0"/>
            </a:endParaRPr>
          </a:p>
          <a:p>
            <a:pPr>
              <a:lnSpc>
                <a:spcPct val="200000"/>
              </a:lnSpc>
            </a:pPr>
            <a:r>
              <a:rPr lang="en-US" altLang="zh-CN" sz="3200" dirty="0">
                <a:latin typeface="Arial" panose="020B0604020202020204" pitchFamily="34" charset="0"/>
              </a:rPr>
              <a:t>10.3.2 </a:t>
            </a:r>
            <a:r>
              <a:rPr lang="zh-CN" altLang="en-US" sz="3200" dirty="0">
                <a:latin typeface="Arial" panose="020B0604020202020204" pitchFamily="34" charset="0"/>
              </a:rPr>
              <a:t>架构设计</a:t>
            </a:r>
            <a:endParaRPr lang="en-US" altLang="zh-CN" sz="3200" dirty="0">
              <a:latin typeface="Arial" panose="020B0604020202020204" pitchFamily="34" charset="0"/>
            </a:endParaRPr>
          </a:p>
          <a:p>
            <a:pPr>
              <a:lnSpc>
                <a:spcPct val="200000"/>
              </a:lnSpc>
            </a:pPr>
            <a:r>
              <a:rPr lang="en-US" altLang="zh-CN" sz="3200" dirty="0">
                <a:latin typeface="Arial" panose="020B0604020202020204" pitchFamily="34" charset="0"/>
              </a:rPr>
              <a:t>10.3.3 Spark</a:t>
            </a:r>
            <a:r>
              <a:rPr lang="zh-CN" altLang="en-US" sz="3200" dirty="0">
                <a:latin typeface="Arial" panose="020B0604020202020204" pitchFamily="34" charset="0"/>
              </a:rPr>
              <a:t>运行基本流程</a:t>
            </a:r>
            <a:endParaRPr lang="en-US" altLang="zh-CN" sz="3200" dirty="0">
              <a:latin typeface="Arial" panose="020B0604020202020204" pitchFamily="34" charset="0"/>
            </a:endParaRPr>
          </a:p>
          <a:p>
            <a:pPr>
              <a:lnSpc>
                <a:spcPct val="200000"/>
              </a:lnSpc>
            </a:pPr>
            <a:r>
              <a:rPr lang="en-US" altLang="zh-CN" sz="3200" dirty="0">
                <a:latin typeface="Arial" panose="020B0604020202020204" pitchFamily="34" charset="0"/>
              </a:rPr>
              <a:t>10.3.4 RDD</a:t>
            </a:r>
            <a:r>
              <a:rPr lang="zh-CN" altLang="en-US" sz="3200" dirty="0">
                <a:latin typeface="Arial" panose="020B0604020202020204" pitchFamily="34" charset="0"/>
              </a:rPr>
              <a:t>的设计</a:t>
            </a:r>
            <a:r>
              <a:rPr lang="zh-CN" altLang="en-US" sz="3200" dirty="0">
                <a:latin typeface="Arial" panose="020B0604020202020204" pitchFamily="34" charset="0"/>
              </a:rPr>
              <a:t>与运行原理</a:t>
            </a:r>
            <a:endParaRPr lang="zh-CN" altLang="en-US" sz="3200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标题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lstStyle/>
          <a:p>
            <a:r>
              <a:rPr lang="en-US" altLang="zh-CN" b="1" dirty="0"/>
              <a:t>10.3.1 </a:t>
            </a:r>
            <a:r>
              <a:rPr lang="zh-CN" altLang="en-US" b="1" dirty="0"/>
              <a:t>基本概念</a:t>
            </a:r>
            <a:endParaRPr lang="zh-CN" altLang="en-US" b="1" dirty="0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57CE09-A6DF-4F65-B9AD-CB157D51E68C}" type="slidenum">
              <a:rPr lang="zh-CN" altLang="en-US" smtClean="0"/>
            </a:fld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936625" y="1811655"/>
            <a:ext cx="6503035" cy="452183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eaLnBrk="0" hangingPunct="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RDD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：是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Resillient Distributed Dataset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（弹性分布式数据集）的简称，是分布式内存的一个抽象概念，</a:t>
            </a:r>
            <a:r>
              <a:rPr lang="zh-CN" altLang="zh-CN" sz="2400" dirty="0">
                <a:latin typeface="Arial" panose="020B0604020202020204" pitchFamily="34" charset="0"/>
                <a:sym typeface="+mn-ea"/>
              </a:rPr>
              <a:t>提供了一种高度受限的共享内存模型</a:t>
            </a:r>
            <a:endParaRPr lang="zh-CN" altLang="zh-CN" sz="2400" dirty="0">
              <a:latin typeface="Arial" panose="020B0604020202020204" pitchFamily="34" charset="0"/>
              <a:sym typeface="+mn-ea"/>
            </a:endParaRPr>
          </a:p>
          <a:p>
            <a:pPr eaLnBrk="0" hangingPunct="0">
              <a:lnSpc>
                <a:spcPct val="120000"/>
              </a:lnSpc>
              <a:buFont typeface="Arial" panose="020B0604020202020204" pitchFamily="34" charset="0"/>
              <a:buChar char="•"/>
            </a:pPr>
            <a:endParaRPr lang="zh-CN" altLang="en-US" sz="2400" dirty="0">
              <a:latin typeface="Arial" panose="020B0604020202020204" pitchFamily="34" charset="0"/>
            </a:endParaRPr>
          </a:p>
          <a:p>
            <a:pPr eaLnBrk="0" hangingPunct="0">
              <a:lnSpc>
                <a:spcPct val="120000"/>
              </a:lnSpc>
              <a:buFontTx/>
              <a:buChar char="•"/>
            </a:pP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DAG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：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Directed Acyclic Graph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（有向无环图），反映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RDD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之间的依赖关系</a:t>
            </a:r>
            <a:endParaRPr lang="zh-CN" altLang="en-US" sz="2400" dirty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eaLnBrk="0" hangingPunct="0">
              <a:lnSpc>
                <a:spcPct val="120000"/>
              </a:lnSpc>
              <a:buFontTx/>
              <a:buChar char="•"/>
            </a:pPr>
            <a:endParaRPr lang="zh-CN" altLang="en-US" sz="2400" dirty="0">
              <a:latin typeface="Arial" panose="020B0604020202020204" pitchFamily="34" charset="0"/>
            </a:endParaRPr>
          </a:p>
          <a:p>
            <a:pPr eaLnBrk="0" hangingPunct="0">
              <a:lnSpc>
                <a:spcPct val="120000"/>
              </a:lnSpc>
              <a:buFontTx/>
              <a:buChar char="•"/>
            </a:pP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Executor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：是运行在工作节点（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WorkerNode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）的一个进程，负责运行任务，并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为应用程序存储数据</a:t>
            </a:r>
            <a:endParaRPr lang="zh-CN" altLang="en-US" sz="2400" dirty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7789545" y="3730625"/>
            <a:ext cx="3898900" cy="238125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bg1">
                    <a:lumMod val="95000"/>
                  </a:schemeClr>
                </a:solidFill>
              </a14:hiddenFill>
            </a:ext>
          </a:ex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en-US" altLang="zh-CN" sz="2400">
              <a:solidFill>
                <a:schemeClr val="tx1"/>
              </a:solidFill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7790180" y="3820795"/>
            <a:ext cx="3898265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/>
            <a:r>
              <a:rPr lang="zh-CN" altLang="en-US" sz="2400">
                <a:sym typeface="+mn-ea"/>
              </a:rPr>
              <a:t>工作节点</a:t>
            </a:r>
            <a:r>
              <a:rPr lang="en-US" altLang="zh-CN" sz="2400">
                <a:sym typeface="+mn-ea"/>
              </a:rPr>
              <a:t>(Worker Node)</a:t>
            </a:r>
            <a:endParaRPr lang="en-US" altLang="zh-CN" sz="2400">
              <a:sym typeface="+mn-ea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8038465" y="4368165"/>
            <a:ext cx="3402330" cy="162496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altLang="zh-CN" sz="2400">
              <a:solidFill>
                <a:schemeClr val="tx1"/>
              </a:solidFill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7928610" y="4409440"/>
            <a:ext cx="2127250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/>
            <a:r>
              <a:rPr lang="zh-CN" altLang="en-US" sz="2400">
                <a:sym typeface="+mn-ea"/>
              </a:rPr>
              <a:t>进程</a:t>
            </a:r>
            <a:r>
              <a:rPr lang="en-US" sz="2400">
                <a:sym typeface="+mn-ea"/>
              </a:rPr>
              <a:t>Executor</a:t>
            </a:r>
            <a:endParaRPr lang="en-US" sz="2400">
              <a:sym typeface="+mn-ea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9914255" y="4496435"/>
            <a:ext cx="1452245" cy="66929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en-US" altLang="zh-CN" sz="2400"/>
              <a:t>Cache</a:t>
            </a:r>
            <a:endParaRPr lang="en-US" altLang="zh-CN" sz="2400"/>
          </a:p>
        </p:txBody>
      </p:sp>
      <p:sp>
        <p:nvSpPr>
          <p:cNvPr id="11" name="矩形 10"/>
          <p:cNvSpPr/>
          <p:nvPr/>
        </p:nvSpPr>
        <p:spPr>
          <a:xfrm>
            <a:off x="9913620" y="5292725"/>
            <a:ext cx="1452880" cy="66929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zh-CN" altLang="en-US" sz="2400"/>
              <a:t>任务</a:t>
            </a:r>
            <a:endParaRPr lang="zh-CN" altLang="en-US" sz="2400"/>
          </a:p>
        </p:txBody>
      </p:sp>
      <p:sp>
        <p:nvSpPr>
          <p:cNvPr id="12" name="矩形 11"/>
          <p:cNvSpPr/>
          <p:nvPr/>
        </p:nvSpPr>
        <p:spPr>
          <a:xfrm>
            <a:off x="8139430" y="5292725"/>
            <a:ext cx="1461770" cy="66929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zh-CN" altLang="en-US" sz="2400"/>
              <a:t>任务</a:t>
            </a:r>
            <a:endParaRPr lang="zh-CN" altLang="en-US" sz="24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/>
      <p:bldP spid="5" grpId="1" animBg="1"/>
      <p:bldP spid="6" grpId="1"/>
      <p:bldP spid="8" grpId="0"/>
      <p:bldP spid="7" grpId="0" animBg="1"/>
      <p:bldP spid="8" grpId="1"/>
      <p:bldP spid="7" grpId="1" animBg="1"/>
      <p:bldP spid="12" grpId="0" animBg="1"/>
      <p:bldP spid="11" grpId="0" animBg="1"/>
      <p:bldP spid="12" grpId="1" animBg="1"/>
      <p:bldP spid="11" grpId="1" animBg="1"/>
      <p:bldP spid="10" grpId="0" animBg="1"/>
      <p:bldP spid="10" grpId="1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4305300" cy="1325880"/>
          </a:xfrm>
        </p:spPr>
        <p:txBody>
          <a:bodyPr vert="horz" wrap="square" lIns="91440" tIns="45720" rIns="91440" bIns="45720" anchor="ctr" anchorCtr="0"/>
          <a:lstStyle/>
          <a:p>
            <a:r>
              <a:rPr lang="en-US" altLang="zh-CN" b="1" dirty="0"/>
              <a:t>10.3.1 </a:t>
            </a:r>
            <a:r>
              <a:rPr lang="zh-CN" altLang="en-US" b="1" dirty="0"/>
              <a:t>基本概念</a:t>
            </a:r>
            <a:endParaRPr lang="zh-CN" altLang="en-US" b="1" dirty="0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57CE09-A6DF-4F65-B9AD-CB157D51E68C}" type="slidenum">
              <a:rPr lang="zh-CN" altLang="en-US" smtClean="0"/>
            </a:fld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838200" y="1680845"/>
            <a:ext cx="5080635" cy="474154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eaLnBrk="0" hangingPunct="0">
              <a:lnSpc>
                <a:spcPct val="18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应用：用户编写的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Spark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应用程序</a:t>
            </a:r>
            <a:endParaRPr lang="zh-CN" altLang="en-US" sz="2400" dirty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eaLnBrk="0" hangingPunct="0">
              <a:lnSpc>
                <a:spcPct val="18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任务：运行在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Executor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上的工作单元</a:t>
            </a:r>
            <a:r>
              <a:rPr lang="zh-CN" altLang="en-US" sz="2400" dirty="0">
                <a:latin typeface="Arial" panose="020B0604020202020204" pitchFamily="34" charset="0"/>
                <a:sym typeface="+mn-ea"/>
              </a:rPr>
              <a:t> </a:t>
            </a:r>
            <a:endParaRPr lang="zh-CN" altLang="en-US" sz="2400" dirty="0">
              <a:latin typeface="Arial" panose="020B0604020202020204" pitchFamily="34" charset="0"/>
              <a:sym typeface="+mn-ea"/>
            </a:endParaRPr>
          </a:p>
          <a:p>
            <a:pPr eaLnBrk="0" hangingPunct="0">
              <a:lnSpc>
                <a:spcPct val="18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>
                <a:latin typeface="Arial" panose="020B0604020202020204" pitchFamily="34" charset="0"/>
                <a:sym typeface="+mn-ea"/>
              </a:rPr>
              <a:t>作业</a:t>
            </a:r>
            <a:r>
              <a:rPr lang="zh-CN" altLang="zh-CN" sz="2400" dirty="0">
                <a:latin typeface="Arial" panose="020B0604020202020204" pitchFamily="34" charset="0"/>
                <a:sym typeface="+mn-ea"/>
              </a:rPr>
              <a:t>：一个</a:t>
            </a:r>
            <a:r>
              <a:rPr lang="zh-CN" altLang="zh-CN" sz="2400" dirty="0">
                <a:latin typeface="Arial" panose="020B0604020202020204" pitchFamily="34" charset="0"/>
                <a:sym typeface="+mn-ea"/>
              </a:rPr>
              <a:t>作业包含多个</a:t>
            </a:r>
            <a:r>
              <a:rPr lang="en-US" altLang="zh-CN" sz="2400" dirty="0">
                <a:latin typeface="Arial" panose="020B0604020202020204" pitchFamily="34" charset="0"/>
                <a:sym typeface="+mn-ea"/>
              </a:rPr>
              <a:t>RDD</a:t>
            </a:r>
            <a:r>
              <a:rPr lang="zh-CN" altLang="zh-CN" sz="2400" dirty="0">
                <a:latin typeface="Arial" panose="020B0604020202020204" pitchFamily="34" charset="0"/>
                <a:sym typeface="+mn-ea"/>
              </a:rPr>
              <a:t>及作用于相应</a:t>
            </a:r>
            <a:r>
              <a:rPr lang="en-US" altLang="zh-CN" sz="2400" dirty="0">
                <a:latin typeface="Arial" panose="020B0604020202020204" pitchFamily="34" charset="0"/>
                <a:sym typeface="+mn-ea"/>
              </a:rPr>
              <a:t>RDD</a:t>
            </a:r>
            <a:r>
              <a:rPr lang="zh-CN" altLang="zh-CN" sz="2400" dirty="0">
                <a:latin typeface="Arial" panose="020B0604020202020204" pitchFamily="34" charset="0"/>
                <a:sym typeface="+mn-ea"/>
              </a:rPr>
              <a:t>上的各种操作</a:t>
            </a:r>
            <a:endParaRPr lang="zh-CN" altLang="zh-CN" sz="2400" dirty="0">
              <a:latin typeface="Arial" panose="020B0604020202020204" pitchFamily="34" charset="0"/>
              <a:sym typeface="+mn-ea"/>
            </a:endParaRPr>
          </a:p>
          <a:p>
            <a:pPr>
              <a:lnSpc>
                <a:spcPct val="18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>
                <a:latin typeface="Arial" panose="020B0604020202020204" pitchFamily="34" charset="0"/>
                <a:sym typeface="+mn-ea"/>
              </a:rPr>
              <a:t>阶段</a:t>
            </a:r>
            <a:r>
              <a:rPr lang="zh-CN" altLang="zh-CN" sz="2400" dirty="0">
                <a:latin typeface="Arial" panose="020B0604020202020204" pitchFamily="34" charset="0"/>
                <a:sym typeface="+mn-ea"/>
              </a:rPr>
              <a:t>：是</a:t>
            </a:r>
            <a:r>
              <a:rPr lang="zh-CN" altLang="en-US" sz="2400" dirty="0">
                <a:latin typeface="Arial" panose="020B0604020202020204" pitchFamily="34" charset="0"/>
                <a:sym typeface="+mn-ea"/>
              </a:rPr>
              <a:t>作业</a:t>
            </a:r>
            <a:r>
              <a:rPr lang="zh-CN" altLang="zh-CN" sz="2400" dirty="0">
                <a:latin typeface="Arial" panose="020B0604020202020204" pitchFamily="34" charset="0"/>
                <a:sym typeface="+mn-ea"/>
              </a:rPr>
              <a:t>的基本调度单位，一个作业会分为多组任务，每组任务被称为</a:t>
            </a:r>
            <a:r>
              <a:rPr lang="zh-CN" altLang="zh-CN" sz="2400" dirty="0">
                <a:latin typeface="Arial" panose="020B0604020202020204" pitchFamily="34" charset="0"/>
                <a:sym typeface="+mn-ea"/>
              </a:rPr>
              <a:t>阶段，或者也被称为任务集</a:t>
            </a:r>
            <a:endParaRPr lang="zh-CN" altLang="zh-CN" sz="2400" dirty="0">
              <a:latin typeface="Arial" panose="020B0604020202020204" pitchFamily="34" charset="0"/>
              <a:sym typeface="+mn-ea"/>
            </a:endParaRPr>
          </a:p>
        </p:txBody>
      </p:sp>
      <p:grpSp>
        <p:nvGrpSpPr>
          <p:cNvPr id="17" name="组合 16"/>
          <p:cNvGrpSpPr/>
          <p:nvPr/>
        </p:nvGrpSpPr>
        <p:grpSpPr>
          <a:xfrm>
            <a:off x="7158355" y="4365625"/>
            <a:ext cx="3792855" cy="1292225"/>
            <a:chOff x="4498" y="6754"/>
            <a:chExt cx="5973" cy="2035"/>
          </a:xfrm>
        </p:grpSpPr>
        <p:sp>
          <p:nvSpPr>
            <p:cNvPr id="18" name="流程图: 文档 17"/>
            <p:cNvSpPr/>
            <p:nvPr>
              <p:custDataLst>
                <p:tags r:id="rId1"/>
              </p:custDataLst>
            </p:nvPr>
          </p:nvSpPr>
          <p:spPr>
            <a:xfrm>
              <a:off x="4653" y="6754"/>
              <a:ext cx="5818" cy="2035"/>
            </a:xfrm>
            <a:prstGeom prst="flowChartDocument">
              <a:avLst/>
            </a:prstGeom>
            <a:solidFill>
              <a:schemeClr val="bg1">
                <a:lumMod val="95000"/>
              </a:schemeClr>
            </a:solidFill>
          </p:spPr>
          <p:style>
            <a:lnRef idx="0">
              <a:schemeClr val="accent3"/>
            </a:lnRef>
            <a:fillRef idx="3">
              <a:schemeClr val="accent3"/>
            </a:fillRef>
            <a:effectRef idx="3">
              <a:schemeClr val="accent3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9" name="文本框 18"/>
            <p:cNvSpPr txBox="1"/>
            <p:nvPr>
              <p:custDataLst>
                <p:tags r:id="rId2"/>
              </p:custDataLst>
            </p:nvPr>
          </p:nvSpPr>
          <p:spPr>
            <a:xfrm>
              <a:off x="4498" y="7225"/>
              <a:ext cx="1881" cy="725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p>
              <a:pPr algn="ctr"/>
              <a:r>
                <a:rPr lang="zh-CN" altLang="en-US" sz="2400">
                  <a:sym typeface="+mn-ea"/>
                </a:rPr>
                <a:t>阶段</a:t>
              </a:r>
              <a:r>
                <a:rPr lang="en-US" altLang="zh-CN" sz="2400">
                  <a:sym typeface="+mn-ea"/>
                </a:rPr>
                <a:t>P</a:t>
              </a:r>
              <a:endParaRPr lang="en-US" altLang="zh-CN" sz="2400">
                <a:sym typeface="+mn-ea"/>
              </a:endParaRPr>
            </a:p>
          </p:txBody>
        </p:sp>
      </p:grpSp>
      <p:sp>
        <p:nvSpPr>
          <p:cNvPr id="20" name="流程图: 文档 19"/>
          <p:cNvSpPr/>
          <p:nvPr/>
        </p:nvSpPr>
        <p:spPr>
          <a:xfrm>
            <a:off x="7256780" y="2707640"/>
            <a:ext cx="3694430" cy="1292225"/>
          </a:xfrm>
          <a:prstGeom prst="flowChartDocument">
            <a:avLst/>
          </a:prstGeom>
          <a:solidFill>
            <a:schemeClr val="bg1">
              <a:lumMod val="95000"/>
            </a:schemeClr>
          </a:solidFill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1" name="矩形 20"/>
          <p:cNvSpPr/>
          <p:nvPr/>
        </p:nvSpPr>
        <p:spPr>
          <a:xfrm>
            <a:off x="6953885" y="2131060"/>
            <a:ext cx="4225925" cy="36137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lt1"/>
                </a:solidFill>
              </a14:hiddenFill>
            </a:ext>
          </a:ex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en-US" altLang="zh-CN" sz="2400">
              <a:solidFill>
                <a:schemeClr val="tx1"/>
              </a:solidFill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7052945" y="2221230"/>
            <a:ext cx="3898265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/>
            <a:r>
              <a:rPr lang="zh-CN" altLang="en-US" sz="2400">
                <a:sym typeface="+mn-ea"/>
              </a:rPr>
              <a:t>作业</a:t>
            </a:r>
            <a:r>
              <a:rPr lang="en-US" altLang="zh-CN" sz="2400">
                <a:sym typeface="+mn-ea"/>
              </a:rPr>
              <a:t>(Job)</a:t>
            </a:r>
            <a:endParaRPr lang="en-US" altLang="zh-CN" sz="2400">
              <a:sym typeface="+mn-ea"/>
            </a:endParaRPr>
          </a:p>
        </p:txBody>
      </p:sp>
      <p:graphicFrame>
        <p:nvGraphicFramePr>
          <p:cNvPr id="23" name="表格 22"/>
          <p:cNvGraphicFramePr/>
          <p:nvPr>
            <p:custDataLst>
              <p:tags r:id="rId3"/>
            </p:custDataLst>
          </p:nvPr>
        </p:nvGraphicFramePr>
        <p:xfrm>
          <a:off x="8220710" y="2962910"/>
          <a:ext cx="2455545" cy="63309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18515"/>
                <a:gridCol w="818515"/>
                <a:gridCol w="818515"/>
              </a:tblGrid>
              <a:tr h="63309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2400"/>
                        <a:t>任务</a:t>
                      </a:r>
                      <a:endParaRPr lang="zh-CN" altLang="en-US" sz="2400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400"/>
                        <a:t>...</a:t>
                      </a:r>
                      <a:endParaRPr lang="en-US" altLang="zh-CN" sz="2400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2400">
                          <a:sym typeface="+mn-ea"/>
                        </a:rPr>
                        <a:t>任务</a:t>
                      </a:r>
                      <a:endParaRPr lang="en-US" altLang="zh-CN" sz="2400"/>
                    </a:p>
                  </a:txBody>
                  <a:tcPr anchor="ctr" anchorCtr="0"/>
                </a:tc>
              </a:tr>
            </a:tbl>
          </a:graphicData>
        </a:graphic>
      </p:graphicFrame>
      <p:sp>
        <p:nvSpPr>
          <p:cNvPr id="24" name="文本框 23"/>
          <p:cNvSpPr txBox="1"/>
          <p:nvPr/>
        </p:nvSpPr>
        <p:spPr>
          <a:xfrm>
            <a:off x="7158355" y="3006725"/>
            <a:ext cx="1194435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/>
            <a:r>
              <a:rPr lang="zh-CN" altLang="en-US" sz="2400">
                <a:sym typeface="+mn-ea"/>
              </a:rPr>
              <a:t>阶段</a:t>
            </a:r>
            <a:r>
              <a:rPr lang="en-US" altLang="zh-CN" sz="2400">
                <a:sym typeface="+mn-ea"/>
              </a:rPr>
              <a:t>1</a:t>
            </a:r>
            <a:endParaRPr lang="en-US" altLang="zh-CN" sz="2400">
              <a:sym typeface="+mn-ea"/>
            </a:endParaRPr>
          </a:p>
        </p:txBody>
      </p:sp>
      <p:graphicFrame>
        <p:nvGraphicFramePr>
          <p:cNvPr id="25" name="表格 24"/>
          <p:cNvGraphicFramePr/>
          <p:nvPr>
            <p:custDataLst>
              <p:tags r:id="rId4"/>
            </p:custDataLst>
          </p:nvPr>
        </p:nvGraphicFramePr>
        <p:xfrm>
          <a:off x="8220710" y="4620895"/>
          <a:ext cx="2455545" cy="63309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18515"/>
                <a:gridCol w="818515"/>
                <a:gridCol w="818515"/>
              </a:tblGrid>
              <a:tr h="63309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2400"/>
                        <a:t>任务</a:t>
                      </a:r>
                      <a:endParaRPr lang="zh-CN" altLang="en-US" sz="2400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400"/>
                        <a:t>...</a:t>
                      </a:r>
                      <a:endParaRPr lang="en-US" altLang="zh-CN" sz="2400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2400">
                          <a:sym typeface="+mn-ea"/>
                        </a:rPr>
                        <a:t>任务</a:t>
                      </a:r>
                      <a:endParaRPr lang="en-US" altLang="zh-CN" sz="2400"/>
                    </a:p>
                  </a:txBody>
                  <a:tcPr anchor="ctr" anchorCtr="0"/>
                </a:tc>
              </a:tr>
            </a:tbl>
          </a:graphicData>
        </a:graphic>
      </p:graphicFrame>
      <p:sp>
        <p:nvSpPr>
          <p:cNvPr id="26" name="文本框 25"/>
          <p:cNvSpPr txBox="1"/>
          <p:nvPr/>
        </p:nvSpPr>
        <p:spPr>
          <a:xfrm>
            <a:off x="8862695" y="3847465"/>
            <a:ext cx="48260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800" b="1"/>
              <a:t>...</a:t>
            </a:r>
            <a:endParaRPr lang="en-US" altLang="zh-CN" sz="2800" b="1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  <p:bldP spid="21" grpId="0" animBg="1"/>
      <p:bldP spid="22" grpId="1"/>
      <p:bldP spid="21" grpId="1" animBg="1"/>
      <p:bldP spid="26" grpId="0"/>
      <p:bldP spid="26" grpId="1"/>
      <p:bldP spid="24" grpId="0"/>
      <p:bldP spid="20" grpId="0" animBg="1"/>
      <p:bldP spid="24" grpId="1"/>
      <p:bldP spid="20" grpId="1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7E57CE09-A6DF-4F65-B9AD-CB157D51E68C}" type="slidenum">
              <a:rPr lang="zh-CN" altLang="en-US" smtClean="0"/>
            </a:fld>
            <a:endParaRPr lang="zh-CN" altLang="en-US"/>
          </a:p>
        </p:txBody>
      </p:sp>
      <p:sp>
        <p:nvSpPr>
          <p:cNvPr id="37" name="矩形 36"/>
          <p:cNvSpPr/>
          <p:nvPr/>
        </p:nvSpPr>
        <p:spPr>
          <a:xfrm>
            <a:off x="529590" y="1537970"/>
            <a:ext cx="10300970" cy="3342005"/>
          </a:xfrm>
          <a:prstGeom prst="rect">
            <a:avLst/>
          </a:prstGeom>
          <a:noFill/>
          <a:ln w="19050"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grpSp>
        <p:nvGrpSpPr>
          <p:cNvPr id="53" name="组合 52"/>
          <p:cNvGrpSpPr/>
          <p:nvPr/>
        </p:nvGrpSpPr>
        <p:grpSpPr>
          <a:xfrm>
            <a:off x="3447415" y="1776095"/>
            <a:ext cx="6576060" cy="2635250"/>
            <a:chOff x="5429" y="2433"/>
            <a:chExt cx="10356" cy="4150"/>
          </a:xfrm>
        </p:grpSpPr>
        <p:grpSp>
          <p:nvGrpSpPr>
            <p:cNvPr id="36" name="组合 35"/>
            <p:cNvGrpSpPr/>
            <p:nvPr/>
          </p:nvGrpSpPr>
          <p:grpSpPr>
            <a:xfrm>
              <a:off x="5429" y="2433"/>
              <a:ext cx="4766" cy="4151"/>
              <a:chOff x="10951" y="3356"/>
              <a:chExt cx="6655" cy="5691"/>
            </a:xfrm>
          </p:grpSpPr>
          <p:sp>
            <p:nvSpPr>
              <p:cNvPr id="18" name="流程图: 文档 17"/>
              <p:cNvSpPr/>
              <p:nvPr>
                <p:custDataLst>
                  <p:tags r:id="rId1"/>
                </p:custDataLst>
              </p:nvPr>
            </p:nvSpPr>
            <p:spPr>
              <a:xfrm>
                <a:off x="11428" y="6875"/>
                <a:ext cx="5818" cy="2035"/>
              </a:xfrm>
              <a:prstGeom prst="flowChartDocument">
                <a:avLst/>
              </a:prstGeom>
              <a:solidFill>
                <a:schemeClr val="bg1">
                  <a:lumMod val="95000"/>
                </a:schemeClr>
              </a:solidFill>
            </p:spPr>
            <p:style>
              <a:lnRef idx="0">
                <a:schemeClr val="accent3"/>
              </a:lnRef>
              <a:fillRef idx="3">
                <a:schemeClr val="accent3"/>
              </a:fillRef>
              <a:effectRef idx="3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19" name="文本框 18"/>
              <p:cNvSpPr txBox="1"/>
              <p:nvPr>
                <p:custDataLst>
                  <p:tags r:id="rId2"/>
                </p:custDataLst>
              </p:nvPr>
            </p:nvSpPr>
            <p:spPr>
              <a:xfrm>
                <a:off x="11273" y="7346"/>
                <a:ext cx="1881" cy="795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p>
                <a:pPr algn="ctr"/>
                <a:r>
                  <a:rPr lang="zh-CN" altLang="en-US">
                    <a:sym typeface="+mn-ea"/>
                  </a:rPr>
                  <a:t>阶段</a:t>
                </a:r>
                <a:r>
                  <a:rPr lang="en-US" altLang="zh-CN">
                    <a:sym typeface="+mn-ea"/>
                  </a:rPr>
                  <a:t>P</a:t>
                </a:r>
                <a:endParaRPr lang="en-US" altLang="zh-CN">
                  <a:sym typeface="+mn-ea"/>
                </a:endParaRPr>
              </a:p>
            </p:txBody>
          </p:sp>
          <p:sp>
            <p:nvSpPr>
              <p:cNvPr id="20" name="流程图: 文档 19"/>
              <p:cNvSpPr/>
              <p:nvPr>
                <p:custDataLst>
                  <p:tags r:id="rId3"/>
                </p:custDataLst>
              </p:nvPr>
            </p:nvSpPr>
            <p:spPr>
              <a:xfrm>
                <a:off x="11428" y="4264"/>
                <a:ext cx="5818" cy="2035"/>
              </a:xfrm>
              <a:prstGeom prst="flowChartDocument">
                <a:avLst/>
              </a:prstGeom>
              <a:solidFill>
                <a:schemeClr val="bg1">
                  <a:lumMod val="95000"/>
                </a:schemeClr>
              </a:solidFill>
            </p:spPr>
            <p:style>
              <a:lnRef idx="0">
                <a:schemeClr val="accent3"/>
              </a:lnRef>
              <a:fillRef idx="3">
                <a:schemeClr val="accent3"/>
              </a:fillRef>
              <a:effectRef idx="3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21" name="矩形 20"/>
              <p:cNvSpPr/>
              <p:nvPr>
                <p:custDataLst>
                  <p:tags r:id="rId4"/>
                </p:custDataLst>
              </p:nvPr>
            </p:nvSpPr>
            <p:spPr>
              <a:xfrm>
                <a:off x="10951" y="3356"/>
                <a:ext cx="6655" cy="5691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chemeClr val="lt1"/>
                    </a:solidFill>
                  </a14:hiddenFill>
                </a:ext>
              </a:extLst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p>
                <a:pPr algn="ctr"/>
                <a:endParaRPr lang="en-US" altLang="zh-CN" sz="2400">
                  <a:solidFill>
                    <a:schemeClr val="tx1"/>
                  </a:solidFill>
                </a:endParaRPr>
              </a:p>
            </p:txBody>
          </p:sp>
          <p:sp>
            <p:nvSpPr>
              <p:cNvPr id="22" name="文本框 21"/>
              <p:cNvSpPr txBox="1"/>
              <p:nvPr>
                <p:custDataLst>
                  <p:tags r:id="rId5"/>
                </p:custDataLst>
              </p:nvPr>
            </p:nvSpPr>
            <p:spPr>
              <a:xfrm>
                <a:off x="11107" y="3402"/>
                <a:ext cx="6139" cy="994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p>
                <a:pPr algn="ctr"/>
                <a:r>
                  <a:rPr lang="zh-CN" altLang="en-US" sz="2400">
                    <a:sym typeface="+mn-ea"/>
                  </a:rPr>
                  <a:t>作业</a:t>
                </a:r>
                <a:r>
                  <a:rPr lang="en-US" altLang="zh-CN" sz="2400">
                    <a:sym typeface="+mn-ea"/>
                  </a:rPr>
                  <a:t>1(Job)</a:t>
                </a:r>
                <a:endParaRPr lang="en-US" altLang="zh-CN" sz="2400">
                  <a:sym typeface="+mn-ea"/>
                </a:endParaRPr>
              </a:p>
            </p:txBody>
          </p:sp>
          <p:sp>
            <p:nvSpPr>
              <p:cNvPr id="24" name="文本框 23"/>
              <p:cNvSpPr txBox="1"/>
              <p:nvPr>
                <p:custDataLst>
                  <p:tags r:id="rId6"/>
                </p:custDataLst>
              </p:nvPr>
            </p:nvSpPr>
            <p:spPr>
              <a:xfrm>
                <a:off x="11273" y="4735"/>
                <a:ext cx="1881" cy="795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p>
                <a:pPr algn="ctr"/>
                <a:r>
                  <a:rPr lang="zh-CN" altLang="en-US">
                    <a:sym typeface="+mn-ea"/>
                  </a:rPr>
                  <a:t>阶段</a:t>
                </a:r>
                <a:r>
                  <a:rPr lang="en-US" altLang="zh-CN">
                    <a:sym typeface="+mn-ea"/>
                  </a:rPr>
                  <a:t>1</a:t>
                </a:r>
                <a:endParaRPr lang="en-US" altLang="zh-CN">
                  <a:sym typeface="+mn-ea"/>
                </a:endParaRPr>
              </a:p>
            </p:txBody>
          </p:sp>
          <p:sp>
            <p:nvSpPr>
              <p:cNvPr id="26" name="文本框 25"/>
              <p:cNvSpPr txBox="1"/>
              <p:nvPr>
                <p:custDataLst>
                  <p:tags r:id="rId7"/>
                </p:custDataLst>
              </p:nvPr>
            </p:nvSpPr>
            <p:spPr>
              <a:xfrm>
                <a:off x="13957" y="5885"/>
                <a:ext cx="1125" cy="112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r>
                  <a:rPr lang="en-US" altLang="zh-CN" sz="2800" b="1"/>
                  <a:t>...</a:t>
                </a:r>
                <a:endParaRPr lang="en-US" altLang="zh-CN" sz="2800" b="1"/>
              </a:p>
            </p:txBody>
          </p:sp>
          <p:sp>
            <p:nvSpPr>
              <p:cNvPr id="28" name="矩形 27"/>
              <p:cNvSpPr/>
              <p:nvPr/>
            </p:nvSpPr>
            <p:spPr>
              <a:xfrm>
                <a:off x="13146" y="4676"/>
                <a:ext cx="1294" cy="930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r>
                  <a:rPr lang="zh-CN" altLang="en-US" sz="1600"/>
                  <a:t>任务</a:t>
                </a:r>
                <a:endParaRPr lang="zh-CN" altLang="en-US" sz="1600"/>
              </a:p>
            </p:txBody>
          </p:sp>
          <p:sp>
            <p:nvSpPr>
              <p:cNvPr id="29" name="矩形 28"/>
              <p:cNvSpPr/>
              <p:nvPr>
                <p:custDataLst>
                  <p:tags r:id="rId8"/>
                </p:custDataLst>
              </p:nvPr>
            </p:nvSpPr>
            <p:spPr>
              <a:xfrm>
                <a:off x="14447" y="4676"/>
                <a:ext cx="1294" cy="930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r>
                  <a:rPr lang="en-US" altLang="zh-CN" sz="2400" b="1"/>
                  <a:t>...</a:t>
                </a:r>
                <a:endParaRPr lang="en-US" altLang="zh-CN" sz="2400" b="1"/>
              </a:p>
            </p:txBody>
          </p:sp>
          <p:sp>
            <p:nvSpPr>
              <p:cNvPr id="30" name="矩形 29"/>
              <p:cNvSpPr/>
              <p:nvPr>
                <p:custDataLst>
                  <p:tags r:id="rId9"/>
                </p:custDataLst>
              </p:nvPr>
            </p:nvSpPr>
            <p:spPr>
              <a:xfrm>
                <a:off x="15748" y="4676"/>
                <a:ext cx="1294" cy="930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r>
                  <a:rPr lang="zh-CN" altLang="en-US" sz="1600"/>
                  <a:t>任务</a:t>
                </a:r>
                <a:endParaRPr lang="zh-CN" altLang="en-US" sz="1600"/>
              </a:p>
            </p:txBody>
          </p:sp>
          <p:sp>
            <p:nvSpPr>
              <p:cNvPr id="33" name="矩形 32"/>
              <p:cNvSpPr/>
              <p:nvPr>
                <p:custDataLst>
                  <p:tags r:id="rId10"/>
                </p:custDataLst>
              </p:nvPr>
            </p:nvSpPr>
            <p:spPr>
              <a:xfrm>
                <a:off x="13146" y="7244"/>
                <a:ext cx="1294" cy="930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r>
                  <a:rPr lang="zh-CN" altLang="en-US" sz="1600"/>
                  <a:t>任务</a:t>
                </a:r>
                <a:endParaRPr lang="zh-CN" altLang="en-US" sz="1600"/>
              </a:p>
            </p:txBody>
          </p:sp>
          <p:sp>
            <p:nvSpPr>
              <p:cNvPr id="34" name="矩形 33"/>
              <p:cNvSpPr/>
              <p:nvPr>
                <p:custDataLst>
                  <p:tags r:id="rId11"/>
                </p:custDataLst>
              </p:nvPr>
            </p:nvSpPr>
            <p:spPr>
              <a:xfrm>
                <a:off x="14447" y="7244"/>
                <a:ext cx="1294" cy="930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r>
                  <a:rPr lang="en-US" altLang="zh-CN" sz="2400" b="1"/>
                  <a:t>...</a:t>
                </a:r>
                <a:endParaRPr lang="en-US" altLang="zh-CN" sz="2400" b="1"/>
              </a:p>
            </p:txBody>
          </p:sp>
          <p:sp>
            <p:nvSpPr>
              <p:cNvPr id="35" name="矩形 34"/>
              <p:cNvSpPr/>
              <p:nvPr>
                <p:custDataLst>
                  <p:tags r:id="rId12"/>
                </p:custDataLst>
              </p:nvPr>
            </p:nvSpPr>
            <p:spPr>
              <a:xfrm>
                <a:off x="15748" y="7244"/>
                <a:ext cx="1294" cy="930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r>
                  <a:rPr lang="zh-CN" altLang="en-US" sz="1600"/>
                  <a:t>任务</a:t>
                </a:r>
                <a:endParaRPr lang="zh-CN" altLang="en-US" sz="1600"/>
              </a:p>
            </p:txBody>
          </p:sp>
        </p:grpSp>
        <p:grpSp>
          <p:nvGrpSpPr>
            <p:cNvPr id="38" name="组合 37"/>
            <p:cNvGrpSpPr/>
            <p:nvPr/>
          </p:nvGrpSpPr>
          <p:grpSpPr>
            <a:xfrm>
              <a:off x="11019" y="2433"/>
              <a:ext cx="4766" cy="4151"/>
              <a:chOff x="10951" y="3356"/>
              <a:chExt cx="6655" cy="5691"/>
            </a:xfrm>
          </p:grpSpPr>
          <p:sp>
            <p:nvSpPr>
              <p:cNvPr id="39" name="流程图: 文档 38"/>
              <p:cNvSpPr/>
              <p:nvPr>
                <p:custDataLst>
                  <p:tags r:id="rId13"/>
                </p:custDataLst>
              </p:nvPr>
            </p:nvSpPr>
            <p:spPr>
              <a:xfrm>
                <a:off x="11428" y="6875"/>
                <a:ext cx="5818" cy="2035"/>
              </a:xfrm>
              <a:prstGeom prst="flowChartDocument">
                <a:avLst/>
              </a:prstGeom>
              <a:solidFill>
                <a:schemeClr val="bg1">
                  <a:lumMod val="95000"/>
                </a:schemeClr>
              </a:solidFill>
            </p:spPr>
            <p:style>
              <a:lnRef idx="0">
                <a:schemeClr val="accent3"/>
              </a:lnRef>
              <a:fillRef idx="3">
                <a:schemeClr val="accent3"/>
              </a:fillRef>
              <a:effectRef idx="3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40" name="文本框 39"/>
              <p:cNvSpPr txBox="1"/>
              <p:nvPr>
                <p:custDataLst>
                  <p:tags r:id="rId14"/>
                </p:custDataLst>
              </p:nvPr>
            </p:nvSpPr>
            <p:spPr>
              <a:xfrm>
                <a:off x="11273" y="7346"/>
                <a:ext cx="1881" cy="795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p>
                <a:pPr algn="ctr"/>
                <a:r>
                  <a:rPr lang="zh-CN" altLang="en-US">
                    <a:sym typeface="+mn-ea"/>
                  </a:rPr>
                  <a:t>阶段</a:t>
                </a:r>
                <a:r>
                  <a:rPr lang="en-US" altLang="zh-CN">
                    <a:sym typeface="+mn-ea"/>
                  </a:rPr>
                  <a:t>P</a:t>
                </a:r>
                <a:endParaRPr lang="en-US" altLang="zh-CN">
                  <a:sym typeface="+mn-ea"/>
                </a:endParaRPr>
              </a:p>
            </p:txBody>
          </p:sp>
          <p:sp>
            <p:nvSpPr>
              <p:cNvPr id="41" name="流程图: 文档 40"/>
              <p:cNvSpPr/>
              <p:nvPr>
                <p:custDataLst>
                  <p:tags r:id="rId15"/>
                </p:custDataLst>
              </p:nvPr>
            </p:nvSpPr>
            <p:spPr>
              <a:xfrm>
                <a:off x="11428" y="4264"/>
                <a:ext cx="5818" cy="2035"/>
              </a:xfrm>
              <a:prstGeom prst="flowChartDocument">
                <a:avLst/>
              </a:prstGeom>
              <a:solidFill>
                <a:schemeClr val="bg1">
                  <a:lumMod val="95000"/>
                </a:schemeClr>
              </a:solidFill>
            </p:spPr>
            <p:style>
              <a:lnRef idx="0">
                <a:schemeClr val="accent3"/>
              </a:lnRef>
              <a:fillRef idx="3">
                <a:schemeClr val="accent3"/>
              </a:fillRef>
              <a:effectRef idx="3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42" name="矩形 41"/>
              <p:cNvSpPr/>
              <p:nvPr>
                <p:custDataLst>
                  <p:tags r:id="rId16"/>
                </p:custDataLst>
              </p:nvPr>
            </p:nvSpPr>
            <p:spPr>
              <a:xfrm>
                <a:off x="10951" y="3356"/>
                <a:ext cx="6655" cy="5691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chemeClr val="lt1"/>
                    </a:solidFill>
                  </a14:hiddenFill>
                </a:ext>
              </a:extLst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p>
                <a:pPr algn="ctr"/>
                <a:endParaRPr lang="en-US" altLang="zh-CN" sz="2400">
                  <a:solidFill>
                    <a:schemeClr val="tx1"/>
                  </a:solidFill>
                </a:endParaRPr>
              </a:p>
            </p:txBody>
          </p:sp>
          <p:sp>
            <p:nvSpPr>
              <p:cNvPr id="43" name="文本框 42"/>
              <p:cNvSpPr txBox="1"/>
              <p:nvPr>
                <p:custDataLst>
                  <p:tags r:id="rId17"/>
                </p:custDataLst>
              </p:nvPr>
            </p:nvSpPr>
            <p:spPr>
              <a:xfrm>
                <a:off x="11107" y="3402"/>
                <a:ext cx="6139" cy="994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p>
                <a:pPr algn="ctr"/>
                <a:r>
                  <a:rPr lang="zh-CN" altLang="en-US" sz="2400">
                    <a:sym typeface="+mn-ea"/>
                  </a:rPr>
                  <a:t>作业</a:t>
                </a:r>
                <a:r>
                  <a:rPr lang="en-US" altLang="zh-CN" sz="2400">
                    <a:sym typeface="+mn-ea"/>
                  </a:rPr>
                  <a:t>M</a:t>
                </a:r>
                <a:r>
                  <a:rPr lang="en-US" altLang="zh-CN" sz="2400">
                    <a:sym typeface="+mn-ea"/>
                  </a:rPr>
                  <a:t>(Job)</a:t>
                </a:r>
                <a:endParaRPr lang="en-US" altLang="zh-CN" sz="2400">
                  <a:sym typeface="+mn-ea"/>
                </a:endParaRPr>
              </a:p>
            </p:txBody>
          </p:sp>
          <p:sp>
            <p:nvSpPr>
              <p:cNvPr id="44" name="文本框 43"/>
              <p:cNvSpPr txBox="1"/>
              <p:nvPr>
                <p:custDataLst>
                  <p:tags r:id="rId18"/>
                </p:custDataLst>
              </p:nvPr>
            </p:nvSpPr>
            <p:spPr>
              <a:xfrm>
                <a:off x="11273" y="4735"/>
                <a:ext cx="1881" cy="795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p>
                <a:pPr algn="ctr"/>
                <a:r>
                  <a:rPr lang="zh-CN" altLang="en-US">
                    <a:sym typeface="+mn-ea"/>
                  </a:rPr>
                  <a:t>阶段</a:t>
                </a:r>
                <a:r>
                  <a:rPr lang="en-US" altLang="zh-CN">
                    <a:sym typeface="+mn-ea"/>
                  </a:rPr>
                  <a:t>1</a:t>
                </a:r>
                <a:endParaRPr lang="en-US" altLang="zh-CN">
                  <a:sym typeface="+mn-ea"/>
                </a:endParaRPr>
              </a:p>
            </p:txBody>
          </p:sp>
          <p:sp>
            <p:nvSpPr>
              <p:cNvPr id="45" name="文本框 44"/>
              <p:cNvSpPr txBox="1"/>
              <p:nvPr>
                <p:custDataLst>
                  <p:tags r:id="rId19"/>
                </p:custDataLst>
              </p:nvPr>
            </p:nvSpPr>
            <p:spPr>
              <a:xfrm>
                <a:off x="13957" y="5885"/>
                <a:ext cx="1125" cy="112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r>
                  <a:rPr lang="en-US" altLang="zh-CN" sz="2800" b="1"/>
                  <a:t>...</a:t>
                </a:r>
                <a:endParaRPr lang="en-US" altLang="zh-CN" sz="2800" b="1"/>
              </a:p>
            </p:txBody>
          </p:sp>
          <p:sp>
            <p:nvSpPr>
              <p:cNvPr id="46" name="矩形 45"/>
              <p:cNvSpPr/>
              <p:nvPr>
                <p:custDataLst>
                  <p:tags r:id="rId20"/>
                </p:custDataLst>
              </p:nvPr>
            </p:nvSpPr>
            <p:spPr>
              <a:xfrm>
                <a:off x="13146" y="4676"/>
                <a:ext cx="1294" cy="930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r>
                  <a:rPr lang="zh-CN" altLang="en-US" sz="1600"/>
                  <a:t>任务</a:t>
                </a:r>
                <a:endParaRPr lang="zh-CN" altLang="en-US" sz="1600"/>
              </a:p>
            </p:txBody>
          </p:sp>
          <p:sp>
            <p:nvSpPr>
              <p:cNvPr id="47" name="矩形 46"/>
              <p:cNvSpPr/>
              <p:nvPr>
                <p:custDataLst>
                  <p:tags r:id="rId21"/>
                </p:custDataLst>
              </p:nvPr>
            </p:nvSpPr>
            <p:spPr>
              <a:xfrm>
                <a:off x="14447" y="4676"/>
                <a:ext cx="1294" cy="930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r>
                  <a:rPr lang="en-US" altLang="zh-CN" sz="2400" b="1"/>
                  <a:t>...</a:t>
                </a:r>
                <a:endParaRPr lang="en-US" altLang="zh-CN" sz="2400" b="1"/>
              </a:p>
            </p:txBody>
          </p:sp>
          <p:sp>
            <p:nvSpPr>
              <p:cNvPr id="48" name="矩形 47"/>
              <p:cNvSpPr/>
              <p:nvPr>
                <p:custDataLst>
                  <p:tags r:id="rId22"/>
                </p:custDataLst>
              </p:nvPr>
            </p:nvSpPr>
            <p:spPr>
              <a:xfrm>
                <a:off x="15748" y="4676"/>
                <a:ext cx="1294" cy="930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r>
                  <a:rPr lang="zh-CN" altLang="en-US" sz="1600"/>
                  <a:t>任务</a:t>
                </a:r>
                <a:endParaRPr lang="zh-CN" altLang="en-US" sz="1600"/>
              </a:p>
            </p:txBody>
          </p:sp>
          <p:sp>
            <p:nvSpPr>
              <p:cNvPr id="49" name="矩形 48"/>
              <p:cNvSpPr/>
              <p:nvPr>
                <p:custDataLst>
                  <p:tags r:id="rId23"/>
                </p:custDataLst>
              </p:nvPr>
            </p:nvSpPr>
            <p:spPr>
              <a:xfrm>
                <a:off x="13146" y="7244"/>
                <a:ext cx="1294" cy="930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r>
                  <a:rPr lang="zh-CN" altLang="en-US" sz="1600"/>
                  <a:t>任务</a:t>
                </a:r>
                <a:endParaRPr lang="zh-CN" altLang="en-US" sz="1600"/>
              </a:p>
            </p:txBody>
          </p:sp>
          <p:sp>
            <p:nvSpPr>
              <p:cNvPr id="50" name="矩形 49"/>
              <p:cNvSpPr/>
              <p:nvPr>
                <p:custDataLst>
                  <p:tags r:id="rId24"/>
                </p:custDataLst>
              </p:nvPr>
            </p:nvSpPr>
            <p:spPr>
              <a:xfrm>
                <a:off x="14447" y="7244"/>
                <a:ext cx="1294" cy="930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r>
                  <a:rPr lang="en-US" altLang="zh-CN" sz="2400" b="1"/>
                  <a:t>...</a:t>
                </a:r>
                <a:endParaRPr lang="en-US" altLang="zh-CN" sz="2400" b="1"/>
              </a:p>
            </p:txBody>
          </p:sp>
          <p:sp>
            <p:nvSpPr>
              <p:cNvPr id="51" name="矩形 50"/>
              <p:cNvSpPr/>
              <p:nvPr>
                <p:custDataLst>
                  <p:tags r:id="rId25"/>
                </p:custDataLst>
              </p:nvPr>
            </p:nvSpPr>
            <p:spPr>
              <a:xfrm>
                <a:off x="15748" y="7244"/>
                <a:ext cx="1294" cy="930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r>
                  <a:rPr lang="zh-CN" altLang="en-US" sz="1600"/>
                  <a:t>任务</a:t>
                </a:r>
                <a:endParaRPr lang="zh-CN" altLang="en-US" sz="1600"/>
              </a:p>
            </p:txBody>
          </p:sp>
        </p:grpSp>
        <p:sp>
          <p:nvSpPr>
            <p:cNvPr id="52" name="文本框 51"/>
            <p:cNvSpPr txBox="1"/>
            <p:nvPr>
              <p:custDataLst>
                <p:tags r:id="rId26"/>
              </p:custDataLst>
            </p:nvPr>
          </p:nvSpPr>
          <p:spPr>
            <a:xfrm>
              <a:off x="10204" y="4278"/>
              <a:ext cx="806" cy="82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 sz="2800" b="1"/>
                <a:t>...</a:t>
              </a:r>
              <a:endParaRPr lang="en-US" altLang="zh-CN" sz="2800" b="1"/>
            </a:p>
          </p:txBody>
        </p:sp>
      </p:grpSp>
      <p:sp>
        <p:nvSpPr>
          <p:cNvPr id="54" name="椭圆 53"/>
          <p:cNvSpPr/>
          <p:nvPr/>
        </p:nvSpPr>
        <p:spPr>
          <a:xfrm>
            <a:off x="786130" y="1797685"/>
            <a:ext cx="2357120" cy="228028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2400"/>
              <a:t>任务控制节点</a:t>
            </a:r>
            <a:endParaRPr lang="zh-CN" altLang="en-US" sz="2400"/>
          </a:p>
          <a:p>
            <a:pPr algn="ctr"/>
            <a:r>
              <a:rPr lang="en-US" altLang="zh-CN" sz="2400"/>
              <a:t>(Driver)</a:t>
            </a:r>
            <a:endParaRPr lang="en-US" altLang="zh-CN" sz="2400"/>
          </a:p>
        </p:txBody>
      </p:sp>
      <p:sp>
        <p:nvSpPr>
          <p:cNvPr id="55" name="文本框 54"/>
          <p:cNvSpPr txBox="1"/>
          <p:nvPr/>
        </p:nvSpPr>
        <p:spPr>
          <a:xfrm>
            <a:off x="605790" y="4348480"/>
            <a:ext cx="95123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800"/>
              <a:t>应用</a:t>
            </a:r>
            <a:endParaRPr lang="zh-CN" altLang="en-US" sz="2800"/>
          </a:p>
        </p:txBody>
      </p:sp>
      <p:sp>
        <p:nvSpPr>
          <p:cNvPr id="24578" name="标题 1"/>
          <p:cNvSpPr>
            <a:spLocks noGrp="1"/>
          </p:cNvSpPr>
          <p:nvPr>
            <p:ph type="title"/>
            <p:custDataLst>
              <p:tags r:id="rId27"/>
            </p:custDataLst>
          </p:nvPr>
        </p:nvSpPr>
        <p:spPr/>
        <p:txBody>
          <a:bodyPr vert="horz" wrap="square" lIns="91440" tIns="45720" rIns="91440" bIns="45720" anchor="ctr" anchorCtr="0"/>
          <a:p>
            <a:r>
              <a:rPr lang="zh-CN" b="1" dirty="0"/>
              <a:t>概念间的关系</a:t>
            </a:r>
            <a:endParaRPr lang="zh-CN" b="1" dirty="0"/>
          </a:p>
        </p:txBody>
      </p:sp>
      <p:sp>
        <p:nvSpPr>
          <p:cNvPr id="56" name="文本框 55"/>
          <p:cNvSpPr txBox="1"/>
          <p:nvPr/>
        </p:nvSpPr>
        <p:spPr>
          <a:xfrm>
            <a:off x="529590" y="5358130"/>
            <a:ext cx="10300970" cy="1198880"/>
          </a:xfrm>
          <a:prstGeom prst="rect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 anchor="t">
            <a:spAutoFit/>
          </a:bodyPr>
          <a:p>
            <a:pPr indent="0">
              <a:buNone/>
            </a:pPr>
            <a:r>
              <a:rPr lang="zh-CN" altLang="zh-CN" sz="2400" dirty="0">
                <a:latin typeface="Arial" panose="020B0604020202020204" pitchFamily="34" charset="0"/>
                <a:sym typeface="+mn-ea"/>
              </a:rPr>
              <a:t>当执行一个</a:t>
            </a:r>
            <a:r>
              <a:rPr lang="zh-CN" altLang="en-US" sz="2400" dirty="0">
                <a:latin typeface="Arial" panose="020B0604020202020204" pitchFamily="34" charset="0"/>
                <a:sym typeface="+mn-ea"/>
              </a:rPr>
              <a:t>应用</a:t>
            </a:r>
            <a:r>
              <a:rPr lang="zh-CN" altLang="zh-CN" sz="2400" dirty="0">
                <a:latin typeface="Arial" panose="020B0604020202020204" pitchFamily="34" charset="0"/>
                <a:sym typeface="+mn-ea"/>
              </a:rPr>
              <a:t>时，</a:t>
            </a:r>
            <a:r>
              <a:rPr lang="en-US" altLang="zh-CN" sz="2400" dirty="0">
                <a:latin typeface="Arial" panose="020B0604020202020204" pitchFamily="34" charset="0"/>
                <a:sym typeface="+mn-ea"/>
              </a:rPr>
              <a:t>Driver</a:t>
            </a:r>
            <a:r>
              <a:rPr lang="zh-CN" altLang="zh-CN" sz="2400" dirty="0">
                <a:latin typeface="Arial" panose="020B0604020202020204" pitchFamily="34" charset="0"/>
                <a:sym typeface="+mn-ea"/>
              </a:rPr>
              <a:t>会向集群管理器申请资源，启动</a:t>
            </a:r>
            <a:r>
              <a:rPr lang="en-US" altLang="zh-CN" sz="2400" dirty="0">
                <a:latin typeface="Arial" panose="020B0604020202020204" pitchFamily="34" charset="0"/>
                <a:sym typeface="+mn-ea"/>
              </a:rPr>
              <a:t>Executor</a:t>
            </a:r>
            <a:r>
              <a:rPr lang="zh-CN" altLang="zh-CN" sz="2400" dirty="0">
                <a:latin typeface="Arial" panose="020B0604020202020204" pitchFamily="34" charset="0"/>
                <a:sym typeface="+mn-ea"/>
              </a:rPr>
              <a:t>，并向</a:t>
            </a:r>
            <a:r>
              <a:rPr lang="en-US" altLang="zh-CN" sz="2400" dirty="0">
                <a:latin typeface="Arial" panose="020B0604020202020204" pitchFamily="34" charset="0"/>
                <a:sym typeface="+mn-ea"/>
              </a:rPr>
              <a:t>Executor</a:t>
            </a:r>
            <a:r>
              <a:rPr lang="zh-CN" altLang="zh-CN" sz="2400" dirty="0">
                <a:latin typeface="Arial" panose="020B0604020202020204" pitchFamily="34" charset="0"/>
                <a:sym typeface="+mn-ea"/>
              </a:rPr>
              <a:t>发送应用程序代码和文件，然后在</a:t>
            </a:r>
            <a:r>
              <a:rPr lang="en-US" altLang="zh-CN" sz="2400" dirty="0">
                <a:latin typeface="Arial" panose="020B0604020202020204" pitchFamily="34" charset="0"/>
                <a:sym typeface="+mn-ea"/>
              </a:rPr>
              <a:t>Executor</a:t>
            </a:r>
            <a:r>
              <a:rPr lang="zh-CN" altLang="zh-CN" sz="2400" dirty="0">
                <a:latin typeface="Arial" panose="020B0604020202020204" pitchFamily="34" charset="0"/>
                <a:sym typeface="+mn-ea"/>
              </a:rPr>
              <a:t>上执行</a:t>
            </a:r>
            <a:r>
              <a:rPr lang="zh-CN" altLang="en-US" sz="2400" dirty="0">
                <a:latin typeface="Arial" panose="020B0604020202020204" pitchFamily="34" charset="0"/>
                <a:sym typeface="+mn-ea"/>
              </a:rPr>
              <a:t>任务</a:t>
            </a:r>
            <a:r>
              <a:rPr lang="zh-CN" altLang="zh-CN" sz="2400" dirty="0">
                <a:latin typeface="Arial" panose="020B0604020202020204" pitchFamily="34" charset="0"/>
                <a:sym typeface="+mn-ea"/>
              </a:rPr>
              <a:t>，运行结束后，执行结果会返回给</a:t>
            </a:r>
            <a:r>
              <a:rPr lang="en-US" altLang="zh-CN" sz="2400" dirty="0">
                <a:latin typeface="Arial" panose="020B0604020202020204" pitchFamily="34" charset="0"/>
                <a:sym typeface="+mn-ea"/>
              </a:rPr>
              <a:t>Driver</a:t>
            </a:r>
            <a:r>
              <a:rPr lang="zh-CN" altLang="en-US" sz="2400" dirty="0">
                <a:latin typeface="Arial" panose="020B0604020202020204" pitchFamily="34" charset="0"/>
                <a:sym typeface="+mn-ea"/>
              </a:rPr>
              <a:t>，</a:t>
            </a:r>
            <a:r>
              <a:rPr lang="zh-CN" altLang="zh-CN" sz="2400" dirty="0">
                <a:latin typeface="Arial" panose="020B0604020202020204" pitchFamily="34" charset="0"/>
                <a:sym typeface="+mn-ea"/>
              </a:rPr>
              <a:t>或者写到</a:t>
            </a:r>
            <a:r>
              <a:rPr lang="en-US" altLang="zh-CN" sz="2400" dirty="0">
                <a:latin typeface="Arial" panose="020B0604020202020204" pitchFamily="34" charset="0"/>
                <a:sym typeface="+mn-ea"/>
              </a:rPr>
              <a:t>HDFS</a:t>
            </a:r>
            <a:r>
              <a:rPr lang="zh-CN" altLang="zh-CN" sz="2400" dirty="0">
                <a:latin typeface="Arial" panose="020B0604020202020204" pitchFamily="34" charset="0"/>
                <a:sym typeface="+mn-ea"/>
              </a:rPr>
              <a:t>或者其他数据库中</a:t>
            </a:r>
            <a:endParaRPr lang="zh-CN" altLang="zh-CN" sz="2400" dirty="0">
              <a:latin typeface="Arial" panose="020B0604020202020204" pitchFamily="34" charset="0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5" grpId="0"/>
      <p:bldP spid="37" grpId="0" animBg="1"/>
      <p:bldP spid="55" grpId="1"/>
      <p:bldP spid="37" grpId="1" animBg="1"/>
      <p:bldP spid="54" grpId="0" animBg="1"/>
      <p:bldP spid="54" grpId="1" animBg="1"/>
      <p:bldP spid="56" grpId="0" animBg="1"/>
      <p:bldP spid="56" grpId="1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7E57CE09-A6DF-4F65-B9AD-CB157D51E68C}" type="slidenum">
              <a:rPr lang="zh-CN" altLang="en-US" smtClean="0"/>
            </a:fld>
            <a:endParaRPr lang="zh-CN" altLang="en-US"/>
          </a:p>
        </p:txBody>
      </p:sp>
      <p:sp>
        <p:nvSpPr>
          <p:cNvPr id="4" name="矩形 3"/>
          <p:cNvSpPr/>
          <p:nvPr/>
        </p:nvSpPr>
        <p:spPr>
          <a:xfrm>
            <a:off x="4793615" y="2208530"/>
            <a:ext cx="2604770" cy="108458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zh-CN" altLang="en-US" sz="2400"/>
              <a:t>集群</a:t>
            </a:r>
            <a:r>
              <a:rPr lang="zh-CN" altLang="en-US" sz="2400"/>
              <a:t>资源管理器</a:t>
            </a:r>
            <a:endParaRPr lang="zh-CN" altLang="en-US" sz="2400"/>
          </a:p>
          <a:p>
            <a:pPr algn="ctr"/>
            <a:r>
              <a:rPr lang="en-US" altLang="zh-CN" sz="2400"/>
              <a:t>(Cluster Manager)</a:t>
            </a:r>
            <a:endParaRPr lang="en-US" altLang="zh-CN" sz="2400"/>
          </a:p>
        </p:txBody>
      </p:sp>
      <p:grpSp>
        <p:nvGrpSpPr>
          <p:cNvPr id="20" name="组合 19"/>
          <p:cNvGrpSpPr/>
          <p:nvPr/>
        </p:nvGrpSpPr>
        <p:grpSpPr>
          <a:xfrm>
            <a:off x="299720" y="3037840"/>
            <a:ext cx="3290570" cy="2016760"/>
            <a:chOff x="11142" y="6140"/>
            <a:chExt cx="6140" cy="3750"/>
          </a:xfrm>
        </p:grpSpPr>
        <p:sp>
          <p:nvSpPr>
            <p:cNvPr id="13" name="矩形 12"/>
            <p:cNvSpPr/>
            <p:nvPr>
              <p:custDataLst>
                <p:tags r:id="rId1"/>
              </p:custDataLst>
            </p:nvPr>
          </p:nvSpPr>
          <p:spPr>
            <a:xfrm>
              <a:off x="11142" y="6140"/>
              <a:ext cx="6140" cy="3750"/>
            </a:xfrm>
            <a:prstGeom prst="rect">
              <a:avLst/>
            </a:prstGeom>
            <a:extLst>
              <a:ext uri="{909E8E84-426E-40DD-AFC4-6F175D3DCCD1}">
                <a14:hiddenFill xmlns:a14="http://schemas.microsoft.com/office/drawing/2010/main">
                  <a:solidFill>
                    <a:schemeClr val="bg1">
                      <a:lumMod val="95000"/>
                    </a:schemeClr>
                  </a:solidFill>
                </a14:hiddenFill>
              </a:ext>
            </a:ex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p>
              <a:pPr algn="ctr"/>
              <a:endParaRPr lang="en-US" altLang="zh-CN" sz="2400">
                <a:solidFill>
                  <a:schemeClr val="tx1"/>
                </a:solidFill>
              </a:endParaRPr>
            </a:p>
          </p:txBody>
        </p:sp>
        <p:sp>
          <p:nvSpPr>
            <p:cNvPr id="14" name="文本框 13"/>
            <p:cNvSpPr txBox="1"/>
            <p:nvPr>
              <p:custDataLst>
                <p:tags r:id="rId2"/>
              </p:custDataLst>
            </p:nvPr>
          </p:nvSpPr>
          <p:spPr>
            <a:xfrm>
              <a:off x="11143" y="6282"/>
              <a:ext cx="6139" cy="856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p>
              <a:pPr algn="ctr"/>
              <a:r>
                <a:rPr lang="zh-CN" altLang="en-US" sz="2400">
                  <a:sym typeface="+mn-ea"/>
                </a:rPr>
                <a:t>工作节点</a:t>
              </a:r>
              <a:r>
                <a:rPr lang="en-US" altLang="zh-CN" sz="2400">
                  <a:sym typeface="+mn-ea"/>
                </a:rPr>
                <a:t>(Worker Node)</a:t>
              </a:r>
              <a:endParaRPr lang="en-US" altLang="zh-CN" sz="2400">
                <a:sym typeface="+mn-ea"/>
              </a:endParaRPr>
            </a:p>
          </p:txBody>
        </p:sp>
        <p:sp>
          <p:nvSpPr>
            <p:cNvPr id="15" name="矩形 14"/>
            <p:cNvSpPr/>
            <p:nvPr>
              <p:custDataLst>
                <p:tags r:id="rId3"/>
              </p:custDataLst>
            </p:nvPr>
          </p:nvSpPr>
          <p:spPr>
            <a:xfrm>
              <a:off x="11534" y="7144"/>
              <a:ext cx="5358" cy="2559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</p:spPr>
          <p:style>
            <a:lnRef idx="0">
              <a:schemeClr val="accent3"/>
            </a:lnRef>
            <a:fillRef idx="3">
              <a:schemeClr val="accent3"/>
            </a:fillRef>
            <a:effectRef idx="3">
              <a:schemeClr val="accent3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 altLang="zh-CN" sz="2400">
                <a:solidFill>
                  <a:schemeClr val="tx1"/>
                </a:solidFill>
              </a:endParaRPr>
            </a:p>
          </p:txBody>
        </p:sp>
        <p:sp>
          <p:nvSpPr>
            <p:cNvPr id="16" name="文本框 15"/>
            <p:cNvSpPr txBox="1"/>
            <p:nvPr>
              <p:custDataLst>
                <p:tags r:id="rId4"/>
              </p:custDataLst>
            </p:nvPr>
          </p:nvSpPr>
          <p:spPr>
            <a:xfrm>
              <a:off x="11361" y="7209"/>
              <a:ext cx="3350" cy="1543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p>
              <a:pPr algn="ctr"/>
              <a:r>
                <a:rPr lang="zh-CN" altLang="en-US" sz="2400">
                  <a:sym typeface="+mn-ea"/>
                </a:rPr>
                <a:t>进程</a:t>
              </a:r>
              <a:r>
                <a:rPr lang="en-US" sz="2400">
                  <a:sym typeface="+mn-ea"/>
                </a:rPr>
                <a:t>Executor</a:t>
              </a:r>
              <a:endParaRPr lang="en-US" sz="2400">
                <a:sym typeface="+mn-ea"/>
              </a:endParaRPr>
            </a:p>
          </p:txBody>
        </p:sp>
        <p:sp>
          <p:nvSpPr>
            <p:cNvPr id="17" name="矩形 16"/>
            <p:cNvSpPr/>
            <p:nvPr>
              <p:custDataLst>
                <p:tags r:id="rId5"/>
              </p:custDataLst>
            </p:nvPr>
          </p:nvSpPr>
          <p:spPr>
            <a:xfrm>
              <a:off x="14488" y="7346"/>
              <a:ext cx="2287" cy="1054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p>
              <a:pPr algn="ctr"/>
              <a:r>
                <a:rPr lang="en-US" altLang="zh-CN" sz="2400"/>
                <a:t>Cache</a:t>
              </a:r>
              <a:endParaRPr lang="en-US" altLang="zh-CN" sz="2400"/>
            </a:p>
          </p:txBody>
        </p:sp>
        <p:sp>
          <p:nvSpPr>
            <p:cNvPr id="18" name="矩形 17"/>
            <p:cNvSpPr/>
            <p:nvPr>
              <p:custDataLst>
                <p:tags r:id="rId6"/>
              </p:custDataLst>
            </p:nvPr>
          </p:nvSpPr>
          <p:spPr>
            <a:xfrm>
              <a:off x="14487" y="8600"/>
              <a:ext cx="2288" cy="1054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p>
              <a:pPr algn="ctr"/>
              <a:r>
                <a:rPr lang="zh-CN" altLang="en-US" sz="2400"/>
                <a:t>任务</a:t>
              </a:r>
              <a:endParaRPr lang="zh-CN" altLang="en-US" sz="2400"/>
            </a:p>
          </p:txBody>
        </p:sp>
        <p:sp>
          <p:nvSpPr>
            <p:cNvPr id="19" name="矩形 18"/>
            <p:cNvSpPr/>
            <p:nvPr>
              <p:custDataLst>
                <p:tags r:id="rId7"/>
              </p:custDataLst>
            </p:nvPr>
          </p:nvSpPr>
          <p:spPr>
            <a:xfrm>
              <a:off x="11693" y="8600"/>
              <a:ext cx="2302" cy="1054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p>
              <a:pPr algn="ctr"/>
              <a:r>
                <a:rPr lang="zh-CN" altLang="en-US" sz="2400"/>
                <a:t>任务</a:t>
              </a:r>
              <a:endParaRPr lang="zh-CN" altLang="en-US" sz="2400"/>
            </a:p>
          </p:txBody>
        </p:sp>
      </p:grpSp>
      <p:grpSp>
        <p:nvGrpSpPr>
          <p:cNvPr id="21" name="组合 20"/>
          <p:cNvGrpSpPr/>
          <p:nvPr/>
        </p:nvGrpSpPr>
        <p:grpSpPr>
          <a:xfrm>
            <a:off x="299720" y="280670"/>
            <a:ext cx="3290570" cy="2016760"/>
            <a:chOff x="11142" y="6140"/>
            <a:chExt cx="6140" cy="3750"/>
          </a:xfrm>
        </p:grpSpPr>
        <p:sp>
          <p:nvSpPr>
            <p:cNvPr id="22" name="矩形 21"/>
            <p:cNvSpPr/>
            <p:nvPr>
              <p:custDataLst>
                <p:tags r:id="rId8"/>
              </p:custDataLst>
            </p:nvPr>
          </p:nvSpPr>
          <p:spPr>
            <a:xfrm>
              <a:off x="11142" y="6140"/>
              <a:ext cx="6140" cy="3750"/>
            </a:xfrm>
            <a:prstGeom prst="rect">
              <a:avLst/>
            </a:prstGeom>
            <a:extLst>
              <a:ext uri="{909E8E84-426E-40DD-AFC4-6F175D3DCCD1}">
                <a14:hiddenFill xmlns:a14="http://schemas.microsoft.com/office/drawing/2010/main">
                  <a:solidFill>
                    <a:schemeClr val="bg1">
                      <a:lumMod val="95000"/>
                    </a:schemeClr>
                  </a:solidFill>
                </a14:hiddenFill>
              </a:ext>
            </a:ex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p>
              <a:pPr algn="ctr"/>
              <a:endParaRPr lang="en-US" altLang="zh-CN" sz="2400">
                <a:solidFill>
                  <a:schemeClr val="tx1"/>
                </a:solidFill>
              </a:endParaRPr>
            </a:p>
          </p:txBody>
        </p:sp>
        <p:sp>
          <p:nvSpPr>
            <p:cNvPr id="23" name="文本框 22"/>
            <p:cNvSpPr txBox="1"/>
            <p:nvPr>
              <p:custDataLst>
                <p:tags r:id="rId9"/>
              </p:custDataLst>
            </p:nvPr>
          </p:nvSpPr>
          <p:spPr>
            <a:xfrm>
              <a:off x="11143" y="6282"/>
              <a:ext cx="6139" cy="856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p>
              <a:pPr algn="ctr"/>
              <a:r>
                <a:rPr lang="zh-CN" altLang="en-US" sz="2400">
                  <a:sym typeface="+mn-ea"/>
                </a:rPr>
                <a:t>工作节点</a:t>
              </a:r>
              <a:r>
                <a:rPr lang="en-US" altLang="zh-CN" sz="2400">
                  <a:sym typeface="+mn-ea"/>
                </a:rPr>
                <a:t>(Worker Node)</a:t>
              </a:r>
              <a:endParaRPr lang="en-US" altLang="zh-CN" sz="2400">
                <a:sym typeface="+mn-ea"/>
              </a:endParaRPr>
            </a:p>
          </p:txBody>
        </p:sp>
        <p:sp>
          <p:nvSpPr>
            <p:cNvPr id="24" name="矩形 23"/>
            <p:cNvSpPr/>
            <p:nvPr>
              <p:custDataLst>
                <p:tags r:id="rId10"/>
              </p:custDataLst>
            </p:nvPr>
          </p:nvSpPr>
          <p:spPr>
            <a:xfrm>
              <a:off x="11534" y="7144"/>
              <a:ext cx="5358" cy="2559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</p:spPr>
          <p:style>
            <a:lnRef idx="0">
              <a:schemeClr val="accent3"/>
            </a:lnRef>
            <a:fillRef idx="3">
              <a:schemeClr val="accent3"/>
            </a:fillRef>
            <a:effectRef idx="3">
              <a:schemeClr val="accent3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 altLang="zh-CN" sz="2400">
                <a:solidFill>
                  <a:schemeClr val="tx1"/>
                </a:solidFill>
              </a:endParaRPr>
            </a:p>
          </p:txBody>
        </p:sp>
        <p:sp>
          <p:nvSpPr>
            <p:cNvPr id="25" name="文本框 24"/>
            <p:cNvSpPr txBox="1"/>
            <p:nvPr>
              <p:custDataLst>
                <p:tags r:id="rId11"/>
              </p:custDataLst>
            </p:nvPr>
          </p:nvSpPr>
          <p:spPr>
            <a:xfrm>
              <a:off x="11361" y="7209"/>
              <a:ext cx="3350" cy="1543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p>
              <a:pPr algn="ctr"/>
              <a:r>
                <a:rPr lang="zh-CN" altLang="en-US" sz="2400">
                  <a:sym typeface="+mn-ea"/>
                </a:rPr>
                <a:t>进程</a:t>
              </a:r>
              <a:r>
                <a:rPr lang="en-US" sz="2400">
                  <a:sym typeface="+mn-ea"/>
                </a:rPr>
                <a:t>Executor</a:t>
              </a:r>
              <a:endParaRPr lang="en-US" sz="2400">
                <a:sym typeface="+mn-ea"/>
              </a:endParaRPr>
            </a:p>
          </p:txBody>
        </p:sp>
        <p:sp>
          <p:nvSpPr>
            <p:cNvPr id="26" name="矩形 25"/>
            <p:cNvSpPr/>
            <p:nvPr>
              <p:custDataLst>
                <p:tags r:id="rId12"/>
              </p:custDataLst>
            </p:nvPr>
          </p:nvSpPr>
          <p:spPr>
            <a:xfrm>
              <a:off x="14488" y="7346"/>
              <a:ext cx="2287" cy="1054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p>
              <a:pPr algn="ctr"/>
              <a:r>
                <a:rPr lang="en-US" altLang="zh-CN" sz="2400"/>
                <a:t>Cache</a:t>
              </a:r>
              <a:endParaRPr lang="en-US" altLang="zh-CN" sz="2400"/>
            </a:p>
          </p:txBody>
        </p:sp>
        <p:sp>
          <p:nvSpPr>
            <p:cNvPr id="27" name="矩形 26"/>
            <p:cNvSpPr/>
            <p:nvPr>
              <p:custDataLst>
                <p:tags r:id="rId13"/>
              </p:custDataLst>
            </p:nvPr>
          </p:nvSpPr>
          <p:spPr>
            <a:xfrm>
              <a:off x="14487" y="8600"/>
              <a:ext cx="2288" cy="1054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p>
              <a:pPr algn="ctr"/>
              <a:r>
                <a:rPr lang="zh-CN" altLang="en-US" sz="2400"/>
                <a:t>任务</a:t>
              </a:r>
              <a:endParaRPr lang="zh-CN" altLang="en-US" sz="2400"/>
            </a:p>
          </p:txBody>
        </p:sp>
        <p:sp>
          <p:nvSpPr>
            <p:cNvPr id="28" name="矩形 27"/>
            <p:cNvSpPr/>
            <p:nvPr>
              <p:custDataLst>
                <p:tags r:id="rId14"/>
              </p:custDataLst>
            </p:nvPr>
          </p:nvSpPr>
          <p:spPr>
            <a:xfrm>
              <a:off x="11693" y="8600"/>
              <a:ext cx="2302" cy="1054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p>
              <a:pPr algn="ctr"/>
              <a:r>
                <a:rPr lang="zh-CN" altLang="en-US" sz="2400"/>
                <a:t>任务</a:t>
              </a:r>
              <a:endParaRPr lang="zh-CN" altLang="en-US" sz="2400"/>
            </a:p>
          </p:txBody>
        </p:sp>
      </p:grpSp>
      <p:sp>
        <p:nvSpPr>
          <p:cNvPr id="29" name="文本框 28"/>
          <p:cNvSpPr txBox="1"/>
          <p:nvPr>
            <p:custDataLst>
              <p:tags r:id="rId15"/>
            </p:custDataLst>
          </p:nvPr>
        </p:nvSpPr>
        <p:spPr>
          <a:xfrm>
            <a:off x="5026025" y="489585"/>
            <a:ext cx="2139950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/>
            <a:r>
              <a:rPr lang="en-US" altLang="zh-CN" sz="2400">
                <a:sym typeface="+mn-ea"/>
              </a:rPr>
              <a:t>Spark</a:t>
            </a:r>
            <a:r>
              <a:rPr lang="zh-CN" altLang="en-US" sz="2400">
                <a:sym typeface="+mn-ea"/>
              </a:rPr>
              <a:t>自带的</a:t>
            </a:r>
            <a:endParaRPr lang="zh-CN" altLang="en-US" sz="2400">
              <a:sym typeface="+mn-ea"/>
            </a:endParaRPr>
          </a:p>
        </p:txBody>
      </p:sp>
      <p:sp>
        <p:nvSpPr>
          <p:cNvPr id="30" name="文本框 29"/>
          <p:cNvSpPr txBox="1"/>
          <p:nvPr>
            <p:custDataLst>
              <p:tags r:id="rId16"/>
            </p:custDataLst>
          </p:nvPr>
        </p:nvSpPr>
        <p:spPr>
          <a:xfrm>
            <a:off x="5303520" y="1101725"/>
            <a:ext cx="1584325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/>
            <a:r>
              <a:rPr lang="en-US" altLang="zh-CN" sz="2400">
                <a:sym typeface="+mn-ea"/>
              </a:rPr>
              <a:t>YARN</a:t>
            </a:r>
            <a:endParaRPr lang="en-US" altLang="zh-CN" sz="2400">
              <a:sym typeface="+mn-ea"/>
            </a:endParaRPr>
          </a:p>
        </p:txBody>
      </p:sp>
      <p:sp>
        <p:nvSpPr>
          <p:cNvPr id="31" name="文本框 30"/>
          <p:cNvSpPr txBox="1"/>
          <p:nvPr>
            <p:custDataLst>
              <p:tags r:id="rId17"/>
            </p:custDataLst>
          </p:nvPr>
        </p:nvSpPr>
        <p:spPr>
          <a:xfrm>
            <a:off x="5303520" y="1621790"/>
            <a:ext cx="1584325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/>
            <a:r>
              <a:rPr lang="en-US" altLang="zh-CN" sz="2400">
                <a:sym typeface="+mn-ea"/>
              </a:rPr>
              <a:t>Mesos</a:t>
            </a:r>
            <a:endParaRPr lang="en-US" altLang="zh-CN" sz="2400">
              <a:sym typeface="+mn-ea"/>
            </a:endParaRPr>
          </a:p>
        </p:txBody>
      </p:sp>
      <p:grpSp>
        <p:nvGrpSpPr>
          <p:cNvPr id="32" name="组合 31"/>
          <p:cNvGrpSpPr/>
          <p:nvPr/>
        </p:nvGrpSpPr>
        <p:grpSpPr>
          <a:xfrm>
            <a:off x="8112125" y="1882775"/>
            <a:ext cx="3289935" cy="2163445"/>
            <a:chOff x="10806" y="6140"/>
            <a:chExt cx="6139" cy="3295"/>
          </a:xfrm>
        </p:grpSpPr>
        <p:sp>
          <p:nvSpPr>
            <p:cNvPr id="33" name="矩形 32"/>
            <p:cNvSpPr/>
            <p:nvPr>
              <p:custDataLst>
                <p:tags r:id="rId18"/>
              </p:custDataLst>
            </p:nvPr>
          </p:nvSpPr>
          <p:spPr>
            <a:xfrm>
              <a:off x="11143" y="6140"/>
              <a:ext cx="5629" cy="3295"/>
            </a:xfrm>
            <a:prstGeom prst="rect">
              <a:avLst/>
            </a:prstGeom>
            <a:extLst>
              <a:ext uri="{909E8E84-426E-40DD-AFC4-6F175D3DCCD1}">
                <a14:hiddenFill xmlns:a14="http://schemas.microsoft.com/office/drawing/2010/main">
                  <a:solidFill>
                    <a:schemeClr val="bg1">
                      <a:lumMod val="95000"/>
                    </a:schemeClr>
                  </a:solidFill>
                </a14:hiddenFill>
              </a:ext>
            </a:ex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p>
              <a:pPr algn="ctr"/>
              <a:endParaRPr lang="en-US" altLang="zh-CN" sz="2400">
                <a:solidFill>
                  <a:schemeClr val="tx1"/>
                </a:solidFill>
              </a:endParaRPr>
            </a:p>
          </p:txBody>
        </p:sp>
        <p:sp>
          <p:nvSpPr>
            <p:cNvPr id="34" name="文本框 33"/>
            <p:cNvSpPr txBox="1"/>
            <p:nvPr>
              <p:custDataLst>
                <p:tags r:id="rId19"/>
              </p:custDataLst>
            </p:nvPr>
          </p:nvSpPr>
          <p:spPr>
            <a:xfrm>
              <a:off x="10806" y="6494"/>
              <a:ext cx="6139" cy="1264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p>
              <a:pPr algn="ctr"/>
              <a:r>
                <a:rPr lang="zh-CN" altLang="en-US" sz="2400">
                  <a:sym typeface="+mn-ea"/>
                </a:rPr>
                <a:t>任务控制节点</a:t>
              </a:r>
              <a:endParaRPr lang="en-US" sz="2400">
                <a:sym typeface="+mn-ea"/>
              </a:endParaRPr>
            </a:p>
            <a:p>
              <a:pPr algn="ctr"/>
              <a:r>
                <a:rPr lang="en-US" sz="2400">
                  <a:sym typeface="+mn-ea"/>
                </a:rPr>
                <a:t>(Driver Program)</a:t>
              </a:r>
              <a:endParaRPr lang="en-US" sz="2400">
                <a:sym typeface="+mn-ea"/>
              </a:endParaRPr>
            </a:p>
          </p:txBody>
        </p:sp>
        <p:sp>
          <p:nvSpPr>
            <p:cNvPr id="35" name="矩形 34"/>
            <p:cNvSpPr/>
            <p:nvPr>
              <p:custDataLst>
                <p:tags r:id="rId20"/>
              </p:custDataLst>
            </p:nvPr>
          </p:nvSpPr>
          <p:spPr>
            <a:xfrm>
              <a:off x="11534" y="8016"/>
              <a:ext cx="4674" cy="1163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</p:spPr>
          <p:style>
            <a:lnRef idx="0">
              <a:schemeClr val="accent3"/>
            </a:lnRef>
            <a:fillRef idx="3">
              <a:schemeClr val="accent3"/>
            </a:fillRef>
            <a:effectRef idx="3">
              <a:schemeClr val="accent3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altLang="zh-CN" sz="2400">
                  <a:solidFill>
                    <a:schemeClr val="tx1"/>
                  </a:solidFill>
                </a:rPr>
                <a:t>Spark Context</a:t>
              </a:r>
              <a:endParaRPr lang="en-US" altLang="zh-CN" sz="2400">
                <a:solidFill>
                  <a:schemeClr val="tx1"/>
                </a:solidFill>
              </a:endParaRPr>
            </a:p>
          </p:txBody>
        </p:sp>
      </p:grpSp>
      <p:sp>
        <p:nvSpPr>
          <p:cNvPr id="40" name="矩形 39"/>
          <p:cNvSpPr/>
          <p:nvPr>
            <p:custDataLst>
              <p:tags r:id="rId21"/>
            </p:custDataLst>
          </p:nvPr>
        </p:nvSpPr>
        <p:spPr>
          <a:xfrm>
            <a:off x="300355" y="5864225"/>
            <a:ext cx="3290570" cy="82359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en-US" sz="2400"/>
              <a:t>HDFS</a:t>
            </a:r>
            <a:r>
              <a:rPr lang="zh-CN" altLang="en-US" sz="2400"/>
              <a:t>、</a:t>
            </a:r>
            <a:r>
              <a:rPr lang="en-US" altLang="zh-CN" sz="2400"/>
              <a:t>HBase</a:t>
            </a:r>
            <a:endParaRPr lang="en-US" altLang="zh-CN" sz="2400"/>
          </a:p>
        </p:txBody>
      </p:sp>
      <p:cxnSp>
        <p:nvCxnSpPr>
          <p:cNvPr id="41" name="直接箭头连接符 40"/>
          <p:cNvCxnSpPr>
            <a:stCxn id="4" idx="1"/>
            <a:endCxn id="22" idx="3"/>
          </p:cNvCxnSpPr>
          <p:nvPr/>
        </p:nvCxnSpPr>
        <p:spPr>
          <a:xfrm flipH="1" flipV="1">
            <a:off x="3590290" y="1289050"/>
            <a:ext cx="1203325" cy="1461770"/>
          </a:xfrm>
          <a:prstGeom prst="straightConnector1">
            <a:avLst/>
          </a:prstGeom>
          <a:ln w="38100"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直接箭头连接符 41"/>
          <p:cNvCxnSpPr>
            <a:stCxn id="4" idx="1"/>
            <a:endCxn id="13" idx="3"/>
          </p:cNvCxnSpPr>
          <p:nvPr>
            <p:custDataLst>
              <p:tags r:id="rId22"/>
            </p:custDataLst>
          </p:nvPr>
        </p:nvCxnSpPr>
        <p:spPr>
          <a:xfrm flipH="1">
            <a:off x="3590290" y="2750820"/>
            <a:ext cx="1203325" cy="1295400"/>
          </a:xfrm>
          <a:prstGeom prst="straightConnector1">
            <a:avLst/>
          </a:prstGeom>
          <a:ln w="38100"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直接箭头连接符 42"/>
          <p:cNvCxnSpPr>
            <a:endCxn id="40" idx="0"/>
          </p:cNvCxnSpPr>
          <p:nvPr>
            <p:custDataLst>
              <p:tags r:id="rId23"/>
            </p:custDataLst>
          </p:nvPr>
        </p:nvCxnSpPr>
        <p:spPr>
          <a:xfrm flipH="1">
            <a:off x="1945640" y="4975225"/>
            <a:ext cx="1905" cy="889000"/>
          </a:xfrm>
          <a:prstGeom prst="straightConnector1">
            <a:avLst/>
          </a:prstGeom>
          <a:ln w="38100"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直接箭头连接符 43"/>
          <p:cNvCxnSpPr>
            <a:stCxn id="22" idx="2"/>
            <a:endCxn id="14" idx="0"/>
          </p:cNvCxnSpPr>
          <p:nvPr>
            <p:custDataLst>
              <p:tags r:id="rId24"/>
            </p:custDataLst>
          </p:nvPr>
        </p:nvCxnSpPr>
        <p:spPr>
          <a:xfrm>
            <a:off x="1945005" y="2297430"/>
            <a:ext cx="635" cy="816610"/>
          </a:xfrm>
          <a:prstGeom prst="straightConnector1">
            <a:avLst/>
          </a:prstGeom>
          <a:ln w="38100"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直接箭头连接符 44"/>
          <p:cNvCxnSpPr>
            <a:stCxn id="33" idx="1"/>
            <a:endCxn id="4" idx="3"/>
          </p:cNvCxnSpPr>
          <p:nvPr>
            <p:custDataLst>
              <p:tags r:id="rId25"/>
            </p:custDataLst>
          </p:nvPr>
        </p:nvCxnSpPr>
        <p:spPr>
          <a:xfrm flipH="1" flipV="1">
            <a:off x="7398385" y="2750820"/>
            <a:ext cx="894080" cy="213995"/>
          </a:xfrm>
          <a:prstGeom prst="straightConnector1">
            <a:avLst/>
          </a:prstGeom>
          <a:ln w="38100"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99" name="标题 1"/>
          <p:cNvSpPr>
            <a:spLocks noGrp="1"/>
          </p:cNvSpPr>
          <p:nvPr>
            <p:ph type="title"/>
            <p:custDataLst>
              <p:tags r:id="rId26"/>
            </p:custDataLst>
          </p:nvPr>
        </p:nvSpPr>
        <p:spPr>
          <a:xfrm>
            <a:off x="7677150" y="855345"/>
            <a:ext cx="4267835" cy="931545"/>
          </a:xfrm>
        </p:spPr>
        <p:txBody>
          <a:bodyPr vert="horz" wrap="square" lIns="91440" tIns="45720" rIns="91440" bIns="45720" anchor="ctr" anchorCtr="0"/>
          <a:p>
            <a:r>
              <a:rPr lang="en-US" altLang="zh-CN" b="1" dirty="0"/>
              <a:t>10.3.2 </a:t>
            </a:r>
            <a:r>
              <a:rPr lang="zh-CN" altLang="zh-CN" b="1" dirty="0"/>
              <a:t>架构</a:t>
            </a:r>
            <a:r>
              <a:rPr lang="zh-CN" altLang="en-US" b="1" dirty="0"/>
              <a:t>设计</a:t>
            </a:r>
            <a:endParaRPr lang="zh-CN" altLang="en-US" b="1" dirty="0"/>
          </a:p>
        </p:txBody>
      </p:sp>
      <p:sp>
        <p:nvSpPr>
          <p:cNvPr id="4103" name="矩形 6"/>
          <p:cNvSpPr/>
          <p:nvPr>
            <p:custDataLst>
              <p:tags r:id="rId27"/>
            </p:custDataLst>
          </p:nvPr>
        </p:nvSpPr>
        <p:spPr>
          <a:xfrm>
            <a:off x="4036060" y="4223385"/>
            <a:ext cx="7698105" cy="230695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r>
              <a:rPr lang="en-US" altLang="zh-CN" sz="2400" dirty="0">
                <a:latin typeface="Arial" panose="020B0604020202020204" pitchFamily="34" charset="0"/>
              </a:rPr>
              <a:t>Spark</a:t>
            </a:r>
            <a:r>
              <a:rPr lang="zh-CN" altLang="en-US" sz="2400" dirty="0">
                <a:latin typeface="Arial" panose="020B0604020202020204" pitchFamily="34" charset="0"/>
              </a:rPr>
              <a:t>所采用的</a:t>
            </a:r>
            <a:r>
              <a:rPr lang="en-US" altLang="zh-CN" sz="2400" dirty="0">
                <a:latin typeface="Arial" panose="020B0604020202020204" pitchFamily="34" charset="0"/>
              </a:rPr>
              <a:t>Executor</a:t>
            </a:r>
            <a:r>
              <a:rPr lang="zh-CN" altLang="en-US" sz="2400" dirty="0">
                <a:latin typeface="Arial" panose="020B0604020202020204" pitchFamily="34" charset="0"/>
              </a:rPr>
              <a:t>有两个优点：</a:t>
            </a:r>
            <a:endParaRPr lang="zh-CN" altLang="en-US" sz="2400" dirty="0">
              <a:latin typeface="Arial" panose="020B0604020202020204" pitchFamily="34" charset="0"/>
            </a:endParaRPr>
          </a:p>
          <a:p>
            <a:endParaRPr lang="en-US" altLang="zh-CN" sz="2400" dirty="0">
              <a:latin typeface="Arial" panose="020B0604020202020204" pitchFamily="34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zh-CN" altLang="en-US" sz="2400" dirty="0">
                <a:latin typeface="Arial" panose="020B0604020202020204" pitchFamily="34" charset="0"/>
              </a:rPr>
              <a:t>利用多线程来执行具体任务，减少任务的启动开销</a:t>
            </a:r>
            <a:endParaRPr lang="zh-CN" altLang="en-US" sz="2400" dirty="0">
              <a:latin typeface="Arial" panose="020B0604020202020204" pitchFamily="34" charset="0"/>
            </a:endParaRPr>
          </a:p>
          <a:p>
            <a:pPr marL="457200" indent="-457200">
              <a:buFont typeface="+mj-lt"/>
              <a:buAutoNum type="arabicPeriod"/>
            </a:pPr>
            <a:endParaRPr lang="en-US" altLang="zh-CN" sz="2400" dirty="0">
              <a:latin typeface="Arial" panose="020B0604020202020204" pitchFamily="34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altLang="zh-CN" sz="2400" dirty="0">
                <a:latin typeface="Arial" panose="020B0604020202020204" pitchFamily="34" charset="0"/>
              </a:rPr>
              <a:t>Executor</a:t>
            </a:r>
            <a:r>
              <a:rPr lang="zh-CN" altLang="en-US" sz="2400" dirty="0">
                <a:latin typeface="Arial" panose="020B0604020202020204" pitchFamily="34" charset="0"/>
              </a:rPr>
              <a:t>中有一个</a:t>
            </a:r>
            <a:r>
              <a:rPr lang="en-US" altLang="zh-CN" sz="2400" dirty="0">
                <a:latin typeface="Arial" panose="020B0604020202020204" pitchFamily="34" charset="0"/>
              </a:rPr>
              <a:t>BlockManager</a:t>
            </a:r>
            <a:r>
              <a:rPr lang="zh-CN" altLang="en-US" sz="2400" dirty="0">
                <a:latin typeface="Arial" panose="020B0604020202020204" pitchFamily="34" charset="0"/>
              </a:rPr>
              <a:t>存储模块，会将内存和磁盘共同作为存储设备，有效减少</a:t>
            </a:r>
            <a:r>
              <a:rPr lang="en-US" altLang="zh-CN" sz="2400" dirty="0">
                <a:latin typeface="Arial" panose="020B0604020202020204" pitchFamily="34" charset="0"/>
              </a:rPr>
              <a:t>IO</a:t>
            </a:r>
            <a:r>
              <a:rPr lang="zh-CN" altLang="en-US" sz="2400" dirty="0">
                <a:latin typeface="Arial" panose="020B0604020202020204" pitchFamily="34" charset="0"/>
              </a:rPr>
              <a:t>开销</a:t>
            </a:r>
            <a:endParaRPr lang="zh-CN" altLang="en-US" sz="2400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  <p:bldP spid="29" grpId="1"/>
      <p:bldP spid="30" grpId="0"/>
      <p:bldP spid="30" grpId="1"/>
      <p:bldP spid="31" grpId="0"/>
      <p:bldP spid="31" grpId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标题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lstStyle/>
          <a:p>
            <a:r>
              <a:rPr lang="en-US" altLang="zh-CN" b="1" dirty="0"/>
              <a:t>10.3.3 Spark</a:t>
            </a:r>
            <a:r>
              <a:rPr lang="zh-CN" altLang="zh-CN" b="1" dirty="0"/>
              <a:t>运行基本流程</a:t>
            </a:r>
            <a:endParaRPr lang="zh-CN" altLang="en-US" b="1" dirty="0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57CE09-A6DF-4F65-B9AD-CB157D51E68C}" type="slidenum">
              <a:rPr lang="zh-CN" altLang="en-US" smtClean="0"/>
            </a:fld>
            <a:endParaRPr lang="zh-CN" altLang="en-US"/>
          </a:p>
        </p:txBody>
      </p:sp>
      <p:sp>
        <p:nvSpPr>
          <p:cNvPr id="33" name="矩形 32"/>
          <p:cNvSpPr/>
          <p:nvPr/>
        </p:nvSpPr>
        <p:spPr>
          <a:xfrm>
            <a:off x="915670" y="1433195"/>
            <a:ext cx="3016885" cy="497840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bg1">
                    <a:lumMod val="95000"/>
                  </a:schemeClr>
                </a:solidFill>
              </a14:hiddenFill>
            </a:ext>
          </a:ex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en-US" altLang="zh-CN" sz="2400">
              <a:solidFill>
                <a:schemeClr val="tx1"/>
              </a:solidFill>
            </a:endParaRPr>
          </a:p>
        </p:txBody>
      </p:sp>
      <p:sp>
        <p:nvSpPr>
          <p:cNvPr id="34" name="文本框 33"/>
          <p:cNvSpPr txBox="1"/>
          <p:nvPr/>
        </p:nvSpPr>
        <p:spPr>
          <a:xfrm>
            <a:off x="735330" y="1665605"/>
            <a:ext cx="3289935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/>
            <a:r>
              <a:rPr lang="zh-CN" altLang="en-US" sz="2400">
                <a:sym typeface="+mn-ea"/>
              </a:rPr>
              <a:t>任务控制节点</a:t>
            </a:r>
            <a:endParaRPr lang="en-US" sz="2400">
              <a:sym typeface="+mn-ea"/>
            </a:endParaRPr>
          </a:p>
        </p:txBody>
      </p:sp>
      <p:sp>
        <p:nvSpPr>
          <p:cNvPr id="35" name="矩形 34"/>
          <p:cNvSpPr/>
          <p:nvPr/>
        </p:nvSpPr>
        <p:spPr>
          <a:xfrm>
            <a:off x="1125220" y="2240280"/>
            <a:ext cx="2505075" cy="406336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altLang="zh-CN" sz="2400">
              <a:solidFill>
                <a:schemeClr val="tx1"/>
              </a:solidFill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353820" y="2416175"/>
            <a:ext cx="2047240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sz="2400">
                <a:sym typeface="+mn-ea"/>
              </a:rPr>
              <a:t>Spark Context</a:t>
            </a:r>
            <a:endParaRPr lang="en-US" altLang="zh-CN" sz="2400">
              <a:sym typeface="+mn-ea"/>
            </a:endParaRPr>
          </a:p>
        </p:txBody>
      </p:sp>
      <p:sp>
        <p:nvSpPr>
          <p:cNvPr id="4" name="矩形 3"/>
          <p:cNvSpPr/>
          <p:nvPr>
            <p:custDataLst>
              <p:tags r:id="rId1"/>
            </p:custDataLst>
          </p:nvPr>
        </p:nvSpPr>
        <p:spPr>
          <a:xfrm>
            <a:off x="8253095" y="2103755"/>
            <a:ext cx="2604770" cy="108458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zh-CN" altLang="en-US" sz="2400"/>
              <a:t>集群</a:t>
            </a:r>
            <a:r>
              <a:rPr lang="zh-CN" altLang="en-US" sz="2400"/>
              <a:t>资源管理器</a:t>
            </a:r>
            <a:endParaRPr lang="zh-CN" altLang="en-US" sz="2400"/>
          </a:p>
          <a:p>
            <a:pPr algn="ctr"/>
            <a:r>
              <a:rPr lang="en-US" altLang="zh-CN" sz="2400"/>
              <a:t>(Cluster Manager)</a:t>
            </a:r>
            <a:endParaRPr lang="en-US" altLang="zh-CN" sz="2400"/>
          </a:p>
        </p:txBody>
      </p:sp>
      <p:cxnSp>
        <p:nvCxnSpPr>
          <p:cNvPr id="5" name="直接箭头连接符 4"/>
          <p:cNvCxnSpPr>
            <a:stCxn id="3" idx="3"/>
            <a:endCxn id="4" idx="1"/>
          </p:cNvCxnSpPr>
          <p:nvPr/>
        </p:nvCxnSpPr>
        <p:spPr>
          <a:xfrm flipV="1">
            <a:off x="3401060" y="2646045"/>
            <a:ext cx="4852035" cy="635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文本框 5"/>
          <p:cNvSpPr txBox="1"/>
          <p:nvPr/>
        </p:nvSpPr>
        <p:spPr>
          <a:xfrm>
            <a:off x="3830320" y="2240280"/>
            <a:ext cx="493077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/>
              <a:t>注册并申请运行</a:t>
            </a:r>
            <a:r>
              <a:rPr lang="en-US" altLang="zh-CN" sz="2400"/>
              <a:t>Executor</a:t>
            </a:r>
            <a:r>
              <a:rPr lang="zh-CN" altLang="en-US" sz="2400"/>
              <a:t>的资源</a:t>
            </a:r>
            <a:endParaRPr lang="zh-CN" altLang="en-US" sz="2400"/>
          </a:p>
        </p:txBody>
      </p:sp>
      <p:sp>
        <p:nvSpPr>
          <p:cNvPr id="13" name="矩形 12"/>
          <p:cNvSpPr/>
          <p:nvPr>
            <p:custDataLst>
              <p:tags r:id="rId2"/>
            </p:custDataLst>
          </p:nvPr>
        </p:nvSpPr>
        <p:spPr>
          <a:xfrm>
            <a:off x="8021320" y="4359275"/>
            <a:ext cx="3290570" cy="201676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bg1">
                    <a:lumMod val="95000"/>
                  </a:schemeClr>
                </a:solidFill>
              </a14:hiddenFill>
            </a:ext>
          </a:ex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en-US" altLang="zh-CN" sz="2400">
              <a:solidFill>
                <a:schemeClr val="tx1"/>
              </a:solidFill>
            </a:endParaRPr>
          </a:p>
        </p:txBody>
      </p:sp>
      <p:sp>
        <p:nvSpPr>
          <p:cNvPr id="14" name="文本框 13"/>
          <p:cNvSpPr txBox="1"/>
          <p:nvPr>
            <p:custDataLst>
              <p:tags r:id="rId3"/>
            </p:custDataLst>
          </p:nvPr>
        </p:nvSpPr>
        <p:spPr>
          <a:xfrm>
            <a:off x="8021955" y="4435475"/>
            <a:ext cx="3289935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/>
            <a:r>
              <a:rPr lang="zh-CN" altLang="en-US" sz="2400">
                <a:sym typeface="+mn-ea"/>
              </a:rPr>
              <a:t>工作节点</a:t>
            </a:r>
            <a:r>
              <a:rPr lang="en-US" altLang="zh-CN" sz="2400">
                <a:sym typeface="+mn-ea"/>
              </a:rPr>
              <a:t>(Worker Node)</a:t>
            </a:r>
            <a:endParaRPr lang="en-US" altLang="zh-CN" sz="2400">
              <a:sym typeface="+mn-ea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8231505" y="4899025"/>
            <a:ext cx="2871470" cy="137604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altLang="zh-CN" sz="2400">
              <a:solidFill>
                <a:schemeClr val="tx1"/>
              </a:solidFill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8138795" y="4933950"/>
            <a:ext cx="1795145" cy="82994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/>
            <a:r>
              <a:rPr lang="zh-CN" altLang="en-US" sz="2400">
                <a:sym typeface="+mn-ea"/>
              </a:rPr>
              <a:t>进程</a:t>
            </a:r>
            <a:r>
              <a:rPr lang="en-US" sz="2400">
                <a:sym typeface="+mn-ea"/>
              </a:rPr>
              <a:t>Executor</a:t>
            </a:r>
            <a:endParaRPr lang="en-US" sz="2400">
              <a:sym typeface="+mn-ea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9814560" y="5007610"/>
            <a:ext cx="1225550" cy="56705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en-US" altLang="zh-CN" sz="2400"/>
              <a:t>Cache</a:t>
            </a:r>
            <a:endParaRPr lang="en-US" altLang="zh-CN" sz="2400"/>
          </a:p>
        </p:txBody>
      </p:sp>
      <p:sp>
        <p:nvSpPr>
          <p:cNvPr id="18" name="矩形 17"/>
          <p:cNvSpPr/>
          <p:nvPr/>
        </p:nvSpPr>
        <p:spPr>
          <a:xfrm>
            <a:off x="9813925" y="5681980"/>
            <a:ext cx="1226185" cy="56705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zh-CN" altLang="en-US" sz="2400"/>
              <a:t>任务</a:t>
            </a:r>
            <a:endParaRPr lang="zh-CN" altLang="en-US" sz="2400"/>
          </a:p>
        </p:txBody>
      </p:sp>
      <p:sp>
        <p:nvSpPr>
          <p:cNvPr id="19" name="矩形 18"/>
          <p:cNvSpPr/>
          <p:nvPr/>
        </p:nvSpPr>
        <p:spPr>
          <a:xfrm>
            <a:off x="8316595" y="5681980"/>
            <a:ext cx="1233805" cy="56705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zh-CN" altLang="en-US" sz="2400"/>
              <a:t>任务</a:t>
            </a:r>
            <a:endParaRPr lang="zh-CN" altLang="en-US" sz="2400"/>
          </a:p>
        </p:txBody>
      </p:sp>
      <p:cxnSp>
        <p:nvCxnSpPr>
          <p:cNvPr id="7" name="直接箭头连接符 6"/>
          <p:cNvCxnSpPr/>
          <p:nvPr/>
        </p:nvCxnSpPr>
        <p:spPr>
          <a:xfrm flipH="1">
            <a:off x="8687435" y="3204845"/>
            <a:ext cx="18415" cy="1781810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接箭头连接符 7"/>
          <p:cNvCxnSpPr/>
          <p:nvPr/>
        </p:nvCxnSpPr>
        <p:spPr>
          <a:xfrm flipV="1">
            <a:off x="9377680" y="3223260"/>
            <a:ext cx="1905" cy="1784350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文本框 8"/>
          <p:cNvSpPr txBox="1"/>
          <p:nvPr/>
        </p:nvSpPr>
        <p:spPr>
          <a:xfrm>
            <a:off x="7910830" y="3700145"/>
            <a:ext cx="853440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2400">
                <a:sym typeface="+mn-ea"/>
              </a:rPr>
              <a:t>资源</a:t>
            </a:r>
            <a:endParaRPr lang="zh-CN" altLang="en-US" sz="2400">
              <a:sym typeface="+mn-ea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9379585" y="3653790"/>
            <a:ext cx="853440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2400">
                <a:sym typeface="+mn-ea"/>
              </a:rPr>
              <a:t>心跳</a:t>
            </a:r>
            <a:endParaRPr lang="zh-CN" altLang="en-US" sz="2400">
              <a:sym typeface="+mn-ea"/>
            </a:endParaRPr>
          </a:p>
        </p:txBody>
      </p:sp>
      <p:sp>
        <p:nvSpPr>
          <p:cNvPr id="11" name="圆角矩形 10"/>
          <p:cNvSpPr/>
          <p:nvPr/>
        </p:nvSpPr>
        <p:spPr>
          <a:xfrm>
            <a:off x="1302385" y="2983865"/>
            <a:ext cx="2116455" cy="670560"/>
          </a:xfrm>
          <a:prstGeom prst="round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2400"/>
              <a:t>RDD</a:t>
            </a:r>
            <a:r>
              <a:rPr lang="zh-CN" altLang="en-US" sz="2400"/>
              <a:t>依赖关系</a:t>
            </a:r>
            <a:endParaRPr lang="zh-CN" altLang="en-US" sz="2400"/>
          </a:p>
          <a:p>
            <a:pPr algn="ctr"/>
            <a:r>
              <a:rPr lang="zh-CN" altLang="en-US" sz="2400"/>
              <a:t>构建</a:t>
            </a:r>
            <a:r>
              <a:rPr lang="en-US" altLang="zh-CN" sz="2400"/>
              <a:t>DAG</a:t>
            </a:r>
            <a:endParaRPr lang="en-US" altLang="zh-CN" sz="2400"/>
          </a:p>
        </p:txBody>
      </p:sp>
      <p:sp>
        <p:nvSpPr>
          <p:cNvPr id="12" name="圆角矩形 11"/>
          <p:cNvSpPr/>
          <p:nvPr/>
        </p:nvSpPr>
        <p:spPr>
          <a:xfrm>
            <a:off x="1302385" y="4177030"/>
            <a:ext cx="2116455" cy="670560"/>
          </a:xfrm>
          <a:prstGeom prst="round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2400"/>
              <a:t>DAG</a:t>
            </a:r>
            <a:r>
              <a:rPr lang="zh-CN" altLang="en-US" sz="2400"/>
              <a:t>调度器</a:t>
            </a:r>
            <a:endParaRPr lang="zh-CN" altLang="en-US" sz="2400"/>
          </a:p>
          <a:p>
            <a:pPr algn="ctr"/>
            <a:r>
              <a:rPr lang="zh-CN" altLang="en-US" sz="2400"/>
              <a:t>分解</a:t>
            </a:r>
            <a:r>
              <a:rPr lang="zh-CN" altLang="en-US" sz="2400"/>
              <a:t>阶段</a:t>
            </a:r>
            <a:endParaRPr lang="zh-CN" altLang="en-US" sz="2400"/>
          </a:p>
        </p:txBody>
      </p:sp>
      <p:sp>
        <p:nvSpPr>
          <p:cNvPr id="21" name="圆角矩形 20"/>
          <p:cNvSpPr/>
          <p:nvPr/>
        </p:nvSpPr>
        <p:spPr>
          <a:xfrm>
            <a:off x="1302385" y="5432425"/>
            <a:ext cx="2116455" cy="670560"/>
          </a:xfrm>
          <a:prstGeom prst="round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2400"/>
              <a:t>任务</a:t>
            </a:r>
            <a:r>
              <a:rPr lang="zh-CN" altLang="en-US" sz="2400"/>
              <a:t>调度器</a:t>
            </a:r>
            <a:endParaRPr lang="zh-CN" altLang="en-US" sz="2400"/>
          </a:p>
          <a:p>
            <a:pPr algn="ctr"/>
            <a:r>
              <a:rPr lang="zh-CN" altLang="en-US" sz="2000"/>
              <a:t>提交和监控</a:t>
            </a:r>
            <a:r>
              <a:rPr lang="zh-CN" altLang="en-US" sz="2000"/>
              <a:t>任务</a:t>
            </a:r>
            <a:endParaRPr lang="zh-CN" altLang="en-US" sz="2000"/>
          </a:p>
        </p:txBody>
      </p:sp>
      <p:cxnSp>
        <p:nvCxnSpPr>
          <p:cNvPr id="22" name="直接箭头连接符 21"/>
          <p:cNvCxnSpPr/>
          <p:nvPr/>
        </p:nvCxnSpPr>
        <p:spPr>
          <a:xfrm flipH="1" flipV="1">
            <a:off x="3361690" y="2799080"/>
            <a:ext cx="5076190" cy="2611755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文本框 22"/>
          <p:cNvSpPr txBox="1"/>
          <p:nvPr/>
        </p:nvSpPr>
        <p:spPr>
          <a:xfrm rot="1620000">
            <a:off x="4947920" y="3510280"/>
            <a:ext cx="1478915" cy="41465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2400"/>
              <a:t>申请</a:t>
            </a:r>
            <a:r>
              <a:rPr lang="zh-CN" altLang="en-US" sz="2400"/>
              <a:t>任务</a:t>
            </a:r>
            <a:endParaRPr lang="zh-CN" altLang="en-US" sz="2400"/>
          </a:p>
        </p:txBody>
      </p:sp>
      <p:cxnSp>
        <p:nvCxnSpPr>
          <p:cNvPr id="24" name="直接箭头连接符 23"/>
          <p:cNvCxnSpPr/>
          <p:nvPr/>
        </p:nvCxnSpPr>
        <p:spPr>
          <a:xfrm flipV="1">
            <a:off x="3401060" y="5622925"/>
            <a:ext cx="4852035" cy="635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文本框 24"/>
          <p:cNvSpPr txBox="1"/>
          <p:nvPr/>
        </p:nvSpPr>
        <p:spPr>
          <a:xfrm>
            <a:off x="4744085" y="5162550"/>
            <a:ext cx="142367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/>
              <a:t>分发</a:t>
            </a:r>
            <a:r>
              <a:rPr lang="zh-CN" altLang="en-US" sz="2400"/>
              <a:t>任务</a:t>
            </a:r>
            <a:endParaRPr lang="zh-CN" altLang="en-US" sz="2400"/>
          </a:p>
        </p:txBody>
      </p:sp>
      <p:cxnSp>
        <p:nvCxnSpPr>
          <p:cNvPr id="26" name="直接箭头连接符 25"/>
          <p:cNvCxnSpPr>
            <a:stCxn id="11" idx="2"/>
            <a:endCxn id="12" idx="0"/>
          </p:cNvCxnSpPr>
          <p:nvPr/>
        </p:nvCxnSpPr>
        <p:spPr>
          <a:xfrm>
            <a:off x="2360930" y="3654425"/>
            <a:ext cx="0" cy="522605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接箭头连接符 26"/>
          <p:cNvCxnSpPr>
            <a:stCxn id="12" idx="2"/>
            <a:endCxn id="21" idx="0"/>
          </p:cNvCxnSpPr>
          <p:nvPr/>
        </p:nvCxnSpPr>
        <p:spPr>
          <a:xfrm>
            <a:off x="2360930" y="4847590"/>
            <a:ext cx="0" cy="584835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接箭头连接符 27"/>
          <p:cNvCxnSpPr/>
          <p:nvPr/>
        </p:nvCxnSpPr>
        <p:spPr>
          <a:xfrm>
            <a:off x="3425825" y="2964815"/>
            <a:ext cx="4947285" cy="2538730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文本框 28"/>
          <p:cNvSpPr txBox="1"/>
          <p:nvPr/>
        </p:nvSpPr>
        <p:spPr>
          <a:xfrm rot="1620000">
            <a:off x="4467860" y="4141470"/>
            <a:ext cx="2244090" cy="41465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2400"/>
              <a:t>应用程序代码</a:t>
            </a:r>
            <a:endParaRPr lang="zh-CN" altLang="en-US" sz="2400"/>
          </a:p>
        </p:txBody>
      </p:sp>
      <p:cxnSp>
        <p:nvCxnSpPr>
          <p:cNvPr id="31" name="直接箭头连接符 30"/>
          <p:cNvCxnSpPr>
            <a:endCxn id="21" idx="3"/>
          </p:cNvCxnSpPr>
          <p:nvPr>
            <p:custDataLst>
              <p:tags r:id="rId4"/>
            </p:custDataLst>
          </p:nvPr>
        </p:nvCxnSpPr>
        <p:spPr>
          <a:xfrm flipH="1" flipV="1">
            <a:off x="3418840" y="5767705"/>
            <a:ext cx="4790440" cy="635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文本框 35"/>
          <p:cNvSpPr txBox="1"/>
          <p:nvPr>
            <p:custDataLst>
              <p:tags r:id="rId5"/>
            </p:custDataLst>
          </p:nvPr>
        </p:nvSpPr>
        <p:spPr>
          <a:xfrm>
            <a:off x="4744085" y="5835650"/>
            <a:ext cx="142367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/>
              <a:t>结果</a:t>
            </a:r>
            <a:r>
              <a:rPr lang="zh-CN" altLang="en-US" sz="2400"/>
              <a:t>反馈</a:t>
            </a:r>
            <a:endParaRPr lang="zh-CN" altLang="en-US" sz="2400"/>
          </a:p>
        </p:txBody>
      </p:sp>
      <p:sp>
        <p:nvSpPr>
          <p:cNvPr id="38" name="右弧形箭头 37"/>
          <p:cNvSpPr/>
          <p:nvPr/>
        </p:nvSpPr>
        <p:spPr>
          <a:xfrm flipV="1">
            <a:off x="3362960" y="4309745"/>
            <a:ext cx="267335" cy="1458595"/>
          </a:xfrm>
          <a:prstGeom prst="curvedLeftArrow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500"/>
                            </p:stCondLst>
                            <p:childTnLst>
                              <p:par>
                                <p:cTn id="4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3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1000"/>
                            </p:stCondLst>
                            <p:childTnLst>
                              <p:par>
                                <p:cTn id="4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1500"/>
                            </p:stCondLst>
                            <p:childTnLst>
                              <p:par>
                                <p:cTn id="4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1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2000"/>
                            </p:stCondLst>
                            <p:childTnLst>
                              <p:par>
                                <p:cTn id="5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500"/>
                            </p:stCondLst>
                            <p:childTnLst>
                              <p:par>
                                <p:cTn id="7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1000"/>
                            </p:stCondLst>
                            <p:childTnLst>
                              <p:par>
                                <p:cTn id="7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4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9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95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6" fill="hold">
                            <p:stCondLst>
                              <p:cond delay="500"/>
                            </p:stCondLst>
                            <p:childTnLst>
                              <p:par>
                                <p:cTn id="97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9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" grpId="1"/>
      <p:bldP spid="33" grpId="1" animBg="1"/>
      <p:bldP spid="35" grpId="0" bldLvl="0" animBg="1"/>
      <p:bldP spid="35" grpId="1" animBg="1"/>
      <p:bldP spid="10" grpId="0"/>
      <p:bldP spid="10" grpId="1"/>
      <p:bldP spid="11" grpId="0" bldLvl="0" animBg="1"/>
      <p:bldP spid="12" grpId="0" bldLvl="0" animBg="1"/>
      <p:bldP spid="21" grpId="0" bldLvl="0" animBg="1"/>
      <p:bldP spid="11" grpId="1" animBg="1"/>
      <p:bldP spid="12" grpId="1" animBg="1"/>
      <p:bldP spid="21" grpId="1" animBg="1"/>
      <p:bldP spid="23" grpId="0"/>
      <p:bldP spid="23" grpId="1"/>
      <p:bldP spid="25" grpId="0"/>
      <p:bldP spid="25" grpId="1"/>
      <p:bldP spid="18" grpId="0" bldLvl="0" animBg="1"/>
      <p:bldP spid="19" grpId="0" bldLvl="0" animBg="1"/>
      <p:bldP spid="18" grpId="1" animBg="1"/>
      <p:bldP spid="19" grpId="1" animBg="1"/>
      <p:bldP spid="29" grpId="0"/>
      <p:bldP spid="29" grpId="1"/>
      <p:bldP spid="36" grpId="0"/>
      <p:bldP spid="36" grpId="1"/>
      <p:bldP spid="38" grpId="0" animBg="1"/>
      <p:bldP spid="38" grpId="1" animBg="1"/>
      <p:bldP spid="6" grpId="0"/>
      <p:bldP spid="6" grpId="1"/>
      <p:bldP spid="9" grpId="0"/>
      <p:bldP spid="16" grpId="0"/>
      <p:bldP spid="15" grpId="0" animBg="1"/>
      <p:bldP spid="17" grpId="0" animBg="1"/>
      <p:bldP spid="9" grpId="1"/>
      <p:bldP spid="16" grpId="1"/>
      <p:bldP spid="15" grpId="1" animBg="1"/>
      <p:bldP spid="17" grpId="1" animBg="1"/>
      <p:bldP spid="3" grpId="0"/>
      <p:bldP spid="3" grpId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标题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lstStyle/>
          <a:p>
            <a:r>
              <a:rPr lang="en-US" altLang="zh-CN" b="1" dirty="0"/>
              <a:t>10.3.3 </a:t>
            </a:r>
            <a:r>
              <a:rPr lang="zh-CN" b="1" dirty="0"/>
              <a:t>小结</a:t>
            </a:r>
            <a:endParaRPr lang="zh-CN" b="1" dirty="0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57CE09-A6DF-4F65-B9AD-CB157D51E68C}" type="slidenum">
              <a:rPr lang="zh-CN" altLang="en-US" smtClean="0"/>
            </a:fld>
            <a:endParaRPr lang="zh-CN" altLang="en-US"/>
          </a:p>
        </p:txBody>
      </p:sp>
      <p:sp>
        <p:nvSpPr>
          <p:cNvPr id="26627" name="矩形 2"/>
          <p:cNvSpPr/>
          <p:nvPr/>
        </p:nvSpPr>
        <p:spPr>
          <a:xfrm>
            <a:off x="914400" y="1524000"/>
            <a:ext cx="9987915" cy="507746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dirty="0">
                <a:latin typeface="Arial" panose="020B0604020202020204" pitchFamily="34" charset="0"/>
              </a:rPr>
              <a:t>Spark</a:t>
            </a:r>
            <a:r>
              <a:rPr lang="zh-CN" altLang="en-US" sz="2400" dirty="0">
                <a:latin typeface="Arial" panose="020B0604020202020204" pitchFamily="34" charset="0"/>
              </a:rPr>
              <a:t>运行架构具有以下特点：</a:t>
            </a:r>
            <a:endParaRPr lang="zh-CN" altLang="en-US" sz="2400" dirty="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zh-CN" altLang="en-US" sz="2400" dirty="0">
                <a:latin typeface="Arial" panose="020B0604020202020204" pitchFamily="34" charset="0"/>
              </a:rPr>
              <a:t>（</a:t>
            </a:r>
            <a:r>
              <a:rPr lang="en-US" altLang="zh-CN" sz="2400" dirty="0">
                <a:latin typeface="Arial" panose="020B0604020202020204" pitchFamily="34" charset="0"/>
              </a:rPr>
              <a:t>1</a:t>
            </a:r>
            <a:r>
              <a:rPr lang="zh-CN" altLang="en-US" sz="2400" dirty="0">
                <a:latin typeface="Arial" panose="020B0604020202020204" pitchFamily="34" charset="0"/>
              </a:rPr>
              <a:t>）每个应用都有自己专属的</a:t>
            </a:r>
            <a:r>
              <a:rPr lang="en-US" altLang="zh-CN" sz="2400" dirty="0">
                <a:latin typeface="Arial" panose="020B0604020202020204" pitchFamily="34" charset="0"/>
              </a:rPr>
              <a:t>Executor</a:t>
            </a:r>
            <a:r>
              <a:rPr lang="zh-CN" altLang="en-US" sz="2400" dirty="0">
                <a:latin typeface="Arial" panose="020B0604020202020204" pitchFamily="34" charset="0"/>
              </a:rPr>
              <a:t>进程，并且该进程在应用运行期间一直驻留。</a:t>
            </a:r>
            <a:r>
              <a:rPr lang="en-US" altLang="zh-CN" sz="2400" dirty="0">
                <a:latin typeface="Arial" panose="020B0604020202020204" pitchFamily="34" charset="0"/>
              </a:rPr>
              <a:t>Executor</a:t>
            </a:r>
            <a:r>
              <a:rPr lang="zh-CN" altLang="en-US" sz="2400" dirty="0">
                <a:latin typeface="Arial" panose="020B0604020202020204" pitchFamily="34" charset="0"/>
              </a:rPr>
              <a:t>进程以多线程的方式运行任务，减少了多进程任务频繁的启动</a:t>
            </a:r>
            <a:r>
              <a:rPr lang="zh-CN" altLang="en-US" sz="2400" dirty="0">
                <a:latin typeface="Arial" panose="020B0604020202020204" pitchFamily="34" charset="0"/>
              </a:rPr>
              <a:t>开销，使得任务执行变得非常高效和可靠。</a:t>
            </a:r>
            <a:endParaRPr lang="en-US" altLang="zh-CN" sz="2400" dirty="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endParaRPr lang="zh-CN" altLang="en-US" sz="2400" dirty="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zh-CN" altLang="en-US" sz="2400" dirty="0">
                <a:latin typeface="Arial" panose="020B0604020202020204" pitchFamily="34" charset="0"/>
              </a:rPr>
              <a:t>（</a:t>
            </a:r>
            <a:r>
              <a:rPr lang="en-US" altLang="zh-CN" sz="2400" dirty="0">
                <a:latin typeface="Arial" panose="020B0604020202020204" pitchFamily="34" charset="0"/>
              </a:rPr>
              <a:t>2</a:t>
            </a:r>
            <a:r>
              <a:rPr lang="zh-CN" altLang="en-US" sz="2400" dirty="0">
                <a:latin typeface="Arial" panose="020B0604020202020204" pitchFamily="34" charset="0"/>
              </a:rPr>
              <a:t>）</a:t>
            </a:r>
            <a:r>
              <a:rPr lang="en-US" altLang="zh-CN" sz="2400" dirty="0">
                <a:latin typeface="Arial" panose="020B0604020202020204" pitchFamily="34" charset="0"/>
              </a:rPr>
              <a:t>Spark</a:t>
            </a:r>
            <a:r>
              <a:rPr lang="zh-CN" altLang="en-US" sz="2400" dirty="0">
                <a:latin typeface="Arial" panose="020B0604020202020204" pitchFamily="34" charset="0"/>
              </a:rPr>
              <a:t>运行过程与资源管理器无关，只要能够获取</a:t>
            </a:r>
            <a:r>
              <a:rPr lang="en-US" altLang="zh-CN" sz="2400" dirty="0">
                <a:latin typeface="Arial" panose="020B0604020202020204" pitchFamily="34" charset="0"/>
              </a:rPr>
              <a:t>Executor</a:t>
            </a:r>
            <a:r>
              <a:rPr lang="zh-CN" altLang="en-US" sz="2400" dirty="0">
                <a:latin typeface="Arial" panose="020B0604020202020204" pitchFamily="34" charset="0"/>
              </a:rPr>
              <a:t>进程并保持通信即可</a:t>
            </a:r>
            <a:endParaRPr lang="zh-CN" altLang="en-US" sz="2400" dirty="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endParaRPr lang="zh-CN" altLang="en-US" sz="2400" dirty="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zh-CN" altLang="en-US" sz="2400" dirty="0">
                <a:latin typeface="Arial" panose="020B0604020202020204" pitchFamily="34" charset="0"/>
              </a:rPr>
              <a:t>（</a:t>
            </a:r>
            <a:r>
              <a:rPr lang="en-US" altLang="zh-CN" sz="2400" dirty="0">
                <a:latin typeface="Arial" panose="020B0604020202020204" pitchFamily="34" charset="0"/>
              </a:rPr>
              <a:t>3</a:t>
            </a:r>
            <a:r>
              <a:rPr lang="zh-CN" altLang="en-US" sz="2400" dirty="0">
                <a:latin typeface="Arial" panose="020B0604020202020204" pitchFamily="34" charset="0"/>
              </a:rPr>
              <a:t>）</a:t>
            </a:r>
            <a:r>
              <a:rPr lang="zh-CN" altLang="en-US" sz="2400" dirty="0">
                <a:latin typeface="Arial" panose="020B0604020202020204" pitchFamily="34" charset="0"/>
              </a:rPr>
              <a:t>任务采用了数据本地性和推测执行等优化机制（如延时调度机制）</a:t>
            </a:r>
            <a:endParaRPr lang="zh-CN" altLang="en-US" sz="2400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标题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lstStyle/>
          <a:p>
            <a:r>
              <a:rPr lang="en-US" altLang="zh-CN" b="1" dirty="0"/>
              <a:t>10.3.4 RDD</a:t>
            </a:r>
            <a:r>
              <a:rPr lang="zh-CN" altLang="zh-CN" b="1" dirty="0"/>
              <a:t>运行原理</a:t>
            </a:r>
            <a:endParaRPr lang="zh-CN" altLang="en-US" b="1" dirty="0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57CE09-A6DF-4F65-B9AD-CB157D51E68C}" type="slidenum">
              <a:rPr lang="zh-CN" altLang="en-US" smtClean="0"/>
            </a:fld>
            <a:endParaRPr lang="zh-CN" altLang="en-US"/>
          </a:p>
        </p:txBody>
      </p:sp>
      <p:sp>
        <p:nvSpPr>
          <p:cNvPr id="27651" name="TextBox 3"/>
          <p:cNvSpPr txBox="1"/>
          <p:nvPr/>
        </p:nvSpPr>
        <p:spPr>
          <a:xfrm>
            <a:off x="1115060" y="1600200"/>
            <a:ext cx="4246880" cy="452310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3200" dirty="0">
                <a:latin typeface="Arial" panose="020B0604020202020204" pitchFamily="34" charset="0"/>
              </a:rPr>
              <a:t>1.</a:t>
            </a:r>
            <a:r>
              <a:rPr lang="zh-CN" altLang="en-US" sz="3200" dirty="0">
                <a:latin typeface="Arial" panose="020B0604020202020204" pitchFamily="34" charset="0"/>
              </a:rPr>
              <a:t>设计背景</a:t>
            </a:r>
            <a:endParaRPr lang="en-US" altLang="zh-CN" sz="3200" dirty="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3200" dirty="0">
                <a:latin typeface="Arial" panose="020B0604020202020204" pitchFamily="34" charset="0"/>
              </a:rPr>
              <a:t>2.RDD</a:t>
            </a:r>
            <a:r>
              <a:rPr lang="zh-CN" altLang="en-US" sz="3200" dirty="0">
                <a:latin typeface="Arial" panose="020B0604020202020204" pitchFamily="34" charset="0"/>
              </a:rPr>
              <a:t>概念</a:t>
            </a:r>
            <a:endParaRPr lang="en-US" altLang="zh-CN" sz="3200" dirty="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3200" dirty="0">
                <a:latin typeface="Arial" panose="020B0604020202020204" pitchFamily="34" charset="0"/>
              </a:rPr>
              <a:t>3.RDD</a:t>
            </a:r>
            <a:r>
              <a:rPr lang="zh-CN" altLang="en-US" sz="3200" dirty="0">
                <a:latin typeface="Arial" panose="020B0604020202020204" pitchFamily="34" charset="0"/>
              </a:rPr>
              <a:t>特性</a:t>
            </a:r>
            <a:endParaRPr lang="en-US" altLang="zh-CN" sz="3200" dirty="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3200" dirty="0">
                <a:latin typeface="Arial" panose="020B0604020202020204" pitchFamily="34" charset="0"/>
              </a:rPr>
              <a:t>4.RDD</a:t>
            </a:r>
            <a:r>
              <a:rPr lang="zh-CN" altLang="en-US" sz="3200" dirty="0">
                <a:latin typeface="Arial" panose="020B0604020202020204" pitchFamily="34" charset="0"/>
              </a:rPr>
              <a:t>之间的依赖关系</a:t>
            </a:r>
            <a:endParaRPr lang="en-US" altLang="zh-CN" sz="3200" dirty="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3200" dirty="0">
                <a:latin typeface="Arial" panose="020B0604020202020204" pitchFamily="34" charset="0"/>
              </a:rPr>
              <a:t>5.Stage</a:t>
            </a:r>
            <a:r>
              <a:rPr lang="zh-CN" altLang="en-US" sz="3200" dirty="0">
                <a:latin typeface="Arial" panose="020B0604020202020204" pitchFamily="34" charset="0"/>
              </a:rPr>
              <a:t>的划分</a:t>
            </a:r>
            <a:endParaRPr lang="en-US" altLang="zh-CN" sz="3200" dirty="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3200" dirty="0">
                <a:latin typeface="Arial" panose="020B0604020202020204" pitchFamily="34" charset="0"/>
              </a:rPr>
              <a:t>6.RDD</a:t>
            </a:r>
            <a:r>
              <a:rPr lang="zh-CN" altLang="en-US" sz="3200" dirty="0">
                <a:latin typeface="Arial" panose="020B0604020202020204" pitchFamily="34" charset="0"/>
              </a:rPr>
              <a:t>运行过程</a:t>
            </a:r>
            <a:endParaRPr lang="zh-CN" altLang="en-US" sz="3200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标题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lstStyle/>
          <a:p>
            <a:r>
              <a:rPr lang="en-US" altLang="zh-CN" b="1" dirty="0"/>
              <a:t>10.3.4 RDD</a:t>
            </a:r>
            <a:r>
              <a:rPr lang="zh-CN" altLang="zh-CN" b="1" dirty="0"/>
              <a:t>运行原理</a:t>
            </a:r>
            <a:endParaRPr lang="zh-CN" altLang="en-US" b="1" dirty="0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57CE09-A6DF-4F65-B9AD-CB157D51E68C}" type="slidenum">
              <a:rPr lang="zh-CN" altLang="en-US" smtClean="0"/>
            </a:fld>
            <a:endParaRPr lang="zh-CN" altLang="en-US"/>
          </a:p>
        </p:txBody>
      </p:sp>
      <p:sp>
        <p:nvSpPr>
          <p:cNvPr id="28675" name="矩形 2"/>
          <p:cNvSpPr/>
          <p:nvPr/>
        </p:nvSpPr>
        <p:spPr>
          <a:xfrm>
            <a:off x="1017270" y="1391285"/>
            <a:ext cx="1656080" cy="4603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r>
              <a:rPr lang="en-US" altLang="zh-CN" sz="2400" b="1" dirty="0">
                <a:latin typeface="Arial" panose="020B0604020202020204" pitchFamily="34" charset="0"/>
              </a:rPr>
              <a:t>1.</a:t>
            </a:r>
            <a:r>
              <a:rPr lang="zh-CN" altLang="en-US" sz="2400" b="1" dirty="0">
                <a:latin typeface="Arial" panose="020B0604020202020204" pitchFamily="34" charset="0"/>
              </a:rPr>
              <a:t>设计背景</a:t>
            </a:r>
            <a:endParaRPr lang="en-US" altLang="zh-CN" sz="2400" b="1" dirty="0">
              <a:latin typeface="Arial" panose="020B0604020202020204" pitchFamily="34" charset="0"/>
            </a:endParaRPr>
          </a:p>
        </p:txBody>
      </p:sp>
      <p:sp>
        <p:nvSpPr>
          <p:cNvPr id="28676" name="矩形 3"/>
          <p:cNvSpPr/>
          <p:nvPr/>
        </p:nvSpPr>
        <p:spPr>
          <a:xfrm>
            <a:off x="1017270" y="2000885"/>
            <a:ext cx="10252075" cy="452310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zh-CN" sz="2400" dirty="0">
                <a:latin typeface="Arial" panose="020B0604020202020204" pitchFamily="34" charset="0"/>
              </a:rPr>
              <a:t>许多迭代式算法（比如机器学习、图算法等）和交互式数据挖掘工具</a:t>
            </a:r>
            <a:r>
              <a:rPr lang="zh-CN" altLang="en-US" sz="2400" dirty="0">
                <a:latin typeface="Arial" panose="020B0604020202020204" pitchFamily="34" charset="0"/>
              </a:rPr>
              <a:t>，</a:t>
            </a:r>
            <a:r>
              <a:rPr lang="zh-CN" altLang="zh-CN" sz="2400" dirty="0">
                <a:latin typeface="Arial" panose="020B0604020202020204" pitchFamily="34" charset="0"/>
              </a:rPr>
              <a:t>共同之处是，不同计算阶段之间会重用</a:t>
            </a:r>
            <a:r>
              <a:rPr lang="zh-CN" altLang="zh-CN" sz="2400" dirty="0">
                <a:highlight>
                  <a:srgbClr val="FFFF00"/>
                </a:highlight>
                <a:latin typeface="Arial" panose="020B0604020202020204" pitchFamily="34" charset="0"/>
              </a:rPr>
              <a:t>中间结果</a:t>
            </a:r>
            <a:endParaRPr lang="en-US" altLang="zh-CN" sz="2400" dirty="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zh-CN" sz="2400" dirty="0">
                <a:latin typeface="Arial" panose="020B0604020202020204" pitchFamily="34" charset="0"/>
              </a:rPr>
              <a:t>目前的</a:t>
            </a:r>
            <a:r>
              <a:rPr lang="en-US" altLang="zh-CN" sz="2400" dirty="0">
                <a:latin typeface="Arial" panose="020B0604020202020204" pitchFamily="34" charset="0"/>
              </a:rPr>
              <a:t>MapReduce</a:t>
            </a:r>
            <a:r>
              <a:rPr lang="zh-CN" altLang="zh-CN" sz="2400" dirty="0">
                <a:latin typeface="Arial" panose="020B0604020202020204" pitchFamily="34" charset="0"/>
              </a:rPr>
              <a:t>框架都是把中间结果写入到</a:t>
            </a:r>
            <a:r>
              <a:rPr lang="en-US" altLang="zh-CN" sz="2400" dirty="0">
                <a:latin typeface="Arial" panose="020B0604020202020204" pitchFamily="34" charset="0"/>
              </a:rPr>
              <a:t>HDFS</a:t>
            </a:r>
            <a:r>
              <a:rPr lang="zh-CN" altLang="zh-CN" sz="2400" dirty="0">
                <a:latin typeface="Arial" panose="020B0604020202020204" pitchFamily="34" charset="0"/>
              </a:rPr>
              <a:t>中，带来了大量的数据复制、磁盘</a:t>
            </a:r>
            <a:r>
              <a:rPr lang="en-US" altLang="zh-CN" sz="2400" dirty="0">
                <a:latin typeface="Arial" panose="020B0604020202020204" pitchFamily="34" charset="0"/>
              </a:rPr>
              <a:t>IO</a:t>
            </a:r>
            <a:r>
              <a:rPr lang="zh-CN" altLang="zh-CN" sz="2400" dirty="0">
                <a:latin typeface="Arial" panose="020B0604020202020204" pitchFamily="34" charset="0"/>
              </a:rPr>
              <a:t>和序列化</a:t>
            </a:r>
            <a:r>
              <a:rPr lang="zh-CN" altLang="zh-CN" sz="2400" dirty="0">
                <a:highlight>
                  <a:srgbClr val="FFFF00"/>
                </a:highlight>
                <a:latin typeface="Arial" panose="020B0604020202020204" pitchFamily="34" charset="0"/>
              </a:rPr>
              <a:t>开销</a:t>
            </a:r>
            <a:endParaRPr lang="zh-CN" altLang="zh-CN" sz="2400" dirty="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400" dirty="0">
                <a:latin typeface="Arial" panose="020B0604020202020204" pitchFamily="34" charset="0"/>
              </a:rPr>
              <a:t>RDD</a:t>
            </a:r>
            <a:r>
              <a:rPr lang="zh-CN" altLang="zh-CN" sz="2400" dirty="0">
                <a:latin typeface="Arial" panose="020B0604020202020204" pitchFamily="34" charset="0"/>
              </a:rPr>
              <a:t>就是为了满足这种需求而出现的，它提供了一个抽象的数据架构，我们不必担心底层数据的分布式特性，只需将具体的应用</a:t>
            </a:r>
            <a:r>
              <a:rPr lang="zh-CN" altLang="zh-CN" sz="2400" dirty="0">
                <a:highlight>
                  <a:srgbClr val="FFFF00"/>
                </a:highlight>
                <a:latin typeface="Arial" panose="020B0604020202020204" pitchFamily="34" charset="0"/>
              </a:rPr>
              <a:t>逻辑表达</a:t>
            </a:r>
            <a:r>
              <a:rPr lang="zh-CN" altLang="zh-CN" sz="2400" dirty="0">
                <a:latin typeface="Arial" panose="020B0604020202020204" pitchFamily="34" charset="0"/>
              </a:rPr>
              <a:t>为一系列转换处理</a:t>
            </a:r>
            <a:r>
              <a:rPr lang="zh-CN" altLang="en-US" sz="2400" dirty="0">
                <a:latin typeface="Arial" panose="020B0604020202020204" pitchFamily="34" charset="0"/>
              </a:rPr>
              <a:t>，不同</a:t>
            </a:r>
            <a:r>
              <a:rPr lang="en-US" altLang="zh-CN" sz="2400" dirty="0">
                <a:latin typeface="Arial" panose="020B0604020202020204" pitchFamily="34" charset="0"/>
              </a:rPr>
              <a:t>RDD</a:t>
            </a:r>
            <a:r>
              <a:rPr lang="zh-CN" altLang="en-US" sz="2400" dirty="0">
                <a:latin typeface="Arial" panose="020B0604020202020204" pitchFamily="34" charset="0"/>
              </a:rPr>
              <a:t>之间的转换操作形成依赖关系，可以实现管道化，避免中间数据存储</a:t>
            </a:r>
            <a:endParaRPr lang="zh-CN" altLang="en-US" sz="2400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标题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lstStyle/>
          <a:p>
            <a:r>
              <a:rPr lang="en-US" altLang="zh-CN" b="1" dirty="0"/>
              <a:t>10.3.4 RDD</a:t>
            </a:r>
            <a:r>
              <a:rPr lang="zh-CN" altLang="zh-CN" b="1" dirty="0"/>
              <a:t>运行原理</a:t>
            </a:r>
            <a:endParaRPr lang="zh-CN" altLang="en-US" b="1" dirty="0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57CE09-A6DF-4F65-B9AD-CB157D51E68C}" type="slidenum">
              <a:rPr lang="zh-CN" altLang="en-US" smtClean="0"/>
            </a:fld>
            <a:endParaRPr lang="zh-CN" altLang="en-US"/>
          </a:p>
        </p:txBody>
      </p:sp>
      <p:sp>
        <p:nvSpPr>
          <p:cNvPr id="29699" name="TextBox 3"/>
          <p:cNvSpPr txBox="1"/>
          <p:nvPr/>
        </p:nvSpPr>
        <p:spPr>
          <a:xfrm>
            <a:off x="1038225" y="1322705"/>
            <a:ext cx="1960245" cy="52197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r>
              <a:rPr lang="en-US" altLang="zh-CN" sz="2800" b="1" dirty="0">
                <a:latin typeface="Arial" panose="020B0604020202020204" pitchFamily="34" charset="0"/>
              </a:rPr>
              <a:t>2.RDD</a:t>
            </a:r>
            <a:r>
              <a:rPr lang="zh-CN" altLang="zh-CN" sz="2800" b="1" dirty="0">
                <a:latin typeface="Arial" panose="020B0604020202020204" pitchFamily="34" charset="0"/>
              </a:rPr>
              <a:t>概念</a:t>
            </a:r>
            <a:endParaRPr lang="zh-CN" altLang="zh-CN" sz="2800" b="1" dirty="0">
              <a:latin typeface="Arial" panose="020B0604020202020204" pitchFamily="34" charset="0"/>
            </a:endParaRPr>
          </a:p>
        </p:txBody>
      </p:sp>
      <p:sp>
        <p:nvSpPr>
          <p:cNvPr id="29700" name="矩形 4"/>
          <p:cNvSpPr/>
          <p:nvPr/>
        </p:nvSpPr>
        <p:spPr>
          <a:xfrm>
            <a:off x="1038225" y="2036445"/>
            <a:ext cx="10697845" cy="396938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zh-CN" altLang="en-US" sz="2400" dirty="0">
                <a:latin typeface="Arial" panose="020B0604020202020204" pitchFamily="34" charset="0"/>
              </a:rPr>
              <a:t>一个</a:t>
            </a:r>
            <a:r>
              <a:rPr lang="en-US" altLang="zh-CN" sz="2400" dirty="0">
                <a:latin typeface="Arial" panose="020B0604020202020204" pitchFamily="34" charset="0"/>
              </a:rPr>
              <a:t>RDD</a:t>
            </a:r>
            <a:r>
              <a:rPr lang="zh-CN" altLang="zh-CN" sz="2400" dirty="0">
                <a:latin typeface="Arial" panose="020B0604020202020204" pitchFamily="34" charset="0"/>
              </a:rPr>
              <a:t>就是一个分布式对象集合，本质上是一个只读的分区记录集合</a:t>
            </a:r>
            <a:endParaRPr lang="zh-CN" altLang="zh-CN" sz="2400" dirty="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400" dirty="0">
                <a:latin typeface="Arial" panose="020B0604020202020204" pitchFamily="34" charset="0"/>
              </a:rPr>
              <a:t>RDD</a:t>
            </a:r>
            <a:r>
              <a:rPr lang="zh-CN" altLang="zh-CN" sz="2400" dirty="0">
                <a:latin typeface="Arial" panose="020B0604020202020204" pitchFamily="34" charset="0"/>
              </a:rPr>
              <a:t>可分成多个分区，每个分区就是一个数据集片段；</a:t>
            </a:r>
            <a:endParaRPr lang="zh-CN" altLang="zh-CN" sz="2400" dirty="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zh-CN" sz="2400" dirty="0">
                <a:latin typeface="Arial" panose="020B0604020202020204" pitchFamily="34" charset="0"/>
              </a:rPr>
              <a:t>不同分区可以被保存到集群中不同的节点上，从而并行</a:t>
            </a:r>
            <a:endParaRPr lang="zh-CN" altLang="zh-CN" sz="2400" dirty="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zh-CN" altLang="zh-CN" sz="2400" dirty="0">
              <a:latin typeface="Arial" panose="020B0604020202020204" pitchFamily="34" charset="0"/>
            </a:endParaRPr>
          </a:p>
          <a:p>
            <a:pPr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en-US" altLang="zh-CN" sz="2400" dirty="0">
                <a:latin typeface="Arial" panose="020B0604020202020204" pitchFamily="34" charset="0"/>
                <a:sym typeface="+mn-ea"/>
              </a:rPr>
              <a:t>RDD</a:t>
            </a:r>
            <a:r>
              <a:rPr lang="zh-CN" altLang="zh-CN" sz="2400" dirty="0">
                <a:latin typeface="Arial" panose="020B0604020202020204" pitchFamily="34" charset="0"/>
                <a:sym typeface="+mn-ea"/>
              </a:rPr>
              <a:t>提供了一组丰富的操作以支持常见的数据运算，分为两类：</a:t>
            </a:r>
            <a:endParaRPr lang="zh-CN" altLang="zh-CN" sz="2400" dirty="0">
              <a:latin typeface="Arial" panose="020B0604020202020204" pitchFamily="34" charset="0"/>
              <a:sym typeface="+mn-ea"/>
            </a:endParaRP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>
                <a:latin typeface="Arial" panose="020B0604020202020204" pitchFamily="34" charset="0"/>
                <a:sym typeface="+mn-ea"/>
              </a:rPr>
              <a:t>转换</a:t>
            </a:r>
            <a:r>
              <a:rPr lang="en-US" altLang="zh-CN" sz="2400" dirty="0">
                <a:latin typeface="Arial" panose="020B0604020202020204" pitchFamily="34" charset="0"/>
                <a:sym typeface="+mn-ea"/>
              </a:rPr>
              <a:t>(Transformation):</a:t>
            </a:r>
            <a:r>
              <a:rPr lang="zh-CN" altLang="en-US" sz="2400" dirty="0">
                <a:latin typeface="Arial" panose="020B0604020202020204" pitchFamily="34" charset="0"/>
                <a:sym typeface="+mn-ea"/>
              </a:rPr>
              <a:t>指定</a:t>
            </a:r>
            <a:r>
              <a:rPr lang="en-US" altLang="zh-CN" sz="2400" dirty="0">
                <a:latin typeface="Arial" panose="020B0604020202020204" pitchFamily="34" charset="0"/>
                <a:sym typeface="+mn-ea"/>
              </a:rPr>
              <a:t>RDD</a:t>
            </a:r>
            <a:r>
              <a:rPr lang="zh-CN" altLang="en-US" sz="2400" dirty="0">
                <a:latin typeface="Arial" panose="020B0604020202020204" pitchFamily="34" charset="0"/>
                <a:sym typeface="+mn-ea"/>
              </a:rPr>
              <a:t>之间的相互关系</a:t>
            </a:r>
            <a:r>
              <a:rPr lang="en-US" altLang="zh-CN" sz="2400" dirty="0">
                <a:latin typeface="Arial" panose="020B0604020202020204" pitchFamily="34" charset="0"/>
                <a:sym typeface="+mn-ea"/>
              </a:rPr>
              <a:t>,</a:t>
            </a:r>
            <a:r>
              <a:rPr lang="zh-CN" altLang="en-US" sz="2400" dirty="0">
                <a:latin typeface="Arial" panose="020B0604020202020204" pitchFamily="34" charset="0"/>
                <a:sym typeface="+mn-ea"/>
              </a:rPr>
              <a:t>如</a:t>
            </a:r>
            <a:r>
              <a:rPr lang="en-US" altLang="zh-CN" sz="2400" dirty="0">
                <a:latin typeface="Arial" panose="020B0604020202020204" pitchFamily="34" charset="0"/>
                <a:sym typeface="+mn-ea"/>
              </a:rPr>
              <a:t>map, filter, groupBy, join</a:t>
            </a:r>
            <a:r>
              <a:rPr lang="zh-CN" altLang="en-US" sz="2400" dirty="0">
                <a:latin typeface="Arial" panose="020B0604020202020204" pitchFamily="34" charset="0"/>
                <a:sym typeface="+mn-ea"/>
              </a:rPr>
              <a:t>等</a:t>
            </a:r>
            <a:endParaRPr lang="zh-CN" altLang="zh-CN" sz="2400" dirty="0">
              <a:latin typeface="Arial" panose="020B0604020202020204" pitchFamily="34" charset="0"/>
              <a:sym typeface="+mn-ea"/>
            </a:endParaRP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>
                <a:latin typeface="Arial" panose="020B0604020202020204" pitchFamily="34" charset="0"/>
                <a:sym typeface="+mn-ea"/>
              </a:rPr>
              <a:t>行动</a:t>
            </a:r>
            <a:r>
              <a:rPr lang="en-US" altLang="zh-CN" sz="2400" dirty="0">
                <a:latin typeface="Arial" panose="020B0604020202020204" pitchFamily="34" charset="0"/>
                <a:sym typeface="+mn-ea"/>
              </a:rPr>
              <a:t>(</a:t>
            </a:r>
            <a:r>
              <a:rPr lang="en-US" altLang="zh-CN" sz="2400" dirty="0">
                <a:latin typeface="Arial" panose="020B0604020202020204" pitchFamily="34" charset="0"/>
                <a:sym typeface="+mn-ea"/>
              </a:rPr>
              <a:t>Action):</a:t>
            </a:r>
            <a:r>
              <a:rPr lang="zh-CN" altLang="en-US" sz="2400" dirty="0">
                <a:latin typeface="Arial" panose="020B0604020202020204" pitchFamily="34" charset="0"/>
                <a:sym typeface="+mn-ea"/>
              </a:rPr>
              <a:t>执行计算并指定输出的形式</a:t>
            </a:r>
            <a:r>
              <a:rPr lang="en-US" altLang="zh-CN" sz="2400" dirty="0">
                <a:latin typeface="Arial" panose="020B0604020202020204" pitchFamily="34" charset="0"/>
                <a:sym typeface="+mn-ea"/>
              </a:rPr>
              <a:t>,</a:t>
            </a:r>
            <a:r>
              <a:rPr lang="zh-CN" altLang="en-US" sz="2400" dirty="0">
                <a:latin typeface="Arial" panose="020B0604020202020204" pitchFamily="34" charset="0"/>
                <a:sym typeface="+mn-ea"/>
              </a:rPr>
              <a:t>如</a:t>
            </a:r>
            <a:r>
              <a:rPr lang="en-US" altLang="zh-CN" sz="2400" dirty="0">
                <a:latin typeface="Arial" panose="020B0604020202020204" pitchFamily="34" charset="0"/>
                <a:sym typeface="+mn-ea"/>
              </a:rPr>
              <a:t>count, collect</a:t>
            </a:r>
            <a:r>
              <a:rPr lang="zh-CN" altLang="en-US" sz="2400" dirty="0">
                <a:latin typeface="Arial" panose="020B0604020202020204" pitchFamily="34" charset="0"/>
                <a:sym typeface="+mn-ea"/>
              </a:rPr>
              <a:t>等</a:t>
            </a:r>
            <a:endParaRPr lang="en-US" altLang="zh-CN" sz="2400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标题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lstStyle/>
          <a:p>
            <a:r>
              <a:rPr lang="en-US" altLang="zh-CN" b="1" dirty="0"/>
              <a:t>10.3.4 RDD</a:t>
            </a:r>
            <a:r>
              <a:rPr lang="zh-CN" altLang="zh-CN" b="1" dirty="0"/>
              <a:t>运行原理</a:t>
            </a:r>
            <a:endParaRPr lang="zh-CN" altLang="en-US" b="1" dirty="0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57CE09-A6DF-4F65-B9AD-CB157D51E68C}" type="slidenum">
              <a:rPr lang="zh-CN" altLang="en-US" smtClean="0"/>
            </a:fld>
            <a:endParaRPr lang="zh-CN" altLang="en-US"/>
          </a:p>
        </p:txBody>
      </p:sp>
      <p:sp>
        <p:nvSpPr>
          <p:cNvPr id="29699" name="TextBox 3"/>
          <p:cNvSpPr txBox="1"/>
          <p:nvPr/>
        </p:nvSpPr>
        <p:spPr>
          <a:xfrm>
            <a:off x="1038225" y="1322705"/>
            <a:ext cx="3441700" cy="52197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r>
              <a:rPr lang="en-US" altLang="zh-CN" sz="2800" b="1" dirty="0">
                <a:latin typeface="Arial" panose="020B0604020202020204" pitchFamily="34" charset="0"/>
              </a:rPr>
              <a:t>RDD</a:t>
            </a:r>
            <a:r>
              <a:rPr lang="zh-CN" altLang="en-US" sz="2800" b="1" dirty="0">
                <a:latin typeface="Arial" panose="020B0604020202020204" pitchFamily="34" charset="0"/>
              </a:rPr>
              <a:t>的典型执行</a:t>
            </a:r>
            <a:r>
              <a:rPr lang="zh-CN" altLang="en-US" sz="2800" b="1" dirty="0">
                <a:latin typeface="Arial" panose="020B0604020202020204" pitchFamily="34" charset="0"/>
              </a:rPr>
              <a:t>过程</a:t>
            </a:r>
            <a:endParaRPr lang="zh-CN" altLang="en-US" sz="2800" b="1" dirty="0">
              <a:latin typeface="Arial" panose="020B0604020202020204" pitchFamily="34" charset="0"/>
            </a:endParaRPr>
          </a:p>
        </p:txBody>
      </p:sp>
      <p:sp>
        <p:nvSpPr>
          <p:cNvPr id="3" name="圆角矩形 2"/>
          <p:cNvSpPr/>
          <p:nvPr/>
        </p:nvSpPr>
        <p:spPr>
          <a:xfrm>
            <a:off x="3780155" y="2827020"/>
            <a:ext cx="1356360" cy="655320"/>
          </a:xfrm>
          <a:prstGeom prst="round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2800"/>
              <a:t>RDD</a:t>
            </a:r>
            <a:endParaRPr lang="en-US" altLang="zh-CN" sz="2800"/>
          </a:p>
        </p:txBody>
      </p:sp>
      <p:sp>
        <p:nvSpPr>
          <p:cNvPr id="4" name="流程图: 决策 3"/>
          <p:cNvSpPr/>
          <p:nvPr/>
        </p:nvSpPr>
        <p:spPr>
          <a:xfrm>
            <a:off x="1298575" y="4198620"/>
            <a:ext cx="1892300" cy="1153795"/>
          </a:xfrm>
          <a:prstGeom prst="flowChartDecision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2800"/>
              <a:t>转换</a:t>
            </a:r>
            <a:endParaRPr lang="zh-CN" altLang="en-US" sz="2800"/>
          </a:p>
        </p:txBody>
      </p:sp>
      <p:sp>
        <p:nvSpPr>
          <p:cNvPr id="5" name="流程图: 决策 4"/>
          <p:cNvSpPr/>
          <p:nvPr/>
        </p:nvSpPr>
        <p:spPr>
          <a:xfrm>
            <a:off x="6722745" y="4084320"/>
            <a:ext cx="1892300" cy="1153795"/>
          </a:xfrm>
          <a:prstGeom prst="flowChartDecision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2800"/>
              <a:t>行动</a:t>
            </a:r>
            <a:endParaRPr lang="zh-CN" altLang="en-US" sz="2800"/>
          </a:p>
        </p:txBody>
      </p:sp>
      <p:sp>
        <p:nvSpPr>
          <p:cNvPr id="6" name="圆角矩形 5"/>
          <p:cNvSpPr/>
          <p:nvPr/>
        </p:nvSpPr>
        <p:spPr>
          <a:xfrm>
            <a:off x="9779000" y="4339590"/>
            <a:ext cx="1356360" cy="655320"/>
          </a:xfrm>
          <a:prstGeom prst="round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2800"/>
              <a:t>值</a:t>
            </a:r>
            <a:endParaRPr lang="zh-CN" altLang="en-US" sz="2800"/>
          </a:p>
        </p:txBody>
      </p:sp>
      <p:sp>
        <p:nvSpPr>
          <p:cNvPr id="7" name="圆角矩形 6"/>
          <p:cNvSpPr/>
          <p:nvPr/>
        </p:nvSpPr>
        <p:spPr>
          <a:xfrm>
            <a:off x="3928745" y="3334385"/>
            <a:ext cx="1356360" cy="655320"/>
          </a:xfrm>
          <a:prstGeom prst="round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3200" b="1"/>
              <a:t>...</a:t>
            </a:r>
            <a:endParaRPr lang="en-US" altLang="zh-CN" sz="3200" b="1"/>
          </a:p>
        </p:txBody>
      </p:sp>
      <p:sp>
        <p:nvSpPr>
          <p:cNvPr id="8" name="下弧形箭头 7"/>
          <p:cNvSpPr/>
          <p:nvPr/>
        </p:nvSpPr>
        <p:spPr>
          <a:xfrm>
            <a:off x="2027555" y="5088890"/>
            <a:ext cx="3194685" cy="1379855"/>
          </a:xfrm>
          <a:prstGeom prst="curvedUpArrow">
            <a:avLst>
              <a:gd name="adj1" fmla="val 25000"/>
              <a:gd name="adj2" fmla="val 35877"/>
              <a:gd name="adj3" fmla="val 250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0" name="圆角右箭头 9"/>
          <p:cNvSpPr/>
          <p:nvPr/>
        </p:nvSpPr>
        <p:spPr>
          <a:xfrm rot="16200000" flipH="1">
            <a:off x="2312035" y="3031490"/>
            <a:ext cx="1023620" cy="1592580"/>
          </a:xfrm>
          <a:prstGeom prst="bentArrow">
            <a:avLst>
              <a:gd name="adj1" fmla="val 10791"/>
              <a:gd name="adj2" fmla="val 18901"/>
              <a:gd name="adj3" fmla="val 22924"/>
              <a:gd name="adj4" fmla="val 4375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1" name="圆柱形 10"/>
          <p:cNvSpPr/>
          <p:nvPr/>
        </p:nvSpPr>
        <p:spPr>
          <a:xfrm>
            <a:off x="401955" y="2107565"/>
            <a:ext cx="1866265" cy="1166495"/>
          </a:xfrm>
          <a:prstGeom prst="can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2800"/>
              <a:t>数据源</a:t>
            </a:r>
            <a:endParaRPr lang="zh-CN" altLang="en-US" sz="2800"/>
          </a:p>
        </p:txBody>
      </p:sp>
      <p:cxnSp>
        <p:nvCxnSpPr>
          <p:cNvPr id="12" name="直接箭头连接符 11"/>
          <p:cNvCxnSpPr>
            <a:stCxn id="11" idx="4"/>
          </p:cNvCxnSpPr>
          <p:nvPr/>
        </p:nvCxnSpPr>
        <p:spPr>
          <a:xfrm>
            <a:off x="2268220" y="2691130"/>
            <a:ext cx="1605915" cy="468630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圆角矩形 12"/>
          <p:cNvSpPr/>
          <p:nvPr>
            <p:custDataLst>
              <p:tags r:id="rId1"/>
            </p:custDataLst>
          </p:nvPr>
        </p:nvSpPr>
        <p:spPr>
          <a:xfrm>
            <a:off x="4130040" y="3799840"/>
            <a:ext cx="1356360" cy="655320"/>
          </a:xfrm>
          <a:prstGeom prst="round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2800" b="1">
                <a:sym typeface="+mn-ea"/>
              </a:rPr>
              <a:t>...</a:t>
            </a:r>
            <a:endParaRPr lang="en-US" altLang="zh-CN" sz="2800"/>
          </a:p>
        </p:txBody>
      </p:sp>
      <p:sp>
        <p:nvSpPr>
          <p:cNvPr id="14" name="圆角矩形 13"/>
          <p:cNvSpPr/>
          <p:nvPr>
            <p:custDataLst>
              <p:tags r:id="rId2"/>
            </p:custDataLst>
          </p:nvPr>
        </p:nvSpPr>
        <p:spPr>
          <a:xfrm>
            <a:off x="4278630" y="4307205"/>
            <a:ext cx="1356360" cy="655320"/>
          </a:xfrm>
          <a:prstGeom prst="round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2800"/>
              <a:t>RDD</a:t>
            </a:r>
            <a:endParaRPr lang="en-US" altLang="zh-CN" sz="2800"/>
          </a:p>
        </p:txBody>
      </p:sp>
      <p:cxnSp>
        <p:nvCxnSpPr>
          <p:cNvPr id="15" name="直接箭头连接符 14"/>
          <p:cNvCxnSpPr>
            <a:stCxn id="14" idx="3"/>
            <a:endCxn id="5" idx="1"/>
          </p:cNvCxnSpPr>
          <p:nvPr/>
        </p:nvCxnSpPr>
        <p:spPr>
          <a:xfrm>
            <a:off x="5634990" y="4634865"/>
            <a:ext cx="1087755" cy="26670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箭头连接符 15"/>
          <p:cNvCxnSpPr>
            <a:stCxn id="5" idx="3"/>
            <a:endCxn id="6" idx="1"/>
          </p:cNvCxnSpPr>
          <p:nvPr>
            <p:custDataLst>
              <p:tags r:id="rId3"/>
            </p:custDataLst>
          </p:nvPr>
        </p:nvCxnSpPr>
        <p:spPr>
          <a:xfrm>
            <a:off x="8615045" y="4661535"/>
            <a:ext cx="1163955" cy="5715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文本框 16"/>
          <p:cNvSpPr txBox="1"/>
          <p:nvPr/>
        </p:nvSpPr>
        <p:spPr>
          <a:xfrm>
            <a:off x="9070340" y="2409825"/>
            <a:ext cx="1823720" cy="1533363"/>
          </a:xfrm>
          <a:prstGeom prst="wedgeRoundRectCallout">
            <a:avLst>
              <a:gd name="adj1" fmla="val -101984"/>
              <a:gd name="adj2" fmla="val 93572"/>
              <a:gd name="adj3" fmla="val 16667"/>
            </a:avLst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p>
            <a:r>
              <a:rPr lang="zh-CN" altLang="en-US" sz="2800"/>
              <a:t>惰性调用</a:t>
            </a:r>
            <a:endParaRPr lang="zh-CN" altLang="en-US" sz="2800"/>
          </a:p>
          <a:p>
            <a:r>
              <a:rPr lang="zh-CN" altLang="en-US" sz="2800"/>
              <a:t>真正计算</a:t>
            </a:r>
            <a:endParaRPr lang="zh-CN" altLang="en-US" sz="2800"/>
          </a:p>
          <a:p>
            <a:r>
              <a:rPr lang="zh-CN" altLang="en-US" sz="2800"/>
              <a:t>只在行动</a:t>
            </a:r>
            <a:endParaRPr lang="zh-CN" altLang="en-US" sz="2800"/>
          </a:p>
        </p:txBody>
      </p:sp>
      <p:sp>
        <p:nvSpPr>
          <p:cNvPr id="19" name="矩形 18"/>
          <p:cNvSpPr/>
          <p:nvPr/>
        </p:nvSpPr>
        <p:spPr>
          <a:xfrm>
            <a:off x="3458210" y="2540635"/>
            <a:ext cx="2474595" cy="2657475"/>
          </a:xfrm>
          <a:prstGeom prst="rect">
            <a:avLst/>
          </a:prstGeom>
          <a:noFill/>
          <a:ln w="38100">
            <a:solidFill>
              <a:srgbClr val="00B050"/>
            </a:solidFill>
            <a:prstDash val="dash"/>
          </a:ln>
          <a:extLst>
            <a:ext uri="{909E8E84-426E-40DD-AFC4-6F175D3DCCD1}">
              <a14:hiddenFill xmlns:a14="http://schemas.microsoft.com/office/drawing/2010/main">
                <a:solidFill>
                  <a:schemeClr val="lt1"/>
                </a:solidFill>
              </a14:hiddenFill>
            </a:ext>
          </a:ex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0" name="文本框 19"/>
          <p:cNvSpPr txBox="1"/>
          <p:nvPr>
            <p:custDataLst>
              <p:tags r:id="rId4"/>
            </p:custDataLst>
          </p:nvPr>
        </p:nvSpPr>
        <p:spPr>
          <a:xfrm>
            <a:off x="5770880" y="1189990"/>
            <a:ext cx="3628390" cy="1056703"/>
          </a:xfrm>
          <a:prstGeom prst="wedgeRoundRectCallout">
            <a:avLst>
              <a:gd name="adj1" fmla="val -53885"/>
              <a:gd name="adj2" fmla="val 99939"/>
              <a:gd name="adj3" fmla="val 16667"/>
            </a:avLst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p>
            <a:r>
              <a:rPr lang="zh-CN" altLang="en-US" sz="2800"/>
              <a:t>记录转换需要的数据集和</a:t>
            </a:r>
            <a:r>
              <a:rPr lang="en-US" altLang="zh-CN" sz="2800"/>
              <a:t>RDD</a:t>
            </a:r>
            <a:r>
              <a:rPr lang="zh-CN" altLang="en-US" sz="2800"/>
              <a:t>生成</a:t>
            </a:r>
            <a:r>
              <a:rPr lang="zh-CN" altLang="en-US" sz="2800"/>
              <a:t>轨迹</a:t>
            </a:r>
            <a:endParaRPr lang="zh-CN" altLang="en-US" sz="28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500"/>
                            </p:stCondLst>
                            <p:childTnLst>
                              <p:par>
                                <p:cTn id="26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500"/>
                            </p:stCondLst>
                            <p:childTnLst>
                              <p:par>
                                <p:cTn id="3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1000"/>
                            </p:stCondLst>
                            <p:childTnLst>
                              <p:par>
                                <p:cTn id="3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500"/>
                            </p:stCondLst>
                            <p:childTnLst>
                              <p:par>
                                <p:cTn id="4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1000"/>
                            </p:stCondLst>
                            <p:childTnLst>
                              <p:par>
                                <p:cTn id="5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1500"/>
                            </p:stCondLst>
                            <p:childTnLst>
                              <p:par>
                                <p:cTn id="5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500"/>
                            </p:stCondLst>
                            <p:childTnLst>
                              <p:par>
                                <p:cTn id="70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ldLvl="0" animBg="1"/>
      <p:bldP spid="3" grpId="1" animBg="1"/>
      <p:bldP spid="7" grpId="0" bldLvl="0" animBg="1"/>
      <p:bldP spid="7" grpId="1" animBg="1"/>
      <p:bldP spid="11" grpId="0" animBg="1"/>
      <p:bldP spid="11" grpId="1" animBg="1"/>
      <p:bldP spid="10" grpId="0" animBg="1"/>
      <p:bldP spid="4" grpId="0" bldLvl="0" animBg="1"/>
      <p:bldP spid="10" grpId="1" animBg="1"/>
      <p:bldP spid="4" grpId="1" animBg="1"/>
      <p:bldP spid="8" grpId="0" bldLvl="0" animBg="1"/>
      <p:bldP spid="8" grpId="1" animBg="1"/>
      <p:bldP spid="13" grpId="0" bldLvl="0" animBg="1"/>
      <p:bldP spid="13" grpId="1" animBg="1"/>
      <p:bldP spid="14" grpId="0" bldLvl="0" animBg="1"/>
      <p:bldP spid="14" grpId="1" animBg="1"/>
      <p:bldP spid="5" grpId="0" animBg="1"/>
      <p:bldP spid="6" grpId="0" animBg="1"/>
      <p:bldP spid="5" grpId="1" animBg="1"/>
      <p:bldP spid="6" grpId="1" animBg="1"/>
      <p:bldP spid="17" grpId="0" bldLvl="0" animBg="1"/>
      <p:bldP spid="17" grpId="1" animBg="1"/>
      <p:bldP spid="19" grpId="0" animBg="1"/>
      <p:bldP spid="19" grpId="1" animBg="1"/>
      <p:bldP spid="20" grpId="0" bldLvl="0" animBg="1"/>
      <p:bldP spid="20" grpId="1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标题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lstStyle/>
          <a:p>
            <a:r>
              <a:rPr lang="en-US" altLang="zh-CN" b="1" dirty="0"/>
              <a:t>10.3.4 RDD</a:t>
            </a:r>
            <a:r>
              <a:rPr lang="zh-CN" altLang="zh-CN" b="1" dirty="0"/>
              <a:t>运行原理</a:t>
            </a:r>
            <a:endParaRPr lang="zh-CN" altLang="en-US" b="1" dirty="0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57CE09-A6DF-4F65-B9AD-CB157D51E68C}" type="slidenum">
              <a:rPr lang="zh-CN" altLang="en-US" smtClean="0"/>
            </a:fld>
            <a:endParaRPr lang="zh-CN" altLang="en-US"/>
          </a:p>
        </p:txBody>
      </p:sp>
      <p:sp>
        <p:nvSpPr>
          <p:cNvPr id="30723" name="矩形 2"/>
          <p:cNvSpPr/>
          <p:nvPr/>
        </p:nvSpPr>
        <p:spPr>
          <a:xfrm>
            <a:off x="1038225" y="1937385"/>
            <a:ext cx="10161270" cy="4418965"/>
          </a:xfrm>
          <a:prstGeom prst="rect">
            <a:avLst/>
          </a:prstGeom>
          <a:noFill/>
          <a:ln w="9525">
            <a:noFill/>
          </a:ln>
        </p:spPr>
        <p:txBody>
          <a:bodyPr>
            <a:noAutofit/>
          </a:bodyPr>
          <a:lstStyle/>
          <a:p>
            <a:pPr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zh-CN" altLang="zh-CN" sz="2400" dirty="0">
                <a:highlight>
                  <a:srgbClr val="FFFF00"/>
                </a:highlight>
                <a:latin typeface="Arial" panose="020B0604020202020204" pitchFamily="34" charset="0"/>
                <a:sym typeface="+mn-ea"/>
              </a:rPr>
              <a:t>粗粒度的数据转换</a:t>
            </a:r>
            <a:r>
              <a:rPr lang="zh-CN" altLang="zh-CN" sz="2400" dirty="0">
                <a:latin typeface="Arial" panose="020B0604020202020204" pitchFamily="34" charset="0"/>
                <a:sym typeface="+mn-ea"/>
              </a:rPr>
              <a:t>操作：</a:t>
            </a:r>
            <a:endParaRPr lang="zh-CN" altLang="zh-CN" sz="2400" dirty="0">
              <a:latin typeface="Arial" panose="020B0604020202020204" pitchFamily="34" charset="0"/>
              <a:sym typeface="+mn-ea"/>
            </a:endParaRPr>
          </a:p>
          <a:p>
            <a:pPr lvl="1"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en-US" altLang="zh-CN" sz="2400" dirty="0">
                <a:latin typeface="Arial" panose="020B0604020202020204" pitchFamily="34" charset="0"/>
              </a:rPr>
              <a:t>map</a:t>
            </a:r>
            <a:r>
              <a:rPr lang="zh-CN" altLang="zh-CN" sz="2400" dirty="0">
                <a:latin typeface="Arial" panose="020B0604020202020204" pitchFamily="34" charset="0"/>
              </a:rPr>
              <a:t>、</a:t>
            </a:r>
            <a:r>
              <a:rPr lang="en-US" altLang="zh-CN" sz="2400" dirty="0">
                <a:latin typeface="Arial" panose="020B0604020202020204" pitchFamily="34" charset="0"/>
              </a:rPr>
              <a:t>filter</a:t>
            </a:r>
            <a:r>
              <a:rPr lang="zh-CN" altLang="zh-CN" sz="2400" dirty="0">
                <a:latin typeface="Arial" panose="020B0604020202020204" pitchFamily="34" charset="0"/>
              </a:rPr>
              <a:t>、</a:t>
            </a:r>
            <a:r>
              <a:rPr lang="en-US" altLang="zh-CN" sz="2400" dirty="0">
                <a:latin typeface="Arial" panose="020B0604020202020204" pitchFamily="34" charset="0"/>
              </a:rPr>
              <a:t>groupBy</a:t>
            </a:r>
            <a:r>
              <a:rPr lang="zh-CN" altLang="zh-CN" sz="2400" dirty="0">
                <a:latin typeface="Arial" panose="020B0604020202020204" pitchFamily="34" charset="0"/>
              </a:rPr>
              <a:t>、</a:t>
            </a:r>
            <a:r>
              <a:rPr lang="en-US" altLang="zh-CN" sz="2400" dirty="0">
                <a:latin typeface="Arial" panose="020B0604020202020204" pitchFamily="34" charset="0"/>
              </a:rPr>
              <a:t>join</a:t>
            </a:r>
            <a:r>
              <a:rPr lang="zh-CN" altLang="zh-CN" sz="2400" dirty="0">
                <a:latin typeface="Arial" panose="020B0604020202020204" pitchFamily="34" charset="0"/>
              </a:rPr>
              <a:t>等，而不是针对某个数据项的细粒度修改</a:t>
            </a:r>
            <a:endParaRPr lang="zh-CN" altLang="zh-CN" sz="2400" dirty="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>
                <a:latin typeface="Arial" panose="020B0604020202020204" pitchFamily="34" charset="0"/>
              </a:rPr>
              <a:t>适合数据集中元素执行相同操作的批处理式</a:t>
            </a:r>
            <a:r>
              <a:rPr lang="zh-CN" altLang="en-US" sz="2400" dirty="0">
                <a:latin typeface="Arial" panose="020B0604020202020204" pitchFamily="34" charset="0"/>
              </a:rPr>
              <a:t>应用</a:t>
            </a:r>
            <a:endParaRPr lang="zh-CN" altLang="en-US" sz="2400" dirty="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>
                <a:latin typeface="Arial" panose="020B0604020202020204" pitchFamily="34" charset="0"/>
              </a:rPr>
              <a:t>不适用与需要异步、细粒度状态的应用，如</a:t>
            </a:r>
            <a:r>
              <a:rPr lang="en-US" altLang="zh-CN" sz="2400" dirty="0">
                <a:latin typeface="Arial" panose="020B0604020202020204" pitchFamily="34" charset="0"/>
              </a:rPr>
              <a:t>Web</a:t>
            </a:r>
            <a:r>
              <a:rPr lang="zh-CN" altLang="en-US" sz="2400" dirty="0">
                <a:latin typeface="Arial" panose="020B0604020202020204" pitchFamily="34" charset="0"/>
              </a:rPr>
              <a:t>应用系统、增量式</a:t>
            </a:r>
            <a:r>
              <a:rPr lang="zh-CN" altLang="en-US" sz="2400" dirty="0">
                <a:latin typeface="Arial" panose="020B0604020202020204" pitchFamily="34" charset="0"/>
              </a:rPr>
              <a:t>爬虫</a:t>
            </a:r>
            <a:endParaRPr lang="zh-CN" altLang="en-US" sz="2400" dirty="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zh-CN" sz="2400" dirty="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>
                <a:latin typeface="Arial" panose="020B0604020202020204" pitchFamily="34" charset="0"/>
              </a:rPr>
              <a:t>表面上</a:t>
            </a:r>
            <a:r>
              <a:rPr lang="en-US" altLang="zh-CN" sz="2400" dirty="0">
                <a:latin typeface="Arial" panose="020B0604020202020204" pitchFamily="34" charset="0"/>
              </a:rPr>
              <a:t>RDD</a:t>
            </a:r>
            <a:r>
              <a:rPr lang="zh-CN" altLang="zh-CN" sz="2400" dirty="0">
                <a:latin typeface="Arial" panose="020B0604020202020204" pitchFamily="34" charset="0"/>
              </a:rPr>
              <a:t>的功能很受限、不够强大</a:t>
            </a:r>
            <a:r>
              <a:rPr lang="zh-CN" altLang="en-US" sz="2400" dirty="0">
                <a:latin typeface="Arial" panose="020B0604020202020204" pitchFamily="34" charset="0"/>
              </a:rPr>
              <a:t>，</a:t>
            </a:r>
            <a:r>
              <a:rPr lang="zh-CN" altLang="zh-CN" sz="2400" dirty="0">
                <a:latin typeface="Arial" panose="020B0604020202020204" pitchFamily="34" charset="0"/>
              </a:rPr>
              <a:t>实际上</a:t>
            </a:r>
            <a:r>
              <a:rPr lang="en-US" altLang="zh-CN" sz="2400" dirty="0">
                <a:latin typeface="Arial" panose="020B0604020202020204" pitchFamily="34" charset="0"/>
              </a:rPr>
              <a:t>RDD</a:t>
            </a:r>
            <a:r>
              <a:rPr lang="zh-CN" altLang="zh-CN" sz="2400" dirty="0">
                <a:latin typeface="Arial" panose="020B0604020202020204" pitchFamily="34" charset="0"/>
              </a:rPr>
              <a:t>已经被</a:t>
            </a:r>
            <a:r>
              <a:rPr lang="zh-CN" altLang="zh-CN" sz="2400" dirty="0">
                <a:highlight>
                  <a:srgbClr val="FFFF00"/>
                </a:highlight>
                <a:latin typeface="Arial" panose="020B0604020202020204" pitchFamily="34" charset="0"/>
              </a:rPr>
              <a:t>实践证明可以</a:t>
            </a:r>
            <a:r>
              <a:rPr lang="zh-CN" altLang="zh-CN" sz="2400" dirty="0">
                <a:latin typeface="Arial" panose="020B0604020202020204" pitchFamily="34" charset="0"/>
              </a:rPr>
              <a:t>高效地表达许多框架的编程模型</a:t>
            </a:r>
            <a:r>
              <a:rPr lang="zh-CN" altLang="en-US" sz="2400" dirty="0">
                <a:latin typeface="Arial" panose="020B0604020202020204" pitchFamily="34" charset="0"/>
              </a:rPr>
              <a:t>（</a:t>
            </a:r>
            <a:r>
              <a:rPr lang="zh-CN" altLang="zh-CN" sz="2400" dirty="0">
                <a:latin typeface="Arial" panose="020B0604020202020204" pitchFamily="34" charset="0"/>
              </a:rPr>
              <a:t>比如</a:t>
            </a:r>
            <a:r>
              <a:rPr lang="en-US" altLang="zh-CN" sz="2400" dirty="0">
                <a:latin typeface="Arial" panose="020B0604020202020204" pitchFamily="34" charset="0"/>
              </a:rPr>
              <a:t>MapReduce</a:t>
            </a:r>
            <a:r>
              <a:rPr lang="zh-CN" altLang="zh-CN" sz="2400" dirty="0">
                <a:latin typeface="Arial" panose="020B0604020202020204" pitchFamily="34" charset="0"/>
              </a:rPr>
              <a:t>、</a:t>
            </a:r>
            <a:r>
              <a:rPr lang="en-US" altLang="zh-CN" sz="2400" dirty="0">
                <a:latin typeface="Arial" panose="020B0604020202020204" pitchFamily="34" charset="0"/>
              </a:rPr>
              <a:t>SQL</a:t>
            </a:r>
            <a:r>
              <a:rPr lang="zh-CN" altLang="zh-CN" sz="2400" dirty="0">
                <a:latin typeface="Arial" panose="020B0604020202020204" pitchFamily="34" charset="0"/>
              </a:rPr>
              <a:t>、</a:t>
            </a:r>
            <a:r>
              <a:rPr lang="en-US" altLang="zh-CN" sz="2400" dirty="0">
                <a:latin typeface="Arial" panose="020B0604020202020204" pitchFamily="34" charset="0"/>
              </a:rPr>
              <a:t>Pregel</a:t>
            </a:r>
            <a:r>
              <a:rPr lang="zh-CN" altLang="en-US" sz="2400" dirty="0">
                <a:latin typeface="Arial" panose="020B0604020202020204" pitchFamily="34" charset="0"/>
              </a:rPr>
              <a:t>），并且可以应用于这些框架处理不了的交互式数据挖掘</a:t>
            </a:r>
            <a:r>
              <a:rPr lang="zh-CN" altLang="en-US" sz="2400" dirty="0">
                <a:latin typeface="Arial" panose="020B0604020202020204" pitchFamily="34" charset="0"/>
              </a:rPr>
              <a:t>应用。</a:t>
            </a:r>
            <a:endParaRPr lang="zh-CN" altLang="en-US" sz="2400" dirty="0">
              <a:latin typeface="Arial" panose="020B0604020202020204" pitchFamily="34" charset="0"/>
            </a:endParaRPr>
          </a:p>
        </p:txBody>
      </p:sp>
      <p:sp>
        <p:nvSpPr>
          <p:cNvPr id="29699" name="TextBox 3"/>
          <p:cNvSpPr txBox="1"/>
          <p:nvPr>
            <p:custDataLst>
              <p:tags r:id="rId1"/>
            </p:custDataLst>
          </p:nvPr>
        </p:nvSpPr>
        <p:spPr>
          <a:xfrm>
            <a:off x="1038225" y="1322705"/>
            <a:ext cx="2374900" cy="52197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en-US" altLang="zh-CN" sz="2800" b="1" dirty="0">
                <a:latin typeface="Arial" panose="020B0604020202020204" pitchFamily="34" charset="0"/>
              </a:rPr>
              <a:t>RDD</a:t>
            </a:r>
            <a:r>
              <a:rPr lang="zh-CN" altLang="en-US" sz="2800" b="1" dirty="0">
                <a:latin typeface="Arial" panose="020B0604020202020204" pitchFamily="34" charset="0"/>
              </a:rPr>
              <a:t>的</a:t>
            </a:r>
            <a:r>
              <a:rPr lang="zh-CN" altLang="en-US" sz="2800" b="1" dirty="0">
                <a:latin typeface="Arial" panose="020B0604020202020204" pitchFamily="34" charset="0"/>
              </a:rPr>
              <a:t>适用性</a:t>
            </a:r>
            <a:endParaRPr lang="zh-CN" altLang="en-US" sz="2800" b="1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标题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lstStyle/>
          <a:p>
            <a:r>
              <a:rPr lang="en-US" altLang="zh-CN" b="1" dirty="0"/>
              <a:t>10.3.4 RDD</a:t>
            </a:r>
            <a:r>
              <a:rPr lang="zh-CN" altLang="zh-CN" b="1" dirty="0"/>
              <a:t>运行原理</a:t>
            </a:r>
            <a:endParaRPr lang="zh-CN" altLang="en-US" b="1" dirty="0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57CE09-A6DF-4F65-B9AD-CB157D51E68C}" type="slidenum">
              <a:rPr lang="zh-CN" altLang="en-US" smtClean="0"/>
            </a:fld>
            <a:endParaRPr lang="zh-CN" altLang="en-US"/>
          </a:p>
        </p:txBody>
      </p:sp>
      <p:sp>
        <p:nvSpPr>
          <p:cNvPr id="31748" name="矩形 4"/>
          <p:cNvSpPr/>
          <p:nvPr/>
        </p:nvSpPr>
        <p:spPr>
          <a:xfrm>
            <a:off x="950595" y="1589405"/>
            <a:ext cx="5930900" cy="52197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r>
              <a:rPr lang="en-US" altLang="zh-CN" sz="2800" dirty="0">
                <a:latin typeface="Arial" panose="020B0604020202020204" pitchFamily="34" charset="0"/>
              </a:rPr>
              <a:t>RDD</a:t>
            </a:r>
            <a:r>
              <a:rPr lang="zh-CN" altLang="zh-CN" sz="2800" dirty="0">
                <a:latin typeface="Arial" panose="020B0604020202020204" pitchFamily="34" charset="0"/>
              </a:rPr>
              <a:t>执行过程的一个实例：包饺子</a:t>
            </a:r>
            <a:r>
              <a:rPr lang="zh-CN" altLang="zh-CN" sz="2800" dirty="0">
                <a:latin typeface="Arial" panose="020B0604020202020204" pitchFamily="34" charset="0"/>
              </a:rPr>
              <a:t>吃</a:t>
            </a:r>
            <a:endParaRPr lang="zh-CN" altLang="zh-CN" sz="2800" dirty="0">
              <a:latin typeface="Arial" panose="020B0604020202020204" pitchFamily="34" charset="0"/>
            </a:endParaRPr>
          </a:p>
        </p:txBody>
      </p:sp>
      <p:sp>
        <p:nvSpPr>
          <p:cNvPr id="31749" name="矩形 6"/>
          <p:cNvSpPr/>
          <p:nvPr/>
        </p:nvSpPr>
        <p:spPr>
          <a:xfrm>
            <a:off x="1050925" y="5309870"/>
            <a:ext cx="9730105" cy="119888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r>
              <a:rPr lang="zh-CN" altLang="en-US" sz="2400" dirty="0">
                <a:latin typeface="Arial" panose="020B0604020202020204" pitchFamily="34" charset="0"/>
              </a:rPr>
              <a:t>这一系列处理称为一个</a:t>
            </a:r>
            <a:r>
              <a:rPr lang="en-US" altLang="zh-CN" sz="2400" dirty="0">
                <a:latin typeface="Arial" panose="020B0604020202020204" pitchFamily="34" charset="0"/>
              </a:rPr>
              <a:t>Lineage</a:t>
            </a:r>
            <a:r>
              <a:rPr lang="zh-CN" altLang="en-US" sz="2400" dirty="0">
                <a:latin typeface="Arial" panose="020B0604020202020204" pitchFamily="34" charset="0"/>
              </a:rPr>
              <a:t>（血缘关系），即</a:t>
            </a:r>
            <a:r>
              <a:rPr lang="en-US" altLang="zh-CN" sz="2400" dirty="0">
                <a:latin typeface="Arial" panose="020B0604020202020204" pitchFamily="34" charset="0"/>
              </a:rPr>
              <a:t>DAG</a:t>
            </a:r>
            <a:r>
              <a:rPr lang="zh-CN" altLang="en-US" sz="2400" dirty="0">
                <a:latin typeface="Arial" panose="020B0604020202020204" pitchFamily="34" charset="0"/>
              </a:rPr>
              <a:t>拓扑排序的结果</a:t>
            </a:r>
            <a:endParaRPr lang="en-US" altLang="zh-CN" sz="2400" dirty="0">
              <a:latin typeface="Arial" panose="020B0604020202020204" pitchFamily="34" charset="0"/>
            </a:endParaRPr>
          </a:p>
          <a:p>
            <a:r>
              <a:rPr lang="zh-CN" altLang="en-US" sz="2400" dirty="0">
                <a:latin typeface="Arial" panose="020B0604020202020204" pitchFamily="34" charset="0"/>
              </a:rPr>
              <a:t>优点：惰性调用、管道化、避免同步等待、不需要保存中间结果、每次操作变得简单</a:t>
            </a:r>
            <a:endParaRPr lang="zh-CN" altLang="en-US" sz="2400" dirty="0">
              <a:latin typeface="Arial" panose="020B0604020202020204" pitchFamily="34" charset="0"/>
            </a:endParaRPr>
          </a:p>
        </p:txBody>
      </p:sp>
      <p:pic>
        <p:nvPicPr>
          <p:cNvPr id="3" name="图片 2" descr="1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1050925" y="2272030"/>
            <a:ext cx="9792970" cy="2639060"/>
          </a:xfrm>
          <a:prstGeom prst="rect">
            <a:avLst/>
          </a:prstGeom>
        </p:spPr>
      </p:pic>
      <p:sp>
        <p:nvSpPr>
          <p:cNvPr id="17" name="文本框 16"/>
          <p:cNvSpPr txBox="1"/>
          <p:nvPr>
            <p:custDataLst>
              <p:tags r:id="rId3"/>
            </p:custDataLst>
          </p:nvPr>
        </p:nvSpPr>
        <p:spPr>
          <a:xfrm>
            <a:off x="8452485" y="2753360"/>
            <a:ext cx="617855" cy="529590"/>
          </a:xfrm>
          <a:prstGeom prst="wedgeRoundRectCallout">
            <a:avLst>
              <a:gd name="adj1" fmla="val -101984"/>
              <a:gd name="adj2" fmla="val 93572"/>
              <a:gd name="adj3" fmla="val 16667"/>
            </a:avLst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wrap="square" rtlCol="0">
            <a:noAutofit/>
          </a:bodyPr>
          <a:p>
            <a:r>
              <a:rPr lang="zh-CN" altLang="en-US" sz="2800"/>
              <a:t>子</a:t>
            </a:r>
            <a:endParaRPr lang="zh-CN" altLang="en-US" sz="2800"/>
          </a:p>
        </p:txBody>
      </p:sp>
      <p:sp>
        <p:nvSpPr>
          <p:cNvPr id="4" name="文本框 3"/>
          <p:cNvSpPr txBox="1"/>
          <p:nvPr>
            <p:custDataLst>
              <p:tags r:id="rId4"/>
            </p:custDataLst>
          </p:nvPr>
        </p:nvSpPr>
        <p:spPr>
          <a:xfrm>
            <a:off x="6881495" y="2753360"/>
            <a:ext cx="617855" cy="529590"/>
          </a:xfrm>
          <a:prstGeom prst="wedgeRoundRectCallout">
            <a:avLst>
              <a:gd name="adj1" fmla="val -101984"/>
              <a:gd name="adj2" fmla="val 93572"/>
              <a:gd name="adj3" fmla="val 16667"/>
            </a:avLst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wrap="square" rtlCol="0">
            <a:noAutofit/>
          </a:bodyPr>
          <a:p>
            <a:r>
              <a:rPr lang="zh-CN" altLang="en-US" sz="2800"/>
              <a:t>父</a:t>
            </a:r>
            <a:endParaRPr lang="zh-CN" altLang="en-US" sz="28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749" grpId="0"/>
      <p:bldP spid="31749" grpId="1"/>
      <p:bldP spid="17" grpId="0" bldLvl="0" animBg="1"/>
      <p:bldP spid="17" grpId="1" animBg="1"/>
      <p:bldP spid="4" grpId="0" bldLvl="0" animBg="1"/>
      <p:bldP spid="4" grpId="1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 b="1" dirty="0">
                <a:sym typeface="+mn-ea"/>
              </a:rPr>
              <a:t>10.3.4 RDD</a:t>
            </a:r>
            <a:r>
              <a:rPr lang="zh-CN" altLang="zh-CN" b="1" dirty="0">
                <a:sym typeface="+mn-ea"/>
              </a:rPr>
              <a:t>运行原理</a:t>
            </a:r>
            <a:endParaRPr lang="zh-CN" altLang="en-US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7E57CE09-A6DF-4F65-B9AD-CB157D51E68C}" type="slidenum">
              <a:rPr lang="zh-CN" altLang="en-US" smtClean="0"/>
            </a:fld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948055" y="1520825"/>
            <a:ext cx="10842625" cy="520001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2400"/>
              <a:t>import org.apache.spark.SparkContext</a:t>
            </a:r>
            <a:endParaRPr lang="en-US" altLang="zh-CN" sz="2400"/>
          </a:p>
          <a:p>
            <a:r>
              <a:rPr lang="en-US" altLang="zh-CN" sz="2400">
                <a:sym typeface="+mn-ea"/>
              </a:rPr>
              <a:t>import org.apache.spark.SparkContext._</a:t>
            </a:r>
            <a:endParaRPr lang="en-US" altLang="zh-CN" sz="2400">
              <a:sym typeface="+mn-ea"/>
            </a:endParaRPr>
          </a:p>
          <a:p>
            <a:r>
              <a:rPr lang="en-US" altLang="zh-CN" sz="2400">
                <a:sym typeface="+mn-ea"/>
              </a:rPr>
              <a:t>import org.apache.spark.SparkConf</a:t>
            </a:r>
            <a:endParaRPr lang="en-US" altLang="zh-CN" sz="2400">
              <a:sym typeface="+mn-ea"/>
            </a:endParaRPr>
          </a:p>
          <a:p>
            <a:r>
              <a:rPr lang="en-US" altLang="zh-CN" sz="2400">
                <a:sym typeface="+mn-ea"/>
              </a:rPr>
              <a:t>object HelloWorld{</a:t>
            </a:r>
            <a:endParaRPr lang="en-US" altLang="zh-CN" sz="2400">
              <a:sym typeface="+mn-ea"/>
            </a:endParaRPr>
          </a:p>
          <a:p>
            <a:pPr indent="457200"/>
            <a:r>
              <a:rPr lang="en-US" altLang="zh-CN" sz="2400">
                <a:sym typeface="+mn-ea"/>
              </a:rPr>
              <a:t>def main(args: Array[String]){</a:t>
            </a:r>
            <a:endParaRPr lang="en-US" altLang="zh-CN" sz="2400">
              <a:sym typeface="+mn-ea"/>
            </a:endParaRPr>
          </a:p>
          <a:p>
            <a:pPr marL="457200" lvl="1" indent="457200"/>
            <a:r>
              <a:rPr lang="en-US" altLang="zh-CN" sz="2400">
                <a:sym typeface="+mn-ea"/>
              </a:rPr>
              <a:t>val conf = new SparkConf().setAppName(“Hello World”).setMaster(“local[[2]”)</a:t>
            </a:r>
            <a:endParaRPr lang="en-US" altLang="zh-CN" sz="2400">
              <a:sym typeface="+mn-ea"/>
            </a:endParaRPr>
          </a:p>
          <a:p>
            <a:pPr marL="457200" lvl="1" indent="457200"/>
            <a:r>
              <a:rPr lang="en-US" altLang="zh-CN" sz="2400">
                <a:solidFill>
                  <a:srgbClr val="FF0000"/>
                </a:solidFill>
                <a:sym typeface="+mn-ea"/>
              </a:rPr>
              <a:t>val sc = new SparkContext(conf) </a:t>
            </a:r>
            <a:endParaRPr lang="en-US" altLang="zh-CN" sz="2400">
              <a:solidFill>
                <a:srgbClr val="00B050"/>
              </a:solidFill>
              <a:sym typeface="+mn-ea"/>
            </a:endParaRPr>
          </a:p>
          <a:p>
            <a:pPr marL="457200" lvl="1" indent="457200"/>
            <a:r>
              <a:rPr lang="en-US" altLang="zh-CN" sz="2400">
                <a:solidFill>
                  <a:srgbClr val="FF0000"/>
                </a:solidFill>
                <a:sym typeface="+mn-ea"/>
              </a:rPr>
              <a:t>val fileRDD = sc.textFile(“hdfs://localhost:9000/examplefile”)</a:t>
            </a:r>
            <a:endParaRPr lang="en-US" altLang="zh-CN" sz="2400">
              <a:sym typeface="+mn-ea"/>
            </a:endParaRPr>
          </a:p>
          <a:p>
            <a:pPr marL="457200" lvl="1" indent="457200"/>
            <a:r>
              <a:rPr lang="en-US" altLang="zh-CN" sz="2400">
                <a:solidFill>
                  <a:srgbClr val="FF0000"/>
                </a:solidFill>
                <a:sym typeface="+mn-ea"/>
              </a:rPr>
              <a:t>val filterRDD = fileRDD.filter(_.contains(“Hello World”))</a:t>
            </a:r>
            <a:endParaRPr lang="en-US" altLang="zh-CN" sz="2400">
              <a:sym typeface="+mn-ea"/>
            </a:endParaRPr>
          </a:p>
          <a:p>
            <a:pPr marL="457200" lvl="1" indent="457200"/>
            <a:r>
              <a:rPr lang="en-US" altLang="zh-CN" sz="2400">
                <a:solidFill>
                  <a:srgbClr val="FF0000"/>
                </a:solidFill>
                <a:sym typeface="+mn-ea"/>
              </a:rPr>
              <a:t>filterRDD.cache()</a:t>
            </a:r>
            <a:endParaRPr lang="en-US" altLang="zh-CN" sz="2400">
              <a:solidFill>
                <a:srgbClr val="FF0000"/>
              </a:solidFill>
              <a:sym typeface="+mn-ea"/>
            </a:endParaRPr>
          </a:p>
          <a:p>
            <a:pPr marL="457200" lvl="1" indent="457200"/>
            <a:r>
              <a:rPr lang="en-US" altLang="zh-CN" sz="2400">
                <a:solidFill>
                  <a:srgbClr val="FF0000"/>
                </a:solidFill>
                <a:sym typeface="+mn-ea"/>
              </a:rPr>
              <a:t>filterRDD.count()</a:t>
            </a:r>
            <a:endParaRPr lang="en-US" altLang="zh-CN" sz="2400">
              <a:solidFill>
                <a:srgbClr val="FF0000"/>
              </a:solidFill>
              <a:sym typeface="+mn-ea"/>
            </a:endParaRPr>
          </a:p>
          <a:p>
            <a:pPr marL="0" lvl="0" indent="457200">
              <a:buNone/>
            </a:pPr>
            <a:r>
              <a:rPr lang="en-US" altLang="zh-CN" sz="2400">
                <a:solidFill>
                  <a:schemeClr val="tx1"/>
                </a:solidFill>
                <a:sym typeface="+mn-ea"/>
              </a:rPr>
              <a:t>}</a:t>
            </a:r>
            <a:endParaRPr lang="en-US" altLang="zh-CN" sz="2400">
              <a:solidFill>
                <a:schemeClr val="tx1"/>
              </a:solidFill>
              <a:sym typeface="+mn-ea"/>
            </a:endParaRPr>
          </a:p>
          <a:p>
            <a:pPr marL="0" lvl="0" indent="0">
              <a:buNone/>
            </a:pPr>
            <a:r>
              <a:rPr lang="en-US" altLang="zh-CN" sz="2400">
                <a:solidFill>
                  <a:schemeClr val="tx1"/>
                </a:solidFill>
                <a:sym typeface="+mn-ea"/>
              </a:rPr>
              <a:t>}</a:t>
            </a:r>
            <a:endParaRPr lang="en-US" altLang="zh-CN" sz="2400">
              <a:solidFill>
                <a:schemeClr val="tx1"/>
              </a:solidFill>
              <a:sym typeface="+mn-ea"/>
            </a:endParaRPr>
          </a:p>
          <a:p>
            <a:pPr marL="457200" lvl="1" indent="457200"/>
            <a:endParaRPr lang="en-US" altLang="zh-CN"/>
          </a:p>
          <a:p>
            <a:endParaRPr lang="en-US" altLang="zh-CN"/>
          </a:p>
        </p:txBody>
      </p:sp>
      <p:sp>
        <p:nvSpPr>
          <p:cNvPr id="5" name="文本框 4"/>
          <p:cNvSpPr txBox="1"/>
          <p:nvPr/>
        </p:nvSpPr>
        <p:spPr>
          <a:xfrm>
            <a:off x="6278245" y="4070350"/>
            <a:ext cx="3431540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sz="2400">
                <a:solidFill>
                  <a:srgbClr val="00B050"/>
                </a:solidFill>
                <a:sym typeface="+mn-ea"/>
              </a:rPr>
              <a:t>//</a:t>
            </a:r>
            <a:r>
              <a:rPr lang="zh-CN" altLang="en-US" sz="2400">
                <a:solidFill>
                  <a:srgbClr val="00B050"/>
                </a:solidFill>
                <a:sym typeface="+mn-ea"/>
              </a:rPr>
              <a:t>创建</a:t>
            </a:r>
            <a:r>
              <a:rPr lang="en-US" altLang="zh-CN" sz="2400">
                <a:solidFill>
                  <a:srgbClr val="00B050"/>
                </a:solidFill>
                <a:sym typeface="+mn-ea"/>
              </a:rPr>
              <a:t>SparkContext</a:t>
            </a:r>
            <a:r>
              <a:rPr lang="zh-CN" altLang="en-US" sz="2400">
                <a:solidFill>
                  <a:srgbClr val="00B050"/>
                </a:solidFill>
                <a:sym typeface="+mn-ea"/>
              </a:rPr>
              <a:t>对象</a:t>
            </a:r>
            <a:endParaRPr lang="zh-CN" altLang="en-US" sz="2400">
              <a:solidFill>
                <a:srgbClr val="00B050"/>
              </a:solidFill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9815195" y="4434840"/>
            <a:ext cx="1705610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sz="2400">
                <a:solidFill>
                  <a:srgbClr val="00B050"/>
                </a:solidFill>
                <a:sym typeface="+mn-ea"/>
              </a:rPr>
              <a:t>//</a:t>
            </a:r>
            <a:r>
              <a:rPr lang="zh-CN" altLang="en-US" sz="2400">
                <a:solidFill>
                  <a:srgbClr val="00B050"/>
                </a:solidFill>
                <a:sym typeface="+mn-ea"/>
              </a:rPr>
              <a:t>创建</a:t>
            </a:r>
            <a:r>
              <a:rPr lang="en-US" altLang="zh-CN" sz="2400">
                <a:solidFill>
                  <a:srgbClr val="00B050"/>
                </a:solidFill>
                <a:sym typeface="+mn-ea"/>
              </a:rPr>
              <a:t>RDD</a:t>
            </a:r>
            <a:endParaRPr lang="en-US" altLang="zh-CN" sz="2400">
              <a:solidFill>
                <a:srgbClr val="00B050"/>
              </a:solidFill>
              <a:sym typeface="+mn-ea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9196070" y="4818380"/>
            <a:ext cx="2943225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sz="2400">
                <a:solidFill>
                  <a:srgbClr val="00B050"/>
                </a:solidFill>
                <a:sym typeface="+mn-ea"/>
              </a:rPr>
              <a:t>//</a:t>
            </a:r>
            <a:r>
              <a:rPr lang="zh-CN" altLang="en-US" sz="2400">
                <a:solidFill>
                  <a:srgbClr val="00B050"/>
                </a:solidFill>
                <a:sym typeface="+mn-ea"/>
              </a:rPr>
              <a:t>转换操作得新</a:t>
            </a:r>
            <a:r>
              <a:rPr lang="en-US" altLang="zh-CN" sz="2400">
                <a:solidFill>
                  <a:srgbClr val="00B050"/>
                </a:solidFill>
                <a:sym typeface="+mn-ea"/>
              </a:rPr>
              <a:t>RDD</a:t>
            </a:r>
            <a:endParaRPr lang="en-US" altLang="zh-CN" sz="2400">
              <a:solidFill>
                <a:srgbClr val="00B050"/>
              </a:solidFill>
              <a:sym typeface="+mn-ea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4265930" y="5213350"/>
            <a:ext cx="7254875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sz="2400">
                <a:solidFill>
                  <a:srgbClr val="00B050"/>
                </a:solidFill>
                <a:sym typeface="+mn-ea"/>
              </a:rPr>
              <a:t>//</a:t>
            </a:r>
            <a:r>
              <a:rPr lang="zh-CN" altLang="en-US" sz="2400">
                <a:solidFill>
                  <a:srgbClr val="00B050"/>
                </a:solidFill>
                <a:sym typeface="+mn-ea"/>
              </a:rPr>
              <a:t>对其进行持久化，保存在内存或磁盘，这里是内存</a:t>
            </a:r>
            <a:endParaRPr lang="zh-CN" altLang="en-US" sz="2400">
              <a:solidFill>
                <a:srgbClr val="00B050"/>
              </a:solidFill>
              <a:sym typeface="+mn-ea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4265930" y="5566410"/>
            <a:ext cx="1744345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sz="2400">
                <a:solidFill>
                  <a:srgbClr val="00B050"/>
                </a:solidFill>
                <a:sym typeface="+mn-ea"/>
              </a:rPr>
              <a:t>//</a:t>
            </a:r>
            <a:r>
              <a:rPr lang="zh-CN" altLang="en-US" sz="2400">
                <a:solidFill>
                  <a:srgbClr val="00B050"/>
                </a:solidFill>
                <a:sym typeface="+mn-ea"/>
              </a:rPr>
              <a:t>行动操作</a:t>
            </a:r>
            <a:endParaRPr lang="zh-CN" altLang="en-US" sz="2400">
              <a:solidFill>
                <a:srgbClr val="00B050"/>
              </a:solidFill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5" grpId="1"/>
      <p:bldP spid="6" grpId="0"/>
      <p:bldP spid="6" grpId="1"/>
      <p:bldP spid="7" grpId="0"/>
      <p:bldP spid="7" grpId="1"/>
      <p:bldP spid="8" grpId="0"/>
      <p:bldP spid="8" grpId="1"/>
      <p:bldP spid="9" grpId="0"/>
      <p:bldP spid="9" grpId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标题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lstStyle/>
          <a:p>
            <a:r>
              <a:rPr lang="en-US" altLang="zh-CN" b="1" dirty="0"/>
              <a:t>10.3.4 RDD</a:t>
            </a:r>
            <a:r>
              <a:rPr lang="zh-CN" altLang="zh-CN" b="1" dirty="0"/>
              <a:t>运行原理</a:t>
            </a:r>
            <a:endParaRPr lang="zh-CN" altLang="en-US" b="1" dirty="0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57CE09-A6DF-4F65-B9AD-CB157D51E68C}" type="slidenum">
              <a:rPr lang="zh-CN" altLang="en-US" smtClean="0"/>
            </a:fld>
            <a:endParaRPr lang="zh-CN" altLang="en-US"/>
          </a:p>
        </p:txBody>
      </p:sp>
      <p:sp>
        <p:nvSpPr>
          <p:cNvPr id="32771" name="矩形 2"/>
          <p:cNvSpPr/>
          <p:nvPr/>
        </p:nvSpPr>
        <p:spPr>
          <a:xfrm>
            <a:off x="1189990" y="1821815"/>
            <a:ext cx="10163810" cy="4393565"/>
          </a:xfrm>
          <a:prstGeom prst="rect">
            <a:avLst/>
          </a:prstGeom>
          <a:noFill/>
          <a:ln w="9525">
            <a:noFill/>
          </a:ln>
        </p:spPr>
        <p:txBody>
          <a:bodyPr>
            <a:noAutofit/>
          </a:bodyPr>
          <a:lstStyle/>
          <a:p>
            <a:r>
              <a:rPr lang="en-US" altLang="zh-CN" sz="2400" dirty="0">
                <a:latin typeface="Arial" panose="020B0604020202020204" pitchFamily="34" charset="0"/>
              </a:rPr>
              <a:t>Spark</a:t>
            </a:r>
            <a:r>
              <a:rPr lang="zh-CN" altLang="en-US" sz="2400" dirty="0">
                <a:latin typeface="Arial" panose="020B0604020202020204" pitchFamily="34" charset="0"/>
              </a:rPr>
              <a:t>采用</a:t>
            </a:r>
            <a:r>
              <a:rPr lang="en-US" altLang="zh-CN" sz="2400" dirty="0">
                <a:latin typeface="Arial" panose="020B0604020202020204" pitchFamily="34" charset="0"/>
              </a:rPr>
              <a:t>RDD</a:t>
            </a:r>
            <a:r>
              <a:rPr lang="zh-CN" altLang="en-US" sz="2400" dirty="0">
                <a:latin typeface="Arial" panose="020B0604020202020204" pitchFamily="34" charset="0"/>
              </a:rPr>
              <a:t>以后能够实现高效计算的原因主要在于：</a:t>
            </a:r>
            <a:endParaRPr lang="zh-CN" altLang="en-US" sz="2400" dirty="0">
              <a:latin typeface="Arial" panose="020B0604020202020204" pitchFamily="34" charset="0"/>
            </a:endParaRPr>
          </a:p>
          <a:p>
            <a:endParaRPr lang="en-US" altLang="zh-CN" sz="2400" dirty="0">
              <a:latin typeface="Arial" panose="020B0604020202020204" pitchFamily="34" charset="0"/>
            </a:endParaRPr>
          </a:p>
          <a:p>
            <a:r>
              <a:rPr lang="zh-CN" altLang="en-US" sz="2400" dirty="0">
                <a:latin typeface="Arial" panose="020B0604020202020204" pitchFamily="34" charset="0"/>
              </a:rPr>
              <a:t>（</a:t>
            </a:r>
            <a:r>
              <a:rPr lang="en-US" altLang="zh-CN" sz="2400" dirty="0">
                <a:latin typeface="Arial" panose="020B0604020202020204" pitchFamily="34" charset="0"/>
              </a:rPr>
              <a:t>1</a:t>
            </a:r>
            <a:r>
              <a:rPr lang="zh-CN" altLang="en-US" sz="2400" dirty="0">
                <a:latin typeface="Arial" panose="020B0604020202020204" pitchFamily="34" charset="0"/>
              </a:rPr>
              <a:t>）</a:t>
            </a:r>
            <a:r>
              <a:rPr lang="zh-CN" altLang="zh-CN" sz="2400" dirty="0">
                <a:latin typeface="Arial" panose="020B0604020202020204" pitchFamily="34" charset="0"/>
              </a:rPr>
              <a:t>高效的容错性</a:t>
            </a:r>
            <a:endParaRPr lang="en-US" altLang="zh-CN" sz="2400" dirty="0">
              <a:latin typeface="Arial" panose="020B0604020202020204" pitchFamily="34" charset="0"/>
            </a:endParaRPr>
          </a:p>
          <a:p>
            <a:pPr lvl="2" eaLnBrk="1" hangingPunct="1">
              <a:buFont typeface="Arial" panose="020B0604020202020204" pitchFamily="34" charset="0"/>
              <a:buChar char="•"/>
            </a:pPr>
            <a:r>
              <a:rPr lang="zh-CN" altLang="en-US" sz="2400" dirty="0">
                <a:latin typeface="Arial" panose="020B0604020202020204" pitchFamily="34" charset="0"/>
              </a:rPr>
              <a:t>现有容错机制：</a:t>
            </a:r>
            <a:r>
              <a:rPr lang="zh-CN" altLang="zh-CN" sz="2400" dirty="0">
                <a:latin typeface="Arial" panose="020B0604020202020204" pitchFamily="34" charset="0"/>
              </a:rPr>
              <a:t>数据复制或者记录日志</a:t>
            </a:r>
            <a:endParaRPr lang="en-US" altLang="zh-CN" sz="2400" dirty="0">
              <a:latin typeface="Arial" panose="020B0604020202020204" pitchFamily="34" charset="0"/>
            </a:endParaRPr>
          </a:p>
          <a:p>
            <a:pPr lvl="2" eaLnBrk="1" hangingPunct="1">
              <a:buFont typeface="Arial" panose="020B0604020202020204" pitchFamily="34" charset="0"/>
              <a:buChar char="•"/>
            </a:pPr>
            <a:r>
              <a:rPr lang="en-US" altLang="zh-CN" sz="2400" dirty="0">
                <a:latin typeface="Arial" panose="020B0604020202020204" pitchFamily="34" charset="0"/>
              </a:rPr>
              <a:t>RDD</a:t>
            </a:r>
            <a:r>
              <a:rPr lang="zh-CN" altLang="en-US" sz="2400" dirty="0">
                <a:latin typeface="Arial" panose="020B0604020202020204" pitchFamily="34" charset="0"/>
              </a:rPr>
              <a:t>：血缘关系、重新计算丢失分区、无需回滚系统、重算过程在不同节点之间并行、只记录粗粒度的操作</a:t>
            </a:r>
            <a:endParaRPr lang="zh-CN" altLang="en-US" sz="2400" dirty="0">
              <a:latin typeface="Arial" panose="020B0604020202020204" pitchFamily="34" charset="0"/>
            </a:endParaRPr>
          </a:p>
          <a:p>
            <a:pPr lvl="2" eaLnBrk="1" hangingPunct="1">
              <a:buFont typeface="Arial" panose="020B0604020202020204" pitchFamily="34" charset="0"/>
              <a:buChar char="•"/>
            </a:pPr>
            <a:endParaRPr lang="en-US" altLang="zh-CN" sz="2400" dirty="0">
              <a:latin typeface="Arial" panose="020B0604020202020204" pitchFamily="34" charset="0"/>
            </a:endParaRPr>
          </a:p>
          <a:p>
            <a:r>
              <a:rPr lang="zh-CN" altLang="en-US" sz="2400" dirty="0">
                <a:latin typeface="Arial" panose="020B0604020202020204" pitchFamily="34" charset="0"/>
              </a:rPr>
              <a:t>（</a:t>
            </a:r>
            <a:r>
              <a:rPr lang="en-US" altLang="zh-CN" sz="2400" dirty="0">
                <a:latin typeface="Arial" panose="020B0604020202020204" pitchFamily="34" charset="0"/>
              </a:rPr>
              <a:t>2</a:t>
            </a:r>
            <a:r>
              <a:rPr lang="zh-CN" altLang="en-US" sz="2400" dirty="0">
                <a:latin typeface="Arial" panose="020B0604020202020204" pitchFamily="34" charset="0"/>
              </a:rPr>
              <a:t>）</a:t>
            </a:r>
            <a:r>
              <a:rPr lang="zh-CN" altLang="zh-CN" sz="2400" dirty="0">
                <a:latin typeface="Arial" panose="020B0604020202020204" pitchFamily="34" charset="0"/>
              </a:rPr>
              <a:t>中间结果持久化到内存</a:t>
            </a:r>
            <a:r>
              <a:rPr lang="zh-CN" altLang="en-US" sz="2400" dirty="0">
                <a:latin typeface="Arial" panose="020B0604020202020204" pitchFamily="34" charset="0"/>
              </a:rPr>
              <a:t>，</a:t>
            </a:r>
            <a:r>
              <a:rPr lang="zh-CN" altLang="zh-CN" sz="2400" dirty="0">
                <a:latin typeface="Arial" panose="020B0604020202020204" pitchFamily="34" charset="0"/>
              </a:rPr>
              <a:t>数据在内存中的多个</a:t>
            </a:r>
            <a:r>
              <a:rPr lang="en-US" altLang="zh-CN" sz="2400" dirty="0">
                <a:latin typeface="Arial" panose="020B0604020202020204" pitchFamily="34" charset="0"/>
              </a:rPr>
              <a:t>RDD</a:t>
            </a:r>
            <a:r>
              <a:rPr lang="zh-CN" altLang="zh-CN" sz="2400" dirty="0">
                <a:latin typeface="Arial" panose="020B0604020202020204" pitchFamily="34" charset="0"/>
              </a:rPr>
              <a:t>操作之间进行传递</a:t>
            </a:r>
            <a:r>
              <a:rPr lang="zh-CN" altLang="en-US" sz="2400" dirty="0">
                <a:latin typeface="Arial" panose="020B0604020202020204" pitchFamily="34" charset="0"/>
              </a:rPr>
              <a:t>，</a:t>
            </a:r>
            <a:r>
              <a:rPr lang="zh-CN" altLang="zh-CN" sz="2400" dirty="0">
                <a:latin typeface="Arial" panose="020B0604020202020204" pitchFamily="34" charset="0"/>
              </a:rPr>
              <a:t>避免了不必要的读写磁盘开销</a:t>
            </a:r>
            <a:endParaRPr lang="zh-CN" altLang="zh-CN" sz="2400" dirty="0">
              <a:latin typeface="Arial" panose="020B0604020202020204" pitchFamily="34" charset="0"/>
            </a:endParaRPr>
          </a:p>
          <a:p>
            <a:endParaRPr lang="en-US" altLang="zh-CN" sz="2400" dirty="0">
              <a:latin typeface="Arial" panose="020B0604020202020204" pitchFamily="34" charset="0"/>
            </a:endParaRPr>
          </a:p>
          <a:p>
            <a:r>
              <a:rPr lang="zh-CN" altLang="en-US" sz="2400" dirty="0">
                <a:latin typeface="Arial" panose="020B0604020202020204" pitchFamily="34" charset="0"/>
              </a:rPr>
              <a:t>（</a:t>
            </a:r>
            <a:r>
              <a:rPr lang="en-US" altLang="zh-CN" sz="2400" dirty="0">
                <a:latin typeface="Arial" panose="020B0604020202020204" pitchFamily="34" charset="0"/>
              </a:rPr>
              <a:t>3</a:t>
            </a:r>
            <a:r>
              <a:rPr lang="zh-CN" altLang="en-US" sz="2400" dirty="0">
                <a:latin typeface="Arial" panose="020B0604020202020204" pitchFamily="34" charset="0"/>
              </a:rPr>
              <a:t>）存放的数据可以是</a:t>
            </a:r>
            <a:r>
              <a:rPr lang="en-US" altLang="zh-CN" sz="2400" dirty="0">
                <a:latin typeface="Arial" panose="020B0604020202020204" pitchFamily="34" charset="0"/>
              </a:rPr>
              <a:t>Java</a:t>
            </a:r>
            <a:r>
              <a:rPr lang="zh-CN" altLang="en-US" sz="2400" dirty="0">
                <a:latin typeface="Arial" panose="020B0604020202020204" pitchFamily="34" charset="0"/>
              </a:rPr>
              <a:t>对象，避免了不必要的对象序列化和反序列化</a:t>
            </a:r>
            <a:endParaRPr lang="zh-CN" altLang="en-US" sz="2400" dirty="0">
              <a:latin typeface="Arial" panose="020B0604020202020204" pitchFamily="34" charset="0"/>
            </a:endParaRPr>
          </a:p>
        </p:txBody>
      </p:sp>
      <p:sp>
        <p:nvSpPr>
          <p:cNvPr id="32772" name="TextBox 4"/>
          <p:cNvSpPr txBox="1"/>
          <p:nvPr/>
        </p:nvSpPr>
        <p:spPr>
          <a:xfrm>
            <a:off x="1068705" y="1299845"/>
            <a:ext cx="3053715" cy="52197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r>
              <a:rPr lang="en-US" altLang="zh-CN" sz="2800" b="1" dirty="0">
                <a:latin typeface="Arial" panose="020B0604020202020204" pitchFamily="34" charset="0"/>
              </a:rPr>
              <a:t>3.RDD</a:t>
            </a:r>
            <a:r>
              <a:rPr lang="zh-CN" altLang="zh-CN" sz="2800" b="1" dirty="0">
                <a:latin typeface="Arial" panose="020B0604020202020204" pitchFamily="34" charset="0"/>
              </a:rPr>
              <a:t>特性</a:t>
            </a:r>
            <a:endParaRPr lang="zh-CN" altLang="zh-CN" sz="2800" b="1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标题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lstStyle/>
          <a:p>
            <a:r>
              <a:rPr lang="en-US" altLang="zh-CN" b="1" dirty="0"/>
              <a:t>10.3.4 RDD</a:t>
            </a:r>
            <a:r>
              <a:rPr lang="zh-CN" altLang="zh-CN" b="1" dirty="0"/>
              <a:t>运行原理</a:t>
            </a:r>
            <a:endParaRPr lang="zh-CN" altLang="en-US" b="1" dirty="0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57CE09-A6DF-4F65-B9AD-CB157D51E68C}" type="slidenum">
              <a:rPr lang="zh-CN" altLang="en-US" smtClean="0"/>
            </a:fld>
            <a:endParaRPr lang="zh-CN" altLang="en-US"/>
          </a:p>
        </p:txBody>
      </p:sp>
      <p:sp>
        <p:nvSpPr>
          <p:cNvPr id="33795" name="TextBox 6"/>
          <p:cNvSpPr txBox="1"/>
          <p:nvPr/>
        </p:nvSpPr>
        <p:spPr>
          <a:xfrm>
            <a:off x="954405" y="1383030"/>
            <a:ext cx="4065270" cy="52197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r>
              <a:rPr lang="en-US" altLang="zh-CN" sz="2800" b="1" dirty="0">
                <a:latin typeface="Arial" panose="020B0604020202020204" pitchFamily="34" charset="0"/>
              </a:rPr>
              <a:t>4. RDD</a:t>
            </a:r>
            <a:r>
              <a:rPr lang="zh-CN" altLang="zh-CN" sz="2800" b="1" dirty="0">
                <a:latin typeface="Arial" panose="020B0604020202020204" pitchFamily="34" charset="0"/>
              </a:rPr>
              <a:t>之间的依赖关系</a:t>
            </a:r>
            <a:endParaRPr lang="zh-CN" altLang="zh-CN" sz="2800" b="1" dirty="0">
              <a:latin typeface="Arial" panose="020B0604020202020204" pitchFamily="34" charset="0"/>
            </a:endParaRPr>
          </a:p>
        </p:txBody>
      </p:sp>
      <p:sp>
        <p:nvSpPr>
          <p:cNvPr id="33796" name="TextBox 3"/>
          <p:cNvSpPr txBox="1"/>
          <p:nvPr/>
        </p:nvSpPr>
        <p:spPr>
          <a:xfrm>
            <a:off x="1129665" y="2032000"/>
            <a:ext cx="8976995" cy="341503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400" dirty="0">
                <a:latin typeface="Arial" panose="020B0604020202020204" pitchFamily="34" charset="0"/>
              </a:rPr>
              <a:t>RDD</a:t>
            </a:r>
            <a:r>
              <a:rPr lang="zh-CN" altLang="en-US" sz="2400" dirty="0">
                <a:latin typeface="Arial" panose="020B0604020202020204" pitchFamily="34" charset="0"/>
              </a:rPr>
              <a:t>中不同的操作会使不同</a:t>
            </a:r>
            <a:r>
              <a:rPr lang="en-US" altLang="zh-CN" sz="2400" dirty="0">
                <a:latin typeface="Arial" panose="020B0604020202020204" pitchFamily="34" charset="0"/>
              </a:rPr>
              <a:t>RDD</a:t>
            </a:r>
            <a:r>
              <a:rPr lang="zh-CN" altLang="en-US" sz="2400" dirty="0">
                <a:latin typeface="Arial" panose="020B0604020202020204" pitchFamily="34" charset="0"/>
              </a:rPr>
              <a:t>分区之间产生不同的依赖关系</a:t>
            </a:r>
            <a:endParaRPr lang="zh-CN" altLang="en-US" sz="2400" dirty="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400" dirty="0">
                <a:latin typeface="Arial" panose="020B0604020202020204" pitchFamily="34" charset="0"/>
              </a:rPr>
              <a:t>DAG</a:t>
            </a:r>
            <a:r>
              <a:rPr lang="zh-CN" altLang="en-US" sz="2400" dirty="0">
                <a:latin typeface="Arial" panose="020B0604020202020204" pitchFamily="34" charset="0"/>
              </a:rPr>
              <a:t>调度器根据</a:t>
            </a:r>
            <a:r>
              <a:rPr lang="en-US" altLang="zh-CN" sz="2400" dirty="0">
                <a:latin typeface="Arial" panose="020B0604020202020204" pitchFamily="34" charset="0"/>
              </a:rPr>
              <a:t>RDD</a:t>
            </a:r>
            <a:r>
              <a:rPr lang="zh-CN" altLang="en-US" sz="2400" dirty="0">
                <a:latin typeface="Arial" panose="020B0604020202020204" pitchFamily="34" charset="0"/>
              </a:rPr>
              <a:t>之间的依赖关系，把</a:t>
            </a:r>
            <a:r>
              <a:rPr lang="en-US" altLang="zh-CN" sz="2400" dirty="0">
                <a:latin typeface="Arial" panose="020B0604020202020204" pitchFamily="34" charset="0"/>
              </a:rPr>
              <a:t>DAG</a:t>
            </a:r>
            <a:r>
              <a:rPr lang="zh-CN" altLang="en-US" sz="2400" dirty="0">
                <a:latin typeface="Arial" panose="020B0604020202020204" pitchFamily="34" charset="0"/>
              </a:rPr>
              <a:t>划分成若干个阶段</a:t>
            </a:r>
            <a:endParaRPr lang="zh-CN" altLang="en-US" sz="2400" dirty="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zh-CN" altLang="en-US" sz="2400" dirty="0">
              <a:latin typeface="Arial" panose="020B0604020202020204" pitchFamily="34" charset="0"/>
            </a:endParaRPr>
          </a:p>
          <a:p>
            <a:pPr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en-US" altLang="zh-CN" sz="2400" dirty="0">
                <a:latin typeface="Arial" panose="020B0604020202020204" pitchFamily="34" charset="0"/>
              </a:rPr>
              <a:t>RDD</a:t>
            </a:r>
            <a:r>
              <a:rPr lang="zh-CN" altLang="en-US" sz="2400" dirty="0">
                <a:latin typeface="Arial" panose="020B0604020202020204" pitchFamily="34" charset="0"/>
              </a:rPr>
              <a:t>中的依赖关系分为：</a:t>
            </a:r>
            <a:endParaRPr lang="en-US" altLang="zh-CN" sz="2400" dirty="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>
                <a:latin typeface="Arial" panose="020B0604020202020204" pitchFamily="34" charset="0"/>
              </a:rPr>
              <a:t>窄依赖和宽依赖</a:t>
            </a:r>
            <a:endParaRPr lang="en-US" altLang="zh-CN" sz="2400" dirty="0">
              <a:latin typeface="Arial" panose="020B0604020202020204" pitchFamily="34" charset="0"/>
            </a:endParaRPr>
          </a:p>
          <a:p>
            <a:pPr lvl="1" eaLnBrk="1" hangingPunct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>
                <a:latin typeface="Arial" panose="020B0604020202020204" pitchFamily="34" charset="0"/>
              </a:rPr>
              <a:t>是否包含</a:t>
            </a:r>
            <a:r>
              <a:rPr lang="en-US" altLang="zh-CN" sz="2400" dirty="0">
                <a:latin typeface="Arial" panose="020B0604020202020204" pitchFamily="34" charset="0"/>
              </a:rPr>
              <a:t>Shuffle</a:t>
            </a:r>
            <a:r>
              <a:rPr lang="zh-CN" altLang="en-US" sz="2400" dirty="0">
                <a:latin typeface="Arial" panose="020B0604020202020204" pitchFamily="34" charset="0"/>
              </a:rPr>
              <a:t>操作是区分窄依赖和宽依赖的根据</a:t>
            </a:r>
            <a:endParaRPr lang="zh-CN" altLang="en-US" sz="2400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标题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lstStyle/>
          <a:p>
            <a:r>
              <a:rPr lang="en-US" altLang="zh-CN" b="1" dirty="0"/>
              <a:t>10.3.4 RDD</a:t>
            </a:r>
            <a:r>
              <a:rPr lang="zh-CN" altLang="zh-CN" b="1" dirty="0"/>
              <a:t>运行原理</a:t>
            </a:r>
            <a:endParaRPr lang="zh-CN" altLang="en-US" b="1" dirty="0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57CE09-A6DF-4F65-B9AD-CB157D51E68C}" type="slidenum">
              <a:rPr lang="zh-CN" altLang="en-US" smtClean="0"/>
            </a:fld>
            <a:endParaRPr lang="zh-CN" altLang="en-US"/>
          </a:p>
        </p:txBody>
      </p:sp>
      <p:sp>
        <p:nvSpPr>
          <p:cNvPr id="34819" name="TextBox 6"/>
          <p:cNvSpPr txBox="1"/>
          <p:nvPr/>
        </p:nvSpPr>
        <p:spPr>
          <a:xfrm>
            <a:off x="930910" y="1410970"/>
            <a:ext cx="5925820" cy="46037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r>
              <a:rPr lang="en-US" altLang="zh-CN" sz="2400" b="1" dirty="0">
                <a:latin typeface="Arial" panose="020B0604020202020204" pitchFamily="34" charset="0"/>
              </a:rPr>
              <a:t>4. RDD</a:t>
            </a:r>
            <a:r>
              <a:rPr lang="zh-CN" altLang="zh-CN" sz="2400" b="1" dirty="0">
                <a:latin typeface="Arial" panose="020B0604020202020204" pitchFamily="34" charset="0"/>
              </a:rPr>
              <a:t>之间的依赖关系</a:t>
            </a:r>
            <a:r>
              <a:rPr lang="en-US" altLang="zh-CN" sz="2400" b="1" dirty="0">
                <a:latin typeface="Arial" panose="020B0604020202020204" pitchFamily="34" charset="0"/>
              </a:rPr>
              <a:t>——Shuffle</a:t>
            </a:r>
            <a:r>
              <a:rPr lang="zh-CN" altLang="en-US" sz="2400" b="1" dirty="0">
                <a:latin typeface="Arial" panose="020B0604020202020204" pitchFamily="34" charset="0"/>
              </a:rPr>
              <a:t>操作</a:t>
            </a:r>
            <a:endParaRPr lang="zh-CN" altLang="en-US" sz="2400" b="1" dirty="0">
              <a:latin typeface="Arial" panose="020B0604020202020204" pitchFamily="34" charset="0"/>
            </a:endParaRPr>
          </a:p>
        </p:txBody>
      </p:sp>
      <p:pic>
        <p:nvPicPr>
          <p:cNvPr id="34820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76675" y="1804035"/>
            <a:ext cx="5779770" cy="4572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4821" name="矩形 3"/>
          <p:cNvSpPr/>
          <p:nvPr/>
        </p:nvSpPr>
        <p:spPr>
          <a:xfrm>
            <a:off x="5033010" y="6488748"/>
            <a:ext cx="3467735" cy="3683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r>
              <a:rPr lang="zh-CN" altLang="en-US" dirty="0">
                <a:latin typeface="Arial" panose="020B0604020202020204" pitchFamily="34" charset="0"/>
              </a:rPr>
              <a:t>一个关于</a:t>
            </a:r>
            <a:r>
              <a:rPr lang="en-US" altLang="zh-CN" dirty="0">
                <a:latin typeface="Arial" panose="020B0604020202020204" pitchFamily="34" charset="0"/>
              </a:rPr>
              <a:t>Shuffle </a:t>
            </a:r>
            <a:r>
              <a:rPr lang="zh-CN" altLang="en-US" dirty="0">
                <a:latin typeface="Arial" panose="020B0604020202020204" pitchFamily="34" charset="0"/>
              </a:rPr>
              <a:t>操作的简单实例</a:t>
            </a:r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996315" y="2781300"/>
            <a:ext cx="2416175" cy="156845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400"/>
              <a:t>Spark</a:t>
            </a:r>
            <a:r>
              <a:rPr lang="zh-CN" altLang="en-US" sz="2400"/>
              <a:t>中的一些操作会涉及数据的重新分发，称为</a:t>
            </a:r>
            <a:r>
              <a:rPr lang="en-US" altLang="zh-CN" sz="2400"/>
              <a:t>Shuffle</a:t>
            </a:r>
            <a:r>
              <a:rPr lang="zh-CN" altLang="en-US" sz="2400"/>
              <a:t>过程</a:t>
            </a:r>
            <a:endParaRPr lang="zh-CN" altLang="en-US" sz="2400"/>
          </a:p>
        </p:txBody>
      </p:sp>
      <p:sp>
        <p:nvSpPr>
          <p:cNvPr id="4" name="文本框 3"/>
          <p:cNvSpPr txBox="1"/>
          <p:nvPr/>
        </p:nvSpPr>
        <p:spPr>
          <a:xfrm>
            <a:off x="996315" y="4622165"/>
            <a:ext cx="2651125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/>
              <a:t>例如</a:t>
            </a:r>
            <a:r>
              <a:rPr lang="en-US" altLang="zh-CN" sz="2400"/>
              <a:t>:</a:t>
            </a:r>
            <a:endParaRPr lang="en-US" altLang="zh-CN" sz="2400"/>
          </a:p>
          <a:p>
            <a:r>
              <a:rPr lang="en-US" altLang="zh-CN" sz="2400"/>
              <a:t>reduceByKey(func)</a:t>
            </a:r>
            <a:endParaRPr lang="en-US" altLang="zh-CN" sz="2400"/>
          </a:p>
        </p:txBody>
      </p:sp>
      <p:sp>
        <p:nvSpPr>
          <p:cNvPr id="5" name="文本框 4"/>
          <p:cNvSpPr txBox="1"/>
          <p:nvPr>
            <p:custDataLst>
              <p:tags r:id="rId2"/>
            </p:custDataLst>
          </p:nvPr>
        </p:nvSpPr>
        <p:spPr>
          <a:xfrm>
            <a:off x="9656445" y="2870200"/>
            <a:ext cx="2416175" cy="23069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400"/>
              <a:t>Spark</a:t>
            </a:r>
            <a:r>
              <a:rPr lang="zh-CN" sz="2400"/>
              <a:t>并不在</a:t>
            </a:r>
            <a:r>
              <a:rPr lang="en-US" altLang="zh-CN" sz="2400"/>
              <a:t>Reduce</a:t>
            </a:r>
            <a:r>
              <a:rPr lang="zh-CN" altLang="en-US" sz="2400"/>
              <a:t>端做归并和排序，而是采用了</a:t>
            </a:r>
            <a:r>
              <a:rPr lang="en-US" altLang="zh-CN" sz="2400"/>
              <a:t>Aggregator</a:t>
            </a:r>
            <a:r>
              <a:rPr lang="zh-CN" altLang="en-US" sz="2400"/>
              <a:t>的机制，其本质是一个</a:t>
            </a:r>
            <a:r>
              <a:rPr lang="en-US" altLang="zh-CN" sz="2400"/>
              <a:t>HashMap</a:t>
            </a:r>
            <a:endParaRPr lang="en-US" altLang="zh-CN" sz="24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3" grpId="1"/>
      <p:bldP spid="4" grpId="1"/>
      <p:bldP spid="34821" grpId="0"/>
      <p:bldP spid="34821" grpId="1"/>
      <p:bldP spid="5" grpId="0"/>
      <p:bldP spid="5" grpId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 b="1" dirty="0">
                <a:sym typeface="+mn-ea"/>
              </a:rPr>
              <a:t>10.3.4 RDD</a:t>
            </a:r>
            <a:r>
              <a:rPr lang="zh-CN" altLang="zh-CN" b="1" dirty="0">
                <a:sym typeface="+mn-ea"/>
              </a:rPr>
              <a:t>运行原理</a:t>
            </a:r>
            <a:endParaRPr lang="zh-CN" altLang="en-US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7E57CE09-A6DF-4F65-B9AD-CB157D51E68C}" type="slidenum">
              <a:rPr lang="zh-CN" altLang="en-US" smtClean="0"/>
            </a:fld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838200" y="2362200"/>
            <a:ext cx="8111490" cy="3074035"/>
          </a:xfrm>
          <a:prstGeom prst="rect">
            <a:avLst/>
          </a:prstGeom>
        </p:spPr>
      </p:pic>
      <p:sp>
        <p:nvSpPr>
          <p:cNvPr id="34819" name="TextBox 6"/>
          <p:cNvSpPr txBox="1"/>
          <p:nvPr>
            <p:custDataLst>
              <p:tags r:id="rId3"/>
            </p:custDataLst>
          </p:nvPr>
        </p:nvSpPr>
        <p:spPr>
          <a:xfrm>
            <a:off x="930910" y="1410970"/>
            <a:ext cx="5925820" cy="46037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r>
              <a:rPr lang="en-US" altLang="zh-CN" sz="2400" b="1" dirty="0">
                <a:latin typeface="Arial" panose="020B0604020202020204" pitchFamily="34" charset="0"/>
              </a:rPr>
              <a:t>4. RDD</a:t>
            </a:r>
            <a:r>
              <a:rPr lang="zh-CN" altLang="zh-CN" sz="2400" b="1" dirty="0">
                <a:latin typeface="Arial" panose="020B0604020202020204" pitchFamily="34" charset="0"/>
              </a:rPr>
              <a:t>之间的依赖关系</a:t>
            </a:r>
            <a:r>
              <a:rPr lang="en-US" altLang="zh-CN" sz="2400" b="1" dirty="0">
                <a:latin typeface="Arial" panose="020B0604020202020204" pitchFamily="34" charset="0"/>
              </a:rPr>
              <a:t>——Shuffle</a:t>
            </a:r>
            <a:r>
              <a:rPr lang="zh-CN" altLang="en-US" sz="2400" b="1" dirty="0">
                <a:latin typeface="Arial" panose="020B0604020202020204" pitchFamily="34" charset="0"/>
              </a:rPr>
              <a:t>操作</a:t>
            </a:r>
            <a:endParaRPr lang="zh-CN" altLang="en-US" sz="2400" b="1" dirty="0">
              <a:latin typeface="Arial" panose="020B0604020202020204" pitchFamily="34" charset="0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784225" y="5723255"/>
            <a:ext cx="631825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400"/>
              <a:t>m</a:t>
            </a:r>
            <a:r>
              <a:rPr lang="zh-CN" altLang="en-US" sz="2400"/>
              <a:t>个</a:t>
            </a:r>
            <a:r>
              <a:rPr lang="en-US" altLang="zh-CN" sz="2400"/>
              <a:t>Map</a:t>
            </a:r>
            <a:r>
              <a:rPr lang="zh-CN" altLang="en-US" sz="2400"/>
              <a:t>，</a:t>
            </a:r>
            <a:r>
              <a:rPr lang="en-US" altLang="zh-CN" sz="2400"/>
              <a:t>r</a:t>
            </a:r>
            <a:r>
              <a:rPr lang="zh-CN" altLang="en-US" sz="2400"/>
              <a:t>个</a:t>
            </a:r>
            <a:r>
              <a:rPr lang="en-US" altLang="zh-CN" sz="2400"/>
              <a:t>Reduce</a:t>
            </a:r>
            <a:r>
              <a:rPr lang="zh-CN" altLang="en-US" sz="2400"/>
              <a:t>，则</a:t>
            </a:r>
            <a:r>
              <a:rPr lang="en-US" altLang="zh-CN" sz="2400"/>
              <a:t>m*r</a:t>
            </a:r>
            <a:r>
              <a:rPr lang="zh-CN" altLang="en-US" sz="2400"/>
              <a:t>个</a:t>
            </a:r>
            <a:r>
              <a:rPr lang="en-US" altLang="zh-CN" sz="2400"/>
              <a:t>bucket</a:t>
            </a:r>
            <a:endParaRPr lang="en-US" altLang="zh-CN" sz="2400"/>
          </a:p>
          <a:p>
            <a:r>
              <a:rPr lang="zh-CN" altLang="en-US" sz="2400"/>
              <a:t>一个</a:t>
            </a:r>
            <a:r>
              <a:rPr lang="en-US" altLang="zh-CN" sz="2400"/>
              <a:t>bucket</a:t>
            </a:r>
            <a:r>
              <a:rPr lang="zh-CN" altLang="en-US" sz="2400"/>
              <a:t>一个文件，则文件系统沉重负担</a:t>
            </a:r>
            <a:endParaRPr lang="zh-CN" altLang="en-US" sz="2400"/>
          </a:p>
        </p:txBody>
      </p:sp>
      <p:sp>
        <p:nvSpPr>
          <p:cNvPr id="6" name="矩形 5"/>
          <p:cNvSpPr/>
          <p:nvPr/>
        </p:nvSpPr>
        <p:spPr>
          <a:xfrm>
            <a:off x="6561455" y="3463290"/>
            <a:ext cx="2387600" cy="667385"/>
          </a:xfrm>
          <a:prstGeom prst="rect">
            <a:avLst/>
          </a:prstGeom>
          <a:noFill/>
          <a:ln w="28575">
            <a:solidFill>
              <a:srgbClr val="FF0000"/>
            </a:solidFill>
            <a:prstDash val="dash"/>
          </a:ln>
          <a:extLst>
            <a:ext uri="{909E8E84-426E-40DD-AFC4-6F175D3DCCD1}">
              <a14:hiddenFill xmlns:a14="http://schemas.microsoft.com/office/drawing/2010/main">
                <a:solidFill>
                  <a:schemeClr val="lt1"/>
                </a:solidFill>
              </a14:hiddenFill>
            </a:ext>
          </a:ex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3" name="矩形 32"/>
          <p:cNvSpPr/>
          <p:nvPr/>
        </p:nvSpPr>
        <p:spPr>
          <a:xfrm>
            <a:off x="9340215" y="1691005"/>
            <a:ext cx="1752600" cy="282321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bg1">
                    <a:lumMod val="95000"/>
                  </a:schemeClr>
                </a:solidFill>
              </a14:hiddenFill>
            </a:ext>
          </a:ex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en-US" altLang="zh-CN" sz="2400">
              <a:solidFill>
                <a:schemeClr val="tx1"/>
              </a:solidFill>
            </a:endParaRPr>
          </a:p>
        </p:txBody>
      </p:sp>
      <p:sp>
        <p:nvSpPr>
          <p:cNvPr id="34" name="文本框 33"/>
          <p:cNvSpPr txBox="1"/>
          <p:nvPr/>
        </p:nvSpPr>
        <p:spPr>
          <a:xfrm>
            <a:off x="9790430" y="1794510"/>
            <a:ext cx="896620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/>
            <a:r>
              <a:rPr lang="zh-CN" altLang="en-US" sz="2400">
                <a:sym typeface="+mn-ea"/>
              </a:rPr>
              <a:t>文件</a:t>
            </a:r>
            <a:endParaRPr lang="en-US" sz="2400">
              <a:sym typeface="+mn-ea"/>
            </a:endParaRPr>
          </a:p>
        </p:txBody>
      </p:sp>
      <p:sp>
        <p:nvSpPr>
          <p:cNvPr id="11" name="圆角矩形 10"/>
          <p:cNvSpPr/>
          <p:nvPr>
            <p:custDataLst>
              <p:tags r:id="rId4"/>
            </p:custDataLst>
          </p:nvPr>
        </p:nvSpPr>
        <p:spPr>
          <a:xfrm>
            <a:off x="9624060" y="2383790"/>
            <a:ext cx="1229360" cy="670560"/>
          </a:xfrm>
          <a:prstGeom prst="round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sz="2400"/>
              <a:t>分区</a:t>
            </a:r>
            <a:r>
              <a:rPr lang="en-US" altLang="zh-CN" sz="2400"/>
              <a:t>1</a:t>
            </a:r>
            <a:endParaRPr lang="en-US" altLang="zh-CN" sz="2400"/>
          </a:p>
        </p:txBody>
      </p:sp>
      <p:sp>
        <p:nvSpPr>
          <p:cNvPr id="12" name="圆角矩形 11"/>
          <p:cNvSpPr/>
          <p:nvPr>
            <p:custDataLst>
              <p:tags r:id="rId5"/>
            </p:custDataLst>
          </p:nvPr>
        </p:nvSpPr>
        <p:spPr>
          <a:xfrm>
            <a:off x="9624060" y="3074035"/>
            <a:ext cx="1229360" cy="670560"/>
          </a:xfrm>
          <a:prstGeom prst="round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sz="2400"/>
              <a:t>分区</a:t>
            </a:r>
            <a:r>
              <a:rPr lang="en-US" altLang="zh-CN" sz="2400"/>
              <a:t>2</a:t>
            </a:r>
            <a:endParaRPr lang="en-US" altLang="zh-CN" sz="2400"/>
          </a:p>
        </p:txBody>
      </p:sp>
      <p:sp>
        <p:nvSpPr>
          <p:cNvPr id="21" name="圆角矩形 20"/>
          <p:cNvSpPr/>
          <p:nvPr>
            <p:custDataLst>
              <p:tags r:id="rId6"/>
            </p:custDataLst>
          </p:nvPr>
        </p:nvSpPr>
        <p:spPr>
          <a:xfrm>
            <a:off x="9624060" y="3764280"/>
            <a:ext cx="1229360" cy="670560"/>
          </a:xfrm>
          <a:prstGeom prst="round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2400"/>
              <a:t>分区</a:t>
            </a:r>
            <a:r>
              <a:rPr lang="en-US" altLang="zh-CN" sz="2400"/>
              <a:t>3</a:t>
            </a:r>
            <a:endParaRPr lang="en-US" altLang="zh-CN" sz="2400"/>
          </a:p>
        </p:txBody>
      </p:sp>
      <p:sp>
        <p:nvSpPr>
          <p:cNvPr id="7" name="矩形 6"/>
          <p:cNvSpPr/>
          <p:nvPr/>
        </p:nvSpPr>
        <p:spPr>
          <a:xfrm>
            <a:off x="9340215" y="4682490"/>
            <a:ext cx="1752600" cy="675640"/>
          </a:xfrm>
          <a:prstGeom prst="rect">
            <a:avLst/>
          </a:prstGeom>
          <a:solidFill>
            <a:schemeClr val="bg2"/>
          </a:solidFill>
          <a:extLst>
            <a:ext uri="{909E8E84-426E-40DD-AFC4-6F175D3DCCD1}">
              <a14:hiddenFill xmlns:a14="http://schemas.microsoft.com/office/drawing/2010/main">
                <a:solidFill>
                  <a:schemeClr val="bg1">
                    <a:lumMod val="95000"/>
                  </a:schemeClr>
                </a:solidFill>
              </a14:hiddenFill>
            </a:ext>
          </a:ex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zh-CN" altLang="en-US" sz="2400">
                <a:solidFill>
                  <a:schemeClr val="tx1"/>
                </a:solidFill>
              </a:rPr>
              <a:t>索引</a:t>
            </a:r>
            <a:endParaRPr lang="zh-CN" altLang="en-US" sz="2400">
              <a:solidFill>
                <a:schemeClr val="tx1"/>
              </a:solidFill>
            </a:endParaRPr>
          </a:p>
        </p:txBody>
      </p:sp>
      <p:sp>
        <p:nvSpPr>
          <p:cNvPr id="8" name="文本框 7"/>
          <p:cNvSpPr txBox="1"/>
          <p:nvPr>
            <p:custDataLst>
              <p:tags r:id="rId7"/>
            </p:custDataLst>
          </p:nvPr>
        </p:nvSpPr>
        <p:spPr>
          <a:xfrm>
            <a:off x="8204835" y="5722620"/>
            <a:ext cx="288798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400"/>
              <a:t>Shuffle</a:t>
            </a:r>
            <a:r>
              <a:rPr lang="zh-CN" altLang="en-US" sz="2400"/>
              <a:t>过程依然需要把数据写入磁盘</a:t>
            </a:r>
            <a:endParaRPr lang="zh-CN" altLang="en-US" sz="24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500"/>
                            </p:stCondLst>
                            <p:childTnLst>
                              <p:par>
                                <p:cTn id="26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1000"/>
                            </p:stCondLst>
                            <p:childTnLst>
                              <p:par>
                                <p:cTn id="30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5" grpId="1"/>
      <p:bldP spid="11" grpId="0" bldLvl="0" animBg="1"/>
      <p:bldP spid="12" grpId="0" bldLvl="0" animBg="1"/>
      <p:bldP spid="21" grpId="0" bldLvl="0" animBg="1"/>
      <p:bldP spid="11" grpId="1" animBg="1"/>
      <p:bldP spid="12" grpId="1" animBg="1"/>
      <p:bldP spid="21" grpId="1" animBg="1"/>
      <p:bldP spid="6" grpId="0" animBg="1"/>
      <p:bldP spid="6" grpId="1" animBg="1"/>
      <p:bldP spid="34" grpId="0"/>
      <p:bldP spid="33" grpId="0" animBg="1"/>
      <p:bldP spid="34" grpId="1"/>
      <p:bldP spid="33" grpId="1" animBg="1"/>
      <p:bldP spid="7" grpId="0" animBg="1"/>
      <p:bldP spid="7" grpId="1" animBg="1"/>
      <p:bldP spid="8" grpId="0"/>
      <p:bldP spid="8" grpId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 b="1" dirty="0">
                <a:sym typeface="+mn-ea"/>
              </a:rPr>
              <a:t>10.3.4 RDD</a:t>
            </a:r>
            <a:r>
              <a:rPr lang="zh-CN" altLang="zh-CN" b="1" dirty="0">
                <a:sym typeface="+mn-ea"/>
              </a:rPr>
              <a:t>运行原理</a:t>
            </a:r>
            <a:endParaRPr lang="zh-CN" altLang="en-US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7E57CE09-A6DF-4F65-B9AD-CB157D51E68C}" type="slidenum">
              <a:rPr lang="zh-CN" altLang="en-US" smtClean="0"/>
            </a:fld>
            <a:endParaRPr lang="zh-CN" altLang="en-US"/>
          </a:p>
        </p:txBody>
      </p:sp>
      <p:sp>
        <p:nvSpPr>
          <p:cNvPr id="34819" name="TextBox 6"/>
          <p:cNvSpPr txBox="1"/>
          <p:nvPr>
            <p:custDataLst>
              <p:tags r:id="rId1"/>
            </p:custDataLst>
          </p:nvPr>
        </p:nvSpPr>
        <p:spPr>
          <a:xfrm>
            <a:off x="930910" y="1410970"/>
            <a:ext cx="6602095" cy="46037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r>
              <a:rPr lang="en-US" altLang="zh-CN" sz="2400" b="1" dirty="0">
                <a:latin typeface="Arial" panose="020B0604020202020204" pitchFamily="34" charset="0"/>
              </a:rPr>
              <a:t>4. RDD</a:t>
            </a:r>
            <a:r>
              <a:rPr lang="zh-CN" altLang="zh-CN" sz="2400" b="1" dirty="0">
                <a:latin typeface="Arial" panose="020B0604020202020204" pitchFamily="34" charset="0"/>
              </a:rPr>
              <a:t>之间的依赖关系</a:t>
            </a:r>
            <a:r>
              <a:rPr lang="en-US" altLang="zh-CN" sz="2400" b="1" dirty="0">
                <a:latin typeface="Arial" panose="020B0604020202020204" pitchFamily="34" charset="0"/>
              </a:rPr>
              <a:t>——</a:t>
            </a:r>
            <a:r>
              <a:rPr lang="zh-CN" altLang="en-US" sz="2400" b="1" dirty="0">
                <a:latin typeface="Arial" panose="020B0604020202020204" pitchFamily="34" charset="0"/>
                <a:sym typeface="+mn-ea"/>
              </a:rPr>
              <a:t>窄依赖和宽依赖</a:t>
            </a:r>
            <a:endParaRPr lang="zh-CN" altLang="en-US" sz="2400" b="1" dirty="0">
              <a:latin typeface="Arial" panose="020B0604020202020204" pitchFamily="34" charset="0"/>
            </a:endParaRPr>
          </a:p>
        </p:txBody>
      </p:sp>
      <p:sp>
        <p:nvSpPr>
          <p:cNvPr id="35843" name="矩形 2"/>
          <p:cNvSpPr/>
          <p:nvPr>
            <p:custDataLst>
              <p:tags r:id="rId2"/>
            </p:custDataLst>
          </p:nvPr>
        </p:nvSpPr>
        <p:spPr>
          <a:xfrm>
            <a:off x="1155700" y="2188845"/>
            <a:ext cx="10078085" cy="341503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>
              <a:buFont typeface="Arial" panose="020B0604020202020204" pitchFamily="34" charset="0"/>
              <a:buChar char="•"/>
            </a:pPr>
            <a:r>
              <a:rPr lang="zh-CN" altLang="zh-CN" sz="2400" dirty="0">
                <a:latin typeface="Arial" panose="020B0604020202020204" pitchFamily="34" charset="0"/>
              </a:rPr>
              <a:t>窄依赖表现为一个父</a:t>
            </a:r>
            <a:r>
              <a:rPr lang="en-US" altLang="zh-CN" sz="2400" dirty="0">
                <a:latin typeface="Arial" panose="020B0604020202020204" pitchFamily="34" charset="0"/>
              </a:rPr>
              <a:t>RDD</a:t>
            </a:r>
            <a:r>
              <a:rPr lang="zh-CN" altLang="zh-CN" sz="2400" dirty="0">
                <a:latin typeface="Arial" panose="020B0604020202020204" pitchFamily="34" charset="0"/>
              </a:rPr>
              <a:t>的分区对应于一个子</a:t>
            </a:r>
            <a:r>
              <a:rPr lang="en-US" altLang="zh-CN" sz="2400" dirty="0">
                <a:latin typeface="Arial" panose="020B0604020202020204" pitchFamily="34" charset="0"/>
              </a:rPr>
              <a:t>RDD</a:t>
            </a:r>
            <a:r>
              <a:rPr lang="zh-CN" altLang="zh-CN" sz="2400" dirty="0">
                <a:latin typeface="Arial" panose="020B0604020202020204" pitchFamily="34" charset="0"/>
              </a:rPr>
              <a:t>的分区或多个父</a:t>
            </a:r>
            <a:r>
              <a:rPr lang="en-US" altLang="zh-CN" sz="2400" dirty="0">
                <a:latin typeface="Arial" panose="020B0604020202020204" pitchFamily="34" charset="0"/>
              </a:rPr>
              <a:t>RDD</a:t>
            </a:r>
            <a:r>
              <a:rPr lang="zh-CN" altLang="zh-CN" sz="2400" dirty="0">
                <a:latin typeface="Arial" panose="020B0604020202020204" pitchFamily="34" charset="0"/>
              </a:rPr>
              <a:t>的分区对应于一个子</a:t>
            </a:r>
            <a:r>
              <a:rPr lang="en-US" altLang="zh-CN" sz="2400" dirty="0">
                <a:latin typeface="Arial" panose="020B0604020202020204" pitchFamily="34" charset="0"/>
              </a:rPr>
              <a:t>RDD</a:t>
            </a:r>
            <a:r>
              <a:rPr lang="zh-CN" altLang="zh-CN" sz="2400" dirty="0">
                <a:latin typeface="Arial" panose="020B0604020202020204" pitchFamily="34" charset="0"/>
              </a:rPr>
              <a:t>的分区</a:t>
            </a:r>
            <a:endParaRPr lang="zh-CN" altLang="zh-CN" sz="2400" dirty="0">
              <a:latin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zh-CN" altLang="zh-CN" sz="2400" dirty="0">
                <a:latin typeface="Arial" panose="020B0604020202020204" pitchFamily="34" charset="0"/>
              </a:rPr>
              <a:t>例如</a:t>
            </a:r>
            <a:r>
              <a:rPr lang="en-US" altLang="zh-CN" sz="2400" dirty="0">
                <a:latin typeface="Arial" panose="020B0604020202020204" pitchFamily="34" charset="0"/>
              </a:rPr>
              <a:t>map, filter, union</a:t>
            </a:r>
            <a:endParaRPr lang="zh-CN" altLang="zh-CN" sz="2400" dirty="0">
              <a:latin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endParaRPr lang="en-US" altLang="zh-CN" sz="2400" dirty="0">
              <a:latin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zh-CN" altLang="zh-CN" sz="2400" dirty="0">
                <a:latin typeface="Arial" panose="020B0604020202020204" pitchFamily="34" charset="0"/>
              </a:rPr>
              <a:t>宽依赖则表现为存在一个父</a:t>
            </a:r>
            <a:r>
              <a:rPr lang="en-US" altLang="zh-CN" sz="2400" dirty="0">
                <a:latin typeface="Arial" panose="020B0604020202020204" pitchFamily="34" charset="0"/>
              </a:rPr>
              <a:t>RDD</a:t>
            </a:r>
            <a:r>
              <a:rPr lang="zh-CN" altLang="zh-CN" sz="2400" dirty="0">
                <a:latin typeface="Arial" panose="020B0604020202020204" pitchFamily="34" charset="0"/>
              </a:rPr>
              <a:t>的一个分区对应一个子</a:t>
            </a:r>
            <a:r>
              <a:rPr lang="en-US" altLang="zh-CN" sz="2400" dirty="0">
                <a:latin typeface="Arial" panose="020B0604020202020204" pitchFamily="34" charset="0"/>
              </a:rPr>
              <a:t>RDD</a:t>
            </a:r>
            <a:r>
              <a:rPr lang="zh-CN" altLang="zh-CN" sz="2400" dirty="0">
                <a:latin typeface="Arial" panose="020B0604020202020204" pitchFamily="34" charset="0"/>
              </a:rPr>
              <a:t>的多个分区</a:t>
            </a:r>
            <a:endParaRPr lang="zh-CN" altLang="zh-CN" sz="2400" dirty="0">
              <a:latin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zh-CN" altLang="zh-CN" sz="2400" dirty="0">
                <a:latin typeface="Arial" panose="020B0604020202020204" pitchFamily="34" charset="0"/>
              </a:rPr>
              <a:t>例如</a:t>
            </a:r>
            <a:r>
              <a:rPr lang="en-US" altLang="zh-CN" sz="2400" dirty="0">
                <a:latin typeface="Arial" panose="020B0604020202020204" pitchFamily="34" charset="0"/>
              </a:rPr>
              <a:t>groupByKey, sortByKey</a:t>
            </a:r>
            <a:endParaRPr lang="zh-CN" altLang="zh-CN" sz="2400" dirty="0">
              <a:latin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endParaRPr lang="zh-CN" altLang="zh-CN" sz="2400" dirty="0">
              <a:latin typeface="Arial" panose="020B0604020202020204" pitchFamily="34" charset="0"/>
            </a:endParaRPr>
          </a:p>
          <a:p>
            <a:pPr indent="0">
              <a:buFont typeface="Arial" panose="020B0604020202020204" pitchFamily="34" charset="0"/>
              <a:buNone/>
            </a:pPr>
            <a:r>
              <a:rPr lang="zh-CN" altLang="en-US" sz="2400" dirty="0">
                <a:latin typeface="Arial" panose="020B0604020202020204" pitchFamily="34" charset="0"/>
              </a:rPr>
              <a:t>总之，父</a:t>
            </a:r>
            <a:r>
              <a:rPr lang="en-US" altLang="zh-CN" sz="2400" dirty="0">
                <a:latin typeface="Arial" panose="020B0604020202020204" pitchFamily="34" charset="0"/>
              </a:rPr>
              <a:t>RDD</a:t>
            </a:r>
            <a:r>
              <a:rPr lang="zh-CN" altLang="en-US" sz="2400" dirty="0">
                <a:latin typeface="Arial" panose="020B0604020202020204" pitchFamily="34" charset="0"/>
              </a:rPr>
              <a:t>的一个分区只被一个子</a:t>
            </a:r>
            <a:r>
              <a:rPr lang="en-US" altLang="zh-CN" sz="2400" dirty="0">
                <a:latin typeface="Arial" panose="020B0604020202020204" pitchFamily="34" charset="0"/>
              </a:rPr>
              <a:t>RDD</a:t>
            </a:r>
            <a:r>
              <a:rPr lang="zh-CN" altLang="en-US" sz="2400" dirty="0">
                <a:latin typeface="Arial" panose="020B0604020202020204" pitchFamily="34" charset="0"/>
              </a:rPr>
              <a:t>的一个分区使用，就是窄依赖；否则就是宽依赖。</a:t>
            </a:r>
            <a:endParaRPr lang="zh-CN" altLang="en-US" sz="2400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标题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lstStyle/>
          <a:p>
            <a:r>
              <a:rPr lang="en-US" altLang="zh-CN" b="1" dirty="0"/>
              <a:t>10.3.4 RDD</a:t>
            </a:r>
            <a:r>
              <a:rPr lang="zh-CN" altLang="zh-CN" b="1" dirty="0"/>
              <a:t>运行原理</a:t>
            </a:r>
            <a:endParaRPr lang="zh-CN" altLang="en-US" b="1" dirty="0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57CE09-A6DF-4F65-B9AD-CB157D51E68C}" type="slidenum">
              <a:rPr lang="zh-CN" altLang="en-US" smtClean="0"/>
            </a:fld>
            <a:endParaRPr lang="zh-CN" altLang="en-US"/>
          </a:p>
        </p:txBody>
      </p:sp>
      <p:pic>
        <p:nvPicPr>
          <p:cNvPr id="3584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77975" y="1225550"/>
            <a:ext cx="8396605" cy="549592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" name="文本框 2"/>
          <p:cNvSpPr txBox="1"/>
          <p:nvPr/>
        </p:nvSpPr>
        <p:spPr>
          <a:xfrm>
            <a:off x="4832985" y="5702300"/>
            <a:ext cx="2066925" cy="407764"/>
          </a:xfrm>
          <a:prstGeom prst="wedgeRoundRectCallout">
            <a:avLst>
              <a:gd name="adj1" fmla="val -14546"/>
              <a:gd name="adj2" fmla="val -141577"/>
              <a:gd name="adj3" fmla="val 16667"/>
            </a:avLst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p>
            <a:r>
              <a:rPr lang="zh-CN" altLang="en-US"/>
              <a:t>协同划分：多对一</a:t>
            </a:r>
            <a:endParaRPr lang="zh-CN" altLang="en-US"/>
          </a:p>
        </p:txBody>
      </p:sp>
      <p:sp>
        <p:nvSpPr>
          <p:cNvPr id="4" name="文本框 3"/>
          <p:cNvSpPr txBox="1"/>
          <p:nvPr>
            <p:custDataLst>
              <p:tags r:id="rId2"/>
            </p:custDataLst>
          </p:nvPr>
        </p:nvSpPr>
        <p:spPr>
          <a:xfrm>
            <a:off x="5142230" y="6313170"/>
            <a:ext cx="1624965" cy="408144"/>
          </a:xfrm>
          <a:prstGeom prst="wedgeRoundRectCallout">
            <a:avLst>
              <a:gd name="adj1" fmla="val -66217"/>
              <a:gd name="adj2" fmla="val 13788"/>
              <a:gd name="adj3" fmla="val 16667"/>
            </a:avLst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p>
            <a:r>
              <a:rPr lang="zh-CN" altLang="en-US"/>
              <a:t>失败恢复高效</a:t>
            </a:r>
            <a:endParaRPr lang="zh-CN" altLang="en-US"/>
          </a:p>
        </p:txBody>
      </p:sp>
      <p:sp>
        <p:nvSpPr>
          <p:cNvPr id="5" name="文本框 4"/>
          <p:cNvSpPr txBox="1"/>
          <p:nvPr>
            <p:custDataLst>
              <p:tags r:id="rId3"/>
            </p:custDataLst>
          </p:nvPr>
        </p:nvSpPr>
        <p:spPr>
          <a:xfrm>
            <a:off x="9323070" y="5904865"/>
            <a:ext cx="1875790" cy="408148"/>
          </a:xfrm>
          <a:prstGeom prst="wedgeRoundRectCallout">
            <a:avLst>
              <a:gd name="adj1" fmla="val -44922"/>
              <a:gd name="adj2" fmla="val 101060"/>
              <a:gd name="adj3" fmla="val 16667"/>
            </a:avLst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p>
            <a:r>
              <a:rPr lang="zh-CN" altLang="en-US"/>
              <a:t>持久化中间</a:t>
            </a:r>
            <a:r>
              <a:rPr lang="en-US" altLang="zh-CN"/>
              <a:t>RDD</a:t>
            </a:r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3" grpId="1" animBg="1"/>
      <p:bldP spid="4" grpId="0" bldLvl="0" animBg="1"/>
      <p:bldP spid="4" grpId="1" animBg="1"/>
      <p:bldP spid="5" grpId="0" bldLvl="0" animBg="1"/>
      <p:bldP spid="5" grpId="1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标题 1"/>
          <p:cNvSpPr>
            <a:spLocks noGrp="1"/>
          </p:cNvSpPr>
          <p:nvPr>
            <p:ph type="title"/>
          </p:nvPr>
        </p:nvSpPr>
        <p:spPr>
          <a:xfrm>
            <a:off x="142240" y="160655"/>
            <a:ext cx="5953760" cy="857250"/>
          </a:xfrm>
        </p:spPr>
        <p:txBody>
          <a:bodyPr vert="horz" wrap="square" lIns="91440" tIns="45720" rIns="91440" bIns="45720" anchor="ctr" anchorCtr="0"/>
          <a:lstStyle/>
          <a:p>
            <a:r>
              <a:rPr lang="en-US" altLang="zh-CN" b="1" dirty="0"/>
              <a:t>10.3.4 RDD</a:t>
            </a:r>
            <a:r>
              <a:rPr lang="zh-CN" altLang="zh-CN" b="1" dirty="0"/>
              <a:t>运行原理</a:t>
            </a:r>
            <a:endParaRPr lang="zh-CN" altLang="en-US" b="1" dirty="0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57CE09-A6DF-4F65-B9AD-CB157D51E68C}" type="slidenum">
              <a:rPr lang="zh-CN" altLang="en-US" smtClean="0"/>
            </a:fld>
            <a:endParaRPr lang="zh-CN" altLang="en-US"/>
          </a:p>
        </p:txBody>
      </p:sp>
      <p:sp>
        <p:nvSpPr>
          <p:cNvPr id="36867" name="TextBox 3"/>
          <p:cNvSpPr txBox="1"/>
          <p:nvPr/>
        </p:nvSpPr>
        <p:spPr>
          <a:xfrm>
            <a:off x="628650" y="1017588"/>
            <a:ext cx="4191000" cy="52197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r>
              <a:rPr lang="en-US" altLang="zh-CN" sz="2800" b="1" dirty="0">
                <a:latin typeface="Arial" panose="020B0604020202020204" pitchFamily="34" charset="0"/>
              </a:rPr>
              <a:t>5.</a:t>
            </a:r>
            <a:r>
              <a:rPr lang="zh-CN" altLang="en-US" sz="2800" b="1" dirty="0">
                <a:latin typeface="Arial" panose="020B0604020202020204" pitchFamily="34" charset="0"/>
              </a:rPr>
              <a:t>阶段的划分</a:t>
            </a:r>
            <a:endParaRPr lang="zh-CN" altLang="en-US" sz="2800" b="1" dirty="0">
              <a:latin typeface="Arial" panose="020B0604020202020204" pitchFamily="34" charset="0"/>
            </a:endParaRPr>
          </a:p>
        </p:txBody>
      </p:sp>
      <p:sp>
        <p:nvSpPr>
          <p:cNvPr id="36868" name="TextBox 3"/>
          <p:cNvSpPr txBox="1"/>
          <p:nvPr/>
        </p:nvSpPr>
        <p:spPr>
          <a:xfrm>
            <a:off x="1033780" y="1843405"/>
            <a:ext cx="10258425" cy="295338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800" dirty="0">
                <a:latin typeface="Arial" panose="020B0604020202020204" pitchFamily="34" charset="0"/>
              </a:rPr>
              <a:t>先思考宽窄依赖是否能被优化？</a:t>
            </a:r>
            <a:endParaRPr lang="zh-CN" altLang="en-US" sz="2800" dirty="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endParaRPr lang="zh-CN" altLang="en-US" sz="2400" dirty="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zh-CN" altLang="en-US" sz="2400" dirty="0">
                <a:latin typeface="Arial" panose="020B0604020202020204" pitchFamily="34" charset="0"/>
              </a:rPr>
              <a:t>逻辑上，每个</a:t>
            </a:r>
            <a:r>
              <a:rPr lang="en-US" altLang="zh-CN" sz="2400" dirty="0">
                <a:latin typeface="Arial" panose="020B0604020202020204" pitchFamily="34" charset="0"/>
              </a:rPr>
              <a:t>RDD </a:t>
            </a:r>
            <a:r>
              <a:rPr lang="zh-CN" altLang="en-US" sz="2400" dirty="0">
                <a:latin typeface="Arial" panose="020B0604020202020204" pitchFamily="34" charset="0"/>
              </a:rPr>
              <a:t>操作都是一个</a:t>
            </a:r>
            <a:r>
              <a:rPr lang="en-US" altLang="zh-CN" sz="2400" dirty="0">
                <a:latin typeface="Arial" panose="020B0604020202020204" pitchFamily="34" charset="0"/>
              </a:rPr>
              <a:t>fork/join</a:t>
            </a:r>
            <a:r>
              <a:rPr lang="zh-CN" altLang="en-US" sz="2400" dirty="0">
                <a:latin typeface="Arial" panose="020B0604020202020204" pitchFamily="34" charset="0"/>
              </a:rPr>
              <a:t>（一种用于并行执行任务的框架），把计算</a:t>
            </a:r>
            <a:r>
              <a:rPr lang="en-US" altLang="zh-CN" sz="2400" dirty="0">
                <a:latin typeface="Arial" panose="020B0604020202020204" pitchFamily="34" charset="0"/>
              </a:rPr>
              <a:t>fork</a:t>
            </a:r>
            <a:r>
              <a:rPr lang="zh-CN" altLang="en-US" sz="2400" dirty="0">
                <a:latin typeface="Arial" panose="020B0604020202020204" pitchFamily="34" charset="0"/>
              </a:rPr>
              <a:t>到每个</a:t>
            </a:r>
            <a:r>
              <a:rPr lang="en-US" altLang="zh-CN" sz="2400" dirty="0">
                <a:latin typeface="Arial" panose="020B0604020202020204" pitchFamily="34" charset="0"/>
              </a:rPr>
              <a:t>RDD </a:t>
            </a:r>
            <a:r>
              <a:rPr lang="zh-CN" altLang="en-US" sz="2400" dirty="0">
                <a:latin typeface="Arial" panose="020B0604020202020204" pitchFamily="34" charset="0"/>
              </a:rPr>
              <a:t>分区，完成计算后对各个分区得到的结果进行</a:t>
            </a:r>
            <a:r>
              <a:rPr lang="en-US" altLang="zh-CN" sz="2400" dirty="0">
                <a:latin typeface="Arial" panose="020B0604020202020204" pitchFamily="34" charset="0"/>
              </a:rPr>
              <a:t>join </a:t>
            </a:r>
            <a:r>
              <a:rPr lang="zh-CN" altLang="en-US" sz="2400" dirty="0">
                <a:latin typeface="Arial" panose="020B0604020202020204" pitchFamily="34" charset="0"/>
              </a:rPr>
              <a:t>操作，然后</a:t>
            </a:r>
            <a:r>
              <a:rPr lang="en-US" altLang="zh-CN" sz="2400" dirty="0">
                <a:latin typeface="Arial" panose="020B0604020202020204" pitchFamily="34" charset="0"/>
              </a:rPr>
              <a:t>fork/join</a:t>
            </a:r>
            <a:r>
              <a:rPr lang="zh-CN" altLang="en-US" sz="2400" dirty="0">
                <a:latin typeface="Arial" panose="020B0604020202020204" pitchFamily="34" charset="0"/>
              </a:rPr>
              <a:t>下一个</a:t>
            </a:r>
            <a:r>
              <a:rPr lang="en-US" altLang="zh-CN" sz="2400" dirty="0">
                <a:latin typeface="Arial" panose="020B0604020202020204" pitchFamily="34" charset="0"/>
              </a:rPr>
              <a:t>RDD </a:t>
            </a:r>
            <a:r>
              <a:rPr lang="zh-CN" altLang="en-US" sz="2400" dirty="0">
                <a:latin typeface="Arial" panose="020B0604020202020204" pitchFamily="34" charset="0"/>
              </a:rPr>
              <a:t>操作</a:t>
            </a:r>
            <a:endParaRPr lang="zh-CN" altLang="en-US" sz="2400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标题 1"/>
          <p:cNvSpPr>
            <a:spLocks noGrp="1"/>
          </p:cNvSpPr>
          <p:nvPr>
            <p:ph type="title"/>
          </p:nvPr>
        </p:nvSpPr>
        <p:spPr>
          <a:xfrm>
            <a:off x="113665" y="79375"/>
            <a:ext cx="5861685" cy="927100"/>
          </a:xfrm>
        </p:spPr>
        <p:txBody>
          <a:bodyPr vert="horz" wrap="square" lIns="91440" tIns="45720" rIns="91440" bIns="45720" anchor="ctr" anchorCtr="0"/>
          <a:lstStyle/>
          <a:p>
            <a:r>
              <a:rPr lang="en-US" altLang="zh-CN" b="1" dirty="0"/>
              <a:t>10.3.4 RDD</a:t>
            </a:r>
            <a:r>
              <a:rPr lang="zh-CN" altLang="zh-CN" b="1" dirty="0"/>
              <a:t>运行原理</a:t>
            </a:r>
            <a:endParaRPr lang="zh-CN" altLang="en-US" b="1" dirty="0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57CE09-A6DF-4F65-B9AD-CB157D51E68C}" type="slidenum">
              <a:rPr lang="zh-CN" altLang="en-US" smtClean="0"/>
            </a:fld>
            <a:endParaRPr lang="zh-CN" altLang="en-US"/>
          </a:p>
        </p:txBody>
      </p:sp>
      <p:sp>
        <p:nvSpPr>
          <p:cNvPr id="37892" name="TextBox 4"/>
          <p:cNvSpPr txBox="1"/>
          <p:nvPr/>
        </p:nvSpPr>
        <p:spPr>
          <a:xfrm>
            <a:off x="1485900" y="1529715"/>
            <a:ext cx="2774315" cy="4603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r>
              <a:rPr lang="en-US" altLang="zh-CN" sz="2400" dirty="0">
                <a:latin typeface="Arial" panose="020B0604020202020204" pitchFamily="34" charset="0"/>
              </a:rPr>
              <a:t>fork/join</a:t>
            </a:r>
            <a:r>
              <a:rPr lang="zh-CN" altLang="en-US" sz="2400" dirty="0">
                <a:latin typeface="Arial" panose="020B0604020202020204" pitchFamily="34" charset="0"/>
              </a:rPr>
              <a:t>的优化原理</a:t>
            </a:r>
            <a:endParaRPr lang="zh-CN" altLang="en-US" sz="2400" dirty="0">
              <a:latin typeface="Arial" panose="020B0604020202020204" pitchFamily="34" charset="0"/>
            </a:endParaRPr>
          </a:p>
        </p:txBody>
      </p:sp>
      <p:sp>
        <p:nvSpPr>
          <p:cNvPr id="37893" name="TextBox 5"/>
          <p:cNvSpPr txBox="1"/>
          <p:nvPr/>
        </p:nvSpPr>
        <p:spPr>
          <a:xfrm>
            <a:off x="2047875" y="2286000"/>
            <a:ext cx="7667625" cy="4603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r>
              <a:rPr lang="zh-CN" altLang="en-US" sz="2400" dirty="0">
                <a:latin typeface="Arial" panose="020B0604020202020204" pitchFamily="34" charset="0"/>
              </a:rPr>
              <a:t>举例：一个学校（含</a:t>
            </a:r>
            <a:r>
              <a:rPr lang="en-US" altLang="zh-CN" sz="2400" dirty="0">
                <a:latin typeface="Arial" panose="020B0604020202020204" pitchFamily="34" charset="0"/>
              </a:rPr>
              <a:t>2</a:t>
            </a:r>
            <a:r>
              <a:rPr lang="zh-CN" altLang="en-US" sz="2400" dirty="0">
                <a:latin typeface="Arial" panose="020B0604020202020204" pitchFamily="34" charset="0"/>
              </a:rPr>
              <a:t>个班级）完成从北京到厦门的长征</a:t>
            </a:r>
            <a:endParaRPr lang="zh-CN" altLang="en-US" sz="2400" dirty="0">
              <a:latin typeface="Arial" panose="020B0604020202020204" pitchFamily="34" charset="0"/>
            </a:endParaRPr>
          </a:p>
        </p:txBody>
      </p:sp>
      <p:pic>
        <p:nvPicPr>
          <p:cNvPr id="37894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35213" y="3200400"/>
            <a:ext cx="7037387" cy="244316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6867" name="TextBox 3"/>
          <p:cNvSpPr txBox="1"/>
          <p:nvPr>
            <p:custDataLst>
              <p:tags r:id="rId2"/>
            </p:custDataLst>
          </p:nvPr>
        </p:nvSpPr>
        <p:spPr>
          <a:xfrm>
            <a:off x="537210" y="914083"/>
            <a:ext cx="4191000" cy="52197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en-US" altLang="zh-CN" sz="2800" b="1" dirty="0">
                <a:latin typeface="Arial" panose="020B0604020202020204" pitchFamily="34" charset="0"/>
              </a:rPr>
              <a:t>5.</a:t>
            </a:r>
            <a:r>
              <a:rPr lang="zh-CN" altLang="en-US" sz="2800" b="1" dirty="0">
                <a:latin typeface="Arial" panose="020B0604020202020204" pitchFamily="34" charset="0"/>
              </a:rPr>
              <a:t>阶段的划分</a:t>
            </a:r>
            <a:endParaRPr lang="zh-CN" altLang="en-US" sz="2800" b="1" dirty="0">
              <a:latin typeface="Arial" panose="020B0604020202020204" pitchFamily="34" charset="0"/>
            </a:endParaRPr>
          </a:p>
        </p:txBody>
      </p:sp>
      <p:sp>
        <p:nvSpPr>
          <p:cNvPr id="3" name="文本框 2"/>
          <p:cNvSpPr txBox="1"/>
          <p:nvPr>
            <p:custDataLst>
              <p:tags r:id="rId3"/>
            </p:custDataLst>
          </p:nvPr>
        </p:nvSpPr>
        <p:spPr>
          <a:xfrm>
            <a:off x="5431155" y="3103245"/>
            <a:ext cx="1144905" cy="408144"/>
          </a:xfrm>
          <a:prstGeom prst="wedgeRoundRectCallout">
            <a:avLst>
              <a:gd name="adj1" fmla="val -21436"/>
              <a:gd name="adj2" fmla="val 91423"/>
              <a:gd name="adj3" fmla="val 16667"/>
            </a:avLst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p>
            <a:r>
              <a:rPr lang="zh-CN" altLang="en-US"/>
              <a:t>代价昂贵</a:t>
            </a:r>
            <a:endParaRPr lang="zh-CN" altLang="en-US"/>
          </a:p>
        </p:txBody>
      </p:sp>
      <p:sp>
        <p:nvSpPr>
          <p:cNvPr id="4" name="文本框 3"/>
          <p:cNvSpPr txBox="1"/>
          <p:nvPr>
            <p:custDataLst>
              <p:tags r:id="rId4"/>
            </p:custDataLst>
          </p:nvPr>
        </p:nvSpPr>
        <p:spPr>
          <a:xfrm>
            <a:off x="8118475" y="3103245"/>
            <a:ext cx="1144905" cy="408144"/>
          </a:xfrm>
          <a:prstGeom prst="wedgeRoundRectCallout">
            <a:avLst>
              <a:gd name="adj1" fmla="val -21436"/>
              <a:gd name="adj2" fmla="val 91423"/>
              <a:gd name="adj3" fmla="val 16667"/>
            </a:avLst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p>
            <a:r>
              <a:rPr lang="zh-CN" altLang="en-US"/>
              <a:t>代价昂贵</a:t>
            </a:r>
            <a:endParaRPr lang="zh-CN" altLang="en-US"/>
          </a:p>
        </p:txBody>
      </p:sp>
      <p:sp>
        <p:nvSpPr>
          <p:cNvPr id="5" name="文本框 4"/>
          <p:cNvSpPr txBox="1"/>
          <p:nvPr>
            <p:custDataLst>
              <p:tags r:id="rId5"/>
            </p:custDataLst>
          </p:nvPr>
        </p:nvSpPr>
        <p:spPr>
          <a:xfrm>
            <a:off x="3984625" y="6097905"/>
            <a:ext cx="4223385" cy="514085"/>
          </a:xfrm>
          <a:prstGeom prst="round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p>
            <a:r>
              <a:rPr lang="zh-CN" altLang="en-US" sz="2400"/>
              <a:t>窄依赖</a:t>
            </a:r>
            <a:r>
              <a:rPr lang="en-US" altLang="zh-CN" sz="2400"/>
              <a:t>--</a:t>
            </a:r>
            <a:r>
              <a:rPr lang="zh-CN" altLang="en-US" sz="2400"/>
              <a:t>流水线</a:t>
            </a:r>
            <a:r>
              <a:rPr lang="en-US" altLang="zh-CN" sz="2400"/>
              <a:t>(Pipeline)</a:t>
            </a:r>
            <a:r>
              <a:rPr lang="zh-CN" altLang="en-US" sz="2400"/>
              <a:t>优化</a:t>
            </a:r>
            <a:endParaRPr lang="zh-CN" altLang="en-US" sz="24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ldLvl="0" animBg="1"/>
      <p:bldP spid="3" grpId="1" animBg="1"/>
      <p:bldP spid="4" grpId="0" bldLvl="0" animBg="1"/>
      <p:bldP spid="4" grpId="1" animBg="1"/>
      <p:bldP spid="5" grpId="0" bldLvl="0" animBg="1"/>
      <p:bldP spid="5" grpId="1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标题 1"/>
          <p:cNvSpPr>
            <a:spLocks noGrp="1"/>
          </p:cNvSpPr>
          <p:nvPr>
            <p:ph type="title"/>
          </p:nvPr>
        </p:nvSpPr>
        <p:spPr>
          <a:xfrm>
            <a:off x="123825" y="79375"/>
            <a:ext cx="5780405" cy="927100"/>
          </a:xfrm>
        </p:spPr>
        <p:txBody>
          <a:bodyPr vert="horz" wrap="square" lIns="91440" tIns="45720" rIns="91440" bIns="45720" anchor="ctr" anchorCtr="0"/>
          <a:lstStyle/>
          <a:p>
            <a:r>
              <a:rPr lang="en-US" altLang="zh-CN" b="1" dirty="0"/>
              <a:t>10.3.4 RDD</a:t>
            </a:r>
            <a:r>
              <a:rPr lang="zh-CN" altLang="zh-CN" b="1" dirty="0"/>
              <a:t>运行原理</a:t>
            </a:r>
            <a:endParaRPr lang="zh-CN" altLang="en-US" b="1" dirty="0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57CE09-A6DF-4F65-B9AD-CB157D51E68C}" type="slidenum">
              <a:rPr lang="zh-CN" altLang="en-US" smtClean="0"/>
            </a:fld>
            <a:endParaRPr lang="zh-CN" altLang="en-US"/>
          </a:p>
        </p:txBody>
      </p:sp>
      <p:pic>
        <p:nvPicPr>
          <p:cNvPr id="39940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38475" y="1295400"/>
            <a:ext cx="6334125" cy="542607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6867" name="TextBox 3"/>
          <p:cNvSpPr txBox="1"/>
          <p:nvPr>
            <p:custDataLst>
              <p:tags r:id="rId2"/>
            </p:custDataLst>
          </p:nvPr>
        </p:nvSpPr>
        <p:spPr>
          <a:xfrm>
            <a:off x="495935" y="924243"/>
            <a:ext cx="4191000" cy="52197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en-US" altLang="zh-CN" sz="2800" b="1" dirty="0">
                <a:latin typeface="Arial" panose="020B0604020202020204" pitchFamily="34" charset="0"/>
              </a:rPr>
              <a:t>5.</a:t>
            </a:r>
            <a:r>
              <a:rPr lang="zh-CN" altLang="en-US" sz="2800" b="1" dirty="0">
                <a:latin typeface="Arial" panose="020B0604020202020204" pitchFamily="34" charset="0"/>
              </a:rPr>
              <a:t>阶段的划分</a:t>
            </a:r>
            <a:endParaRPr lang="zh-CN" altLang="en-US" sz="2800" b="1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标题 1"/>
          <p:cNvSpPr>
            <a:spLocks noGrp="1"/>
          </p:cNvSpPr>
          <p:nvPr>
            <p:ph type="title"/>
          </p:nvPr>
        </p:nvSpPr>
        <p:spPr>
          <a:xfrm>
            <a:off x="282575" y="110490"/>
            <a:ext cx="5719445" cy="927100"/>
          </a:xfrm>
        </p:spPr>
        <p:txBody>
          <a:bodyPr vert="horz" wrap="square" lIns="91440" tIns="45720" rIns="91440" bIns="45720" anchor="ctr" anchorCtr="0"/>
          <a:lstStyle/>
          <a:p>
            <a:r>
              <a:rPr lang="en-US" altLang="zh-CN" b="1" dirty="0"/>
              <a:t>10.3.4 RDD</a:t>
            </a:r>
            <a:r>
              <a:rPr lang="zh-CN" altLang="zh-CN" b="1" dirty="0"/>
              <a:t>运行原理</a:t>
            </a:r>
            <a:endParaRPr lang="zh-CN" altLang="en-US" b="1" dirty="0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57CE09-A6DF-4F65-B9AD-CB157D51E68C}" type="slidenum">
              <a:rPr lang="zh-CN" altLang="en-US" smtClean="0"/>
            </a:fld>
            <a:endParaRPr lang="zh-CN" altLang="en-US"/>
          </a:p>
        </p:txBody>
      </p:sp>
      <p:sp>
        <p:nvSpPr>
          <p:cNvPr id="40963" name="TextBox 2"/>
          <p:cNvSpPr txBox="1"/>
          <p:nvPr/>
        </p:nvSpPr>
        <p:spPr>
          <a:xfrm>
            <a:off x="1062355" y="1733550"/>
            <a:ext cx="10292080" cy="4385310"/>
          </a:xfrm>
          <a:prstGeom prst="rect">
            <a:avLst/>
          </a:prstGeom>
          <a:noFill/>
          <a:ln w="9525">
            <a:noFill/>
          </a:ln>
        </p:spPr>
        <p:txBody>
          <a:bodyPr>
            <a:noAutofit/>
          </a:bodyPr>
          <a:lstStyle/>
          <a:p>
            <a:pPr>
              <a:lnSpc>
                <a:spcPct val="140000"/>
              </a:lnSpc>
            </a:pPr>
            <a:r>
              <a:rPr lang="en-US" altLang="zh-CN" sz="2400" dirty="0">
                <a:latin typeface="Arial" panose="020B0604020202020204" pitchFamily="34" charset="0"/>
              </a:rPr>
              <a:t>Spark</a:t>
            </a:r>
            <a:r>
              <a:rPr lang="zh-CN" altLang="zh-CN" sz="2400" dirty="0">
                <a:latin typeface="Arial" panose="020B0604020202020204" pitchFamily="34" charset="0"/>
              </a:rPr>
              <a:t>根据</a:t>
            </a:r>
            <a:r>
              <a:rPr lang="en-US" altLang="zh-CN" sz="2400" dirty="0">
                <a:latin typeface="Arial" panose="020B0604020202020204" pitchFamily="34" charset="0"/>
              </a:rPr>
              <a:t>DAG</a:t>
            </a:r>
            <a:r>
              <a:rPr lang="zh-CN" altLang="zh-CN" sz="2400" dirty="0">
                <a:latin typeface="Arial" panose="020B0604020202020204" pitchFamily="34" charset="0"/>
              </a:rPr>
              <a:t>图中的</a:t>
            </a:r>
            <a:r>
              <a:rPr lang="en-US" altLang="zh-CN" sz="2400" dirty="0">
                <a:latin typeface="Arial" panose="020B0604020202020204" pitchFamily="34" charset="0"/>
              </a:rPr>
              <a:t>RDD</a:t>
            </a:r>
            <a:r>
              <a:rPr lang="zh-CN" altLang="zh-CN" sz="2400" dirty="0">
                <a:latin typeface="Arial" panose="020B0604020202020204" pitchFamily="34" charset="0"/>
              </a:rPr>
              <a:t>依赖关系，把一个作业分成多个阶段。</a:t>
            </a:r>
            <a:endParaRPr lang="zh-CN" altLang="zh-CN" sz="2400" dirty="0">
              <a:latin typeface="Arial" panose="020B0604020202020204" pitchFamily="34" charset="0"/>
            </a:endParaRPr>
          </a:p>
          <a:p>
            <a:pPr marL="342900" indent="-342900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zh-CN" altLang="zh-CN" sz="2400" dirty="0">
                <a:latin typeface="Arial" panose="020B0604020202020204" pitchFamily="34" charset="0"/>
              </a:rPr>
              <a:t>窄依赖</a:t>
            </a:r>
            <a:r>
              <a:rPr lang="zh-CN" altLang="zh-CN" sz="2400" dirty="0">
                <a:latin typeface="Arial" panose="020B0604020202020204" pitchFamily="34" charset="0"/>
                <a:sym typeface="+mn-ea"/>
              </a:rPr>
              <a:t>利</a:t>
            </a:r>
            <a:r>
              <a:rPr lang="zh-CN" altLang="zh-CN" sz="2400" dirty="0">
                <a:latin typeface="Arial" panose="020B0604020202020204" pitchFamily="34" charset="0"/>
              </a:rPr>
              <a:t>于作业优化，可实现流水线优化。</a:t>
            </a:r>
            <a:endParaRPr lang="zh-CN" altLang="en-US" sz="2400" dirty="0">
              <a:latin typeface="Arial" panose="020B0604020202020204" pitchFamily="34" charset="0"/>
            </a:endParaRPr>
          </a:p>
          <a:p>
            <a:pPr marL="342900" indent="-342900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>
                <a:latin typeface="Arial" panose="020B0604020202020204" pitchFamily="34" charset="0"/>
              </a:rPr>
              <a:t>宽依赖包含</a:t>
            </a:r>
            <a:r>
              <a:rPr lang="en-US" altLang="zh-CN" sz="2400" dirty="0">
                <a:latin typeface="Arial" panose="020B0604020202020204" pitchFamily="34" charset="0"/>
              </a:rPr>
              <a:t>Shuffle</a:t>
            </a:r>
            <a:r>
              <a:rPr lang="zh-CN" altLang="en-US" sz="2400" dirty="0">
                <a:latin typeface="Arial" panose="020B0604020202020204" pitchFamily="34" charset="0"/>
              </a:rPr>
              <a:t>过程，</a:t>
            </a:r>
            <a:r>
              <a:rPr lang="zh-CN" altLang="zh-CN" sz="2400" dirty="0">
                <a:latin typeface="Arial" panose="020B0604020202020204" pitchFamily="34" charset="0"/>
              </a:rPr>
              <a:t>无法实现流水线方式处理</a:t>
            </a:r>
            <a:r>
              <a:rPr lang="zh-CN" altLang="en-US" sz="2400" dirty="0">
                <a:latin typeface="Arial" panose="020B0604020202020204" pitchFamily="34" charset="0"/>
              </a:rPr>
              <a:t>。</a:t>
            </a:r>
            <a:endParaRPr lang="zh-CN" altLang="en-US" sz="2400" dirty="0">
              <a:latin typeface="Arial" panose="020B0604020202020204" pitchFamily="34" charset="0"/>
            </a:endParaRPr>
          </a:p>
          <a:p>
            <a:pPr>
              <a:lnSpc>
                <a:spcPct val="140000"/>
              </a:lnSpc>
            </a:pPr>
            <a:endParaRPr lang="en-US" altLang="zh-CN" sz="2400" dirty="0">
              <a:latin typeface="Arial" panose="020B0604020202020204" pitchFamily="34" charset="0"/>
            </a:endParaRPr>
          </a:p>
          <a:p>
            <a:pPr>
              <a:lnSpc>
                <a:spcPct val="140000"/>
              </a:lnSpc>
            </a:pPr>
            <a:r>
              <a:rPr lang="zh-CN" altLang="zh-CN" sz="2400" dirty="0">
                <a:latin typeface="Arial" panose="020B0604020202020204" pitchFamily="34" charset="0"/>
              </a:rPr>
              <a:t>具体划分方法：</a:t>
            </a:r>
            <a:endParaRPr lang="en-US" altLang="zh-CN" sz="2400" dirty="0">
              <a:latin typeface="Arial" panose="020B0604020202020204" pitchFamily="34" charset="0"/>
            </a:endParaRPr>
          </a:p>
          <a:p>
            <a:pPr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zh-CN" altLang="zh-CN" sz="2400" dirty="0">
                <a:latin typeface="Arial" panose="020B0604020202020204" pitchFamily="34" charset="0"/>
              </a:rPr>
              <a:t>在</a:t>
            </a:r>
            <a:r>
              <a:rPr lang="en-US" altLang="zh-CN" sz="2400" dirty="0">
                <a:latin typeface="Arial" panose="020B0604020202020204" pitchFamily="34" charset="0"/>
              </a:rPr>
              <a:t>DAG</a:t>
            </a:r>
            <a:r>
              <a:rPr lang="zh-CN" altLang="zh-CN" sz="2400" dirty="0">
                <a:latin typeface="Arial" panose="020B0604020202020204" pitchFamily="34" charset="0"/>
              </a:rPr>
              <a:t>中进行反向解析，遇到宽依赖就断开</a:t>
            </a:r>
            <a:endParaRPr lang="en-US" altLang="zh-CN" sz="2400" dirty="0">
              <a:latin typeface="Arial" panose="020B0604020202020204" pitchFamily="34" charset="0"/>
            </a:endParaRPr>
          </a:p>
          <a:p>
            <a:pPr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zh-CN" altLang="zh-CN" sz="2400" dirty="0">
                <a:latin typeface="Arial" panose="020B0604020202020204" pitchFamily="34" charset="0"/>
              </a:rPr>
              <a:t>遇到窄依赖就把当前的</a:t>
            </a:r>
            <a:r>
              <a:rPr lang="en-US" altLang="zh-CN" sz="2400" dirty="0">
                <a:latin typeface="Arial" panose="020B0604020202020204" pitchFamily="34" charset="0"/>
              </a:rPr>
              <a:t>RDD</a:t>
            </a:r>
            <a:r>
              <a:rPr lang="zh-CN" altLang="zh-CN" sz="2400" dirty="0">
                <a:latin typeface="Arial" panose="020B0604020202020204" pitchFamily="34" charset="0"/>
              </a:rPr>
              <a:t>加入到</a:t>
            </a:r>
            <a:r>
              <a:rPr lang="en-US" altLang="zh-CN" sz="2400" dirty="0">
                <a:latin typeface="Arial" panose="020B0604020202020204" pitchFamily="34" charset="0"/>
              </a:rPr>
              <a:t>Stage</a:t>
            </a:r>
            <a:r>
              <a:rPr lang="zh-CN" altLang="zh-CN" sz="2400" dirty="0">
                <a:latin typeface="Arial" panose="020B0604020202020204" pitchFamily="34" charset="0"/>
              </a:rPr>
              <a:t>中</a:t>
            </a:r>
            <a:endParaRPr lang="en-US" altLang="zh-CN" sz="2400" dirty="0">
              <a:latin typeface="Arial" panose="020B0604020202020204" pitchFamily="34" charset="0"/>
            </a:endParaRPr>
          </a:p>
          <a:p>
            <a:pPr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zh-CN" altLang="zh-CN" sz="2400" dirty="0">
                <a:latin typeface="Arial" panose="020B0604020202020204" pitchFamily="34" charset="0"/>
              </a:rPr>
              <a:t>将窄依赖尽量划分在同一个</a:t>
            </a:r>
            <a:r>
              <a:rPr lang="en-US" altLang="zh-CN" sz="2400" dirty="0">
                <a:latin typeface="Arial" panose="020B0604020202020204" pitchFamily="34" charset="0"/>
              </a:rPr>
              <a:t>Stage</a:t>
            </a:r>
            <a:r>
              <a:rPr lang="zh-CN" altLang="zh-CN" sz="2400" dirty="0">
                <a:latin typeface="Arial" panose="020B0604020202020204" pitchFamily="34" charset="0"/>
              </a:rPr>
              <a:t>中，可以实现流水线计算</a:t>
            </a:r>
            <a:endParaRPr lang="zh-CN" altLang="en-US" sz="2400" dirty="0">
              <a:latin typeface="Arial" panose="020B0604020202020204" pitchFamily="34" charset="0"/>
            </a:endParaRPr>
          </a:p>
        </p:txBody>
      </p:sp>
      <p:sp>
        <p:nvSpPr>
          <p:cNvPr id="36867" name="TextBox 3"/>
          <p:cNvSpPr txBox="1"/>
          <p:nvPr>
            <p:custDataLst>
              <p:tags r:id="rId1"/>
            </p:custDataLst>
          </p:nvPr>
        </p:nvSpPr>
        <p:spPr>
          <a:xfrm>
            <a:off x="556895" y="973773"/>
            <a:ext cx="4191000" cy="52197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en-US" altLang="zh-CN" sz="2800" b="1" dirty="0">
                <a:latin typeface="Arial" panose="020B0604020202020204" pitchFamily="34" charset="0"/>
              </a:rPr>
              <a:t>5.</a:t>
            </a:r>
            <a:r>
              <a:rPr lang="zh-CN" altLang="en-US" sz="2800" b="1" dirty="0">
                <a:latin typeface="Arial" panose="020B0604020202020204" pitchFamily="34" charset="0"/>
              </a:rPr>
              <a:t>阶段的划分</a:t>
            </a:r>
            <a:endParaRPr lang="zh-CN" altLang="en-US" sz="2800" b="1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标题 1"/>
          <p:cNvSpPr>
            <a:spLocks noGrp="1"/>
          </p:cNvSpPr>
          <p:nvPr>
            <p:ph type="title"/>
          </p:nvPr>
        </p:nvSpPr>
        <p:spPr>
          <a:xfrm>
            <a:off x="185420" y="79375"/>
            <a:ext cx="5708650" cy="926465"/>
          </a:xfrm>
        </p:spPr>
        <p:txBody>
          <a:bodyPr vert="horz" wrap="square" lIns="91440" tIns="45720" rIns="91440" bIns="45720" anchor="ctr" anchorCtr="0"/>
          <a:lstStyle/>
          <a:p>
            <a:r>
              <a:rPr lang="en-US" altLang="zh-CN" b="1" dirty="0"/>
              <a:t>10.3.4 RDD</a:t>
            </a:r>
            <a:r>
              <a:rPr lang="zh-CN" altLang="zh-CN" b="1" dirty="0"/>
              <a:t>运行原理</a:t>
            </a:r>
            <a:endParaRPr lang="zh-CN" altLang="en-US" b="1" dirty="0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57CE09-A6DF-4F65-B9AD-CB157D51E68C}" type="slidenum">
              <a:rPr lang="zh-CN" altLang="en-US" smtClean="0"/>
            </a:fld>
            <a:endParaRPr lang="zh-CN" altLang="en-US"/>
          </a:p>
        </p:txBody>
      </p:sp>
      <p:pic>
        <p:nvPicPr>
          <p:cNvPr id="38917" name="Picture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72540" y="1426845"/>
            <a:ext cx="8813165" cy="536067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6867" name="TextBox 3"/>
          <p:cNvSpPr txBox="1"/>
          <p:nvPr>
            <p:custDataLst>
              <p:tags r:id="rId2"/>
            </p:custDataLst>
          </p:nvPr>
        </p:nvSpPr>
        <p:spPr>
          <a:xfrm>
            <a:off x="598170" y="903923"/>
            <a:ext cx="4191000" cy="52197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r>
              <a:rPr lang="en-US" altLang="zh-CN" sz="2800" b="1" dirty="0">
                <a:latin typeface="Arial" panose="020B0604020202020204" pitchFamily="34" charset="0"/>
              </a:rPr>
              <a:t>5.</a:t>
            </a:r>
            <a:r>
              <a:rPr lang="zh-CN" altLang="en-US" sz="2800" b="1" dirty="0">
                <a:latin typeface="Arial" panose="020B0604020202020204" pitchFamily="34" charset="0"/>
              </a:rPr>
              <a:t>阶段的划分</a:t>
            </a:r>
            <a:endParaRPr lang="zh-CN" altLang="en-US" sz="2800" b="1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标题 1"/>
          <p:cNvSpPr>
            <a:spLocks noGrp="1"/>
          </p:cNvSpPr>
          <p:nvPr>
            <p:ph type="title"/>
          </p:nvPr>
        </p:nvSpPr>
        <p:spPr>
          <a:xfrm>
            <a:off x="307340" y="120015"/>
            <a:ext cx="10515600" cy="866775"/>
          </a:xfrm>
        </p:spPr>
        <p:txBody>
          <a:bodyPr vert="horz" wrap="square" lIns="91440" tIns="45720" rIns="91440" bIns="45720" anchor="ctr" anchorCtr="0"/>
          <a:lstStyle/>
          <a:p>
            <a:r>
              <a:rPr lang="en-US" altLang="zh-CN" b="1" dirty="0"/>
              <a:t>10.3.4 RDD</a:t>
            </a:r>
            <a:r>
              <a:rPr lang="zh-CN" altLang="zh-CN" b="1" dirty="0"/>
              <a:t>运行原理</a:t>
            </a:r>
            <a:endParaRPr lang="zh-CN" altLang="en-US" b="1" dirty="0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57CE09-A6DF-4F65-B9AD-CB157D51E68C}" type="slidenum">
              <a:rPr lang="zh-CN" altLang="en-US" smtClean="0"/>
            </a:fld>
            <a:endParaRPr lang="zh-CN" altLang="en-US"/>
          </a:p>
        </p:txBody>
      </p:sp>
      <p:sp>
        <p:nvSpPr>
          <p:cNvPr id="43011" name="矩形 2"/>
          <p:cNvSpPr/>
          <p:nvPr/>
        </p:nvSpPr>
        <p:spPr>
          <a:xfrm>
            <a:off x="590550" y="1322705"/>
            <a:ext cx="11010900" cy="156845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r>
              <a:rPr lang="zh-CN" altLang="zh-CN" sz="2400" dirty="0">
                <a:latin typeface="Arial" panose="020B0604020202020204" pitchFamily="34" charset="0"/>
              </a:rPr>
              <a:t>（</a:t>
            </a:r>
            <a:r>
              <a:rPr lang="en-US" altLang="zh-CN" sz="2400" dirty="0">
                <a:latin typeface="Arial" panose="020B0604020202020204" pitchFamily="34" charset="0"/>
              </a:rPr>
              <a:t>1</a:t>
            </a:r>
            <a:r>
              <a:rPr lang="zh-CN" altLang="zh-CN" sz="2400" dirty="0">
                <a:latin typeface="Arial" panose="020B0604020202020204" pitchFamily="34" charset="0"/>
              </a:rPr>
              <a:t>）创建</a:t>
            </a:r>
            <a:r>
              <a:rPr lang="en-US" altLang="zh-CN" sz="2400" dirty="0">
                <a:latin typeface="Arial" panose="020B0604020202020204" pitchFamily="34" charset="0"/>
              </a:rPr>
              <a:t>RDD</a:t>
            </a:r>
            <a:r>
              <a:rPr lang="zh-CN" altLang="zh-CN" sz="2400" dirty="0">
                <a:latin typeface="Arial" panose="020B0604020202020204" pitchFamily="34" charset="0"/>
              </a:rPr>
              <a:t>对象；</a:t>
            </a:r>
            <a:endParaRPr lang="zh-CN" altLang="zh-CN" sz="2400" dirty="0">
              <a:latin typeface="Arial" panose="020B0604020202020204" pitchFamily="34" charset="0"/>
            </a:endParaRPr>
          </a:p>
          <a:p>
            <a:r>
              <a:rPr lang="zh-CN" altLang="zh-CN" sz="2400" dirty="0">
                <a:latin typeface="Arial" panose="020B0604020202020204" pitchFamily="34" charset="0"/>
              </a:rPr>
              <a:t>（</a:t>
            </a:r>
            <a:r>
              <a:rPr lang="en-US" altLang="zh-CN" sz="2400" dirty="0">
                <a:latin typeface="Arial" panose="020B0604020202020204" pitchFamily="34" charset="0"/>
              </a:rPr>
              <a:t>2</a:t>
            </a:r>
            <a:r>
              <a:rPr lang="zh-CN" altLang="zh-CN" sz="2400" dirty="0">
                <a:latin typeface="Arial" panose="020B0604020202020204" pitchFamily="34" charset="0"/>
              </a:rPr>
              <a:t>）</a:t>
            </a:r>
            <a:r>
              <a:rPr lang="en-US" altLang="zh-CN" sz="2400" dirty="0">
                <a:latin typeface="Arial" panose="020B0604020202020204" pitchFamily="34" charset="0"/>
              </a:rPr>
              <a:t>SparkContext</a:t>
            </a:r>
            <a:r>
              <a:rPr lang="zh-CN" altLang="zh-CN" sz="2400" dirty="0">
                <a:latin typeface="Arial" panose="020B0604020202020204" pitchFamily="34" charset="0"/>
              </a:rPr>
              <a:t>负责计算</a:t>
            </a:r>
            <a:r>
              <a:rPr lang="en-US" altLang="zh-CN" sz="2400" dirty="0">
                <a:latin typeface="Arial" panose="020B0604020202020204" pitchFamily="34" charset="0"/>
              </a:rPr>
              <a:t>RDD</a:t>
            </a:r>
            <a:r>
              <a:rPr lang="zh-CN" altLang="zh-CN" sz="2400" dirty="0">
                <a:latin typeface="Arial" panose="020B0604020202020204" pitchFamily="34" charset="0"/>
              </a:rPr>
              <a:t>之间的依赖关系，构建</a:t>
            </a:r>
            <a:r>
              <a:rPr lang="en-US" altLang="zh-CN" sz="2400" dirty="0">
                <a:latin typeface="Arial" panose="020B0604020202020204" pitchFamily="34" charset="0"/>
              </a:rPr>
              <a:t>DAG</a:t>
            </a:r>
            <a:r>
              <a:rPr lang="zh-CN" altLang="zh-CN" sz="2400" dirty="0">
                <a:latin typeface="Arial" panose="020B0604020202020204" pitchFamily="34" charset="0"/>
              </a:rPr>
              <a:t>；</a:t>
            </a:r>
            <a:endParaRPr lang="zh-CN" altLang="zh-CN" sz="2400" dirty="0">
              <a:latin typeface="Arial" panose="020B0604020202020204" pitchFamily="34" charset="0"/>
            </a:endParaRPr>
          </a:p>
          <a:p>
            <a:r>
              <a:rPr lang="zh-CN" altLang="zh-CN" sz="2400" dirty="0">
                <a:latin typeface="Arial" panose="020B0604020202020204" pitchFamily="34" charset="0"/>
              </a:rPr>
              <a:t>（</a:t>
            </a:r>
            <a:r>
              <a:rPr lang="en-US" altLang="zh-CN" sz="2400" dirty="0">
                <a:latin typeface="Arial" panose="020B0604020202020204" pitchFamily="34" charset="0"/>
              </a:rPr>
              <a:t>3</a:t>
            </a:r>
            <a:r>
              <a:rPr lang="zh-CN" altLang="zh-CN" sz="2400" dirty="0">
                <a:latin typeface="Arial" panose="020B0604020202020204" pitchFamily="34" charset="0"/>
              </a:rPr>
              <a:t>）</a:t>
            </a:r>
            <a:r>
              <a:rPr lang="en-US" altLang="zh-CN" sz="2400" dirty="0">
                <a:latin typeface="Arial" panose="020B0604020202020204" pitchFamily="34" charset="0"/>
              </a:rPr>
              <a:t>DAGScheduler</a:t>
            </a:r>
            <a:r>
              <a:rPr lang="zh-CN" altLang="zh-CN" sz="2400" dirty="0">
                <a:latin typeface="Arial" panose="020B0604020202020204" pitchFamily="34" charset="0"/>
              </a:rPr>
              <a:t>负责把</a:t>
            </a:r>
            <a:r>
              <a:rPr lang="en-US" altLang="zh-CN" sz="2400" dirty="0">
                <a:latin typeface="Arial" panose="020B0604020202020204" pitchFamily="34" charset="0"/>
              </a:rPr>
              <a:t>DAG</a:t>
            </a:r>
            <a:r>
              <a:rPr lang="zh-CN" altLang="zh-CN" sz="2400" dirty="0">
                <a:latin typeface="Arial" panose="020B0604020202020204" pitchFamily="34" charset="0"/>
              </a:rPr>
              <a:t>图分解成多个</a:t>
            </a:r>
            <a:r>
              <a:rPr lang="en-US" altLang="zh-CN" sz="2400" dirty="0">
                <a:latin typeface="Arial" panose="020B0604020202020204" pitchFamily="34" charset="0"/>
              </a:rPr>
              <a:t>Stage</a:t>
            </a:r>
            <a:r>
              <a:rPr lang="zh-CN" altLang="zh-CN" sz="2400" dirty="0">
                <a:latin typeface="Arial" panose="020B0604020202020204" pitchFamily="34" charset="0"/>
              </a:rPr>
              <a:t>，每个</a:t>
            </a:r>
            <a:r>
              <a:rPr lang="en-US" altLang="zh-CN" sz="2400" dirty="0">
                <a:latin typeface="Arial" panose="020B0604020202020204" pitchFamily="34" charset="0"/>
              </a:rPr>
              <a:t>Stage</a:t>
            </a:r>
            <a:r>
              <a:rPr lang="zh-CN" altLang="zh-CN" sz="2400" dirty="0">
                <a:latin typeface="Arial" panose="020B0604020202020204" pitchFamily="34" charset="0"/>
              </a:rPr>
              <a:t>中包含了多个</a:t>
            </a:r>
            <a:r>
              <a:rPr lang="en-US" altLang="zh-CN" sz="2400" dirty="0">
                <a:latin typeface="Arial" panose="020B0604020202020204" pitchFamily="34" charset="0"/>
              </a:rPr>
              <a:t>Task</a:t>
            </a:r>
            <a:r>
              <a:rPr lang="zh-CN" altLang="zh-CN" sz="2400" dirty="0">
                <a:latin typeface="Arial" panose="020B0604020202020204" pitchFamily="34" charset="0"/>
              </a:rPr>
              <a:t>，每个</a:t>
            </a:r>
            <a:r>
              <a:rPr lang="en-US" altLang="zh-CN" sz="2400" dirty="0">
                <a:latin typeface="Arial" panose="020B0604020202020204" pitchFamily="34" charset="0"/>
              </a:rPr>
              <a:t>Task</a:t>
            </a:r>
            <a:r>
              <a:rPr lang="zh-CN" altLang="zh-CN" sz="2400" dirty="0">
                <a:latin typeface="Arial" panose="020B0604020202020204" pitchFamily="34" charset="0"/>
              </a:rPr>
              <a:t>会被</a:t>
            </a:r>
            <a:r>
              <a:rPr lang="en-US" altLang="zh-CN" sz="2400" dirty="0">
                <a:latin typeface="Arial" panose="020B0604020202020204" pitchFamily="34" charset="0"/>
              </a:rPr>
              <a:t>TaskScheduler</a:t>
            </a:r>
            <a:r>
              <a:rPr lang="zh-CN" altLang="zh-CN" sz="2400" dirty="0">
                <a:latin typeface="Arial" panose="020B0604020202020204" pitchFamily="34" charset="0"/>
              </a:rPr>
              <a:t>分发给各个</a:t>
            </a:r>
            <a:r>
              <a:rPr lang="en-US" altLang="zh-CN" sz="2400" dirty="0">
                <a:latin typeface="Arial" panose="020B0604020202020204" pitchFamily="34" charset="0"/>
              </a:rPr>
              <a:t>WorkerNode</a:t>
            </a:r>
            <a:r>
              <a:rPr lang="zh-CN" altLang="zh-CN" sz="2400" dirty="0">
                <a:latin typeface="Arial" panose="020B0604020202020204" pitchFamily="34" charset="0"/>
              </a:rPr>
              <a:t>上的</a:t>
            </a:r>
            <a:r>
              <a:rPr lang="en-US" altLang="zh-CN" sz="2400" dirty="0">
                <a:latin typeface="Arial" panose="020B0604020202020204" pitchFamily="34" charset="0"/>
              </a:rPr>
              <a:t>Executor</a:t>
            </a:r>
            <a:r>
              <a:rPr lang="zh-CN" altLang="zh-CN" sz="2400" dirty="0">
                <a:latin typeface="Arial" panose="020B0604020202020204" pitchFamily="34" charset="0"/>
              </a:rPr>
              <a:t>去执行。</a:t>
            </a:r>
            <a:endParaRPr lang="zh-CN" altLang="zh-CN" sz="2400" dirty="0">
              <a:latin typeface="Arial" panose="020B0604020202020204" pitchFamily="34" charset="0"/>
            </a:endParaRPr>
          </a:p>
        </p:txBody>
      </p:sp>
      <p:pic>
        <p:nvPicPr>
          <p:cNvPr id="43013" name="图片 1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2820" y="3076575"/>
            <a:ext cx="9850120" cy="36449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3014" name="矩形 5"/>
          <p:cNvSpPr/>
          <p:nvPr/>
        </p:nvSpPr>
        <p:spPr>
          <a:xfrm>
            <a:off x="786130" y="800418"/>
            <a:ext cx="2671445" cy="52197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r>
              <a:rPr lang="en-US" altLang="zh-CN" sz="2800" b="1" dirty="0">
                <a:latin typeface="Arial" panose="020B0604020202020204" pitchFamily="34" charset="0"/>
              </a:rPr>
              <a:t>6.RDD</a:t>
            </a:r>
            <a:r>
              <a:rPr lang="zh-CN" altLang="en-US" sz="2800" b="1" dirty="0">
                <a:latin typeface="Arial" panose="020B0604020202020204" pitchFamily="34" charset="0"/>
              </a:rPr>
              <a:t>运行过程</a:t>
            </a:r>
            <a:endParaRPr lang="zh-CN" altLang="en-US" sz="2800" b="1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标题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lstStyle/>
          <a:p>
            <a:r>
              <a:rPr lang="en-US" altLang="zh-CN" b="1" dirty="0"/>
              <a:t>10.4 Spark</a:t>
            </a:r>
            <a:r>
              <a:rPr lang="zh-CN" altLang="en-US" b="1" dirty="0"/>
              <a:t>的部署和应用</a:t>
            </a:r>
            <a:r>
              <a:rPr lang="zh-CN" altLang="en-US" b="1" dirty="0"/>
              <a:t>方式</a:t>
            </a:r>
            <a:endParaRPr lang="zh-CN" altLang="en-US" b="1" dirty="0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57CE09-A6DF-4F65-B9AD-CB157D51E68C}" type="slidenum">
              <a:rPr lang="zh-CN" altLang="en-US" smtClean="0"/>
            </a:fld>
            <a:endParaRPr lang="zh-CN" altLang="en-US"/>
          </a:p>
        </p:txBody>
      </p:sp>
      <p:sp>
        <p:nvSpPr>
          <p:cNvPr id="44035" name="TextBox 2"/>
          <p:cNvSpPr txBox="1"/>
          <p:nvPr/>
        </p:nvSpPr>
        <p:spPr>
          <a:xfrm>
            <a:off x="1104900" y="1612900"/>
            <a:ext cx="8705850" cy="304609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zh-CN" sz="3200" dirty="0">
                <a:latin typeface="Arial" panose="020B0604020202020204" pitchFamily="34" charset="0"/>
              </a:rPr>
              <a:t>10.4.1 Spark</a:t>
            </a:r>
            <a:r>
              <a:rPr lang="zh-CN" altLang="en-US" sz="3200" dirty="0">
                <a:latin typeface="Arial" panose="020B0604020202020204" pitchFamily="34" charset="0"/>
              </a:rPr>
              <a:t>的部署方式</a:t>
            </a:r>
            <a:endParaRPr lang="en-US" altLang="zh-CN" sz="3200" dirty="0">
              <a:latin typeface="Arial" panose="020B0604020202020204" pitchFamily="34" charset="0"/>
            </a:endParaRPr>
          </a:p>
          <a:p>
            <a:pPr>
              <a:lnSpc>
                <a:spcPct val="200000"/>
              </a:lnSpc>
            </a:pPr>
            <a:r>
              <a:rPr lang="en-US" altLang="zh-CN" sz="3200" dirty="0">
                <a:latin typeface="Arial" panose="020B0604020202020204" pitchFamily="34" charset="0"/>
              </a:rPr>
              <a:t>10.4.2 </a:t>
            </a:r>
            <a:r>
              <a:rPr lang="zh-CN" altLang="en-US" sz="3200" dirty="0">
                <a:latin typeface="Arial" panose="020B0604020202020204" pitchFamily="34" charset="0"/>
              </a:rPr>
              <a:t>从</a:t>
            </a:r>
            <a:r>
              <a:rPr lang="en-US" altLang="zh-CN" sz="3200" dirty="0">
                <a:latin typeface="Arial" panose="020B0604020202020204" pitchFamily="34" charset="0"/>
              </a:rPr>
              <a:t>“Hadoop+Storm”</a:t>
            </a:r>
            <a:r>
              <a:rPr lang="zh-CN" altLang="en-US" sz="3200" dirty="0">
                <a:latin typeface="Arial" panose="020B0604020202020204" pitchFamily="34" charset="0"/>
              </a:rPr>
              <a:t>架构转向</a:t>
            </a:r>
            <a:r>
              <a:rPr lang="en-US" altLang="zh-CN" sz="3200" dirty="0">
                <a:latin typeface="Arial" panose="020B0604020202020204" pitchFamily="34" charset="0"/>
              </a:rPr>
              <a:t>Spark</a:t>
            </a:r>
            <a:r>
              <a:rPr lang="zh-CN" altLang="en-US" sz="3200" dirty="0">
                <a:latin typeface="Arial" panose="020B0604020202020204" pitchFamily="34" charset="0"/>
              </a:rPr>
              <a:t>架构</a:t>
            </a:r>
            <a:endParaRPr lang="zh-CN" altLang="en-US" sz="3200" dirty="0">
              <a:latin typeface="Arial" panose="020B0604020202020204" pitchFamily="34" charset="0"/>
            </a:endParaRPr>
          </a:p>
          <a:p>
            <a:pPr>
              <a:lnSpc>
                <a:spcPct val="200000"/>
              </a:lnSpc>
            </a:pPr>
            <a:r>
              <a:rPr lang="en-US" altLang="zh-CN" sz="3200" dirty="0">
                <a:latin typeface="Arial" panose="020B0604020202020204" pitchFamily="34" charset="0"/>
              </a:rPr>
              <a:t>10.4.3 Hadoop</a:t>
            </a:r>
            <a:r>
              <a:rPr lang="zh-CN" altLang="en-US" sz="3200" dirty="0">
                <a:latin typeface="Arial" panose="020B0604020202020204" pitchFamily="34" charset="0"/>
              </a:rPr>
              <a:t>和</a:t>
            </a:r>
            <a:r>
              <a:rPr lang="en-US" altLang="zh-CN" sz="3200" dirty="0">
                <a:latin typeface="Arial" panose="020B0604020202020204" pitchFamily="34" charset="0"/>
              </a:rPr>
              <a:t>Spark</a:t>
            </a:r>
            <a:r>
              <a:rPr lang="zh-CN" altLang="en-US" sz="3200" dirty="0">
                <a:latin typeface="Arial" panose="020B0604020202020204" pitchFamily="34" charset="0"/>
              </a:rPr>
              <a:t>的</a:t>
            </a:r>
            <a:r>
              <a:rPr lang="zh-CN" altLang="en-US" sz="3200" dirty="0">
                <a:latin typeface="Arial" panose="020B0604020202020204" pitchFamily="34" charset="0"/>
              </a:rPr>
              <a:t>统一部署</a:t>
            </a:r>
            <a:endParaRPr lang="zh-CN" altLang="en-US" sz="3200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6494780" cy="1325880"/>
          </a:xfrm>
        </p:spPr>
        <p:txBody>
          <a:bodyPr vert="horz" wrap="square" lIns="91440" tIns="45720" rIns="91440" bIns="45720" anchor="ctr" anchorCtr="0"/>
          <a:lstStyle/>
          <a:p>
            <a:r>
              <a:rPr lang="en-US" altLang="zh-CN" b="1" dirty="0"/>
              <a:t>10.4.1 Spark</a:t>
            </a:r>
            <a:r>
              <a:rPr lang="zh-CN" altLang="en-US" b="1" dirty="0"/>
              <a:t>的部署方式</a:t>
            </a:r>
            <a:endParaRPr lang="zh-CN" altLang="en-US" b="1" dirty="0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57CE09-A6DF-4F65-B9AD-CB157D51E68C}" type="slidenum">
              <a:rPr lang="zh-CN" altLang="en-US" smtClean="0"/>
            </a:fld>
            <a:endParaRPr lang="zh-CN" altLang="en-US"/>
          </a:p>
        </p:txBody>
      </p:sp>
      <p:sp>
        <p:nvSpPr>
          <p:cNvPr id="47107" name="矩形 2"/>
          <p:cNvSpPr/>
          <p:nvPr/>
        </p:nvSpPr>
        <p:spPr>
          <a:xfrm>
            <a:off x="971550" y="1403350"/>
            <a:ext cx="8234045" cy="452310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zh-CN" sz="2400" dirty="0">
                <a:latin typeface="Arial" panose="020B0604020202020204" pitchFamily="34" charset="0"/>
              </a:rPr>
              <a:t>Spark</a:t>
            </a:r>
            <a:r>
              <a:rPr lang="zh-CN" altLang="zh-CN" sz="2400" dirty="0">
                <a:latin typeface="Arial" panose="020B0604020202020204" pitchFamily="34" charset="0"/>
              </a:rPr>
              <a:t>支持</a:t>
            </a:r>
            <a:r>
              <a:rPr lang="en-US" altLang="zh-CN" sz="2400" dirty="0">
                <a:latin typeface="Arial" panose="020B0604020202020204" pitchFamily="34" charset="0"/>
              </a:rPr>
              <a:t>5</a:t>
            </a:r>
            <a:r>
              <a:rPr lang="zh-CN" altLang="zh-CN" sz="2400" dirty="0">
                <a:latin typeface="Arial" panose="020B0604020202020204" pitchFamily="34" charset="0"/>
              </a:rPr>
              <a:t>种不同类型的部署方式，包括</a:t>
            </a:r>
            <a:r>
              <a:rPr lang="zh-CN" altLang="en-US" sz="2400" dirty="0">
                <a:latin typeface="Arial" panose="020B0604020202020204" pitchFamily="34" charset="0"/>
              </a:rPr>
              <a:t>：</a:t>
            </a:r>
            <a:endParaRPr lang="zh-CN" altLang="en-US" sz="2400" dirty="0">
              <a:latin typeface="Arial" panose="020B0604020202020204" pitchFamily="34" charset="0"/>
            </a:endParaRP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zh-CN" sz="2400" dirty="0">
                <a:latin typeface="Arial" panose="020B0604020202020204" pitchFamily="34" charset="0"/>
              </a:rPr>
              <a:t>Local: </a:t>
            </a:r>
            <a:r>
              <a:rPr lang="zh-CN" altLang="en-US" sz="2400" dirty="0">
                <a:latin typeface="Arial" panose="020B0604020202020204" pitchFamily="34" charset="0"/>
              </a:rPr>
              <a:t>单机部署模式，其它属于分布式部署模式</a:t>
            </a:r>
            <a:endParaRPr lang="en-US" altLang="zh-CN" sz="2400" dirty="0">
              <a:latin typeface="Arial" panose="020B0604020202020204" pitchFamily="34" charset="0"/>
            </a:endParaRP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zh-CN" sz="2400" dirty="0">
                <a:latin typeface="Arial" panose="020B0604020202020204" pitchFamily="34" charset="0"/>
              </a:rPr>
              <a:t>Standalone</a:t>
            </a:r>
            <a:r>
              <a:rPr lang="zh-CN" altLang="en-US" sz="2400" dirty="0">
                <a:latin typeface="Arial" panose="020B0604020202020204" pitchFamily="34" charset="0"/>
              </a:rPr>
              <a:t>（类似于</a:t>
            </a:r>
            <a:r>
              <a:rPr lang="en-US" altLang="zh-CN" sz="2400" dirty="0">
                <a:latin typeface="Arial" panose="020B0604020202020204" pitchFamily="34" charset="0"/>
              </a:rPr>
              <a:t>MapReduce1.0</a:t>
            </a:r>
            <a:r>
              <a:rPr lang="zh-CN" altLang="en-US" sz="2400" dirty="0">
                <a:latin typeface="Arial" panose="020B0604020202020204" pitchFamily="34" charset="0"/>
              </a:rPr>
              <a:t>，一主</a:t>
            </a:r>
            <a:r>
              <a:rPr lang="zh-CN" altLang="en-US" sz="2400" dirty="0">
                <a:latin typeface="Arial" panose="020B0604020202020204" pitchFamily="34" charset="0"/>
              </a:rPr>
              <a:t>多从</a:t>
            </a:r>
            <a:r>
              <a:rPr lang="zh-CN" altLang="en-US" sz="2400" dirty="0">
                <a:latin typeface="Arial" panose="020B0604020202020204" pitchFamily="34" charset="0"/>
              </a:rPr>
              <a:t>节点）</a:t>
            </a:r>
            <a:endParaRPr lang="en-US" altLang="zh-CN" sz="2400" dirty="0">
              <a:latin typeface="Arial" panose="020B0604020202020204" pitchFamily="34" charset="0"/>
            </a:endParaRP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zh-CN" sz="2400" dirty="0">
                <a:latin typeface="Arial" panose="020B0604020202020204" pitchFamily="34" charset="0"/>
              </a:rPr>
              <a:t>Spark on Mesos</a:t>
            </a:r>
            <a:r>
              <a:rPr lang="zh-CN" altLang="en-US" sz="2400" dirty="0">
                <a:latin typeface="Arial" panose="020B0604020202020204" pitchFamily="34" charset="0"/>
              </a:rPr>
              <a:t>（官方推荐</a:t>
            </a:r>
            <a:r>
              <a:rPr lang="zh-CN" altLang="en-US" sz="2400" dirty="0">
                <a:latin typeface="Arial" panose="020B0604020202020204" pitchFamily="34" charset="0"/>
              </a:rPr>
              <a:t>模式）</a:t>
            </a:r>
            <a:endParaRPr lang="en-US" altLang="zh-CN" sz="2400" dirty="0">
              <a:latin typeface="Arial" panose="020B0604020202020204" pitchFamily="34" charset="0"/>
            </a:endParaRP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zh-CN" sz="2400" dirty="0">
                <a:latin typeface="Arial" panose="020B0604020202020204" pitchFamily="34" charset="0"/>
              </a:rPr>
              <a:t>Spark on YARN</a:t>
            </a:r>
            <a:endParaRPr lang="en-US" altLang="zh-CN" sz="2400" dirty="0">
              <a:latin typeface="Arial" panose="020B0604020202020204" pitchFamily="34" charset="0"/>
            </a:endParaRP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zh-CN" sz="2400" dirty="0">
                <a:latin typeface="Arial" panose="020B0604020202020204" pitchFamily="34" charset="0"/>
              </a:rPr>
              <a:t>Spark on Kubernetes</a:t>
            </a:r>
            <a:endParaRPr lang="en-US" altLang="zh-CN" sz="2400" dirty="0">
              <a:latin typeface="Arial" panose="020B0604020202020204" pitchFamily="34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5967095" y="3703955"/>
            <a:ext cx="5943600" cy="265239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标题 1"/>
          <p:cNvSpPr>
            <a:spLocks noGrp="1"/>
          </p:cNvSpPr>
          <p:nvPr>
            <p:ph type="title"/>
          </p:nvPr>
        </p:nvSpPr>
        <p:spPr>
          <a:xfrm>
            <a:off x="685800" y="184150"/>
            <a:ext cx="10515600" cy="1325563"/>
          </a:xfrm>
        </p:spPr>
        <p:txBody>
          <a:bodyPr vert="horz" wrap="square" lIns="91440" tIns="45720" rIns="91440" bIns="45720" anchor="ctr" anchorCtr="0"/>
          <a:lstStyle/>
          <a:p>
            <a:r>
              <a:rPr lang="en-US" altLang="zh-CN" sz="4000" b="1" dirty="0"/>
              <a:t>10.4.2 </a:t>
            </a:r>
            <a:r>
              <a:rPr lang="zh-CN" altLang="zh-CN" sz="4000" b="1" dirty="0"/>
              <a:t>从</a:t>
            </a:r>
            <a:r>
              <a:rPr lang="en-US" altLang="zh-CN" sz="4000" b="1" dirty="0"/>
              <a:t>Hadoop+Storm</a:t>
            </a:r>
            <a:r>
              <a:rPr lang="zh-CN" altLang="zh-CN" sz="4000" b="1" dirty="0"/>
              <a:t>架构转向</a:t>
            </a:r>
            <a:r>
              <a:rPr lang="en-US" altLang="zh-CN" sz="4000" b="1" dirty="0"/>
              <a:t>Spark</a:t>
            </a:r>
            <a:r>
              <a:rPr lang="zh-CN" altLang="zh-CN" sz="4000" b="1" dirty="0"/>
              <a:t>架构</a:t>
            </a:r>
            <a:endParaRPr lang="zh-CN" altLang="zh-CN" sz="4000" b="1" dirty="0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57CE09-A6DF-4F65-B9AD-CB157D51E68C}" type="slidenum">
              <a:rPr lang="zh-CN" altLang="en-US" smtClean="0"/>
            </a:fld>
            <a:endParaRPr lang="zh-CN" altLang="en-US"/>
          </a:p>
        </p:txBody>
      </p:sp>
      <p:pic>
        <p:nvPicPr>
          <p:cNvPr id="48131" name="Picture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476750" y="1234440"/>
            <a:ext cx="6781800" cy="503396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8132" name="矩形 4"/>
          <p:cNvSpPr/>
          <p:nvPr/>
        </p:nvSpPr>
        <p:spPr>
          <a:xfrm>
            <a:off x="5476875" y="6360160"/>
            <a:ext cx="4467225" cy="36830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r>
              <a:rPr lang="zh-CN" altLang="zh-CN" dirty="0">
                <a:latin typeface="Arial" panose="020B0604020202020204" pitchFamily="34" charset="0"/>
              </a:rPr>
              <a:t>采用</a:t>
            </a:r>
            <a:r>
              <a:rPr lang="en-US" altLang="zh-CN" dirty="0">
                <a:latin typeface="Arial" panose="020B0604020202020204" pitchFamily="34" charset="0"/>
              </a:rPr>
              <a:t>Hadoop+Storm</a:t>
            </a:r>
            <a:r>
              <a:rPr lang="zh-CN" altLang="zh-CN" dirty="0">
                <a:latin typeface="Arial" panose="020B0604020202020204" pitchFamily="34" charset="0"/>
              </a:rPr>
              <a:t>部署方式的一个案例</a:t>
            </a:r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48133" name="矩形 4"/>
          <p:cNvSpPr/>
          <p:nvPr/>
        </p:nvSpPr>
        <p:spPr>
          <a:xfrm>
            <a:off x="812800" y="2740025"/>
            <a:ext cx="3001645" cy="156845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r>
              <a:rPr lang="zh-CN" altLang="en-US" sz="2400" dirty="0">
                <a:latin typeface="Arial" panose="020B0604020202020204" pitchFamily="34" charset="0"/>
              </a:rPr>
              <a:t>批量历史数据的实时查询和离线分析</a:t>
            </a:r>
            <a:endParaRPr lang="zh-CN" altLang="en-US" sz="2400" dirty="0">
              <a:latin typeface="Arial" panose="020B0604020202020204" pitchFamily="34" charset="0"/>
            </a:endParaRPr>
          </a:p>
          <a:p>
            <a:r>
              <a:rPr lang="en-US" altLang="zh-CN" sz="2400" dirty="0">
                <a:latin typeface="Arial" panose="020B0604020202020204" pitchFamily="34" charset="0"/>
              </a:rPr>
              <a:t>+</a:t>
            </a:r>
            <a:endParaRPr lang="en-US" altLang="zh-CN" sz="2400" dirty="0">
              <a:latin typeface="Arial" panose="020B0604020202020204" pitchFamily="34" charset="0"/>
            </a:endParaRPr>
          </a:p>
          <a:p>
            <a:r>
              <a:rPr lang="zh-CN" altLang="en-US" sz="2400" dirty="0">
                <a:latin typeface="Arial" panose="020B0604020202020204" pitchFamily="34" charset="0"/>
              </a:rPr>
              <a:t>流数据的</a:t>
            </a:r>
            <a:r>
              <a:rPr lang="zh-CN" altLang="en-US" sz="2400" dirty="0">
                <a:latin typeface="Arial" panose="020B0604020202020204" pitchFamily="34" charset="0"/>
              </a:rPr>
              <a:t>实时处理</a:t>
            </a:r>
            <a:endParaRPr lang="zh-CN" altLang="en-US" sz="2400" dirty="0">
              <a:latin typeface="Arial" panose="020B0604020202020204" pitchFamily="34" charset="0"/>
            </a:endParaRPr>
          </a:p>
        </p:txBody>
      </p:sp>
      <p:sp>
        <p:nvSpPr>
          <p:cNvPr id="3" name="矩形 4"/>
          <p:cNvSpPr/>
          <p:nvPr>
            <p:custDataLst>
              <p:tags r:id="rId2"/>
            </p:custDataLst>
          </p:nvPr>
        </p:nvSpPr>
        <p:spPr>
          <a:xfrm>
            <a:off x="1111250" y="1510030"/>
            <a:ext cx="2267585" cy="46037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r>
              <a:rPr lang="en-US" altLang="zh-CN" sz="2400" dirty="0">
                <a:latin typeface="Arial" panose="020B0604020202020204" pitchFamily="34" charset="0"/>
              </a:rPr>
              <a:t>Lambda</a:t>
            </a:r>
            <a:r>
              <a:rPr lang="zh-CN" altLang="en-US" sz="2400" dirty="0">
                <a:latin typeface="Arial" panose="020B0604020202020204" pitchFamily="34" charset="0"/>
              </a:rPr>
              <a:t>架构</a:t>
            </a:r>
            <a:endParaRPr lang="zh-CN" altLang="en-US" sz="2400" dirty="0">
              <a:latin typeface="Arial" panose="020B0604020202020204" pitchFamily="34" charset="0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4619625" y="4043045"/>
            <a:ext cx="6181725" cy="1495425"/>
          </a:xfrm>
          <a:prstGeom prst="rect">
            <a:avLst/>
          </a:prstGeom>
          <a:noFill/>
          <a:ln w="38100">
            <a:solidFill>
              <a:srgbClr val="FF0000"/>
            </a:solidFill>
            <a:prstDash val="dash"/>
          </a:ln>
          <a:extLst>
            <a:ext uri="{909E8E84-426E-40DD-AFC4-6F175D3DCCD1}">
              <a14:hiddenFill xmlns:a14="http://schemas.microsoft.com/office/drawing/2010/main">
                <a:solidFill>
                  <a:schemeClr val="lt1"/>
                </a:solidFill>
              </a14:hiddenFill>
            </a:ext>
          </a:ex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984250" y="4866005"/>
            <a:ext cx="1666875" cy="46037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r>
              <a:rPr lang="en-US" altLang="zh-CN" sz="2400" dirty="0">
                <a:latin typeface="Arial" panose="020B0604020202020204" pitchFamily="34" charset="0"/>
              </a:rPr>
              <a:t>Spark</a:t>
            </a:r>
            <a:r>
              <a:rPr lang="zh-CN" altLang="en-US" sz="2400" dirty="0">
                <a:latin typeface="Arial" panose="020B0604020202020204" pitchFamily="34" charset="0"/>
              </a:rPr>
              <a:t>架构</a:t>
            </a:r>
            <a:endParaRPr lang="zh-CN" altLang="en-US" sz="2400" dirty="0">
              <a:latin typeface="Arial" panose="020B0604020202020204" pitchFamily="34" charset="0"/>
            </a:endParaRPr>
          </a:p>
        </p:txBody>
      </p:sp>
      <p:cxnSp>
        <p:nvCxnSpPr>
          <p:cNvPr id="6" name="直接箭头连接符 5"/>
          <p:cNvCxnSpPr>
            <a:stCxn id="4" idx="1"/>
            <a:endCxn id="5" idx="3"/>
          </p:cNvCxnSpPr>
          <p:nvPr/>
        </p:nvCxnSpPr>
        <p:spPr>
          <a:xfrm flipH="1">
            <a:off x="2651125" y="4791075"/>
            <a:ext cx="1968500" cy="305435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000"/>
                            </p:stCondLst>
                            <p:childTnLst>
                              <p:par>
                                <p:cTn id="23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133" grpId="0"/>
      <p:bldP spid="48133" grpId="1"/>
      <p:bldP spid="48132" grpId="0"/>
      <p:bldP spid="48132" grpId="1"/>
      <p:bldP spid="4" grpId="0" animBg="1"/>
      <p:bldP spid="5" grpId="0"/>
      <p:bldP spid="4" grpId="1" animBg="1"/>
      <p:bldP spid="5" grpId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57CE09-A6DF-4F65-B9AD-CB157D51E68C}" type="slidenum">
              <a:rPr lang="zh-CN" altLang="en-US" smtClean="0"/>
            </a:fld>
            <a:endParaRPr lang="zh-CN" altLang="en-US"/>
          </a:p>
        </p:txBody>
      </p:sp>
      <p:pic>
        <p:nvPicPr>
          <p:cNvPr id="49155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29350" y="1371600"/>
            <a:ext cx="4038600" cy="4953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9156" name="矩形 3"/>
          <p:cNvSpPr/>
          <p:nvPr/>
        </p:nvSpPr>
        <p:spPr>
          <a:xfrm>
            <a:off x="800735" y="1371600"/>
            <a:ext cx="5294630" cy="452310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r>
              <a:rPr lang="zh-CN" altLang="zh-CN" sz="2400" dirty="0">
                <a:latin typeface="Arial" panose="020B0604020202020204" pitchFamily="34" charset="0"/>
              </a:rPr>
              <a:t>优点：</a:t>
            </a:r>
            <a:endParaRPr lang="zh-CN" altLang="zh-CN" sz="2400" dirty="0">
              <a:latin typeface="Arial" panose="020B0604020202020204" pitchFamily="34" charset="0"/>
            </a:endParaRPr>
          </a:p>
          <a:p>
            <a:pPr lvl="1">
              <a:buFont typeface="Arial" panose="020B0604020202020204" pitchFamily="34" charset="0"/>
              <a:buChar char="•"/>
            </a:pPr>
            <a:r>
              <a:rPr lang="zh-CN" altLang="zh-CN" sz="2400" dirty="0">
                <a:latin typeface="Arial" panose="020B0604020202020204" pitchFamily="34" charset="0"/>
              </a:rPr>
              <a:t>实现一键式安装和配置、线程级别的任务监控和警</a:t>
            </a:r>
            <a:r>
              <a:rPr lang="zh-CN" altLang="zh-CN" sz="2400" dirty="0">
                <a:latin typeface="Arial" panose="020B0604020202020204" pitchFamily="34" charset="0"/>
                <a:sym typeface="+mn-ea"/>
              </a:rPr>
              <a:t>告</a:t>
            </a:r>
            <a:endParaRPr lang="en-US" altLang="zh-CN" sz="2400" dirty="0">
              <a:latin typeface="Arial" panose="020B0604020202020204" pitchFamily="34" charset="0"/>
            </a:endParaRPr>
          </a:p>
          <a:p>
            <a:pPr lvl="1">
              <a:buFont typeface="Arial" panose="020B0604020202020204" pitchFamily="34" charset="0"/>
              <a:buChar char="•"/>
            </a:pPr>
            <a:r>
              <a:rPr lang="zh-CN" altLang="zh-CN" sz="2400" dirty="0">
                <a:latin typeface="Arial" panose="020B0604020202020204" pitchFamily="34" charset="0"/>
              </a:rPr>
              <a:t>降低硬件集群、软件维护、任务监控和应用开发的难度</a:t>
            </a:r>
            <a:endParaRPr lang="en-US" altLang="zh-CN" sz="2400" dirty="0">
              <a:latin typeface="Arial" panose="020B0604020202020204" pitchFamily="34" charset="0"/>
            </a:endParaRPr>
          </a:p>
          <a:p>
            <a:pPr lvl="1">
              <a:buFont typeface="Arial" panose="020B0604020202020204" pitchFamily="34" charset="0"/>
              <a:buChar char="•"/>
            </a:pPr>
            <a:r>
              <a:rPr lang="zh-CN" altLang="zh-CN" sz="2400" dirty="0">
                <a:latin typeface="Arial" panose="020B0604020202020204" pitchFamily="34" charset="0"/>
              </a:rPr>
              <a:t>便于集成统一的硬件、计算平台资源池</a:t>
            </a:r>
            <a:endParaRPr lang="en-US" altLang="zh-CN" sz="2400" dirty="0">
              <a:latin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endParaRPr lang="en-US" altLang="zh-CN" sz="2400" dirty="0">
              <a:latin typeface="Arial" panose="020B0604020202020204" pitchFamily="34" charset="0"/>
            </a:endParaRPr>
          </a:p>
          <a:p>
            <a:r>
              <a:rPr lang="zh-CN" altLang="en-US" sz="2400" dirty="0">
                <a:latin typeface="Arial" panose="020B0604020202020204" pitchFamily="34" charset="0"/>
              </a:rPr>
              <a:t>缺点：</a:t>
            </a:r>
            <a:endParaRPr lang="zh-CN" altLang="en-US" sz="2400" dirty="0">
              <a:latin typeface="Arial" panose="020B0604020202020204" pitchFamily="34" charset="0"/>
            </a:endParaRPr>
          </a:p>
          <a:p>
            <a:pPr lvl="1"/>
            <a:r>
              <a:rPr lang="en-US" altLang="zh-CN" sz="2400" dirty="0">
                <a:latin typeface="Arial" panose="020B0604020202020204" pitchFamily="34" charset="0"/>
              </a:rPr>
              <a:t>Spark Streaming</a:t>
            </a:r>
            <a:r>
              <a:rPr lang="zh-CN" altLang="zh-CN" sz="2400" dirty="0">
                <a:latin typeface="Arial" panose="020B0604020202020204" pitchFamily="34" charset="0"/>
              </a:rPr>
              <a:t>无法实现毫秒级的流计算，毫秒级实时响应的企业应用仍需用流计算框架（如</a:t>
            </a:r>
            <a:r>
              <a:rPr lang="en-US" altLang="zh-CN" sz="2400" dirty="0">
                <a:latin typeface="Arial" panose="020B0604020202020204" pitchFamily="34" charset="0"/>
              </a:rPr>
              <a:t>Storm</a:t>
            </a:r>
            <a:r>
              <a:rPr lang="zh-CN" altLang="zh-CN" sz="2400" dirty="0">
                <a:latin typeface="Arial" panose="020B0604020202020204" pitchFamily="34" charset="0"/>
              </a:rPr>
              <a:t>）</a:t>
            </a:r>
            <a:endParaRPr lang="zh-CN" altLang="zh-CN" sz="2400" dirty="0">
              <a:latin typeface="Arial" panose="020B0604020202020204" pitchFamily="34" charset="0"/>
            </a:endParaRPr>
          </a:p>
        </p:txBody>
      </p:sp>
      <p:sp>
        <p:nvSpPr>
          <p:cNvPr id="49157" name="矩形 4"/>
          <p:cNvSpPr/>
          <p:nvPr/>
        </p:nvSpPr>
        <p:spPr>
          <a:xfrm>
            <a:off x="6229350" y="6324600"/>
            <a:ext cx="4286250" cy="36830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r>
              <a:rPr lang="zh-CN" altLang="zh-CN" dirty="0">
                <a:latin typeface="Arial" panose="020B0604020202020204" pitchFamily="34" charset="0"/>
              </a:rPr>
              <a:t>用</a:t>
            </a:r>
            <a:r>
              <a:rPr lang="en-US" altLang="zh-CN" dirty="0">
                <a:latin typeface="Arial" panose="020B0604020202020204" pitchFamily="34" charset="0"/>
              </a:rPr>
              <a:t>Spark</a:t>
            </a:r>
            <a:r>
              <a:rPr lang="zh-CN" altLang="zh-CN" dirty="0">
                <a:latin typeface="Arial" panose="020B0604020202020204" pitchFamily="34" charset="0"/>
              </a:rPr>
              <a:t>架构满足批处理和流处理需求</a:t>
            </a:r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48130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85800" y="184150"/>
            <a:ext cx="10515600" cy="1325563"/>
          </a:xfrm>
        </p:spPr>
        <p:txBody>
          <a:bodyPr vert="horz" wrap="square" lIns="91440" tIns="45720" rIns="91440" bIns="45720" anchor="ctr" anchorCtr="0"/>
          <a:p>
            <a:r>
              <a:rPr lang="en-US" altLang="zh-CN" sz="4000" b="1" dirty="0"/>
              <a:t>10.4.2 </a:t>
            </a:r>
            <a:r>
              <a:rPr lang="zh-CN" altLang="zh-CN" sz="4000" b="1" dirty="0"/>
              <a:t>从</a:t>
            </a:r>
            <a:r>
              <a:rPr lang="en-US" altLang="zh-CN" sz="4000" b="1" dirty="0"/>
              <a:t>Hadoop+Storm</a:t>
            </a:r>
            <a:r>
              <a:rPr lang="zh-CN" altLang="zh-CN" sz="4000" b="1" dirty="0"/>
              <a:t>架构转向</a:t>
            </a:r>
            <a:r>
              <a:rPr lang="en-US" altLang="zh-CN" sz="4000" b="1" dirty="0"/>
              <a:t>Spark</a:t>
            </a:r>
            <a:r>
              <a:rPr lang="zh-CN" altLang="zh-CN" sz="4000" b="1" dirty="0"/>
              <a:t>架构</a:t>
            </a:r>
            <a:endParaRPr lang="zh-CN" altLang="zh-CN" sz="4000" b="1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1" name="标题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lstStyle/>
          <a:p>
            <a:r>
              <a:rPr lang="en-US" altLang="zh-CN" b="1" dirty="0"/>
              <a:t>10.4.3 Hadoop</a:t>
            </a:r>
            <a:r>
              <a:rPr lang="zh-CN" altLang="zh-CN" b="1" dirty="0"/>
              <a:t>和</a:t>
            </a:r>
            <a:r>
              <a:rPr lang="en-US" altLang="zh-CN" b="1" dirty="0"/>
              <a:t>Spark</a:t>
            </a:r>
            <a:r>
              <a:rPr lang="zh-CN" altLang="zh-CN" b="1" dirty="0"/>
              <a:t>的统一部署</a:t>
            </a:r>
            <a:endParaRPr lang="zh-CN" altLang="en-US" b="1" dirty="0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57CE09-A6DF-4F65-B9AD-CB157D51E68C}" type="slidenum">
              <a:rPr lang="zh-CN" altLang="en-US" smtClean="0"/>
            </a:fld>
            <a:endParaRPr lang="zh-CN" altLang="en-US"/>
          </a:p>
        </p:txBody>
      </p:sp>
      <p:sp>
        <p:nvSpPr>
          <p:cNvPr id="7172" name="矩形 2"/>
          <p:cNvSpPr/>
          <p:nvPr/>
        </p:nvSpPr>
        <p:spPr>
          <a:xfrm>
            <a:off x="962025" y="3429000"/>
            <a:ext cx="3657600" cy="267652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r>
              <a:rPr lang="zh-CN" altLang="zh-CN" sz="2400" dirty="0">
                <a:latin typeface="Arial" panose="020B0604020202020204" pitchFamily="34" charset="0"/>
              </a:rPr>
              <a:t>不同的计算框架统一运行在</a:t>
            </a:r>
            <a:r>
              <a:rPr lang="en-US" altLang="zh-CN" sz="2400" dirty="0">
                <a:latin typeface="Arial" panose="020B0604020202020204" pitchFamily="34" charset="0"/>
              </a:rPr>
              <a:t>YARN</a:t>
            </a:r>
            <a:r>
              <a:rPr lang="zh-CN" altLang="zh-CN" sz="2400" dirty="0">
                <a:latin typeface="Arial" panose="020B0604020202020204" pitchFamily="34" charset="0"/>
              </a:rPr>
              <a:t>中，好处：</a:t>
            </a:r>
            <a:endParaRPr lang="zh-CN" altLang="zh-CN" sz="2400" dirty="0">
              <a:latin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zh-CN" altLang="zh-CN" sz="2400" dirty="0">
                <a:latin typeface="Arial" panose="020B0604020202020204" pitchFamily="34" charset="0"/>
              </a:rPr>
              <a:t>计算资源按需伸缩</a:t>
            </a:r>
            <a:endParaRPr lang="zh-CN" altLang="zh-CN" sz="2400" dirty="0">
              <a:latin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zh-CN" altLang="zh-CN" sz="2400" dirty="0">
                <a:latin typeface="Arial" panose="020B0604020202020204" pitchFamily="34" charset="0"/>
              </a:rPr>
              <a:t>不用负载应用混搭，集群利用率高</a:t>
            </a:r>
            <a:endParaRPr lang="zh-CN" altLang="zh-CN" sz="2400" dirty="0">
              <a:latin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zh-CN" altLang="zh-CN" sz="2400" dirty="0">
                <a:latin typeface="Arial" panose="020B0604020202020204" pitchFamily="34" charset="0"/>
              </a:rPr>
              <a:t>共享底层存储，避免数据跨集群迁移</a:t>
            </a:r>
            <a:endParaRPr lang="zh-CN" altLang="zh-CN" sz="2400" dirty="0">
              <a:latin typeface="Arial" panose="020B0604020202020204" pitchFamily="34" charset="0"/>
            </a:endParaRPr>
          </a:p>
        </p:txBody>
      </p:sp>
      <p:sp>
        <p:nvSpPr>
          <p:cNvPr id="7173" name="Rectangle 2"/>
          <p:cNvSpPr/>
          <p:nvPr/>
        </p:nvSpPr>
        <p:spPr>
          <a:xfrm>
            <a:off x="1524000" y="-184150"/>
            <a:ext cx="309880" cy="3683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/>
          <a:p>
            <a:endParaRPr lang="zh-CN" altLang="en-US" dirty="0">
              <a:latin typeface="Arial" panose="020B0604020202020204" pitchFamily="34" charset="0"/>
            </a:endParaRPr>
          </a:p>
        </p:txBody>
      </p:sp>
      <p:graphicFrame>
        <p:nvGraphicFramePr>
          <p:cNvPr id="7170" name="Object 1"/>
          <p:cNvGraphicFramePr/>
          <p:nvPr/>
        </p:nvGraphicFramePr>
        <p:xfrm>
          <a:off x="4724400" y="3638550"/>
          <a:ext cx="6172200" cy="2339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47" name="" r:id="rId1" imgW="9194800" imgH="3495040" progId="Visio.Drawing.15">
                  <p:embed/>
                </p:oleObj>
              </mc:Choice>
              <mc:Fallback>
                <p:oleObj name="" r:id="rId1" imgW="9194800" imgH="3495040" progId="Visio.Drawing.15">
                  <p:embed/>
                  <p:pic>
                    <p:nvPicPr>
                      <p:cNvPr id="0" name="图片 3079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4724400" y="3638550"/>
                        <a:ext cx="6172200" cy="23399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7175" name="矩形 6"/>
          <p:cNvSpPr/>
          <p:nvPr/>
        </p:nvSpPr>
        <p:spPr>
          <a:xfrm>
            <a:off x="962025" y="1490980"/>
            <a:ext cx="9828530" cy="142049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indent="0">
              <a:lnSpc>
                <a:spcPct val="120000"/>
              </a:lnSpc>
              <a:buFont typeface="Arial" panose="020B0604020202020204" pitchFamily="34" charset="0"/>
              <a:buNone/>
            </a:pPr>
            <a:r>
              <a:rPr lang="zh-CN" altLang="en-US" sz="2400" dirty="0">
                <a:latin typeface="Arial" panose="020B0604020202020204" pitchFamily="34" charset="0"/>
              </a:rPr>
              <a:t>统一部署原因：</a:t>
            </a:r>
            <a:endParaRPr lang="en-US" altLang="zh-CN" sz="2400" dirty="0">
              <a:latin typeface="Arial" panose="020B0604020202020204" pitchFamily="34" charset="0"/>
            </a:endParaRPr>
          </a:p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altLang="zh-CN" sz="2400" dirty="0">
                <a:latin typeface="Arial" panose="020B0604020202020204" pitchFamily="34" charset="0"/>
              </a:rPr>
              <a:t>Hadoop</a:t>
            </a:r>
            <a:r>
              <a:rPr lang="zh-CN" altLang="zh-CN" sz="2400" dirty="0">
                <a:latin typeface="Arial" panose="020B0604020202020204" pitchFamily="34" charset="0"/>
              </a:rPr>
              <a:t>生态系统中的一些组件所实现的功能，目前无法由</a:t>
            </a:r>
            <a:r>
              <a:rPr lang="en-US" altLang="zh-CN" sz="2400" dirty="0">
                <a:latin typeface="Arial" panose="020B0604020202020204" pitchFamily="34" charset="0"/>
              </a:rPr>
              <a:t>Spark</a:t>
            </a:r>
            <a:r>
              <a:rPr lang="zh-CN" altLang="zh-CN" sz="2400" dirty="0">
                <a:latin typeface="Arial" panose="020B0604020202020204" pitchFamily="34" charset="0"/>
              </a:rPr>
              <a:t>取代</a:t>
            </a:r>
            <a:endParaRPr lang="zh-CN" altLang="zh-CN" sz="2400" dirty="0">
              <a:latin typeface="Arial" panose="020B0604020202020204" pitchFamily="34" charset="0"/>
            </a:endParaRPr>
          </a:p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zh-CN" altLang="zh-CN" sz="2400" dirty="0">
                <a:latin typeface="Arial" panose="020B0604020202020204" pitchFamily="34" charset="0"/>
              </a:rPr>
              <a:t>现有的</a:t>
            </a:r>
            <a:r>
              <a:rPr lang="en-US" altLang="zh-CN" sz="2400" dirty="0">
                <a:latin typeface="Arial" panose="020B0604020202020204" pitchFamily="34" charset="0"/>
              </a:rPr>
              <a:t>Hadoop</a:t>
            </a:r>
            <a:r>
              <a:rPr lang="zh-CN" altLang="zh-CN" sz="2400" dirty="0">
                <a:latin typeface="Arial" panose="020B0604020202020204" pitchFamily="34" charset="0"/>
              </a:rPr>
              <a:t>组件开发的</a:t>
            </a:r>
            <a:r>
              <a:rPr lang="zh-CN" altLang="en-US" sz="2400" dirty="0">
                <a:latin typeface="Arial" panose="020B0604020202020204" pitchFamily="34" charset="0"/>
              </a:rPr>
              <a:t>应用</a:t>
            </a:r>
            <a:r>
              <a:rPr lang="zh-CN" altLang="zh-CN" sz="2400" dirty="0">
                <a:latin typeface="Arial" panose="020B0604020202020204" pitchFamily="34" charset="0"/>
              </a:rPr>
              <a:t>，完全转移到</a:t>
            </a:r>
            <a:r>
              <a:rPr lang="en-US" altLang="zh-CN" sz="2400" dirty="0">
                <a:latin typeface="Arial" panose="020B0604020202020204" pitchFamily="34" charset="0"/>
              </a:rPr>
              <a:t>Spark</a:t>
            </a:r>
            <a:r>
              <a:rPr lang="zh-CN" altLang="zh-CN" sz="2400" dirty="0">
                <a:latin typeface="Arial" panose="020B0604020202020204" pitchFamily="34" charset="0"/>
              </a:rPr>
              <a:t>上需要一定的成本</a:t>
            </a:r>
            <a:endParaRPr lang="zh-CN" altLang="zh-CN" sz="2400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72" grpId="0"/>
      <p:bldP spid="7172" grpId="1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标题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lstStyle/>
          <a:p>
            <a:r>
              <a:rPr lang="en-US" altLang="zh-CN" b="1" dirty="0"/>
              <a:t>10. 5 Spark</a:t>
            </a:r>
            <a:r>
              <a:rPr lang="zh-CN" altLang="en-US" b="1" dirty="0"/>
              <a:t>编程实践</a:t>
            </a:r>
            <a:endParaRPr lang="zh-CN" altLang="en-US" b="1" dirty="0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57CE09-A6DF-4F65-B9AD-CB157D51E68C}" type="slidenum">
              <a:rPr lang="zh-CN" altLang="en-US" smtClean="0"/>
            </a:fld>
            <a:endParaRPr lang="zh-CN" altLang="en-US"/>
          </a:p>
        </p:txBody>
      </p:sp>
      <p:sp>
        <p:nvSpPr>
          <p:cNvPr id="50179" name="TextBox 2"/>
          <p:cNvSpPr txBox="1"/>
          <p:nvPr/>
        </p:nvSpPr>
        <p:spPr>
          <a:xfrm>
            <a:off x="1133475" y="1619250"/>
            <a:ext cx="4489450" cy="267652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zh-CN" sz="2800" dirty="0">
                <a:latin typeface="Arial" panose="020B0604020202020204" pitchFamily="34" charset="0"/>
              </a:rPr>
              <a:t>10.5.1 </a:t>
            </a:r>
            <a:r>
              <a:rPr lang="zh-CN" altLang="en-US" sz="2800" dirty="0">
                <a:latin typeface="Arial" panose="020B0604020202020204" pitchFamily="34" charset="0"/>
              </a:rPr>
              <a:t>启动</a:t>
            </a:r>
            <a:r>
              <a:rPr lang="en-US" altLang="zh-CN" sz="2800" dirty="0">
                <a:latin typeface="Arial" panose="020B0604020202020204" pitchFamily="34" charset="0"/>
              </a:rPr>
              <a:t>Spark Shell</a:t>
            </a:r>
            <a:endParaRPr lang="en-US" altLang="zh-CN" sz="2800" dirty="0">
              <a:latin typeface="Arial" panose="020B0604020202020204" pitchFamily="34" charset="0"/>
            </a:endParaRPr>
          </a:p>
          <a:p>
            <a:pPr>
              <a:lnSpc>
                <a:spcPct val="200000"/>
              </a:lnSpc>
            </a:pPr>
            <a:r>
              <a:rPr lang="en-US" altLang="zh-CN" sz="2800" dirty="0">
                <a:latin typeface="Arial" panose="020B0604020202020204" pitchFamily="34" charset="0"/>
              </a:rPr>
              <a:t>10.5.2 Spark RDD</a:t>
            </a:r>
            <a:r>
              <a:rPr lang="zh-CN" altLang="en-US" sz="2800" dirty="0">
                <a:latin typeface="Arial" panose="020B0604020202020204" pitchFamily="34" charset="0"/>
              </a:rPr>
              <a:t>基本操作</a:t>
            </a:r>
            <a:endParaRPr lang="en-US" altLang="zh-CN" sz="2800" dirty="0">
              <a:latin typeface="Arial" panose="020B0604020202020204" pitchFamily="34" charset="0"/>
            </a:endParaRPr>
          </a:p>
          <a:p>
            <a:pPr>
              <a:lnSpc>
                <a:spcPct val="200000"/>
              </a:lnSpc>
            </a:pPr>
            <a:r>
              <a:rPr lang="en-US" altLang="zh-CN" sz="2800" dirty="0">
                <a:latin typeface="Arial" panose="020B0604020202020204" pitchFamily="34" charset="0"/>
              </a:rPr>
              <a:t>10.5.3 Spark</a:t>
            </a:r>
            <a:r>
              <a:rPr lang="zh-CN" altLang="en-US" sz="2800" dirty="0">
                <a:latin typeface="Arial" panose="020B0604020202020204" pitchFamily="34" charset="0"/>
              </a:rPr>
              <a:t>应用程序</a:t>
            </a:r>
            <a:r>
              <a:rPr lang="en-US" altLang="zh-CN" sz="2800" dirty="0">
                <a:latin typeface="Arial" panose="020B0604020202020204" pitchFamily="34" charset="0"/>
              </a:rPr>
              <a:t>	</a:t>
            </a:r>
            <a:endParaRPr lang="zh-CN" altLang="en-US" sz="2800" dirty="0">
              <a:latin typeface="Arial" panose="020B0604020202020204" pitchFamily="34" charset="0"/>
            </a:endParaRPr>
          </a:p>
        </p:txBody>
      </p:sp>
      <p:sp>
        <p:nvSpPr>
          <p:cNvPr id="50180" name="TextBox 3"/>
          <p:cNvSpPr txBox="1"/>
          <p:nvPr/>
        </p:nvSpPr>
        <p:spPr>
          <a:xfrm>
            <a:off x="1133475" y="4800600"/>
            <a:ext cx="7917180" cy="3683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r>
              <a:rPr lang="en-US" altLang="zh-CN" dirty="0">
                <a:latin typeface="Arial" panose="020B0604020202020204" pitchFamily="34" charset="0"/>
              </a:rPr>
              <a:t>Spark</a:t>
            </a:r>
            <a:r>
              <a:rPr lang="zh-CN" altLang="en-US" dirty="0">
                <a:latin typeface="Arial" panose="020B0604020202020204" pitchFamily="34" charset="0"/>
              </a:rPr>
              <a:t>上机实践详细过程，请参考地址：</a:t>
            </a:r>
            <a:r>
              <a:rPr lang="en-US" altLang="zh-CN" dirty="0">
                <a:latin typeface="Arial" panose="020B0604020202020204" pitchFamily="34" charset="0"/>
              </a:rPr>
              <a:t>http://dblab.xmu.edu.cn/blog/2501-2/</a:t>
            </a:r>
            <a:endParaRPr lang="zh-CN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/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标题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lstStyle/>
          <a:p>
            <a:r>
              <a:rPr lang="en-US" altLang="zh-CN" b="1" dirty="0"/>
              <a:t>Spark</a:t>
            </a:r>
            <a:r>
              <a:rPr lang="zh-CN" altLang="en-US" b="1" dirty="0"/>
              <a:t>安装</a:t>
            </a:r>
            <a:endParaRPr lang="zh-CN" altLang="en-US" b="1" dirty="0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57CE09-A6DF-4F65-B9AD-CB157D51E68C}" type="slidenum">
              <a:rPr lang="zh-CN" altLang="en-US" smtClean="0"/>
            </a:fld>
            <a:endParaRPr lang="zh-CN" altLang="en-US"/>
          </a:p>
        </p:txBody>
      </p:sp>
      <p:sp>
        <p:nvSpPr>
          <p:cNvPr id="51203" name="矩形 3"/>
          <p:cNvSpPr/>
          <p:nvPr/>
        </p:nvSpPr>
        <p:spPr>
          <a:xfrm>
            <a:off x="1289050" y="1371600"/>
            <a:ext cx="8073390" cy="119888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r>
              <a:rPr lang="zh-CN" altLang="en-US" sz="2400" dirty="0">
                <a:latin typeface="Arial" panose="020B0604020202020204" pitchFamily="34" charset="0"/>
              </a:rPr>
              <a:t>注意：安装</a:t>
            </a:r>
            <a:r>
              <a:rPr lang="en-US" altLang="zh-CN" sz="2400" dirty="0">
                <a:latin typeface="Arial" panose="020B0604020202020204" pitchFamily="34" charset="0"/>
              </a:rPr>
              <a:t>Spark</a:t>
            </a:r>
            <a:r>
              <a:rPr lang="zh-CN" altLang="en-US" sz="2400" dirty="0">
                <a:latin typeface="Arial" panose="020B0604020202020204" pitchFamily="34" charset="0"/>
              </a:rPr>
              <a:t>之前需要安装</a:t>
            </a:r>
            <a:r>
              <a:rPr lang="en-US" altLang="zh-CN" sz="2400" dirty="0">
                <a:latin typeface="Arial" panose="020B0604020202020204" pitchFamily="34" charset="0"/>
              </a:rPr>
              <a:t>Java</a:t>
            </a:r>
            <a:r>
              <a:rPr lang="zh-CN" altLang="zh-CN" sz="2400" dirty="0">
                <a:latin typeface="Arial" panose="020B0604020202020204" pitchFamily="34" charset="0"/>
              </a:rPr>
              <a:t>环境和</a:t>
            </a:r>
            <a:r>
              <a:rPr lang="en-US" altLang="zh-CN" sz="2400" dirty="0">
                <a:latin typeface="Arial" panose="020B0604020202020204" pitchFamily="34" charset="0"/>
              </a:rPr>
              <a:t>Hadoop</a:t>
            </a:r>
            <a:r>
              <a:rPr lang="zh-CN" altLang="zh-CN" sz="2400" dirty="0">
                <a:latin typeface="Arial" panose="020B0604020202020204" pitchFamily="34" charset="0"/>
              </a:rPr>
              <a:t>环境</a:t>
            </a:r>
            <a:r>
              <a:rPr lang="zh-CN" altLang="en-US" sz="2400" dirty="0">
                <a:latin typeface="Arial" panose="020B0604020202020204" pitchFamily="34" charset="0"/>
              </a:rPr>
              <a:t>。</a:t>
            </a:r>
            <a:endParaRPr lang="en-US" altLang="zh-CN" sz="2400" dirty="0">
              <a:latin typeface="Arial" panose="020B0604020202020204" pitchFamily="34" charset="0"/>
            </a:endParaRPr>
          </a:p>
          <a:p>
            <a:pPr>
              <a:buFontTx/>
              <a:buChar char="•"/>
            </a:pPr>
            <a:r>
              <a:rPr lang="en-US" altLang="zh-CN" sz="2400" dirty="0">
                <a:latin typeface="Arial" panose="020B0604020202020204" pitchFamily="34" charset="0"/>
              </a:rPr>
              <a:t>Spark</a:t>
            </a:r>
            <a:r>
              <a:rPr lang="zh-CN" altLang="en-US" sz="2400" dirty="0">
                <a:latin typeface="Arial" panose="020B0604020202020204" pitchFamily="34" charset="0"/>
              </a:rPr>
              <a:t>下载地址：</a:t>
            </a:r>
            <a:r>
              <a:rPr lang="en-US" altLang="zh-CN" sz="2400" dirty="0">
                <a:latin typeface="Arial" panose="020B0604020202020204" pitchFamily="34" charset="0"/>
              </a:rPr>
              <a:t> </a:t>
            </a:r>
            <a:r>
              <a:rPr lang="en-US" altLang="zh-CN" sz="2400" dirty="0">
                <a:latin typeface="Arial" panose="020B0604020202020204" pitchFamily="34" charset="0"/>
                <a:hlinkClick r:id="rId1"/>
              </a:rPr>
              <a:t>http://spark.apache.org</a:t>
            </a:r>
            <a:endParaRPr lang="en-US" altLang="zh-CN" sz="2400" dirty="0">
              <a:latin typeface="Arial" panose="020B0604020202020204" pitchFamily="34" charset="0"/>
            </a:endParaRPr>
          </a:p>
          <a:p>
            <a:endParaRPr lang="en-US" altLang="zh-CN" sz="2400" dirty="0">
              <a:latin typeface="Arial" panose="020B0604020202020204" pitchFamily="34" charset="0"/>
            </a:endParaRPr>
          </a:p>
        </p:txBody>
      </p:sp>
      <p:sp>
        <p:nvSpPr>
          <p:cNvPr id="51204" name="TextBox 7"/>
          <p:cNvSpPr txBox="1"/>
          <p:nvPr/>
        </p:nvSpPr>
        <p:spPr>
          <a:xfrm>
            <a:off x="1193165" y="2306955"/>
            <a:ext cx="9526905" cy="156845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r>
              <a:rPr lang="zh-CN" altLang="zh-CN" sz="2400" dirty="0">
                <a:latin typeface="Arial" panose="020B0604020202020204" pitchFamily="34" charset="0"/>
              </a:rPr>
              <a:t>登录</a:t>
            </a:r>
            <a:r>
              <a:rPr lang="en-US" altLang="zh-CN" sz="2400" dirty="0">
                <a:latin typeface="Arial" panose="020B0604020202020204" pitchFamily="34" charset="0"/>
              </a:rPr>
              <a:t>Linux</a:t>
            </a:r>
            <a:r>
              <a:rPr lang="zh-CN" altLang="zh-CN" sz="2400" dirty="0">
                <a:latin typeface="Arial" panose="020B0604020202020204" pitchFamily="34" charset="0"/>
              </a:rPr>
              <a:t>系统（本教程统一采用</a:t>
            </a:r>
            <a:r>
              <a:rPr lang="en-US" altLang="zh-CN" sz="2400" dirty="0">
                <a:latin typeface="Arial" panose="020B0604020202020204" pitchFamily="34" charset="0"/>
              </a:rPr>
              <a:t>hadoop</a:t>
            </a:r>
            <a:r>
              <a:rPr lang="zh-CN" altLang="zh-CN" sz="2400" dirty="0">
                <a:latin typeface="Arial" panose="020B0604020202020204" pitchFamily="34" charset="0"/>
              </a:rPr>
              <a:t>用户登录），打开浏览器，访问</a:t>
            </a:r>
            <a:r>
              <a:rPr lang="en-US" altLang="zh-CN" sz="2400" dirty="0">
                <a:latin typeface="Arial" panose="020B0604020202020204" pitchFamily="34" charset="0"/>
              </a:rPr>
              <a:t>Spark</a:t>
            </a:r>
            <a:r>
              <a:rPr lang="zh-CN" altLang="zh-CN" sz="2400" dirty="0">
                <a:latin typeface="Arial" panose="020B0604020202020204" pitchFamily="34" charset="0"/>
              </a:rPr>
              <a:t>官网（</a:t>
            </a:r>
            <a:r>
              <a:rPr lang="en-US" altLang="zh-CN" sz="2400" dirty="0">
                <a:latin typeface="Arial" panose="020B0604020202020204" pitchFamily="34" charset="0"/>
              </a:rPr>
              <a:t>https://archive.apache.org/dist/spark/spark-2.4.0/</a:t>
            </a:r>
            <a:r>
              <a:rPr lang="zh-CN" altLang="zh-CN" sz="2400" dirty="0">
                <a:latin typeface="Arial" panose="020B0604020202020204" pitchFamily="34" charset="0"/>
              </a:rPr>
              <a:t>）（如</a:t>
            </a:r>
            <a:r>
              <a:rPr lang="zh-CN" altLang="en-US" sz="2400" dirty="0">
                <a:latin typeface="Arial" panose="020B0604020202020204" pitchFamily="34" charset="0"/>
              </a:rPr>
              <a:t>下</a:t>
            </a:r>
            <a:r>
              <a:rPr lang="zh-CN" altLang="zh-CN" sz="2400" dirty="0">
                <a:latin typeface="Arial" panose="020B0604020202020204" pitchFamily="34" charset="0"/>
              </a:rPr>
              <a:t>图所示），在页面中选择下载“</a:t>
            </a:r>
            <a:r>
              <a:rPr lang="en-US" altLang="zh-CN" sz="2400" dirty="0">
                <a:latin typeface="Arial" panose="020B0604020202020204" pitchFamily="34" charset="0"/>
              </a:rPr>
              <a:t>spark-2.4.0-bin-without-hadoop.tgz</a:t>
            </a:r>
            <a:r>
              <a:rPr lang="zh-CN" altLang="zh-CN" sz="2400" dirty="0">
                <a:latin typeface="Arial" panose="020B0604020202020204" pitchFamily="34" charset="0"/>
              </a:rPr>
              <a:t>”。假设下载后的文件被保存在“</a:t>
            </a:r>
            <a:r>
              <a:rPr lang="en-US" altLang="zh-CN" sz="2400" dirty="0">
                <a:latin typeface="Arial" panose="020B0604020202020204" pitchFamily="34" charset="0"/>
              </a:rPr>
              <a:t>~/Downloads</a:t>
            </a:r>
            <a:r>
              <a:rPr lang="zh-CN" altLang="zh-CN" sz="2400" dirty="0">
                <a:latin typeface="Arial" panose="020B0604020202020204" pitchFamily="34" charset="0"/>
              </a:rPr>
              <a:t>”目录下。</a:t>
            </a:r>
            <a:endParaRPr lang="zh-CN" altLang="zh-CN" sz="2400" dirty="0">
              <a:latin typeface="Arial" panose="020B0604020202020204" pitchFamily="34" charset="0"/>
            </a:endParaRPr>
          </a:p>
        </p:txBody>
      </p:sp>
      <p:pic>
        <p:nvPicPr>
          <p:cNvPr id="51205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35885" y="4077970"/>
            <a:ext cx="6692265" cy="205232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/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标题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lstStyle/>
          <a:p>
            <a:r>
              <a:rPr lang="en-US" altLang="zh-CN" b="1" dirty="0"/>
              <a:t>Spark</a:t>
            </a:r>
            <a:r>
              <a:rPr lang="zh-CN" altLang="en-US" b="1" dirty="0"/>
              <a:t>安装</a:t>
            </a:r>
            <a:endParaRPr lang="zh-CN" altLang="en-US" b="1" dirty="0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57CE09-A6DF-4F65-B9AD-CB157D51E68C}" type="slidenum">
              <a:rPr lang="zh-CN" altLang="en-US" smtClean="0"/>
            </a:fld>
            <a:endParaRPr lang="zh-CN" altLang="en-US"/>
          </a:p>
        </p:txBody>
      </p:sp>
      <p:sp>
        <p:nvSpPr>
          <p:cNvPr id="52227" name="矩形 3"/>
          <p:cNvSpPr/>
          <p:nvPr/>
        </p:nvSpPr>
        <p:spPr>
          <a:xfrm>
            <a:off x="1156970" y="1442720"/>
            <a:ext cx="8918575" cy="523113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Arial" panose="020B0604020202020204" pitchFamily="34" charset="0"/>
              </a:rPr>
              <a:t>解压安装包</a:t>
            </a:r>
            <a:r>
              <a:rPr lang="en-US" altLang="zh-CN" sz="2000" dirty="0">
                <a:latin typeface="Arial" panose="020B0604020202020204" pitchFamily="34" charset="0"/>
              </a:rPr>
              <a:t>spark-2.4.0-bin-without-hadoop.tgz</a:t>
            </a:r>
            <a:r>
              <a:rPr lang="zh-CN" altLang="en-US" sz="2000" dirty="0">
                <a:latin typeface="Arial" panose="020B0604020202020204" pitchFamily="34" charset="0"/>
              </a:rPr>
              <a:t>至路径 </a:t>
            </a:r>
            <a:r>
              <a:rPr lang="en-US" altLang="zh-CN" sz="2000" dirty="0">
                <a:latin typeface="Arial" panose="020B0604020202020204" pitchFamily="34" charset="0"/>
              </a:rPr>
              <a:t>/usr/local</a:t>
            </a:r>
            <a:r>
              <a:rPr lang="zh-CN" altLang="zh-CN" sz="2000" dirty="0">
                <a:latin typeface="Arial" panose="020B0604020202020204" pitchFamily="34" charset="0"/>
              </a:rPr>
              <a:t>：</a:t>
            </a:r>
            <a:endParaRPr lang="zh-CN" altLang="zh-CN" sz="2000" dirty="0">
              <a:latin typeface="Arial" panose="020B0604020202020204" pitchFamily="34" charset="0"/>
            </a:endParaRPr>
          </a:p>
          <a:p>
            <a:r>
              <a:rPr lang="en-US" altLang="zh-CN" sz="2000" dirty="0">
                <a:latin typeface="Arial" panose="020B0604020202020204" pitchFamily="34" charset="0"/>
              </a:rPr>
              <a:t> </a:t>
            </a:r>
            <a:endParaRPr lang="en-US" altLang="zh-CN" sz="2000" dirty="0">
              <a:latin typeface="Arial" panose="020B0604020202020204" pitchFamily="34" charset="0"/>
            </a:endParaRPr>
          </a:p>
          <a:p>
            <a:endParaRPr lang="zh-CN" altLang="zh-CN" sz="2000" dirty="0">
              <a:latin typeface="Arial" panose="020B0604020202020204" pitchFamily="34" charset="0"/>
            </a:endParaRPr>
          </a:p>
          <a:p>
            <a:r>
              <a:rPr lang="en-US" altLang="zh-CN" dirty="0">
                <a:latin typeface="Arial" panose="020B0604020202020204" pitchFamily="34" charset="0"/>
              </a:rPr>
              <a:t>$ cd /usr/local</a:t>
            </a:r>
            <a:endParaRPr lang="zh-CN" altLang="zh-CN" dirty="0">
              <a:latin typeface="Arial" panose="020B0604020202020204" pitchFamily="34" charset="0"/>
            </a:endParaRPr>
          </a:p>
          <a:p>
            <a:r>
              <a:rPr lang="en-US" altLang="zh-CN" dirty="0">
                <a:latin typeface="Arial" panose="020B0604020202020204" pitchFamily="34" charset="0"/>
              </a:rPr>
              <a:t>$ sudo mv ./spark-2.4.0-bin-without-hadoop/ ./spark   # </a:t>
            </a:r>
            <a:r>
              <a:rPr lang="zh-CN" altLang="zh-CN" dirty="0">
                <a:latin typeface="Arial" panose="020B0604020202020204" pitchFamily="34" charset="0"/>
              </a:rPr>
              <a:t>更改文件夹名</a:t>
            </a:r>
            <a:endParaRPr lang="zh-CN" altLang="zh-CN" dirty="0">
              <a:latin typeface="Arial" panose="020B0604020202020204" pitchFamily="34" charset="0"/>
            </a:endParaRPr>
          </a:p>
          <a:p>
            <a:r>
              <a:rPr lang="en-US" altLang="zh-CN" dirty="0">
                <a:latin typeface="Arial" panose="020B0604020202020204" pitchFamily="34" charset="0"/>
              </a:rPr>
              <a:t>$ sudo chown -R hadoop ./spark                   # </a:t>
            </a:r>
            <a:r>
              <a:rPr lang="zh-CN" altLang="zh-CN" dirty="0">
                <a:latin typeface="Arial" panose="020B0604020202020204" pitchFamily="34" charset="0"/>
              </a:rPr>
              <a:t>此处的</a:t>
            </a:r>
            <a:r>
              <a:rPr lang="en-US" altLang="zh-CN" dirty="0">
                <a:latin typeface="Arial" panose="020B0604020202020204" pitchFamily="34" charset="0"/>
              </a:rPr>
              <a:t> hadoop </a:t>
            </a:r>
            <a:r>
              <a:rPr lang="zh-CN" altLang="zh-CN" dirty="0">
                <a:latin typeface="Arial" panose="020B0604020202020204" pitchFamily="34" charset="0"/>
              </a:rPr>
              <a:t>为系统用户名</a:t>
            </a:r>
            <a:endParaRPr lang="zh-CN" altLang="zh-CN" dirty="0">
              <a:latin typeface="Arial" panose="020B0604020202020204" pitchFamily="34" charset="0"/>
            </a:endParaRPr>
          </a:p>
          <a:p>
            <a:r>
              <a:rPr lang="en-US" altLang="zh-CN" sz="2000" dirty="0">
                <a:latin typeface="Arial" panose="020B0604020202020204" pitchFamily="34" charset="0"/>
              </a:rPr>
              <a:t> </a:t>
            </a:r>
            <a:endParaRPr lang="zh-CN" altLang="zh-CN" sz="2000" dirty="0">
              <a:latin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Arial" panose="020B0604020202020204" pitchFamily="34" charset="0"/>
              </a:rPr>
              <a:t>配置</a:t>
            </a:r>
            <a:r>
              <a:rPr lang="en-US" altLang="zh-CN" sz="2000" dirty="0">
                <a:latin typeface="Arial" panose="020B0604020202020204" pitchFamily="34" charset="0"/>
              </a:rPr>
              <a:t>Spark </a:t>
            </a:r>
            <a:r>
              <a:rPr lang="zh-CN" altLang="en-US" sz="2000" dirty="0">
                <a:latin typeface="Arial" panose="020B0604020202020204" pitchFamily="34" charset="0"/>
              </a:rPr>
              <a:t>的</a:t>
            </a:r>
            <a:r>
              <a:rPr lang="en-US" altLang="zh-CN" sz="2000" dirty="0">
                <a:latin typeface="Arial" panose="020B0604020202020204" pitchFamily="34" charset="0"/>
              </a:rPr>
              <a:t>Classpath</a:t>
            </a:r>
            <a:r>
              <a:rPr lang="zh-CN" altLang="zh-CN" sz="2000" dirty="0">
                <a:latin typeface="Arial" panose="020B0604020202020204" pitchFamily="34" charset="0"/>
              </a:rPr>
              <a:t>。</a:t>
            </a:r>
            <a:endParaRPr lang="zh-CN" altLang="zh-CN" sz="2000" dirty="0">
              <a:latin typeface="Arial" panose="020B0604020202020204" pitchFamily="34" charset="0"/>
            </a:endParaRPr>
          </a:p>
          <a:p>
            <a:r>
              <a:rPr lang="en-US" altLang="zh-CN" sz="2000" dirty="0">
                <a:latin typeface="Arial" panose="020B0604020202020204" pitchFamily="34" charset="0"/>
              </a:rPr>
              <a:t> </a:t>
            </a:r>
            <a:endParaRPr lang="zh-CN" altLang="zh-CN" sz="2000" dirty="0">
              <a:latin typeface="Arial" panose="020B0604020202020204" pitchFamily="34" charset="0"/>
            </a:endParaRPr>
          </a:p>
          <a:p>
            <a:endParaRPr lang="zh-CN" altLang="zh-CN" sz="2000" dirty="0">
              <a:latin typeface="Arial" panose="020B0604020202020204" pitchFamily="34" charset="0"/>
            </a:endParaRPr>
          </a:p>
          <a:p>
            <a:r>
              <a:rPr lang="en-US" altLang="zh-CN" sz="2000" dirty="0">
                <a:latin typeface="Arial" panose="020B0604020202020204" pitchFamily="34" charset="0"/>
              </a:rPr>
              <a:t> </a:t>
            </a:r>
            <a:endParaRPr lang="zh-CN" altLang="zh-CN" sz="2000" dirty="0">
              <a:latin typeface="Arial" panose="020B0604020202020204" pitchFamily="34" charset="0"/>
            </a:endParaRPr>
          </a:p>
          <a:p>
            <a:r>
              <a:rPr lang="zh-CN" altLang="zh-CN" sz="2000" dirty="0">
                <a:latin typeface="Arial" panose="020B0604020202020204" pitchFamily="34" charset="0"/>
              </a:rPr>
              <a:t>编辑该</a:t>
            </a:r>
            <a:r>
              <a:rPr lang="zh-CN" altLang="zh-CN" sz="2000" dirty="0">
                <a:highlight>
                  <a:srgbClr val="FFFF00"/>
                </a:highlight>
                <a:latin typeface="Arial" panose="020B0604020202020204" pitchFamily="34" charset="0"/>
              </a:rPr>
              <a:t>配置文件</a:t>
            </a:r>
            <a:r>
              <a:rPr lang="zh-CN" altLang="zh-CN" sz="2000" dirty="0">
                <a:latin typeface="Arial" panose="020B0604020202020204" pitchFamily="34" charset="0"/>
              </a:rPr>
              <a:t>，在文件最后面加上如下一行内容：</a:t>
            </a:r>
            <a:endParaRPr lang="zh-CN" altLang="zh-CN" sz="2000" dirty="0">
              <a:latin typeface="Arial" panose="020B0604020202020204" pitchFamily="34" charset="0"/>
            </a:endParaRPr>
          </a:p>
          <a:p>
            <a:r>
              <a:rPr lang="en-US" altLang="zh-CN" sz="2000" dirty="0">
                <a:latin typeface="Arial" panose="020B0604020202020204" pitchFamily="34" charset="0"/>
              </a:rPr>
              <a:t> </a:t>
            </a:r>
            <a:endParaRPr lang="zh-CN" altLang="zh-CN" sz="2000" dirty="0">
              <a:latin typeface="Arial" panose="020B0604020202020204" pitchFamily="34" charset="0"/>
            </a:endParaRPr>
          </a:p>
          <a:p>
            <a:r>
              <a:rPr lang="en-US" altLang="zh-CN" sz="2000" dirty="0">
                <a:latin typeface="Arial" panose="020B0604020202020204" pitchFamily="34" charset="0"/>
              </a:rPr>
              <a:t> </a:t>
            </a:r>
            <a:endParaRPr lang="zh-CN" altLang="zh-CN" sz="2000" dirty="0">
              <a:latin typeface="Arial" panose="020B0604020202020204" pitchFamily="34" charset="0"/>
            </a:endParaRPr>
          </a:p>
          <a:p>
            <a:r>
              <a:rPr lang="zh-CN" altLang="zh-CN" sz="2000" dirty="0">
                <a:latin typeface="Arial" panose="020B0604020202020204" pitchFamily="34" charset="0"/>
              </a:rPr>
              <a:t>保存配置文件后，就可以启动、运行</a:t>
            </a:r>
            <a:r>
              <a:rPr lang="en-US" altLang="zh-CN" sz="2000" dirty="0">
                <a:latin typeface="Arial" panose="020B0604020202020204" pitchFamily="34" charset="0"/>
              </a:rPr>
              <a:t>Spark</a:t>
            </a:r>
            <a:r>
              <a:rPr lang="zh-CN" altLang="zh-CN" sz="2000" dirty="0">
                <a:latin typeface="Arial" panose="020B0604020202020204" pitchFamily="34" charset="0"/>
              </a:rPr>
              <a:t>了。</a:t>
            </a:r>
            <a:r>
              <a:rPr lang="en-US" altLang="zh-CN" sz="2000" dirty="0">
                <a:latin typeface="Arial" panose="020B0604020202020204" pitchFamily="34" charset="0"/>
              </a:rPr>
              <a:t>Spark</a:t>
            </a:r>
            <a:r>
              <a:rPr lang="zh-CN" altLang="zh-CN" sz="2000" dirty="0">
                <a:latin typeface="Arial" panose="020B0604020202020204" pitchFamily="34" charset="0"/>
              </a:rPr>
              <a:t>包含多种运行模式</a:t>
            </a:r>
            <a:r>
              <a:rPr lang="zh-CN" altLang="en-US" sz="2000" dirty="0">
                <a:latin typeface="Arial" panose="020B0604020202020204" pitchFamily="34" charset="0"/>
              </a:rPr>
              <a:t>：</a:t>
            </a:r>
            <a:r>
              <a:rPr lang="zh-CN" altLang="zh-CN" sz="2000" dirty="0">
                <a:latin typeface="Arial" panose="020B0604020202020204" pitchFamily="34" charset="0"/>
              </a:rPr>
              <a:t>单机模式</a:t>
            </a:r>
            <a:r>
              <a:rPr lang="zh-CN" altLang="en-US" sz="2000" dirty="0">
                <a:latin typeface="Arial" panose="020B0604020202020204" pitchFamily="34" charset="0"/>
              </a:rPr>
              <a:t>、</a:t>
            </a:r>
            <a:r>
              <a:rPr lang="zh-CN" altLang="zh-CN" sz="2000" dirty="0">
                <a:latin typeface="Arial" panose="020B0604020202020204" pitchFamily="34" charset="0"/>
              </a:rPr>
              <a:t>伪分布式</a:t>
            </a:r>
            <a:r>
              <a:rPr lang="zh-CN" altLang="en-US" sz="2000" dirty="0">
                <a:latin typeface="Arial" panose="020B0604020202020204" pitchFamily="34" charset="0"/>
              </a:rPr>
              <a:t>模式</a:t>
            </a:r>
            <a:r>
              <a:rPr lang="zh-CN" altLang="zh-CN" sz="2000" dirty="0">
                <a:latin typeface="Arial" panose="020B0604020202020204" pitchFamily="34" charset="0"/>
              </a:rPr>
              <a:t>、完全分布式模式</a:t>
            </a:r>
            <a:r>
              <a:rPr lang="zh-CN" altLang="en-US" sz="2000" dirty="0">
                <a:latin typeface="Arial" panose="020B0604020202020204" pitchFamily="34" charset="0"/>
              </a:rPr>
              <a:t>。</a:t>
            </a:r>
            <a:r>
              <a:rPr lang="zh-CN" altLang="zh-CN" sz="2000" dirty="0">
                <a:latin typeface="Arial" panose="020B0604020202020204" pitchFamily="34" charset="0"/>
              </a:rPr>
              <a:t>本章使用</a:t>
            </a:r>
            <a:r>
              <a:rPr lang="zh-CN" altLang="zh-CN" sz="2000" dirty="0">
                <a:highlight>
                  <a:srgbClr val="FFFF00"/>
                </a:highlight>
                <a:latin typeface="Arial" panose="020B0604020202020204" pitchFamily="34" charset="0"/>
              </a:rPr>
              <a:t>单机模式</a:t>
            </a:r>
            <a:r>
              <a:rPr lang="zh-CN" altLang="zh-CN" sz="2000" dirty="0">
                <a:latin typeface="Arial" panose="020B0604020202020204" pitchFamily="34" charset="0"/>
              </a:rPr>
              <a:t>运行</a:t>
            </a:r>
            <a:r>
              <a:rPr lang="en-US" altLang="zh-CN" sz="2000" dirty="0">
                <a:latin typeface="Arial" panose="020B0604020202020204" pitchFamily="34" charset="0"/>
              </a:rPr>
              <a:t>Spark</a:t>
            </a:r>
            <a:r>
              <a:rPr lang="zh-CN" altLang="zh-CN" sz="2000" dirty="0">
                <a:latin typeface="Arial" panose="020B0604020202020204" pitchFamily="34" charset="0"/>
              </a:rPr>
              <a:t>。</a:t>
            </a:r>
            <a:r>
              <a:rPr lang="zh-CN" altLang="en-US" sz="2000" dirty="0">
                <a:latin typeface="Arial" panose="020B0604020202020204" pitchFamily="34" charset="0"/>
              </a:rPr>
              <a:t>若</a:t>
            </a:r>
            <a:r>
              <a:rPr lang="zh-CN" altLang="zh-CN" sz="2000" dirty="0">
                <a:latin typeface="Arial" panose="020B0604020202020204" pitchFamily="34" charset="0"/>
              </a:rPr>
              <a:t>需要使用</a:t>
            </a:r>
            <a:r>
              <a:rPr lang="en-US" altLang="zh-CN" sz="2000" dirty="0">
                <a:latin typeface="Arial" panose="020B0604020202020204" pitchFamily="34" charset="0"/>
              </a:rPr>
              <a:t>HDFS</a:t>
            </a:r>
            <a:r>
              <a:rPr lang="zh-CN" altLang="zh-CN" sz="2000" dirty="0">
                <a:latin typeface="Arial" panose="020B0604020202020204" pitchFamily="34" charset="0"/>
              </a:rPr>
              <a:t>中的文件，则在使用</a:t>
            </a:r>
            <a:r>
              <a:rPr lang="en-US" altLang="zh-CN" sz="2000" dirty="0">
                <a:latin typeface="Arial" panose="020B0604020202020204" pitchFamily="34" charset="0"/>
              </a:rPr>
              <a:t>Spark</a:t>
            </a:r>
            <a:r>
              <a:rPr lang="zh-CN" altLang="zh-CN" sz="2000" dirty="0">
                <a:latin typeface="Arial" panose="020B0604020202020204" pitchFamily="34" charset="0"/>
              </a:rPr>
              <a:t>前需要启动</a:t>
            </a:r>
            <a:r>
              <a:rPr lang="en-US" altLang="zh-CN" sz="2000" dirty="0">
                <a:latin typeface="Arial" panose="020B0604020202020204" pitchFamily="34" charset="0"/>
              </a:rPr>
              <a:t>Hadoop</a:t>
            </a:r>
            <a:r>
              <a:rPr lang="zh-CN" altLang="zh-CN" sz="2000" dirty="0">
                <a:latin typeface="Arial" panose="020B0604020202020204" pitchFamily="34" charset="0"/>
              </a:rPr>
              <a:t>。</a:t>
            </a:r>
            <a:endParaRPr lang="zh-CN" altLang="zh-CN" sz="2000" dirty="0">
              <a:latin typeface="Arial" panose="020B0604020202020204" pitchFamily="34" charset="0"/>
            </a:endParaRPr>
          </a:p>
        </p:txBody>
      </p:sp>
      <p:sp>
        <p:nvSpPr>
          <p:cNvPr id="52228" name="TextBox 4"/>
          <p:cNvSpPr txBox="1"/>
          <p:nvPr/>
        </p:nvSpPr>
        <p:spPr>
          <a:xfrm>
            <a:off x="1981200" y="1676400"/>
            <a:ext cx="7543800" cy="33718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r>
              <a:rPr lang="en-US" altLang="zh-CN" sz="1600" dirty="0">
                <a:latin typeface="Arial" panose="020B0604020202020204" pitchFamily="34" charset="0"/>
              </a:rPr>
              <a:t>$ sudo tar -zxf ~/Downloads/spark-2.4.0-bin-without-hadoop.tgz -C /usr/local/</a:t>
            </a:r>
            <a:endParaRPr lang="zh-CN" altLang="en-US" sz="1600" dirty="0">
              <a:latin typeface="Arial" panose="020B0604020202020204" pitchFamily="34" charset="0"/>
            </a:endParaRPr>
          </a:p>
        </p:txBody>
      </p:sp>
      <p:sp>
        <p:nvSpPr>
          <p:cNvPr id="52229" name="TextBox 5"/>
          <p:cNvSpPr txBox="1"/>
          <p:nvPr/>
        </p:nvSpPr>
        <p:spPr>
          <a:xfrm>
            <a:off x="1875790" y="3893185"/>
            <a:ext cx="7543800" cy="58356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r>
              <a:rPr lang="en-US" altLang="zh-CN" sz="1600" dirty="0">
                <a:latin typeface="Arial" panose="020B0604020202020204" pitchFamily="34" charset="0"/>
              </a:rPr>
              <a:t>$ cd /usr/local/spark</a:t>
            </a:r>
            <a:endParaRPr lang="zh-CN" altLang="zh-CN" sz="1600" dirty="0">
              <a:latin typeface="Arial" panose="020B0604020202020204" pitchFamily="34" charset="0"/>
            </a:endParaRPr>
          </a:p>
          <a:p>
            <a:r>
              <a:rPr lang="en-US" altLang="zh-CN" sz="1600" dirty="0">
                <a:latin typeface="Arial" panose="020B0604020202020204" pitchFamily="34" charset="0"/>
              </a:rPr>
              <a:t>$ cp ./conf/spark-env.sh.template ./conf/spark-env.sh   #</a:t>
            </a:r>
            <a:r>
              <a:rPr lang="zh-CN" altLang="zh-CN" sz="1600" dirty="0">
                <a:latin typeface="Arial" panose="020B0604020202020204" pitchFamily="34" charset="0"/>
              </a:rPr>
              <a:t>拷贝配置文件</a:t>
            </a:r>
            <a:endParaRPr lang="zh-CN" altLang="en-US" sz="1600" dirty="0">
              <a:latin typeface="Arial" panose="020B0604020202020204" pitchFamily="34" charset="0"/>
            </a:endParaRPr>
          </a:p>
        </p:txBody>
      </p:sp>
      <p:sp>
        <p:nvSpPr>
          <p:cNvPr id="52230" name="TextBox 6"/>
          <p:cNvSpPr txBox="1"/>
          <p:nvPr/>
        </p:nvSpPr>
        <p:spPr>
          <a:xfrm>
            <a:off x="1981200" y="5119370"/>
            <a:ext cx="7543800" cy="33718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r>
              <a:rPr lang="en-US" altLang="zh-CN" sz="1600" dirty="0">
                <a:latin typeface="Arial" panose="020B0604020202020204" pitchFamily="34" charset="0"/>
              </a:rPr>
              <a:t>export SPARK_DIST_CLASSPATH=$(/usr/local/hadoop/bin/hadoop classpath)</a:t>
            </a:r>
            <a:endParaRPr lang="zh-CN" altLang="zh-CN" sz="1600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/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标题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lstStyle/>
          <a:p>
            <a:r>
              <a:rPr lang="en-US" altLang="zh-CN" b="1" dirty="0"/>
              <a:t>10.5.1</a:t>
            </a:r>
            <a:r>
              <a:rPr lang="zh-CN" altLang="en-US" b="1" dirty="0"/>
              <a:t>启动</a:t>
            </a:r>
            <a:r>
              <a:rPr lang="en-US" altLang="zh-CN" b="1" dirty="0"/>
              <a:t>Spark Shell</a:t>
            </a:r>
            <a:endParaRPr lang="zh-CN" altLang="en-US" b="1" dirty="0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57CE09-A6DF-4F65-B9AD-CB157D51E68C}" type="slidenum">
              <a:rPr lang="zh-CN" altLang="en-US" smtClean="0"/>
            </a:fld>
            <a:endParaRPr lang="zh-CN" altLang="en-US"/>
          </a:p>
        </p:txBody>
      </p:sp>
      <p:sp>
        <p:nvSpPr>
          <p:cNvPr id="10244" name="矩形 2"/>
          <p:cNvSpPr>
            <a:spLocks noChangeArrowheads="1"/>
          </p:cNvSpPr>
          <p:nvPr/>
        </p:nvSpPr>
        <p:spPr bwMode="auto">
          <a:xfrm>
            <a:off x="1085850" y="1414145"/>
            <a:ext cx="9552940" cy="51943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no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Spark Shell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可以以实时、交互的方式来分析数据，支持</a:t>
            </a:r>
            <a:r>
              <a:rPr kumimoji="0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Scala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和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Python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3252" name="Rectangle 2"/>
          <p:cNvSpPr/>
          <p:nvPr/>
        </p:nvSpPr>
        <p:spPr>
          <a:xfrm>
            <a:off x="1524000" y="-184150"/>
            <a:ext cx="309880" cy="3683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/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53253" name="TextBox 6"/>
          <p:cNvSpPr txBox="1"/>
          <p:nvPr/>
        </p:nvSpPr>
        <p:spPr>
          <a:xfrm>
            <a:off x="1162050" y="2002155"/>
            <a:ext cx="8153400" cy="4603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r>
              <a:rPr lang="zh-CN" altLang="en-US" sz="2400" dirty="0">
                <a:latin typeface="Arial" panose="020B0604020202020204" pitchFamily="34" charset="0"/>
              </a:rPr>
              <a:t>执行如下命令启动</a:t>
            </a:r>
            <a:r>
              <a:rPr lang="en-US" altLang="zh-CN" sz="2400" dirty="0">
                <a:latin typeface="Arial" panose="020B0604020202020204" pitchFamily="34" charset="0"/>
              </a:rPr>
              <a:t>Spark Shell</a:t>
            </a:r>
            <a:r>
              <a:rPr lang="zh-CN" altLang="en-US" sz="2400" dirty="0">
                <a:latin typeface="Arial" panose="020B0604020202020204" pitchFamily="34" charset="0"/>
              </a:rPr>
              <a:t>：</a:t>
            </a:r>
            <a:endParaRPr lang="zh-CN" altLang="en-US" sz="2400" dirty="0">
              <a:latin typeface="Arial" panose="020B0604020202020204" pitchFamily="34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524096" y="2699399"/>
            <a:ext cx="7010216" cy="460375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$ ./bin/spark-shell</a:t>
            </a:r>
            <a:endParaRPr kumimoji="0" lang="en-US" altLang="zh-CN" sz="2400" b="0" i="0" u="none" strike="noStrike" kern="1200" cap="none" spc="0" normalizeH="0" baseline="0" noProof="0" dirty="0">
              <a:ln w="18415" cmpd="sng">
                <a:solidFill>
                  <a:srgbClr val="FFFFFF"/>
                </a:solidFill>
                <a:prstDash val="solid"/>
              </a:ln>
              <a:solidFill>
                <a:schemeClr val="bg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53255" name="图片 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24000" y="4152900"/>
            <a:ext cx="7181850" cy="2286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" name="文本框 2"/>
          <p:cNvSpPr txBox="1"/>
          <p:nvPr/>
        </p:nvSpPr>
        <p:spPr>
          <a:xfrm>
            <a:off x="1162050" y="3304540"/>
            <a:ext cx="9476740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CN" altLang="en-US" sz="240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成功后在输出信息的末尾可以看到“</a:t>
            </a:r>
            <a:r>
              <a:rPr lang="en-US" altLang="zh-CN" sz="2400" noProof="0" dirty="0" err="1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Scala</a:t>
            </a:r>
            <a:r>
              <a:rPr lang="en-US" altLang="zh-CN" sz="240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 &gt;”</a:t>
            </a:r>
            <a:r>
              <a:rPr lang="zh-CN" altLang="en-US" sz="240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的命令提示符</a:t>
            </a:r>
            <a:endParaRPr lang="zh-CN" altLang="en-US" sz="2400" noProof="0" dirty="0">
              <a:ln>
                <a:noFill/>
              </a:ln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sym typeface="+mn-ea"/>
            </a:endParaRPr>
          </a:p>
        </p:txBody>
      </p:sp>
    </p:spTree>
  </p:cSld>
  <p:clrMapOvr>
    <a:masterClrMapping/>
  </p:clrMapOvr>
  <p:transition/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标题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lstStyle/>
          <a:p>
            <a:r>
              <a:rPr lang="en-US" altLang="zh-CN" b="1" dirty="0"/>
              <a:t>10.5.2 Spark RDD</a:t>
            </a:r>
            <a:r>
              <a:rPr lang="zh-CN" altLang="en-US" b="1" dirty="0"/>
              <a:t>基本操作</a:t>
            </a:r>
            <a:endParaRPr lang="zh-CN" altLang="en-US" b="1" dirty="0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57CE09-A6DF-4F65-B9AD-CB157D51E68C}" type="slidenum">
              <a:rPr lang="zh-CN" altLang="en-US" smtClean="0"/>
            </a:fld>
            <a:endParaRPr lang="zh-CN" altLang="en-US"/>
          </a:p>
        </p:txBody>
      </p:sp>
      <p:sp>
        <p:nvSpPr>
          <p:cNvPr id="54275" name="矩形 2"/>
          <p:cNvSpPr/>
          <p:nvPr/>
        </p:nvSpPr>
        <p:spPr>
          <a:xfrm>
            <a:off x="1028700" y="1427480"/>
            <a:ext cx="9295130" cy="5004435"/>
          </a:xfrm>
          <a:prstGeom prst="rect">
            <a:avLst/>
          </a:prstGeom>
          <a:noFill/>
          <a:ln w="9525">
            <a:noFill/>
          </a:ln>
        </p:spPr>
        <p:txBody>
          <a:bodyPr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altLang="zh-CN" sz="2000" dirty="0">
                <a:latin typeface="Arial" panose="020B0604020202020204" pitchFamily="34" charset="0"/>
              </a:rPr>
              <a:t>Spark</a:t>
            </a:r>
            <a:r>
              <a:rPr lang="zh-CN" altLang="zh-CN" sz="2000" dirty="0">
                <a:latin typeface="Arial" panose="020B0604020202020204" pitchFamily="34" charset="0"/>
              </a:rPr>
              <a:t>的主要操作对象是</a:t>
            </a:r>
            <a:r>
              <a:rPr lang="en-US" altLang="zh-CN" sz="2000" dirty="0">
                <a:latin typeface="Arial" panose="020B0604020202020204" pitchFamily="34" charset="0"/>
              </a:rPr>
              <a:t>RDD</a:t>
            </a:r>
            <a:r>
              <a:rPr lang="zh-CN" altLang="zh-CN" sz="2000" dirty="0">
                <a:latin typeface="Arial" panose="020B0604020202020204" pitchFamily="34" charset="0"/>
              </a:rPr>
              <a:t>，</a:t>
            </a:r>
            <a:r>
              <a:rPr lang="en-US" altLang="zh-CN" sz="2000" dirty="0">
                <a:latin typeface="Arial" panose="020B0604020202020204" pitchFamily="34" charset="0"/>
              </a:rPr>
              <a:t>RDD</a:t>
            </a:r>
            <a:r>
              <a:rPr lang="zh-CN" altLang="zh-CN" sz="2000" dirty="0">
                <a:latin typeface="Arial" panose="020B0604020202020204" pitchFamily="34" charset="0"/>
              </a:rPr>
              <a:t>可以通过多种方式灵活创建，可通过导入外部数据源建立</a:t>
            </a:r>
            <a:r>
              <a:rPr lang="zh-CN" altLang="en-US" sz="2000" dirty="0">
                <a:latin typeface="Arial" panose="020B0604020202020204" pitchFamily="34" charset="0"/>
              </a:rPr>
              <a:t>，</a:t>
            </a:r>
            <a:r>
              <a:rPr lang="zh-CN" altLang="zh-CN" sz="2000" dirty="0">
                <a:latin typeface="Arial" panose="020B0604020202020204" pitchFamily="34" charset="0"/>
              </a:rPr>
              <a:t>或者从其他的</a:t>
            </a:r>
            <a:r>
              <a:rPr lang="en-US" altLang="zh-CN" sz="2000" dirty="0">
                <a:latin typeface="Arial" panose="020B0604020202020204" pitchFamily="34" charset="0"/>
              </a:rPr>
              <a:t>RDD</a:t>
            </a:r>
            <a:r>
              <a:rPr lang="zh-CN" altLang="zh-CN" sz="2000" dirty="0">
                <a:latin typeface="Arial" panose="020B0604020202020204" pitchFamily="34" charset="0"/>
              </a:rPr>
              <a:t>转化而来。</a:t>
            </a:r>
            <a:endParaRPr lang="zh-CN" altLang="zh-CN" sz="2000" dirty="0">
              <a:latin typeface="Arial" panose="020B0604020202020204" pitchFamily="34" charset="0"/>
            </a:endParaRPr>
          </a:p>
          <a:p>
            <a:pPr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zh-CN" altLang="zh-CN" sz="2000" dirty="0">
                <a:latin typeface="Arial" panose="020B0604020202020204" pitchFamily="34" charset="0"/>
              </a:rPr>
              <a:t>在</a:t>
            </a:r>
            <a:r>
              <a:rPr lang="en-US" altLang="zh-CN" sz="2000" dirty="0">
                <a:latin typeface="Arial" panose="020B0604020202020204" pitchFamily="34" charset="0"/>
              </a:rPr>
              <a:t>Spark</a:t>
            </a:r>
            <a:r>
              <a:rPr lang="zh-CN" altLang="zh-CN" sz="2000" dirty="0">
                <a:latin typeface="Arial" panose="020B0604020202020204" pitchFamily="34" charset="0"/>
              </a:rPr>
              <a:t>程序中必须创建一个</a:t>
            </a:r>
            <a:r>
              <a:rPr lang="en-US" altLang="zh-CN" sz="2000" dirty="0">
                <a:latin typeface="Arial" panose="020B0604020202020204" pitchFamily="34" charset="0"/>
              </a:rPr>
              <a:t>SparkContext</a:t>
            </a:r>
            <a:r>
              <a:rPr lang="zh-CN" altLang="zh-CN" sz="2000" dirty="0">
                <a:latin typeface="Arial" panose="020B0604020202020204" pitchFamily="34" charset="0"/>
              </a:rPr>
              <a:t>对象，该对象是</a:t>
            </a:r>
            <a:r>
              <a:rPr lang="en-US" altLang="zh-CN" sz="2000" dirty="0">
                <a:latin typeface="Arial" panose="020B0604020202020204" pitchFamily="34" charset="0"/>
              </a:rPr>
              <a:t>Spark</a:t>
            </a:r>
            <a:r>
              <a:rPr lang="zh-CN" altLang="zh-CN" sz="2000" dirty="0">
                <a:latin typeface="Arial" panose="020B0604020202020204" pitchFamily="34" charset="0"/>
              </a:rPr>
              <a:t>程序的入口，负责创建</a:t>
            </a:r>
            <a:r>
              <a:rPr lang="en-US" altLang="zh-CN" sz="2000" dirty="0">
                <a:latin typeface="Arial" panose="020B0604020202020204" pitchFamily="34" charset="0"/>
              </a:rPr>
              <a:t>RDD</a:t>
            </a:r>
            <a:r>
              <a:rPr lang="zh-CN" altLang="zh-CN" sz="2000" dirty="0">
                <a:latin typeface="Arial" panose="020B0604020202020204" pitchFamily="34" charset="0"/>
              </a:rPr>
              <a:t>、启动任务等。在启动</a:t>
            </a:r>
            <a:r>
              <a:rPr lang="en-US" altLang="zh-CN" sz="2000" dirty="0">
                <a:latin typeface="Arial" panose="020B0604020202020204" pitchFamily="34" charset="0"/>
              </a:rPr>
              <a:t>Spark Shell</a:t>
            </a:r>
            <a:r>
              <a:rPr lang="zh-CN" altLang="zh-CN" sz="2000" dirty="0">
                <a:latin typeface="Arial" panose="020B0604020202020204" pitchFamily="34" charset="0"/>
              </a:rPr>
              <a:t>后，该对象会自动创建，可以通过</a:t>
            </a:r>
            <a:r>
              <a:rPr lang="zh-CN" altLang="zh-CN" sz="2000" dirty="0">
                <a:highlight>
                  <a:srgbClr val="FFFF00"/>
                </a:highlight>
                <a:latin typeface="Arial" panose="020B0604020202020204" pitchFamily="34" charset="0"/>
              </a:rPr>
              <a:t>变量</a:t>
            </a:r>
            <a:r>
              <a:rPr lang="en-US" altLang="zh-CN" sz="2000" dirty="0">
                <a:highlight>
                  <a:srgbClr val="FFFF00"/>
                </a:highlight>
                <a:latin typeface="Arial" panose="020B0604020202020204" pitchFamily="34" charset="0"/>
              </a:rPr>
              <a:t>sc</a:t>
            </a:r>
            <a:r>
              <a:rPr lang="zh-CN" altLang="zh-CN" sz="2000" dirty="0">
                <a:latin typeface="Arial" panose="020B0604020202020204" pitchFamily="34" charset="0"/>
              </a:rPr>
              <a:t>进行访问。</a:t>
            </a:r>
            <a:endParaRPr lang="en-US" altLang="zh-CN" sz="2000" dirty="0">
              <a:latin typeface="Arial" panose="020B0604020202020204" pitchFamily="34" charset="0"/>
            </a:endParaRP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zh-CN" altLang="zh-CN" sz="2000" dirty="0">
                <a:latin typeface="Arial" panose="020B0604020202020204" pitchFamily="34" charset="0"/>
              </a:rPr>
              <a:t>作为示例，我们选择以</a:t>
            </a:r>
            <a:r>
              <a:rPr lang="en-US" altLang="zh-CN" sz="2000" dirty="0">
                <a:latin typeface="Arial" panose="020B0604020202020204" pitchFamily="34" charset="0"/>
              </a:rPr>
              <a:t>Spark</a:t>
            </a:r>
            <a:r>
              <a:rPr lang="zh-CN" altLang="zh-CN" sz="2000" dirty="0">
                <a:latin typeface="Arial" panose="020B0604020202020204" pitchFamily="34" charset="0"/>
              </a:rPr>
              <a:t>安装目录中的</a:t>
            </a:r>
            <a:r>
              <a:rPr lang="en-US" altLang="zh-CN" sz="2000" dirty="0">
                <a:latin typeface="Arial" panose="020B0604020202020204" pitchFamily="34" charset="0"/>
              </a:rPr>
              <a:t>“README.md”</a:t>
            </a:r>
            <a:r>
              <a:rPr lang="zh-CN" altLang="zh-CN" sz="2000" dirty="0">
                <a:latin typeface="Arial" panose="020B0604020202020204" pitchFamily="34" charset="0"/>
              </a:rPr>
              <a:t>文件作为数据源新建一个</a:t>
            </a:r>
            <a:r>
              <a:rPr lang="en-US" altLang="zh-CN" sz="2000" dirty="0">
                <a:latin typeface="Arial" panose="020B0604020202020204" pitchFamily="34" charset="0"/>
              </a:rPr>
              <a:t>RDD</a:t>
            </a:r>
            <a:r>
              <a:rPr lang="zh-CN" altLang="zh-CN" sz="2000" dirty="0">
                <a:latin typeface="Arial" panose="020B0604020202020204" pitchFamily="34" charset="0"/>
              </a:rPr>
              <a:t>，代码如下：</a:t>
            </a:r>
            <a:endParaRPr lang="zh-CN" altLang="zh-CN" sz="2000" dirty="0">
              <a:latin typeface="Arial" panose="020B0604020202020204" pitchFamily="34" charset="0"/>
            </a:endParaRPr>
          </a:p>
          <a:p>
            <a:endParaRPr lang="en-US" altLang="zh-CN" sz="2000" dirty="0">
              <a:latin typeface="Arial" panose="020B0604020202020204" pitchFamily="34" charset="0"/>
            </a:endParaRPr>
          </a:p>
          <a:p>
            <a:endParaRPr lang="en-US" altLang="zh-CN" sz="2000" dirty="0">
              <a:latin typeface="Arial" panose="020B0604020202020204" pitchFamily="34" charset="0"/>
            </a:endParaRPr>
          </a:p>
          <a:p>
            <a:r>
              <a:rPr lang="en-US" altLang="zh-CN" sz="2000" dirty="0">
                <a:latin typeface="Arial" panose="020B0604020202020204" pitchFamily="34" charset="0"/>
              </a:rPr>
              <a:t> </a:t>
            </a:r>
            <a:endParaRPr lang="zh-CN" altLang="zh-CN" sz="2000" dirty="0">
              <a:latin typeface="Arial" panose="020B0604020202020204" pitchFamily="34" charset="0"/>
            </a:endParaRPr>
          </a:p>
          <a:p>
            <a:endParaRPr lang="en-US" altLang="zh-CN" sz="2000" dirty="0">
              <a:latin typeface="Arial" panose="020B0604020202020204" pitchFamily="34" charset="0"/>
            </a:endParaRPr>
          </a:p>
          <a:p>
            <a:r>
              <a:rPr lang="en-US" altLang="zh-CN" sz="2000" dirty="0">
                <a:latin typeface="Arial" panose="020B0604020202020204" pitchFamily="34" charset="0"/>
              </a:rPr>
              <a:t>Spark RDD</a:t>
            </a:r>
            <a:r>
              <a:rPr lang="zh-CN" altLang="zh-CN" sz="2000" dirty="0">
                <a:latin typeface="Arial" panose="020B0604020202020204" pitchFamily="34" charset="0"/>
              </a:rPr>
              <a:t>支持两种类型的操作：</a:t>
            </a:r>
            <a:endParaRPr lang="zh-CN" altLang="zh-CN" sz="2000" dirty="0">
              <a:latin typeface="Arial" panose="020B0604020202020204" pitchFamily="34" charset="0"/>
            </a:endParaRPr>
          </a:p>
          <a:p>
            <a:r>
              <a:rPr lang="zh-CN" altLang="zh-CN" sz="2000" dirty="0">
                <a:latin typeface="Arial" panose="020B0604020202020204" pitchFamily="34" charset="0"/>
              </a:rPr>
              <a:t>动作（</a:t>
            </a:r>
            <a:r>
              <a:rPr lang="en-US" altLang="zh-CN" sz="2000" dirty="0">
                <a:latin typeface="Arial" panose="020B0604020202020204" pitchFamily="34" charset="0"/>
              </a:rPr>
              <a:t>action</a:t>
            </a:r>
            <a:r>
              <a:rPr lang="zh-CN" altLang="zh-CN" sz="2000" dirty="0">
                <a:latin typeface="Arial" panose="020B0604020202020204" pitchFamily="34" charset="0"/>
              </a:rPr>
              <a:t>）：在数据集上进行运算，返回计算值</a:t>
            </a:r>
            <a:endParaRPr lang="zh-CN" altLang="zh-CN" sz="2000" dirty="0">
              <a:latin typeface="Arial" panose="020B0604020202020204" pitchFamily="34" charset="0"/>
            </a:endParaRPr>
          </a:p>
          <a:p>
            <a:r>
              <a:rPr lang="zh-CN" altLang="zh-CN" sz="2000" dirty="0">
                <a:latin typeface="Arial" panose="020B0604020202020204" pitchFamily="34" charset="0"/>
              </a:rPr>
              <a:t>转换（</a:t>
            </a:r>
            <a:r>
              <a:rPr lang="en-US" altLang="zh-CN" sz="2000" dirty="0">
                <a:latin typeface="Arial" panose="020B0604020202020204" pitchFamily="34" charset="0"/>
              </a:rPr>
              <a:t>transformation</a:t>
            </a:r>
            <a:r>
              <a:rPr lang="zh-CN" altLang="zh-CN" sz="2000" dirty="0">
                <a:latin typeface="Arial" panose="020B0604020202020204" pitchFamily="34" charset="0"/>
              </a:rPr>
              <a:t>）： 基于现有的数据集创建一个新的数据集</a:t>
            </a:r>
            <a:endParaRPr lang="en-US" altLang="zh-CN" sz="2000" dirty="0">
              <a:latin typeface="Arial" panose="020B0604020202020204" pitchFamily="34" charset="0"/>
            </a:endParaRPr>
          </a:p>
        </p:txBody>
      </p:sp>
      <p:sp>
        <p:nvSpPr>
          <p:cNvPr id="54276" name="Rectangle 2"/>
          <p:cNvSpPr/>
          <p:nvPr/>
        </p:nvSpPr>
        <p:spPr>
          <a:xfrm>
            <a:off x="1524000" y="44450"/>
            <a:ext cx="309880" cy="3683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/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54277" name="TextBox 6"/>
          <p:cNvSpPr txBox="1"/>
          <p:nvPr/>
        </p:nvSpPr>
        <p:spPr>
          <a:xfrm>
            <a:off x="1190625" y="3859530"/>
            <a:ext cx="8843010" cy="826770"/>
          </a:xfrm>
          <a:prstGeom prst="rect">
            <a:avLst/>
          </a:prstGeom>
          <a:solidFill>
            <a:schemeClr val="tx1"/>
          </a:solidFill>
          <a:ln w="9525">
            <a:noFill/>
          </a:ln>
        </p:spPr>
        <p:txBody>
          <a:bodyPr>
            <a:noAutofit/>
          </a:bodyPr>
          <a:lstStyle/>
          <a:p>
            <a:r>
              <a:rPr lang="en-US" altLang="zh-CN" sz="2000" dirty="0">
                <a:solidFill>
                  <a:schemeClr val="bg1"/>
                </a:solidFill>
                <a:latin typeface="Arial" panose="020B0604020202020204" pitchFamily="34" charset="0"/>
              </a:rPr>
              <a:t>Scala &gt; val textFile = sc.textFile("file:///usr/local/spark/README.md") </a:t>
            </a:r>
            <a:endParaRPr lang="en-US" altLang="zh-CN" sz="2000" dirty="0">
              <a:solidFill>
                <a:schemeClr val="bg1"/>
              </a:solidFill>
              <a:latin typeface="Arial" panose="020B0604020202020204" pitchFamily="34" charset="0"/>
            </a:endParaRPr>
          </a:p>
          <a:p>
            <a:r>
              <a:rPr lang="en-US" altLang="zh-CN" sz="2000" dirty="0">
                <a:solidFill>
                  <a:schemeClr val="bg1"/>
                </a:solidFill>
                <a:latin typeface="Arial" panose="020B0604020202020204" pitchFamily="34" charset="0"/>
              </a:rPr>
              <a:t>                                                             // </a:t>
            </a:r>
            <a:r>
              <a:rPr lang="zh-CN" altLang="zh-CN" sz="2000" dirty="0">
                <a:solidFill>
                  <a:schemeClr val="bg1"/>
                </a:solidFill>
                <a:latin typeface="Arial" panose="020B0604020202020204" pitchFamily="34" charset="0"/>
              </a:rPr>
              <a:t>通过</a:t>
            </a:r>
            <a:r>
              <a:rPr lang="en-US" altLang="zh-CN" sz="2000" dirty="0">
                <a:solidFill>
                  <a:schemeClr val="bg1"/>
                </a:solidFill>
                <a:latin typeface="Arial" panose="020B0604020202020204" pitchFamily="34" charset="0"/>
              </a:rPr>
              <a:t>file:</a:t>
            </a:r>
            <a:r>
              <a:rPr lang="zh-CN" altLang="zh-CN" sz="2000" dirty="0">
                <a:solidFill>
                  <a:schemeClr val="bg1"/>
                </a:solidFill>
                <a:latin typeface="Arial" panose="020B0604020202020204" pitchFamily="34" charset="0"/>
              </a:rPr>
              <a:t>前缀指定读取本地文件</a:t>
            </a:r>
            <a:endParaRPr lang="zh-CN" altLang="zh-CN" sz="2000" dirty="0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/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标题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lstStyle/>
          <a:p>
            <a:r>
              <a:rPr lang="en-US" altLang="zh-CN" b="1" dirty="0">
                <a:sym typeface="+mn-ea"/>
              </a:rPr>
              <a:t>10.5.2 Spark RDD</a:t>
            </a:r>
            <a:r>
              <a:rPr lang="zh-CN" altLang="en-US" b="1" dirty="0">
                <a:sym typeface="+mn-ea"/>
              </a:rPr>
              <a:t>基本操作</a:t>
            </a:r>
            <a:endParaRPr lang="zh-CN" altLang="en-US" dirty="0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57CE09-A6DF-4F65-B9AD-CB157D51E68C}" type="slidenum">
              <a:rPr lang="zh-CN" altLang="en-US" smtClean="0"/>
            </a:fld>
            <a:endParaRPr lang="zh-CN" altLang="en-US"/>
          </a:p>
        </p:txBody>
      </p:sp>
      <p:sp>
        <p:nvSpPr>
          <p:cNvPr id="55300" name="Rectangle 2"/>
          <p:cNvSpPr/>
          <p:nvPr/>
        </p:nvSpPr>
        <p:spPr>
          <a:xfrm>
            <a:off x="1524000" y="44450"/>
            <a:ext cx="309880" cy="3683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/>
          <a:p>
            <a:endParaRPr lang="zh-CN" altLang="en-US" dirty="0">
              <a:latin typeface="Arial" panose="020B0604020202020204" pitchFamily="34" charset="0"/>
            </a:endParaRPr>
          </a:p>
        </p:txBody>
      </p:sp>
      <p:graphicFrame>
        <p:nvGraphicFramePr>
          <p:cNvPr id="6" name="表格 5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1652270" y="1970405"/>
          <a:ext cx="8886825" cy="1920240"/>
        </p:xfrm>
        <a:graphic>
          <a:graphicData uri="http://schemas.openxmlformats.org/drawingml/2006/table">
            <a:tbl>
              <a:tblPr/>
              <a:tblGrid>
                <a:gridCol w="1946275"/>
                <a:gridCol w="6940550"/>
              </a:tblGrid>
              <a:tr h="196215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latin typeface="Times New Roman" panose="02020603050405020304"/>
                          <a:ea typeface="宋体" panose="02010600030101010101" pitchFamily="2" charset="-122"/>
                        </a:rPr>
                        <a:t>Action API</a:t>
                      </a:r>
                      <a:endParaRPr lang="en-US" sz="1800" kern="100" dirty="0"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1800" kern="100">
                          <a:latin typeface="Times New Roman" panose="02020603050405020304"/>
                          <a:ea typeface="宋体" panose="02010600030101010101" pitchFamily="2" charset="-122"/>
                        </a:rPr>
                        <a:t>说明</a:t>
                      </a:r>
                      <a:endParaRPr lang="zh-CN" sz="1800" kern="100"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9558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800" kern="100">
                          <a:latin typeface="Times New Roman" panose="02020603050405020304"/>
                          <a:ea typeface="宋体" panose="02010600030101010101" pitchFamily="2" charset="-122"/>
                        </a:rPr>
                        <a:t>count()</a:t>
                      </a:r>
                      <a:endParaRPr lang="en-US" sz="1800" kern="100"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1800" kern="100">
                          <a:latin typeface="Times New Roman" panose="02020603050405020304"/>
                          <a:ea typeface="宋体" panose="02010600030101010101" pitchFamily="2" charset="-122"/>
                        </a:rPr>
                        <a:t>返回数据集中的元素个数</a:t>
                      </a:r>
                      <a:endParaRPr lang="zh-CN" sz="1800" kern="100"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95938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800" kern="100">
                          <a:latin typeface="Times New Roman" panose="02020603050405020304"/>
                          <a:ea typeface="宋体" panose="02010600030101010101" pitchFamily="2" charset="-122"/>
                        </a:rPr>
                        <a:t>collect()</a:t>
                      </a:r>
                      <a:endParaRPr lang="en-US" sz="1800" kern="100"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1800" kern="100">
                          <a:latin typeface="Times New Roman" panose="02020603050405020304"/>
                          <a:ea typeface="宋体" panose="02010600030101010101" pitchFamily="2" charset="-122"/>
                        </a:rPr>
                        <a:t>以数组的形式返回数据集中的所有元素</a:t>
                      </a:r>
                      <a:endParaRPr lang="zh-CN" sz="1800" kern="100"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95938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800" kern="100">
                          <a:latin typeface="Times New Roman" panose="02020603050405020304"/>
                          <a:ea typeface="宋体" panose="02010600030101010101" pitchFamily="2" charset="-122"/>
                        </a:rPr>
                        <a:t>first()</a:t>
                      </a:r>
                      <a:endParaRPr lang="en-US" sz="1800" kern="100"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1800" kern="100">
                          <a:latin typeface="Times New Roman" panose="02020603050405020304"/>
                          <a:ea typeface="宋体" panose="02010600030101010101" pitchFamily="2" charset="-122"/>
                        </a:rPr>
                        <a:t>返回数据集中的第一个元素</a:t>
                      </a:r>
                      <a:endParaRPr lang="zh-CN" sz="1800" kern="100"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95938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800" kern="100">
                          <a:latin typeface="Times New Roman" panose="02020603050405020304"/>
                          <a:ea typeface="宋体" panose="02010600030101010101" pitchFamily="2" charset="-122"/>
                        </a:rPr>
                        <a:t>take(n)</a:t>
                      </a:r>
                      <a:endParaRPr lang="en-US" sz="1800" kern="100"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1800" kern="100">
                          <a:latin typeface="Times New Roman" panose="02020603050405020304"/>
                          <a:ea typeface="宋体" panose="02010600030101010101" pitchFamily="2" charset="-122"/>
                        </a:rPr>
                        <a:t>以数组的形式返回数据集中的前</a:t>
                      </a:r>
                      <a:r>
                        <a:rPr lang="en-US" sz="1800" kern="100">
                          <a:latin typeface="Times New Roman" panose="02020603050405020304"/>
                          <a:ea typeface="宋体" panose="02010600030101010101" pitchFamily="2" charset="-122"/>
                        </a:rPr>
                        <a:t>n</a:t>
                      </a:r>
                      <a:r>
                        <a:rPr lang="zh-CN" sz="1800" kern="100">
                          <a:latin typeface="Times New Roman" panose="02020603050405020304"/>
                          <a:ea typeface="宋体" panose="02010600030101010101" pitchFamily="2" charset="-122"/>
                        </a:rPr>
                        <a:t>个元素</a:t>
                      </a:r>
                      <a:endParaRPr lang="zh-CN" sz="1800" kern="100"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95938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800" kern="100">
                          <a:latin typeface="Times New Roman" panose="02020603050405020304"/>
                          <a:ea typeface="宋体" panose="02010600030101010101" pitchFamily="2" charset="-122"/>
                        </a:rPr>
                        <a:t>reduce(func)</a:t>
                      </a:r>
                      <a:endParaRPr lang="en-US" sz="1800" kern="100"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1800" kern="100">
                          <a:latin typeface="Times New Roman" panose="02020603050405020304"/>
                          <a:ea typeface="宋体" panose="02010600030101010101" pitchFamily="2" charset="-122"/>
                        </a:rPr>
                        <a:t>通过函数</a:t>
                      </a:r>
                      <a:r>
                        <a:rPr lang="en-US" sz="1800" kern="100">
                          <a:latin typeface="Times New Roman" panose="02020603050405020304"/>
                          <a:ea typeface="宋体" panose="02010600030101010101" pitchFamily="2" charset="-122"/>
                        </a:rPr>
                        <a:t>func</a:t>
                      </a:r>
                      <a:r>
                        <a:rPr lang="zh-CN" sz="1800" kern="100">
                          <a:latin typeface="Times New Roman" panose="02020603050405020304"/>
                          <a:ea typeface="宋体" panose="02010600030101010101" pitchFamily="2" charset="-122"/>
                        </a:rPr>
                        <a:t>（输入两个参数并返回一个值）聚合数据集中的元素</a:t>
                      </a:r>
                      <a:endParaRPr lang="zh-CN" sz="1800" kern="100"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95938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800" kern="100">
                          <a:latin typeface="Times New Roman" panose="02020603050405020304"/>
                          <a:ea typeface="宋体" panose="02010600030101010101" pitchFamily="2" charset="-122"/>
                        </a:rPr>
                        <a:t>foreach(func)</a:t>
                      </a:r>
                      <a:endParaRPr lang="en-US" sz="1800" kern="100"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1800" kern="100" dirty="0">
                          <a:latin typeface="Times New Roman" panose="02020603050405020304"/>
                          <a:ea typeface="宋体" panose="02010600030101010101" pitchFamily="2" charset="-122"/>
                        </a:rPr>
                        <a:t>将数据集中的每个元素传递到函数</a:t>
                      </a:r>
                      <a:r>
                        <a:rPr lang="en-US" sz="1800" kern="100" dirty="0" err="1">
                          <a:latin typeface="Times New Roman" panose="02020603050405020304"/>
                          <a:ea typeface="宋体" panose="02010600030101010101" pitchFamily="2" charset="-122"/>
                        </a:rPr>
                        <a:t>func</a:t>
                      </a:r>
                      <a:r>
                        <a:rPr lang="zh-CN" sz="1800" kern="100" dirty="0">
                          <a:latin typeface="Times New Roman" panose="02020603050405020304"/>
                          <a:ea typeface="宋体" panose="02010600030101010101" pitchFamily="2" charset="-122"/>
                        </a:rPr>
                        <a:t>中运行</a:t>
                      </a:r>
                      <a:endParaRPr lang="zh-CN" sz="1800" kern="100" dirty="0"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8" name="表格 7"/>
          <p:cNvGraphicFramePr>
            <a:graphicFrameLocks noGrp="1"/>
          </p:cNvGraphicFramePr>
          <p:nvPr>
            <p:custDataLst>
              <p:tags r:id="rId2"/>
            </p:custDataLst>
          </p:nvPr>
        </p:nvGraphicFramePr>
        <p:xfrm>
          <a:off x="1195070" y="4460240"/>
          <a:ext cx="9801225" cy="2184400"/>
        </p:xfrm>
        <a:graphic>
          <a:graphicData uri="http://schemas.openxmlformats.org/drawingml/2006/table">
            <a:tbl>
              <a:tblPr/>
              <a:tblGrid>
                <a:gridCol w="2052955"/>
                <a:gridCol w="7748270"/>
              </a:tblGrid>
              <a:tr h="334645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latin typeface="Times New Roman" panose="02020603050405020304"/>
                          <a:ea typeface="宋体" panose="02010600030101010101" pitchFamily="2" charset="-122"/>
                        </a:rPr>
                        <a:t>Transformation API</a:t>
                      </a:r>
                      <a:endParaRPr lang="en-US" sz="1800" kern="100" dirty="0"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1800" kern="100">
                          <a:latin typeface="Times New Roman" panose="02020603050405020304"/>
                          <a:ea typeface="宋体" panose="02010600030101010101" pitchFamily="2" charset="-122"/>
                        </a:rPr>
                        <a:t>说明</a:t>
                      </a:r>
                      <a:endParaRPr lang="zh-CN" sz="1800" kern="100"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800" kern="100">
                          <a:latin typeface="Times New Roman" panose="02020603050405020304"/>
                          <a:ea typeface="宋体" panose="02010600030101010101" pitchFamily="2" charset="-122"/>
                        </a:rPr>
                        <a:t>filter(func)</a:t>
                      </a:r>
                      <a:endParaRPr lang="en-US" sz="1800" kern="100"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1800" kern="100">
                          <a:latin typeface="Times New Roman" panose="02020603050405020304"/>
                          <a:ea typeface="宋体" panose="02010600030101010101" pitchFamily="2" charset="-122"/>
                        </a:rPr>
                        <a:t>筛选出满足函数</a:t>
                      </a:r>
                      <a:r>
                        <a:rPr lang="en-US" sz="1800" kern="100">
                          <a:latin typeface="Times New Roman" panose="02020603050405020304"/>
                          <a:ea typeface="宋体" panose="02010600030101010101" pitchFamily="2" charset="-122"/>
                        </a:rPr>
                        <a:t>func</a:t>
                      </a:r>
                      <a:r>
                        <a:rPr lang="zh-CN" sz="1800" kern="100">
                          <a:latin typeface="Times New Roman" panose="02020603050405020304"/>
                          <a:ea typeface="宋体" panose="02010600030101010101" pitchFamily="2" charset="-122"/>
                        </a:rPr>
                        <a:t>的元素，并返回一个新的数据集</a:t>
                      </a:r>
                      <a:endParaRPr lang="zh-CN" sz="1800" kern="100"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4325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latin typeface="Times New Roman" panose="02020603050405020304"/>
                          <a:ea typeface="宋体" panose="02010600030101010101" pitchFamily="2" charset="-122"/>
                        </a:rPr>
                        <a:t>map(</a:t>
                      </a:r>
                      <a:r>
                        <a:rPr lang="en-US" sz="1800" kern="100" dirty="0" err="1">
                          <a:latin typeface="Times New Roman" panose="02020603050405020304"/>
                          <a:ea typeface="宋体" panose="02010600030101010101" pitchFamily="2" charset="-122"/>
                        </a:rPr>
                        <a:t>func</a:t>
                      </a:r>
                      <a:r>
                        <a:rPr lang="en-US" sz="1800" kern="100" dirty="0">
                          <a:latin typeface="Times New Roman" panose="02020603050405020304"/>
                          <a:ea typeface="宋体" panose="02010600030101010101" pitchFamily="2" charset="-122"/>
                        </a:rPr>
                        <a:t>)</a:t>
                      </a:r>
                      <a:endParaRPr lang="en-US" sz="1800" kern="100" dirty="0"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1800" kern="100">
                          <a:latin typeface="Times New Roman" panose="02020603050405020304"/>
                          <a:ea typeface="宋体" panose="02010600030101010101" pitchFamily="2" charset="-122"/>
                        </a:rPr>
                        <a:t>将每个元素传递到函数</a:t>
                      </a:r>
                      <a:r>
                        <a:rPr lang="en-US" sz="1800" kern="100">
                          <a:latin typeface="Times New Roman" panose="02020603050405020304"/>
                          <a:ea typeface="宋体" panose="02010600030101010101" pitchFamily="2" charset="-122"/>
                        </a:rPr>
                        <a:t>func</a:t>
                      </a:r>
                      <a:r>
                        <a:rPr lang="zh-CN" sz="1800" kern="100">
                          <a:latin typeface="Times New Roman" panose="02020603050405020304"/>
                          <a:ea typeface="宋体" panose="02010600030101010101" pitchFamily="2" charset="-122"/>
                        </a:rPr>
                        <a:t>中，并将结果返回为一个新的数据集</a:t>
                      </a:r>
                      <a:endParaRPr lang="zh-CN" sz="1800" kern="100"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5595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800" kern="100">
                          <a:latin typeface="Times New Roman" panose="02020603050405020304"/>
                          <a:ea typeface="宋体" panose="02010600030101010101" pitchFamily="2" charset="-122"/>
                        </a:rPr>
                        <a:t>flatMap(func)</a:t>
                      </a:r>
                      <a:endParaRPr lang="en-US" sz="1800" kern="100"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1800" kern="100">
                          <a:latin typeface="Times New Roman" panose="02020603050405020304"/>
                          <a:ea typeface="宋体" panose="02010600030101010101" pitchFamily="2" charset="-122"/>
                        </a:rPr>
                        <a:t>与</a:t>
                      </a:r>
                      <a:r>
                        <a:rPr lang="en-US" sz="1800" kern="100">
                          <a:latin typeface="Times New Roman" panose="02020603050405020304"/>
                          <a:ea typeface="宋体" panose="02010600030101010101" pitchFamily="2" charset="-122"/>
                        </a:rPr>
                        <a:t>map()</a:t>
                      </a:r>
                      <a:r>
                        <a:rPr lang="zh-CN" sz="1800" kern="100">
                          <a:latin typeface="Times New Roman" panose="02020603050405020304"/>
                          <a:ea typeface="宋体" panose="02010600030101010101" pitchFamily="2" charset="-122"/>
                        </a:rPr>
                        <a:t>相似，但每个输入元素都可以映射到</a:t>
                      </a:r>
                      <a:r>
                        <a:rPr lang="en-US" sz="1800" kern="100">
                          <a:latin typeface="Times New Roman" panose="02020603050405020304"/>
                          <a:ea typeface="宋体" panose="02010600030101010101" pitchFamily="2" charset="-122"/>
                        </a:rPr>
                        <a:t>0</a:t>
                      </a:r>
                      <a:r>
                        <a:rPr lang="zh-CN" sz="1800" kern="100">
                          <a:latin typeface="Times New Roman" panose="02020603050405020304"/>
                          <a:ea typeface="宋体" panose="02010600030101010101" pitchFamily="2" charset="-122"/>
                        </a:rPr>
                        <a:t>或多个输出结果</a:t>
                      </a:r>
                      <a:endParaRPr lang="zh-CN" sz="1800" kern="100"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565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800" kern="100">
                          <a:latin typeface="Times New Roman" panose="02020603050405020304"/>
                          <a:ea typeface="宋体" panose="02010600030101010101" pitchFamily="2" charset="-122"/>
                        </a:rPr>
                        <a:t>groupByKey()</a:t>
                      </a:r>
                      <a:endParaRPr lang="en-US" sz="1800" kern="100"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1800" kern="100">
                          <a:latin typeface="Times New Roman" panose="02020603050405020304"/>
                          <a:ea typeface="宋体" panose="02010600030101010101" pitchFamily="2" charset="-122"/>
                        </a:rPr>
                        <a:t>应用于</a:t>
                      </a:r>
                      <a:r>
                        <a:rPr lang="en-US" sz="1800" kern="100">
                          <a:latin typeface="Times New Roman" panose="02020603050405020304"/>
                          <a:ea typeface="宋体" panose="02010600030101010101" pitchFamily="2" charset="-122"/>
                        </a:rPr>
                        <a:t>(K,V)</a:t>
                      </a:r>
                      <a:r>
                        <a:rPr lang="zh-CN" sz="1800" kern="100">
                          <a:latin typeface="Times New Roman" panose="02020603050405020304"/>
                          <a:ea typeface="宋体" panose="02010600030101010101" pitchFamily="2" charset="-122"/>
                        </a:rPr>
                        <a:t>键值对的数据集时，返回一个新的</a:t>
                      </a:r>
                      <a:r>
                        <a:rPr lang="en-US" sz="1800" kern="100">
                          <a:latin typeface="Times New Roman" panose="02020603050405020304"/>
                          <a:ea typeface="宋体" panose="02010600030101010101" pitchFamily="2" charset="-122"/>
                        </a:rPr>
                        <a:t>(K, Iterable&lt;V&gt;)</a:t>
                      </a:r>
                      <a:r>
                        <a:rPr lang="zh-CN" sz="1800" kern="100">
                          <a:latin typeface="Times New Roman" panose="02020603050405020304"/>
                          <a:ea typeface="宋体" panose="02010600030101010101" pitchFamily="2" charset="-122"/>
                        </a:rPr>
                        <a:t>形式的数据集</a:t>
                      </a:r>
                      <a:endParaRPr lang="zh-CN" sz="1800" kern="100"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1595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800" kern="100">
                          <a:latin typeface="Times New Roman" panose="02020603050405020304"/>
                          <a:ea typeface="宋体" panose="02010600030101010101" pitchFamily="2" charset="-122"/>
                        </a:rPr>
                        <a:t>reduceByKey(func)</a:t>
                      </a:r>
                      <a:endParaRPr lang="en-US" sz="1800" kern="100"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1800" kern="100" dirty="0">
                          <a:latin typeface="Times New Roman" panose="02020603050405020304"/>
                          <a:ea typeface="宋体" panose="02010600030101010101" pitchFamily="2" charset="-122"/>
                        </a:rPr>
                        <a:t>应用于</a:t>
                      </a:r>
                      <a:r>
                        <a:rPr lang="en-US" sz="1800" kern="100" dirty="0">
                          <a:latin typeface="Times New Roman" panose="02020603050405020304"/>
                          <a:ea typeface="宋体" panose="02010600030101010101" pitchFamily="2" charset="-122"/>
                        </a:rPr>
                        <a:t>(K,V)</a:t>
                      </a:r>
                      <a:r>
                        <a:rPr lang="zh-CN" sz="1800" kern="100" dirty="0">
                          <a:latin typeface="Times New Roman" panose="02020603050405020304"/>
                          <a:ea typeface="宋体" panose="02010600030101010101" pitchFamily="2" charset="-122"/>
                        </a:rPr>
                        <a:t>键值对的数据集时，返回一个新的</a:t>
                      </a:r>
                      <a:r>
                        <a:rPr lang="en-US" sz="1800" kern="100" dirty="0">
                          <a:latin typeface="Times New Roman" panose="02020603050405020304"/>
                          <a:ea typeface="宋体" panose="02010600030101010101" pitchFamily="2" charset="-122"/>
                        </a:rPr>
                        <a:t>(K, V)</a:t>
                      </a:r>
                      <a:r>
                        <a:rPr lang="zh-CN" sz="1800" kern="100" dirty="0">
                          <a:latin typeface="Times New Roman" panose="02020603050405020304"/>
                          <a:ea typeface="宋体" panose="02010600030101010101" pitchFamily="2" charset="-122"/>
                        </a:rPr>
                        <a:t>形式的数据集，其中的每个值是将每个</a:t>
                      </a:r>
                      <a:r>
                        <a:rPr lang="en-US" sz="1800" kern="100" dirty="0">
                          <a:latin typeface="Times New Roman" panose="02020603050405020304"/>
                          <a:ea typeface="宋体" panose="02010600030101010101" pitchFamily="2" charset="-122"/>
                        </a:rPr>
                        <a:t>key</a:t>
                      </a:r>
                      <a:r>
                        <a:rPr lang="zh-CN" sz="1800" kern="100" dirty="0">
                          <a:latin typeface="Times New Roman" panose="02020603050405020304"/>
                          <a:ea typeface="宋体" panose="02010600030101010101" pitchFamily="2" charset="-122"/>
                        </a:rPr>
                        <a:t>传递到函数</a:t>
                      </a:r>
                      <a:r>
                        <a:rPr lang="en-US" sz="1800" kern="100" dirty="0" err="1">
                          <a:latin typeface="Times New Roman" panose="02020603050405020304"/>
                          <a:ea typeface="宋体" panose="02010600030101010101" pitchFamily="2" charset="-122"/>
                        </a:rPr>
                        <a:t>func</a:t>
                      </a:r>
                      <a:r>
                        <a:rPr lang="zh-CN" sz="1800" kern="100" dirty="0">
                          <a:latin typeface="Times New Roman" panose="02020603050405020304"/>
                          <a:ea typeface="宋体" panose="02010600030101010101" pitchFamily="2" charset="-122"/>
                        </a:rPr>
                        <a:t>中进行聚合</a:t>
                      </a:r>
                      <a:endParaRPr lang="zh-CN" sz="1800" kern="100" dirty="0"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5350" name="Rectangle 1"/>
          <p:cNvSpPr/>
          <p:nvPr/>
        </p:nvSpPr>
        <p:spPr>
          <a:xfrm>
            <a:off x="3347085" y="1424940"/>
            <a:ext cx="5496560" cy="460375"/>
          </a:xfrm>
          <a:prstGeom prst="rect">
            <a:avLst/>
          </a:prstGeom>
          <a:noFill/>
          <a:ln w="9525">
            <a:noFill/>
          </a:ln>
        </p:spPr>
        <p:txBody>
          <a:bodyPr wrap="square" anchor="ctr" anchorCtr="0">
            <a:spAutoFit/>
          </a:bodyPr>
          <a:lstStyle/>
          <a:p>
            <a:pPr algn="ctr" eaLnBrk="0" hangingPunct="0"/>
            <a:r>
              <a:rPr lang="zh-CN" altLang="en-US" sz="2400" dirty="0">
                <a:latin typeface="Cambria" panose="02040503050406030204" pitchFamily="18" charset="0"/>
                <a:cs typeface="Times New Roman" panose="02020603050405020304" pitchFamily="18" charset="0"/>
              </a:rPr>
              <a:t>表</a:t>
            </a:r>
            <a:r>
              <a:rPr lang="en-US" altLang="zh-CN" sz="2400" dirty="0">
                <a:latin typeface="Cambria" panose="02040503050406030204" pitchFamily="18" charset="0"/>
                <a:cs typeface="Times New Roman" panose="02020603050405020304" pitchFamily="18" charset="0"/>
              </a:rPr>
              <a:t>10-2</a:t>
            </a:r>
            <a:r>
              <a:rPr lang="zh-CN" altLang="en-US" sz="2400" dirty="0">
                <a:latin typeface="Cambria" panose="02040503050406030204" pitchFamily="18" charset="0"/>
                <a:cs typeface="Times New Roman" panose="02020603050405020304" pitchFamily="18" charset="0"/>
              </a:rPr>
              <a:t>常用的几个</a:t>
            </a:r>
            <a:r>
              <a:rPr lang="en-US" altLang="zh-CN" sz="2400" dirty="0">
                <a:latin typeface="Cambria" panose="02040503050406030204" pitchFamily="18" charset="0"/>
                <a:cs typeface="Times New Roman" panose="02020603050405020304" pitchFamily="18" charset="0"/>
              </a:rPr>
              <a:t>Action API</a:t>
            </a:r>
            <a:r>
              <a:rPr lang="zh-CN" altLang="en-US" sz="2400" dirty="0">
                <a:latin typeface="Cambria" panose="02040503050406030204" pitchFamily="18" charset="0"/>
                <a:cs typeface="Times New Roman" panose="02020603050405020304" pitchFamily="18" charset="0"/>
              </a:rPr>
              <a:t>介绍</a:t>
            </a:r>
            <a:endParaRPr lang="zh-CN" altLang="en-US" sz="2400" dirty="0">
              <a:latin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55351" name="Rectangle 1"/>
          <p:cNvSpPr/>
          <p:nvPr/>
        </p:nvSpPr>
        <p:spPr>
          <a:xfrm>
            <a:off x="2722880" y="3919220"/>
            <a:ext cx="6218555" cy="460375"/>
          </a:xfrm>
          <a:prstGeom prst="rect">
            <a:avLst/>
          </a:prstGeom>
          <a:noFill/>
          <a:ln w="9525">
            <a:noFill/>
          </a:ln>
        </p:spPr>
        <p:txBody>
          <a:bodyPr wrap="square" anchor="ctr" anchorCtr="0">
            <a:spAutoFit/>
          </a:bodyPr>
          <a:lstStyle/>
          <a:p>
            <a:pPr algn="ctr" eaLnBrk="0" hangingPunct="0"/>
            <a:r>
              <a:rPr lang="zh-CN" altLang="en-US" sz="2400" dirty="0">
                <a:latin typeface="Cambria" panose="02040503050406030204" pitchFamily="18" charset="0"/>
                <a:cs typeface="Times New Roman" panose="02020603050405020304" pitchFamily="18" charset="0"/>
              </a:rPr>
              <a:t>表</a:t>
            </a:r>
            <a:r>
              <a:rPr lang="en-US" altLang="zh-CN" sz="2400" dirty="0">
                <a:latin typeface="Cambria" panose="02040503050406030204" pitchFamily="18" charset="0"/>
                <a:cs typeface="Times New Roman" panose="02020603050405020304" pitchFamily="18" charset="0"/>
              </a:rPr>
              <a:t>10-3  </a:t>
            </a:r>
            <a:r>
              <a:rPr lang="zh-CN" altLang="zh-CN" sz="2400" dirty="0">
                <a:latin typeface="Arial" panose="020B0604020202020204" pitchFamily="34" charset="0"/>
              </a:rPr>
              <a:t>常用的几个</a:t>
            </a:r>
            <a:r>
              <a:rPr lang="en-US" altLang="zh-CN" sz="2400" dirty="0">
                <a:latin typeface="Arial" panose="020B0604020202020204" pitchFamily="34" charset="0"/>
              </a:rPr>
              <a:t>Transformation API</a:t>
            </a:r>
            <a:r>
              <a:rPr lang="zh-CN" altLang="zh-CN" sz="2400" dirty="0">
                <a:latin typeface="Arial" panose="020B0604020202020204" pitchFamily="34" charset="0"/>
              </a:rPr>
              <a:t>介绍</a:t>
            </a:r>
            <a:endParaRPr lang="zh-CN" altLang="zh-CN" sz="2400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/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标题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lstStyle/>
          <a:p>
            <a:r>
              <a:rPr lang="en-US" altLang="zh-CN" b="1" dirty="0">
                <a:sym typeface="+mn-ea"/>
              </a:rPr>
              <a:t>10.5.2 Spark RDD</a:t>
            </a:r>
            <a:r>
              <a:rPr lang="zh-CN" altLang="en-US" b="1" dirty="0">
                <a:sym typeface="+mn-ea"/>
              </a:rPr>
              <a:t>基本操作</a:t>
            </a:r>
            <a:endParaRPr lang="zh-CN" altLang="en-US" dirty="0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57CE09-A6DF-4F65-B9AD-CB157D51E68C}" type="slidenum">
              <a:rPr lang="zh-CN" altLang="en-US" smtClean="0"/>
            </a:fld>
            <a:endParaRPr lang="zh-CN" altLang="en-US"/>
          </a:p>
        </p:txBody>
      </p:sp>
      <p:sp>
        <p:nvSpPr>
          <p:cNvPr id="56324" name="Rectangle 2"/>
          <p:cNvSpPr/>
          <p:nvPr/>
        </p:nvSpPr>
        <p:spPr>
          <a:xfrm>
            <a:off x="1524000" y="44450"/>
            <a:ext cx="309880" cy="3683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/>
          <a:p>
            <a:endParaRPr lang="zh-CN" altLang="en-US" dirty="0">
              <a:latin typeface="Arial" panose="020B0604020202020204" pitchFamily="34" charset="0"/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2057400" y="1296670"/>
            <a:ext cx="7848600" cy="1075690"/>
            <a:chOff x="3360" y="2040"/>
            <a:chExt cx="12360" cy="1694"/>
          </a:xfrm>
        </p:grpSpPr>
        <p:sp>
          <p:nvSpPr>
            <p:cNvPr id="56323" name="矩形 2"/>
            <p:cNvSpPr/>
            <p:nvPr/>
          </p:nvSpPr>
          <p:spPr>
            <a:xfrm>
              <a:off x="3360" y="2040"/>
              <a:ext cx="12360" cy="1695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>
                <a:buFont typeface="Arial" panose="020B0604020202020204" pitchFamily="34" charset="0"/>
                <a:buChar char="•"/>
              </a:pPr>
              <a:r>
                <a:rPr lang="zh-CN" altLang="zh-CN" sz="1600" dirty="0">
                  <a:latin typeface="Arial" panose="020B0604020202020204" pitchFamily="34" charset="0"/>
                </a:rPr>
                <a:t>使用</a:t>
              </a:r>
              <a:r>
                <a:rPr lang="en-US" altLang="zh-CN" sz="1600" dirty="0">
                  <a:latin typeface="Arial" panose="020B0604020202020204" pitchFamily="34" charset="0"/>
                </a:rPr>
                <a:t>action API - count()</a:t>
              </a:r>
              <a:r>
                <a:rPr lang="zh-CN" altLang="zh-CN" sz="1600" dirty="0">
                  <a:latin typeface="Arial" panose="020B0604020202020204" pitchFamily="34" charset="0"/>
                </a:rPr>
                <a:t>可以统计该文本文件的行数，命令如下</a:t>
              </a:r>
              <a:r>
                <a:rPr lang="zh-CN" altLang="en-US" sz="1600" dirty="0">
                  <a:latin typeface="Arial" panose="020B0604020202020204" pitchFamily="34" charset="0"/>
                </a:rPr>
                <a:t>：</a:t>
              </a:r>
              <a:endParaRPr lang="zh-CN" altLang="zh-CN" sz="1600" dirty="0">
                <a:latin typeface="Arial" panose="020B0604020202020204" pitchFamily="34" charset="0"/>
              </a:endParaRPr>
            </a:p>
            <a:p>
              <a:r>
                <a:rPr lang="en-US" altLang="zh-CN" sz="1600" dirty="0">
                  <a:latin typeface="Arial" panose="020B0604020202020204" pitchFamily="34" charset="0"/>
                </a:rPr>
                <a:t> </a:t>
              </a:r>
              <a:endParaRPr lang="en-US" altLang="zh-CN" sz="1600" dirty="0">
                <a:latin typeface="Arial" panose="020B0604020202020204" pitchFamily="34" charset="0"/>
              </a:endParaRPr>
            </a:p>
            <a:p>
              <a:endParaRPr lang="en-US" altLang="zh-CN" sz="1600" dirty="0">
                <a:latin typeface="Arial" panose="020B0604020202020204" pitchFamily="34" charset="0"/>
              </a:endParaRPr>
            </a:p>
            <a:p>
              <a:r>
                <a:rPr lang="zh-CN" altLang="zh-CN" sz="1600" dirty="0">
                  <a:latin typeface="Arial" panose="020B0604020202020204" pitchFamily="34" charset="0"/>
                </a:rPr>
                <a:t>输出结果</a:t>
              </a:r>
              <a:r>
                <a:rPr lang="en-US" altLang="zh-CN" sz="1600" dirty="0">
                  <a:latin typeface="Arial" panose="020B0604020202020204" pitchFamily="34" charset="0"/>
                </a:rPr>
                <a:t> Long = 95</a:t>
              </a:r>
              <a:r>
                <a:rPr lang="zh-CN" altLang="en-US" sz="1600" dirty="0">
                  <a:latin typeface="Arial" panose="020B0604020202020204" pitchFamily="34" charset="0"/>
                </a:rPr>
                <a:t>（</a:t>
              </a:r>
              <a:r>
                <a:rPr lang="en-US" altLang="zh-CN" sz="1600" dirty="0">
                  <a:latin typeface="Arial" panose="020B0604020202020204" pitchFamily="34" charset="0"/>
                </a:rPr>
                <a:t> “Long=95”</a:t>
              </a:r>
              <a:r>
                <a:rPr lang="zh-CN" altLang="zh-CN" sz="1600" dirty="0">
                  <a:latin typeface="Arial" panose="020B0604020202020204" pitchFamily="34" charset="0"/>
                </a:rPr>
                <a:t>表示该文件共有</a:t>
              </a:r>
              <a:r>
                <a:rPr lang="en-US" altLang="zh-CN" sz="1600" dirty="0">
                  <a:latin typeface="Arial" panose="020B0604020202020204" pitchFamily="34" charset="0"/>
                </a:rPr>
                <a:t>95</a:t>
              </a:r>
              <a:r>
                <a:rPr lang="zh-CN" altLang="zh-CN" sz="1600" dirty="0">
                  <a:latin typeface="Arial" panose="020B0604020202020204" pitchFamily="34" charset="0"/>
                </a:rPr>
                <a:t>行内容</a:t>
              </a:r>
              <a:r>
                <a:rPr lang="zh-CN" altLang="en-US" sz="1600" dirty="0">
                  <a:latin typeface="Arial" panose="020B0604020202020204" pitchFamily="34" charset="0"/>
                </a:rPr>
                <a:t>）。</a:t>
              </a:r>
              <a:r>
                <a:rPr lang="en-US" altLang="zh-CN" sz="1600" dirty="0">
                  <a:latin typeface="Arial" panose="020B0604020202020204" pitchFamily="34" charset="0"/>
                </a:rPr>
                <a:t> </a:t>
              </a:r>
              <a:endParaRPr lang="zh-CN" altLang="zh-CN" sz="1600" dirty="0">
                <a:latin typeface="Arial" panose="020B0604020202020204" pitchFamily="34" charset="0"/>
              </a:endParaRPr>
            </a:p>
          </p:txBody>
        </p:sp>
        <p:sp>
          <p:nvSpPr>
            <p:cNvPr id="56325" name="TextBox 5"/>
            <p:cNvSpPr txBox="1"/>
            <p:nvPr/>
          </p:nvSpPr>
          <p:spPr>
            <a:xfrm>
              <a:off x="3480" y="2520"/>
              <a:ext cx="11640" cy="580"/>
            </a:xfrm>
            <a:prstGeom prst="rect">
              <a:avLst/>
            </a:prstGeom>
            <a:solidFill>
              <a:schemeClr val="tx1"/>
            </a:solidFill>
            <a:ln w="9525">
              <a:noFill/>
            </a:ln>
          </p:spPr>
          <p:txBody>
            <a:bodyPr>
              <a:spAutoFit/>
            </a:bodyPr>
            <a:lstStyle/>
            <a:p>
              <a:r>
                <a:rPr lang="en-US" altLang="zh-CN" dirty="0">
                  <a:solidFill>
                    <a:schemeClr val="bg1"/>
                  </a:solidFill>
                  <a:latin typeface="Arial" panose="020B0604020202020204" pitchFamily="34" charset="0"/>
                </a:rPr>
                <a:t>Scala &gt; textFile.count()</a:t>
              </a:r>
              <a:endParaRPr lang="en-US" altLang="zh-CN" dirty="0">
                <a:solidFill>
                  <a:schemeClr val="bg1"/>
                </a:solidFill>
                <a:latin typeface="Arial" panose="020B0604020202020204" pitchFamily="34" charset="0"/>
              </a:endParaRPr>
            </a:p>
          </p:txBody>
        </p:sp>
      </p:grpSp>
      <p:grpSp>
        <p:nvGrpSpPr>
          <p:cNvPr id="4" name="组合 3"/>
          <p:cNvGrpSpPr/>
          <p:nvPr/>
        </p:nvGrpSpPr>
        <p:grpSpPr>
          <a:xfrm>
            <a:off x="2057400" y="2687955"/>
            <a:ext cx="7620000" cy="1568450"/>
            <a:chOff x="3360" y="4015"/>
            <a:chExt cx="12000" cy="2470"/>
          </a:xfrm>
        </p:grpSpPr>
        <p:sp>
          <p:nvSpPr>
            <p:cNvPr id="56326" name="TextBox 7"/>
            <p:cNvSpPr txBox="1"/>
            <p:nvPr/>
          </p:nvSpPr>
          <p:spPr>
            <a:xfrm>
              <a:off x="3360" y="4015"/>
              <a:ext cx="12000" cy="247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>
                <a:buFont typeface="Arial" panose="020B0604020202020204" pitchFamily="34" charset="0"/>
                <a:buChar char="•"/>
              </a:pPr>
              <a:r>
                <a:rPr lang="zh-CN" altLang="zh-CN" sz="1600" dirty="0">
                  <a:latin typeface="Arial" panose="020B0604020202020204" pitchFamily="34" charset="0"/>
                </a:rPr>
                <a:t>使用</a:t>
              </a:r>
              <a:r>
                <a:rPr lang="en-US" altLang="zh-CN" sz="1600" dirty="0">
                  <a:latin typeface="Arial" panose="020B0604020202020204" pitchFamily="34" charset="0"/>
                </a:rPr>
                <a:t>transformation API - filter()</a:t>
              </a:r>
              <a:r>
                <a:rPr lang="zh-CN" altLang="zh-CN" sz="1600" dirty="0">
                  <a:latin typeface="Arial" panose="020B0604020202020204" pitchFamily="34" charset="0"/>
                </a:rPr>
                <a:t>可以筛选出只包含</a:t>
              </a:r>
              <a:r>
                <a:rPr lang="en-US" altLang="zh-CN" sz="1600" dirty="0">
                  <a:latin typeface="Arial" panose="020B0604020202020204" pitchFamily="34" charset="0"/>
                </a:rPr>
                <a:t>Spark</a:t>
              </a:r>
              <a:r>
                <a:rPr lang="zh-CN" altLang="zh-CN" sz="1600" dirty="0">
                  <a:latin typeface="Arial" panose="020B0604020202020204" pitchFamily="34" charset="0"/>
                </a:rPr>
                <a:t>的行，命令如下：</a:t>
              </a:r>
              <a:endParaRPr lang="zh-CN" altLang="zh-CN" sz="1600" dirty="0">
                <a:latin typeface="Arial" panose="020B0604020202020204" pitchFamily="34" charset="0"/>
              </a:endParaRPr>
            </a:p>
            <a:p>
              <a:r>
                <a:rPr lang="en-US" altLang="zh-CN" sz="1600" dirty="0">
                  <a:latin typeface="Arial" panose="020B0604020202020204" pitchFamily="34" charset="0"/>
                </a:rPr>
                <a:t> </a:t>
              </a:r>
              <a:endParaRPr lang="zh-CN" altLang="zh-CN" sz="1600" dirty="0">
                <a:latin typeface="Arial" panose="020B0604020202020204" pitchFamily="34" charset="0"/>
              </a:endParaRPr>
            </a:p>
            <a:p>
              <a:endParaRPr lang="en-US" altLang="zh-CN" sz="1600" dirty="0">
                <a:latin typeface="Arial" panose="020B0604020202020204" pitchFamily="34" charset="0"/>
              </a:endParaRPr>
            </a:p>
            <a:p>
              <a:endParaRPr lang="en-US" altLang="zh-CN" sz="1600" dirty="0">
                <a:latin typeface="Arial" panose="020B0604020202020204" pitchFamily="34" charset="0"/>
              </a:endParaRPr>
            </a:p>
            <a:p>
              <a:r>
                <a:rPr lang="zh-CN" altLang="zh-CN" sz="1600" dirty="0">
                  <a:latin typeface="Arial" panose="020B0604020202020204" pitchFamily="34" charset="0"/>
                </a:rPr>
                <a:t>第一条命令会返回一个新的</a:t>
              </a:r>
              <a:r>
                <a:rPr lang="en-US" altLang="zh-CN" sz="1600" dirty="0">
                  <a:latin typeface="Arial" panose="020B0604020202020204" pitchFamily="34" charset="0"/>
                </a:rPr>
                <a:t>RDD</a:t>
              </a:r>
              <a:r>
                <a:rPr lang="zh-CN" altLang="zh-CN" sz="1600" dirty="0">
                  <a:latin typeface="Arial" panose="020B0604020202020204" pitchFamily="34" charset="0"/>
                </a:rPr>
                <a:t>；</a:t>
              </a:r>
              <a:endParaRPr lang="en-US" altLang="zh-CN" sz="1600" dirty="0">
                <a:latin typeface="Arial" panose="020B0604020202020204" pitchFamily="34" charset="0"/>
              </a:endParaRPr>
            </a:p>
            <a:p>
              <a:r>
                <a:rPr lang="zh-CN" altLang="zh-CN" sz="1600" dirty="0">
                  <a:latin typeface="Arial" panose="020B0604020202020204" pitchFamily="34" charset="0"/>
                </a:rPr>
                <a:t>输出结果</a:t>
              </a:r>
              <a:r>
                <a:rPr lang="en-US" altLang="zh-CN" sz="1600" dirty="0">
                  <a:latin typeface="Arial" panose="020B0604020202020204" pitchFamily="34" charset="0"/>
                </a:rPr>
                <a:t>Long=17</a:t>
              </a:r>
              <a:r>
                <a:rPr lang="zh-CN" altLang="en-US" sz="1600" dirty="0">
                  <a:latin typeface="Arial" panose="020B0604020202020204" pitchFamily="34" charset="0"/>
                </a:rPr>
                <a:t>（</a:t>
              </a:r>
              <a:r>
                <a:rPr lang="zh-CN" altLang="zh-CN" sz="1600" dirty="0">
                  <a:latin typeface="Arial" panose="020B0604020202020204" pitchFamily="34" charset="0"/>
                </a:rPr>
                <a:t>表示该文件中共有</a:t>
              </a:r>
              <a:r>
                <a:rPr lang="en-US" altLang="zh-CN" sz="1600" dirty="0">
                  <a:latin typeface="Arial" panose="020B0604020202020204" pitchFamily="34" charset="0"/>
                </a:rPr>
                <a:t>17</a:t>
              </a:r>
              <a:r>
                <a:rPr lang="zh-CN" altLang="zh-CN" sz="1600" dirty="0">
                  <a:latin typeface="Arial" panose="020B0604020202020204" pitchFamily="34" charset="0"/>
                </a:rPr>
                <a:t>行内容包含</a:t>
              </a:r>
              <a:r>
                <a:rPr lang="en-US" altLang="zh-CN" sz="1600" dirty="0">
                  <a:latin typeface="Arial" panose="020B0604020202020204" pitchFamily="34" charset="0"/>
                </a:rPr>
                <a:t>“Spark”</a:t>
              </a:r>
              <a:r>
                <a:rPr lang="zh-CN" altLang="zh-CN" sz="1600" dirty="0">
                  <a:latin typeface="Arial" panose="020B0604020202020204" pitchFamily="34" charset="0"/>
                </a:rPr>
                <a:t>）</a:t>
              </a:r>
              <a:r>
                <a:rPr lang="zh-CN" altLang="en-US" sz="1600" dirty="0">
                  <a:latin typeface="Arial" panose="020B0604020202020204" pitchFamily="34" charset="0"/>
                </a:rPr>
                <a:t>。</a:t>
              </a:r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56327" name="TextBox 8"/>
            <p:cNvSpPr txBox="1"/>
            <p:nvPr/>
          </p:nvSpPr>
          <p:spPr>
            <a:xfrm>
              <a:off x="3360" y="4485"/>
              <a:ext cx="11760" cy="1016"/>
            </a:xfrm>
            <a:prstGeom prst="rect">
              <a:avLst/>
            </a:prstGeom>
            <a:solidFill>
              <a:schemeClr val="tx1"/>
            </a:solidFill>
            <a:ln w="9525">
              <a:noFill/>
            </a:ln>
          </p:spPr>
          <p:txBody>
            <a:bodyPr>
              <a:spAutoFit/>
            </a:bodyPr>
            <a:lstStyle/>
            <a:p>
              <a:r>
                <a:rPr lang="en-US" altLang="zh-CN" dirty="0">
                  <a:solidFill>
                    <a:schemeClr val="bg1"/>
                  </a:solidFill>
                  <a:latin typeface="Arial" panose="020B0604020202020204" pitchFamily="34" charset="0"/>
                </a:rPr>
                <a:t>Scala &gt; val linesWithSpark = textFile.filter(line =&gt; line.contains("Spark"))</a:t>
              </a:r>
              <a:endParaRPr lang="en-US" altLang="zh-CN" dirty="0">
                <a:solidFill>
                  <a:schemeClr val="bg1"/>
                </a:solidFill>
                <a:latin typeface="Arial" panose="020B0604020202020204" pitchFamily="34" charset="0"/>
              </a:endParaRPr>
            </a:p>
            <a:p>
              <a:r>
                <a:rPr lang="en-US" altLang="zh-CN" dirty="0">
                  <a:solidFill>
                    <a:schemeClr val="bg1"/>
                  </a:solidFill>
                  <a:latin typeface="Arial" panose="020B0604020202020204" pitchFamily="34" charset="0"/>
                </a:rPr>
                <a:t>Scala &gt; linesWithSpark.count()</a:t>
              </a:r>
              <a:endParaRPr lang="en-US" altLang="zh-CN" dirty="0">
                <a:solidFill>
                  <a:schemeClr val="bg1"/>
                </a:solidFill>
                <a:latin typeface="Arial" panose="020B0604020202020204" pitchFamily="34" charset="0"/>
              </a:endParaRPr>
            </a:p>
          </p:txBody>
        </p:sp>
      </p:grpSp>
      <p:grpSp>
        <p:nvGrpSpPr>
          <p:cNvPr id="5" name="组合 4"/>
          <p:cNvGrpSpPr/>
          <p:nvPr/>
        </p:nvGrpSpPr>
        <p:grpSpPr>
          <a:xfrm>
            <a:off x="1981200" y="4572000"/>
            <a:ext cx="7620000" cy="1784522"/>
            <a:chOff x="3240" y="6480"/>
            <a:chExt cx="12000" cy="2067"/>
          </a:xfrm>
        </p:grpSpPr>
        <p:sp>
          <p:nvSpPr>
            <p:cNvPr id="56328" name="TextBox 9"/>
            <p:cNvSpPr txBox="1"/>
            <p:nvPr/>
          </p:nvSpPr>
          <p:spPr>
            <a:xfrm>
              <a:off x="3240" y="6480"/>
              <a:ext cx="12000" cy="1603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r>
                <a:rPr lang="zh-CN" altLang="en-US" sz="1600" dirty="0">
                  <a:latin typeface="Arial" panose="020B0604020202020204" pitchFamily="34" charset="0"/>
                </a:rPr>
                <a:t>也可以</a:t>
              </a:r>
              <a:r>
                <a:rPr lang="zh-CN" altLang="zh-CN" sz="1600" dirty="0">
                  <a:latin typeface="Arial" panose="020B0604020202020204" pitchFamily="34" charset="0"/>
                </a:rPr>
                <a:t>在同一条代码中同时使用多个</a:t>
              </a:r>
              <a:r>
                <a:rPr lang="en-US" altLang="zh-CN" sz="1600" dirty="0">
                  <a:latin typeface="Arial" panose="020B0604020202020204" pitchFamily="34" charset="0"/>
                </a:rPr>
                <a:t>API</a:t>
              </a:r>
              <a:r>
                <a:rPr lang="zh-CN" altLang="zh-CN" sz="1600" dirty="0">
                  <a:latin typeface="Arial" panose="020B0604020202020204" pitchFamily="34" charset="0"/>
                </a:rPr>
                <a:t>，连续进行运算</a:t>
              </a:r>
              <a:r>
                <a:rPr lang="zh-CN" altLang="en-US" sz="1600" dirty="0">
                  <a:latin typeface="Arial" panose="020B0604020202020204" pitchFamily="34" charset="0"/>
                </a:rPr>
                <a:t>，称为</a:t>
              </a:r>
              <a:r>
                <a:rPr lang="zh-CN" altLang="zh-CN" sz="1600" dirty="0">
                  <a:latin typeface="Arial" panose="020B0604020202020204" pitchFamily="34" charset="0"/>
                </a:rPr>
                <a:t>链式操作</a:t>
              </a:r>
              <a:r>
                <a:rPr lang="zh-CN" altLang="en-US" sz="1600" dirty="0">
                  <a:latin typeface="Arial" panose="020B0604020202020204" pitchFamily="34" charset="0"/>
                </a:rPr>
                <a:t>。</a:t>
              </a:r>
              <a:r>
                <a:rPr lang="en-US" altLang="zh-CN" dirty="0">
                  <a:latin typeface="Arial" panose="020B0604020202020204" pitchFamily="34" charset="0"/>
                </a:rPr>
                <a:t> </a:t>
              </a:r>
              <a:endParaRPr lang="zh-CN" altLang="zh-CN" dirty="0">
                <a:latin typeface="Arial" panose="020B0604020202020204" pitchFamily="34" charset="0"/>
              </a:endParaRPr>
            </a:p>
            <a:p>
              <a:r>
                <a:rPr lang="zh-CN" altLang="zh-CN" sz="1600" dirty="0">
                  <a:latin typeface="Arial" panose="020B0604020202020204" pitchFamily="34" charset="0"/>
                </a:rPr>
                <a:t>假设我们只需要得到包含</a:t>
              </a:r>
              <a:r>
                <a:rPr lang="en-US" altLang="zh-CN" sz="1600" dirty="0">
                  <a:latin typeface="Arial" panose="020B0604020202020204" pitchFamily="34" charset="0"/>
                </a:rPr>
                <a:t>“Spark”</a:t>
              </a:r>
              <a:r>
                <a:rPr lang="zh-CN" altLang="zh-CN" sz="1600" dirty="0">
                  <a:latin typeface="Arial" panose="020B0604020202020204" pitchFamily="34" charset="0"/>
                </a:rPr>
                <a:t>的行数，那么存储筛选后的文本数据是多余的，因为这部分数据在计算得到行数后就不再使用到了。</a:t>
              </a:r>
              <a:r>
                <a:rPr lang="en-US" altLang="zh-CN" sz="1600" dirty="0">
                  <a:latin typeface="Arial" panose="020B0604020202020204" pitchFamily="34" charset="0"/>
                </a:rPr>
                <a:t>Spark</a:t>
              </a:r>
              <a:r>
                <a:rPr lang="zh-CN" altLang="zh-CN" sz="1600" dirty="0">
                  <a:latin typeface="Arial" panose="020B0604020202020204" pitchFamily="34" charset="0"/>
                </a:rPr>
                <a:t>基于整个操作链，仅储存、计算所需的数据，提升了运行效率。</a:t>
              </a:r>
              <a:endParaRPr lang="zh-CN" altLang="zh-CN" sz="1600" dirty="0">
                <a:latin typeface="Arial" panose="020B0604020202020204" pitchFamily="34" charset="0"/>
              </a:endParaRPr>
            </a:p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56329" name="TextBox 10"/>
            <p:cNvSpPr txBox="1"/>
            <p:nvPr/>
          </p:nvSpPr>
          <p:spPr>
            <a:xfrm>
              <a:off x="3360" y="7800"/>
              <a:ext cx="11760" cy="747"/>
            </a:xfrm>
            <a:prstGeom prst="rect">
              <a:avLst/>
            </a:prstGeom>
            <a:solidFill>
              <a:schemeClr val="tx1"/>
            </a:solidFill>
            <a:ln w="9525">
              <a:noFill/>
            </a:ln>
          </p:spPr>
          <p:txBody>
            <a:bodyPr>
              <a:spAutoFit/>
            </a:bodyPr>
            <a:lstStyle/>
            <a:p>
              <a:r>
                <a:rPr lang="en-US" altLang="zh-CN" dirty="0">
                  <a:solidFill>
                    <a:schemeClr val="bg1"/>
                  </a:solidFill>
                  <a:latin typeface="Arial" panose="020B0604020202020204" pitchFamily="34" charset="0"/>
                </a:rPr>
                <a:t>Scala &gt; val linesCountWithSpark </a:t>
              </a:r>
              <a:endParaRPr lang="en-US" altLang="zh-CN" dirty="0">
                <a:solidFill>
                  <a:schemeClr val="bg1"/>
                </a:solidFill>
                <a:latin typeface="Arial" panose="020B0604020202020204" pitchFamily="34" charset="0"/>
              </a:endParaRPr>
            </a:p>
            <a:p>
              <a:r>
                <a:rPr lang="en-US" altLang="zh-CN" dirty="0">
                  <a:solidFill>
                    <a:schemeClr val="bg1"/>
                  </a:solidFill>
                  <a:latin typeface="Arial" panose="020B0604020202020204" pitchFamily="34" charset="0"/>
                </a:rPr>
                <a:t>= textFile.filter(line =&gt; line.contains("Spark")).count()</a:t>
              </a:r>
              <a:endParaRPr lang="en-US" altLang="zh-CN" dirty="0">
                <a:solidFill>
                  <a:schemeClr val="bg1"/>
                </a:solidFill>
                <a:latin typeface="Arial" panose="020B0604020202020204" pitchFamily="34" charset="0"/>
              </a:endParaRPr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标题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lstStyle/>
          <a:p>
            <a:r>
              <a:rPr lang="en-US" altLang="zh-CN" b="1" dirty="0">
                <a:sym typeface="+mn-ea"/>
              </a:rPr>
              <a:t>10.5.2 Spark RDD</a:t>
            </a:r>
            <a:r>
              <a:rPr lang="zh-CN" altLang="en-US" b="1" dirty="0">
                <a:sym typeface="+mn-ea"/>
              </a:rPr>
              <a:t>基本操作</a:t>
            </a:r>
            <a:endParaRPr lang="zh-CN" altLang="en-US" dirty="0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57CE09-A6DF-4F65-B9AD-CB157D51E68C}" type="slidenum">
              <a:rPr lang="zh-CN" altLang="en-US" smtClean="0"/>
            </a:fld>
            <a:endParaRPr lang="zh-CN" altLang="en-US"/>
          </a:p>
        </p:txBody>
      </p:sp>
      <p:sp>
        <p:nvSpPr>
          <p:cNvPr id="57347" name="矩形 2"/>
          <p:cNvSpPr/>
          <p:nvPr/>
        </p:nvSpPr>
        <p:spPr>
          <a:xfrm>
            <a:off x="1190625" y="1622425"/>
            <a:ext cx="9324340" cy="428498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r>
              <a:rPr lang="en-US" altLang="zh-CN" sz="2000" dirty="0">
                <a:latin typeface="Arial" panose="020B0604020202020204" pitchFamily="34" charset="0"/>
              </a:rPr>
              <a:t>Spark</a:t>
            </a:r>
            <a:r>
              <a:rPr lang="zh-CN" altLang="zh-CN" sz="2000" dirty="0">
                <a:latin typeface="Arial" panose="020B0604020202020204" pitchFamily="34" charset="0"/>
              </a:rPr>
              <a:t>属于</a:t>
            </a:r>
            <a:r>
              <a:rPr lang="en-US" altLang="zh-CN" sz="2000" dirty="0">
                <a:latin typeface="Arial" panose="020B0604020202020204" pitchFamily="34" charset="0"/>
              </a:rPr>
              <a:t>MapReduce</a:t>
            </a:r>
            <a:r>
              <a:rPr lang="zh-CN" altLang="zh-CN" sz="2000" dirty="0">
                <a:latin typeface="Arial" panose="020B0604020202020204" pitchFamily="34" charset="0"/>
              </a:rPr>
              <a:t>计算模型，因此也可以实现</a:t>
            </a:r>
            <a:r>
              <a:rPr lang="en-US" altLang="zh-CN" sz="2000" dirty="0">
                <a:latin typeface="Arial" panose="020B0604020202020204" pitchFamily="34" charset="0"/>
              </a:rPr>
              <a:t>MapReduce</a:t>
            </a:r>
            <a:r>
              <a:rPr lang="zh-CN" altLang="zh-CN" sz="2000" dirty="0">
                <a:latin typeface="Arial" panose="020B0604020202020204" pitchFamily="34" charset="0"/>
              </a:rPr>
              <a:t>的计算流程，如实现单词统计，可以使用如下的命令实现</a:t>
            </a:r>
            <a:r>
              <a:rPr lang="zh-CN" altLang="en-US" sz="2000" dirty="0">
                <a:latin typeface="Arial" panose="020B0604020202020204" pitchFamily="34" charset="0"/>
              </a:rPr>
              <a:t>：</a:t>
            </a:r>
            <a:endParaRPr lang="en-US" altLang="zh-CN" sz="2000" dirty="0">
              <a:latin typeface="Arial" panose="020B0604020202020204" pitchFamily="34" charset="0"/>
            </a:endParaRPr>
          </a:p>
          <a:p>
            <a:endParaRPr lang="en-US" altLang="zh-CN" sz="2000" dirty="0">
              <a:latin typeface="Arial" panose="020B0604020202020204" pitchFamily="34" charset="0"/>
            </a:endParaRPr>
          </a:p>
          <a:p>
            <a:endParaRPr lang="en-US" altLang="zh-CN" sz="2000" dirty="0">
              <a:latin typeface="Arial" panose="020B0604020202020204" pitchFamily="34" charset="0"/>
            </a:endParaRPr>
          </a:p>
          <a:p>
            <a:endParaRPr lang="en-US" altLang="zh-CN" sz="2000" dirty="0">
              <a:latin typeface="Arial" panose="020B0604020202020204" pitchFamily="34" charset="0"/>
            </a:endParaRPr>
          </a:p>
          <a:p>
            <a:endParaRPr lang="en-US" altLang="zh-CN" sz="2000" dirty="0">
              <a:latin typeface="Arial" panose="020B0604020202020204" pitchFamily="34" charset="0"/>
            </a:endParaRPr>
          </a:p>
          <a:p>
            <a:endParaRPr lang="en-US" altLang="zh-CN" sz="2000" dirty="0">
              <a:latin typeface="Arial" panose="020B0604020202020204" pitchFamily="34" charset="0"/>
            </a:endParaRPr>
          </a:p>
          <a:p>
            <a:endParaRPr lang="en-US" altLang="zh-CN" sz="2000" dirty="0">
              <a:latin typeface="Arial" panose="020B0604020202020204" pitchFamily="34" charset="0"/>
            </a:endParaRPr>
          </a:p>
          <a:p>
            <a:endParaRPr lang="en-US" altLang="zh-CN" sz="2000" dirty="0">
              <a:latin typeface="Arial" panose="020B0604020202020204" pitchFamily="34" charset="0"/>
            </a:endParaRPr>
          </a:p>
          <a:p>
            <a:pPr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zh-CN" altLang="zh-CN" sz="2000" dirty="0">
                <a:latin typeface="Arial" panose="020B0604020202020204" pitchFamily="34" charset="0"/>
              </a:rPr>
              <a:t>首先使用</a:t>
            </a:r>
            <a:r>
              <a:rPr lang="en-US" altLang="zh-CN" sz="2000" dirty="0">
                <a:latin typeface="Arial" panose="020B0604020202020204" pitchFamily="34" charset="0"/>
              </a:rPr>
              <a:t>flatMap()</a:t>
            </a:r>
            <a:r>
              <a:rPr lang="zh-CN" altLang="zh-CN" sz="2000" dirty="0">
                <a:latin typeface="Arial" panose="020B0604020202020204" pitchFamily="34" charset="0"/>
              </a:rPr>
              <a:t>将每一行的文本内容通过空格进行划分为单词</a:t>
            </a:r>
            <a:r>
              <a:rPr lang="zh-CN" altLang="en-US" sz="2000" dirty="0">
                <a:latin typeface="Arial" panose="020B0604020202020204" pitchFamily="34" charset="0"/>
              </a:rPr>
              <a:t>；</a:t>
            </a:r>
            <a:endParaRPr lang="en-US" altLang="zh-CN" sz="2000" dirty="0">
              <a:latin typeface="Arial" panose="020B0604020202020204" pitchFamily="34" charset="0"/>
            </a:endParaRPr>
          </a:p>
          <a:p>
            <a:pPr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zh-CN" altLang="zh-CN" sz="2000" dirty="0">
                <a:latin typeface="Arial" panose="020B0604020202020204" pitchFamily="34" charset="0"/>
              </a:rPr>
              <a:t>再使用</a:t>
            </a:r>
            <a:r>
              <a:rPr lang="en-US" altLang="zh-CN" sz="2000" dirty="0">
                <a:latin typeface="Arial" panose="020B0604020202020204" pitchFamily="34" charset="0"/>
              </a:rPr>
              <a:t>map()</a:t>
            </a:r>
            <a:r>
              <a:rPr lang="zh-CN" altLang="zh-CN" sz="2000" dirty="0">
                <a:latin typeface="Arial" panose="020B0604020202020204" pitchFamily="34" charset="0"/>
              </a:rPr>
              <a:t>将单词映射为</a:t>
            </a:r>
            <a:r>
              <a:rPr lang="en-US" altLang="zh-CN" sz="2000" dirty="0">
                <a:latin typeface="Arial" panose="020B0604020202020204" pitchFamily="34" charset="0"/>
              </a:rPr>
              <a:t>(K,V)</a:t>
            </a:r>
            <a:r>
              <a:rPr lang="zh-CN" altLang="zh-CN" sz="2000" dirty="0">
                <a:latin typeface="Arial" panose="020B0604020202020204" pitchFamily="34" charset="0"/>
              </a:rPr>
              <a:t>的键值对，其中</a:t>
            </a:r>
            <a:r>
              <a:rPr lang="en-US" altLang="zh-CN" sz="2000" dirty="0">
                <a:latin typeface="Arial" panose="020B0604020202020204" pitchFamily="34" charset="0"/>
              </a:rPr>
              <a:t>K</a:t>
            </a:r>
            <a:r>
              <a:rPr lang="zh-CN" altLang="zh-CN" sz="2000" dirty="0">
                <a:latin typeface="Arial" panose="020B0604020202020204" pitchFamily="34" charset="0"/>
              </a:rPr>
              <a:t>为单词，</a:t>
            </a:r>
            <a:r>
              <a:rPr lang="en-US" altLang="zh-CN" sz="2000" dirty="0">
                <a:latin typeface="Arial" panose="020B0604020202020204" pitchFamily="34" charset="0"/>
              </a:rPr>
              <a:t>V</a:t>
            </a:r>
            <a:r>
              <a:rPr lang="zh-CN" altLang="zh-CN" sz="2000" dirty="0">
                <a:latin typeface="Arial" panose="020B0604020202020204" pitchFamily="34" charset="0"/>
              </a:rPr>
              <a:t>为</a:t>
            </a:r>
            <a:r>
              <a:rPr lang="en-US" altLang="zh-CN" sz="2000" dirty="0">
                <a:latin typeface="Arial" panose="020B0604020202020204" pitchFamily="34" charset="0"/>
              </a:rPr>
              <a:t>1</a:t>
            </a:r>
            <a:r>
              <a:rPr lang="zh-CN" altLang="zh-CN" sz="2000" dirty="0">
                <a:latin typeface="Arial" panose="020B0604020202020204" pitchFamily="34" charset="0"/>
              </a:rPr>
              <a:t>；</a:t>
            </a:r>
            <a:endParaRPr lang="en-US" altLang="zh-CN" sz="2000" dirty="0">
              <a:latin typeface="Arial" panose="020B0604020202020204" pitchFamily="34" charset="0"/>
            </a:endParaRPr>
          </a:p>
          <a:p>
            <a:pPr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zh-CN" altLang="zh-CN" sz="2000" dirty="0">
                <a:latin typeface="Arial" panose="020B0604020202020204" pitchFamily="34" charset="0"/>
              </a:rPr>
              <a:t>最后使用</a:t>
            </a:r>
            <a:r>
              <a:rPr lang="en-US" altLang="zh-CN" sz="2000" dirty="0">
                <a:latin typeface="Arial" panose="020B0604020202020204" pitchFamily="34" charset="0"/>
              </a:rPr>
              <a:t>reduceByKey()</a:t>
            </a:r>
            <a:r>
              <a:rPr lang="zh-CN" altLang="zh-CN" sz="2000" dirty="0">
                <a:latin typeface="Arial" panose="020B0604020202020204" pitchFamily="34" charset="0"/>
              </a:rPr>
              <a:t>将相同单词的计数进行相加</a:t>
            </a:r>
            <a:r>
              <a:rPr lang="zh-CN" altLang="en-US" sz="2000" dirty="0">
                <a:latin typeface="Arial" panose="020B0604020202020204" pitchFamily="34" charset="0"/>
              </a:rPr>
              <a:t>，</a:t>
            </a:r>
            <a:r>
              <a:rPr lang="zh-CN" altLang="zh-CN" sz="2000" dirty="0">
                <a:latin typeface="Arial" panose="020B0604020202020204" pitchFamily="34" charset="0"/>
              </a:rPr>
              <a:t>最终得到该单词总的出现的次数</a:t>
            </a:r>
            <a:r>
              <a:rPr lang="zh-CN" altLang="en-US" sz="2000" dirty="0">
                <a:latin typeface="Arial" panose="020B0604020202020204" pitchFamily="34" charset="0"/>
              </a:rPr>
              <a:t>。</a:t>
            </a:r>
            <a:r>
              <a:rPr lang="en-US" altLang="zh-CN" sz="2000" dirty="0">
                <a:latin typeface="Arial" panose="020B0604020202020204" pitchFamily="34" charset="0"/>
              </a:rPr>
              <a:t> </a:t>
            </a:r>
            <a:endParaRPr lang="en-US" altLang="zh-CN" sz="2000" dirty="0">
              <a:latin typeface="Arial" panose="020B0604020202020204" pitchFamily="34" charset="0"/>
            </a:endParaRPr>
          </a:p>
        </p:txBody>
      </p:sp>
      <p:sp>
        <p:nvSpPr>
          <p:cNvPr id="57348" name="Rectangle 2"/>
          <p:cNvSpPr/>
          <p:nvPr/>
        </p:nvSpPr>
        <p:spPr>
          <a:xfrm>
            <a:off x="1524000" y="44450"/>
            <a:ext cx="309880" cy="3683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/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57349" name="TextBox 5"/>
          <p:cNvSpPr txBox="1"/>
          <p:nvPr/>
        </p:nvSpPr>
        <p:spPr>
          <a:xfrm>
            <a:off x="1266825" y="2371725"/>
            <a:ext cx="8781415" cy="1938020"/>
          </a:xfrm>
          <a:prstGeom prst="rect">
            <a:avLst/>
          </a:prstGeom>
          <a:solidFill>
            <a:schemeClr val="tx1"/>
          </a:solidFill>
          <a:ln w="9525">
            <a:noFill/>
          </a:ln>
        </p:spPr>
        <p:txBody>
          <a:bodyPr wrap="square">
            <a:spAutoFit/>
          </a:bodyPr>
          <a:lstStyle/>
          <a:p>
            <a:r>
              <a:rPr lang="en-US" altLang="zh-CN" sz="2400" dirty="0">
                <a:solidFill>
                  <a:schemeClr val="bg1"/>
                </a:solidFill>
                <a:latin typeface="Arial" panose="020B0604020202020204" pitchFamily="34" charset="0"/>
              </a:rPr>
              <a:t>Scala &gt; val wordCounts = textFile.flatMap(line =&gt; line.split(" ")).map(word =&gt; (word, 1)).reduceByKey((a, b) =&gt; a + b)</a:t>
            </a:r>
            <a:endParaRPr lang="en-US" altLang="zh-CN" sz="2400" dirty="0">
              <a:solidFill>
                <a:schemeClr val="bg1"/>
              </a:solidFill>
              <a:latin typeface="Arial" panose="020B0604020202020204" pitchFamily="34" charset="0"/>
            </a:endParaRPr>
          </a:p>
          <a:p>
            <a:r>
              <a:rPr lang="en-US" altLang="zh-CN" sz="2400" dirty="0">
                <a:solidFill>
                  <a:schemeClr val="bg1"/>
                </a:solidFill>
                <a:latin typeface="Arial" panose="020B0604020202020204" pitchFamily="34" charset="0"/>
              </a:rPr>
              <a:t>Scala &gt; wordCounts.collect() // </a:t>
            </a:r>
            <a:r>
              <a:rPr lang="zh-CN" altLang="en-US" sz="2400" dirty="0">
                <a:solidFill>
                  <a:schemeClr val="bg1"/>
                </a:solidFill>
                <a:latin typeface="Arial" panose="020B0604020202020204" pitchFamily="34" charset="0"/>
              </a:rPr>
              <a:t>输出单词统计结果</a:t>
            </a:r>
            <a:endParaRPr lang="zh-CN" altLang="en-US" sz="2400" dirty="0">
              <a:solidFill>
                <a:schemeClr val="bg1"/>
              </a:solidFill>
              <a:latin typeface="Arial" panose="020B0604020202020204" pitchFamily="34" charset="0"/>
            </a:endParaRPr>
          </a:p>
          <a:p>
            <a:r>
              <a:rPr lang="en-US" altLang="zh-CN" sz="2400" dirty="0">
                <a:solidFill>
                  <a:schemeClr val="bg1"/>
                </a:solidFill>
                <a:latin typeface="Arial" panose="020B0604020202020204" pitchFamily="34" charset="0"/>
              </a:rPr>
              <a:t>// Array[(String, Int)] = Array((package,1), (For,2), (Programs,1), (processing.,1), (Because,1), (The,1)...)</a:t>
            </a:r>
            <a:endParaRPr lang="en-US" altLang="zh-CN" sz="2400" dirty="0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/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标题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lstStyle/>
          <a:p>
            <a:r>
              <a:rPr lang="en-US" altLang="zh-CN" b="1" dirty="0">
                <a:sym typeface="+mn-ea"/>
              </a:rPr>
              <a:t>10.5.3 Spark</a:t>
            </a:r>
            <a:r>
              <a:rPr lang="zh-CN" altLang="en-US" b="1" dirty="0">
                <a:sym typeface="+mn-ea"/>
              </a:rPr>
              <a:t>应用程序</a:t>
            </a:r>
            <a:endParaRPr lang="zh-CN" altLang="en-US" dirty="0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57CE09-A6DF-4F65-B9AD-CB157D51E68C}" type="slidenum">
              <a:rPr lang="zh-CN" altLang="en-US" smtClean="0"/>
            </a:fld>
            <a:endParaRPr lang="zh-CN" altLang="en-US"/>
          </a:p>
        </p:txBody>
      </p:sp>
      <p:sp>
        <p:nvSpPr>
          <p:cNvPr id="58371" name="矩形 2"/>
          <p:cNvSpPr/>
          <p:nvPr/>
        </p:nvSpPr>
        <p:spPr>
          <a:xfrm>
            <a:off x="1276350" y="1441450"/>
            <a:ext cx="9096375" cy="170688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zh-CN" altLang="en-US" sz="2000" dirty="0">
                <a:latin typeface="Arial" panose="020B0604020202020204" pitchFamily="34" charset="0"/>
              </a:rPr>
              <a:t>在</a:t>
            </a:r>
            <a:r>
              <a:rPr lang="en-US" altLang="zh-CN" sz="2000" dirty="0">
                <a:latin typeface="Arial" panose="020B0604020202020204" pitchFamily="34" charset="0"/>
              </a:rPr>
              <a:t>Spark Shell</a:t>
            </a:r>
            <a:r>
              <a:rPr lang="zh-CN" altLang="en-US" sz="2000" dirty="0">
                <a:latin typeface="Arial" panose="020B0604020202020204" pitchFamily="34" charset="0"/>
              </a:rPr>
              <a:t>中进行编程主要是方便对代码进行调试，但需要以逐行代码的方式运行。一般情况下，会选择将调试后代码打包成独立的</a:t>
            </a:r>
            <a:r>
              <a:rPr lang="en-US" altLang="zh-CN" sz="2000" dirty="0">
                <a:latin typeface="Arial" panose="020B0604020202020204" pitchFamily="34" charset="0"/>
              </a:rPr>
              <a:t>Spark</a:t>
            </a:r>
            <a:r>
              <a:rPr lang="zh-CN" altLang="en-US" sz="2000" dirty="0">
                <a:latin typeface="Arial" panose="020B0604020202020204" pitchFamily="34" charset="0"/>
              </a:rPr>
              <a:t>应用程序，提交到</a:t>
            </a:r>
            <a:r>
              <a:rPr lang="en-US" altLang="zh-CN" sz="2000" dirty="0">
                <a:latin typeface="Arial" panose="020B0604020202020204" pitchFamily="34" charset="0"/>
              </a:rPr>
              <a:t>Spark</a:t>
            </a:r>
            <a:r>
              <a:rPr lang="zh-CN" altLang="en-US" sz="2000" dirty="0">
                <a:latin typeface="Arial" panose="020B0604020202020204" pitchFamily="34" charset="0"/>
              </a:rPr>
              <a:t>中运行。</a:t>
            </a:r>
            <a:endParaRPr lang="zh-CN" altLang="en-US" sz="2000" dirty="0">
              <a:latin typeface="Arial" panose="020B0604020202020204" pitchFamily="34" charset="0"/>
            </a:endParaRP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zh-CN" altLang="en-US" sz="2000" dirty="0">
                <a:latin typeface="Arial" panose="020B0604020202020204" pitchFamily="34" charset="0"/>
              </a:rPr>
              <a:t>采用</a:t>
            </a:r>
            <a:r>
              <a:rPr lang="en-US" altLang="zh-CN" sz="2000" dirty="0">
                <a:latin typeface="Arial" panose="020B0604020202020204" pitchFamily="34" charset="0"/>
              </a:rPr>
              <a:t>Scala</a:t>
            </a:r>
            <a:r>
              <a:rPr lang="zh-CN" altLang="en-US" sz="2000" dirty="0">
                <a:latin typeface="Arial" panose="020B0604020202020204" pitchFamily="34" charset="0"/>
              </a:rPr>
              <a:t>编写的程序需要使用</a:t>
            </a:r>
            <a:r>
              <a:rPr lang="en-US" altLang="zh-CN" sz="2000" dirty="0">
                <a:latin typeface="Arial" panose="020B0604020202020204" pitchFamily="34" charset="0"/>
              </a:rPr>
              <a:t>sbt</a:t>
            </a:r>
            <a:r>
              <a:rPr lang="zh-CN" altLang="en-US" sz="2000" dirty="0">
                <a:latin typeface="Arial" panose="020B0604020202020204" pitchFamily="34" charset="0"/>
              </a:rPr>
              <a:t>（</a:t>
            </a:r>
            <a:r>
              <a:rPr lang="en-US" altLang="zh-CN" sz="2000" dirty="0">
                <a:latin typeface="Arial" panose="020B0604020202020204" pitchFamily="34" charset="0"/>
              </a:rPr>
              <a:t>Simple Build Tool</a:t>
            </a:r>
            <a:r>
              <a:rPr lang="zh-CN" altLang="en-US" sz="2000" dirty="0">
                <a:latin typeface="Arial" panose="020B0604020202020204" pitchFamily="34" charset="0"/>
              </a:rPr>
              <a:t>）进行打包，</a:t>
            </a:r>
            <a:r>
              <a:rPr lang="en-US" altLang="zh-CN" sz="2000" dirty="0">
                <a:latin typeface="Arial" panose="020B0604020202020204" pitchFamily="34" charset="0"/>
              </a:rPr>
              <a:t>sbt</a:t>
            </a:r>
            <a:r>
              <a:rPr lang="zh-CN" altLang="en-US" sz="2000" dirty="0">
                <a:latin typeface="Arial" panose="020B0604020202020204" pitchFamily="34" charset="0"/>
              </a:rPr>
              <a:t>的安装配置步骤如下：</a:t>
            </a:r>
            <a:endParaRPr lang="zh-CN" altLang="en-US" sz="2000" dirty="0">
              <a:latin typeface="Arial" panose="020B0604020202020204" pitchFamily="34" charset="0"/>
            </a:endParaRPr>
          </a:p>
        </p:txBody>
      </p:sp>
      <p:sp>
        <p:nvSpPr>
          <p:cNvPr id="58372" name="Rectangle 2"/>
          <p:cNvSpPr/>
          <p:nvPr/>
        </p:nvSpPr>
        <p:spPr>
          <a:xfrm>
            <a:off x="1524000" y="44450"/>
            <a:ext cx="309880" cy="3683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/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58373" name="TextBox 6"/>
          <p:cNvSpPr txBox="1"/>
          <p:nvPr/>
        </p:nvSpPr>
        <p:spPr>
          <a:xfrm>
            <a:off x="1276350" y="3429000"/>
            <a:ext cx="8410575" cy="70675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marL="342900" indent="-342900"/>
            <a:r>
              <a:rPr lang="zh-CN" altLang="en-US" sz="2000" dirty="0">
                <a:latin typeface="Arial" panose="020B0604020202020204" pitchFamily="34" charset="0"/>
              </a:rPr>
              <a:t>下载</a:t>
            </a:r>
            <a:r>
              <a:rPr lang="en-US" altLang="zh-CN" sz="2000" dirty="0">
                <a:latin typeface="Arial" panose="020B0604020202020204" pitchFamily="34" charset="0"/>
              </a:rPr>
              <a:t>sbt</a:t>
            </a:r>
            <a:r>
              <a:rPr lang="zh-CN" altLang="en-US" sz="2000" dirty="0">
                <a:latin typeface="Arial" panose="020B0604020202020204" pitchFamily="34" charset="0"/>
              </a:rPr>
              <a:t>安装包文件</a:t>
            </a:r>
            <a:r>
              <a:rPr lang="en-US" altLang="zh-CN" sz="2000" dirty="0">
                <a:latin typeface="Arial" panose="020B0604020202020204" pitchFamily="34" charset="0"/>
              </a:rPr>
              <a:t>sbt-1.3.8.tgz</a:t>
            </a:r>
            <a:r>
              <a:rPr lang="zh-CN" altLang="en-US" sz="2000" dirty="0">
                <a:latin typeface="Arial" panose="020B0604020202020204" pitchFamily="34" charset="0"/>
              </a:rPr>
              <a:t>（下载地址</a:t>
            </a:r>
            <a:r>
              <a:rPr lang="en-US" altLang="zh-CN" sz="2000" dirty="0">
                <a:latin typeface="Arial" panose="020B0604020202020204" pitchFamily="34" charset="0"/>
              </a:rPr>
              <a:t> http://www.scala-sbt.org</a:t>
            </a:r>
            <a:r>
              <a:rPr lang="zh-CN" altLang="en-US" sz="2000" dirty="0">
                <a:latin typeface="Arial" panose="020B0604020202020204" pitchFamily="34" charset="0"/>
              </a:rPr>
              <a:t>）</a:t>
            </a:r>
            <a:endParaRPr lang="en-US" altLang="zh-CN" sz="2000" dirty="0">
              <a:latin typeface="Arial" panose="020B0604020202020204" pitchFamily="34" charset="0"/>
            </a:endParaRPr>
          </a:p>
          <a:p>
            <a:pPr marL="342900" indent="-342900"/>
            <a:r>
              <a:rPr lang="zh-CN" altLang="en-US" sz="2000" dirty="0">
                <a:latin typeface="Arial" panose="020B0604020202020204" pitchFamily="34" charset="0"/>
              </a:rPr>
              <a:t>将下载后的文件拷贝至安装目录</a:t>
            </a:r>
            <a:r>
              <a:rPr lang="en-US" altLang="zh-CN" sz="2000" dirty="0">
                <a:latin typeface="Arial" panose="020B0604020202020204" pitchFamily="34" charset="0"/>
              </a:rPr>
              <a:t>/usr/local/sbt</a:t>
            </a:r>
            <a:r>
              <a:rPr lang="zh-CN" altLang="en-US" sz="2000" dirty="0">
                <a:latin typeface="Arial" panose="020B0604020202020204" pitchFamily="34" charset="0"/>
              </a:rPr>
              <a:t>中，命令如下：</a:t>
            </a:r>
            <a:endParaRPr lang="zh-CN" altLang="en-US" sz="2000" dirty="0">
              <a:latin typeface="Arial" panose="020B0604020202020204" pitchFamily="34" charset="0"/>
            </a:endParaRPr>
          </a:p>
        </p:txBody>
      </p:sp>
      <p:sp>
        <p:nvSpPr>
          <p:cNvPr id="58374" name="TextBox 8"/>
          <p:cNvSpPr txBox="1"/>
          <p:nvPr/>
        </p:nvSpPr>
        <p:spPr>
          <a:xfrm>
            <a:off x="1438275" y="4562475"/>
            <a:ext cx="9219565" cy="1938020"/>
          </a:xfrm>
          <a:prstGeom prst="rect">
            <a:avLst/>
          </a:prstGeom>
          <a:solidFill>
            <a:schemeClr val="tx1"/>
          </a:solidFill>
          <a:ln w="9525">
            <a:noFill/>
          </a:ln>
        </p:spPr>
        <p:txBody>
          <a:bodyPr wrap="square">
            <a:spAutoFit/>
          </a:bodyPr>
          <a:lstStyle/>
          <a:p>
            <a:r>
              <a:rPr lang="en-US" altLang="zh-CN" sz="2000" dirty="0">
                <a:solidFill>
                  <a:schemeClr val="bg1"/>
                </a:solidFill>
                <a:latin typeface="Arial" panose="020B0604020202020204" pitchFamily="34" charset="0"/>
              </a:rPr>
              <a:t>$ sudo mkdir /usr/local/sbt             </a:t>
            </a:r>
            <a:r>
              <a:rPr lang="zh-CN" altLang="en-US" sz="2000" dirty="0">
                <a:solidFill>
                  <a:schemeClr val="bg1"/>
                </a:solidFill>
                <a:latin typeface="Arial" panose="020B0604020202020204" pitchFamily="34" charset="0"/>
              </a:rPr>
              <a:t>　　　</a:t>
            </a:r>
            <a:r>
              <a:rPr lang="en-US" altLang="zh-CN" sz="2000" dirty="0">
                <a:solidFill>
                  <a:schemeClr val="bg1"/>
                </a:solidFill>
                <a:latin typeface="Arial" panose="020B0604020202020204" pitchFamily="34" charset="0"/>
              </a:rPr>
              <a:t># </a:t>
            </a:r>
            <a:r>
              <a:rPr lang="zh-CN" altLang="en-US" sz="2000" dirty="0">
                <a:solidFill>
                  <a:schemeClr val="bg1"/>
                </a:solidFill>
                <a:latin typeface="Arial" panose="020B0604020202020204" pitchFamily="34" charset="0"/>
              </a:rPr>
              <a:t>创建安装目录</a:t>
            </a:r>
            <a:endParaRPr lang="zh-CN" altLang="en-US" sz="2000" dirty="0">
              <a:solidFill>
                <a:schemeClr val="bg1"/>
              </a:solidFill>
              <a:latin typeface="Arial" panose="020B0604020202020204" pitchFamily="34" charset="0"/>
            </a:endParaRPr>
          </a:p>
          <a:p>
            <a:r>
              <a:rPr lang="en-US" altLang="zh-CN" sz="2000" dirty="0">
                <a:solidFill>
                  <a:schemeClr val="bg1"/>
                </a:solidFill>
                <a:latin typeface="Arial" panose="020B0604020202020204" pitchFamily="34" charset="0"/>
              </a:rPr>
              <a:t>$ cd ~/Downloads </a:t>
            </a:r>
            <a:endParaRPr lang="en-US" altLang="zh-CN" sz="2000" dirty="0">
              <a:solidFill>
                <a:schemeClr val="bg1"/>
              </a:solidFill>
              <a:latin typeface="Arial" panose="020B0604020202020204" pitchFamily="34" charset="0"/>
            </a:endParaRPr>
          </a:p>
          <a:p>
            <a:r>
              <a:rPr lang="en-US" altLang="zh-CN" sz="2000" dirty="0">
                <a:solidFill>
                  <a:schemeClr val="bg1"/>
                </a:solidFill>
                <a:latin typeface="Arial" panose="020B0604020202020204" pitchFamily="34" charset="0"/>
              </a:rPr>
              <a:t>$ sudo tar -zxvf ./sbt-1.3.8.tgz -C /usr/local </a:t>
            </a:r>
            <a:endParaRPr lang="en-US" altLang="zh-CN" sz="2000" dirty="0">
              <a:solidFill>
                <a:schemeClr val="bg1"/>
              </a:solidFill>
              <a:latin typeface="Arial" panose="020B0604020202020204" pitchFamily="34" charset="0"/>
            </a:endParaRPr>
          </a:p>
          <a:p>
            <a:r>
              <a:rPr lang="en-US" altLang="zh-CN" sz="2000" dirty="0">
                <a:solidFill>
                  <a:schemeClr val="bg1"/>
                </a:solidFill>
                <a:latin typeface="Arial" panose="020B0604020202020204" pitchFamily="34" charset="0"/>
              </a:rPr>
              <a:t>$ cd /usr/local/sbt</a:t>
            </a:r>
            <a:endParaRPr lang="en-US" altLang="zh-CN" sz="2000" dirty="0">
              <a:solidFill>
                <a:schemeClr val="bg1"/>
              </a:solidFill>
              <a:latin typeface="Arial" panose="020B0604020202020204" pitchFamily="34" charset="0"/>
            </a:endParaRPr>
          </a:p>
          <a:p>
            <a:r>
              <a:rPr lang="en-US" altLang="zh-CN" sz="2000" dirty="0">
                <a:solidFill>
                  <a:schemeClr val="bg1"/>
                </a:solidFill>
                <a:latin typeface="Arial" panose="020B0604020202020204" pitchFamily="34" charset="0"/>
              </a:rPr>
              <a:t>$ sudo chown -R hadoop /usr/local/sbt  </a:t>
            </a:r>
            <a:r>
              <a:rPr lang="zh-CN" altLang="en-US" sz="2000" dirty="0">
                <a:solidFill>
                  <a:schemeClr val="bg1"/>
                </a:solidFill>
                <a:latin typeface="Arial" panose="020B0604020202020204" pitchFamily="34" charset="0"/>
              </a:rPr>
              <a:t>　　 </a:t>
            </a:r>
            <a:r>
              <a:rPr lang="en-US" altLang="zh-CN" sz="2000" dirty="0">
                <a:solidFill>
                  <a:schemeClr val="bg1"/>
                </a:solidFill>
                <a:latin typeface="Arial" panose="020B0604020202020204" pitchFamily="34" charset="0"/>
              </a:rPr>
              <a:t># </a:t>
            </a:r>
            <a:r>
              <a:rPr lang="zh-CN" altLang="en-US" sz="2000" dirty="0">
                <a:solidFill>
                  <a:schemeClr val="bg1"/>
                </a:solidFill>
                <a:latin typeface="Arial" panose="020B0604020202020204" pitchFamily="34" charset="0"/>
              </a:rPr>
              <a:t>此处的</a:t>
            </a:r>
            <a:r>
              <a:rPr lang="en-US" altLang="zh-CN" sz="2000" dirty="0">
                <a:solidFill>
                  <a:schemeClr val="bg1"/>
                </a:solidFill>
                <a:latin typeface="Arial" panose="020B0604020202020204" pitchFamily="34" charset="0"/>
              </a:rPr>
              <a:t>hadoop</a:t>
            </a:r>
            <a:r>
              <a:rPr lang="zh-CN" altLang="en-US" sz="2000" dirty="0">
                <a:solidFill>
                  <a:schemeClr val="bg1"/>
                </a:solidFill>
                <a:latin typeface="Arial" panose="020B0604020202020204" pitchFamily="34" charset="0"/>
              </a:rPr>
              <a:t>为系统当前用户名</a:t>
            </a:r>
            <a:endParaRPr lang="zh-CN" altLang="en-US" sz="2000" dirty="0">
              <a:solidFill>
                <a:schemeClr val="bg1"/>
              </a:solidFill>
              <a:latin typeface="Arial" panose="020B0604020202020204" pitchFamily="34" charset="0"/>
            </a:endParaRPr>
          </a:p>
          <a:p>
            <a:r>
              <a:rPr lang="en-US" altLang="zh-CN" sz="2000" dirty="0">
                <a:solidFill>
                  <a:schemeClr val="bg1"/>
                </a:solidFill>
                <a:latin typeface="Arial" panose="020B0604020202020204" pitchFamily="34" charset="0"/>
              </a:rPr>
              <a:t>$ cp ./bin/sbt-launch.jar ./  #</a:t>
            </a:r>
            <a:r>
              <a:rPr lang="zh-CN" altLang="en-US" sz="2000" dirty="0">
                <a:solidFill>
                  <a:schemeClr val="bg1"/>
                </a:solidFill>
                <a:latin typeface="Arial" panose="020B0604020202020204" pitchFamily="34" charset="0"/>
              </a:rPr>
              <a:t>把</a:t>
            </a:r>
            <a:r>
              <a:rPr lang="en-US" altLang="zh-CN" sz="2000" dirty="0">
                <a:solidFill>
                  <a:schemeClr val="bg1"/>
                </a:solidFill>
                <a:latin typeface="Arial" panose="020B0604020202020204" pitchFamily="34" charset="0"/>
              </a:rPr>
              <a:t>bin</a:t>
            </a:r>
            <a:r>
              <a:rPr lang="zh-CN" altLang="en-US" sz="2000" dirty="0">
                <a:solidFill>
                  <a:schemeClr val="bg1"/>
                </a:solidFill>
                <a:latin typeface="Arial" panose="020B0604020202020204" pitchFamily="34" charset="0"/>
              </a:rPr>
              <a:t>目录下的</a:t>
            </a:r>
            <a:r>
              <a:rPr lang="en-US" altLang="zh-CN" sz="2000" dirty="0">
                <a:solidFill>
                  <a:schemeClr val="bg1"/>
                </a:solidFill>
                <a:latin typeface="Arial" panose="020B0604020202020204" pitchFamily="34" charset="0"/>
              </a:rPr>
              <a:t>sbt-launch.jar</a:t>
            </a:r>
            <a:r>
              <a:rPr lang="zh-CN" altLang="en-US" sz="2000" dirty="0">
                <a:solidFill>
                  <a:schemeClr val="bg1"/>
                </a:solidFill>
                <a:latin typeface="Arial" panose="020B0604020202020204" pitchFamily="34" charset="0"/>
              </a:rPr>
              <a:t>复制到</a:t>
            </a:r>
            <a:r>
              <a:rPr lang="en-US" altLang="zh-CN" sz="2000" dirty="0">
                <a:solidFill>
                  <a:schemeClr val="bg1"/>
                </a:solidFill>
                <a:latin typeface="Arial" panose="020B0604020202020204" pitchFamily="34" charset="0"/>
              </a:rPr>
              <a:t>sbt</a:t>
            </a:r>
            <a:r>
              <a:rPr lang="zh-CN" altLang="en-US" sz="2000" dirty="0">
                <a:solidFill>
                  <a:schemeClr val="bg1"/>
                </a:solidFill>
                <a:latin typeface="Arial" panose="020B0604020202020204" pitchFamily="34" charset="0"/>
              </a:rPr>
              <a:t>安装目录下</a:t>
            </a:r>
            <a:endParaRPr lang="zh-CN" altLang="en-US" sz="2000" dirty="0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/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标题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lstStyle/>
          <a:p>
            <a:r>
              <a:rPr lang="en-US" altLang="zh-CN" b="1" dirty="0"/>
              <a:t>10.5.3 Spark</a:t>
            </a:r>
            <a:r>
              <a:rPr lang="zh-CN" altLang="en-US" b="1" dirty="0"/>
              <a:t>应用程序</a:t>
            </a:r>
            <a:endParaRPr lang="zh-CN" altLang="en-US" b="1" dirty="0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57CE09-A6DF-4F65-B9AD-CB157D51E68C}" type="slidenum">
              <a:rPr lang="zh-CN" altLang="en-US" smtClean="0"/>
            </a:fld>
            <a:endParaRPr lang="zh-CN" altLang="en-US"/>
          </a:p>
        </p:txBody>
      </p:sp>
      <p:sp>
        <p:nvSpPr>
          <p:cNvPr id="59395" name="Rectangle 2"/>
          <p:cNvSpPr/>
          <p:nvPr/>
        </p:nvSpPr>
        <p:spPr>
          <a:xfrm>
            <a:off x="1524000" y="44450"/>
            <a:ext cx="309880" cy="3683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/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59396" name="TextBox 8"/>
          <p:cNvSpPr txBox="1"/>
          <p:nvPr/>
        </p:nvSpPr>
        <p:spPr>
          <a:xfrm>
            <a:off x="1600200" y="3373120"/>
            <a:ext cx="7924165" cy="1322070"/>
          </a:xfrm>
          <a:prstGeom prst="rect">
            <a:avLst/>
          </a:prstGeom>
          <a:solidFill>
            <a:schemeClr val="tx1"/>
          </a:solidFill>
          <a:ln w="9525">
            <a:noFill/>
          </a:ln>
        </p:spPr>
        <p:txBody>
          <a:bodyPr wrap="square">
            <a:spAutoFit/>
          </a:bodyPr>
          <a:lstStyle/>
          <a:p>
            <a:r>
              <a:rPr lang="en-US" altLang="zh-CN" sz="2000" dirty="0">
                <a:solidFill>
                  <a:schemeClr val="bg1"/>
                </a:solidFill>
                <a:latin typeface="Arial" panose="020B0604020202020204" pitchFamily="34" charset="0"/>
              </a:rPr>
              <a:t>#!/bin/bash</a:t>
            </a:r>
            <a:endParaRPr lang="en-US" altLang="zh-CN" sz="2000" dirty="0">
              <a:solidFill>
                <a:schemeClr val="bg1"/>
              </a:solidFill>
              <a:latin typeface="Arial" panose="020B0604020202020204" pitchFamily="34" charset="0"/>
            </a:endParaRPr>
          </a:p>
          <a:p>
            <a:r>
              <a:rPr lang="en-US" altLang="zh-CN" sz="2000" dirty="0">
                <a:solidFill>
                  <a:schemeClr val="bg1"/>
                </a:solidFill>
                <a:latin typeface="Arial" panose="020B0604020202020204" pitchFamily="34" charset="0"/>
              </a:rPr>
              <a:t>SBT_OPTS="-Xms512M -Xmx1536M -Xss1M -XX:+CMSClassUnloadingEnabled -XX:MaxPermSize=256M"</a:t>
            </a:r>
            <a:endParaRPr lang="en-US" altLang="zh-CN" sz="2000" dirty="0">
              <a:solidFill>
                <a:schemeClr val="bg1"/>
              </a:solidFill>
              <a:latin typeface="Arial" panose="020B0604020202020204" pitchFamily="34" charset="0"/>
            </a:endParaRPr>
          </a:p>
          <a:p>
            <a:r>
              <a:rPr lang="en-US" altLang="zh-CN" sz="2000" dirty="0">
                <a:solidFill>
                  <a:schemeClr val="bg1"/>
                </a:solidFill>
                <a:latin typeface="Arial" panose="020B0604020202020204" pitchFamily="34" charset="0"/>
              </a:rPr>
              <a:t>java $SBT_OPTS -jar `dirname $0`/sbt-launch.jar "$@"</a:t>
            </a:r>
            <a:endParaRPr lang="en-US" altLang="zh-CN" sz="2000" dirty="0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  <p:sp>
        <p:nvSpPr>
          <p:cNvPr id="59397" name="TextBox 8"/>
          <p:cNvSpPr txBox="1"/>
          <p:nvPr/>
        </p:nvSpPr>
        <p:spPr>
          <a:xfrm>
            <a:off x="1600200" y="5278120"/>
            <a:ext cx="7923530" cy="460375"/>
          </a:xfrm>
          <a:prstGeom prst="rect">
            <a:avLst/>
          </a:prstGeom>
          <a:solidFill>
            <a:schemeClr val="tx1"/>
          </a:solidFill>
          <a:ln w="9525">
            <a:noFill/>
          </a:ln>
        </p:spPr>
        <p:txBody>
          <a:bodyPr wrap="square">
            <a:spAutoFit/>
          </a:bodyPr>
          <a:lstStyle/>
          <a:p>
            <a:r>
              <a:rPr lang="en-US" altLang="zh-CN" sz="2400" dirty="0">
                <a:solidFill>
                  <a:schemeClr val="bg1"/>
                </a:solidFill>
                <a:latin typeface="Arial" panose="020B0604020202020204" pitchFamily="34" charset="0"/>
              </a:rPr>
              <a:t>chmod u+x /usr/local/sbt/sbt</a:t>
            </a:r>
            <a:endParaRPr lang="en-US" altLang="zh-CN" sz="2400" dirty="0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  <p:sp>
        <p:nvSpPr>
          <p:cNvPr id="59398" name="矩形 8"/>
          <p:cNvSpPr/>
          <p:nvPr/>
        </p:nvSpPr>
        <p:spPr>
          <a:xfrm>
            <a:off x="1524000" y="1391920"/>
            <a:ext cx="7162800" cy="82994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r>
              <a:rPr lang="zh-CN" altLang="zh-CN" sz="2400" dirty="0">
                <a:latin typeface="Arial" panose="020B0604020202020204" pitchFamily="34" charset="0"/>
              </a:rPr>
              <a:t>接着在安装目录中使用下面命令创建一个</a:t>
            </a:r>
            <a:r>
              <a:rPr lang="en-US" altLang="zh-CN" sz="2400" dirty="0">
                <a:latin typeface="Arial" panose="020B0604020202020204" pitchFamily="34" charset="0"/>
              </a:rPr>
              <a:t>Shell</a:t>
            </a:r>
            <a:r>
              <a:rPr lang="zh-CN" altLang="zh-CN" sz="2400" dirty="0">
                <a:latin typeface="Arial" panose="020B0604020202020204" pitchFamily="34" charset="0"/>
              </a:rPr>
              <a:t>脚本文件，用于启动</a:t>
            </a:r>
            <a:r>
              <a:rPr lang="en-US" altLang="zh-CN" sz="2400" dirty="0">
                <a:latin typeface="Arial" panose="020B0604020202020204" pitchFamily="34" charset="0"/>
              </a:rPr>
              <a:t>sbt</a:t>
            </a:r>
            <a:r>
              <a:rPr lang="zh-CN" altLang="zh-CN" sz="2400" dirty="0">
                <a:latin typeface="Arial" panose="020B0604020202020204" pitchFamily="34" charset="0"/>
              </a:rPr>
              <a:t>：</a:t>
            </a:r>
            <a:endParaRPr lang="zh-CN" altLang="en-US" sz="2400" dirty="0">
              <a:latin typeface="Arial" panose="020B0604020202020204" pitchFamily="34" charset="0"/>
            </a:endParaRPr>
          </a:p>
        </p:txBody>
      </p:sp>
      <p:sp>
        <p:nvSpPr>
          <p:cNvPr id="59399" name="TextBox 8"/>
          <p:cNvSpPr txBox="1"/>
          <p:nvPr/>
        </p:nvSpPr>
        <p:spPr>
          <a:xfrm>
            <a:off x="1600200" y="2306320"/>
            <a:ext cx="7924165" cy="460375"/>
          </a:xfrm>
          <a:prstGeom prst="rect">
            <a:avLst/>
          </a:prstGeom>
          <a:solidFill>
            <a:schemeClr val="tx1"/>
          </a:solidFill>
          <a:ln w="9525">
            <a:noFill/>
          </a:ln>
        </p:spPr>
        <p:txBody>
          <a:bodyPr wrap="square">
            <a:spAutoFit/>
          </a:bodyPr>
          <a:lstStyle/>
          <a:p>
            <a:r>
              <a:rPr lang="en-US" altLang="zh-CN" sz="2400" dirty="0">
                <a:solidFill>
                  <a:schemeClr val="bg1"/>
                </a:solidFill>
                <a:latin typeface="Arial" panose="020B0604020202020204" pitchFamily="34" charset="0"/>
              </a:rPr>
              <a:t>$ vim /usr/local/sbt/sbt</a:t>
            </a:r>
            <a:endParaRPr lang="en-US" altLang="zh-CN" sz="2400" dirty="0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  <p:sp>
        <p:nvSpPr>
          <p:cNvPr id="59400" name="矩形 10"/>
          <p:cNvSpPr/>
          <p:nvPr/>
        </p:nvSpPr>
        <p:spPr>
          <a:xfrm>
            <a:off x="1600200" y="2839720"/>
            <a:ext cx="3840480" cy="4603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r>
              <a:rPr lang="zh-CN" altLang="zh-CN" sz="2400" dirty="0">
                <a:latin typeface="Arial" panose="020B0604020202020204" pitchFamily="34" charset="0"/>
              </a:rPr>
              <a:t>该脚本文件中的代码如下：</a:t>
            </a:r>
            <a:endParaRPr lang="zh-CN" altLang="en-US" sz="2400" dirty="0">
              <a:latin typeface="Arial" panose="020B0604020202020204" pitchFamily="34" charset="0"/>
            </a:endParaRPr>
          </a:p>
        </p:txBody>
      </p:sp>
      <p:sp>
        <p:nvSpPr>
          <p:cNvPr id="59401" name="矩形 11"/>
          <p:cNvSpPr/>
          <p:nvPr/>
        </p:nvSpPr>
        <p:spPr>
          <a:xfrm>
            <a:off x="1524000" y="4668520"/>
            <a:ext cx="7010400" cy="4603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r>
              <a:rPr lang="zh-CN" altLang="zh-CN" sz="2400" dirty="0">
                <a:latin typeface="Arial" panose="020B0604020202020204" pitchFamily="34" charset="0"/>
              </a:rPr>
              <a:t>保存后，还需要为该</a:t>
            </a:r>
            <a:r>
              <a:rPr lang="en-US" altLang="zh-CN" sz="2400" dirty="0">
                <a:latin typeface="Arial" panose="020B0604020202020204" pitchFamily="34" charset="0"/>
              </a:rPr>
              <a:t>Shell</a:t>
            </a:r>
            <a:r>
              <a:rPr lang="zh-CN" altLang="zh-CN" sz="2400" dirty="0">
                <a:latin typeface="Arial" panose="020B0604020202020204" pitchFamily="34" charset="0"/>
              </a:rPr>
              <a:t>脚本文件增加可执行权限：</a:t>
            </a:r>
            <a:endParaRPr lang="zh-CN" altLang="en-US" sz="2400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/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标题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lstStyle/>
          <a:p>
            <a:r>
              <a:rPr lang="en-US" altLang="zh-CN" b="1" dirty="0">
                <a:sym typeface="+mn-ea"/>
              </a:rPr>
              <a:t>10.5.3 Spark</a:t>
            </a:r>
            <a:r>
              <a:rPr lang="zh-CN" altLang="en-US" b="1" dirty="0">
                <a:sym typeface="+mn-ea"/>
              </a:rPr>
              <a:t>应用程序</a:t>
            </a:r>
            <a:endParaRPr lang="zh-CN" altLang="en-US" dirty="0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57CE09-A6DF-4F65-B9AD-CB157D51E68C}" type="slidenum">
              <a:rPr lang="zh-CN" altLang="en-US" smtClean="0"/>
            </a:fld>
            <a:endParaRPr lang="zh-CN" altLang="en-US"/>
          </a:p>
        </p:txBody>
      </p:sp>
      <p:sp>
        <p:nvSpPr>
          <p:cNvPr id="60419" name="矩形 2"/>
          <p:cNvSpPr/>
          <p:nvPr/>
        </p:nvSpPr>
        <p:spPr>
          <a:xfrm>
            <a:off x="1343025" y="1447800"/>
            <a:ext cx="6075680" cy="4603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r>
              <a:rPr lang="zh-CN" altLang="zh-CN" sz="2400" dirty="0">
                <a:latin typeface="Arial" panose="020B0604020202020204" pitchFamily="34" charset="0"/>
              </a:rPr>
              <a:t>然后，可以使用如下命令查看</a:t>
            </a:r>
            <a:r>
              <a:rPr lang="en-US" altLang="zh-CN" sz="2400" dirty="0">
                <a:latin typeface="Arial" panose="020B0604020202020204" pitchFamily="34" charset="0"/>
              </a:rPr>
              <a:t>sbt</a:t>
            </a:r>
            <a:r>
              <a:rPr lang="zh-CN" altLang="zh-CN" sz="2400" dirty="0">
                <a:latin typeface="Arial" panose="020B0604020202020204" pitchFamily="34" charset="0"/>
              </a:rPr>
              <a:t>版本信息：</a:t>
            </a:r>
            <a:endParaRPr lang="zh-CN" altLang="en-US" sz="2400" dirty="0">
              <a:latin typeface="Arial" panose="020B0604020202020204" pitchFamily="34" charset="0"/>
            </a:endParaRPr>
          </a:p>
        </p:txBody>
      </p:sp>
      <p:sp>
        <p:nvSpPr>
          <p:cNvPr id="60420" name="TextBox 8"/>
          <p:cNvSpPr txBox="1"/>
          <p:nvPr/>
        </p:nvSpPr>
        <p:spPr>
          <a:xfrm>
            <a:off x="1419225" y="2133600"/>
            <a:ext cx="9178925" cy="3046095"/>
          </a:xfrm>
          <a:prstGeom prst="rect">
            <a:avLst/>
          </a:prstGeom>
          <a:solidFill>
            <a:schemeClr val="tx1"/>
          </a:solidFill>
          <a:ln w="9525">
            <a:noFill/>
          </a:ln>
        </p:spPr>
        <p:txBody>
          <a:bodyPr wrap="square">
            <a:spAutoFit/>
          </a:bodyPr>
          <a:lstStyle/>
          <a:p>
            <a:r>
              <a:rPr lang="en-US" altLang="zh-CN" sz="2400" dirty="0">
                <a:solidFill>
                  <a:schemeClr val="bg1"/>
                </a:solidFill>
                <a:latin typeface="Arial" panose="020B0604020202020204" pitchFamily="34" charset="0"/>
              </a:rPr>
              <a:t>$ cd /usr/local/sbt</a:t>
            </a:r>
            <a:endParaRPr lang="zh-CN" altLang="zh-CN" sz="2400" dirty="0">
              <a:solidFill>
                <a:schemeClr val="bg1"/>
              </a:solidFill>
              <a:latin typeface="Arial" panose="020B0604020202020204" pitchFamily="34" charset="0"/>
            </a:endParaRPr>
          </a:p>
          <a:p>
            <a:r>
              <a:rPr lang="en-US" altLang="zh-CN" sz="2400" dirty="0">
                <a:solidFill>
                  <a:schemeClr val="bg1"/>
                </a:solidFill>
                <a:latin typeface="Arial" panose="020B0604020202020204" pitchFamily="34" charset="0"/>
              </a:rPr>
              <a:t>$ ./sbt sbtVersion</a:t>
            </a:r>
            <a:endParaRPr lang="zh-CN" altLang="zh-CN" sz="2400" dirty="0">
              <a:solidFill>
                <a:schemeClr val="bg1"/>
              </a:solidFill>
              <a:latin typeface="Arial" panose="020B0604020202020204" pitchFamily="34" charset="0"/>
            </a:endParaRPr>
          </a:p>
          <a:p>
            <a:r>
              <a:rPr lang="en-US" altLang="zh-CN" sz="2400" dirty="0">
                <a:solidFill>
                  <a:schemeClr val="bg1"/>
                </a:solidFill>
                <a:latin typeface="Arial" panose="020B0604020202020204" pitchFamily="34" charset="0"/>
              </a:rPr>
              <a:t>Java HotSpot(TM) 64-Bit Server VM warning: ignoring option MaxPermSize=256M; support was removed in 8.0</a:t>
            </a:r>
            <a:endParaRPr lang="zh-CN" altLang="zh-CN" sz="2400" dirty="0">
              <a:solidFill>
                <a:schemeClr val="bg1"/>
              </a:solidFill>
              <a:latin typeface="Arial" panose="020B0604020202020204" pitchFamily="34" charset="0"/>
            </a:endParaRPr>
          </a:p>
          <a:p>
            <a:r>
              <a:rPr lang="en-US" altLang="zh-CN" sz="2400" dirty="0">
                <a:solidFill>
                  <a:schemeClr val="bg1"/>
                </a:solidFill>
                <a:latin typeface="Arial" panose="020B0604020202020204" pitchFamily="34" charset="0"/>
              </a:rPr>
              <a:t>[warn] No sbt.version set in project/build.properties, base directory: /usr/local/sbt</a:t>
            </a:r>
            <a:endParaRPr lang="zh-CN" altLang="zh-CN" sz="2400" dirty="0">
              <a:solidFill>
                <a:schemeClr val="bg1"/>
              </a:solidFill>
              <a:latin typeface="Arial" panose="020B0604020202020204" pitchFamily="34" charset="0"/>
            </a:endParaRPr>
          </a:p>
          <a:p>
            <a:r>
              <a:rPr lang="en-US" altLang="zh-CN" sz="2400" dirty="0">
                <a:solidFill>
                  <a:schemeClr val="bg1"/>
                </a:solidFill>
                <a:latin typeface="Arial" panose="020B0604020202020204" pitchFamily="34" charset="0"/>
              </a:rPr>
              <a:t>[info] Set current project to sbt (in build file:/usr/local/sbt/)</a:t>
            </a:r>
            <a:endParaRPr lang="zh-CN" altLang="zh-CN" sz="2400" dirty="0">
              <a:solidFill>
                <a:schemeClr val="bg1"/>
              </a:solidFill>
              <a:latin typeface="Arial" panose="020B0604020202020204" pitchFamily="34" charset="0"/>
            </a:endParaRPr>
          </a:p>
          <a:p>
            <a:r>
              <a:rPr lang="en-US" altLang="zh-CN" sz="2400" dirty="0">
                <a:solidFill>
                  <a:schemeClr val="bg1"/>
                </a:solidFill>
                <a:latin typeface="Arial" panose="020B0604020202020204" pitchFamily="34" charset="0"/>
              </a:rPr>
              <a:t>[info] 1.3.8</a:t>
            </a:r>
            <a:endParaRPr lang="en-US" altLang="zh-CN" sz="2400" dirty="0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  <p:sp>
        <p:nvSpPr>
          <p:cNvPr id="60421" name="矩形 4"/>
          <p:cNvSpPr/>
          <p:nvPr/>
        </p:nvSpPr>
        <p:spPr>
          <a:xfrm>
            <a:off x="1419225" y="5359400"/>
            <a:ext cx="6629400" cy="82994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r>
              <a:rPr lang="zh-CN" altLang="zh-CN" sz="2400" dirty="0">
                <a:latin typeface="Arial" panose="020B0604020202020204" pitchFamily="34" charset="0"/>
              </a:rPr>
              <a:t>上述查看版本信息的命令，可能需要执行几分钟，执行成功以后就可以看到版本为</a:t>
            </a:r>
            <a:r>
              <a:rPr lang="en-US" altLang="zh-CN" sz="2400" dirty="0">
                <a:latin typeface="Arial" panose="020B0604020202020204" pitchFamily="34" charset="0"/>
              </a:rPr>
              <a:t>1.3.8</a:t>
            </a:r>
            <a:r>
              <a:rPr lang="zh-CN" altLang="zh-CN" sz="2400" dirty="0">
                <a:latin typeface="Arial" panose="020B0604020202020204" pitchFamily="34" charset="0"/>
              </a:rPr>
              <a:t>。</a:t>
            </a:r>
            <a:endParaRPr lang="zh-CN" altLang="en-US" sz="2400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/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标题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lstStyle/>
          <a:p>
            <a:r>
              <a:rPr lang="en-US" altLang="zh-CN" b="1" dirty="0">
                <a:sym typeface="+mn-ea"/>
              </a:rPr>
              <a:t>10.5.3 Spark</a:t>
            </a:r>
            <a:r>
              <a:rPr lang="zh-CN" altLang="en-US" b="1" dirty="0">
                <a:sym typeface="+mn-ea"/>
              </a:rPr>
              <a:t>应用程序</a:t>
            </a:r>
            <a:endParaRPr lang="zh-CN" altLang="en-US" dirty="0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57CE09-A6DF-4F65-B9AD-CB157D51E68C}" type="slidenum">
              <a:rPr lang="zh-CN" altLang="en-US" smtClean="0"/>
            </a:fld>
            <a:endParaRPr lang="zh-CN" altLang="en-US"/>
          </a:p>
        </p:txBody>
      </p:sp>
      <p:sp>
        <p:nvSpPr>
          <p:cNvPr id="61443" name="矩形 2"/>
          <p:cNvSpPr/>
          <p:nvPr/>
        </p:nvSpPr>
        <p:spPr>
          <a:xfrm>
            <a:off x="1145540" y="1534795"/>
            <a:ext cx="9418320" cy="142049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zh-CN" sz="2400" dirty="0">
                <a:latin typeface="Arial" panose="020B0604020202020204" pitchFamily="34" charset="0"/>
              </a:rPr>
              <a:t>我们以一个简单的程序为例，介绍如何打包并运行</a:t>
            </a:r>
            <a:r>
              <a:rPr lang="en-US" altLang="zh-CN" sz="2400" dirty="0">
                <a:latin typeface="Arial" panose="020B0604020202020204" pitchFamily="34" charset="0"/>
              </a:rPr>
              <a:t>Spark</a:t>
            </a:r>
            <a:r>
              <a:rPr lang="zh-CN" altLang="zh-CN" sz="2400" dirty="0">
                <a:latin typeface="Arial" panose="020B0604020202020204" pitchFamily="34" charset="0"/>
              </a:rPr>
              <a:t>程序，</a:t>
            </a:r>
            <a:endParaRPr lang="zh-CN" altLang="zh-CN" sz="2400" dirty="0">
              <a:latin typeface="Arial" panose="020B0604020202020204" pitchFamily="34" charset="0"/>
            </a:endParaRPr>
          </a:p>
          <a:p>
            <a:pPr>
              <a:lnSpc>
                <a:spcPct val="120000"/>
              </a:lnSpc>
            </a:pPr>
            <a:r>
              <a:rPr lang="zh-CN" altLang="zh-CN" sz="2400" dirty="0">
                <a:latin typeface="Arial" panose="020B0604020202020204" pitchFamily="34" charset="0"/>
              </a:rPr>
              <a:t>该程序的功能是统计文本文件中包含字母</a:t>
            </a:r>
            <a:r>
              <a:rPr lang="en-US" altLang="zh-CN" sz="2400" dirty="0">
                <a:latin typeface="Arial" panose="020B0604020202020204" pitchFamily="34" charset="0"/>
              </a:rPr>
              <a:t>a</a:t>
            </a:r>
            <a:r>
              <a:rPr lang="zh-CN" altLang="zh-CN" sz="2400" dirty="0">
                <a:latin typeface="Arial" panose="020B0604020202020204" pitchFamily="34" charset="0"/>
              </a:rPr>
              <a:t>和字</a:t>
            </a:r>
            <a:r>
              <a:rPr lang="en-US" altLang="zh-CN" sz="2400" dirty="0">
                <a:latin typeface="Arial" panose="020B0604020202020204" pitchFamily="34" charset="0"/>
              </a:rPr>
              <a:t>b</a:t>
            </a:r>
            <a:r>
              <a:rPr lang="zh-CN" altLang="zh-CN" sz="2400" dirty="0">
                <a:latin typeface="Arial" panose="020B0604020202020204" pitchFamily="34" charset="0"/>
              </a:rPr>
              <a:t>的各有多少行</a:t>
            </a:r>
            <a:r>
              <a:rPr lang="zh-CN" altLang="en-US" sz="2400" dirty="0">
                <a:latin typeface="Arial" panose="020B0604020202020204" pitchFamily="34" charset="0"/>
              </a:rPr>
              <a:t>，</a:t>
            </a:r>
            <a:endParaRPr lang="zh-CN" altLang="en-US" sz="2400" dirty="0">
              <a:latin typeface="Arial" panose="020B0604020202020204" pitchFamily="34" charset="0"/>
            </a:endParaRPr>
          </a:p>
          <a:p>
            <a:pPr>
              <a:lnSpc>
                <a:spcPct val="120000"/>
              </a:lnSpc>
            </a:pPr>
            <a:r>
              <a:rPr lang="zh-CN" altLang="en-US" sz="2400" dirty="0">
                <a:latin typeface="Arial" panose="020B0604020202020204" pitchFamily="34" charset="0"/>
              </a:rPr>
              <a:t>具体步骤如下：</a:t>
            </a:r>
            <a:endParaRPr lang="zh-CN" altLang="en-US" sz="2400" dirty="0">
              <a:latin typeface="Arial" panose="020B0604020202020204" pitchFamily="34" charset="0"/>
            </a:endParaRPr>
          </a:p>
        </p:txBody>
      </p:sp>
      <p:sp>
        <p:nvSpPr>
          <p:cNvPr id="61444" name="Rectangle 2"/>
          <p:cNvSpPr/>
          <p:nvPr/>
        </p:nvSpPr>
        <p:spPr>
          <a:xfrm>
            <a:off x="1524000" y="44450"/>
            <a:ext cx="309880" cy="3683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/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51205" name="TextBox 6"/>
          <p:cNvSpPr txBox="1">
            <a:spLocks noChangeArrowheads="1"/>
          </p:cNvSpPr>
          <p:nvPr/>
        </p:nvSpPr>
        <p:spPr bwMode="auto">
          <a:xfrm>
            <a:off x="1144905" y="3486150"/>
            <a:ext cx="9418955" cy="230695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marL="342900" marR="0" indent="-342900" defTabSz="914400">
              <a:buClrTx/>
              <a:buSzTx/>
              <a:buFont typeface="+mj-lt"/>
              <a:buAutoNum type="arabicPeriod"/>
              <a:defRPr/>
            </a:pPr>
            <a:r>
              <a:rPr kumimoji="0" lang="zh-CN" altLang="zh-CN" sz="2400" kern="1200" cap="none" spc="0" normalizeH="0" baseline="0" noProof="0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创建程序根目录，并创建程序所需的文件夹结构</a:t>
            </a:r>
            <a:r>
              <a:rPr kumimoji="0" lang="zh-CN" altLang="en-US" sz="2400" kern="1200" cap="none" spc="0" normalizeH="0" baseline="0" noProof="0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，</a:t>
            </a:r>
            <a:r>
              <a:rPr kumimoji="0" lang="zh-CN" altLang="zh-CN" sz="2400" kern="1200" cap="none" spc="0" normalizeH="0" baseline="0" noProof="0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命令</a:t>
            </a:r>
            <a:r>
              <a:rPr kumimoji="0" lang="zh-CN" altLang="en-US" sz="2400" kern="1200" cap="none" spc="0" normalizeH="0" baseline="0" noProof="0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如下：</a:t>
            </a:r>
            <a:endParaRPr kumimoji="0" lang="en-US" altLang="zh-CN" sz="2400" kern="1200" cap="none" spc="0" normalizeH="0" baseline="0" noProof="0" dirty="0"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342900" marR="0" indent="-342900" defTabSz="914400">
              <a:buClrTx/>
              <a:buSzTx/>
              <a:buFont typeface="+mj-lt"/>
              <a:buAutoNum type="arabicPeriod"/>
              <a:defRPr/>
            </a:pPr>
            <a:endParaRPr kumimoji="0" lang="en-US" altLang="zh-CN" sz="2400" kern="1200" cap="none" spc="0" normalizeH="0" baseline="0" noProof="0" dirty="0"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342900" marR="0" indent="-342900" defTabSz="914400">
              <a:buClrTx/>
              <a:buSzTx/>
              <a:buFont typeface="+mj-lt"/>
              <a:buAutoNum type="arabicPeriod"/>
              <a:defRPr/>
            </a:pPr>
            <a:endParaRPr kumimoji="0" lang="en-US" altLang="zh-CN" sz="2400" kern="1200" cap="none" spc="0" normalizeH="0" baseline="0" noProof="0" dirty="0"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342900" marR="0" indent="-342900" defTabSz="914400">
              <a:buClrTx/>
              <a:buSzTx/>
              <a:buFont typeface="+mj-lt"/>
              <a:buAutoNum type="arabicPeriod"/>
              <a:defRPr/>
            </a:pPr>
            <a:endParaRPr kumimoji="0" lang="en-US" altLang="zh-CN" sz="2400" kern="1200" cap="none" spc="0" normalizeH="0" baseline="0" noProof="0" dirty="0"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342900" marR="0" indent="-342900" defTabSz="914400">
              <a:buClrTx/>
              <a:buSzTx/>
              <a:buFont typeface="+mj-lt"/>
              <a:buAutoNum type="arabicPeriod"/>
              <a:defRPr/>
            </a:pPr>
            <a:r>
              <a:rPr kumimoji="0" lang="zh-CN" altLang="zh-CN" sz="2400" kern="1200" cap="none" spc="0" normalizeH="0" baseline="0" noProof="0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创建一个</a:t>
            </a:r>
            <a:r>
              <a:rPr kumimoji="0" lang="en-US" altLang="zh-CN" sz="2400" kern="1200" cap="none" spc="0" normalizeH="0" baseline="0" noProof="0" dirty="0" err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SimpleApp.scala</a:t>
            </a:r>
            <a:r>
              <a:rPr kumimoji="0" lang="zh-CN" altLang="zh-CN" sz="2400" kern="1200" cap="none" spc="0" normalizeH="0" baseline="0" noProof="0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文件（</a:t>
            </a:r>
            <a:r>
              <a:rPr kumimoji="0" lang="zh-CN" altLang="en-US" sz="2400" kern="1200" cap="none" spc="0" normalizeH="0" baseline="0" noProof="0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文件路径： </a:t>
            </a:r>
            <a:r>
              <a:rPr kumimoji="0" lang="en-US" altLang="zh-CN" sz="2400" kern="1200" cap="none" spc="0" normalizeH="0" baseline="0" noProof="0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~/</a:t>
            </a:r>
            <a:r>
              <a:rPr kumimoji="0" lang="en-US" altLang="zh-CN" sz="2400" kern="1200" cap="none" spc="0" normalizeH="0" baseline="0" noProof="0" dirty="0" err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sparkapp</a:t>
            </a:r>
            <a:r>
              <a:rPr kumimoji="0" lang="en-US" altLang="zh-CN" sz="2400" kern="1200" cap="none" spc="0" normalizeH="0" baseline="0" noProof="0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/</a:t>
            </a:r>
            <a:r>
              <a:rPr kumimoji="0" lang="en-US" altLang="zh-CN" sz="2400" kern="1200" cap="none" spc="0" normalizeH="0" baseline="0" noProof="0" dirty="0" err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src</a:t>
            </a:r>
            <a:r>
              <a:rPr kumimoji="0" lang="en-US" altLang="zh-CN" sz="2400" kern="1200" cap="none" spc="0" normalizeH="0" baseline="0" noProof="0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/main/</a:t>
            </a:r>
            <a:r>
              <a:rPr kumimoji="0" lang="en-US" altLang="zh-CN" sz="2400" kern="1200" cap="none" spc="0" normalizeH="0" baseline="0" noProof="0" dirty="0" err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scala</a:t>
            </a:r>
            <a:r>
              <a:rPr kumimoji="0" lang="en-US" altLang="zh-CN" sz="2400" kern="1200" cap="none" spc="0" normalizeH="0" baseline="0" noProof="0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/</a:t>
            </a:r>
            <a:r>
              <a:rPr kumimoji="0" lang="en-US" altLang="zh-CN" sz="2400" kern="1200" cap="none" spc="0" normalizeH="0" baseline="0" noProof="0" dirty="0" err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SimpleApp.scala</a:t>
            </a:r>
            <a:r>
              <a:rPr kumimoji="0" lang="zh-CN" altLang="zh-CN" sz="2400" kern="1200" cap="none" spc="0" normalizeH="0" baseline="0" noProof="0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）</a:t>
            </a:r>
            <a:endParaRPr kumimoji="0" lang="zh-CN" altLang="zh-CN" sz="2400" kern="1200" cap="none" spc="0" normalizeH="0" baseline="0" noProof="0" dirty="0"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1447" name="TextBox 8"/>
          <p:cNvSpPr txBox="1"/>
          <p:nvPr/>
        </p:nvSpPr>
        <p:spPr>
          <a:xfrm>
            <a:off x="1297940" y="3992245"/>
            <a:ext cx="8599805" cy="706755"/>
          </a:xfrm>
          <a:prstGeom prst="rect">
            <a:avLst/>
          </a:prstGeom>
          <a:solidFill>
            <a:schemeClr val="tx1"/>
          </a:solidFill>
          <a:ln w="9525">
            <a:noFill/>
          </a:ln>
        </p:spPr>
        <p:txBody>
          <a:bodyPr wrap="square">
            <a:spAutoFit/>
          </a:bodyPr>
          <a:lstStyle/>
          <a:p>
            <a:r>
              <a:rPr lang="en-US" altLang="zh-CN" sz="2000" dirty="0">
                <a:solidFill>
                  <a:schemeClr val="bg1"/>
                </a:solidFill>
                <a:latin typeface="Arial" panose="020B0604020202020204" pitchFamily="34" charset="0"/>
              </a:rPr>
              <a:t>mkdir ~/sparkapp                 # </a:t>
            </a:r>
            <a:r>
              <a:rPr lang="zh-CN" altLang="en-US" sz="2000" dirty="0">
                <a:solidFill>
                  <a:schemeClr val="bg1"/>
                </a:solidFill>
                <a:latin typeface="Arial" panose="020B0604020202020204" pitchFamily="34" charset="0"/>
              </a:rPr>
              <a:t>创建程序根目录</a:t>
            </a:r>
            <a:endParaRPr lang="zh-CN" altLang="en-US" sz="2000" dirty="0">
              <a:solidFill>
                <a:schemeClr val="bg1"/>
              </a:solidFill>
              <a:latin typeface="Arial" panose="020B0604020202020204" pitchFamily="34" charset="0"/>
            </a:endParaRPr>
          </a:p>
          <a:p>
            <a:r>
              <a:rPr lang="en-US" altLang="zh-CN" sz="2000" dirty="0">
                <a:solidFill>
                  <a:schemeClr val="bg1"/>
                </a:solidFill>
                <a:latin typeface="Arial" panose="020B0604020202020204" pitchFamily="34" charset="0"/>
              </a:rPr>
              <a:t>mkdir -p ~/sparkapp/src/main/scala   # </a:t>
            </a:r>
            <a:r>
              <a:rPr lang="zh-CN" altLang="en-US" sz="2000" dirty="0">
                <a:solidFill>
                  <a:schemeClr val="bg1"/>
                </a:solidFill>
                <a:latin typeface="Arial" panose="020B0604020202020204" pitchFamily="34" charset="0"/>
              </a:rPr>
              <a:t>创建程序所需的文件夹结构</a:t>
            </a:r>
            <a:endParaRPr lang="zh-CN" altLang="en-US" sz="2000" dirty="0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205" grpId="0"/>
      <p:bldP spid="61447" grpId="0" animBg="1"/>
      <p:bldP spid="51205" grpId="1"/>
      <p:bldP spid="61447" grpId="1" animBg="1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标题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lstStyle/>
          <a:p>
            <a:r>
              <a:rPr lang="en-US" altLang="zh-CN" b="1" dirty="0">
                <a:sym typeface="+mn-ea"/>
              </a:rPr>
              <a:t>10.5.3 Spark</a:t>
            </a:r>
            <a:r>
              <a:rPr lang="zh-CN" altLang="en-US" b="1" dirty="0">
                <a:sym typeface="+mn-ea"/>
              </a:rPr>
              <a:t>应用程序</a:t>
            </a:r>
            <a:endParaRPr lang="zh-CN" altLang="en-US" dirty="0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57CE09-A6DF-4F65-B9AD-CB157D51E68C}" type="slidenum">
              <a:rPr lang="zh-CN" altLang="en-US" smtClean="0"/>
            </a:fld>
            <a:endParaRPr lang="zh-CN" altLang="en-US"/>
          </a:p>
        </p:txBody>
      </p:sp>
      <p:sp>
        <p:nvSpPr>
          <p:cNvPr id="61444" name="Rectangle 2"/>
          <p:cNvSpPr/>
          <p:nvPr/>
        </p:nvSpPr>
        <p:spPr>
          <a:xfrm>
            <a:off x="1524000" y="44450"/>
            <a:ext cx="309880" cy="3683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/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61446" name="TextBox 7"/>
          <p:cNvSpPr txBox="1"/>
          <p:nvPr/>
        </p:nvSpPr>
        <p:spPr>
          <a:xfrm>
            <a:off x="1068070" y="1503680"/>
            <a:ext cx="8782050" cy="470789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r>
              <a:rPr lang="en-US" altLang="zh-CN" sz="2000" dirty="0">
                <a:latin typeface="Arial" panose="020B0604020202020204" pitchFamily="34" charset="0"/>
              </a:rPr>
              <a:t>import org.apache.spark.SparkContext</a:t>
            </a:r>
            <a:endParaRPr lang="zh-CN" altLang="zh-CN" sz="2000" dirty="0">
              <a:latin typeface="Arial" panose="020B0604020202020204" pitchFamily="34" charset="0"/>
            </a:endParaRPr>
          </a:p>
          <a:p>
            <a:r>
              <a:rPr lang="en-US" altLang="zh-CN" sz="2000" dirty="0">
                <a:latin typeface="Arial" panose="020B0604020202020204" pitchFamily="34" charset="0"/>
              </a:rPr>
              <a:t>import org.apache.spark.SparkContext._</a:t>
            </a:r>
            <a:endParaRPr lang="zh-CN" altLang="zh-CN" sz="2000" dirty="0">
              <a:latin typeface="Arial" panose="020B0604020202020204" pitchFamily="34" charset="0"/>
            </a:endParaRPr>
          </a:p>
          <a:p>
            <a:r>
              <a:rPr lang="en-US" altLang="zh-CN" sz="2000" dirty="0">
                <a:latin typeface="Arial" panose="020B0604020202020204" pitchFamily="34" charset="0"/>
              </a:rPr>
              <a:t>import org.apache.spark.SparkConf</a:t>
            </a:r>
            <a:endParaRPr lang="zh-CN" altLang="zh-CN" sz="2000" dirty="0">
              <a:latin typeface="Arial" panose="020B0604020202020204" pitchFamily="34" charset="0"/>
            </a:endParaRPr>
          </a:p>
          <a:p>
            <a:r>
              <a:rPr lang="en-US" altLang="zh-CN" sz="2000" dirty="0">
                <a:latin typeface="Arial" panose="020B0604020202020204" pitchFamily="34" charset="0"/>
              </a:rPr>
              <a:t> </a:t>
            </a:r>
            <a:endParaRPr lang="zh-CN" altLang="zh-CN" sz="2000" dirty="0">
              <a:latin typeface="Arial" panose="020B0604020202020204" pitchFamily="34" charset="0"/>
            </a:endParaRPr>
          </a:p>
          <a:p>
            <a:r>
              <a:rPr lang="en-US" altLang="zh-CN" sz="2000" dirty="0">
                <a:latin typeface="Arial" panose="020B0604020202020204" pitchFamily="34" charset="0"/>
              </a:rPr>
              <a:t>object SimpleApp {</a:t>
            </a:r>
            <a:endParaRPr lang="zh-CN" altLang="zh-CN" sz="2000" dirty="0">
              <a:latin typeface="Arial" panose="020B0604020202020204" pitchFamily="34" charset="0"/>
            </a:endParaRPr>
          </a:p>
          <a:p>
            <a:r>
              <a:rPr lang="en-US" altLang="zh-CN" sz="2000" dirty="0">
                <a:latin typeface="Arial" panose="020B0604020202020204" pitchFamily="34" charset="0"/>
              </a:rPr>
              <a:t>  def main(args: Array[String]) {</a:t>
            </a:r>
            <a:endParaRPr lang="zh-CN" altLang="zh-CN" sz="2000" dirty="0">
              <a:latin typeface="Arial" panose="020B0604020202020204" pitchFamily="34" charset="0"/>
            </a:endParaRPr>
          </a:p>
          <a:p>
            <a:r>
              <a:rPr lang="en-US" altLang="zh-CN" sz="2000" dirty="0">
                <a:latin typeface="Arial" panose="020B0604020202020204" pitchFamily="34" charset="0"/>
              </a:rPr>
              <a:t>    val logFile = "file:///usr/local/spark/README.md" // </a:t>
            </a:r>
            <a:r>
              <a:rPr lang="zh-CN" altLang="zh-CN" sz="2000" dirty="0">
                <a:latin typeface="Arial" panose="020B0604020202020204" pitchFamily="34" charset="0"/>
              </a:rPr>
              <a:t>用于统计的文本文件</a:t>
            </a:r>
            <a:endParaRPr lang="zh-CN" altLang="zh-CN" sz="2000" dirty="0">
              <a:latin typeface="Arial" panose="020B0604020202020204" pitchFamily="34" charset="0"/>
            </a:endParaRPr>
          </a:p>
          <a:p>
            <a:r>
              <a:rPr lang="en-US" altLang="zh-CN" sz="2000" dirty="0">
                <a:latin typeface="Arial" panose="020B0604020202020204" pitchFamily="34" charset="0"/>
              </a:rPr>
              <a:t>    val conf = new SparkConf().setAppName("Simple Application")</a:t>
            </a:r>
            <a:endParaRPr lang="zh-CN" altLang="zh-CN" sz="2000" dirty="0">
              <a:latin typeface="Arial" panose="020B0604020202020204" pitchFamily="34" charset="0"/>
            </a:endParaRPr>
          </a:p>
          <a:p>
            <a:r>
              <a:rPr lang="en-US" altLang="zh-CN" sz="2000" dirty="0">
                <a:latin typeface="Arial" panose="020B0604020202020204" pitchFamily="34" charset="0"/>
              </a:rPr>
              <a:t>    val </a:t>
            </a:r>
            <a:r>
              <a:rPr lang="en-US" altLang="zh-CN" sz="2000" dirty="0">
                <a:highlight>
                  <a:srgbClr val="FFFF00"/>
                </a:highlight>
                <a:latin typeface="Arial" panose="020B0604020202020204" pitchFamily="34" charset="0"/>
              </a:rPr>
              <a:t>sc</a:t>
            </a:r>
            <a:r>
              <a:rPr lang="en-US" altLang="zh-CN" sz="2000" dirty="0">
                <a:latin typeface="Arial" panose="020B0604020202020204" pitchFamily="34" charset="0"/>
              </a:rPr>
              <a:t> = new SparkContext(conf)</a:t>
            </a:r>
            <a:endParaRPr lang="zh-CN" altLang="zh-CN" sz="2000" dirty="0">
              <a:latin typeface="Arial" panose="020B0604020202020204" pitchFamily="34" charset="0"/>
            </a:endParaRPr>
          </a:p>
          <a:p>
            <a:r>
              <a:rPr lang="en-US" altLang="zh-CN" sz="2000" dirty="0">
                <a:latin typeface="Arial" panose="020B0604020202020204" pitchFamily="34" charset="0"/>
              </a:rPr>
              <a:t>    val logData = sc.textFile(logFile, 2).</a:t>
            </a:r>
            <a:r>
              <a:rPr lang="en-US" altLang="zh-CN" sz="2000" dirty="0">
                <a:highlight>
                  <a:srgbClr val="FFFF00"/>
                </a:highlight>
                <a:latin typeface="Arial" panose="020B0604020202020204" pitchFamily="34" charset="0"/>
              </a:rPr>
              <a:t>cache()</a:t>
            </a:r>
            <a:endParaRPr lang="zh-CN" altLang="zh-CN" sz="2000" dirty="0">
              <a:latin typeface="Arial" panose="020B0604020202020204" pitchFamily="34" charset="0"/>
            </a:endParaRPr>
          </a:p>
          <a:p>
            <a:r>
              <a:rPr lang="en-US" altLang="zh-CN" sz="2000" dirty="0">
                <a:latin typeface="Arial" panose="020B0604020202020204" pitchFamily="34" charset="0"/>
              </a:rPr>
              <a:t>    val numAs = logData.filter(line =&gt; line.contains("a")).count()</a:t>
            </a:r>
            <a:endParaRPr lang="zh-CN" altLang="zh-CN" sz="2000" dirty="0">
              <a:latin typeface="Arial" panose="020B0604020202020204" pitchFamily="34" charset="0"/>
            </a:endParaRPr>
          </a:p>
          <a:p>
            <a:r>
              <a:rPr lang="en-US" altLang="zh-CN" sz="2000" dirty="0">
                <a:latin typeface="Arial" panose="020B0604020202020204" pitchFamily="34" charset="0"/>
              </a:rPr>
              <a:t>    val numBs = logData.filter(line =&gt; line.contains("b")).count()</a:t>
            </a:r>
            <a:endParaRPr lang="zh-CN" altLang="zh-CN" sz="2000" dirty="0">
              <a:latin typeface="Arial" panose="020B0604020202020204" pitchFamily="34" charset="0"/>
            </a:endParaRPr>
          </a:p>
          <a:p>
            <a:r>
              <a:rPr lang="en-US" altLang="zh-CN" sz="2000" dirty="0">
                <a:latin typeface="Arial" panose="020B0604020202020204" pitchFamily="34" charset="0"/>
              </a:rPr>
              <a:t>    println("Lines with a: %s, Lines with b: %s".format(numAs, numBs))</a:t>
            </a:r>
            <a:endParaRPr lang="zh-CN" altLang="zh-CN" sz="2000" dirty="0">
              <a:latin typeface="Arial" panose="020B0604020202020204" pitchFamily="34" charset="0"/>
            </a:endParaRPr>
          </a:p>
          <a:p>
            <a:r>
              <a:rPr lang="en-US" altLang="zh-CN" sz="2000" dirty="0">
                <a:latin typeface="Arial" panose="020B0604020202020204" pitchFamily="34" charset="0"/>
              </a:rPr>
              <a:t>  }</a:t>
            </a:r>
            <a:endParaRPr lang="zh-CN" altLang="zh-CN" sz="2000" dirty="0">
              <a:latin typeface="Arial" panose="020B0604020202020204" pitchFamily="34" charset="0"/>
            </a:endParaRPr>
          </a:p>
          <a:p>
            <a:r>
              <a:rPr lang="en-US" altLang="zh-CN" sz="2000" dirty="0">
                <a:latin typeface="Arial" panose="020B0604020202020204" pitchFamily="34" charset="0"/>
              </a:rPr>
              <a:t>}</a:t>
            </a:r>
            <a:endParaRPr lang="en-US" altLang="zh-CN" sz="2000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/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标题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lstStyle/>
          <a:p>
            <a:r>
              <a:rPr lang="en-US" altLang="zh-CN" b="1" dirty="0">
                <a:sym typeface="+mn-ea"/>
              </a:rPr>
              <a:t>10.5.3 Spark</a:t>
            </a:r>
            <a:r>
              <a:rPr lang="zh-CN" altLang="en-US" b="1" dirty="0">
                <a:sym typeface="+mn-ea"/>
              </a:rPr>
              <a:t>应用程序</a:t>
            </a:r>
            <a:endParaRPr lang="zh-CN" altLang="en-US" dirty="0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57CE09-A6DF-4F65-B9AD-CB157D51E68C}" type="slidenum">
              <a:rPr lang="zh-CN" altLang="en-US" smtClean="0"/>
            </a:fld>
            <a:endParaRPr lang="zh-CN" altLang="en-US"/>
          </a:p>
        </p:txBody>
      </p:sp>
      <p:sp>
        <p:nvSpPr>
          <p:cNvPr id="62467" name="Rectangle 2"/>
          <p:cNvSpPr/>
          <p:nvPr/>
        </p:nvSpPr>
        <p:spPr>
          <a:xfrm>
            <a:off x="1524000" y="44450"/>
            <a:ext cx="309880" cy="3683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/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62468" name="TextBox 6"/>
          <p:cNvSpPr txBox="1"/>
          <p:nvPr/>
        </p:nvSpPr>
        <p:spPr>
          <a:xfrm>
            <a:off x="1069340" y="1361440"/>
            <a:ext cx="9612630" cy="82994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AutoNum type="arabicPeriod" startAt="3"/>
            </a:pPr>
            <a:r>
              <a:rPr lang="zh-CN" altLang="zh-CN" sz="2400" dirty="0">
                <a:latin typeface="Arial" panose="020B0604020202020204" pitchFamily="34" charset="0"/>
              </a:rPr>
              <a:t>然后创建一个</a:t>
            </a:r>
            <a:r>
              <a:rPr lang="en-US" altLang="zh-CN" sz="2400" dirty="0">
                <a:latin typeface="Arial" panose="020B0604020202020204" pitchFamily="34" charset="0"/>
              </a:rPr>
              <a:t>simple.sbt</a:t>
            </a:r>
            <a:r>
              <a:rPr lang="zh-CN" altLang="zh-CN" sz="2400" dirty="0">
                <a:latin typeface="Arial" panose="020B0604020202020204" pitchFamily="34" charset="0"/>
              </a:rPr>
              <a:t>文件（</a:t>
            </a:r>
            <a:r>
              <a:rPr lang="zh-CN" altLang="en-US" sz="2400" dirty="0">
                <a:latin typeface="Arial" panose="020B0604020202020204" pitchFamily="34" charset="0"/>
              </a:rPr>
              <a:t>文件路径：</a:t>
            </a:r>
            <a:r>
              <a:rPr lang="en-US" altLang="zh-CN" sz="2400" dirty="0">
                <a:latin typeface="Arial" panose="020B0604020202020204" pitchFamily="34" charset="0"/>
              </a:rPr>
              <a:t>~/sparkapp/simple.sbt</a:t>
            </a:r>
            <a:r>
              <a:rPr lang="zh-CN" altLang="zh-CN" sz="2400" dirty="0">
                <a:latin typeface="Arial" panose="020B0604020202020204" pitchFamily="34" charset="0"/>
              </a:rPr>
              <a:t>），用于声明该应用程序的信息以及与</a:t>
            </a:r>
            <a:r>
              <a:rPr lang="en-US" altLang="zh-CN" sz="2400" dirty="0">
                <a:latin typeface="Arial" panose="020B0604020202020204" pitchFamily="34" charset="0"/>
              </a:rPr>
              <a:t>Spark</a:t>
            </a:r>
            <a:r>
              <a:rPr lang="zh-CN" altLang="zh-CN" sz="2400" dirty="0">
                <a:latin typeface="Arial" panose="020B0604020202020204" pitchFamily="34" charset="0"/>
              </a:rPr>
              <a:t>的依赖关系，具体内容如下：</a:t>
            </a:r>
            <a:endParaRPr lang="zh-CN" altLang="en-US" sz="2400" dirty="0">
              <a:latin typeface="Arial" panose="020B0604020202020204" pitchFamily="34" charset="0"/>
            </a:endParaRPr>
          </a:p>
        </p:txBody>
      </p:sp>
      <p:sp>
        <p:nvSpPr>
          <p:cNvPr id="62469" name="TextBox 7"/>
          <p:cNvSpPr txBox="1"/>
          <p:nvPr/>
        </p:nvSpPr>
        <p:spPr>
          <a:xfrm>
            <a:off x="1263650" y="2415540"/>
            <a:ext cx="9912985" cy="156845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r>
              <a:rPr lang="en-US" altLang="zh-CN" sz="2400" dirty="0">
                <a:latin typeface="Arial" panose="020B0604020202020204" pitchFamily="34" charset="0"/>
              </a:rPr>
              <a:t>name := "Simple Project"</a:t>
            </a:r>
            <a:endParaRPr lang="zh-CN" altLang="zh-CN" sz="2400" dirty="0">
              <a:latin typeface="Arial" panose="020B0604020202020204" pitchFamily="34" charset="0"/>
            </a:endParaRPr>
          </a:p>
          <a:p>
            <a:r>
              <a:rPr lang="en-US" altLang="zh-CN" sz="2400" dirty="0">
                <a:latin typeface="Arial" panose="020B0604020202020204" pitchFamily="34" charset="0"/>
              </a:rPr>
              <a:t>version := "1.0"</a:t>
            </a:r>
            <a:endParaRPr lang="zh-CN" altLang="zh-CN" sz="2400" dirty="0">
              <a:latin typeface="Arial" panose="020B0604020202020204" pitchFamily="34" charset="0"/>
            </a:endParaRPr>
          </a:p>
          <a:p>
            <a:r>
              <a:rPr lang="en-US" altLang="zh-CN" sz="2400" dirty="0">
                <a:latin typeface="Arial" panose="020B0604020202020204" pitchFamily="34" charset="0"/>
              </a:rPr>
              <a:t>scalaVersion := "2.11.12"</a:t>
            </a:r>
            <a:endParaRPr lang="zh-CN" altLang="zh-CN" sz="2400" dirty="0">
              <a:latin typeface="Arial" panose="020B0604020202020204" pitchFamily="34" charset="0"/>
            </a:endParaRPr>
          </a:p>
          <a:p>
            <a:r>
              <a:rPr lang="en-US" altLang="zh-CN" sz="2400" dirty="0">
                <a:latin typeface="Arial" panose="020B0604020202020204" pitchFamily="34" charset="0"/>
              </a:rPr>
              <a:t>libraryDependencies += "org.apache.spark" %% "spark-core" % “2.4.0"</a:t>
            </a:r>
            <a:endParaRPr lang="en-US" altLang="zh-CN" sz="2400" dirty="0">
              <a:latin typeface="Arial" panose="020B0604020202020204" pitchFamily="34" charset="0"/>
            </a:endParaRPr>
          </a:p>
        </p:txBody>
      </p:sp>
      <p:sp>
        <p:nvSpPr>
          <p:cNvPr id="62470" name="TextBox 8"/>
          <p:cNvSpPr txBox="1"/>
          <p:nvPr/>
        </p:nvSpPr>
        <p:spPr>
          <a:xfrm>
            <a:off x="1459865" y="5295900"/>
            <a:ext cx="6009640" cy="829945"/>
          </a:xfrm>
          <a:prstGeom prst="rect">
            <a:avLst/>
          </a:prstGeom>
          <a:solidFill>
            <a:schemeClr val="tx1"/>
          </a:solidFill>
          <a:ln w="9525">
            <a:noFill/>
          </a:ln>
        </p:spPr>
        <p:txBody>
          <a:bodyPr wrap="square">
            <a:spAutoFit/>
          </a:bodyPr>
          <a:lstStyle/>
          <a:p>
            <a:r>
              <a:rPr lang="en-US" altLang="zh-CN" sz="2400" dirty="0">
                <a:solidFill>
                  <a:schemeClr val="bg1"/>
                </a:solidFill>
                <a:latin typeface="Arial" panose="020B0604020202020204" pitchFamily="34" charset="0"/>
              </a:rPr>
              <a:t>cd ~/sparkapp</a:t>
            </a:r>
            <a:endParaRPr lang="en-US" altLang="zh-CN" sz="2400" dirty="0">
              <a:solidFill>
                <a:schemeClr val="bg1"/>
              </a:solidFill>
              <a:latin typeface="Arial" panose="020B0604020202020204" pitchFamily="34" charset="0"/>
            </a:endParaRPr>
          </a:p>
          <a:p>
            <a:r>
              <a:rPr lang="en-US" altLang="zh-CN" sz="2400" dirty="0">
                <a:solidFill>
                  <a:schemeClr val="bg1"/>
                </a:solidFill>
                <a:latin typeface="Arial" panose="020B0604020202020204" pitchFamily="34" charset="0"/>
              </a:rPr>
              <a:t>/usr/local/sbt/sbt package</a:t>
            </a:r>
            <a:endParaRPr lang="en-US" altLang="zh-CN" sz="2400" dirty="0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069340" y="4585335"/>
            <a:ext cx="7639685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457200" indent="-457200">
              <a:buFont typeface="+mj-lt"/>
              <a:buAutoNum type="arabicPeriod" startAt="4"/>
            </a:pPr>
            <a:r>
              <a:rPr lang="zh-CN" altLang="zh-CN" sz="2400" dirty="0">
                <a:latin typeface="Arial" panose="020B0604020202020204" pitchFamily="34" charset="0"/>
                <a:sym typeface="+mn-ea"/>
              </a:rPr>
              <a:t>使用</a:t>
            </a:r>
            <a:r>
              <a:rPr lang="en-US" altLang="zh-CN" sz="2400" dirty="0">
                <a:latin typeface="Arial" panose="020B0604020202020204" pitchFamily="34" charset="0"/>
                <a:sym typeface="+mn-ea"/>
              </a:rPr>
              <a:t>sbt</a:t>
            </a:r>
            <a:r>
              <a:rPr lang="zh-CN" altLang="en-US" sz="2400" dirty="0">
                <a:latin typeface="Arial" panose="020B0604020202020204" pitchFamily="34" charset="0"/>
                <a:sym typeface="+mn-ea"/>
              </a:rPr>
              <a:t>对该应用程序</a:t>
            </a:r>
            <a:r>
              <a:rPr lang="zh-CN" altLang="zh-CN" sz="2400" dirty="0">
                <a:latin typeface="Arial" panose="020B0604020202020204" pitchFamily="34" charset="0"/>
                <a:sym typeface="+mn-ea"/>
              </a:rPr>
              <a:t>进行打包</a:t>
            </a:r>
            <a:r>
              <a:rPr lang="zh-CN" altLang="en-US" sz="2400" dirty="0">
                <a:latin typeface="Arial" panose="020B0604020202020204" pitchFamily="34" charset="0"/>
                <a:sym typeface="+mn-ea"/>
              </a:rPr>
              <a:t>，</a:t>
            </a:r>
            <a:r>
              <a:rPr lang="zh-CN" altLang="zh-CN" sz="2400" dirty="0">
                <a:latin typeface="Arial" panose="020B0604020202020204" pitchFamily="34" charset="0"/>
                <a:sym typeface="+mn-ea"/>
              </a:rPr>
              <a:t>命令</a:t>
            </a:r>
            <a:r>
              <a:rPr lang="zh-CN" altLang="en-US" sz="2400" dirty="0">
                <a:latin typeface="Arial" panose="020B0604020202020204" pitchFamily="34" charset="0"/>
                <a:sym typeface="+mn-ea"/>
              </a:rPr>
              <a:t>如下：</a:t>
            </a:r>
            <a:endParaRPr lang="zh-CN" altLang="en-US" sz="2400" dirty="0">
              <a:latin typeface="Arial" panose="020B0604020202020204" pitchFamily="34" charset="0"/>
              <a:sym typeface="+mn-ea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62470" grpId="0" bldLvl="0" animBg="1"/>
      <p:bldP spid="3" grpId="1"/>
      <p:bldP spid="62470" grpId="1" animBg="1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标题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lstStyle/>
          <a:p>
            <a:r>
              <a:rPr lang="en-US" altLang="zh-CN" b="1" dirty="0">
                <a:sym typeface="+mn-ea"/>
              </a:rPr>
              <a:t>10.5.3 Spark</a:t>
            </a:r>
            <a:r>
              <a:rPr lang="zh-CN" altLang="en-US" b="1" dirty="0">
                <a:sym typeface="+mn-ea"/>
              </a:rPr>
              <a:t>应用程序</a:t>
            </a:r>
            <a:endParaRPr lang="zh-CN" altLang="en-US" dirty="0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57CE09-A6DF-4F65-B9AD-CB157D51E68C}" type="slidenum">
              <a:rPr lang="zh-CN" altLang="en-US" smtClean="0"/>
            </a:fld>
            <a:endParaRPr lang="zh-CN" altLang="en-US"/>
          </a:p>
        </p:txBody>
      </p:sp>
      <p:sp>
        <p:nvSpPr>
          <p:cNvPr id="62467" name="Rectangle 2"/>
          <p:cNvSpPr/>
          <p:nvPr/>
        </p:nvSpPr>
        <p:spPr>
          <a:xfrm>
            <a:off x="1524000" y="44450"/>
            <a:ext cx="309880" cy="3683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/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62471" name="TextBox 8"/>
          <p:cNvSpPr txBox="1"/>
          <p:nvPr/>
        </p:nvSpPr>
        <p:spPr>
          <a:xfrm>
            <a:off x="1106170" y="1802130"/>
            <a:ext cx="8411845" cy="2306955"/>
          </a:xfrm>
          <a:prstGeom prst="rect">
            <a:avLst/>
          </a:prstGeom>
          <a:solidFill>
            <a:schemeClr val="tx1"/>
          </a:solidFill>
          <a:ln w="9525">
            <a:noFill/>
          </a:ln>
        </p:spPr>
        <p:txBody>
          <a:bodyPr wrap="square">
            <a:spAutoFit/>
          </a:bodyPr>
          <a:lstStyle/>
          <a:p>
            <a:r>
              <a:rPr lang="en-US" altLang="zh-CN" dirty="0">
                <a:solidFill>
                  <a:schemeClr val="bg1"/>
                </a:solidFill>
                <a:latin typeface="Arial" panose="020B0604020202020204" pitchFamily="34" charset="0"/>
              </a:rPr>
              <a:t>$~/sparkapp$ /usr/local/sbt/sbt package</a:t>
            </a:r>
            <a:endParaRPr lang="zh-CN" altLang="zh-CN" dirty="0">
              <a:solidFill>
                <a:schemeClr val="bg1"/>
              </a:solidFill>
              <a:latin typeface="Arial" panose="020B0604020202020204" pitchFamily="34" charset="0"/>
            </a:endParaRPr>
          </a:p>
          <a:p>
            <a:r>
              <a:rPr lang="en-US" altLang="zh-CN" dirty="0">
                <a:solidFill>
                  <a:schemeClr val="bg1"/>
                </a:solidFill>
                <a:latin typeface="Arial" panose="020B0604020202020204" pitchFamily="34" charset="0"/>
              </a:rPr>
              <a:t>[info] Set current project to Simple Project</a:t>
            </a:r>
            <a:endParaRPr lang="zh-CN" altLang="zh-CN" dirty="0">
              <a:solidFill>
                <a:schemeClr val="bg1"/>
              </a:solidFill>
              <a:latin typeface="Arial" panose="020B0604020202020204" pitchFamily="34" charset="0"/>
            </a:endParaRPr>
          </a:p>
          <a:p>
            <a:r>
              <a:rPr lang="en-US" altLang="zh-CN" dirty="0">
                <a:solidFill>
                  <a:schemeClr val="bg1"/>
                </a:solidFill>
                <a:latin typeface="Arial" panose="020B0604020202020204" pitchFamily="34" charset="0"/>
              </a:rPr>
              <a:t>[info] Updating {file:/home/hadoop/sparkapp/}sparkapp...</a:t>
            </a:r>
            <a:endParaRPr lang="zh-CN" altLang="zh-CN" dirty="0">
              <a:solidFill>
                <a:schemeClr val="bg1"/>
              </a:solidFill>
              <a:latin typeface="Arial" panose="020B0604020202020204" pitchFamily="34" charset="0"/>
            </a:endParaRPr>
          </a:p>
          <a:p>
            <a:r>
              <a:rPr lang="en-US" altLang="zh-CN" dirty="0">
                <a:solidFill>
                  <a:schemeClr val="bg1"/>
                </a:solidFill>
                <a:latin typeface="Arial" panose="020B0604020202020204" pitchFamily="34" charset="0"/>
              </a:rPr>
              <a:t>[info] Done updating.</a:t>
            </a:r>
            <a:endParaRPr lang="zh-CN" altLang="zh-CN" dirty="0">
              <a:solidFill>
                <a:schemeClr val="bg1"/>
              </a:solidFill>
              <a:latin typeface="Arial" panose="020B0604020202020204" pitchFamily="34" charset="0"/>
            </a:endParaRPr>
          </a:p>
          <a:p>
            <a:r>
              <a:rPr lang="en-US" altLang="zh-CN" dirty="0">
                <a:solidFill>
                  <a:schemeClr val="bg1"/>
                </a:solidFill>
                <a:latin typeface="Arial" panose="020B0604020202020204" pitchFamily="34" charset="0"/>
              </a:rPr>
              <a:t>[info] Compiling 1 Scala source to /home/hadoop/sparkapp/target/...</a:t>
            </a:r>
            <a:endParaRPr lang="zh-CN" altLang="zh-CN" dirty="0">
              <a:solidFill>
                <a:schemeClr val="bg1"/>
              </a:solidFill>
              <a:latin typeface="Arial" panose="020B0604020202020204" pitchFamily="34" charset="0"/>
            </a:endParaRPr>
          </a:p>
          <a:p>
            <a:r>
              <a:rPr lang="en-US" altLang="zh-CN" dirty="0">
                <a:solidFill>
                  <a:schemeClr val="bg1"/>
                </a:solidFill>
                <a:latin typeface="Arial" panose="020B0604020202020204" pitchFamily="34" charset="0"/>
              </a:rPr>
              <a:t>[info] Packaging ~/sparkapp/target/scala-2.11/</a:t>
            </a:r>
            <a:r>
              <a:rPr lang="en-US" altLang="zh-CN" dirty="0">
                <a:solidFill>
                  <a:schemeClr val="bg1"/>
                </a:solidFill>
                <a:highlight>
                  <a:srgbClr val="000080"/>
                </a:highlight>
                <a:latin typeface="Arial" panose="020B0604020202020204" pitchFamily="34" charset="0"/>
                <a:sym typeface="+mn-ea"/>
              </a:rPr>
              <a:t>simple-project_2.11-1.0.jar</a:t>
            </a:r>
            <a:endParaRPr lang="zh-CN" altLang="zh-CN" dirty="0">
              <a:solidFill>
                <a:schemeClr val="bg1"/>
              </a:solidFill>
              <a:latin typeface="Arial" panose="020B0604020202020204" pitchFamily="34" charset="0"/>
            </a:endParaRPr>
          </a:p>
          <a:p>
            <a:r>
              <a:rPr lang="en-US" altLang="zh-CN" dirty="0">
                <a:solidFill>
                  <a:schemeClr val="bg1"/>
                </a:solidFill>
                <a:latin typeface="Arial" panose="020B0604020202020204" pitchFamily="34" charset="0"/>
              </a:rPr>
              <a:t>[info] Done packaging.</a:t>
            </a:r>
            <a:endParaRPr lang="zh-CN" altLang="zh-CN" dirty="0">
              <a:solidFill>
                <a:schemeClr val="bg1"/>
              </a:solidFill>
              <a:latin typeface="Arial" panose="020B0604020202020204" pitchFamily="34" charset="0"/>
            </a:endParaRPr>
          </a:p>
          <a:p>
            <a:r>
              <a:rPr lang="en-US" altLang="zh-CN" dirty="0">
                <a:solidFill>
                  <a:schemeClr val="bg1"/>
                </a:solidFill>
                <a:latin typeface="Arial" panose="020B0604020202020204" pitchFamily="34" charset="0"/>
              </a:rPr>
              <a:t>[success] Total time: 17 s, completed 2020-1-27 16:13:56</a:t>
            </a:r>
            <a:endParaRPr lang="en-US" altLang="zh-CN" dirty="0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006475" y="1318260"/>
            <a:ext cx="9041130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zh-CN" sz="2000" dirty="0">
                <a:latin typeface="Arial" panose="020B0604020202020204" pitchFamily="34" charset="0"/>
                <a:sym typeface="+mn-ea"/>
              </a:rPr>
              <a:t>打包成功后，会输出程序</a:t>
            </a:r>
            <a:r>
              <a:rPr lang="en-US" altLang="zh-CN" sz="2000" dirty="0">
                <a:latin typeface="Arial" panose="020B0604020202020204" pitchFamily="34" charset="0"/>
                <a:sym typeface="+mn-ea"/>
              </a:rPr>
              <a:t>jar</a:t>
            </a:r>
            <a:r>
              <a:rPr lang="zh-CN" altLang="zh-CN" sz="2000" dirty="0">
                <a:latin typeface="Arial" panose="020B0604020202020204" pitchFamily="34" charset="0"/>
                <a:sym typeface="+mn-ea"/>
              </a:rPr>
              <a:t>包的位置以及“</a:t>
            </a:r>
            <a:r>
              <a:rPr lang="en-US" altLang="zh-CN" sz="2000" dirty="0">
                <a:latin typeface="Arial" panose="020B0604020202020204" pitchFamily="34" charset="0"/>
                <a:sym typeface="+mn-ea"/>
              </a:rPr>
              <a:t>Done Packaging</a:t>
            </a:r>
            <a:r>
              <a:rPr lang="zh-CN" altLang="zh-CN" sz="2000" dirty="0">
                <a:latin typeface="Arial" panose="020B0604020202020204" pitchFamily="34" charset="0"/>
                <a:sym typeface="+mn-ea"/>
              </a:rPr>
              <a:t>”的提示</a:t>
            </a:r>
            <a:r>
              <a:rPr lang="zh-CN" altLang="en-US" sz="2000" dirty="0">
                <a:latin typeface="Arial" panose="020B0604020202020204" pitchFamily="34" charset="0"/>
                <a:sym typeface="+mn-ea"/>
              </a:rPr>
              <a:t>，</a:t>
            </a:r>
            <a:r>
              <a:rPr lang="zh-CN" altLang="zh-CN" sz="2000" dirty="0">
                <a:latin typeface="Arial" panose="020B0604020202020204" pitchFamily="34" charset="0"/>
                <a:sym typeface="+mn-ea"/>
              </a:rPr>
              <a:t>如</a:t>
            </a:r>
            <a:r>
              <a:rPr lang="zh-CN" altLang="en-US" sz="2000" dirty="0">
                <a:latin typeface="Arial" panose="020B0604020202020204" pitchFamily="34" charset="0"/>
                <a:sym typeface="+mn-ea"/>
              </a:rPr>
              <a:t>下</a:t>
            </a:r>
            <a:r>
              <a:rPr lang="zh-CN" altLang="zh-CN" sz="2000" dirty="0">
                <a:latin typeface="Arial" panose="020B0604020202020204" pitchFamily="34" charset="0"/>
                <a:sym typeface="+mn-ea"/>
              </a:rPr>
              <a:t>所示。</a:t>
            </a:r>
            <a:endParaRPr lang="zh-CN" altLang="zh-CN" sz="2000" dirty="0">
              <a:latin typeface="Arial" panose="020B0604020202020204" pitchFamily="34" charset="0"/>
              <a:sym typeface="+mn-ea"/>
            </a:endParaRPr>
          </a:p>
        </p:txBody>
      </p:sp>
      <p:sp>
        <p:nvSpPr>
          <p:cNvPr id="63491" name="矩形 2"/>
          <p:cNvSpPr/>
          <p:nvPr/>
        </p:nvSpPr>
        <p:spPr>
          <a:xfrm>
            <a:off x="1106170" y="4363720"/>
            <a:ext cx="8706485" cy="65024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noAutofit/>
          </a:bodyPr>
          <a:p>
            <a:r>
              <a:rPr lang="zh-CN" altLang="zh-CN" sz="2000" dirty="0">
                <a:latin typeface="Arial" panose="020B0604020202020204" pitchFamily="34" charset="0"/>
              </a:rPr>
              <a:t>有了最终生成的</a:t>
            </a:r>
            <a:r>
              <a:rPr lang="en-US" altLang="zh-CN" sz="2000" dirty="0">
                <a:latin typeface="Arial" panose="020B0604020202020204" pitchFamily="34" charset="0"/>
              </a:rPr>
              <a:t>jar</a:t>
            </a:r>
            <a:r>
              <a:rPr lang="zh-CN" altLang="zh-CN" sz="2000" dirty="0">
                <a:latin typeface="Arial" panose="020B0604020202020204" pitchFamily="34" charset="0"/>
              </a:rPr>
              <a:t>包后，再通过</a:t>
            </a:r>
            <a:r>
              <a:rPr lang="en-US" altLang="zh-CN" sz="2000" dirty="0">
                <a:latin typeface="Arial" panose="020B0604020202020204" pitchFamily="34" charset="0"/>
              </a:rPr>
              <a:t>spark-submit</a:t>
            </a:r>
            <a:r>
              <a:rPr lang="zh-CN" altLang="zh-CN" sz="2000" dirty="0">
                <a:latin typeface="Arial" panose="020B0604020202020204" pitchFamily="34" charset="0"/>
              </a:rPr>
              <a:t>就可以提交到</a:t>
            </a:r>
            <a:r>
              <a:rPr lang="en-US" altLang="zh-CN" sz="2000" dirty="0">
                <a:latin typeface="Arial" panose="020B0604020202020204" pitchFamily="34" charset="0"/>
              </a:rPr>
              <a:t>Spark</a:t>
            </a:r>
            <a:r>
              <a:rPr lang="zh-CN" altLang="zh-CN" sz="2000" dirty="0">
                <a:latin typeface="Arial" panose="020B0604020202020204" pitchFamily="34" charset="0"/>
              </a:rPr>
              <a:t>中运行了，命令如下：</a:t>
            </a:r>
            <a:endParaRPr lang="en-US" altLang="zh-CN" sz="1600" dirty="0">
              <a:latin typeface="Arial" panose="020B0604020202020204" pitchFamily="34" charset="0"/>
            </a:endParaRPr>
          </a:p>
        </p:txBody>
      </p:sp>
      <p:sp>
        <p:nvSpPr>
          <p:cNvPr id="63493" name="TextBox 7"/>
          <p:cNvSpPr txBox="1"/>
          <p:nvPr/>
        </p:nvSpPr>
        <p:spPr>
          <a:xfrm>
            <a:off x="1106170" y="5922010"/>
            <a:ext cx="8138160" cy="70675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r>
              <a:rPr lang="zh-CN" altLang="zh-CN" sz="2000" dirty="0">
                <a:latin typeface="Arial" panose="020B0604020202020204" pitchFamily="34" charset="0"/>
                <a:sym typeface="+mn-ea"/>
              </a:rPr>
              <a:t>该应用程序的执行结果如下：</a:t>
            </a:r>
            <a:endParaRPr lang="en-US" altLang="zh-CN" sz="2000" dirty="0">
              <a:latin typeface="Arial" panose="020B0604020202020204" pitchFamily="34" charset="0"/>
            </a:endParaRPr>
          </a:p>
          <a:p>
            <a:r>
              <a:rPr lang="en-US" altLang="zh-CN" sz="2000" dirty="0">
                <a:latin typeface="Arial" panose="020B0604020202020204" pitchFamily="34" charset="0"/>
              </a:rPr>
              <a:t>Lines with a: 62, Lines with b: 31</a:t>
            </a:r>
            <a:endParaRPr lang="en-US" altLang="zh-CN" sz="2000" dirty="0">
              <a:latin typeface="Arial" panose="020B0604020202020204" pitchFamily="34" charset="0"/>
            </a:endParaRPr>
          </a:p>
        </p:txBody>
      </p:sp>
      <p:sp>
        <p:nvSpPr>
          <p:cNvPr id="63494" name="TextBox 8"/>
          <p:cNvSpPr txBox="1"/>
          <p:nvPr/>
        </p:nvSpPr>
        <p:spPr>
          <a:xfrm>
            <a:off x="1106170" y="5013960"/>
            <a:ext cx="8411845" cy="706755"/>
          </a:xfrm>
          <a:prstGeom prst="rect">
            <a:avLst/>
          </a:prstGeom>
          <a:solidFill>
            <a:schemeClr val="tx1"/>
          </a:solidFill>
          <a:ln w="9525">
            <a:noFill/>
          </a:ln>
        </p:spPr>
        <p:txBody>
          <a:bodyPr wrap="square">
            <a:spAutoFit/>
          </a:bodyPr>
          <a:p>
            <a:r>
              <a:rPr lang="en-US" altLang="zh-CN" sz="2000" dirty="0">
                <a:solidFill>
                  <a:schemeClr val="bg1"/>
                </a:solidFill>
                <a:latin typeface="Arial" panose="020B0604020202020204" pitchFamily="34" charset="0"/>
              </a:rPr>
              <a:t>/usr/local/spark/bin/spark-submit --class "SimpleApp" ~/sparkapp/target/scala-2.11/simple-project_2.11-1.0.jar</a:t>
            </a:r>
            <a:endParaRPr lang="en-US" altLang="zh-CN" sz="2000" dirty="0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3491" grpId="0"/>
      <p:bldP spid="63494" grpId="0" animBg="1"/>
      <p:bldP spid="63491" grpId="1"/>
      <p:bldP spid="63494" grpId="1" animBg="1"/>
      <p:bldP spid="63493" grpId="0"/>
      <p:bldP spid="63493" grpId="1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标题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lstStyle/>
          <a:p>
            <a:r>
              <a:rPr lang="zh-CN" altLang="en-US" b="1" dirty="0"/>
              <a:t>本章小结</a:t>
            </a:r>
            <a:endParaRPr lang="zh-CN" altLang="en-US" b="1" dirty="0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57CE09-A6DF-4F65-B9AD-CB157D51E68C}" type="slidenum">
              <a:rPr lang="zh-CN" altLang="en-US" smtClean="0"/>
            </a:fld>
            <a:endParaRPr lang="zh-CN" altLang="en-US"/>
          </a:p>
        </p:txBody>
      </p:sp>
      <p:sp>
        <p:nvSpPr>
          <p:cNvPr id="64515" name="矩形 2"/>
          <p:cNvSpPr/>
          <p:nvPr/>
        </p:nvSpPr>
        <p:spPr>
          <a:xfrm>
            <a:off x="990600" y="1533525"/>
            <a:ext cx="9382125" cy="274955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zh-CN" altLang="zh-CN" sz="2400" dirty="0">
                <a:latin typeface="Arial" panose="020B0604020202020204" pitchFamily="34" charset="0"/>
              </a:rPr>
              <a:t>介绍了</a:t>
            </a:r>
            <a:r>
              <a:rPr lang="en-US" altLang="zh-CN" sz="2400" dirty="0">
                <a:latin typeface="Arial" panose="020B0604020202020204" pitchFamily="34" charset="0"/>
              </a:rPr>
              <a:t>Spark</a:t>
            </a:r>
            <a:r>
              <a:rPr lang="zh-CN" altLang="zh-CN" sz="2400" dirty="0">
                <a:latin typeface="Arial" panose="020B0604020202020204" pitchFamily="34" charset="0"/>
              </a:rPr>
              <a:t>的起源与发展，分析了</a:t>
            </a:r>
            <a:r>
              <a:rPr lang="en-US" altLang="zh-CN" sz="2400" dirty="0">
                <a:latin typeface="Arial" panose="020B0604020202020204" pitchFamily="34" charset="0"/>
              </a:rPr>
              <a:t>Hadoop</a:t>
            </a:r>
            <a:r>
              <a:rPr lang="zh-CN" altLang="zh-CN" sz="2400" dirty="0">
                <a:latin typeface="Arial" panose="020B0604020202020204" pitchFamily="34" charset="0"/>
              </a:rPr>
              <a:t>存在的缺点与</a:t>
            </a:r>
            <a:r>
              <a:rPr lang="en-US" altLang="zh-CN" sz="2400" dirty="0">
                <a:latin typeface="Arial" panose="020B0604020202020204" pitchFamily="34" charset="0"/>
              </a:rPr>
              <a:t>Spark</a:t>
            </a:r>
            <a:r>
              <a:rPr lang="zh-CN" altLang="zh-CN" sz="2400" dirty="0">
                <a:latin typeface="Arial" panose="020B0604020202020204" pitchFamily="34" charset="0"/>
              </a:rPr>
              <a:t>的优势。接着介绍了</a:t>
            </a:r>
            <a:r>
              <a:rPr lang="en-US" altLang="zh-CN" sz="2400" dirty="0">
                <a:latin typeface="Arial" panose="020B0604020202020204" pitchFamily="34" charset="0"/>
              </a:rPr>
              <a:t>Spark</a:t>
            </a:r>
            <a:r>
              <a:rPr lang="zh-CN" altLang="zh-CN" sz="2400" dirty="0">
                <a:latin typeface="Arial" panose="020B0604020202020204" pitchFamily="34" charset="0"/>
              </a:rPr>
              <a:t>的相关概念、生态系统与核心设计。</a:t>
            </a:r>
            <a:endParaRPr lang="zh-CN" altLang="zh-CN" sz="2400" dirty="0">
              <a:latin typeface="Arial" panose="020B0604020202020204" pitchFamily="34" charset="0"/>
            </a:endParaRPr>
          </a:p>
          <a:p>
            <a:pPr>
              <a:lnSpc>
                <a:spcPct val="120000"/>
              </a:lnSpc>
              <a:buFont typeface="Arial" panose="020B0604020202020204" pitchFamily="34" charset="0"/>
              <a:buChar char="•"/>
            </a:pPr>
            <a:endParaRPr lang="en-US" altLang="zh-CN" sz="2400" dirty="0">
              <a:latin typeface="Arial" panose="020B0604020202020204" pitchFamily="34" charset="0"/>
            </a:endParaRPr>
          </a:p>
          <a:p>
            <a:pPr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altLang="zh-CN" sz="2400" dirty="0">
                <a:latin typeface="Arial" panose="020B0604020202020204" pitchFamily="34" charset="0"/>
              </a:rPr>
              <a:t>Spark</a:t>
            </a:r>
            <a:r>
              <a:rPr lang="zh-CN" altLang="zh-CN" sz="2400" dirty="0">
                <a:latin typeface="Arial" panose="020B0604020202020204" pitchFamily="34" charset="0"/>
              </a:rPr>
              <a:t>的核心是统一的抽象</a:t>
            </a:r>
            <a:r>
              <a:rPr lang="en-US" altLang="zh-CN" sz="2400" dirty="0">
                <a:latin typeface="Arial" panose="020B0604020202020204" pitchFamily="34" charset="0"/>
              </a:rPr>
              <a:t>RDD</a:t>
            </a:r>
            <a:r>
              <a:rPr lang="zh-CN" altLang="zh-CN" sz="2400" dirty="0">
                <a:latin typeface="Arial" panose="020B0604020202020204" pitchFamily="34" charset="0"/>
              </a:rPr>
              <a:t>，在此之上形成了结构一体化、功能多元化的完整的大数据生态系统，支持内存计算，</a:t>
            </a:r>
            <a:r>
              <a:rPr lang="en-US" altLang="zh-CN" sz="2400" dirty="0">
                <a:latin typeface="Arial" panose="020B0604020202020204" pitchFamily="34" charset="0"/>
              </a:rPr>
              <a:t>SQL</a:t>
            </a:r>
            <a:r>
              <a:rPr lang="zh-CN" altLang="zh-CN" sz="2400" dirty="0">
                <a:latin typeface="Arial" panose="020B0604020202020204" pitchFamily="34" charset="0"/>
              </a:rPr>
              <a:t>即席查询、实时流式计算、机器学习和图计算</a:t>
            </a:r>
            <a:endParaRPr lang="zh-CN" altLang="zh-CN" sz="2400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UNIT_TABLE_BEAUTIFY" val="smartTable{b14db453-cf2a-4568-bb3f-e61705f53740}"/>
  <p:tag name="TABLE_ENDDRAG_ORIGIN_RECT" val="431*314"/>
  <p:tag name="TABLE_ENDDRAG_RECT" val="296*104*431*314"/>
</p:tagLst>
</file>

<file path=ppt/tags/tag2.xml><?xml version="1.0" encoding="utf-8"?>
<p:tagLst xmlns:p="http://schemas.openxmlformats.org/presentationml/2006/main">
  <p:tag name="KSO_WM_UNIT_TABLE_BEAUTIFY" val="smartTable{8d0fd8e0-26d3-42db-aa0a-6acf96893e20}"/>
</p:tagLst>
</file>

<file path=ppt/tags/tag3.xml><?xml version="1.0" encoding="utf-8"?>
<p:tagLst xmlns:p="http://schemas.openxmlformats.org/presentationml/2006/main">
  <p:tag name="KSO_WM_BEAUTIFY_FLAG" val=""/>
</p:tagLst>
</file>

<file path=ppt/tags/tag4.xml><?xml version="1.0" encoding="utf-8"?>
<p:tagLst xmlns:p="http://schemas.openxmlformats.org/presentationml/2006/main">
  <p:tag name="KSO_WM_BEAUTIFY_FLAG" val=""/>
</p:tagLst>
</file>

<file path=ppt/tags/tag5.xml><?xml version="1.0" encoding="utf-8"?>
<p:tagLst xmlns:p="http://schemas.openxmlformats.org/presentationml/2006/main">
  <p:tag name="KSO_WM_BEAUTIFY_FLAG" val=""/>
</p:tagLst>
</file>

<file path=ppt/tags/tag6.xml><?xml version="1.0" encoding="utf-8"?>
<p:tagLst xmlns:p="http://schemas.openxmlformats.org/presentationml/2006/main">
  <p:tag name="KSO_WM_BEAUTIFY_FLAG" val=""/>
</p:tagLst>
</file>

<file path=ppt/tags/tag7.xml><?xml version="1.0" encoding="utf-8"?>
<p:tagLst xmlns:p="http://schemas.openxmlformats.org/presentationml/2006/main">
  <p:tag name="KSO_WM_BEAUTIFY_FLAG" val=""/>
</p:tagLst>
</file>

<file path=ppt/tags/tag8.xml><?xml version="1.0" encoding="utf-8"?>
<p:tagLst xmlns:p="http://schemas.openxmlformats.org/presentationml/2006/main">
  <p:tag name="KSO_WM_BEAUTIFY_FLAG" val=""/>
</p:tagLst>
</file>

<file path=ppt/tags/tag9.xml><?xml version="1.0" encoding="utf-8"?>
<p:tagLst xmlns:p="http://schemas.openxmlformats.org/presentationml/2006/main">
  <p:tag name="KSO_WM_BEAUTIFY_FLAG" val=""/>
</p:tagLst>
</file>

<file path=ppt/tags/tag10.xml><?xml version="1.0" encoding="utf-8"?>
<p:tagLst xmlns:p="http://schemas.openxmlformats.org/presentationml/2006/main">
  <p:tag name="KSO_WM_BEAUTIFY_FLAG" val=""/>
</p:tagLst>
</file>

<file path=ppt/tags/tag11.xml><?xml version="1.0" encoding="utf-8"?>
<p:tagLst xmlns:p="http://schemas.openxmlformats.org/presentationml/2006/main">
  <p:tag name="KSO_WM_BEAUTIFY_FLAG" val=""/>
</p:tagLst>
</file>

<file path=ppt/tags/tag12.xml><?xml version="1.0" encoding="utf-8"?>
<p:tagLst xmlns:p="http://schemas.openxmlformats.org/presentationml/2006/main">
  <p:tag name="KSO_WM_BEAUTIFY_FLAG" val=""/>
</p:tagLst>
</file>

<file path=ppt/tags/tag13.xml><?xml version="1.0" encoding="utf-8"?>
<p:tagLst xmlns:p="http://schemas.openxmlformats.org/presentationml/2006/main">
  <p:tag name="KSO_WM_UNIT_TABLE_BEAUTIFY" val="smartTable{f9fb80c8-7567-4541-9529-52f460215a77}"/>
  <p:tag name="TABLE_ENDDRAG_ORIGIN_RECT" val="777*316"/>
  <p:tag name="TABLE_ENDDRAG_RECT" val="91*188*777*316"/>
</p:tagLst>
</file>

<file path=ppt/tags/tag14.xml><?xml version="1.0" encoding="utf-8"?>
<p:tagLst xmlns:p="http://schemas.openxmlformats.org/presentationml/2006/main">
  <p:tag name="KSO_WM_BEAUTIFY_FLAG" val=""/>
</p:tagLst>
</file>

<file path=ppt/tags/tag15.xml><?xml version="1.0" encoding="utf-8"?>
<p:tagLst xmlns:p="http://schemas.openxmlformats.org/presentationml/2006/main">
  <p:tag name="KSO_WM_BEAUTIFY_FLAG" val=""/>
</p:tagLst>
</file>

<file path=ppt/tags/tag16.xml><?xml version="1.0" encoding="utf-8"?>
<p:tagLst xmlns:p="http://schemas.openxmlformats.org/presentationml/2006/main">
  <p:tag name="KSO_WM_UNIT_TABLE_BEAUTIFY" val="smartTable{f57c584b-ca19-4e18-ae98-39daa2fe416f}"/>
  <p:tag name="TABLE_ENDDRAG_ORIGIN_RECT" val="193*49"/>
  <p:tag name="TABLE_ENDDRAG_RECT" val="286*148*193*49"/>
</p:tagLst>
</file>

<file path=ppt/tags/tag17.xml><?xml version="1.0" encoding="utf-8"?>
<p:tagLst xmlns:p="http://schemas.openxmlformats.org/presentationml/2006/main">
  <p:tag name="KSO_WM_UNIT_TABLE_BEAUTIFY" val="smartTable{f57c584b-ca19-4e18-ae98-39daa2fe416f}"/>
  <p:tag name="TABLE_ENDDRAG_ORIGIN_RECT" val="193*49"/>
  <p:tag name="TABLE_ENDDRAG_RECT" val="286*148*193*49"/>
</p:tagLst>
</file>

<file path=ppt/tags/tag18.xml><?xml version="1.0" encoding="utf-8"?>
<p:tagLst xmlns:p="http://schemas.openxmlformats.org/presentationml/2006/main">
  <p:tag name="KSO_WM_BEAUTIFY_FLAG" val=""/>
</p:tagLst>
</file>

<file path=ppt/tags/tag19.xml><?xml version="1.0" encoding="utf-8"?>
<p:tagLst xmlns:p="http://schemas.openxmlformats.org/presentationml/2006/main">
  <p:tag name="KSO_WM_BEAUTIFY_FLAG" val=""/>
</p:tagLst>
</file>

<file path=ppt/tags/tag20.xml><?xml version="1.0" encoding="utf-8"?>
<p:tagLst xmlns:p="http://schemas.openxmlformats.org/presentationml/2006/main">
  <p:tag name="KSO_WM_BEAUTIFY_FLAG" val=""/>
</p:tagLst>
</file>

<file path=ppt/tags/tag21.xml><?xml version="1.0" encoding="utf-8"?>
<p:tagLst xmlns:p="http://schemas.openxmlformats.org/presentationml/2006/main">
  <p:tag name="KSO_WM_BEAUTIFY_FLAG" val=""/>
</p:tagLst>
</file>

<file path=ppt/tags/tag22.xml><?xml version="1.0" encoding="utf-8"?>
<p:tagLst xmlns:p="http://schemas.openxmlformats.org/presentationml/2006/main">
  <p:tag name="KSO_WM_BEAUTIFY_FLAG" val=""/>
</p:tagLst>
</file>

<file path=ppt/tags/tag23.xml><?xml version="1.0" encoding="utf-8"?>
<p:tagLst xmlns:p="http://schemas.openxmlformats.org/presentationml/2006/main">
  <p:tag name="KSO_WM_BEAUTIFY_FLAG" val=""/>
</p:tagLst>
</file>

<file path=ppt/tags/tag24.xml><?xml version="1.0" encoding="utf-8"?>
<p:tagLst xmlns:p="http://schemas.openxmlformats.org/presentationml/2006/main">
  <p:tag name="KSO_WM_BEAUTIFY_FLAG" val=""/>
</p:tagLst>
</file>

<file path=ppt/tags/tag25.xml><?xml version="1.0" encoding="utf-8"?>
<p:tagLst xmlns:p="http://schemas.openxmlformats.org/presentationml/2006/main">
  <p:tag name="KSO_WM_BEAUTIFY_FLAG" val=""/>
</p:tagLst>
</file>

<file path=ppt/tags/tag26.xml><?xml version="1.0" encoding="utf-8"?>
<p:tagLst xmlns:p="http://schemas.openxmlformats.org/presentationml/2006/main">
  <p:tag name="KSO_WM_BEAUTIFY_FLAG" val=""/>
</p:tagLst>
</file>

<file path=ppt/tags/tag27.xml><?xml version="1.0" encoding="utf-8"?>
<p:tagLst xmlns:p="http://schemas.openxmlformats.org/presentationml/2006/main">
  <p:tag name="KSO_WM_BEAUTIFY_FLAG" val=""/>
</p:tagLst>
</file>

<file path=ppt/tags/tag28.xml><?xml version="1.0" encoding="utf-8"?>
<p:tagLst xmlns:p="http://schemas.openxmlformats.org/presentationml/2006/main">
  <p:tag name="KSO_WM_BEAUTIFY_FLAG" val=""/>
</p:tagLst>
</file>

<file path=ppt/tags/tag29.xml><?xml version="1.0" encoding="utf-8"?>
<p:tagLst xmlns:p="http://schemas.openxmlformats.org/presentationml/2006/main">
  <p:tag name="KSO_WM_BEAUTIFY_FLAG" val=""/>
</p:tagLst>
</file>

<file path=ppt/tags/tag30.xml><?xml version="1.0" encoding="utf-8"?>
<p:tagLst xmlns:p="http://schemas.openxmlformats.org/presentationml/2006/main">
  <p:tag name="KSO_WM_BEAUTIFY_FLAG" val=""/>
</p:tagLst>
</file>

<file path=ppt/tags/tag31.xml><?xml version="1.0" encoding="utf-8"?>
<p:tagLst xmlns:p="http://schemas.openxmlformats.org/presentationml/2006/main">
  <p:tag name="KSO_WM_BEAUTIFY_FLAG" val=""/>
</p:tagLst>
</file>

<file path=ppt/tags/tag32.xml><?xml version="1.0" encoding="utf-8"?>
<p:tagLst xmlns:p="http://schemas.openxmlformats.org/presentationml/2006/main">
  <p:tag name="KSO_WM_BEAUTIFY_FLAG" val=""/>
</p:tagLst>
</file>

<file path=ppt/tags/tag33.xml><?xml version="1.0" encoding="utf-8"?>
<p:tagLst xmlns:p="http://schemas.openxmlformats.org/presentationml/2006/main">
  <p:tag name="KSO_WM_BEAUTIFY_FLAG" val=""/>
</p:tagLst>
</file>

<file path=ppt/tags/tag34.xml><?xml version="1.0" encoding="utf-8"?>
<p:tagLst xmlns:p="http://schemas.openxmlformats.org/presentationml/2006/main">
  <p:tag name="KSO_WM_BEAUTIFY_FLAG" val=""/>
</p:tagLst>
</file>

<file path=ppt/tags/tag35.xml><?xml version="1.0" encoding="utf-8"?>
<p:tagLst xmlns:p="http://schemas.openxmlformats.org/presentationml/2006/main">
  <p:tag name="KSO_WM_BEAUTIFY_FLAG" val=""/>
</p:tagLst>
</file>

<file path=ppt/tags/tag36.xml><?xml version="1.0" encoding="utf-8"?>
<p:tagLst xmlns:p="http://schemas.openxmlformats.org/presentationml/2006/main">
  <p:tag name="KSO_WM_BEAUTIFY_FLAG" val=""/>
</p:tagLst>
</file>

<file path=ppt/tags/tag37.xml><?xml version="1.0" encoding="utf-8"?>
<p:tagLst xmlns:p="http://schemas.openxmlformats.org/presentationml/2006/main">
  <p:tag name="KSO_WM_BEAUTIFY_FLAG" val=""/>
</p:tagLst>
</file>

<file path=ppt/tags/tag38.xml><?xml version="1.0" encoding="utf-8"?>
<p:tagLst xmlns:p="http://schemas.openxmlformats.org/presentationml/2006/main">
  <p:tag name="KSO_WM_BEAUTIFY_FLAG" val=""/>
</p:tagLst>
</file>

<file path=ppt/tags/tag39.xml><?xml version="1.0" encoding="utf-8"?>
<p:tagLst xmlns:p="http://schemas.openxmlformats.org/presentationml/2006/main">
  <p:tag name="KSO_WM_BEAUTIFY_FLAG" val=""/>
</p:tagLst>
</file>

<file path=ppt/tags/tag40.xml><?xml version="1.0" encoding="utf-8"?>
<p:tagLst xmlns:p="http://schemas.openxmlformats.org/presentationml/2006/main">
  <p:tag name="KSO_WM_BEAUTIFY_FLAG" val=""/>
</p:tagLst>
</file>

<file path=ppt/tags/tag41.xml><?xml version="1.0" encoding="utf-8"?>
<p:tagLst xmlns:p="http://schemas.openxmlformats.org/presentationml/2006/main">
  <p:tag name="KSO_WM_BEAUTIFY_FLAG" val=""/>
</p:tagLst>
</file>

<file path=ppt/tags/tag42.xml><?xml version="1.0" encoding="utf-8"?>
<p:tagLst xmlns:p="http://schemas.openxmlformats.org/presentationml/2006/main">
  <p:tag name="KSO_WM_BEAUTIFY_FLAG" val=""/>
</p:tagLst>
</file>

<file path=ppt/tags/tag43.xml><?xml version="1.0" encoding="utf-8"?>
<p:tagLst xmlns:p="http://schemas.openxmlformats.org/presentationml/2006/main">
  <p:tag name="KSO_WM_BEAUTIFY_FLAG" val=""/>
</p:tagLst>
</file>

<file path=ppt/tags/tag44.xml><?xml version="1.0" encoding="utf-8"?>
<p:tagLst xmlns:p="http://schemas.openxmlformats.org/presentationml/2006/main">
  <p:tag name="KSO_WM_BEAUTIFY_FLAG" val=""/>
</p:tagLst>
</file>

<file path=ppt/tags/tag45.xml><?xml version="1.0" encoding="utf-8"?>
<p:tagLst xmlns:p="http://schemas.openxmlformats.org/presentationml/2006/main">
  <p:tag name="KSO_WM_BEAUTIFY_FLAG" val=""/>
</p:tagLst>
</file>

<file path=ppt/tags/tag46.xml><?xml version="1.0" encoding="utf-8"?>
<p:tagLst xmlns:p="http://schemas.openxmlformats.org/presentationml/2006/main">
  <p:tag name="KSO_WM_BEAUTIFY_FLAG" val=""/>
</p:tagLst>
</file>

<file path=ppt/tags/tag47.xml><?xml version="1.0" encoding="utf-8"?>
<p:tagLst xmlns:p="http://schemas.openxmlformats.org/presentationml/2006/main">
  <p:tag name="KSO_WM_BEAUTIFY_FLAG" val=""/>
</p:tagLst>
</file>

<file path=ppt/tags/tag48.xml><?xml version="1.0" encoding="utf-8"?>
<p:tagLst xmlns:p="http://schemas.openxmlformats.org/presentationml/2006/main">
  <p:tag name="KSO_WM_BEAUTIFY_FLAG" val=""/>
</p:tagLst>
</file>

<file path=ppt/tags/tag49.xml><?xml version="1.0" encoding="utf-8"?>
<p:tagLst xmlns:p="http://schemas.openxmlformats.org/presentationml/2006/main">
  <p:tag name="KSO_WM_BEAUTIFY_FLAG" val=""/>
</p:tagLst>
</file>

<file path=ppt/tags/tag50.xml><?xml version="1.0" encoding="utf-8"?>
<p:tagLst xmlns:p="http://schemas.openxmlformats.org/presentationml/2006/main">
  <p:tag name="KSO_WM_BEAUTIFY_FLAG" val=""/>
</p:tagLst>
</file>

<file path=ppt/tags/tag51.xml><?xml version="1.0" encoding="utf-8"?>
<p:tagLst xmlns:p="http://schemas.openxmlformats.org/presentationml/2006/main">
  <p:tag name="KSO_WM_BEAUTIFY_FLAG" val=""/>
</p:tagLst>
</file>

<file path=ppt/tags/tag52.xml><?xml version="1.0" encoding="utf-8"?>
<p:tagLst xmlns:p="http://schemas.openxmlformats.org/presentationml/2006/main">
  <p:tag name="KSO_WM_BEAUTIFY_FLAG" val=""/>
</p:tagLst>
</file>

<file path=ppt/tags/tag53.xml><?xml version="1.0" encoding="utf-8"?>
<p:tagLst xmlns:p="http://schemas.openxmlformats.org/presentationml/2006/main">
  <p:tag name="KSO_WM_BEAUTIFY_FLAG" val=""/>
</p:tagLst>
</file>

<file path=ppt/tags/tag54.xml><?xml version="1.0" encoding="utf-8"?>
<p:tagLst xmlns:p="http://schemas.openxmlformats.org/presentationml/2006/main">
  <p:tag name="KSO_WM_BEAUTIFY_FLAG" val=""/>
</p:tagLst>
</file>

<file path=ppt/tags/tag55.xml><?xml version="1.0" encoding="utf-8"?>
<p:tagLst xmlns:p="http://schemas.openxmlformats.org/presentationml/2006/main">
  <p:tag name="KSO_WM_BEAUTIFY_FLAG" val=""/>
</p:tagLst>
</file>

<file path=ppt/tags/tag56.xml><?xml version="1.0" encoding="utf-8"?>
<p:tagLst xmlns:p="http://schemas.openxmlformats.org/presentationml/2006/main">
  <p:tag name="KSO_WM_BEAUTIFY_FLAG" val=""/>
</p:tagLst>
</file>

<file path=ppt/tags/tag57.xml><?xml version="1.0" encoding="utf-8"?>
<p:tagLst xmlns:p="http://schemas.openxmlformats.org/presentationml/2006/main">
  <p:tag name="KSO_WM_BEAUTIFY_FLAG" val=""/>
</p:tagLst>
</file>

<file path=ppt/tags/tag58.xml><?xml version="1.0" encoding="utf-8"?>
<p:tagLst xmlns:p="http://schemas.openxmlformats.org/presentationml/2006/main">
  <p:tag name="KSO_WM_BEAUTIFY_FLAG" val=""/>
</p:tagLst>
</file>

<file path=ppt/tags/tag59.xml><?xml version="1.0" encoding="utf-8"?>
<p:tagLst xmlns:p="http://schemas.openxmlformats.org/presentationml/2006/main">
  <p:tag name="KSO_WM_BEAUTIFY_FLAG" val=""/>
</p:tagLst>
</file>

<file path=ppt/tags/tag60.xml><?xml version="1.0" encoding="utf-8"?>
<p:tagLst xmlns:p="http://schemas.openxmlformats.org/presentationml/2006/main">
  <p:tag name="KSO_WM_BEAUTIFY_FLAG" val=""/>
</p:tagLst>
</file>

<file path=ppt/tags/tag61.xml><?xml version="1.0" encoding="utf-8"?>
<p:tagLst xmlns:p="http://schemas.openxmlformats.org/presentationml/2006/main">
  <p:tag name="KSO_WM_BEAUTIFY_FLAG" val=""/>
</p:tagLst>
</file>

<file path=ppt/tags/tag62.xml><?xml version="1.0" encoding="utf-8"?>
<p:tagLst xmlns:p="http://schemas.openxmlformats.org/presentationml/2006/main">
  <p:tag name="KSO_WM_BEAUTIFY_FLAG" val=""/>
</p:tagLst>
</file>

<file path=ppt/tags/tag63.xml><?xml version="1.0" encoding="utf-8"?>
<p:tagLst xmlns:p="http://schemas.openxmlformats.org/presentationml/2006/main">
  <p:tag name="KSO_WM_BEAUTIFY_FLAG" val=""/>
</p:tagLst>
</file>

<file path=ppt/tags/tag64.xml><?xml version="1.0" encoding="utf-8"?>
<p:tagLst xmlns:p="http://schemas.openxmlformats.org/presentationml/2006/main">
  <p:tag name="KSO_WM_BEAUTIFY_FLAG" val=""/>
</p:tagLst>
</file>

<file path=ppt/tags/tag65.xml><?xml version="1.0" encoding="utf-8"?>
<p:tagLst xmlns:p="http://schemas.openxmlformats.org/presentationml/2006/main">
  <p:tag name="KSO_WM_BEAUTIFY_FLAG" val=""/>
</p:tagLst>
</file>

<file path=ppt/tags/tag66.xml><?xml version="1.0" encoding="utf-8"?>
<p:tagLst xmlns:p="http://schemas.openxmlformats.org/presentationml/2006/main">
  <p:tag name="KSO_WM_BEAUTIFY_FLAG" val=""/>
</p:tagLst>
</file>

<file path=ppt/tags/tag67.xml><?xml version="1.0" encoding="utf-8"?>
<p:tagLst xmlns:p="http://schemas.openxmlformats.org/presentationml/2006/main">
  <p:tag name="KSO_WM_BEAUTIFY_FLAG" val=""/>
</p:tagLst>
</file>

<file path=ppt/tags/tag68.xml><?xml version="1.0" encoding="utf-8"?>
<p:tagLst xmlns:p="http://schemas.openxmlformats.org/presentationml/2006/main">
  <p:tag name="KSO_WM_BEAUTIFY_FLAG" val=""/>
</p:tagLst>
</file>

<file path=ppt/tags/tag69.xml><?xml version="1.0" encoding="utf-8"?>
<p:tagLst xmlns:p="http://schemas.openxmlformats.org/presentationml/2006/main">
  <p:tag name="KSO_WM_BEAUTIFY_FLAG" val=""/>
</p:tagLst>
</file>

<file path=ppt/tags/tag70.xml><?xml version="1.0" encoding="utf-8"?>
<p:tagLst xmlns:p="http://schemas.openxmlformats.org/presentationml/2006/main">
  <p:tag name="KSO_WM_BEAUTIFY_FLAG" val=""/>
</p:tagLst>
</file>

<file path=ppt/tags/tag71.xml><?xml version="1.0" encoding="utf-8"?>
<p:tagLst xmlns:p="http://schemas.openxmlformats.org/presentationml/2006/main">
  <p:tag name="KSO_WM_BEAUTIFY_FLAG" val=""/>
</p:tagLst>
</file>

<file path=ppt/tags/tag72.xml><?xml version="1.0" encoding="utf-8"?>
<p:tagLst xmlns:p="http://schemas.openxmlformats.org/presentationml/2006/main">
  <p:tag name="KSO_WM_BEAUTIFY_FLAG" val=""/>
</p:tagLst>
</file>

<file path=ppt/tags/tag73.xml><?xml version="1.0" encoding="utf-8"?>
<p:tagLst xmlns:p="http://schemas.openxmlformats.org/presentationml/2006/main">
  <p:tag name="KSO_WM_BEAUTIFY_FLAG" val=""/>
</p:tagLst>
</file>

<file path=ppt/tags/tag74.xml><?xml version="1.0" encoding="utf-8"?>
<p:tagLst xmlns:p="http://schemas.openxmlformats.org/presentationml/2006/main">
  <p:tag name="KSO_WM_BEAUTIFY_FLAG" val=""/>
</p:tagLst>
</file>

<file path=ppt/tags/tag75.xml><?xml version="1.0" encoding="utf-8"?>
<p:tagLst xmlns:p="http://schemas.openxmlformats.org/presentationml/2006/main">
  <p:tag name="KSO_WM_BEAUTIFY_FLAG" val=""/>
</p:tagLst>
</file>

<file path=ppt/tags/tag76.xml><?xml version="1.0" encoding="utf-8"?>
<p:tagLst xmlns:p="http://schemas.openxmlformats.org/presentationml/2006/main">
  <p:tag name="KSO_WM_BEAUTIFY_FLAG" val=""/>
</p:tagLst>
</file>

<file path=ppt/tags/tag77.xml><?xml version="1.0" encoding="utf-8"?>
<p:tagLst xmlns:p="http://schemas.openxmlformats.org/presentationml/2006/main">
  <p:tag name="KSO_WM_BEAUTIFY_FLAG" val=""/>
</p:tagLst>
</file>

<file path=ppt/tags/tag78.xml><?xml version="1.0" encoding="utf-8"?>
<p:tagLst xmlns:p="http://schemas.openxmlformats.org/presentationml/2006/main">
  <p:tag name="KSO_WM_BEAUTIFY_FLAG" val=""/>
</p:tagLst>
</file>

<file path=ppt/tags/tag79.xml><?xml version="1.0" encoding="utf-8"?>
<p:tagLst xmlns:p="http://schemas.openxmlformats.org/presentationml/2006/main">
  <p:tag name="KSO_WM_BEAUTIFY_FLAG" val=""/>
</p:tagLst>
</file>

<file path=ppt/tags/tag80.xml><?xml version="1.0" encoding="utf-8"?>
<p:tagLst xmlns:p="http://schemas.openxmlformats.org/presentationml/2006/main">
  <p:tag name="KSO_WM_BEAUTIFY_FLAG" val=""/>
</p:tagLst>
</file>

<file path=ppt/tags/tag81.xml><?xml version="1.0" encoding="utf-8"?>
<p:tagLst xmlns:p="http://schemas.openxmlformats.org/presentationml/2006/main">
  <p:tag name="KSO_WM_BEAUTIFY_FLAG" val=""/>
</p:tagLst>
</file>

<file path=ppt/tags/tag82.xml><?xml version="1.0" encoding="utf-8"?>
<p:tagLst xmlns:p="http://schemas.openxmlformats.org/presentationml/2006/main">
  <p:tag name="KSO_WM_UNIT_PLACING_PICTURE_USER_VIEWPORT" val="{&quot;height&quot;:3612,&quot;width&quot;:13404}"/>
</p:tagLst>
</file>

<file path=ppt/tags/tag83.xml><?xml version="1.0" encoding="utf-8"?>
<p:tagLst xmlns:p="http://schemas.openxmlformats.org/presentationml/2006/main">
  <p:tag name="KSO_WM_BEAUTIFY_FLAG" val=""/>
</p:tagLst>
</file>

<file path=ppt/tags/tag84.xml><?xml version="1.0" encoding="utf-8"?>
<p:tagLst xmlns:p="http://schemas.openxmlformats.org/presentationml/2006/main">
  <p:tag name="KSO_WM_BEAUTIFY_FLAG" val=""/>
</p:tagLst>
</file>

<file path=ppt/tags/tag85.xml><?xml version="1.0" encoding="utf-8"?>
<p:tagLst xmlns:p="http://schemas.openxmlformats.org/presentationml/2006/main">
  <p:tag name="KSO_WM_BEAUTIFY_FLAG" val=""/>
</p:tagLst>
</file>

<file path=ppt/tags/tag86.xml><?xml version="1.0" encoding="utf-8"?>
<p:tagLst xmlns:p="http://schemas.openxmlformats.org/presentationml/2006/main">
  <p:tag name="KSO_WM_BEAUTIFY_FLAG" val=""/>
  <p:tag name="KSO_WM_UNIT_PLACING_PICTURE_USER_VIEWPORT" val="{&quot;height&quot;:3945,&quot;width&quot;:10410}"/>
</p:tagLst>
</file>

<file path=ppt/tags/tag87.xml><?xml version="1.0" encoding="utf-8"?>
<p:tagLst xmlns:p="http://schemas.openxmlformats.org/presentationml/2006/main">
  <p:tag name="KSO_WM_BEAUTIFY_FLAG" val=""/>
</p:tagLst>
</file>

<file path=ppt/tags/tag88.xml><?xml version="1.0" encoding="utf-8"?>
<p:tagLst xmlns:p="http://schemas.openxmlformats.org/presentationml/2006/main">
  <p:tag name="KSO_WM_BEAUTIFY_FLAG" val=""/>
</p:tagLst>
</file>

<file path=ppt/tags/tag89.xml><?xml version="1.0" encoding="utf-8"?>
<p:tagLst xmlns:p="http://schemas.openxmlformats.org/presentationml/2006/main">
  <p:tag name="KSO_WM_BEAUTIFY_FLAG" val=""/>
</p:tagLst>
</file>

<file path=ppt/tags/tag90.xml><?xml version="1.0" encoding="utf-8"?>
<p:tagLst xmlns:p="http://schemas.openxmlformats.org/presentationml/2006/main">
  <p:tag name="KSO_WM_BEAUTIFY_FLAG" val=""/>
</p:tagLst>
</file>

<file path=ppt/tags/tag91.xml><?xml version="1.0" encoding="utf-8"?>
<p:tagLst xmlns:p="http://schemas.openxmlformats.org/presentationml/2006/main">
  <p:tag name="KSO_WM_BEAUTIFY_FLAG" val=""/>
</p:tagLst>
</file>

<file path=ppt/tags/tag92.xml><?xml version="1.0" encoding="utf-8"?>
<p:tagLst xmlns:p="http://schemas.openxmlformats.org/presentationml/2006/main">
  <p:tag name="KSO_WM_BEAUTIFY_FLAG" val=""/>
</p:tagLst>
</file>

<file path=ppt/tags/tag93.xml><?xml version="1.0" encoding="utf-8"?>
<p:tagLst xmlns:p="http://schemas.openxmlformats.org/presentationml/2006/main">
  <p:tag name="KSO_WM_BEAUTIFY_FLAG" val=""/>
</p:tagLst>
</file>

<file path=ppt/tags/tag94.xml><?xml version="1.0" encoding="utf-8"?>
<p:tagLst xmlns:p="http://schemas.openxmlformats.org/presentationml/2006/main">
  <p:tag name="KSO_WM_BEAUTIFY_FLAG" val=""/>
</p:tagLst>
</file>

<file path=ppt/tags/tag95.xml><?xml version="1.0" encoding="utf-8"?>
<p:tagLst xmlns:p="http://schemas.openxmlformats.org/presentationml/2006/main">
  <p:tag name="KSO_WM_BEAUTIFY_FLAG" val=""/>
</p:tagLst>
</file>

<file path=ppt/tags/tag96.xml><?xml version="1.0" encoding="utf-8"?>
<p:tagLst xmlns:p="http://schemas.openxmlformats.org/presentationml/2006/main">
  <p:tag name="KSO_WM_BEAUTIFY_FLAG" val=""/>
</p:tagLst>
</file>

<file path=ppt/tags/tag97.xml><?xml version="1.0" encoding="utf-8"?>
<p:tagLst xmlns:p="http://schemas.openxmlformats.org/presentationml/2006/main">
  <p:tag name="KSO_WM_BEAUTIFY_FLAG" val=""/>
</p:tagLst>
</file>

<file path=ppt/tags/tag98.xml><?xml version="1.0" encoding="utf-8"?>
<p:tagLst xmlns:p="http://schemas.openxmlformats.org/presentationml/2006/main">
  <p:tag name="KSO_WM_BEAUTIFY_FLAG" val=""/>
</p:tagLst>
</file>

<file path=ppt/tags/tag99.xml><?xml version="1.0" encoding="utf-8"?>
<p:tagLst xmlns:p="http://schemas.openxmlformats.org/presentationml/2006/main">
  <p:tag name="KSO_WM_BEAUTIFY_FLAG" val=""/>
</p:tagLst>
</file>

<file path=ppt/tags/tag100.xml><?xml version="1.0" encoding="utf-8"?>
<p:tagLst xmlns:p="http://schemas.openxmlformats.org/presentationml/2006/main">
  <p:tag name="KSO_WM_BEAUTIFY_FLAG" val=""/>
</p:tagLst>
</file>

<file path=ppt/tags/tag101.xml><?xml version="1.0" encoding="utf-8"?>
<p:tagLst xmlns:p="http://schemas.openxmlformats.org/presentationml/2006/main">
  <p:tag name="KSO_WM_BEAUTIFY_FLAG" val=""/>
</p:tagLst>
</file>

<file path=ppt/tags/tag102.xml><?xml version="1.0" encoding="utf-8"?>
<p:tagLst xmlns:p="http://schemas.openxmlformats.org/presentationml/2006/main">
  <p:tag name="KSO_WM_BEAUTIFY_FLAG" val=""/>
</p:tagLst>
</file>

<file path=ppt/tags/tag103.xml><?xml version="1.0" encoding="utf-8"?>
<p:tagLst xmlns:p="http://schemas.openxmlformats.org/presentationml/2006/main">
  <p:tag name="KSO_WM_UNIT_PLACING_PICTURE_USER_VIEWPORT" val="{&quot;height&quot;:4200,&quot;width&quot;:9412.500787401576}"/>
</p:tagLst>
</file>

<file path=ppt/tags/tag104.xml><?xml version="1.0" encoding="utf-8"?>
<p:tagLst xmlns:p="http://schemas.openxmlformats.org/presentationml/2006/main">
  <p:tag name="KSO_WM_BEAUTIFY_FLAG" val=""/>
</p:tagLst>
</file>

<file path=ppt/tags/tag105.xml><?xml version="1.0" encoding="utf-8"?>
<p:tagLst xmlns:p="http://schemas.openxmlformats.org/presentationml/2006/main">
  <p:tag name="KSO_WM_BEAUTIFY_FLAG" val=""/>
</p:tagLst>
</file>

<file path=ppt/tags/tag106.xml><?xml version="1.0" encoding="utf-8"?>
<p:tagLst xmlns:p="http://schemas.openxmlformats.org/presentationml/2006/main">
  <p:tag name="KSO_WM_UNIT_TABLE_BEAUTIFY" val="smartTable{7cdcdac1-64c5-488b-9777-559d287453f1}"/>
</p:tagLst>
</file>

<file path=ppt/tags/tag107.xml><?xml version="1.0" encoding="utf-8"?>
<p:tagLst xmlns:p="http://schemas.openxmlformats.org/presentationml/2006/main">
  <p:tag name="KSO_WM_UNIT_TABLE_BEAUTIFY" val="smartTable{9184f551-fa39-451f-beac-71c5e7404a48}"/>
  <p:tag name="TABLE_ENDDRAG_ORIGIN_RECT" val="719*256"/>
  <p:tag name="TABLE_ENDDRAG_RECT" val="136*347*719*256"/>
</p:tagLst>
</file>

<file path=ppt/tags/tag108.xml><?xml version="1.0" encoding="utf-8"?>
<p:tagLst xmlns:p="http://schemas.openxmlformats.org/presentationml/2006/main">
  <p:tag name="KSO_WPP_MARK_KEY" val="b6b11f8e-c8aa-4790-a55d-ceede10e912b"/>
  <p:tag name="COMMONDATA" val="eyJoZGlkIjoiOTRkNmFmZjRjMzI3MTQ3ZWFlYjhlZWM3YzFkOWNmNTMifQ==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默认设计模板 1">
    <a:dk1>
      <a:srgbClr val="000000"/>
    </a:dk1>
    <a:lt1>
      <a:srgbClr val="FFFFFF"/>
    </a:lt1>
    <a:dk2>
      <a:srgbClr val="000000"/>
    </a:dk2>
    <a:lt2>
      <a:srgbClr val="808080"/>
    </a:lt2>
    <a:accent1>
      <a:srgbClr val="BBE0E3"/>
    </a:accent1>
    <a:accent2>
      <a:srgbClr val="333399"/>
    </a:accent2>
    <a:accent3>
      <a:srgbClr val="FFFFFF"/>
    </a:accent3>
    <a:accent4>
      <a:srgbClr val="000000"/>
    </a:accent4>
    <a:accent5>
      <a:srgbClr val="DAEDEF"/>
    </a:accent5>
    <a:accent6>
      <a:srgbClr val="2D2D8A"/>
    </a:accent6>
    <a:hlink>
      <a:srgbClr val="009999"/>
    </a:hlink>
    <a:folHlink>
      <a:srgbClr val="99CC00"/>
    </a:folHlink>
  </a:clrScheme>
  <a:fontScheme name="默认设计模板">
    <a:majorFont>
      <a:latin typeface="Arial"/>
      <a:ea typeface="黑体"/>
      <a:cs typeface=""/>
    </a:majorFont>
    <a:minorFont>
      <a:latin typeface="Arial"/>
      <a:ea typeface="宋体"/>
      <a:cs typeface="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13062</Words>
  <Application>WPS 演示</Application>
  <PresentationFormat>宽屏</PresentationFormat>
  <Paragraphs>1116</Paragraphs>
  <Slides>61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2</vt:i4>
      </vt:variant>
      <vt:variant>
        <vt:lpstr>幻灯片标题</vt:lpstr>
      </vt:variant>
      <vt:variant>
        <vt:i4>61</vt:i4>
      </vt:variant>
    </vt:vector>
  </HeadingPairs>
  <TitlesOfParts>
    <vt:vector size="74" baseType="lpstr">
      <vt:lpstr>Arial</vt:lpstr>
      <vt:lpstr>宋体</vt:lpstr>
      <vt:lpstr>Wingdings</vt:lpstr>
      <vt:lpstr>Times New Roman</vt:lpstr>
      <vt:lpstr>等线</vt:lpstr>
      <vt:lpstr>微软雅黑</vt:lpstr>
      <vt:lpstr>Arial Unicode MS</vt:lpstr>
      <vt:lpstr>等线 Light</vt:lpstr>
      <vt:lpstr>Times New Roman</vt:lpstr>
      <vt:lpstr>Cambria</vt:lpstr>
      <vt:lpstr>Office 主题​​</vt:lpstr>
      <vt:lpstr>Visio.Drawing.15</vt:lpstr>
      <vt:lpstr>Visio.Drawing.15</vt:lpstr>
      <vt:lpstr>第10章	Spark</vt:lpstr>
      <vt:lpstr>第10章	Spark</vt:lpstr>
      <vt:lpstr>10.1	概述</vt:lpstr>
      <vt:lpstr>10.1.1	Spark简介</vt:lpstr>
      <vt:lpstr>10.1.1	Spark简介</vt:lpstr>
      <vt:lpstr>10.1.1 Spark简介</vt:lpstr>
      <vt:lpstr>10.1.2 Scala简介</vt:lpstr>
      <vt:lpstr>10.1.3 Spark与Hadoop的对比</vt:lpstr>
      <vt:lpstr>10.1.3 Spark与Hadoop的对比</vt:lpstr>
      <vt:lpstr>10.1.3 Spark与Hadoop的对比</vt:lpstr>
      <vt:lpstr>10.1.3 Spark与Hadoop的对比</vt:lpstr>
      <vt:lpstr>10.2 Spark生态系统</vt:lpstr>
      <vt:lpstr>10.2 Spark生态系统</vt:lpstr>
      <vt:lpstr>10.2 Spark生态系统</vt:lpstr>
      <vt:lpstr>10.3 Spark运行架构</vt:lpstr>
      <vt:lpstr>10.3.1 基本概念</vt:lpstr>
      <vt:lpstr>10.3.1 基本概念</vt:lpstr>
      <vt:lpstr>概念间的关系</vt:lpstr>
      <vt:lpstr>10.3.2 架构设计</vt:lpstr>
      <vt:lpstr>10.3.3 Spark运行基本流程</vt:lpstr>
      <vt:lpstr>10.3 Spark运行架构</vt:lpstr>
      <vt:lpstr>10.3.4 RDD运行原理</vt:lpstr>
      <vt:lpstr>10.3.4 RDD运行原理</vt:lpstr>
      <vt:lpstr>10.3.4 RDD运行原理</vt:lpstr>
      <vt:lpstr>10.3.4 RDD运行原理</vt:lpstr>
      <vt:lpstr>10.3.4 RDD运行原理</vt:lpstr>
      <vt:lpstr>10.3.4 RDD运行原理</vt:lpstr>
      <vt:lpstr>10.3.4 RDD运行原理</vt:lpstr>
      <vt:lpstr>10.3.4 RDD运行原理</vt:lpstr>
      <vt:lpstr>10.3.4 RDD运行原理</vt:lpstr>
      <vt:lpstr>10.3.4 RDD运行原理</vt:lpstr>
      <vt:lpstr>10.3.4 RDD运行原理</vt:lpstr>
      <vt:lpstr>10.3.4 RDD运行原理</vt:lpstr>
      <vt:lpstr>10.3.4 RDD运行原理</vt:lpstr>
      <vt:lpstr>10.3.4 RDD运行原理</vt:lpstr>
      <vt:lpstr>10.3.4 RDD运行原理</vt:lpstr>
      <vt:lpstr>10.3.4 RDD运行原理</vt:lpstr>
      <vt:lpstr>10.3.4 RDD运行原理</vt:lpstr>
      <vt:lpstr>10.3.4 RDD运行原理</vt:lpstr>
      <vt:lpstr>10.3.4 RDD运行原理</vt:lpstr>
      <vt:lpstr>10.4 Spark的部署和应用方式</vt:lpstr>
      <vt:lpstr>10.4.1 Spark的部署方式</vt:lpstr>
      <vt:lpstr>10.4.2 从Hadoop+Storm架构转向Spark架构</vt:lpstr>
      <vt:lpstr>10.4.2 从Hadoop+Storm架构转向Spark架构</vt:lpstr>
      <vt:lpstr>10.4.3 Hadoop和Spark的统一部署</vt:lpstr>
      <vt:lpstr>10. 5 Spark编程实践</vt:lpstr>
      <vt:lpstr>Spark安装</vt:lpstr>
      <vt:lpstr>Spark安装</vt:lpstr>
      <vt:lpstr>10.5.1启动Spark Shell</vt:lpstr>
      <vt:lpstr>10.5.2 Spark RDD基本操作</vt:lpstr>
      <vt:lpstr>10.5.2 Spark RDD基本操作</vt:lpstr>
      <vt:lpstr>10.5.2 Spark RDD基本操作</vt:lpstr>
      <vt:lpstr>10.5.2 Spark RDD基本操作</vt:lpstr>
      <vt:lpstr>10.5.3 Spark应用程序</vt:lpstr>
      <vt:lpstr>10.5.3 Spark应用程序</vt:lpstr>
      <vt:lpstr>10.5.3 Spark应用程序</vt:lpstr>
      <vt:lpstr>10.5.3 Spark应用程序</vt:lpstr>
      <vt:lpstr>10.5.3 Spark应用程序</vt:lpstr>
      <vt:lpstr>10.5.3 Spark应用程序</vt:lpstr>
      <vt:lpstr>10.5.3 Spark应用程序</vt:lpstr>
      <vt:lpstr>本章小结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大数据管理</dc:title>
  <dc:creator>zitong chen</dc:creator>
  <cp:lastModifiedBy>大洋儿</cp:lastModifiedBy>
  <cp:revision>236</cp:revision>
  <dcterms:created xsi:type="dcterms:W3CDTF">2023-01-31T13:03:00Z</dcterms:created>
  <dcterms:modified xsi:type="dcterms:W3CDTF">2026-05-11T13:34:36Z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059602F590B94CB1944833812D9865DE_12</vt:lpwstr>
  </property>
  <property fmtid="{D5CDD505-2E9C-101B-9397-08002B2CF9AE}" pid="3" name="KSOProductBuildVer">
    <vt:lpwstr>2052-12.1.0.25865</vt:lpwstr>
  </property>
</Properties>
</file>