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421" r:id="rId3"/>
    <p:sldId id="420" r:id="rId4"/>
    <p:sldId id="375" r:id="rId5"/>
    <p:sldId id="422" r:id="rId6"/>
    <p:sldId id="423" r:id="rId7"/>
    <p:sldId id="424" r:id="rId9"/>
    <p:sldId id="425" r:id="rId10"/>
    <p:sldId id="426" r:id="rId11"/>
    <p:sldId id="427" r:id="rId12"/>
    <p:sldId id="429" r:id="rId13"/>
    <p:sldId id="428" r:id="rId14"/>
    <p:sldId id="431" r:id="rId15"/>
    <p:sldId id="432" r:id="rId16"/>
    <p:sldId id="433" r:id="rId17"/>
    <p:sldId id="434" r:id="rId18"/>
    <p:sldId id="367" r:id="rId19"/>
    <p:sldId id="393" r:id="rId20"/>
    <p:sldId id="487" r:id="rId21"/>
    <p:sldId id="396" r:id="rId22"/>
    <p:sldId id="397" r:id="rId23"/>
    <p:sldId id="488" r:id="rId24"/>
    <p:sldId id="399" r:id="rId25"/>
    <p:sldId id="392" r:id="rId26"/>
    <p:sldId id="368" r:id="rId27"/>
    <p:sldId id="489" r:id="rId28"/>
    <p:sldId id="404" r:id="rId29"/>
    <p:sldId id="369" r:id="rId30"/>
    <p:sldId id="462" r:id="rId31"/>
    <p:sldId id="402" r:id="rId32"/>
    <p:sldId id="373" r:id="rId33"/>
    <p:sldId id="406" r:id="rId34"/>
    <p:sldId id="490" r:id="rId35"/>
    <p:sldId id="374" r:id="rId36"/>
  </p:sldIdLst>
  <p:sldSz cx="12192000" cy="6858000"/>
  <p:notesSz cx="6858000" cy="9144000"/>
  <p:custDataLst>
    <p:tags r:id="rId4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第一篇" id="{3E72D914-66BA-4579-8F52-77CB28085651}">
          <p14:sldIdLst>
            <p14:sldId id="421"/>
            <p14:sldId id="420"/>
            <p14:sldId id="375"/>
            <p14:sldId id="422"/>
            <p14:sldId id="423"/>
            <p14:sldId id="424"/>
            <p14:sldId id="425"/>
            <p14:sldId id="426"/>
            <p14:sldId id="427"/>
            <p14:sldId id="429"/>
            <p14:sldId id="428"/>
            <p14:sldId id="431"/>
            <p14:sldId id="432"/>
            <p14:sldId id="433"/>
            <p14:sldId id="434"/>
            <p14:sldId id="367"/>
            <p14:sldId id="393"/>
            <p14:sldId id="487"/>
            <p14:sldId id="396"/>
            <p14:sldId id="397"/>
            <p14:sldId id="488"/>
            <p14:sldId id="399"/>
            <p14:sldId id="392"/>
            <p14:sldId id="368"/>
            <p14:sldId id="489"/>
            <p14:sldId id="404"/>
            <p14:sldId id="369"/>
            <p14:sldId id="462"/>
            <p14:sldId id="402"/>
            <p14:sldId id="373"/>
            <p14:sldId id="406"/>
            <p14:sldId id="490"/>
            <p14:sldId id="3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838" autoAdjust="0"/>
  </p:normalViewPr>
  <p:slideViewPr>
    <p:cSldViewPr snapToGrid="0">
      <p:cViewPr varScale="1">
        <p:scale>
          <a:sx n="75" d="100"/>
          <a:sy n="75" d="100"/>
        </p:scale>
        <p:origin x="94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gs" Target="tags/tag16.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EA424B-F2C7-4EC9-8DA2-5CFAACF65E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60B0A-E707-4489-B72C-209A0C1058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2012</a:t>
            </a:r>
            <a:r>
              <a:rPr lang="zh-CN" altLang="en-US" dirty="0"/>
              <a:t>年，</a:t>
            </a:r>
            <a:r>
              <a:rPr lang="en-US" altLang="zh-CN" dirty="0"/>
              <a:t>UC</a:t>
            </a:r>
            <a:r>
              <a:rPr lang="zh-CN" altLang="en-US" dirty="0"/>
              <a:t>伯克利</a:t>
            </a:r>
            <a:r>
              <a:rPr lang="en-US" altLang="zh-CN" dirty="0"/>
              <a:t>AMP</a:t>
            </a:r>
            <a:r>
              <a:rPr lang="zh-CN" altLang="en-US" dirty="0"/>
              <a:t>实验室（</a:t>
            </a:r>
            <a:r>
              <a:rPr lang="en-US" altLang="zh-CN" dirty="0"/>
              <a:t>Algorithms</a:t>
            </a:r>
            <a:r>
              <a:rPr lang="zh-CN" altLang="en-US" dirty="0"/>
              <a:t>、</a:t>
            </a:r>
            <a:r>
              <a:rPr lang="en-US" altLang="zh-CN" dirty="0"/>
              <a:t>Machine</a:t>
            </a:r>
            <a:r>
              <a:rPr lang="zh-CN" altLang="en-US" dirty="0"/>
              <a:t>和</a:t>
            </a:r>
            <a:r>
              <a:rPr lang="en-US" altLang="zh-CN" dirty="0"/>
              <a:t>People</a:t>
            </a:r>
            <a:r>
              <a:rPr lang="zh-CN" altLang="en-US" dirty="0"/>
              <a:t>的缩写）开发的</a:t>
            </a:r>
            <a:r>
              <a:rPr lang="en-US" altLang="zh-CN" dirty="0"/>
              <a:t>Spark</a:t>
            </a:r>
            <a:r>
              <a:rPr lang="zh-CN" altLang="en-US" dirty="0"/>
              <a:t>开始崭露头角。当时</a:t>
            </a:r>
            <a:r>
              <a:rPr lang="en-US" altLang="zh-CN" dirty="0"/>
              <a:t>AMP</a:t>
            </a:r>
            <a:r>
              <a:rPr lang="zh-CN" altLang="en-US" dirty="0"/>
              <a:t>实验室的马铁博士发现使用</a:t>
            </a:r>
            <a:r>
              <a:rPr lang="en-US" altLang="zh-CN" dirty="0"/>
              <a:t>MapReduce</a:t>
            </a:r>
            <a:r>
              <a:rPr lang="zh-CN" altLang="en-US" dirty="0"/>
              <a:t>进行机器学习计算的时候性能非常差，因为机器学习算法通常需要进行很多次的迭代计算，而</a:t>
            </a:r>
            <a:r>
              <a:rPr lang="en-US" altLang="zh-CN" dirty="0"/>
              <a:t>MapReduce</a:t>
            </a:r>
            <a:r>
              <a:rPr lang="zh-CN" altLang="en-US" dirty="0"/>
              <a:t>每执行一次</a:t>
            </a:r>
            <a:r>
              <a:rPr lang="en-US" altLang="zh-CN" dirty="0"/>
              <a:t>Map</a:t>
            </a:r>
            <a:r>
              <a:rPr lang="zh-CN" altLang="en-US" dirty="0"/>
              <a:t>和</a:t>
            </a:r>
            <a:r>
              <a:rPr lang="en-US" altLang="zh-CN" dirty="0"/>
              <a:t>Reduce</a:t>
            </a:r>
            <a:r>
              <a:rPr lang="zh-CN" altLang="en-US" dirty="0"/>
              <a:t>计算都需要重新启动一次作业，带来大量的无谓消耗。还有一点就是</a:t>
            </a:r>
            <a:r>
              <a:rPr lang="en-US" altLang="zh-CN" dirty="0"/>
              <a:t>MapReduce</a:t>
            </a:r>
            <a:r>
              <a:rPr lang="zh-CN" altLang="en-US" dirty="0"/>
              <a:t>主要使用磁盘作为存储介质，而</a:t>
            </a:r>
            <a:r>
              <a:rPr lang="en-US" altLang="zh-CN" dirty="0"/>
              <a:t>2012</a:t>
            </a:r>
            <a:r>
              <a:rPr lang="zh-CN" altLang="en-US" dirty="0"/>
              <a:t>年的时候，内存已经突破容量和成本限制，成为数据运行过程中主要的存储介质。</a:t>
            </a:r>
            <a:r>
              <a:rPr lang="en-US" altLang="zh-CN" dirty="0"/>
              <a:t>Spark</a:t>
            </a:r>
            <a:r>
              <a:rPr lang="zh-CN" altLang="en-US" dirty="0"/>
              <a:t>一经推出，立即受到业界的追捧，并逐步替代</a:t>
            </a:r>
            <a:r>
              <a:rPr lang="en-US" altLang="zh-CN" dirty="0"/>
              <a:t>MapReduce</a:t>
            </a:r>
            <a:r>
              <a:rPr lang="zh-CN" altLang="en-US" dirty="0"/>
              <a:t>在企业应用中的地位。</a:t>
            </a:r>
            <a:endParaRPr lang="zh-CN" altLang="en-US" dirty="0"/>
          </a:p>
          <a:p>
            <a:r>
              <a:rPr lang="zh-CN" altLang="en-US" dirty="0"/>
              <a:t>一般说来，像</a:t>
            </a:r>
            <a:r>
              <a:rPr lang="en-US" altLang="zh-CN" dirty="0"/>
              <a:t>MapReduce</a:t>
            </a:r>
            <a:r>
              <a:rPr lang="zh-CN" altLang="en-US" dirty="0"/>
              <a:t>、</a:t>
            </a:r>
            <a:r>
              <a:rPr lang="en-US" altLang="zh-CN" dirty="0"/>
              <a:t>Spark</a:t>
            </a:r>
            <a:r>
              <a:rPr lang="zh-CN" altLang="en-US" dirty="0"/>
              <a:t>这类计算框架处理的业务场景都被称作</a:t>
            </a:r>
            <a:r>
              <a:rPr lang="zh-CN" altLang="en-US" b="1" dirty="0"/>
              <a:t>批处理计算</a:t>
            </a:r>
            <a:r>
              <a:rPr lang="zh-CN" altLang="en-US" dirty="0"/>
              <a:t>，因为它们通常针对以“天”为单位产生的数据进行一次计算，然后得到需要的结果，这中间计算需要花费的时间大概是几十分钟甚至更长的时间。因为计算的数据是非在线得到的实时数据，而是历史数据，所以这类计算也被称为</a:t>
            </a:r>
            <a:r>
              <a:rPr lang="zh-CN" altLang="en-US" b="1" dirty="0"/>
              <a:t>大数据离线计算</a:t>
            </a:r>
            <a:r>
              <a:rPr lang="zh-CN" altLang="en-US" dirty="0"/>
              <a:t>。</a:t>
            </a:r>
            <a:endParaRPr lang="zh-CN" altLang="en-US" dirty="0"/>
          </a:p>
          <a:p>
            <a:r>
              <a:rPr lang="zh-CN" altLang="en-US" dirty="0"/>
              <a:t>而在大数据领域，还有另外一类应用场景，它们需要对实时产生的大量数据进行即时计算，比如对于遍布城市的监控摄像头进行人脸识别和嫌犯追踪。这类计算称为</a:t>
            </a:r>
            <a:r>
              <a:rPr lang="zh-CN" altLang="en-US" b="1" dirty="0"/>
              <a:t>大数据流计算</a:t>
            </a:r>
            <a:r>
              <a:rPr lang="zh-CN" altLang="en-US" dirty="0"/>
              <a:t>，相应地，有</a:t>
            </a:r>
            <a:r>
              <a:rPr lang="en-US" altLang="zh-CN" dirty="0"/>
              <a:t>Storm</a:t>
            </a:r>
            <a:r>
              <a:rPr lang="zh-CN" altLang="en-US" dirty="0"/>
              <a:t>、</a:t>
            </a:r>
            <a:r>
              <a:rPr lang="en-US" altLang="zh-CN" dirty="0" err="1"/>
              <a:t>Flink</a:t>
            </a:r>
            <a:r>
              <a:rPr lang="zh-CN" altLang="en-US" dirty="0"/>
              <a:t>、</a:t>
            </a:r>
            <a:r>
              <a:rPr lang="en-US" altLang="zh-CN" dirty="0"/>
              <a:t>Spark Streaming</a:t>
            </a:r>
            <a:r>
              <a:rPr lang="zh-CN" altLang="en-US" dirty="0"/>
              <a:t>等流计算框架来满足此类大数据应用的场景。 流式计算要处理的数据是实时在线产生的数据，所以这类计算也被称为</a:t>
            </a:r>
            <a:r>
              <a:rPr lang="zh-CN" altLang="en-US" b="1" dirty="0"/>
              <a:t>大数据实时计算</a:t>
            </a:r>
            <a:r>
              <a:rPr lang="zh-CN" altLang="en-US" dirty="0"/>
              <a:t>。</a:t>
            </a:r>
            <a:endParaRPr lang="zh-CN" altLang="en-US" dirty="0"/>
          </a:p>
          <a:p>
            <a:r>
              <a:rPr lang="zh-CN" altLang="en-US" dirty="0"/>
              <a:t>在典型的大数据的业务场景下，数据业务最通用的做法是，采用批处理的技术处理历史全量数据，采用流式计算处理实时新增数据。而像</a:t>
            </a:r>
            <a:r>
              <a:rPr lang="en-US" altLang="zh-CN" dirty="0" err="1"/>
              <a:t>Flink</a:t>
            </a:r>
            <a:r>
              <a:rPr lang="zh-CN" altLang="en-US" dirty="0"/>
              <a:t>这样的计算引擎，可以同时支持流式计算和批处理计算。</a:t>
            </a:r>
            <a:endParaRPr lang="zh-CN" altLang="en-US" dirty="0"/>
          </a:p>
          <a:p>
            <a:r>
              <a:rPr lang="zh-CN" altLang="en-US" dirty="0"/>
              <a:t>除了大数据批处理和流处理，</a:t>
            </a:r>
            <a:r>
              <a:rPr lang="en-US" altLang="zh-CN" dirty="0"/>
              <a:t>NoSQL</a:t>
            </a:r>
            <a:r>
              <a:rPr lang="zh-CN" altLang="en-US" dirty="0"/>
              <a:t>系统处理的主要也是大规模海量数据的存储与访问，所以也被归为大数据技术。 </a:t>
            </a:r>
            <a:r>
              <a:rPr lang="en-US" altLang="zh-CN" dirty="0"/>
              <a:t>NoSQL</a:t>
            </a:r>
            <a:r>
              <a:rPr lang="zh-CN" altLang="en-US" dirty="0"/>
              <a:t>曾经在</a:t>
            </a:r>
            <a:r>
              <a:rPr lang="en-US" altLang="zh-CN" dirty="0"/>
              <a:t>2011</a:t>
            </a:r>
            <a:r>
              <a:rPr lang="zh-CN" altLang="en-US" dirty="0"/>
              <a:t>年左右非常火爆，涌现出</a:t>
            </a:r>
            <a:r>
              <a:rPr lang="en-US" altLang="zh-CN" dirty="0"/>
              <a:t>HBase</a:t>
            </a:r>
            <a:r>
              <a:rPr lang="zh-CN" altLang="en-US" dirty="0"/>
              <a:t>、</a:t>
            </a:r>
            <a:r>
              <a:rPr lang="en-US" altLang="zh-CN" dirty="0"/>
              <a:t>Cassandra</a:t>
            </a:r>
            <a:r>
              <a:rPr lang="zh-CN" altLang="en-US" dirty="0"/>
              <a:t>等许多优秀的产品，其中</a:t>
            </a:r>
            <a:r>
              <a:rPr lang="en-US" altLang="zh-CN" dirty="0"/>
              <a:t>HBase</a:t>
            </a:r>
            <a:r>
              <a:rPr lang="zh-CN" altLang="en-US" dirty="0"/>
              <a:t>是从</a:t>
            </a:r>
            <a:r>
              <a:rPr lang="en-US" altLang="zh-CN" dirty="0"/>
              <a:t>Hadoop</a:t>
            </a:r>
            <a:r>
              <a:rPr lang="zh-CN" altLang="en-US" dirty="0"/>
              <a:t>中分离出来的、基于</a:t>
            </a:r>
            <a:r>
              <a:rPr lang="en-US" altLang="zh-CN" dirty="0"/>
              <a:t>HDFS</a:t>
            </a:r>
            <a:r>
              <a:rPr lang="zh-CN" altLang="en-US" dirty="0"/>
              <a:t>的</a:t>
            </a:r>
            <a:r>
              <a:rPr lang="en-US" altLang="zh-CN" dirty="0"/>
              <a:t>NoSQL</a:t>
            </a:r>
            <a:r>
              <a:rPr lang="zh-CN" altLang="en-US" dirty="0"/>
              <a:t>系统。</a:t>
            </a:r>
            <a:endParaRPr lang="zh-CN" altLang="en-US" dirty="0"/>
          </a:p>
          <a:p>
            <a:r>
              <a:rPr lang="zh-CN" altLang="en-US" dirty="0"/>
              <a:t>上面我讲的这些基本上都可以归类为大数据引擎或者大数据框架。而</a:t>
            </a:r>
            <a:r>
              <a:rPr lang="zh-CN" altLang="en-US" b="1" dirty="0"/>
              <a:t>大数据处理的主要应用场景包括数据分析、数据挖掘与机器学习</a:t>
            </a:r>
            <a:r>
              <a:rPr lang="zh-CN" altLang="en-US" dirty="0"/>
              <a:t>。数据分析主要使用</a:t>
            </a:r>
            <a:r>
              <a:rPr lang="en-US" altLang="zh-CN" dirty="0"/>
              <a:t>Hive</a:t>
            </a:r>
            <a:r>
              <a:rPr lang="zh-CN" altLang="en-US" dirty="0"/>
              <a:t>、</a:t>
            </a:r>
            <a:r>
              <a:rPr lang="en-US" altLang="zh-CN" dirty="0"/>
              <a:t>Spark SQL</a:t>
            </a:r>
            <a:r>
              <a:rPr lang="zh-CN" altLang="en-US" dirty="0"/>
              <a:t>等</a:t>
            </a:r>
            <a:r>
              <a:rPr lang="en-US" altLang="zh-CN" dirty="0"/>
              <a:t>SQL</a:t>
            </a:r>
            <a:r>
              <a:rPr lang="zh-CN" altLang="en-US" dirty="0"/>
              <a:t>引擎完成；数据挖掘与机器学习则有专门的机器学习框架</a:t>
            </a:r>
            <a:r>
              <a:rPr lang="en-US" altLang="zh-CN" dirty="0"/>
              <a:t>TensorFlow</a:t>
            </a:r>
            <a:r>
              <a:rPr lang="zh-CN" altLang="en-US" dirty="0"/>
              <a:t>、</a:t>
            </a:r>
            <a:r>
              <a:rPr lang="en-US" altLang="zh-CN" dirty="0"/>
              <a:t>Mahout</a:t>
            </a:r>
            <a:r>
              <a:rPr lang="zh-CN" altLang="en-US" dirty="0"/>
              <a:t>以及</a:t>
            </a:r>
            <a:r>
              <a:rPr lang="en-US" altLang="zh-CN" dirty="0" err="1"/>
              <a:t>MLlib</a:t>
            </a:r>
            <a:r>
              <a:rPr lang="zh-CN" altLang="en-US" dirty="0"/>
              <a:t>等，内置了主要的机器学习和数据挖掘算法。</a:t>
            </a:r>
            <a:endParaRPr lang="zh-CN" altLang="en-US" dirty="0"/>
          </a:p>
          <a:p>
            <a:r>
              <a:rPr lang="zh-CN" altLang="en-US" dirty="0"/>
              <a:t>此外，大数据要存入分布式文件系统（</a:t>
            </a:r>
            <a:r>
              <a:rPr lang="en-US" altLang="zh-CN" dirty="0"/>
              <a:t>HDFS</a:t>
            </a:r>
            <a:r>
              <a:rPr lang="zh-CN" altLang="en-US" dirty="0"/>
              <a:t>），要有序调度</a:t>
            </a:r>
            <a:r>
              <a:rPr lang="en-US" altLang="zh-CN" dirty="0"/>
              <a:t>MapReduce</a:t>
            </a:r>
            <a:r>
              <a:rPr lang="zh-CN" altLang="en-US" dirty="0"/>
              <a:t>和</a:t>
            </a:r>
            <a:r>
              <a:rPr lang="en-US" altLang="zh-CN" dirty="0"/>
              <a:t>Spark</a:t>
            </a:r>
            <a:r>
              <a:rPr lang="zh-CN" altLang="en-US" dirty="0"/>
              <a:t>作业执行，并能把执行结果写入到各个应用系统的数据库中，还需要有一个</a:t>
            </a:r>
            <a:r>
              <a:rPr lang="zh-CN" altLang="en-US" b="1" dirty="0"/>
              <a:t>大数据平台</a:t>
            </a:r>
            <a:r>
              <a:rPr lang="zh-CN" altLang="en-US" dirty="0"/>
              <a:t>整合所有这些大数据组件和企业应用系统。</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23860B0A-E707-4489-B72C-209A0C1058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1371601"/>
            <a:ext cx="10871200" cy="47545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标题 1"/>
          <p:cNvSpPr>
            <a:spLocks noGrp="1"/>
          </p:cNvSpPr>
          <p:nvPr>
            <p:ph type="title" idx="10"/>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1.png"/><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jpe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5.xml"/><Relationship Id="rId1" Type="http://schemas.openxmlformats.org/officeDocument/2006/relationships/tags" Target="../tags/tag4.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image" Target="../media/image15.jpeg"/><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9.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tags" Target="../tags/tag13.xml"/><Relationship Id="rId4" Type="http://schemas.openxmlformats.org/officeDocument/2006/relationships/image" Target="../media/image17.pn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748" y="275858"/>
            <a:ext cx="10515600" cy="892175"/>
          </a:xfrm>
        </p:spPr>
        <p:txBody>
          <a:bodyPr/>
          <a:lstStyle/>
          <a:p>
            <a:r>
              <a:rPr lang="zh-CN" altLang="en-US" sz="4800" b="1" dirty="0">
                <a:solidFill>
                  <a:srgbClr val="000000"/>
                </a:solidFill>
                <a:effectLst/>
                <a:latin typeface="宋体" panose="02010600030101010101" pitchFamily="2" charset="-122"/>
                <a:ea typeface="宋体" panose="02010600030101010101" pitchFamily="2" charset="-122"/>
                <a:sym typeface="+mn-ea"/>
              </a:rPr>
              <a:t>第</a:t>
            </a:r>
            <a:r>
              <a:rPr lang="en-US" altLang="zh-CN" sz="4800" b="1" dirty="0">
                <a:solidFill>
                  <a:srgbClr val="000000"/>
                </a:solidFill>
                <a:effectLst/>
                <a:latin typeface="宋体" panose="02010600030101010101" pitchFamily="2" charset="-122"/>
                <a:ea typeface="宋体" panose="02010600030101010101" pitchFamily="2" charset="-122"/>
                <a:sym typeface="+mn-ea"/>
              </a:rPr>
              <a:t>2</a:t>
            </a:r>
            <a:r>
              <a:rPr lang="zh-CN" altLang="en-US" sz="4800" b="1" dirty="0">
                <a:solidFill>
                  <a:srgbClr val="000000"/>
                </a:solidFill>
                <a:effectLst/>
                <a:latin typeface="宋体" panose="02010600030101010101" pitchFamily="2" charset="-122"/>
                <a:ea typeface="宋体" panose="02010600030101010101" pitchFamily="2" charset="-122"/>
                <a:sym typeface="+mn-ea"/>
              </a:rPr>
              <a:t>章	大数据处理架构</a:t>
            </a:r>
            <a:r>
              <a:rPr lang="en-US" altLang="zh-CN" sz="4800" b="1" dirty="0">
                <a:solidFill>
                  <a:srgbClr val="000000"/>
                </a:solidFill>
                <a:effectLst/>
                <a:latin typeface="宋体" panose="02010600030101010101" pitchFamily="2" charset="-122"/>
                <a:ea typeface="宋体" panose="02010600030101010101" pitchFamily="2" charset="-122"/>
                <a:sym typeface="+mn-ea"/>
              </a:rPr>
              <a:t>Hadoop</a:t>
            </a:r>
            <a:endParaRPr lang="zh-CN" altLang="en-US" sz="4800" b="1" dirty="0">
              <a:solidFill>
                <a:srgbClr val="000000"/>
              </a:solidFill>
              <a:effectLst/>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826" y="2160099"/>
            <a:ext cx="4095484" cy="329345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926689" y="2730304"/>
            <a:ext cx="3232356" cy="2062103"/>
          </a:xfrm>
          <a:prstGeom prst="rect">
            <a:avLst/>
          </a:prstGeom>
          <a:noFill/>
        </p:spPr>
        <p:txBody>
          <a:bodyPr wrap="square" rtlCol="0">
            <a:spAutoFit/>
          </a:bodyPr>
          <a:lstStyle/>
          <a:p>
            <a:r>
              <a:rPr lang="zh-CN" altLang="en-US" sz="3200" dirty="0"/>
              <a:t>开源的、</a:t>
            </a:r>
            <a:endParaRPr lang="en-US" altLang="zh-CN" sz="3200" dirty="0"/>
          </a:p>
          <a:p>
            <a:r>
              <a:rPr lang="zh-CN" altLang="en-US" sz="3200" dirty="0"/>
              <a:t>可运行于</a:t>
            </a:r>
            <a:endParaRPr lang="en-US" altLang="zh-CN" sz="3200" dirty="0"/>
          </a:p>
          <a:p>
            <a:r>
              <a:rPr lang="zh-CN" altLang="en-US" sz="3200" dirty="0"/>
              <a:t>大规模集群上的分布式计算平台</a:t>
            </a:r>
            <a:endParaRPr lang="zh-CN" altLang="en-US" sz="3200" dirty="0"/>
          </a:p>
        </p:txBody>
      </p:sp>
      <p:sp>
        <p:nvSpPr>
          <p:cNvPr id="13" name="矩形: 圆角 12"/>
          <p:cNvSpPr/>
          <p:nvPr/>
        </p:nvSpPr>
        <p:spPr>
          <a:xfrm>
            <a:off x="8537021" y="4539273"/>
            <a:ext cx="289068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MapReduce</a:t>
            </a:r>
            <a:endParaRPr lang="en-US" altLang="zh-CN" sz="2800" dirty="0"/>
          </a:p>
          <a:p>
            <a:pPr algn="ctr"/>
            <a:r>
              <a:rPr lang="zh-CN" altLang="en-US" sz="2800" dirty="0"/>
              <a:t>计算模型</a:t>
            </a:r>
            <a:endParaRPr lang="zh-CN" altLang="en-US" sz="2800" dirty="0"/>
          </a:p>
        </p:txBody>
      </p:sp>
      <p:sp>
        <p:nvSpPr>
          <p:cNvPr id="14" name="矩形: 圆角 13"/>
          <p:cNvSpPr/>
          <p:nvPr/>
        </p:nvSpPr>
        <p:spPr>
          <a:xfrm>
            <a:off x="8537022" y="2160441"/>
            <a:ext cx="289068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t>HDFS</a:t>
            </a:r>
            <a:endParaRPr lang="en-US" altLang="zh-CN" sz="2800" dirty="0"/>
          </a:p>
          <a:p>
            <a:pPr algn="ctr"/>
            <a:r>
              <a:rPr lang="zh-CN" altLang="en-US" sz="2800" dirty="0"/>
              <a:t>分布式文件系统</a:t>
            </a:r>
            <a:endParaRPr lang="zh-CN" altLang="en-US" sz="2800" dirty="0"/>
          </a:p>
        </p:txBody>
      </p:sp>
      <p:sp>
        <p:nvSpPr>
          <p:cNvPr id="15" name="左大括号 14"/>
          <p:cNvSpPr/>
          <p:nvPr/>
        </p:nvSpPr>
        <p:spPr>
          <a:xfrm>
            <a:off x="7954297" y="2644877"/>
            <a:ext cx="324464" cy="2320413"/>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圆角矩形 4"/>
          <p:cNvSpPr/>
          <p:nvPr/>
        </p:nvSpPr>
        <p:spPr>
          <a:xfrm>
            <a:off x="743923" y="1635377"/>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2.1 </a:t>
            </a:r>
            <a:r>
              <a:rPr lang="zh-CN" altLang="en-US" sz="2800" dirty="0"/>
              <a:t>概述</a:t>
            </a:r>
            <a:endParaRPr lang="zh-CN" altLang="en-US" sz="2800" dirty="0"/>
          </a:p>
        </p:txBody>
      </p:sp>
      <p:sp>
        <p:nvSpPr>
          <p:cNvPr id="6" name="圆角矩形 5"/>
          <p:cNvSpPr/>
          <p:nvPr/>
        </p:nvSpPr>
        <p:spPr>
          <a:xfrm>
            <a:off x="743923" y="5158276"/>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solidFill>
                  <a:srgbClr val="000000"/>
                </a:solidFill>
                <a:ea typeface="黑体" panose="02010609060101010101" pitchFamily="49" charset="-122"/>
              </a:rPr>
              <a:t>2.2 </a:t>
            </a:r>
            <a:r>
              <a:rPr lang="zh-CN" altLang="en-US" sz="2800" dirty="0">
                <a:solidFill>
                  <a:srgbClr val="000000"/>
                </a:solidFill>
                <a:ea typeface="黑体" panose="02010609060101010101" pitchFamily="49" charset="-122"/>
              </a:rPr>
              <a:t>生态系统</a:t>
            </a:r>
            <a:endParaRPr lang="zh-CN" altLang="en-US" sz="2800" dirty="0"/>
          </a:p>
        </p:txBody>
      </p:sp>
      <p:sp>
        <p:nvSpPr>
          <p:cNvPr id="7" name="圆角矩形 6"/>
          <p:cNvSpPr/>
          <p:nvPr/>
        </p:nvSpPr>
        <p:spPr>
          <a:xfrm>
            <a:off x="8116816" y="5247825"/>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2800" dirty="0">
                <a:sym typeface="+mn-ea"/>
              </a:rPr>
              <a:t>2.3 </a:t>
            </a:r>
            <a:r>
              <a:rPr lang="zh-CN" altLang="en-US" sz="2800" dirty="0">
                <a:sym typeface="+mn-ea"/>
              </a:rPr>
              <a:t>安装与使用</a:t>
            </a:r>
            <a:endParaRPr lang="zh-CN" altLang="en-US" sz="2800" dirty="0">
              <a:sym typeface="+mn-ea"/>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826" y="2160099"/>
            <a:ext cx="4095484" cy="3293452"/>
          </a:xfrm>
          <a:prstGeom prst="rect">
            <a:avLst/>
          </a:prstGeom>
          <a:noFill/>
          <a:extLst>
            <a:ext uri="{909E8E84-426E-40DD-AFC4-6F175D3DCCD1}">
              <a14:hiddenFill xmlns:a14="http://schemas.microsoft.com/office/drawing/2010/main">
                <a:solidFill>
                  <a:srgbClr val="FFFFFF"/>
                </a:solidFill>
              </a14:hiddenFill>
            </a:ext>
          </a:extLst>
        </p:spPr>
      </p:pic>
      <p:sp>
        <p:nvSpPr>
          <p:cNvPr id="13" name="圆角矩形 4"/>
          <p:cNvSpPr/>
          <p:nvPr/>
        </p:nvSpPr>
        <p:spPr>
          <a:xfrm>
            <a:off x="8116816" y="1635377"/>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实验</a:t>
            </a:r>
            <a:r>
              <a:rPr lang="en-US" altLang="zh-CN" sz="2800" dirty="0"/>
              <a:t>1</a:t>
            </a:r>
            <a:endParaRPr lang="zh-CN" altLang="en-US" sz="2800" dirty="0"/>
          </a:p>
        </p:txBody>
      </p:sp>
      <p:sp>
        <p:nvSpPr>
          <p:cNvPr id="16" name="标题 1"/>
          <p:cNvSpPr txBox="1"/>
          <p:nvPr/>
        </p:nvSpPr>
        <p:spPr>
          <a:xfrm>
            <a:off x="395748" y="275858"/>
            <a:ext cx="10515600"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800" b="1">
                <a:solidFill>
                  <a:srgbClr val="000000"/>
                </a:solidFill>
                <a:latin typeface="宋体" panose="02010600030101010101" pitchFamily="2" charset="-122"/>
                <a:ea typeface="宋体" panose="02010600030101010101" pitchFamily="2" charset="-122"/>
                <a:sym typeface="+mn-ea"/>
              </a:rPr>
              <a:t>第</a:t>
            </a:r>
            <a:r>
              <a:rPr lang="en-US" altLang="zh-CN" sz="4800" b="1">
                <a:solidFill>
                  <a:srgbClr val="000000"/>
                </a:solidFill>
                <a:latin typeface="宋体" panose="02010600030101010101" pitchFamily="2" charset="-122"/>
                <a:ea typeface="宋体" panose="02010600030101010101" pitchFamily="2" charset="-122"/>
                <a:sym typeface="+mn-ea"/>
              </a:rPr>
              <a:t>2</a:t>
            </a:r>
            <a:r>
              <a:rPr lang="zh-CN" altLang="en-US" sz="4800" b="1">
                <a:solidFill>
                  <a:srgbClr val="000000"/>
                </a:solidFill>
                <a:latin typeface="宋体" panose="02010600030101010101" pitchFamily="2" charset="-122"/>
                <a:ea typeface="宋体" panose="02010600030101010101" pitchFamily="2" charset="-122"/>
                <a:sym typeface="+mn-ea"/>
              </a:rPr>
              <a:t>章	大数据处理架构</a:t>
            </a:r>
            <a:r>
              <a:rPr lang="en-US" altLang="zh-CN" sz="4800" b="1">
                <a:solidFill>
                  <a:srgbClr val="000000"/>
                </a:solidFill>
                <a:latin typeface="宋体" panose="02010600030101010101" pitchFamily="2" charset="-122"/>
                <a:ea typeface="宋体" panose="02010600030101010101" pitchFamily="2" charset="-122"/>
                <a:sym typeface="+mn-ea"/>
              </a:rPr>
              <a:t>Hadoop</a:t>
            </a:r>
            <a:endParaRPr lang="zh-CN" altLang="en-US" sz="4800" b="1" dirty="0">
              <a:solidFill>
                <a:srgbClr val="00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bldLvl="0" animBg="1"/>
      <p:bldP spid="7" grpId="1" animBg="1"/>
      <p:bldP spid="13" grpId="0" animBg="1"/>
      <p:bldP spid="1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p:txBody>
          <a:bodyPr>
            <a:normAutofit/>
          </a:bodyPr>
          <a:lstStyle/>
          <a:p>
            <a:pPr marL="0" indent="0">
              <a:lnSpc>
                <a:spcPct val="150000"/>
              </a:lnSpc>
              <a:buNone/>
            </a:pPr>
            <a:r>
              <a:rPr lang="en-US" altLang="zh-CN" b="1" dirty="0"/>
              <a:t>2.1.1	Hadoop</a:t>
            </a:r>
            <a:r>
              <a:rPr lang="zh-CN" altLang="en-US" b="1" dirty="0"/>
              <a:t>简介</a:t>
            </a:r>
            <a:endParaRPr lang="zh-CN" altLang="en-US" b="1" dirty="0"/>
          </a:p>
          <a:p>
            <a:pPr marL="0" indent="0">
              <a:lnSpc>
                <a:spcPct val="150000"/>
              </a:lnSpc>
              <a:buNone/>
            </a:pPr>
            <a:r>
              <a:rPr lang="en-US" altLang="zh-CN" b="1" dirty="0"/>
              <a:t>2.1.2	Hadoop</a:t>
            </a:r>
            <a:r>
              <a:rPr lang="zh-CN" altLang="en-US" b="1" dirty="0"/>
              <a:t>的发展简史</a:t>
            </a:r>
            <a:endParaRPr lang="zh-CN" altLang="en-US" b="1" dirty="0"/>
          </a:p>
          <a:p>
            <a:pPr marL="0" indent="0">
              <a:lnSpc>
                <a:spcPct val="150000"/>
              </a:lnSpc>
              <a:buNone/>
            </a:pPr>
            <a:r>
              <a:rPr lang="en-US" altLang="zh-CN" b="1" dirty="0"/>
              <a:t>2.1.3	Hadoop</a:t>
            </a:r>
            <a:r>
              <a:rPr lang="zh-CN" altLang="en-US" b="1" dirty="0"/>
              <a:t>的特性</a:t>
            </a:r>
            <a:endParaRPr lang="zh-CN" altLang="en-US" b="1" dirty="0"/>
          </a:p>
          <a:p>
            <a:pPr marL="0" indent="0">
              <a:lnSpc>
                <a:spcPct val="150000"/>
              </a:lnSpc>
              <a:buNone/>
            </a:pPr>
            <a:r>
              <a:rPr lang="en-US" altLang="zh-CN" b="1" dirty="0"/>
              <a:t>2.1.4	Hadoop</a:t>
            </a:r>
            <a:r>
              <a:rPr lang="zh-CN" altLang="en-US" b="1" dirty="0"/>
              <a:t>的应用现状</a:t>
            </a:r>
            <a:endParaRPr lang="zh-CN" altLang="en-US" b="1" dirty="0"/>
          </a:p>
        </p:txBody>
      </p:sp>
      <p:sp>
        <p:nvSpPr>
          <p:cNvPr id="4" name="标题 1"/>
          <p:cNvSpPr>
            <a:spLocks noGrp="1"/>
          </p:cNvSpPr>
          <p:nvPr>
            <p:ph type="title"/>
          </p:nvPr>
        </p:nvSpPr>
        <p:spPr>
          <a:xfrm>
            <a:off x="395748" y="275858"/>
            <a:ext cx="10515600" cy="892175"/>
          </a:xfrm>
        </p:spPr>
        <p:txBody>
          <a:bodyPr/>
          <a:lstStyle/>
          <a:p>
            <a:r>
              <a:rPr lang="en-US" altLang="zh-CN" sz="4800" b="1" dirty="0">
                <a:solidFill>
                  <a:srgbClr val="000000"/>
                </a:solidFill>
                <a:effectLst/>
                <a:latin typeface="宋体" panose="02010600030101010101" pitchFamily="2" charset="-122"/>
                <a:ea typeface="宋体" panose="02010600030101010101" pitchFamily="2" charset="-122"/>
                <a:sym typeface="+mn-ea"/>
              </a:rPr>
              <a:t>2.1 </a:t>
            </a:r>
            <a:r>
              <a:rPr lang="zh-CN" altLang="en-US" sz="4800" b="1" dirty="0">
                <a:solidFill>
                  <a:srgbClr val="000000"/>
                </a:solidFill>
                <a:effectLst/>
                <a:latin typeface="宋体" panose="02010600030101010101" pitchFamily="2" charset="-122"/>
                <a:ea typeface="宋体" panose="02010600030101010101" pitchFamily="2" charset="-122"/>
                <a:sym typeface="+mn-ea"/>
              </a:rPr>
              <a:t>概述</a:t>
            </a:r>
            <a:endParaRPr lang="zh-CN" altLang="en-US" sz="4800" b="1" dirty="0">
              <a:solidFill>
                <a:srgbClr val="000000"/>
              </a:solidFill>
              <a:effectLst/>
              <a:latin typeface="宋体" panose="02010600030101010101" pitchFamily="2" charset="-122"/>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a:xfrm>
            <a:off x="395748" y="275858"/>
            <a:ext cx="10515600" cy="892175"/>
          </a:xfrm>
        </p:spPr>
        <p:txBody>
          <a:bodyPr/>
          <a:lstStyle/>
          <a:p>
            <a:r>
              <a:rPr lang="en-US" altLang="zh-CN" sz="4800" b="1" dirty="0">
                <a:solidFill>
                  <a:srgbClr val="000000"/>
                </a:solidFill>
                <a:effectLst/>
                <a:latin typeface="宋体" panose="02010600030101010101" pitchFamily="2" charset="-122"/>
                <a:ea typeface="宋体" panose="02010600030101010101" pitchFamily="2" charset="-122"/>
                <a:sym typeface="+mn-ea"/>
              </a:rPr>
              <a:t>2.1</a:t>
            </a:r>
            <a:r>
              <a:rPr lang="en-US" altLang="zh-CN" sz="4800" b="1" dirty="0">
                <a:solidFill>
                  <a:srgbClr val="000000"/>
                </a:solidFill>
                <a:latin typeface="宋体" panose="02010600030101010101" pitchFamily="2" charset="-122"/>
                <a:ea typeface="宋体" panose="02010600030101010101" pitchFamily="2" charset="-122"/>
                <a:sym typeface="+mn-ea"/>
              </a:rPr>
              <a:t>.1</a:t>
            </a:r>
            <a:r>
              <a:rPr lang="zh-CN" altLang="en-US" sz="4800" b="1" dirty="0">
                <a:solidFill>
                  <a:srgbClr val="000000"/>
                </a:solidFill>
                <a:latin typeface="宋体" panose="02010600030101010101" pitchFamily="2" charset="-122"/>
                <a:ea typeface="宋体" panose="02010600030101010101" pitchFamily="2" charset="-122"/>
                <a:sym typeface="+mn-ea"/>
              </a:rPr>
              <a:t> </a:t>
            </a:r>
            <a:r>
              <a:rPr lang="en-US" altLang="zh-CN" sz="4800" b="1" dirty="0">
                <a:solidFill>
                  <a:srgbClr val="000000"/>
                </a:solidFill>
                <a:latin typeface="宋体" panose="02010600030101010101" pitchFamily="2" charset="-122"/>
                <a:ea typeface="宋体" panose="02010600030101010101" pitchFamily="2" charset="-122"/>
                <a:sym typeface="+mn-ea"/>
              </a:rPr>
              <a:t>Hadoop</a:t>
            </a:r>
            <a:r>
              <a:rPr lang="zh-CN" altLang="en-US" sz="4800" b="1" dirty="0">
                <a:solidFill>
                  <a:srgbClr val="000000"/>
                </a:solidFill>
                <a:latin typeface="宋体" panose="02010600030101010101" pitchFamily="2" charset="-122"/>
                <a:ea typeface="宋体" panose="02010600030101010101" pitchFamily="2" charset="-122"/>
                <a:sym typeface="+mn-ea"/>
              </a:rPr>
              <a:t>简介</a:t>
            </a:r>
            <a:endParaRPr lang="zh-CN" altLang="en-US" sz="4800" b="1" dirty="0">
              <a:solidFill>
                <a:srgbClr val="000000"/>
              </a:solidFill>
              <a:effectLst/>
              <a:latin typeface="宋体" panose="02010600030101010101" pitchFamily="2" charset="-122"/>
              <a:ea typeface="宋体" panose="02010600030101010101" pitchFamily="2" charset="-122"/>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0652" y="1168033"/>
            <a:ext cx="2335469" cy="254899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09460" y="4430562"/>
            <a:ext cx="2240449"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US" altLang="zh-CN" sz="2400" b="0" i="0" dirty="0">
                <a:solidFill>
                  <a:srgbClr val="333333"/>
                </a:solidFill>
                <a:effectLst/>
                <a:latin typeface="Helvetica Neue"/>
              </a:rPr>
              <a:t>1999</a:t>
            </a:r>
            <a:r>
              <a:rPr lang="zh-CN" altLang="en-US" sz="2400" b="0" i="0" dirty="0">
                <a:solidFill>
                  <a:srgbClr val="333333"/>
                </a:solidFill>
                <a:effectLst/>
                <a:latin typeface="Helvetica Neue"/>
              </a:rPr>
              <a:t>年</a:t>
            </a:r>
            <a:endParaRPr lang="en-US" altLang="zh-CN" sz="2400" b="0" i="0" dirty="0">
              <a:solidFill>
                <a:srgbClr val="333333"/>
              </a:solidFill>
              <a:effectLst/>
              <a:latin typeface="Helvetica Neue"/>
            </a:endParaRPr>
          </a:p>
          <a:p>
            <a:pPr algn="ctr"/>
            <a:r>
              <a:rPr lang="en-US" altLang="zh-CN" sz="2400" b="0" i="0" dirty="0">
                <a:solidFill>
                  <a:srgbClr val="333333"/>
                </a:solidFill>
                <a:effectLst/>
                <a:latin typeface="Helvetica Neue"/>
              </a:rPr>
              <a:t>HTTP Server</a:t>
            </a:r>
            <a:endParaRPr lang="zh-CN" altLang="en-US" sz="2400" dirty="0"/>
          </a:p>
        </p:txBody>
      </p:sp>
      <p:sp>
        <p:nvSpPr>
          <p:cNvPr id="8" name="文本框 7"/>
          <p:cNvSpPr txBox="1"/>
          <p:nvPr/>
        </p:nvSpPr>
        <p:spPr>
          <a:xfrm>
            <a:off x="2782684" y="4430563"/>
            <a:ext cx="2526736"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zh-CN" altLang="en-US" sz="2400" b="0" i="0" dirty="0">
                <a:solidFill>
                  <a:srgbClr val="333333"/>
                </a:solidFill>
                <a:effectLst/>
                <a:latin typeface="Helvetica Neue"/>
              </a:rPr>
              <a:t>标准批处理工具</a:t>
            </a:r>
            <a:endParaRPr lang="en-US" altLang="zh-CN" sz="2400" b="0" i="0" dirty="0">
              <a:solidFill>
                <a:srgbClr val="333333"/>
              </a:solidFill>
              <a:effectLst/>
              <a:latin typeface="Helvetica Neue"/>
            </a:endParaRPr>
          </a:p>
          <a:p>
            <a:pPr algn="ctr"/>
            <a:r>
              <a:rPr lang="en-US" altLang="zh-CN" sz="2400" dirty="0">
                <a:solidFill>
                  <a:srgbClr val="333333"/>
                </a:solidFill>
                <a:latin typeface="Helvetica Neue"/>
              </a:rPr>
              <a:t>Ant</a:t>
            </a:r>
            <a:endParaRPr lang="zh-CN" altLang="en-US" sz="2400" dirty="0"/>
          </a:p>
        </p:txBody>
      </p:sp>
      <p:sp>
        <p:nvSpPr>
          <p:cNvPr id="9" name="文本框 8"/>
          <p:cNvSpPr txBox="1"/>
          <p:nvPr/>
        </p:nvSpPr>
        <p:spPr>
          <a:xfrm>
            <a:off x="4343399" y="2445031"/>
            <a:ext cx="3030794" cy="8309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zh-CN" altLang="zh-CN" sz="2400" dirty="0"/>
              <a:t>开源分布式计算平台</a:t>
            </a:r>
            <a:endParaRPr lang="zh-CN" altLang="en-US" sz="2400" dirty="0"/>
          </a:p>
          <a:p>
            <a:pPr algn="ctr"/>
            <a:r>
              <a:rPr lang="en-US" altLang="zh-CN" sz="2400" dirty="0">
                <a:solidFill>
                  <a:srgbClr val="333333"/>
                </a:solidFill>
                <a:latin typeface="Helvetica Neue"/>
              </a:rPr>
              <a:t>Hadoop</a:t>
            </a:r>
            <a:endParaRPr lang="zh-CN" altLang="en-US" sz="2400" dirty="0"/>
          </a:p>
        </p:txBody>
      </p:sp>
      <p:cxnSp>
        <p:nvCxnSpPr>
          <p:cNvPr id="11" name="直接连接符 10"/>
          <p:cNvCxnSpPr>
            <a:endCxn id="6" idx="0"/>
          </p:cNvCxnSpPr>
          <p:nvPr/>
        </p:nvCxnSpPr>
        <p:spPr>
          <a:xfrm flipH="1">
            <a:off x="1229685" y="3649215"/>
            <a:ext cx="428434" cy="78134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2" name="直接连接符 11"/>
          <p:cNvCxnSpPr>
            <a:endCxn id="8" idx="0"/>
          </p:cNvCxnSpPr>
          <p:nvPr/>
        </p:nvCxnSpPr>
        <p:spPr>
          <a:xfrm>
            <a:off x="3244645" y="3649215"/>
            <a:ext cx="801407" cy="78134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直接连接符 15"/>
          <p:cNvCxnSpPr>
            <a:endCxn id="9" idx="1"/>
          </p:cNvCxnSpPr>
          <p:nvPr/>
        </p:nvCxnSpPr>
        <p:spPr>
          <a:xfrm>
            <a:off x="3470863" y="2768196"/>
            <a:ext cx="872536" cy="9233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3" name="矩形: 圆角 22"/>
          <p:cNvSpPr/>
          <p:nvPr/>
        </p:nvSpPr>
        <p:spPr>
          <a:xfrm>
            <a:off x="3616325" y="1114425"/>
            <a:ext cx="2180590" cy="96774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Java</a:t>
            </a:r>
            <a:endParaRPr lang="en-US" altLang="zh-CN" sz="2800" dirty="0"/>
          </a:p>
          <a:p>
            <a:pPr algn="ctr"/>
            <a:r>
              <a:rPr lang="zh-CN" altLang="zh-CN" sz="2800" dirty="0"/>
              <a:t>跨平台</a:t>
            </a:r>
            <a:endParaRPr lang="zh-CN" altLang="en-US" sz="2800" dirty="0"/>
          </a:p>
        </p:txBody>
      </p:sp>
      <p:sp>
        <p:nvSpPr>
          <p:cNvPr id="24" name="矩形: 圆角 23"/>
          <p:cNvSpPr/>
          <p:nvPr/>
        </p:nvSpPr>
        <p:spPr>
          <a:xfrm>
            <a:off x="7890386" y="3448129"/>
            <a:ext cx="2180303" cy="81423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行业认可</a:t>
            </a:r>
            <a:endParaRPr lang="zh-CN" altLang="zh-CN" sz="2800" dirty="0"/>
          </a:p>
        </p:txBody>
      </p:sp>
      <p:sp>
        <p:nvSpPr>
          <p:cNvPr id="25" name="矩形: 圆角 24"/>
          <p:cNvSpPr/>
          <p:nvPr/>
        </p:nvSpPr>
        <p:spPr>
          <a:xfrm>
            <a:off x="6652259" y="912726"/>
            <a:ext cx="2180303" cy="13716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HDFS</a:t>
            </a:r>
            <a:endParaRPr lang="en-US" altLang="zh-CN" sz="2800" dirty="0"/>
          </a:p>
          <a:p>
            <a:pPr eaLnBrk="1" hangingPunct="1"/>
            <a:r>
              <a:rPr lang="en-US" altLang="zh-CN" sz="2800" dirty="0"/>
              <a:t>MapReduce</a:t>
            </a:r>
            <a:endParaRPr lang="en-US" altLang="zh-CN" sz="2800" dirty="0"/>
          </a:p>
          <a:p>
            <a:pPr algn="ctr" eaLnBrk="1" hangingPunct="1"/>
            <a:r>
              <a:rPr lang="zh-CN" altLang="en-US" sz="2800" dirty="0"/>
              <a:t>用户友好</a:t>
            </a:r>
            <a:endParaRPr lang="zh-CN" altLang="zh-CN" sz="2800" dirty="0"/>
          </a:p>
        </p:txBody>
      </p:sp>
      <p:pic>
        <p:nvPicPr>
          <p:cNvPr id="31" name="图片 30"/>
          <p:cNvPicPr>
            <a:picLocks noChangeAspect="1"/>
          </p:cNvPicPr>
          <p:nvPr/>
        </p:nvPicPr>
        <p:blipFill>
          <a:blip r:embed="rId2"/>
          <a:stretch>
            <a:fillRect/>
          </a:stretch>
        </p:blipFill>
        <p:spPr>
          <a:xfrm>
            <a:off x="8865463" y="5244345"/>
            <a:ext cx="1376836" cy="1223171"/>
          </a:xfrm>
          <a:prstGeom prst="rect">
            <a:avLst/>
          </a:prstGeom>
        </p:spPr>
      </p:pic>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8448" y="5161477"/>
            <a:ext cx="1371600" cy="1371600"/>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直接连接符 33"/>
          <p:cNvCxnSpPr>
            <a:stCxn id="9" idx="0"/>
            <a:endCxn id="23" idx="2"/>
          </p:cNvCxnSpPr>
          <p:nvPr/>
        </p:nvCxnSpPr>
        <p:spPr>
          <a:xfrm flipH="1" flipV="1">
            <a:off x="4706844" y="2081852"/>
            <a:ext cx="1152525" cy="36258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9" idx="0"/>
            <a:endCxn id="25" idx="1"/>
          </p:cNvCxnSpPr>
          <p:nvPr/>
        </p:nvCxnSpPr>
        <p:spPr>
          <a:xfrm flipV="1">
            <a:off x="5859083" y="1598150"/>
            <a:ext cx="793115" cy="846455"/>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endCxn id="24" idx="1"/>
          </p:cNvCxnSpPr>
          <p:nvPr/>
        </p:nvCxnSpPr>
        <p:spPr>
          <a:xfrm>
            <a:off x="6744929" y="3276028"/>
            <a:ext cx="1145457" cy="57922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6034546" y="4270746"/>
            <a:ext cx="1998409" cy="1060002"/>
          </a:xfrm>
          <a:prstGeom prst="line">
            <a:avLst/>
          </a:prstGeom>
          <a:ln w="38100"/>
        </p:spPr>
        <p:style>
          <a:lnRef idx="3">
            <a:schemeClr val="accent6"/>
          </a:lnRef>
          <a:fillRef idx="0">
            <a:schemeClr val="accent6"/>
          </a:fillRef>
          <a:effectRef idx="2">
            <a:schemeClr val="accent6"/>
          </a:effectRef>
          <a:fontRef idx="minor">
            <a:schemeClr val="tx1"/>
          </a:fontRef>
        </p:style>
      </p:cxnSp>
      <p:cxnSp>
        <p:nvCxnSpPr>
          <p:cNvPr id="50" name="直接连接符 49"/>
          <p:cNvCxnSpPr/>
          <p:nvPr/>
        </p:nvCxnSpPr>
        <p:spPr>
          <a:xfrm flipV="1">
            <a:off x="7742902" y="4262367"/>
            <a:ext cx="894655" cy="1293757"/>
          </a:xfrm>
          <a:prstGeom prst="line">
            <a:avLst/>
          </a:prstGeom>
          <a:ln w="38100"/>
        </p:spPr>
        <p:style>
          <a:lnRef idx="3">
            <a:schemeClr val="accent6"/>
          </a:lnRef>
          <a:fillRef idx="0">
            <a:schemeClr val="accent6"/>
          </a:fillRef>
          <a:effectRef idx="2">
            <a:schemeClr val="accent6"/>
          </a:effectRef>
          <a:fontRef idx="minor">
            <a:schemeClr val="tx1"/>
          </a:fontRef>
        </p:style>
      </p:cxnSp>
      <p:cxnSp>
        <p:nvCxnSpPr>
          <p:cNvPr id="53" name="直接连接符 52"/>
          <p:cNvCxnSpPr>
            <a:stCxn id="31" idx="0"/>
          </p:cNvCxnSpPr>
          <p:nvPr/>
        </p:nvCxnSpPr>
        <p:spPr>
          <a:xfrm flipH="1" flipV="1">
            <a:off x="9126794" y="4270746"/>
            <a:ext cx="427087" cy="973599"/>
          </a:xfrm>
          <a:prstGeom prst="line">
            <a:avLst/>
          </a:prstGeom>
          <a:ln w="38100"/>
        </p:spPr>
        <p:style>
          <a:lnRef idx="3">
            <a:schemeClr val="accent6"/>
          </a:lnRef>
          <a:fillRef idx="0">
            <a:schemeClr val="accent6"/>
          </a:fillRef>
          <a:effectRef idx="2">
            <a:schemeClr val="accent6"/>
          </a:effectRef>
          <a:fontRef idx="minor">
            <a:schemeClr val="tx1"/>
          </a:fontRef>
        </p:style>
      </p:cxnSp>
      <p:cxnSp>
        <p:nvCxnSpPr>
          <p:cNvPr id="56" name="直接连接符 55"/>
          <p:cNvCxnSpPr>
            <a:stCxn id="2056" idx="0"/>
          </p:cNvCxnSpPr>
          <p:nvPr/>
        </p:nvCxnSpPr>
        <p:spPr>
          <a:xfrm flipH="1" flipV="1">
            <a:off x="10070689" y="4262367"/>
            <a:ext cx="1183559" cy="899110"/>
          </a:xfrm>
          <a:prstGeom prst="line">
            <a:avLst/>
          </a:prstGeom>
          <a:ln w="38100"/>
        </p:spPr>
        <p:style>
          <a:lnRef idx="3">
            <a:schemeClr val="accent6"/>
          </a:lnRef>
          <a:fillRef idx="0">
            <a:schemeClr val="accent6"/>
          </a:fillRef>
          <a:effectRef idx="2">
            <a:schemeClr val="accent6"/>
          </a:effectRef>
          <a:fontRef idx="minor">
            <a:schemeClr val="tx1"/>
          </a:fontRef>
        </p:style>
      </p:cxnSp>
      <p:pic>
        <p:nvPicPr>
          <p:cNvPr id="60" name="图片 59"/>
          <p:cNvPicPr>
            <a:picLocks noChangeAspect="1"/>
          </p:cNvPicPr>
          <p:nvPr/>
        </p:nvPicPr>
        <p:blipFill>
          <a:blip r:embed="rId4"/>
          <a:stretch>
            <a:fillRect/>
          </a:stretch>
        </p:blipFill>
        <p:spPr>
          <a:xfrm>
            <a:off x="5307796" y="5290214"/>
            <a:ext cx="1229034" cy="1182801"/>
          </a:xfrm>
          <a:prstGeom prst="rect">
            <a:avLst/>
          </a:prstGeom>
        </p:spPr>
      </p:pic>
      <p:pic>
        <p:nvPicPr>
          <p:cNvPr id="61" name="图片 60"/>
          <p:cNvPicPr>
            <a:picLocks noChangeAspect="1"/>
          </p:cNvPicPr>
          <p:nvPr/>
        </p:nvPicPr>
        <p:blipFill>
          <a:blip r:embed="rId5"/>
          <a:stretch>
            <a:fillRect/>
          </a:stretch>
        </p:blipFill>
        <p:spPr>
          <a:xfrm>
            <a:off x="6946488" y="5556124"/>
            <a:ext cx="1592826" cy="684931"/>
          </a:xfrm>
          <a:prstGeom prst="rect">
            <a:avLst/>
          </a:prstGeom>
        </p:spPr>
      </p:pic>
      <p:sp>
        <p:nvSpPr>
          <p:cNvPr id="2" name="圆角矩形标注 1"/>
          <p:cNvSpPr/>
          <p:nvPr/>
        </p:nvSpPr>
        <p:spPr>
          <a:xfrm>
            <a:off x="9625965" y="1450975"/>
            <a:ext cx="2407285" cy="1185545"/>
          </a:xfrm>
          <a:prstGeom prst="wedgeRoundRectCallout">
            <a:avLst>
              <a:gd name="adj1" fmla="val -96082"/>
              <a:gd name="adj2" fmla="val -2095"/>
              <a:gd name="adj3" fmla="val 16667"/>
            </a:avLst>
          </a:prstGeom>
          <a:solidFill>
            <a:schemeClr val="bg1">
              <a:lumMod val="95000"/>
            </a:schemeClr>
          </a:solidFill>
        </p:spPr>
        <p:style>
          <a:lnRef idx="2">
            <a:schemeClr val="accent1"/>
          </a:lnRef>
          <a:fillRef idx="0">
            <a:srgbClr val="FFFFFF"/>
          </a:fillRef>
          <a:effectRef idx="0">
            <a:srgbClr val="FFFFFF"/>
          </a:effectRef>
          <a:fontRef idx="minor">
            <a:schemeClr val="tx1"/>
          </a:fontRef>
        </p:style>
        <p:txBody>
          <a:bodyPr rtlCol="0" anchor="ctr"/>
          <a:p>
            <a:pPr indent="0" algn="ctr">
              <a:buNone/>
            </a:pPr>
            <a:r>
              <a:rPr lang="zh-CN" altLang="en-US" sz="2400"/>
              <a:t>开源</a:t>
            </a:r>
            <a:endParaRPr lang="zh-CN" altLang="en-US" sz="2400"/>
          </a:p>
          <a:p>
            <a:pPr indent="0" algn="ctr">
              <a:buNone/>
            </a:pPr>
            <a:r>
              <a:rPr lang="zh-CN" altLang="en-US" sz="2400"/>
              <a:t>普通硬件环境</a:t>
            </a:r>
            <a:endParaRPr lang="zh-CN" altLang="en-US" sz="2400"/>
          </a:p>
          <a:p>
            <a:pPr indent="0" algn="ctr">
              <a:buNone/>
            </a:pPr>
            <a:r>
              <a:rPr lang="zh-CN" altLang="en-US" sz="2400"/>
              <a:t>其他特性</a:t>
            </a:r>
            <a:endParaRPr lang="zh-CN"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up)">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up)">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left)">
                                      <p:cBhvr>
                                        <p:cTn id="27" dur="500"/>
                                        <p:tgtEl>
                                          <p:spTgt spid="16"/>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wipe(down)">
                                      <p:cBhvr>
                                        <p:cTn id="35" dur="500"/>
                                        <p:tgtEl>
                                          <p:spTgt spid="34"/>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down)">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left)">
                                      <p:cBhvr>
                                        <p:cTn id="44" dur="500"/>
                                        <p:tgtEl>
                                          <p:spTgt spid="38"/>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wipe(left)">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left)">
                                      <p:cBhvr>
                                        <p:cTn id="53" dur="500"/>
                                        <p:tgtEl>
                                          <p:spTgt spid="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wipe(up)">
                                      <p:cBhvr>
                                        <p:cTn id="58" dur="500"/>
                                        <p:tgtEl>
                                          <p:spTgt spid="41"/>
                                        </p:tgtEl>
                                      </p:cBhvr>
                                    </p:animEffect>
                                  </p:childTnLst>
                                </p:cTn>
                              </p:par>
                            </p:childTnLst>
                          </p:cTn>
                        </p:par>
                        <p:par>
                          <p:cTn id="59" fill="hold">
                            <p:stCondLst>
                              <p:cond delay="500"/>
                            </p:stCondLst>
                            <p:childTnLst>
                              <p:par>
                                <p:cTn id="60" presetID="22" presetClass="entr" presetSubtype="1" fill="hold" grpId="0"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wipe(up)">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wipe(up)">
                                      <p:cBhvr>
                                        <p:cTn id="67" dur="500"/>
                                        <p:tgtEl>
                                          <p:spTgt spid="47"/>
                                        </p:tgtEl>
                                      </p:cBhvr>
                                    </p:animEffect>
                                  </p:childTnLst>
                                </p:cTn>
                              </p:par>
                              <p:par>
                                <p:cTn id="68" presetID="22" presetClass="entr" presetSubtype="1" fill="hold"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wipe(up)">
                                      <p:cBhvr>
                                        <p:cTn id="70" dur="500"/>
                                        <p:tgtEl>
                                          <p:spTgt spid="50"/>
                                        </p:tgtEl>
                                      </p:cBhvr>
                                    </p:animEffect>
                                  </p:childTnLst>
                                </p:cTn>
                              </p:par>
                              <p:par>
                                <p:cTn id="71" presetID="22" presetClass="entr" presetSubtype="1" fill="hold" nodeType="with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wipe(up)">
                                      <p:cBhvr>
                                        <p:cTn id="73" dur="500"/>
                                        <p:tgtEl>
                                          <p:spTgt spid="53"/>
                                        </p:tgtEl>
                                      </p:cBhvr>
                                    </p:animEffect>
                                  </p:childTnLst>
                                </p:cTn>
                              </p:par>
                              <p:par>
                                <p:cTn id="74" presetID="22" presetClass="entr" presetSubtype="1" fill="hold"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wipe(up)">
                                      <p:cBhvr>
                                        <p:cTn id="76" dur="500"/>
                                        <p:tgtEl>
                                          <p:spTgt spid="56"/>
                                        </p:tgtEl>
                                      </p:cBhvr>
                                    </p:animEffect>
                                  </p:childTnLst>
                                </p:cTn>
                              </p:par>
                            </p:childTnLst>
                          </p:cTn>
                        </p:par>
                        <p:par>
                          <p:cTn id="77" fill="hold">
                            <p:stCondLst>
                              <p:cond delay="500"/>
                            </p:stCondLst>
                            <p:childTnLst>
                              <p:par>
                                <p:cTn id="78" presetID="22" presetClass="entr" presetSubtype="1" fill="hold" nodeType="after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wipe(up)">
                                      <p:cBhvr>
                                        <p:cTn id="80" dur="500"/>
                                        <p:tgtEl>
                                          <p:spTgt spid="60"/>
                                        </p:tgtEl>
                                      </p:cBhvr>
                                    </p:animEffect>
                                  </p:childTnLst>
                                </p:cTn>
                              </p:par>
                              <p:par>
                                <p:cTn id="81" presetID="22" presetClass="entr" presetSubtype="1" fill="hold" nodeType="withEffect">
                                  <p:stCondLst>
                                    <p:cond delay="0"/>
                                  </p:stCondLst>
                                  <p:childTnLst>
                                    <p:set>
                                      <p:cBhvr>
                                        <p:cTn id="82" dur="1" fill="hold">
                                          <p:stCondLst>
                                            <p:cond delay="0"/>
                                          </p:stCondLst>
                                        </p:cTn>
                                        <p:tgtEl>
                                          <p:spTgt spid="61"/>
                                        </p:tgtEl>
                                        <p:attrNameLst>
                                          <p:attrName>style.visibility</p:attrName>
                                        </p:attrNameLst>
                                      </p:cBhvr>
                                      <p:to>
                                        <p:strVal val="visible"/>
                                      </p:to>
                                    </p:set>
                                    <p:animEffect transition="in" filter="wipe(up)">
                                      <p:cBhvr>
                                        <p:cTn id="83" dur="500"/>
                                        <p:tgtEl>
                                          <p:spTgt spid="61"/>
                                        </p:tgtEl>
                                      </p:cBhvr>
                                    </p:animEffect>
                                  </p:childTnLst>
                                </p:cTn>
                              </p:par>
                              <p:par>
                                <p:cTn id="84" presetID="22" presetClass="entr" presetSubtype="1" fill="hold"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wipe(up)">
                                      <p:cBhvr>
                                        <p:cTn id="86" dur="500"/>
                                        <p:tgtEl>
                                          <p:spTgt spid="31"/>
                                        </p:tgtEl>
                                      </p:cBhvr>
                                    </p:animEffect>
                                  </p:childTnLst>
                                </p:cTn>
                              </p:par>
                              <p:par>
                                <p:cTn id="87" presetID="22" presetClass="entr" presetSubtype="1" fill="hold" nodeType="withEffect">
                                  <p:stCondLst>
                                    <p:cond delay="0"/>
                                  </p:stCondLst>
                                  <p:childTnLst>
                                    <p:set>
                                      <p:cBhvr>
                                        <p:cTn id="88" dur="1" fill="hold">
                                          <p:stCondLst>
                                            <p:cond delay="0"/>
                                          </p:stCondLst>
                                        </p:cTn>
                                        <p:tgtEl>
                                          <p:spTgt spid="2056"/>
                                        </p:tgtEl>
                                        <p:attrNameLst>
                                          <p:attrName>style.visibility</p:attrName>
                                        </p:attrNameLst>
                                      </p:cBhvr>
                                      <p:to>
                                        <p:strVal val="visible"/>
                                      </p:to>
                                    </p:set>
                                    <p:animEffect transition="in" filter="wipe(up)">
                                      <p:cBhvr>
                                        <p:cTn id="89"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23" grpId="0" bldLvl="0" animBg="1"/>
      <p:bldP spid="24" grpId="0" animBg="1"/>
      <p:bldP spid="25" grpId="0" bldLvl="0" animBg="1"/>
      <p:bldP spid="2" grpId="0" bldLvl="0" animBg="1"/>
      <p:bldP spid="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2.1.2 </a:t>
            </a:r>
            <a:r>
              <a:rPr lang="zh-CN" altLang="en-US" sz="4800" b="1" dirty="0">
                <a:solidFill>
                  <a:srgbClr val="000000"/>
                </a:solidFill>
                <a:latin typeface="宋体" panose="02010600030101010101" pitchFamily="2" charset="-122"/>
                <a:ea typeface="宋体" panose="02010600030101010101" pitchFamily="2" charset="-122"/>
                <a:sym typeface="+mn-ea"/>
              </a:rPr>
              <a:t>发展简史</a:t>
            </a:r>
            <a:endParaRPr lang="zh-CN" altLang="en-US" sz="4800" b="1" dirty="0">
              <a:solidFill>
                <a:srgbClr val="000000"/>
              </a:solidFill>
              <a:latin typeface="宋体" panose="02010600030101010101" pitchFamily="2" charset="-122"/>
              <a:ea typeface="宋体" panose="02010600030101010101" pitchFamily="2" charset="-122"/>
            </a:endParaRPr>
          </a:p>
        </p:txBody>
      </p:sp>
      <p:pic>
        <p:nvPicPr>
          <p:cNvPr id="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32687" y="1066818"/>
            <a:ext cx="1949419" cy="156765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90949" y="1291949"/>
            <a:ext cx="3013320" cy="919401"/>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400" dirty="0"/>
              <a:t>Apache Lucene</a:t>
            </a:r>
            <a:r>
              <a:rPr lang="zh-CN" altLang="en-US" sz="2400" dirty="0"/>
              <a:t>项目</a:t>
            </a:r>
            <a:endParaRPr lang="en-US" altLang="zh-CN" sz="2400" dirty="0"/>
          </a:p>
          <a:p>
            <a:pPr algn="ctr"/>
            <a:r>
              <a:rPr lang="zh-CN" altLang="zh-CN" sz="2400" dirty="0"/>
              <a:t>创始人</a:t>
            </a:r>
            <a:r>
              <a:rPr lang="en-US" altLang="zh-CN" sz="2400" dirty="0"/>
              <a:t>Doug Cutting</a:t>
            </a:r>
            <a:endParaRPr lang="zh-CN" altLang="en-US" sz="2400" dirty="0"/>
          </a:p>
        </p:txBody>
      </p:sp>
      <p:sp>
        <p:nvSpPr>
          <p:cNvPr id="9" name="文本框 8"/>
          <p:cNvSpPr txBox="1"/>
          <p:nvPr/>
        </p:nvSpPr>
        <p:spPr>
          <a:xfrm>
            <a:off x="90949" y="2608785"/>
            <a:ext cx="3013320" cy="1328023"/>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400" dirty="0"/>
              <a:t>Apache </a:t>
            </a:r>
            <a:r>
              <a:rPr lang="en-US" altLang="zh-CN" sz="2400" dirty="0" err="1"/>
              <a:t>Nutch</a:t>
            </a:r>
            <a:r>
              <a:rPr lang="zh-CN" altLang="en-US" sz="2400" dirty="0"/>
              <a:t>项目</a:t>
            </a:r>
            <a:endParaRPr lang="en-US" altLang="zh-CN" sz="2400" dirty="0"/>
          </a:p>
          <a:p>
            <a:pPr algn="ctr"/>
            <a:r>
              <a:rPr lang="zh-CN" altLang="en-US" sz="2400" dirty="0"/>
              <a:t>开源网络搜索引擎</a:t>
            </a:r>
            <a:endParaRPr lang="en-US" altLang="zh-CN" sz="2400" dirty="0"/>
          </a:p>
          <a:p>
            <a:pPr algn="ctr"/>
            <a:r>
              <a:rPr lang="zh-CN" altLang="en-US" sz="2400" dirty="0"/>
              <a:t>扩展难</a:t>
            </a:r>
            <a:endParaRPr lang="zh-CN" altLang="en-US" sz="2400" dirty="0"/>
          </a:p>
        </p:txBody>
      </p:sp>
      <p:graphicFrame>
        <p:nvGraphicFramePr>
          <p:cNvPr id="10" name="表格 10"/>
          <p:cNvGraphicFramePr>
            <a:graphicFrameLocks noGrp="1"/>
          </p:cNvGraphicFramePr>
          <p:nvPr/>
        </p:nvGraphicFramePr>
        <p:xfrm>
          <a:off x="875071" y="4042464"/>
          <a:ext cx="10800328" cy="521110"/>
        </p:xfrm>
        <a:graphic>
          <a:graphicData uri="http://schemas.openxmlformats.org/drawingml/2006/table">
            <a:tbl>
              <a:tblPr firstRow="1" bandRow="1">
                <a:tableStyleId>{5C22544A-7EE6-4342-B048-85BDC9FD1C3A}</a:tableStyleId>
              </a:tblPr>
              <a:tblGrid>
                <a:gridCol w="1350041"/>
                <a:gridCol w="1350041"/>
                <a:gridCol w="1350041"/>
                <a:gridCol w="1350041"/>
                <a:gridCol w="1350041"/>
                <a:gridCol w="1350041"/>
                <a:gridCol w="1350041"/>
                <a:gridCol w="1350041"/>
              </a:tblGrid>
              <a:tr h="521110">
                <a:tc>
                  <a:txBody>
                    <a:bodyPr/>
                    <a:lstStyle/>
                    <a:p>
                      <a:pPr algn="ctr"/>
                      <a:r>
                        <a:rPr lang="en-US" altLang="zh-CN" sz="2400" dirty="0"/>
                        <a:t>2002</a:t>
                      </a:r>
                      <a:endParaRPr lang="zh-CN" altLang="en-US" sz="2400" dirty="0"/>
                    </a:p>
                  </a:txBody>
                  <a:tcPr anchor="ctr"/>
                </a:tc>
                <a:tc>
                  <a:txBody>
                    <a:bodyPr/>
                    <a:lstStyle/>
                    <a:p>
                      <a:pPr algn="ctr"/>
                      <a:r>
                        <a:rPr lang="en-US" altLang="zh-CN" sz="2400" dirty="0"/>
                        <a:t>2003</a:t>
                      </a:r>
                      <a:endParaRPr lang="zh-CN" altLang="en-US" sz="2400" dirty="0"/>
                    </a:p>
                  </a:txBody>
                  <a:tcPr anchor="ctr"/>
                </a:tc>
                <a:tc>
                  <a:txBody>
                    <a:bodyPr/>
                    <a:lstStyle/>
                    <a:p>
                      <a:pPr algn="ctr"/>
                      <a:r>
                        <a:rPr lang="en-US" altLang="zh-CN" sz="2400" dirty="0"/>
                        <a:t>2004</a:t>
                      </a:r>
                      <a:endParaRPr lang="zh-CN" altLang="en-US" sz="2400" dirty="0"/>
                    </a:p>
                  </a:txBody>
                  <a:tcPr anchor="ctr"/>
                </a:tc>
                <a:tc>
                  <a:txBody>
                    <a:bodyPr/>
                    <a:lstStyle/>
                    <a:p>
                      <a:pPr algn="ctr"/>
                      <a:r>
                        <a:rPr lang="en-US" altLang="zh-CN" sz="2400" dirty="0"/>
                        <a:t>2005</a:t>
                      </a:r>
                      <a:endParaRPr lang="zh-CN" altLang="en-US" sz="2400" dirty="0"/>
                    </a:p>
                  </a:txBody>
                  <a:tcPr anchor="ctr"/>
                </a:tc>
                <a:tc>
                  <a:txBody>
                    <a:bodyPr/>
                    <a:lstStyle/>
                    <a:p>
                      <a:pPr algn="ctr"/>
                      <a:r>
                        <a:rPr lang="en-US" altLang="zh-CN" sz="2400" dirty="0"/>
                        <a:t>2006</a:t>
                      </a:r>
                      <a:endParaRPr lang="zh-CN" altLang="en-US" sz="2400" dirty="0"/>
                    </a:p>
                  </a:txBody>
                  <a:tcPr anchor="ctr"/>
                </a:tc>
                <a:tc>
                  <a:txBody>
                    <a:bodyPr/>
                    <a:lstStyle/>
                    <a:p>
                      <a:pPr algn="ctr"/>
                      <a:r>
                        <a:rPr lang="en-US" altLang="zh-CN" sz="2400" dirty="0"/>
                        <a:t>2007</a:t>
                      </a:r>
                      <a:endParaRPr lang="zh-CN" altLang="en-US" sz="2400" dirty="0"/>
                    </a:p>
                  </a:txBody>
                  <a:tcPr anchor="ctr"/>
                </a:tc>
                <a:tc>
                  <a:txBody>
                    <a:bodyPr/>
                    <a:lstStyle/>
                    <a:p>
                      <a:pPr algn="ctr"/>
                      <a:r>
                        <a:rPr lang="en-US" altLang="zh-CN" sz="2400" dirty="0"/>
                        <a:t>2008</a:t>
                      </a:r>
                      <a:endParaRPr lang="zh-CN" altLang="en-US" sz="2400" dirty="0"/>
                    </a:p>
                  </a:txBody>
                  <a:tcPr anchor="ctr"/>
                </a:tc>
                <a:tc>
                  <a:txBody>
                    <a:bodyPr/>
                    <a:lstStyle/>
                    <a:p>
                      <a:pPr algn="ctr"/>
                      <a:r>
                        <a:rPr lang="en-US" altLang="zh-CN" sz="2400" dirty="0"/>
                        <a:t>2009</a:t>
                      </a:r>
                      <a:endParaRPr lang="zh-CN" altLang="en-US" sz="2400" dirty="0"/>
                    </a:p>
                  </a:txBody>
                  <a:tcPr anchor="ctr"/>
                </a:tc>
              </a:tr>
            </a:tbl>
          </a:graphicData>
        </a:graphic>
      </p:graphicFrame>
      <p:sp>
        <p:nvSpPr>
          <p:cNvPr id="11" name="文本框 10"/>
          <p:cNvSpPr txBox="1"/>
          <p:nvPr/>
        </p:nvSpPr>
        <p:spPr>
          <a:xfrm>
            <a:off x="2331810" y="4880835"/>
            <a:ext cx="1155290" cy="919401"/>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400" dirty="0"/>
              <a:t>谷歌</a:t>
            </a:r>
            <a:endParaRPr lang="en-US" altLang="zh-CN" sz="2400" dirty="0"/>
          </a:p>
          <a:p>
            <a:pPr algn="ctr"/>
            <a:r>
              <a:rPr lang="en-US" altLang="zh-CN" sz="2400" dirty="0"/>
              <a:t>GFS</a:t>
            </a:r>
            <a:endParaRPr lang="zh-CN" altLang="en-US" sz="2400" dirty="0"/>
          </a:p>
        </p:txBody>
      </p:sp>
      <p:sp>
        <p:nvSpPr>
          <p:cNvPr id="12" name="文本框 11"/>
          <p:cNvSpPr txBox="1"/>
          <p:nvPr/>
        </p:nvSpPr>
        <p:spPr>
          <a:xfrm>
            <a:off x="3713243" y="4880835"/>
            <a:ext cx="1155290" cy="1304806"/>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400" dirty="0"/>
              <a:t>谷歌</a:t>
            </a:r>
            <a:endParaRPr lang="en-US" altLang="zh-CN" sz="2400" dirty="0"/>
          </a:p>
          <a:p>
            <a:pPr algn="ctr"/>
            <a:r>
              <a:rPr lang="en-US" altLang="zh-CN" sz="2400" dirty="0"/>
              <a:t>MapReduce</a:t>
            </a:r>
            <a:endParaRPr lang="zh-CN" altLang="en-US" sz="2400" dirty="0"/>
          </a:p>
        </p:txBody>
      </p:sp>
      <p:sp>
        <p:nvSpPr>
          <p:cNvPr id="13" name="文本框 12"/>
          <p:cNvSpPr txBox="1"/>
          <p:nvPr/>
        </p:nvSpPr>
        <p:spPr>
          <a:xfrm>
            <a:off x="3400175" y="2854078"/>
            <a:ext cx="1468358" cy="919401"/>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400" dirty="0"/>
              <a:t>模仿</a:t>
            </a:r>
            <a:r>
              <a:rPr lang="en-US" altLang="zh-CN" sz="2400" dirty="0"/>
              <a:t>GFS</a:t>
            </a:r>
            <a:endParaRPr lang="en-US" altLang="zh-CN" sz="2400" dirty="0"/>
          </a:p>
          <a:p>
            <a:pPr algn="ctr"/>
            <a:r>
              <a:rPr lang="zh-CN" altLang="en-US" sz="2400" dirty="0"/>
              <a:t>得</a:t>
            </a:r>
            <a:r>
              <a:rPr lang="en-US" altLang="zh-CN" sz="2400" dirty="0"/>
              <a:t>NDFS</a:t>
            </a:r>
            <a:endParaRPr lang="zh-CN" altLang="en-US" sz="2400" dirty="0"/>
          </a:p>
        </p:txBody>
      </p:sp>
      <p:sp>
        <p:nvSpPr>
          <p:cNvPr id="14" name="文本框 13"/>
          <p:cNvSpPr txBox="1"/>
          <p:nvPr/>
        </p:nvSpPr>
        <p:spPr>
          <a:xfrm>
            <a:off x="4688670" y="2831971"/>
            <a:ext cx="1949419" cy="919401"/>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400" dirty="0"/>
              <a:t>开源实现</a:t>
            </a:r>
            <a:endParaRPr lang="en-US" altLang="zh-CN" sz="2400" dirty="0"/>
          </a:p>
          <a:p>
            <a:pPr algn="ctr"/>
            <a:r>
              <a:rPr lang="en-US" altLang="zh-CN" sz="2400" dirty="0"/>
              <a:t>MapReduce</a:t>
            </a:r>
            <a:endParaRPr lang="zh-CN" altLang="en-US" sz="2400" dirty="0"/>
          </a:p>
        </p:txBody>
      </p:sp>
      <p:cxnSp>
        <p:nvCxnSpPr>
          <p:cNvPr id="16" name="直接箭头连接符 15"/>
          <p:cNvCxnSpPr>
            <a:stCxn id="8" idx="2"/>
            <a:endCxn id="9" idx="0"/>
          </p:cNvCxnSpPr>
          <p:nvPr/>
        </p:nvCxnSpPr>
        <p:spPr>
          <a:xfrm>
            <a:off x="1597609" y="2211350"/>
            <a:ext cx="0" cy="3974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6132737" y="4832559"/>
            <a:ext cx="1759974" cy="132859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400" dirty="0"/>
              <a:t>Cutting</a:t>
            </a:r>
            <a:endParaRPr lang="en-US" altLang="zh-CN" sz="2400" dirty="0"/>
          </a:p>
          <a:p>
            <a:pPr algn="ctr"/>
            <a:r>
              <a:rPr lang="zh-CN" altLang="en-US" sz="2400" dirty="0"/>
              <a:t>带</a:t>
            </a:r>
            <a:r>
              <a:rPr lang="en-US" altLang="zh-CN" sz="2400" dirty="0"/>
              <a:t>Hadoop</a:t>
            </a:r>
            <a:endParaRPr lang="en-US" altLang="zh-CN" sz="2400" dirty="0"/>
          </a:p>
          <a:p>
            <a:pPr algn="ctr"/>
            <a:r>
              <a:rPr lang="zh-CN" altLang="en-US" sz="2400" dirty="0"/>
              <a:t>加盟雅虎</a:t>
            </a:r>
            <a:endParaRPr lang="zh-CN" altLang="en-US" sz="2400" dirty="0"/>
          </a:p>
        </p:txBody>
      </p:sp>
      <p:sp>
        <p:nvSpPr>
          <p:cNvPr id="19" name="右大括号 18"/>
          <p:cNvSpPr/>
          <p:nvPr/>
        </p:nvSpPr>
        <p:spPr>
          <a:xfrm rot="16200000" flipV="1">
            <a:off x="4751057" y="1629560"/>
            <a:ext cx="397436" cy="1630842"/>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6317026" y="1496260"/>
            <a:ext cx="1391397" cy="510778"/>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400" dirty="0"/>
              <a:t>Hadoop</a:t>
            </a:r>
            <a:endParaRPr lang="zh-CN" altLang="en-US" sz="2400" dirty="0"/>
          </a:p>
        </p:txBody>
      </p:sp>
      <p:sp>
        <p:nvSpPr>
          <p:cNvPr id="22" name="文本框 21"/>
          <p:cNvSpPr txBox="1"/>
          <p:nvPr/>
        </p:nvSpPr>
        <p:spPr>
          <a:xfrm>
            <a:off x="9316287" y="2942813"/>
            <a:ext cx="2124012" cy="919401"/>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en-US" altLang="zh-CN" sz="2400" dirty="0"/>
              <a:t>1TB</a:t>
            </a:r>
            <a:r>
              <a:rPr lang="zh-CN" altLang="en-US" sz="2400" dirty="0"/>
              <a:t>排序时间：</a:t>
            </a:r>
            <a:endParaRPr lang="en-US" altLang="zh-CN" sz="2400" dirty="0"/>
          </a:p>
          <a:p>
            <a:pPr algn="ctr"/>
            <a:r>
              <a:rPr lang="en-US" altLang="zh-CN" sz="2400" dirty="0"/>
              <a:t>209s</a:t>
            </a:r>
            <a:r>
              <a:rPr lang="en-US" altLang="zh-CN" sz="2400" dirty="0">
                <a:sym typeface="Wingdings" panose="05000000000000000000" pitchFamily="2" charset="2"/>
              </a:rPr>
              <a:t>62s</a:t>
            </a:r>
            <a:endParaRPr lang="zh-CN" altLang="en-US" sz="2400" dirty="0"/>
          </a:p>
        </p:txBody>
      </p:sp>
      <p:cxnSp>
        <p:nvCxnSpPr>
          <p:cNvPr id="24" name="连接符: 肘形 23"/>
          <p:cNvCxnSpPr>
            <a:stCxn id="19" idx="1"/>
            <a:endCxn id="20" idx="1"/>
          </p:cNvCxnSpPr>
          <p:nvPr/>
        </p:nvCxnSpPr>
        <p:spPr>
          <a:xfrm rot="5400000" flipH="1" flipV="1">
            <a:off x="5386093" y="1315330"/>
            <a:ext cx="494614" cy="1367251"/>
          </a:xfrm>
          <a:prstGeom prst="bentConnector4">
            <a:avLst>
              <a:gd name="adj1" fmla="val 100884"/>
              <a:gd name="adj2" fmla="val 5726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0306665" y="4832559"/>
            <a:ext cx="1759974" cy="510778"/>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400" dirty="0"/>
              <a:t>声名大噪</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up)">
                                      <p:cBhvr>
                                        <p:cTn id="11" dur="500"/>
                                        <p:tgtEl>
                                          <p:spTgt spid="16"/>
                                        </p:tgtEl>
                                      </p:cBhvr>
                                    </p:animEffect>
                                  </p:childTnLst>
                                </p:cTn>
                              </p:par>
                            </p:childTnLst>
                          </p:cTn>
                        </p:par>
                        <p:par>
                          <p:cTn id="12" fill="hold">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up)">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1000"/>
                                        <p:tgtEl>
                                          <p:spTgt spid="13"/>
                                        </p:tgtEl>
                                      </p:cBhvr>
                                    </p:animEffect>
                                    <p:anim calcmode="lin" valueType="num">
                                      <p:cBhvr>
                                        <p:cTn id="28" dur="1000" fill="hold"/>
                                        <p:tgtEl>
                                          <p:spTgt spid="13"/>
                                        </p:tgtEl>
                                        <p:attrNameLst>
                                          <p:attrName>ppt_x</p:attrName>
                                        </p:attrNameLst>
                                      </p:cBhvr>
                                      <p:tavLst>
                                        <p:tav tm="0">
                                          <p:val>
                                            <p:strVal val="#ppt_x"/>
                                          </p:val>
                                        </p:tav>
                                        <p:tav tm="100000">
                                          <p:val>
                                            <p:strVal val="#ppt_x"/>
                                          </p:val>
                                        </p:tav>
                                      </p:tavLst>
                                    </p:anim>
                                    <p:anim calcmode="lin" valueType="num">
                                      <p:cBhvr>
                                        <p:cTn id="2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barn(inVertical)">
                                      <p:cBhvr>
                                        <p:cTn id="48" dur="500"/>
                                        <p:tgtEl>
                                          <p:spTgt spid="19"/>
                                        </p:tgtEl>
                                      </p:cBhvr>
                                    </p:animEffect>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down)">
                                      <p:cBhvr>
                                        <p:cTn id="52" dur="500"/>
                                        <p:tgtEl>
                                          <p:spTgt spid="24"/>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left)">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1000"/>
                                        <p:tgtEl>
                                          <p:spTgt spid="17"/>
                                        </p:tgtEl>
                                      </p:cBhvr>
                                    </p:animEffect>
                                    <p:anim calcmode="lin" valueType="num">
                                      <p:cBhvr>
                                        <p:cTn id="62" dur="1000" fill="hold"/>
                                        <p:tgtEl>
                                          <p:spTgt spid="17"/>
                                        </p:tgtEl>
                                        <p:attrNameLst>
                                          <p:attrName>ppt_x</p:attrName>
                                        </p:attrNameLst>
                                      </p:cBhvr>
                                      <p:tavLst>
                                        <p:tav tm="0">
                                          <p:val>
                                            <p:strVal val="#ppt_x"/>
                                          </p:val>
                                        </p:tav>
                                        <p:tav tm="100000">
                                          <p:val>
                                            <p:strVal val="#ppt_x"/>
                                          </p:val>
                                        </p:tav>
                                      </p:tavLst>
                                    </p:anim>
                                    <p:anim calcmode="lin" valueType="num">
                                      <p:cBhvr>
                                        <p:cTn id="6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7" presetClass="entr" presetSubtype="0" fill="hold" nodeType="click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1000"/>
                                        <p:tgtEl>
                                          <p:spTgt spid="6"/>
                                        </p:tgtEl>
                                      </p:cBhvr>
                                    </p:animEffect>
                                    <p:anim calcmode="lin" valueType="num">
                                      <p:cBhvr>
                                        <p:cTn id="69" dur="1000" fill="hold"/>
                                        <p:tgtEl>
                                          <p:spTgt spid="6"/>
                                        </p:tgtEl>
                                        <p:attrNameLst>
                                          <p:attrName>ppt_x</p:attrName>
                                        </p:attrNameLst>
                                      </p:cBhvr>
                                      <p:tavLst>
                                        <p:tav tm="0">
                                          <p:val>
                                            <p:strVal val="#ppt_x"/>
                                          </p:val>
                                        </p:tav>
                                        <p:tav tm="100000">
                                          <p:val>
                                            <p:strVal val="#ppt_x"/>
                                          </p:val>
                                        </p:tav>
                                      </p:tavLst>
                                    </p:anim>
                                    <p:anim calcmode="lin" valueType="num">
                                      <p:cBhvr>
                                        <p:cTn id="7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2"/>
                                        </p:tgtEl>
                                        <p:attrNameLst>
                                          <p:attrName>style.visibility</p:attrName>
                                        </p:attrNameLst>
                                      </p:cBhvr>
                                      <p:to>
                                        <p:strVal val="visible"/>
                                      </p:to>
                                    </p:set>
                                    <p:animEffect transition="in" filter="wipe(left)">
                                      <p:cBhvr>
                                        <p:cTn id="75" dur="500"/>
                                        <p:tgtEl>
                                          <p:spTgt spid="22"/>
                                        </p:tgtEl>
                                      </p:cBhvr>
                                    </p:animEffect>
                                  </p:childTnLst>
                                </p:cTn>
                              </p:par>
                            </p:childTnLst>
                          </p:cTn>
                        </p:par>
                        <p:par>
                          <p:cTn id="76" fill="hold">
                            <p:stCondLst>
                              <p:cond delay="500"/>
                            </p:stCondLst>
                            <p:childTnLst>
                              <p:par>
                                <p:cTn id="77" presetID="22" presetClass="entr" presetSubtype="8" fill="hold" grpId="0" nodeType="after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ipe(left)">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7" grpId="0" bldLvl="0" animBg="1"/>
      <p:bldP spid="19" grpId="0" animBg="1"/>
      <p:bldP spid="20" grpId="0" animBg="1"/>
      <p:bldP spid="22"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3"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2.1.3 </a:t>
            </a:r>
            <a:r>
              <a:rPr lang="zh-CN" altLang="en-US" sz="4800" b="1" dirty="0">
                <a:solidFill>
                  <a:srgbClr val="000000"/>
                </a:solidFill>
                <a:latin typeface="宋体" panose="02010600030101010101" pitchFamily="2" charset="-122"/>
                <a:ea typeface="宋体" panose="02010600030101010101" pitchFamily="2" charset="-122"/>
                <a:sym typeface="+mn-ea"/>
              </a:rPr>
              <a:t>特性</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文本框 4"/>
          <p:cNvSpPr txBox="1"/>
          <p:nvPr/>
        </p:nvSpPr>
        <p:spPr>
          <a:xfrm>
            <a:off x="1597742" y="1496649"/>
            <a:ext cx="9313606" cy="523220"/>
          </a:xfrm>
          <a:prstGeom prst="rect">
            <a:avLst/>
          </a:prstGeom>
          <a:noFill/>
        </p:spPr>
        <p:txBody>
          <a:bodyPr wrap="square">
            <a:spAutoFit/>
          </a:bodyPr>
          <a:lstStyle/>
          <a:p>
            <a:r>
              <a:rPr lang="en-US" altLang="zh-CN" sz="2800" dirty="0"/>
              <a:t>Hadoop</a:t>
            </a:r>
            <a:r>
              <a:rPr lang="zh-CN" altLang="zh-CN" sz="2800" dirty="0"/>
              <a:t>是一个能够对大量数据进行分布式处理的软件框架</a:t>
            </a:r>
            <a:endParaRPr lang="zh-CN" altLang="en-US" sz="2800" dirty="0"/>
          </a:p>
        </p:txBody>
      </p:sp>
      <p:sp>
        <p:nvSpPr>
          <p:cNvPr id="6" name="圆角矩形 4"/>
          <p:cNvSpPr/>
          <p:nvPr/>
        </p:nvSpPr>
        <p:spPr>
          <a:xfrm>
            <a:off x="655433" y="2348485"/>
            <a:ext cx="1920619"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高可靠性</a:t>
            </a:r>
            <a:endParaRPr lang="zh-CN" altLang="en-US" sz="2800" dirty="0"/>
          </a:p>
        </p:txBody>
      </p:sp>
      <p:sp>
        <p:nvSpPr>
          <p:cNvPr id="7" name="圆角矩形 4"/>
          <p:cNvSpPr/>
          <p:nvPr/>
        </p:nvSpPr>
        <p:spPr>
          <a:xfrm>
            <a:off x="637432" y="3751203"/>
            <a:ext cx="1920619" cy="59055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dirty="0"/>
              <a:t>冗余存储</a:t>
            </a:r>
            <a:endParaRPr lang="zh-CN" altLang="en-US" sz="2800" dirty="0"/>
          </a:p>
        </p:txBody>
      </p:sp>
      <p:sp>
        <p:nvSpPr>
          <p:cNvPr id="8" name="圆角矩形 4"/>
          <p:cNvSpPr/>
          <p:nvPr/>
        </p:nvSpPr>
        <p:spPr>
          <a:xfrm>
            <a:off x="3413381" y="2339639"/>
            <a:ext cx="1920619"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高效性</a:t>
            </a:r>
            <a:endParaRPr lang="zh-CN" altLang="en-US" sz="2800" dirty="0"/>
          </a:p>
        </p:txBody>
      </p:sp>
      <p:sp>
        <p:nvSpPr>
          <p:cNvPr id="9" name="圆角矩形 4"/>
          <p:cNvSpPr/>
          <p:nvPr/>
        </p:nvSpPr>
        <p:spPr>
          <a:xfrm>
            <a:off x="3279018" y="3602356"/>
            <a:ext cx="2189343" cy="91813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dirty="0"/>
              <a:t>分布式</a:t>
            </a:r>
            <a:endParaRPr lang="en-US" altLang="zh-CN" sz="2800" dirty="0"/>
          </a:p>
          <a:p>
            <a:pPr algn="ctr"/>
            <a:r>
              <a:rPr lang="zh-CN" altLang="en-US" sz="2800" dirty="0"/>
              <a:t>存储、处理</a:t>
            </a:r>
            <a:endParaRPr lang="zh-CN" altLang="en-US" sz="2800" dirty="0"/>
          </a:p>
        </p:txBody>
      </p:sp>
      <p:sp>
        <p:nvSpPr>
          <p:cNvPr id="10" name="圆角矩形 4"/>
          <p:cNvSpPr/>
          <p:nvPr/>
        </p:nvSpPr>
        <p:spPr>
          <a:xfrm>
            <a:off x="6102503" y="2334548"/>
            <a:ext cx="205498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高可扩展性</a:t>
            </a:r>
            <a:endParaRPr lang="zh-CN" altLang="en-US" sz="2800" dirty="0"/>
          </a:p>
        </p:txBody>
      </p:sp>
      <p:sp>
        <p:nvSpPr>
          <p:cNvPr id="11" name="圆角矩形 4"/>
          <p:cNvSpPr/>
          <p:nvPr/>
        </p:nvSpPr>
        <p:spPr>
          <a:xfrm>
            <a:off x="7522906" y="3772822"/>
            <a:ext cx="2820629" cy="59055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800" dirty="0"/>
              <a:t>Java</a:t>
            </a:r>
            <a:r>
              <a:rPr lang="zh-CN" altLang="en-US" sz="2800" dirty="0"/>
              <a:t>、廉价集群</a:t>
            </a:r>
            <a:endParaRPr lang="zh-CN" altLang="en-US" sz="2800" dirty="0"/>
          </a:p>
        </p:txBody>
      </p:sp>
      <p:sp>
        <p:nvSpPr>
          <p:cNvPr id="12" name="圆角矩形 4"/>
          <p:cNvSpPr/>
          <p:nvPr/>
        </p:nvSpPr>
        <p:spPr>
          <a:xfrm>
            <a:off x="655433" y="5202886"/>
            <a:ext cx="1920619"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高容错性</a:t>
            </a:r>
            <a:endParaRPr lang="zh-CN" altLang="en-US" sz="2800" dirty="0"/>
          </a:p>
        </p:txBody>
      </p:sp>
      <p:sp>
        <p:nvSpPr>
          <p:cNvPr id="14" name="圆角矩形 4"/>
          <p:cNvSpPr/>
          <p:nvPr/>
        </p:nvSpPr>
        <p:spPr>
          <a:xfrm>
            <a:off x="8423787" y="2348485"/>
            <a:ext cx="1457632"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成本低</a:t>
            </a:r>
            <a:endParaRPr lang="zh-CN" altLang="en-US" sz="2800" dirty="0"/>
          </a:p>
        </p:txBody>
      </p:sp>
      <p:sp>
        <p:nvSpPr>
          <p:cNvPr id="15" name="圆角矩形 4"/>
          <p:cNvSpPr/>
          <p:nvPr/>
        </p:nvSpPr>
        <p:spPr>
          <a:xfrm>
            <a:off x="10078934" y="2348485"/>
            <a:ext cx="1798433"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支持</a:t>
            </a:r>
            <a:r>
              <a:rPr lang="en-US" altLang="zh-CN" sz="2800" dirty="0"/>
              <a:t>Linux</a:t>
            </a:r>
            <a:endParaRPr lang="zh-CN" altLang="en-US" sz="2800" dirty="0"/>
          </a:p>
        </p:txBody>
      </p:sp>
      <p:sp>
        <p:nvSpPr>
          <p:cNvPr id="16" name="圆角矩形 4"/>
          <p:cNvSpPr/>
          <p:nvPr/>
        </p:nvSpPr>
        <p:spPr>
          <a:xfrm>
            <a:off x="7400873" y="5197159"/>
            <a:ext cx="2942662" cy="91916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支持多编程语言</a:t>
            </a:r>
            <a:endParaRPr lang="en-US" altLang="zh-CN" sz="2800" dirty="0"/>
          </a:p>
          <a:p>
            <a:pPr algn="ctr"/>
            <a:r>
              <a:rPr lang="zh-CN" altLang="en-US" sz="2800" dirty="0"/>
              <a:t>如</a:t>
            </a:r>
            <a:r>
              <a:rPr lang="en-US" altLang="zh-CN" sz="2800" dirty="0"/>
              <a:t>C++</a:t>
            </a:r>
            <a:endParaRPr lang="zh-CN" altLang="en-US" sz="2800" dirty="0"/>
          </a:p>
        </p:txBody>
      </p:sp>
      <p:cxnSp>
        <p:nvCxnSpPr>
          <p:cNvPr id="18" name="直接箭头连接符 17"/>
          <p:cNvCxnSpPr>
            <a:stCxn id="7" idx="0"/>
            <a:endCxn id="6" idx="2"/>
          </p:cNvCxnSpPr>
          <p:nvPr/>
        </p:nvCxnSpPr>
        <p:spPr>
          <a:xfrm flipV="1">
            <a:off x="1597742" y="2939035"/>
            <a:ext cx="18001" cy="81216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7" idx="2"/>
            <a:endCxn id="12" idx="0"/>
          </p:cNvCxnSpPr>
          <p:nvPr/>
        </p:nvCxnSpPr>
        <p:spPr>
          <a:xfrm>
            <a:off x="1597742" y="4341753"/>
            <a:ext cx="18001" cy="86113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9" idx="0"/>
            <a:endCxn id="8" idx="2"/>
          </p:cNvCxnSpPr>
          <p:nvPr/>
        </p:nvCxnSpPr>
        <p:spPr>
          <a:xfrm flipV="1">
            <a:off x="4373690" y="2930189"/>
            <a:ext cx="1" cy="67216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10" idx="2"/>
          </p:cNvCxnSpPr>
          <p:nvPr/>
        </p:nvCxnSpPr>
        <p:spPr>
          <a:xfrm flipH="1" flipV="1">
            <a:off x="7129993" y="2925098"/>
            <a:ext cx="982847" cy="8322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1" idx="0"/>
            <a:endCxn id="14" idx="2"/>
          </p:cNvCxnSpPr>
          <p:nvPr/>
        </p:nvCxnSpPr>
        <p:spPr>
          <a:xfrm flipV="1">
            <a:off x="8933221" y="2939035"/>
            <a:ext cx="219382" cy="83378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endCxn id="15" idx="2"/>
          </p:cNvCxnSpPr>
          <p:nvPr/>
        </p:nvCxnSpPr>
        <p:spPr>
          <a:xfrm flipV="1">
            <a:off x="10167385" y="2939035"/>
            <a:ext cx="810766" cy="8392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2"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down)">
                                      <p:cBhvr>
                                        <p:cTn id="11" dur="500"/>
                                        <p:tgtEl>
                                          <p:spTgt spid="18"/>
                                        </p:tgtEl>
                                      </p:cBhvr>
                                    </p:animEffect>
                                  </p:childTnLst>
                                </p:cTn>
                              </p:par>
                            </p:childTnLst>
                          </p:cTn>
                        </p:par>
                        <p:par>
                          <p:cTn id="12" fill="hold">
                            <p:stCondLst>
                              <p:cond delay="500"/>
                            </p:stCondLst>
                            <p:childTnLst>
                              <p:par>
                                <p:cTn id="13" presetID="22" presetClass="entr" presetSubtype="4" fill="hold" grpId="2"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up)">
                                      <p:cBhvr>
                                        <p:cTn id="20" dur="500"/>
                                        <p:tgtEl>
                                          <p:spTgt spid="19"/>
                                        </p:tgtEl>
                                      </p:cBhvr>
                                    </p:animEffect>
                                  </p:childTnLst>
                                </p:cTn>
                              </p:par>
                            </p:childTnLst>
                          </p:cTn>
                        </p:par>
                        <p:par>
                          <p:cTn id="21" fill="hold">
                            <p:stCondLst>
                              <p:cond delay="500"/>
                            </p:stCondLst>
                            <p:childTnLst>
                              <p:par>
                                <p:cTn id="22" presetID="22" presetClass="entr" presetSubtype="1" fill="hold" grpId="2"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up)">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2"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wipe(down)">
                                      <p:cBhvr>
                                        <p:cTn id="33" dur="500"/>
                                        <p:tgtEl>
                                          <p:spTgt spid="22"/>
                                        </p:tgtEl>
                                      </p:cBhvr>
                                    </p:animEffect>
                                  </p:childTnLst>
                                </p:cTn>
                              </p:par>
                            </p:childTnLst>
                          </p:cTn>
                        </p:par>
                        <p:par>
                          <p:cTn id="34" fill="hold">
                            <p:stCondLst>
                              <p:cond delay="500"/>
                            </p:stCondLst>
                            <p:childTnLst>
                              <p:par>
                                <p:cTn id="35" presetID="22" presetClass="entr" presetSubtype="4" fill="hold" grpId="2"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2"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down)">
                                      <p:cBhvr>
                                        <p:cTn id="46" dur="500"/>
                                        <p:tgtEl>
                                          <p:spTgt spid="25"/>
                                        </p:tgtEl>
                                      </p:cBhvr>
                                    </p:animEffect>
                                  </p:childTnLst>
                                </p:cTn>
                              </p:par>
                            </p:childTnLst>
                          </p:cTn>
                        </p:par>
                        <p:par>
                          <p:cTn id="47" fill="hold">
                            <p:stCondLst>
                              <p:cond delay="500"/>
                            </p:stCondLst>
                            <p:childTnLst>
                              <p:par>
                                <p:cTn id="48" presetID="22" presetClass="entr" presetSubtype="4" fill="hold" grpId="2" nodeType="after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down)">
                                      <p:cBhvr>
                                        <p:cTn id="50" dur="500"/>
                                        <p:tgtEl>
                                          <p:spTgt spid="1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down)">
                                      <p:cBhvr>
                                        <p:cTn id="55" dur="500"/>
                                        <p:tgtEl>
                                          <p:spTgt spid="27"/>
                                        </p:tgtEl>
                                      </p:cBhvr>
                                    </p:animEffect>
                                  </p:childTnLst>
                                </p:cTn>
                              </p:par>
                            </p:childTnLst>
                          </p:cTn>
                        </p:par>
                        <p:par>
                          <p:cTn id="56" fill="hold">
                            <p:stCondLst>
                              <p:cond delay="500"/>
                            </p:stCondLst>
                            <p:childTnLst>
                              <p:par>
                                <p:cTn id="57" presetID="22" presetClass="entr" presetSubtype="4" fill="hold" grpId="2"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down)">
                                      <p:cBhvr>
                                        <p:cTn id="59" dur="500"/>
                                        <p:tgtEl>
                                          <p:spTgt spid="1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wipe(down)">
                                      <p:cBhvr>
                                        <p:cTn id="64" dur="500"/>
                                        <p:tgtEl>
                                          <p:spTgt spid="30"/>
                                        </p:tgtEl>
                                      </p:cBhvr>
                                    </p:animEffect>
                                  </p:childTnLst>
                                </p:cTn>
                              </p:par>
                            </p:childTnLst>
                          </p:cTn>
                        </p:par>
                        <p:par>
                          <p:cTn id="65" fill="hold">
                            <p:stCondLst>
                              <p:cond delay="500"/>
                            </p:stCondLst>
                            <p:childTnLst>
                              <p:par>
                                <p:cTn id="66" presetID="22" presetClass="entr" presetSubtype="4" fill="hold" grpId="2" nodeType="after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down)">
                                      <p:cBhvr>
                                        <p:cTn id="68" dur="500"/>
                                        <p:tgtEl>
                                          <p:spTgt spid="15"/>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2" nodeType="click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animBg="1"/>
      <p:bldP spid="6" grpId="2" animBg="1"/>
      <p:bldP spid="7" grpId="1" animBg="1"/>
      <p:bldP spid="7" grpId="2" animBg="1"/>
      <p:bldP spid="8" grpId="1" animBg="1"/>
      <p:bldP spid="8" grpId="2" animBg="1"/>
      <p:bldP spid="9" grpId="1" animBg="1"/>
      <p:bldP spid="9" grpId="2" animBg="1"/>
      <p:bldP spid="10" grpId="1" animBg="1"/>
      <p:bldP spid="10" grpId="2" animBg="1"/>
      <p:bldP spid="11" grpId="1" animBg="1"/>
      <p:bldP spid="11" grpId="2" animBg="1"/>
      <p:bldP spid="12" grpId="1" animBg="1"/>
      <p:bldP spid="12" grpId="2" animBg="1"/>
      <p:bldP spid="14" grpId="1" animBg="1"/>
      <p:bldP spid="14" grpId="2" animBg="1"/>
      <p:bldP spid="15" grpId="1" animBg="1"/>
      <p:bldP spid="15" grpId="2" animBg="1"/>
      <p:bldP spid="16" grpId="1" animBg="1"/>
      <p:bldP spid="16"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3"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2.1.4 </a:t>
            </a:r>
            <a:r>
              <a:rPr lang="zh-CN" altLang="en-US" sz="4800" b="1" dirty="0">
                <a:solidFill>
                  <a:srgbClr val="000000"/>
                </a:solidFill>
                <a:latin typeface="宋体" panose="02010600030101010101" pitchFamily="2" charset="-122"/>
                <a:ea typeface="宋体" panose="02010600030101010101" pitchFamily="2" charset="-122"/>
                <a:sym typeface="+mn-ea"/>
              </a:rPr>
              <a:t>应用现状</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文本框 4"/>
          <p:cNvSpPr txBox="1"/>
          <p:nvPr/>
        </p:nvSpPr>
        <p:spPr>
          <a:xfrm>
            <a:off x="481781" y="1362579"/>
            <a:ext cx="3037804" cy="2553891"/>
          </a:xfrm>
          <a:prstGeom prst="round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en-US" altLang="zh-CN" sz="2400" b="0" i="0" dirty="0">
                <a:solidFill>
                  <a:srgbClr val="121212"/>
                </a:solidFill>
                <a:effectLst/>
                <a:latin typeface="-apple-system"/>
              </a:rPr>
              <a:t>Yahoo</a:t>
            </a:r>
            <a:r>
              <a:rPr lang="zh-CN" altLang="en-US" sz="2400" b="0" i="0" dirty="0">
                <a:solidFill>
                  <a:srgbClr val="121212"/>
                </a:solidFill>
                <a:effectLst/>
                <a:latin typeface="-apple-system"/>
              </a:rPr>
              <a:t>：</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支持广告系统</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用户行为分析</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支持</a:t>
            </a:r>
            <a:r>
              <a:rPr lang="en-US" altLang="zh-CN" sz="2400" b="0" i="0" dirty="0">
                <a:solidFill>
                  <a:srgbClr val="121212"/>
                </a:solidFill>
                <a:effectLst/>
                <a:latin typeface="-apple-system"/>
              </a:rPr>
              <a:t>Web</a:t>
            </a:r>
            <a:r>
              <a:rPr lang="zh-CN" altLang="en-US" sz="2400" b="0" i="0" dirty="0">
                <a:solidFill>
                  <a:srgbClr val="121212"/>
                </a:solidFill>
                <a:effectLst/>
                <a:latin typeface="-apple-system"/>
              </a:rPr>
              <a:t>搜索</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反垃圾邮件系统</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个性化推荐</a:t>
            </a:r>
            <a:endParaRPr lang="zh-CN" altLang="en-US" sz="2400" b="0" i="0" dirty="0">
              <a:solidFill>
                <a:srgbClr val="121212"/>
              </a:solidFill>
              <a:effectLst/>
              <a:latin typeface="-apple-system"/>
            </a:endParaRPr>
          </a:p>
        </p:txBody>
      </p:sp>
      <p:sp>
        <p:nvSpPr>
          <p:cNvPr id="7" name="文本框 6"/>
          <p:cNvSpPr txBox="1"/>
          <p:nvPr/>
        </p:nvSpPr>
        <p:spPr>
          <a:xfrm>
            <a:off x="4591663" y="1362579"/>
            <a:ext cx="3281153" cy="2553891"/>
          </a:xfrm>
          <a:prstGeom prst="round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zh-CN" altLang="en-US" sz="2400" b="0" i="0" dirty="0">
                <a:solidFill>
                  <a:srgbClr val="121212"/>
                </a:solidFill>
                <a:effectLst/>
                <a:latin typeface="-apple-system"/>
              </a:rPr>
              <a:t>百度：</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数据挖掘与分析</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日志分析平台</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数据仓库系统</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推荐引擎系统</a:t>
            </a:r>
            <a:endParaRPr lang="zh-CN" altLang="en-US" sz="2400" b="0" i="0" dirty="0">
              <a:solidFill>
                <a:srgbClr val="121212"/>
              </a:solidFill>
              <a:effectLst/>
              <a:latin typeface="-apple-system"/>
            </a:endParaRPr>
          </a:p>
          <a:p>
            <a:pPr marL="285750" indent="-285750" algn="l">
              <a:buFont typeface="Arial" panose="020B0604020202020204" pitchFamily="34" charset="0"/>
              <a:buChar char="•"/>
            </a:pPr>
            <a:r>
              <a:rPr lang="zh-CN" altLang="en-US" sz="2400" b="0" i="0" dirty="0">
                <a:solidFill>
                  <a:srgbClr val="121212"/>
                </a:solidFill>
                <a:effectLst/>
                <a:latin typeface="-apple-system"/>
              </a:rPr>
              <a:t>用户行为分析系统</a:t>
            </a:r>
            <a:endParaRPr lang="zh-CN" altLang="en-US" sz="2400" b="0" i="0" dirty="0">
              <a:solidFill>
                <a:srgbClr val="121212"/>
              </a:solidFill>
              <a:effectLst/>
              <a:latin typeface="-apple-system"/>
            </a:endParaRPr>
          </a:p>
        </p:txBody>
      </p:sp>
      <p:sp>
        <p:nvSpPr>
          <p:cNvPr id="9" name="文本框 8"/>
          <p:cNvSpPr txBox="1"/>
          <p:nvPr/>
        </p:nvSpPr>
        <p:spPr>
          <a:xfrm>
            <a:off x="8996517" y="1372283"/>
            <a:ext cx="2735826" cy="2553891"/>
          </a:xfrm>
          <a:prstGeom prst="round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zh-CN" altLang="en-US" sz="2400" b="0" i="0" dirty="0">
                <a:solidFill>
                  <a:srgbClr val="121212"/>
                </a:solidFill>
                <a:effectLst/>
                <a:latin typeface="-apple-system"/>
              </a:rPr>
              <a:t>阿里巴巴：</a:t>
            </a:r>
            <a:endParaRPr lang="zh-CN" altLang="en-US" sz="2400" b="0" i="0" dirty="0">
              <a:solidFill>
                <a:srgbClr val="121212"/>
              </a:solidFill>
              <a:effectLst/>
              <a:latin typeface="-apple-system"/>
            </a:endParaRPr>
          </a:p>
          <a:p>
            <a:pPr indent="-285750">
              <a:buFont typeface="Arial" panose="020B0604020202020204" pitchFamily="34" charset="0"/>
              <a:buChar char="•"/>
            </a:pPr>
            <a:r>
              <a:rPr lang="zh-CN" altLang="en-US" sz="2400" dirty="0">
                <a:solidFill>
                  <a:srgbClr val="121212"/>
                </a:solidFill>
                <a:latin typeface="-apple-system"/>
              </a:rPr>
              <a:t>数据平台系统</a:t>
            </a:r>
            <a:endParaRPr lang="zh-CN" altLang="en-US" sz="2400" dirty="0">
              <a:solidFill>
                <a:srgbClr val="121212"/>
              </a:solidFill>
              <a:latin typeface="-apple-system"/>
            </a:endParaRPr>
          </a:p>
          <a:p>
            <a:pPr indent="-285750">
              <a:buFont typeface="Arial" panose="020B0604020202020204" pitchFamily="34" charset="0"/>
              <a:buChar char="•"/>
            </a:pPr>
            <a:r>
              <a:rPr lang="zh-CN" altLang="en-US" sz="2400" dirty="0">
                <a:solidFill>
                  <a:srgbClr val="121212"/>
                </a:solidFill>
                <a:latin typeface="-apple-system"/>
              </a:rPr>
              <a:t>搜索支撑</a:t>
            </a:r>
            <a:endParaRPr lang="zh-CN" altLang="en-US" sz="2400" dirty="0">
              <a:solidFill>
                <a:srgbClr val="121212"/>
              </a:solidFill>
              <a:latin typeface="-apple-system"/>
            </a:endParaRPr>
          </a:p>
          <a:p>
            <a:pPr indent="-285750">
              <a:buFont typeface="Arial" panose="020B0604020202020204" pitchFamily="34" charset="0"/>
              <a:buChar char="•"/>
            </a:pPr>
            <a:r>
              <a:rPr lang="zh-CN" altLang="en-US" sz="2400" dirty="0">
                <a:solidFill>
                  <a:srgbClr val="121212"/>
                </a:solidFill>
                <a:latin typeface="-apple-system"/>
              </a:rPr>
              <a:t>电子商务数据</a:t>
            </a:r>
            <a:endParaRPr lang="zh-CN" altLang="en-US" sz="2400" dirty="0">
              <a:solidFill>
                <a:srgbClr val="121212"/>
              </a:solidFill>
              <a:latin typeface="-apple-system"/>
            </a:endParaRPr>
          </a:p>
          <a:p>
            <a:pPr indent="-285750">
              <a:buFont typeface="Arial" panose="020B0604020202020204" pitchFamily="34" charset="0"/>
              <a:buChar char="•"/>
            </a:pPr>
            <a:r>
              <a:rPr lang="zh-CN" altLang="en-US" sz="2400" dirty="0">
                <a:solidFill>
                  <a:srgbClr val="121212"/>
                </a:solidFill>
                <a:latin typeface="-apple-system"/>
              </a:rPr>
              <a:t>推荐引擎系统</a:t>
            </a:r>
            <a:endParaRPr lang="zh-CN" altLang="en-US" sz="2400" dirty="0">
              <a:solidFill>
                <a:srgbClr val="121212"/>
              </a:solidFill>
              <a:latin typeface="-apple-system"/>
            </a:endParaRPr>
          </a:p>
          <a:p>
            <a:pPr indent="-285750">
              <a:buFont typeface="Arial" panose="020B0604020202020204" pitchFamily="34" charset="0"/>
              <a:buChar char="•"/>
            </a:pPr>
            <a:r>
              <a:rPr lang="zh-CN" altLang="en-US" sz="2400" dirty="0">
                <a:solidFill>
                  <a:srgbClr val="121212"/>
                </a:solidFill>
                <a:latin typeface="-apple-system"/>
              </a:rPr>
              <a:t>搜索排行榜</a:t>
            </a:r>
            <a:endParaRPr lang="zh-CN" altLang="en-US" sz="2400" dirty="0">
              <a:solidFill>
                <a:srgbClr val="121212"/>
              </a:solidFill>
              <a:latin typeface="-apple-system"/>
            </a:endParaRPr>
          </a:p>
        </p:txBody>
      </p:sp>
      <p:sp>
        <p:nvSpPr>
          <p:cNvPr id="11" name="文本框 10"/>
          <p:cNvSpPr txBox="1"/>
          <p:nvPr/>
        </p:nvSpPr>
        <p:spPr>
          <a:xfrm>
            <a:off x="414020" y="5788660"/>
            <a:ext cx="11449050" cy="510187"/>
          </a:xfrm>
          <a:prstGeom prst="round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sz="2400" b="0" i="0" dirty="0">
                <a:solidFill>
                  <a:srgbClr val="121212"/>
                </a:solidFill>
                <a:effectLst/>
                <a:latin typeface="-apple-system"/>
              </a:rPr>
              <a:t>华为</a:t>
            </a:r>
            <a:r>
              <a:rPr lang="en-US" altLang="zh-CN" sz="2400" b="0" i="0" dirty="0">
                <a:solidFill>
                  <a:srgbClr val="121212"/>
                </a:solidFill>
                <a:effectLst/>
                <a:latin typeface="-apple-system"/>
              </a:rPr>
              <a:t>--HA</a:t>
            </a:r>
            <a:r>
              <a:rPr lang="zh-CN" altLang="en-US" sz="2400" b="0" i="0" dirty="0">
                <a:solidFill>
                  <a:srgbClr val="121212"/>
                </a:solidFill>
                <a:effectLst/>
                <a:latin typeface="-apple-system"/>
              </a:rPr>
              <a:t>方案，</a:t>
            </a:r>
            <a:r>
              <a:rPr lang="en-US" altLang="zh-CN" sz="2400" b="0" i="0" dirty="0">
                <a:solidFill>
                  <a:srgbClr val="121212"/>
                </a:solidFill>
                <a:effectLst/>
                <a:latin typeface="-apple-system"/>
              </a:rPr>
              <a:t>HBase</a:t>
            </a:r>
            <a:r>
              <a:rPr lang="zh-CN" altLang="en-US" sz="2400" b="0" i="0" dirty="0">
                <a:solidFill>
                  <a:srgbClr val="121212"/>
                </a:solidFill>
                <a:effectLst/>
                <a:latin typeface="-apple-system"/>
              </a:rPr>
              <a:t>领域有深入研究，有自己的基于</a:t>
            </a:r>
            <a:r>
              <a:rPr lang="en-US" altLang="zh-CN" sz="2400" b="0" i="0" dirty="0">
                <a:solidFill>
                  <a:srgbClr val="121212"/>
                </a:solidFill>
                <a:effectLst/>
                <a:latin typeface="-apple-system"/>
              </a:rPr>
              <a:t>Hadoop</a:t>
            </a:r>
            <a:r>
              <a:rPr lang="zh-CN" altLang="en-US" sz="2400" b="0" i="0" dirty="0">
                <a:solidFill>
                  <a:srgbClr val="121212"/>
                </a:solidFill>
                <a:effectLst/>
                <a:latin typeface="-apple-system"/>
              </a:rPr>
              <a:t>的大数据解决方案</a:t>
            </a:r>
            <a:endParaRPr lang="zh-CN" altLang="en-US" sz="2400" dirty="0"/>
          </a:p>
        </p:txBody>
      </p:sp>
      <p:sp>
        <p:nvSpPr>
          <p:cNvPr id="13" name="文本框 12"/>
          <p:cNvSpPr txBox="1"/>
          <p:nvPr/>
        </p:nvSpPr>
        <p:spPr>
          <a:xfrm>
            <a:off x="447368" y="4997355"/>
            <a:ext cx="11262850" cy="510778"/>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b="0" i="0" dirty="0">
                <a:solidFill>
                  <a:srgbClr val="121212"/>
                </a:solidFill>
                <a:effectLst/>
                <a:latin typeface="-apple-system"/>
              </a:rPr>
              <a:t>腾讯 </a:t>
            </a:r>
            <a:r>
              <a:rPr lang="en-US" altLang="zh-CN" sz="2400" b="0" i="0" dirty="0">
                <a:solidFill>
                  <a:srgbClr val="121212"/>
                </a:solidFill>
                <a:effectLst/>
                <a:latin typeface="-apple-system"/>
              </a:rPr>
              <a:t>-- </a:t>
            </a:r>
            <a:r>
              <a:rPr lang="zh-CN" altLang="en-US" sz="2400" b="0" i="0" dirty="0">
                <a:solidFill>
                  <a:srgbClr val="121212"/>
                </a:solidFill>
                <a:effectLst/>
                <a:latin typeface="-apple-system"/>
              </a:rPr>
              <a:t>腾讯分布式数据仓库</a:t>
            </a:r>
            <a:r>
              <a:rPr lang="en-US" altLang="zh-CN" sz="2400" dirty="0">
                <a:solidFill>
                  <a:srgbClr val="121212"/>
                </a:solidFill>
                <a:latin typeface="-apple-system"/>
              </a:rPr>
              <a:t>TDW</a:t>
            </a:r>
            <a:r>
              <a:rPr lang="zh-CN" altLang="en-US" sz="2400" dirty="0">
                <a:solidFill>
                  <a:srgbClr val="121212"/>
                </a:solidFill>
                <a:latin typeface="-apple-system"/>
              </a:rPr>
              <a:t>，</a:t>
            </a:r>
            <a:r>
              <a:rPr lang="zh-CN" altLang="en-US" sz="2400" b="0" i="0" dirty="0">
                <a:solidFill>
                  <a:srgbClr val="121212"/>
                </a:solidFill>
                <a:effectLst/>
                <a:latin typeface="-apple-system"/>
              </a:rPr>
              <a:t>基于开源软件</a:t>
            </a:r>
            <a:r>
              <a:rPr lang="en-US" altLang="zh-CN" sz="2400" b="0" i="0" dirty="0">
                <a:solidFill>
                  <a:srgbClr val="121212"/>
                </a:solidFill>
                <a:effectLst/>
                <a:latin typeface="-apple-system"/>
              </a:rPr>
              <a:t>Hadoop</a:t>
            </a:r>
            <a:r>
              <a:rPr lang="zh-CN" altLang="en-US" sz="2400" b="0" i="0" dirty="0">
                <a:solidFill>
                  <a:srgbClr val="121212"/>
                </a:solidFill>
                <a:effectLst/>
                <a:latin typeface="-apple-system"/>
              </a:rPr>
              <a:t>和</a:t>
            </a:r>
            <a:r>
              <a:rPr lang="en-US" altLang="zh-CN" sz="2400" b="0" i="0" dirty="0">
                <a:solidFill>
                  <a:srgbClr val="121212"/>
                </a:solidFill>
                <a:effectLst/>
                <a:latin typeface="-apple-system"/>
              </a:rPr>
              <a:t>Hive</a:t>
            </a:r>
            <a:r>
              <a:rPr lang="zh-CN" altLang="en-US" sz="2400" b="0" i="0" dirty="0">
                <a:solidFill>
                  <a:srgbClr val="121212"/>
                </a:solidFill>
                <a:effectLst/>
                <a:latin typeface="-apple-system"/>
              </a:rPr>
              <a:t>进行构建</a:t>
            </a:r>
            <a:endParaRPr lang="zh-CN" altLang="en-US" sz="2400" dirty="0"/>
          </a:p>
        </p:txBody>
      </p:sp>
      <p:sp>
        <p:nvSpPr>
          <p:cNvPr id="15" name="文本框 14"/>
          <p:cNvSpPr txBox="1"/>
          <p:nvPr/>
        </p:nvSpPr>
        <p:spPr>
          <a:xfrm>
            <a:off x="481965" y="4111625"/>
            <a:ext cx="4598035" cy="514049"/>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altLang="zh-CN" sz="2400" b="0" i="0" dirty="0">
                <a:solidFill>
                  <a:srgbClr val="121212"/>
                </a:solidFill>
                <a:effectLst/>
                <a:latin typeface="-apple-system"/>
              </a:rPr>
              <a:t>Facebook--Hive</a:t>
            </a:r>
            <a:r>
              <a:rPr lang="zh-CN" altLang="en-US" sz="2400" b="0" i="0" dirty="0">
                <a:solidFill>
                  <a:srgbClr val="121212"/>
                </a:solidFill>
                <a:effectLst/>
                <a:latin typeface="-apple-system"/>
              </a:rPr>
              <a:t>高级数据仓库</a:t>
            </a:r>
            <a:endParaRPr lang="zh-CN" altLang="en-US" sz="2400" dirty="0"/>
          </a:p>
        </p:txBody>
      </p:sp>
      <p:sp>
        <p:nvSpPr>
          <p:cNvPr id="17" name="文本框 16"/>
          <p:cNvSpPr txBox="1"/>
          <p:nvPr/>
        </p:nvSpPr>
        <p:spPr>
          <a:xfrm>
            <a:off x="5653547" y="4206375"/>
            <a:ext cx="6056671" cy="510778"/>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altLang="zh-CN" sz="2400" b="0" i="0" dirty="0">
                <a:solidFill>
                  <a:srgbClr val="121212"/>
                </a:solidFill>
                <a:effectLst/>
                <a:latin typeface="-apple-system"/>
              </a:rPr>
              <a:t>IBM</a:t>
            </a:r>
            <a:r>
              <a:rPr lang="zh-CN" altLang="en-US" sz="2400" b="0" i="0" dirty="0">
                <a:solidFill>
                  <a:srgbClr val="121212"/>
                </a:solidFill>
                <a:effectLst/>
                <a:latin typeface="-apple-system"/>
              </a:rPr>
              <a:t>蓝云也利用</a:t>
            </a:r>
            <a:r>
              <a:rPr lang="en-US" altLang="zh-CN" sz="2400" b="0" i="0" dirty="0">
                <a:solidFill>
                  <a:srgbClr val="121212"/>
                </a:solidFill>
                <a:effectLst/>
                <a:latin typeface="-apple-system"/>
              </a:rPr>
              <a:t>Hadoop</a:t>
            </a:r>
            <a:r>
              <a:rPr lang="zh-CN" altLang="en-US" sz="2400" b="0" i="0" dirty="0">
                <a:solidFill>
                  <a:srgbClr val="121212"/>
                </a:solidFill>
                <a:effectLst/>
                <a:latin typeface="-apple-system"/>
              </a:rPr>
              <a:t>来构建云基础设施</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left)">
                                      <p:cBhvr>
                                        <p:cTn id="21" dur="500"/>
                                        <p:tgtEl>
                                          <p:spTgt spid="17"/>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bldLvl="0" animBg="1"/>
      <p:bldP spid="13" grpId="0" animBg="1"/>
      <p:bldP spid="15" grpId="0" bldLvl="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t="11998"/>
          <a:stretch>
            <a:fillRect/>
          </a:stretch>
        </p:blipFill>
        <p:spPr bwMode="auto">
          <a:xfrm>
            <a:off x="2176710" y="1555465"/>
            <a:ext cx="7472516" cy="4983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4"/>
          <p:cNvSpPr txBox="1">
            <a:spLocks noChangeArrowheads="1"/>
          </p:cNvSpPr>
          <p:nvPr/>
        </p:nvSpPr>
        <p:spPr bwMode="auto">
          <a:xfrm>
            <a:off x="3574026" y="1088986"/>
            <a:ext cx="4677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dirty="0"/>
              <a:t>Hadoop</a:t>
            </a:r>
            <a:r>
              <a:rPr lang="zh-CN" altLang="en-US" sz="2800" dirty="0"/>
              <a:t>在企业中的应用架构</a:t>
            </a:r>
            <a:endParaRPr lang="zh-CN" altLang="en-US" sz="2800" dirty="0"/>
          </a:p>
        </p:txBody>
      </p:sp>
      <p:sp>
        <p:nvSpPr>
          <p:cNvPr id="5"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2.1.4 </a:t>
            </a:r>
            <a:r>
              <a:rPr lang="zh-CN" altLang="en-US" sz="4800" b="1" dirty="0">
                <a:solidFill>
                  <a:srgbClr val="000000"/>
                </a:solidFill>
                <a:latin typeface="宋体" panose="02010600030101010101" pitchFamily="2" charset="-122"/>
                <a:ea typeface="宋体" panose="02010600030101010101" pitchFamily="2" charset="-122"/>
                <a:sym typeface="+mn-ea"/>
              </a:rPr>
              <a:t>应用现状</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7" name="文本框 6"/>
          <p:cNvSpPr txBox="1"/>
          <p:nvPr/>
        </p:nvSpPr>
        <p:spPr>
          <a:xfrm>
            <a:off x="7642311" y="3577525"/>
            <a:ext cx="1219198" cy="369332"/>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商业智能</a:t>
            </a:r>
            <a:endParaRPr lang="en-US" altLang="zh-CN" b="0" i="0" dirty="0">
              <a:solidFill>
                <a:srgbClr val="333333"/>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2.1.5 </a:t>
            </a:r>
            <a:r>
              <a:rPr lang="zh-CN" altLang="en-US" sz="4800" b="1" dirty="0">
                <a:solidFill>
                  <a:srgbClr val="000000"/>
                </a:solidFill>
                <a:latin typeface="宋体" panose="02010600030101010101" pitchFamily="2" charset="-122"/>
                <a:ea typeface="宋体" panose="02010600030101010101" pitchFamily="2" charset="-122"/>
                <a:sym typeface="+mn-ea"/>
              </a:rPr>
              <a:t>版本</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圆角矩形 4"/>
          <p:cNvSpPr/>
          <p:nvPr/>
        </p:nvSpPr>
        <p:spPr>
          <a:xfrm>
            <a:off x="305940" y="2505546"/>
            <a:ext cx="1314191"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0.20.x</a:t>
            </a:r>
            <a:endParaRPr lang="zh-CN" altLang="en-US" sz="2800" b="1" dirty="0"/>
          </a:p>
        </p:txBody>
      </p:sp>
      <p:sp>
        <p:nvSpPr>
          <p:cNvPr id="6" name="圆角矩形 4"/>
          <p:cNvSpPr/>
          <p:nvPr/>
        </p:nvSpPr>
        <p:spPr>
          <a:xfrm>
            <a:off x="2144661" y="3943820"/>
            <a:ext cx="1463779" cy="59055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dirty="0"/>
              <a:t>第一代</a:t>
            </a:r>
            <a:endParaRPr lang="zh-CN" altLang="en-US" sz="2800" dirty="0"/>
          </a:p>
        </p:txBody>
      </p:sp>
      <p:sp>
        <p:nvSpPr>
          <p:cNvPr id="7" name="圆角矩形 4"/>
          <p:cNvSpPr/>
          <p:nvPr/>
        </p:nvSpPr>
        <p:spPr>
          <a:xfrm>
            <a:off x="1840395" y="2505546"/>
            <a:ext cx="1192162"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0.21.x</a:t>
            </a:r>
            <a:endParaRPr lang="zh-CN" altLang="en-US" sz="2800" b="1" dirty="0"/>
          </a:p>
        </p:txBody>
      </p:sp>
      <p:sp>
        <p:nvSpPr>
          <p:cNvPr id="8" name="圆角矩形 4"/>
          <p:cNvSpPr/>
          <p:nvPr/>
        </p:nvSpPr>
        <p:spPr>
          <a:xfrm>
            <a:off x="3302347" y="2534704"/>
            <a:ext cx="1296988"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0.22.x</a:t>
            </a:r>
            <a:endParaRPr lang="zh-CN" altLang="en-US" sz="2800" b="1" dirty="0"/>
          </a:p>
        </p:txBody>
      </p:sp>
      <p:cxnSp>
        <p:nvCxnSpPr>
          <p:cNvPr id="9" name="直接箭头连接符 8"/>
          <p:cNvCxnSpPr>
            <a:endCxn id="5" idx="2"/>
          </p:cNvCxnSpPr>
          <p:nvPr/>
        </p:nvCxnSpPr>
        <p:spPr>
          <a:xfrm flipH="1" flipV="1">
            <a:off x="963036" y="3096096"/>
            <a:ext cx="1353241" cy="83224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6" idx="0"/>
            <a:endCxn id="7" idx="2"/>
          </p:cNvCxnSpPr>
          <p:nvPr/>
        </p:nvCxnSpPr>
        <p:spPr>
          <a:xfrm flipH="1" flipV="1">
            <a:off x="2436476" y="3096096"/>
            <a:ext cx="440075" cy="8477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endCxn id="8" idx="2"/>
          </p:cNvCxnSpPr>
          <p:nvPr/>
        </p:nvCxnSpPr>
        <p:spPr>
          <a:xfrm flipV="1">
            <a:off x="3317452" y="3125254"/>
            <a:ext cx="633389" cy="7894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5" idx="2"/>
            <a:endCxn id="25" idx="0"/>
          </p:cNvCxnSpPr>
          <p:nvPr/>
        </p:nvCxnSpPr>
        <p:spPr>
          <a:xfrm>
            <a:off x="963036" y="3096096"/>
            <a:ext cx="94940" cy="67350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圆角矩形 4"/>
          <p:cNvSpPr/>
          <p:nvPr/>
        </p:nvSpPr>
        <p:spPr>
          <a:xfrm>
            <a:off x="461895" y="3769604"/>
            <a:ext cx="1192162"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1.0.x</a:t>
            </a:r>
            <a:endParaRPr lang="zh-CN" altLang="en-US" sz="2800" b="1" dirty="0"/>
          </a:p>
        </p:txBody>
      </p:sp>
      <p:sp>
        <p:nvSpPr>
          <p:cNvPr id="26" name="圆角矩形 4"/>
          <p:cNvSpPr/>
          <p:nvPr/>
        </p:nvSpPr>
        <p:spPr>
          <a:xfrm>
            <a:off x="2150416" y="1595196"/>
            <a:ext cx="2011392" cy="103253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800" b="1" dirty="0"/>
              <a:t>HDFS HA</a:t>
            </a:r>
            <a:endParaRPr lang="en-US" altLang="zh-CN" sz="2800" b="1" dirty="0"/>
          </a:p>
          <a:p>
            <a:pPr algn="ctr"/>
            <a:r>
              <a:rPr lang="en-US" altLang="zh-CN" dirty="0"/>
              <a:t>High Availability</a:t>
            </a:r>
            <a:endParaRPr lang="en-US" altLang="zh-CN" dirty="0"/>
          </a:p>
          <a:p>
            <a:pPr algn="ctr"/>
            <a:r>
              <a:rPr lang="zh-CN" altLang="en-US" dirty="0"/>
              <a:t>单点故障问题</a:t>
            </a:r>
            <a:endParaRPr lang="zh-CN" altLang="en-US" sz="2800" b="1" dirty="0"/>
          </a:p>
        </p:txBody>
      </p:sp>
      <p:sp>
        <p:nvSpPr>
          <p:cNvPr id="27" name="圆角矩形 4"/>
          <p:cNvSpPr/>
          <p:nvPr/>
        </p:nvSpPr>
        <p:spPr>
          <a:xfrm>
            <a:off x="5014452" y="4024653"/>
            <a:ext cx="1463779" cy="59055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dirty="0"/>
              <a:t>第二代</a:t>
            </a:r>
            <a:endParaRPr lang="zh-CN" altLang="en-US" sz="2800" dirty="0"/>
          </a:p>
        </p:txBody>
      </p:sp>
      <p:sp>
        <p:nvSpPr>
          <p:cNvPr id="28" name="圆角矩形 4"/>
          <p:cNvSpPr/>
          <p:nvPr/>
        </p:nvSpPr>
        <p:spPr>
          <a:xfrm>
            <a:off x="5142533" y="2586379"/>
            <a:ext cx="1192162"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0.23.x</a:t>
            </a:r>
            <a:endParaRPr lang="zh-CN" altLang="en-US" sz="2800" b="1" dirty="0"/>
          </a:p>
        </p:txBody>
      </p:sp>
      <p:sp>
        <p:nvSpPr>
          <p:cNvPr id="29" name="圆角矩形 4"/>
          <p:cNvSpPr/>
          <p:nvPr/>
        </p:nvSpPr>
        <p:spPr>
          <a:xfrm>
            <a:off x="6785136" y="2601856"/>
            <a:ext cx="1296988"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2.x</a:t>
            </a:r>
            <a:endParaRPr lang="zh-CN" altLang="en-US" sz="2800" b="1" dirty="0"/>
          </a:p>
        </p:txBody>
      </p:sp>
      <p:cxnSp>
        <p:nvCxnSpPr>
          <p:cNvPr id="30" name="直接箭头连接符 29"/>
          <p:cNvCxnSpPr>
            <a:stCxn id="27" idx="0"/>
            <a:endCxn id="28" idx="2"/>
          </p:cNvCxnSpPr>
          <p:nvPr/>
        </p:nvCxnSpPr>
        <p:spPr>
          <a:xfrm flipH="1" flipV="1">
            <a:off x="5738614" y="3176929"/>
            <a:ext cx="7728" cy="8477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endCxn id="29" idx="2"/>
          </p:cNvCxnSpPr>
          <p:nvPr/>
        </p:nvCxnSpPr>
        <p:spPr>
          <a:xfrm flipV="1">
            <a:off x="6342423" y="3192406"/>
            <a:ext cx="1091207" cy="84772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圆角矩形 4"/>
          <p:cNvSpPr/>
          <p:nvPr/>
        </p:nvSpPr>
        <p:spPr>
          <a:xfrm>
            <a:off x="5014451" y="5389957"/>
            <a:ext cx="1463779" cy="59055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800" b="1" dirty="0"/>
              <a:t>JDK1.7</a:t>
            </a:r>
            <a:endParaRPr lang="zh-CN" altLang="en-US" sz="2800" b="1" dirty="0"/>
          </a:p>
        </p:txBody>
      </p:sp>
      <p:cxnSp>
        <p:nvCxnSpPr>
          <p:cNvPr id="40" name="直接箭头连接符 39"/>
          <p:cNvCxnSpPr>
            <a:stCxn id="39" idx="0"/>
          </p:cNvCxnSpPr>
          <p:nvPr/>
        </p:nvCxnSpPr>
        <p:spPr>
          <a:xfrm flipV="1">
            <a:off x="5746341" y="4630680"/>
            <a:ext cx="0" cy="75927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圆角矩形 4"/>
          <p:cNvSpPr/>
          <p:nvPr/>
        </p:nvSpPr>
        <p:spPr>
          <a:xfrm>
            <a:off x="9340294" y="4024653"/>
            <a:ext cx="1463779" cy="59055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800" dirty="0"/>
              <a:t>第三代</a:t>
            </a:r>
            <a:endParaRPr lang="zh-CN" altLang="en-US" sz="2800" dirty="0"/>
          </a:p>
        </p:txBody>
      </p:sp>
      <p:sp>
        <p:nvSpPr>
          <p:cNvPr id="44" name="圆角矩形 4"/>
          <p:cNvSpPr/>
          <p:nvPr/>
        </p:nvSpPr>
        <p:spPr>
          <a:xfrm>
            <a:off x="9340293" y="5389957"/>
            <a:ext cx="1463779" cy="59055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800" b="1" dirty="0"/>
              <a:t>JDK1.8</a:t>
            </a:r>
            <a:endParaRPr lang="zh-CN" altLang="en-US" sz="2800" b="1" dirty="0"/>
          </a:p>
        </p:txBody>
      </p:sp>
      <p:cxnSp>
        <p:nvCxnSpPr>
          <p:cNvPr id="45" name="直接箭头连接符 44"/>
          <p:cNvCxnSpPr>
            <a:stCxn id="44" idx="0"/>
          </p:cNvCxnSpPr>
          <p:nvPr/>
        </p:nvCxnSpPr>
        <p:spPr>
          <a:xfrm flipV="1">
            <a:off x="10072183" y="4630680"/>
            <a:ext cx="0" cy="75927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39" idx="3"/>
            <a:endCxn id="44" idx="1"/>
          </p:cNvCxnSpPr>
          <p:nvPr/>
        </p:nvCxnSpPr>
        <p:spPr>
          <a:xfrm>
            <a:off x="6478230" y="5685232"/>
            <a:ext cx="286206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9" name="圆角矩形 4"/>
          <p:cNvSpPr/>
          <p:nvPr/>
        </p:nvSpPr>
        <p:spPr>
          <a:xfrm>
            <a:off x="5535351" y="1620394"/>
            <a:ext cx="2011392" cy="103253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CN" sz="2800" b="1" dirty="0"/>
              <a:t>HDFS F</a:t>
            </a:r>
            <a:endParaRPr lang="en-US" altLang="zh-CN" sz="2800" b="1" dirty="0"/>
          </a:p>
          <a:p>
            <a:pPr algn="ctr"/>
            <a:r>
              <a:rPr lang="en-US" altLang="zh-CN" sz="2800" b="1" dirty="0"/>
              <a:t>YARN</a:t>
            </a:r>
            <a:endParaRPr lang="en-US" altLang="zh-CN" sz="2800" b="1" dirty="0"/>
          </a:p>
        </p:txBody>
      </p:sp>
      <p:sp>
        <p:nvSpPr>
          <p:cNvPr id="50" name="圆角矩形 4"/>
          <p:cNvSpPr/>
          <p:nvPr/>
        </p:nvSpPr>
        <p:spPr>
          <a:xfrm>
            <a:off x="8332627" y="1605082"/>
            <a:ext cx="3534909" cy="224249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2400" dirty="0"/>
              <a:t>HDFS</a:t>
            </a:r>
            <a:r>
              <a:rPr lang="zh-CN" altLang="en-US" sz="2400" dirty="0"/>
              <a:t>可擦除编码；</a:t>
            </a:r>
            <a:endParaRPr lang="en-US" altLang="zh-CN" sz="2400" dirty="0"/>
          </a:p>
          <a:p>
            <a:r>
              <a:rPr lang="zh-CN" altLang="en-US" sz="2400" dirty="0"/>
              <a:t>多名称节点支持；</a:t>
            </a:r>
            <a:endParaRPr lang="en-US" altLang="zh-CN" sz="2400" dirty="0"/>
          </a:p>
          <a:p>
            <a:r>
              <a:rPr lang="zh-CN" altLang="en-US" sz="2400" dirty="0"/>
              <a:t>任务级别的</a:t>
            </a:r>
            <a:r>
              <a:rPr lang="en-US" altLang="zh-CN" sz="2400" dirty="0"/>
              <a:t>MapReduce</a:t>
            </a:r>
            <a:r>
              <a:rPr lang="zh-CN" altLang="en-US" sz="2400" dirty="0"/>
              <a:t>本地优化；</a:t>
            </a:r>
            <a:endParaRPr lang="en-US" altLang="zh-CN" sz="2400" dirty="0"/>
          </a:p>
          <a:p>
            <a:r>
              <a:rPr lang="zh-CN" altLang="en-US" sz="2400" dirty="0"/>
              <a:t>基于</a:t>
            </a:r>
            <a:r>
              <a:rPr lang="en-US" altLang="zh-CN" sz="2400" dirty="0" err="1"/>
              <a:t>cgroup</a:t>
            </a:r>
            <a:r>
              <a:rPr lang="zh-CN" altLang="en-US" sz="2400" dirty="0"/>
              <a:t>的内存和磁盘</a:t>
            </a:r>
            <a:r>
              <a:rPr lang="en-US" altLang="zh-CN" sz="2400" dirty="0"/>
              <a:t>IO</a:t>
            </a:r>
            <a:r>
              <a:rPr lang="zh-CN" altLang="en-US" sz="2400" dirty="0"/>
              <a:t>隔离</a:t>
            </a:r>
            <a:r>
              <a:rPr lang="en-US" altLang="zh-CN" sz="2400" dirty="0"/>
              <a:t>…</a:t>
            </a:r>
            <a:endParaRPr lang="en-US" altLang="zh-CN" sz="2400" dirty="0"/>
          </a:p>
        </p:txBody>
      </p:sp>
      <p:pic>
        <p:nvPicPr>
          <p:cNvPr id="53" name="图片 52"/>
          <p:cNvPicPr>
            <a:picLocks noChangeAspect="1"/>
          </p:cNvPicPr>
          <p:nvPr/>
        </p:nvPicPr>
        <p:blipFill>
          <a:blip r:embed="rId1"/>
          <a:stretch>
            <a:fillRect/>
          </a:stretch>
        </p:blipFill>
        <p:spPr>
          <a:xfrm>
            <a:off x="252292" y="4678829"/>
            <a:ext cx="4630846" cy="1881456"/>
          </a:xfrm>
          <a:prstGeom prst="rect">
            <a:avLst/>
          </a:prstGeom>
        </p:spPr>
      </p:pic>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0942" y="1463308"/>
            <a:ext cx="3893573" cy="2413707"/>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3"/>
          <p:cNvSpPr txBox="1">
            <a:spLocks noChangeArrowheads="1"/>
          </p:cNvSpPr>
          <p:nvPr/>
        </p:nvSpPr>
        <p:spPr bwMode="auto">
          <a:xfrm>
            <a:off x="4343493" y="111352"/>
            <a:ext cx="2791564" cy="1736646"/>
          </a:xfrm>
          <a:prstGeom prst="wedgeRoundRectCallout">
            <a:avLst>
              <a:gd name="adj1" fmla="val 96610"/>
              <a:gd name="adj2" fmla="val 60279"/>
              <a:gd name="adj3" fmla="val 16667"/>
            </a:avLst>
          </a:prstGeom>
        </p:spPr>
        <p:style>
          <a:lnRef idx="2">
            <a:schemeClr val="accent4"/>
          </a:lnRef>
          <a:fillRef idx="1">
            <a:schemeClr val="lt1"/>
          </a:fillRef>
          <a:effectRef idx="0">
            <a:schemeClr val="accent4"/>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选择版本考虑：</a:t>
            </a:r>
            <a:endParaRPr lang="en-US" altLang="zh-CN" sz="2400" dirty="0"/>
          </a:p>
          <a:p>
            <a:pPr eaLnBrk="1" hangingPunct="1">
              <a:buFont typeface="Arial" panose="020B0604020202020204" pitchFamily="34" charset="0"/>
              <a:buChar char="•"/>
            </a:pPr>
            <a:r>
              <a:rPr lang="zh-CN" altLang="en-US" sz="2400" dirty="0"/>
              <a:t>开源、稳定</a:t>
            </a:r>
            <a:endParaRPr lang="en-US" altLang="zh-CN" sz="2400" dirty="0"/>
          </a:p>
          <a:p>
            <a:pPr eaLnBrk="1" hangingPunct="1">
              <a:buFont typeface="Arial" panose="020B0604020202020204" pitchFamily="34" charset="0"/>
              <a:buChar char="•"/>
            </a:pPr>
            <a:r>
              <a:rPr lang="zh-CN" altLang="en-US" sz="2400" dirty="0"/>
              <a:t>经实践检验</a:t>
            </a:r>
            <a:endParaRPr lang="en-US" altLang="zh-CN" sz="2400" dirty="0"/>
          </a:p>
          <a:p>
            <a:pPr eaLnBrk="1" hangingPunct="1">
              <a:buFont typeface="Arial" panose="020B0604020202020204" pitchFamily="34" charset="0"/>
              <a:buChar char="•"/>
            </a:pPr>
            <a:r>
              <a:rPr lang="zh-CN" altLang="en-US" sz="2400" dirty="0"/>
              <a:t>强大的社区支持</a:t>
            </a:r>
            <a:endParaRPr lang="en-US" altLang="zh-C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500"/>
                            </p:stCondLst>
                            <p:childTnLst>
                              <p:par>
                                <p:cTn id="13" presetID="22" presetClass="entr" presetSubtype="4" fill="hold" grpId="1"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par>
                          <p:cTn id="16" fill="hold">
                            <p:stCondLst>
                              <p:cond delay="1000"/>
                            </p:stCondLst>
                            <p:childTnLst>
                              <p:par>
                                <p:cTn id="17" presetID="22" presetClass="entr" presetSubtype="4"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childTnLst>
                          </p:cTn>
                        </p:par>
                        <p:par>
                          <p:cTn id="20" fill="hold">
                            <p:stCondLst>
                              <p:cond delay="1500"/>
                            </p:stCondLst>
                            <p:childTnLst>
                              <p:par>
                                <p:cTn id="21" presetID="22" presetClass="entr" presetSubtype="4" fill="hold" grpId="1"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childTnLst>
                          </p:cTn>
                        </p:par>
                        <p:par>
                          <p:cTn id="24" fill="hold">
                            <p:stCondLst>
                              <p:cond delay="2000"/>
                            </p:stCondLst>
                            <p:childTnLst>
                              <p:par>
                                <p:cTn id="25" presetID="22" presetClass="entr" presetSubtype="4" fill="hold"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par>
                          <p:cTn id="28" fill="hold">
                            <p:stCondLst>
                              <p:cond delay="2500"/>
                            </p:stCondLst>
                            <p:childTnLst>
                              <p:par>
                                <p:cTn id="29" presetID="22" presetClass="entr" presetSubtype="4" fill="hold" grpId="1"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down)">
                                      <p:cBhvr>
                                        <p:cTn id="36" dur="500"/>
                                        <p:tgtEl>
                                          <p:spTgt spid="22"/>
                                        </p:tgtEl>
                                      </p:cBhvr>
                                    </p:animEffect>
                                  </p:childTnLst>
                                </p:cTn>
                              </p:par>
                            </p:childTnLst>
                          </p:cTn>
                        </p:par>
                        <p:par>
                          <p:cTn id="37" fill="hold">
                            <p:stCondLst>
                              <p:cond delay="500"/>
                            </p:stCondLst>
                            <p:childTnLst>
                              <p:par>
                                <p:cTn id="38" presetID="22" presetClass="entr" presetSubtype="4" fill="hold" grpId="1"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1" nodeType="click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wipe(down)">
                                      <p:cBhvr>
                                        <p:cTn id="45" dur="500"/>
                                        <p:tgtEl>
                                          <p:spTgt spid="26"/>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1" nodeType="clickEffect">
                                  <p:stCondLst>
                                    <p:cond delay="0"/>
                                  </p:stCondLst>
                                  <p:childTnLst>
                                    <p:set>
                                      <p:cBhvr>
                                        <p:cTn id="49" dur="1" fill="hold">
                                          <p:stCondLst>
                                            <p:cond delay="0"/>
                                          </p:stCondLst>
                                        </p:cTn>
                                        <p:tgtEl>
                                          <p:spTgt spid="2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30"/>
                                        </p:tgtEl>
                                        <p:attrNameLst>
                                          <p:attrName>style.visibility</p:attrName>
                                        </p:attrNameLst>
                                      </p:cBhvr>
                                      <p:to>
                                        <p:strVal val="visible"/>
                                      </p:to>
                                    </p:set>
                                    <p:animEffect transition="in" filter="wipe(down)">
                                      <p:cBhvr>
                                        <p:cTn id="54" dur="500"/>
                                        <p:tgtEl>
                                          <p:spTgt spid="30"/>
                                        </p:tgtEl>
                                      </p:cBhvr>
                                    </p:animEffect>
                                  </p:childTnLst>
                                </p:cTn>
                              </p:par>
                            </p:childTnLst>
                          </p:cTn>
                        </p:par>
                        <p:par>
                          <p:cTn id="55" fill="hold">
                            <p:stCondLst>
                              <p:cond delay="500"/>
                            </p:stCondLst>
                            <p:childTnLst>
                              <p:par>
                                <p:cTn id="56" presetID="22" presetClass="entr" presetSubtype="4" fill="hold" grpId="1"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down)">
                                      <p:cBhvr>
                                        <p:cTn id="58" dur="500"/>
                                        <p:tgtEl>
                                          <p:spTgt spid="2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wipe(down)">
                                      <p:cBhvr>
                                        <p:cTn id="63" dur="500"/>
                                        <p:tgtEl>
                                          <p:spTgt spid="31"/>
                                        </p:tgtEl>
                                      </p:cBhvr>
                                    </p:animEffect>
                                  </p:childTnLst>
                                </p:cTn>
                              </p:par>
                            </p:childTnLst>
                          </p:cTn>
                        </p:par>
                        <p:par>
                          <p:cTn id="64" fill="hold">
                            <p:stCondLst>
                              <p:cond delay="500"/>
                            </p:stCondLst>
                            <p:childTnLst>
                              <p:par>
                                <p:cTn id="65" presetID="22" presetClass="entr" presetSubtype="4" fill="hold" grpId="1"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down)">
                                      <p:cBhvr>
                                        <p:cTn id="67" dur="500"/>
                                        <p:tgtEl>
                                          <p:spTgt spid="2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1" nodeType="click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wipe(down)">
                                      <p:cBhvr>
                                        <p:cTn id="72" dur="500"/>
                                        <p:tgtEl>
                                          <p:spTgt spid="49"/>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1" nodeType="click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wipe(down)">
                                      <p:cBhvr>
                                        <p:cTn id="81" dur="500"/>
                                        <p:tgtEl>
                                          <p:spTgt spid="39"/>
                                        </p:tgtEl>
                                      </p:cBhvr>
                                    </p:animEffect>
                                  </p:childTnLst>
                                </p:cTn>
                              </p:par>
                            </p:childTnLst>
                          </p:cTn>
                        </p:par>
                        <p:par>
                          <p:cTn id="82" fill="hold">
                            <p:stCondLst>
                              <p:cond delay="500"/>
                            </p:stCondLst>
                            <p:childTnLst>
                              <p:par>
                                <p:cTn id="83" presetID="22" presetClass="entr" presetSubtype="4" fill="hold" nodeType="after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wipe(down)">
                                      <p:cBhvr>
                                        <p:cTn id="85" dur="500"/>
                                        <p:tgtEl>
                                          <p:spTgt spid="4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nodeType="click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wipe(down)">
                                      <p:cBhvr>
                                        <p:cTn id="90" dur="500"/>
                                        <p:tgtEl>
                                          <p:spTgt spid="46"/>
                                        </p:tgtEl>
                                      </p:cBhvr>
                                    </p:animEffect>
                                  </p:childTnLst>
                                </p:cTn>
                              </p:par>
                            </p:childTnLst>
                          </p:cTn>
                        </p:par>
                        <p:par>
                          <p:cTn id="91" fill="hold">
                            <p:stCondLst>
                              <p:cond delay="500"/>
                            </p:stCondLst>
                            <p:childTnLst>
                              <p:par>
                                <p:cTn id="92" presetID="22" presetClass="entr" presetSubtype="4" fill="hold" grpId="1" nodeType="afterEffect">
                                  <p:stCondLst>
                                    <p:cond delay="0"/>
                                  </p:stCondLst>
                                  <p:childTnLst>
                                    <p:set>
                                      <p:cBhvr>
                                        <p:cTn id="93" dur="1" fill="hold">
                                          <p:stCondLst>
                                            <p:cond delay="0"/>
                                          </p:stCondLst>
                                        </p:cTn>
                                        <p:tgtEl>
                                          <p:spTgt spid="44"/>
                                        </p:tgtEl>
                                        <p:attrNameLst>
                                          <p:attrName>style.visibility</p:attrName>
                                        </p:attrNameLst>
                                      </p:cBhvr>
                                      <p:to>
                                        <p:strVal val="visible"/>
                                      </p:to>
                                    </p:set>
                                    <p:animEffect transition="in" filter="wipe(down)">
                                      <p:cBhvr>
                                        <p:cTn id="94" dur="500"/>
                                        <p:tgtEl>
                                          <p:spTgt spid="4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wipe(down)">
                                      <p:cBhvr>
                                        <p:cTn id="99" dur="500"/>
                                        <p:tgtEl>
                                          <p:spTgt spid="45"/>
                                        </p:tgtEl>
                                      </p:cBhvr>
                                    </p:animEffect>
                                  </p:childTnLst>
                                </p:cTn>
                              </p:par>
                            </p:childTnLst>
                          </p:cTn>
                        </p:par>
                        <p:par>
                          <p:cTn id="100" fill="hold">
                            <p:stCondLst>
                              <p:cond delay="500"/>
                            </p:stCondLst>
                            <p:childTnLst>
                              <p:par>
                                <p:cTn id="101" presetID="1" presetClass="entr" presetSubtype="0" fill="hold" grpId="1" nodeType="afterEffect">
                                  <p:stCondLst>
                                    <p:cond delay="0"/>
                                  </p:stCondLst>
                                  <p:childTnLst>
                                    <p:set>
                                      <p:cBhvr>
                                        <p:cTn id="102" dur="1" fill="hold">
                                          <p:stCondLst>
                                            <p:cond delay="0"/>
                                          </p:stCondLst>
                                        </p:cTn>
                                        <p:tgtEl>
                                          <p:spTgt spid="4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1" nodeType="clickEffect">
                                  <p:stCondLst>
                                    <p:cond delay="0"/>
                                  </p:stCondLst>
                                  <p:childTnLst>
                                    <p:set>
                                      <p:cBhvr>
                                        <p:cTn id="106" dur="1" fill="hold">
                                          <p:stCondLst>
                                            <p:cond delay="0"/>
                                          </p:stCondLst>
                                        </p:cTn>
                                        <p:tgtEl>
                                          <p:spTgt spid="50"/>
                                        </p:tgtEl>
                                        <p:attrNameLst>
                                          <p:attrName>style.visibility</p:attrName>
                                        </p:attrNameLst>
                                      </p:cBhvr>
                                      <p:to>
                                        <p:strVal val="visible"/>
                                      </p:to>
                                    </p:set>
                                    <p:animEffect transition="in" filter="wipe(down)">
                                      <p:cBhvr>
                                        <p:cTn id="107" dur="500"/>
                                        <p:tgtEl>
                                          <p:spTgt spid="50"/>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32" fill="hold" nodeType="clickEffect">
                                  <p:stCondLst>
                                    <p:cond delay="0"/>
                                  </p:stCondLst>
                                  <p:childTnLst>
                                    <p:set>
                                      <p:cBhvr>
                                        <p:cTn id="111" dur="1" fill="hold">
                                          <p:stCondLst>
                                            <p:cond delay="0"/>
                                          </p:stCondLst>
                                        </p:cTn>
                                        <p:tgtEl>
                                          <p:spTgt spid="4098"/>
                                        </p:tgtEl>
                                        <p:attrNameLst>
                                          <p:attrName>style.visibility</p:attrName>
                                        </p:attrNameLst>
                                      </p:cBhvr>
                                      <p:to>
                                        <p:strVal val="visible"/>
                                      </p:to>
                                    </p:set>
                                    <p:animEffect transition="in" filter="circle(out)">
                                      <p:cBhvr>
                                        <p:cTn id="112" dur="2000"/>
                                        <p:tgtEl>
                                          <p:spTgt spid="409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2" fill="hold" grpId="0" nodeType="click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wipe(right)">
                                      <p:cBhvr>
                                        <p:cTn id="11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P spid="7" grpId="1" animBg="1"/>
      <p:bldP spid="8" grpId="0" animBg="1"/>
      <p:bldP spid="8"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9" grpId="0" animBg="1"/>
      <p:bldP spid="39" grpId="1" animBg="1"/>
      <p:bldP spid="43" grpId="0" animBg="1"/>
      <p:bldP spid="43" grpId="1" animBg="1"/>
      <p:bldP spid="44" grpId="0" animBg="1"/>
      <p:bldP spid="44" grpId="1" animBg="1"/>
      <p:bldP spid="49" grpId="0" animBg="1"/>
      <p:bldP spid="49" grpId="1" animBg="1"/>
      <p:bldP spid="50" grpId="0" animBg="1"/>
      <p:bldP spid="50" grpId="1" animBg="1"/>
      <p:bldP spid="54"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3"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2.1.5 </a:t>
            </a:r>
            <a:r>
              <a:rPr lang="zh-CN" altLang="en-US" sz="4800" b="1" dirty="0">
                <a:solidFill>
                  <a:srgbClr val="000000"/>
                </a:solidFill>
                <a:latin typeface="宋体" panose="02010600030101010101" pitchFamily="2" charset="-122"/>
                <a:ea typeface="宋体" panose="02010600030101010101" pitchFamily="2" charset="-122"/>
                <a:sym typeface="+mn-ea"/>
              </a:rPr>
              <a:t>版本</a:t>
            </a:r>
            <a:endParaRPr lang="zh-CN" altLang="en-US" sz="4800" b="1" dirty="0">
              <a:solidFill>
                <a:srgbClr val="000000"/>
              </a:solidFill>
              <a:latin typeface="宋体" panose="02010600030101010101" pitchFamily="2" charset="-122"/>
              <a:ea typeface="宋体" panose="02010600030101010101" pitchFamily="2" charset="-122"/>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9332" y="875071"/>
            <a:ext cx="10002016" cy="5846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2.2 </a:t>
            </a:r>
            <a:r>
              <a:rPr lang="zh-CN" altLang="en-US" sz="4800" b="1" dirty="0">
                <a:solidFill>
                  <a:srgbClr val="000000"/>
                </a:solidFill>
                <a:latin typeface="宋体" panose="02010600030101010101" pitchFamily="2" charset="-122"/>
                <a:ea typeface="宋体" panose="02010600030101010101" pitchFamily="2" charset="-122"/>
                <a:sym typeface="+mn-ea"/>
              </a:rPr>
              <a:t>生态系统</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矩形: 圆角 4"/>
          <p:cNvSpPr/>
          <p:nvPr/>
        </p:nvSpPr>
        <p:spPr>
          <a:xfrm>
            <a:off x="1504335" y="5574890"/>
            <a:ext cx="8652388"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HDFS(</a:t>
            </a:r>
            <a:r>
              <a:rPr lang="zh-CN" altLang="en-US" sz="2800" b="1" dirty="0"/>
              <a:t>分布式文件系统</a:t>
            </a:r>
            <a:r>
              <a:rPr lang="en-US" altLang="zh-CN" sz="2800" b="1" dirty="0"/>
              <a:t>)</a:t>
            </a:r>
            <a:endParaRPr lang="zh-CN" altLang="en-US" sz="2800" b="1" dirty="0"/>
          </a:p>
        </p:txBody>
      </p:sp>
      <p:sp>
        <p:nvSpPr>
          <p:cNvPr id="7" name="矩形: 圆角 6"/>
          <p:cNvSpPr/>
          <p:nvPr/>
        </p:nvSpPr>
        <p:spPr>
          <a:xfrm>
            <a:off x="2910348" y="3435196"/>
            <a:ext cx="7261124"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MapReduce(</a:t>
            </a:r>
            <a:r>
              <a:rPr lang="zh-CN" altLang="en-US" sz="2800" b="1" dirty="0"/>
              <a:t>分布式计算框架</a:t>
            </a:r>
            <a:r>
              <a:rPr lang="en-US" altLang="zh-CN" sz="2800" b="1" dirty="0"/>
              <a:t>)</a:t>
            </a:r>
            <a:endParaRPr lang="zh-CN" altLang="en-US" sz="2800" b="1" dirty="0"/>
          </a:p>
        </p:txBody>
      </p:sp>
      <p:sp>
        <p:nvSpPr>
          <p:cNvPr id="12" name="矩形: 圆角 11"/>
          <p:cNvSpPr/>
          <p:nvPr/>
        </p:nvSpPr>
        <p:spPr>
          <a:xfrm>
            <a:off x="1573161" y="2409687"/>
            <a:ext cx="1229032" cy="3026272"/>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Hbase</a:t>
            </a:r>
            <a:endParaRPr lang="en-US" altLang="zh-CN" sz="2800" b="1" dirty="0"/>
          </a:p>
          <a:p>
            <a:pPr algn="ctr"/>
            <a:r>
              <a:rPr lang="en-US" altLang="zh-CN" sz="2800" b="1" dirty="0"/>
              <a:t>(</a:t>
            </a:r>
            <a:r>
              <a:rPr lang="zh-CN" altLang="en-US" sz="2800" b="1" dirty="0"/>
              <a:t>分布式数据库</a:t>
            </a:r>
            <a:r>
              <a:rPr lang="en-US" altLang="zh-CN" sz="2800" b="1" dirty="0"/>
              <a:t>)</a:t>
            </a:r>
            <a:endParaRPr lang="zh-CN" altLang="en-US" sz="2800" b="1" dirty="0"/>
          </a:p>
        </p:txBody>
      </p:sp>
      <p:sp>
        <p:nvSpPr>
          <p:cNvPr id="16" name="圆角矩形 4"/>
          <p:cNvSpPr/>
          <p:nvPr/>
        </p:nvSpPr>
        <p:spPr>
          <a:xfrm>
            <a:off x="1700981" y="1201468"/>
            <a:ext cx="1998722" cy="120189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NoSQL</a:t>
            </a:r>
            <a:r>
              <a:rPr lang="zh-CN" altLang="en-US" sz="2800" dirty="0"/>
              <a:t>数据库系统</a:t>
            </a:r>
            <a:r>
              <a:rPr lang="en-US" altLang="zh-CN" sz="2800" dirty="0" err="1"/>
              <a:t>BigTable</a:t>
            </a:r>
            <a:endParaRPr lang="zh-CN" altLang="en-US" sz="2800" b="1" dirty="0"/>
          </a:p>
        </p:txBody>
      </p:sp>
      <p:sp>
        <p:nvSpPr>
          <p:cNvPr id="18" name="圆角矩形 4"/>
          <p:cNvSpPr/>
          <p:nvPr/>
        </p:nvSpPr>
        <p:spPr>
          <a:xfrm>
            <a:off x="4686832" y="2543800"/>
            <a:ext cx="3385451" cy="857961"/>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大数据分布式计算框架</a:t>
            </a:r>
            <a:r>
              <a:rPr lang="en-US" altLang="zh-CN" sz="2800" dirty="0"/>
              <a:t>MapReduce</a:t>
            </a:r>
            <a:endParaRPr lang="zh-CN" altLang="en-US" sz="2800" b="1" dirty="0"/>
          </a:p>
        </p:txBody>
      </p:sp>
      <p:sp>
        <p:nvSpPr>
          <p:cNvPr id="19" name="圆角矩形 4"/>
          <p:cNvSpPr/>
          <p:nvPr/>
        </p:nvSpPr>
        <p:spPr>
          <a:xfrm>
            <a:off x="3699702" y="4984340"/>
            <a:ext cx="3477845"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b="1" dirty="0"/>
              <a:t>分布式文件系统</a:t>
            </a:r>
            <a:r>
              <a:rPr lang="en-US" altLang="zh-CN" sz="2800" b="1" dirty="0"/>
              <a:t>GFS</a:t>
            </a:r>
            <a:endParaRPr lang="zh-CN" altLang="en-US" sz="2800" b="1" dirty="0"/>
          </a:p>
        </p:txBody>
      </p:sp>
      <p:cxnSp>
        <p:nvCxnSpPr>
          <p:cNvPr id="20" name="直接箭头连接符 19"/>
          <p:cNvCxnSpPr>
            <a:endCxn id="16" idx="3"/>
          </p:cNvCxnSpPr>
          <p:nvPr/>
        </p:nvCxnSpPr>
        <p:spPr>
          <a:xfrm flipH="1">
            <a:off x="3699703" y="1132173"/>
            <a:ext cx="1953845" cy="67024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64" idx="2"/>
            <a:endCxn id="18" idx="0"/>
          </p:cNvCxnSpPr>
          <p:nvPr/>
        </p:nvCxnSpPr>
        <p:spPr>
          <a:xfrm>
            <a:off x="6096000" y="1256350"/>
            <a:ext cx="283558" cy="12874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64" idx="2"/>
            <a:endCxn id="19" idx="0"/>
          </p:cNvCxnSpPr>
          <p:nvPr/>
        </p:nvCxnSpPr>
        <p:spPr>
          <a:xfrm flipH="1">
            <a:off x="5438625" y="1256350"/>
            <a:ext cx="657375" cy="37279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9" name="矩形: 圆角 48"/>
          <p:cNvSpPr/>
          <p:nvPr/>
        </p:nvSpPr>
        <p:spPr>
          <a:xfrm>
            <a:off x="235974" y="2409687"/>
            <a:ext cx="1229032" cy="4057378"/>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ZooKeeper</a:t>
            </a:r>
            <a:endParaRPr lang="en-US" altLang="zh-CN" sz="2800" b="1" dirty="0"/>
          </a:p>
          <a:p>
            <a:pPr algn="ctr"/>
            <a:r>
              <a:rPr lang="en-US" altLang="zh-CN" sz="2800" b="1" dirty="0"/>
              <a:t>(</a:t>
            </a:r>
            <a:r>
              <a:rPr lang="zh-CN" altLang="en-US" sz="2800" b="1" dirty="0"/>
              <a:t>分布式协作服务</a:t>
            </a:r>
            <a:r>
              <a:rPr lang="en-US" altLang="zh-CN" sz="2800" b="1" dirty="0"/>
              <a:t>)</a:t>
            </a:r>
            <a:endParaRPr lang="zh-CN" altLang="en-US" sz="2800" b="1" dirty="0"/>
          </a:p>
        </p:txBody>
      </p:sp>
      <p:sp>
        <p:nvSpPr>
          <p:cNvPr id="59" name="圆角矩形 4"/>
          <p:cNvSpPr/>
          <p:nvPr/>
        </p:nvSpPr>
        <p:spPr>
          <a:xfrm>
            <a:off x="126714" y="1802416"/>
            <a:ext cx="1446447" cy="567512"/>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Chubby</a:t>
            </a:r>
            <a:endParaRPr lang="zh-CN" altLang="en-US" sz="2800" b="1" dirty="0"/>
          </a:p>
        </p:txBody>
      </p:sp>
      <p:cxnSp>
        <p:nvCxnSpPr>
          <p:cNvPr id="60" name="直接箭头连接符 59"/>
          <p:cNvCxnSpPr>
            <a:stCxn id="64" idx="1"/>
            <a:endCxn id="59" idx="3"/>
          </p:cNvCxnSpPr>
          <p:nvPr/>
        </p:nvCxnSpPr>
        <p:spPr>
          <a:xfrm flipH="1">
            <a:off x="1573161" y="664950"/>
            <a:ext cx="3908322" cy="14212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64" name="图片 63"/>
          <p:cNvPicPr>
            <a:picLocks noChangeAspect="1"/>
          </p:cNvPicPr>
          <p:nvPr/>
        </p:nvPicPr>
        <p:blipFill>
          <a:blip r:embed="rId1"/>
          <a:stretch>
            <a:fillRect/>
          </a:stretch>
        </p:blipFill>
        <p:spPr>
          <a:xfrm>
            <a:off x="5481483" y="73549"/>
            <a:ext cx="1229034" cy="11828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up)">
                                      <p:cBhvr>
                                        <p:cTn id="15" dur="500"/>
                                        <p:tgtEl>
                                          <p:spTgt spid="6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up)">
                                      <p:cBhvr>
                                        <p:cTn id="20" dur="500"/>
                                        <p:tgtEl>
                                          <p:spTgt spid="22"/>
                                        </p:tgtEl>
                                      </p:cBhvr>
                                    </p:animEffect>
                                  </p:childTnLst>
                                </p:cTn>
                              </p:par>
                            </p:childTnLst>
                          </p:cTn>
                        </p:par>
                        <p:par>
                          <p:cTn id="21" fill="hold">
                            <p:stCondLst>
                              <p:cond delay="500"/>
                            </p:stCondLst>
                            <p:childTnLst>
                              <p:par>
                                <p:cTn id="22" presetID="22" presetClass="entr" presetSubtype="1" fill="hold" grpId="1"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up)">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wipe(up)">
                                      <p:cBhvr>
                                        <p:cTn id="29" dur="500"/>
                                        <p:tgtEl>
                                          <p:spTgt spid="21"/>
                                        </p:tgtEl>
                                      </p:cBhvr>
                                    </p:animEffect>
                                  </p:childTnLst>
                                </p:cTn>
                              </p:par>
                            </p:childTnLst>
                          </p:cTn>
                        </p:par>
                        <p:par>
                          <p:cTn id="30" fill="hold">
                            <p:stCondLst>
                              <p:cond delay="500"/>
                            </p:stCondLst>
                            <p:childTnLst>
                              <p:par>
                                <p:cTn id="31" presetID="22" presetClass="entr" presetSubtype="1" fill="hold" grpId="1"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up)">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ipe(up)">
                                      <p:cBhvr>
                                        <p:cTn id="38" dur="500"/>
                                        <p:tgtEl>
                                          <p:spTgt spid="20"/>
                                        </p:tgtEl>
                                      </p:cBhvr>
                                    </p:animEffect>
                                  </p:childTnLst>
                                </p:cTn>
                              </p:par>
                            </p:childTnLst>
                          </p:cTn>
                        </p:par>
                        <p:par>
                          <p:cTn id="39" fill="hold">
                            <p:stCondLst>
                              <p:cond delay="500"/>
                            </p:stCondLst>
                            <p:childTnLst>
                              <p:par>
                                <p:cTn id="40" presetID="22" presetClass="entr" presetSubtype="2" fill="hold" grpId="1"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wipe(right)">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60"/>
                                        </p:tgtEl>
                                        <p:attrNameLst>
                                          <p:attrName>style.visibility</p:attrName>
                                        </p:attrNameLst>
                                      </p:cBhvr>
                                      <p:to>
                                        <p:strVal val="visible"/>
                                      </p:to>
                                    </p:set>
                                    <p:animEffect transition="in" filter="wipe(up)">
                                      <p:cBhvr>
                                        <p:cTn id="52" dur="500"/>
                                        <p:tgtEl>
                                          <p:spTgt spid="60"/>
                                        </p:tgtEl>
                                      </p:cBhvr>
                                    </p:animEffect>
                                  </p:childTnLst>
                                </p:cTn>
                              </p:par>
                            </p:childTnLst>
                          </p:cTn>
                        </p:par>
                        <p:par>
                          <p:cTn id="53" fill="hold">
                            <p:stCondLst>
                              <p:cond delay="500"/>
                            </p:stCondLst>
                            <p:childTnLst>
                              <p:par>
                                <p:cTn id="54" presetID="22" presetClass="entr" presetSubtype="2" fill="hold" grpId="1" nodeType="after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wipe(right)">
                                      <p:cBhvr>
                                        <p:cTn id="56" dur="500"/>
                                        <p:tgtEl>
                                          <p:spTgt spid="5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down)">
                                      <p:cBhvr>
                                        <p:cTn id="6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6" grpId="0" animBg="1"/>
      <p:bldP spid="16" grpId="1" animBg="1"/>
      <p:bldP spid="18" grpId="0" animBg="1"/>
      <p:bldP spid="18" grpId="1" animBg="1"/>
      <p:bldP spid="19" grpId="0" animBg="1"/>
      <p:bldP spid="19" grpId="1" animBg="1"/>
      <p:bldP spid="49" grpId="0" animBg="1"/>
      <p:bldP spid="59" grpId="0" animBg="1"/>
      <p:bldP spid="59"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2.2 </a:t>
            </a:r>
            <a:r>
              <a:rPr lang="zh-CN" altLang="en-US" sz="4800" b="1" dirty="0">
                <a:solidFill>
                  <a:srgbClr val="000000"/>
                </a:solidFill>
                <a:latin typeface="宋体" panose="02010600030101010101" pitchFamily="2" charset="-122"/>
                <a:ea typeface="宋体" panose="02010600030101010101" pitchFamily="2" charset="-122"/>
                <a:sym typeface="+mn-ea"/>
              </a:rPr>
              <a:t>生态系统</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矩形: 圆角 4"/>
          <p:cNvSpPr/>
          <p:nvPr/>
        </p:nvSpPr>
        <p:spPr>
          <a:xfrm>
            <a:off x="1504335" y="5574890"/>
            <a:ext cx="8652388"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HDFS(</a:t>
            </a:r>
            <a:r>
              <a:rPr lang="zh-CN" altLang="en-US" sz="2800" b="1" dirty="0"/>
              <a:t>分布式文件系统</a:t>
            </a:r>
            <a:r>
              <a:rPr lang="en-US" altLang="zh-CN" sz="2800" b="1" dirty="0"/>
              <a:t>)</a:t>
            </a:r>
            <a:endParaRPr lang="zh-CN" altLang="en-US" sz="2800" b="1" dirty="0"/>
          </a:p>
        </p:txBody>
      </p:sp>
      <p:sp>
        <p:nvSpPr>
          <p:cNvPr id="7" name="矩形: 圆角 6"/>
          <p:cNvSpPr/>
          <p:nvPr/>
        </p:nvSpPr>
        <p:spPr>
          <a:xfrm>
            <a:off x="2910348" y="3435196"/>
            <a:ext cx="7261124"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MapReduce(</a:t>
            </a:r>
            <a:r>
              <a:rPr lang="zh-CN" altLang="en-US" sz="2800" b="1" dirty="0"/>
              <a:t>分布式计算框架</a:t>
            </a:r>
            <a:r>
              <a:rPr lang="en-US" altLang="zh-CN" sz="2800" b="1" dirty="0"/>
              <a:t>)</a:t>
            </a:r>
            <a:endParaRPr lang="zh-CN" altLang="en-US" sz="2800" b="1" dirty="0"/>
          </a:p>
        </p:txBody>
      </p:sp>
      <p:sp>
        <p:nvSpPr>
          <p:cNvPr id="12" name="矩形: 圆角 11"/>
          <p:cNvSpPr/>
          <p:nvPr/>
        </p:nvSpPr>
        <p:spPr>
          <a:xfrm>
            <a:off x="1573161" y="2409687"/>
            <a:ext cx="1229032" cy="3026272"/>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Hbase</a:t>
            </a:r>
            <a:endParaRPr lang="en-US" altLang="zh-CN" sz="2800" b="1" dirty="0"/>
          </a:p>
          <a:p>
            <a:pPr algn="ctr"/>
            <a:r>
              <a:rPr lang="en-US" altLang="zh-CN" sz="2800" b="1" dirty="0"/>
              <a:t>(</a:t>
            </a:r>
            <a:r>
              <a:rPr lang="zh-CN" altLang="en-US" sz="2800" b="1" dirty="0"/>
              <a:t>分布式数据库</a:t>
            </a:r>
            <a:r>
              <a:rPr lang="en-US" altLang="zh-CN" sz="2800" b="1" dirty="0"/>
              <a:t>)</a:t>
            </a:r>
            <a:endParaRPr lang="zh-CN" altLang="en-US" sz="2800" b="1" dirty="0"/>
          </a:p>
        </p:txBody>
      </p:sp>
      <p:sp>
        <p:nvSpPr>
          <p:cNvPr id="3" name="矩形: 圆角 2"/>
          <p:cNvSpPr/>
          <p:nvPr/>
        </p:nvSpPr>
        <p:spPr>
          <a:xfrm>
            <a:off x="5388077" y="2422183"/>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Pig</a:t>
            </a:r>
            <a:endParaRPr lang="en-US" altLang="zh-CN" sz="2800" b="1" dirty="0"/>
          </a:p>
          <a:p>
            <a:pPr algn="ctr"/>
            <a:r>
              <a:rPr lang="en-US" altLang="zh-CN" sz="2800" b="1" dirty="0"/>
              <a:t>(</a:t>
            </a:r>
            <a:r>
              <a:rPr lang="zh-CN" altLang="en-US" sz="2800" b="1" dirty="0"/>
              <a:t>数据流处理</a:t>
            </a:r>
            <a:r>
              <a:rPr lang="en-US" altLang="zh-CN" sz="2800" b="1" dirty="0"/>
              <a:t>)</a:t>
            </a:r>
            <a:endParaRPr lang="zh-CN" altLang="en-US" sz="2800" b="1" dirty="0"/>
          </a:p>
        </p:txBody>
      </p:sp>
      <p:pic>
        <p:nvPicPr>
          <p:cNvPr id="6" name="图片 5"/>
          <p:cNvPicPr>
            <a:picLocks noChangeAspect="1"/>
          </p:cNvPicPr>
          <p:nvPr/>
        </p:nvPicPr>
        <p:blipFill>
          <a:blip r:embed="rId1"/>
          <a:stretch>
            <a:fillRect/>
          </a:stretch>
        </p:blipFill>
        <p:spPr>
          <a:xfrm>
            <a:off x="5744497" y="825567"/>
            <a:ext cx="1592826" cy="684931"/>
          </a:xfrm>
          <a:prstGeom prst="rect">
            <a:avLst/>
          </a:prstGeom>
        </p:spPr>
      </p:pic>
      <p:cxnSp>
        <p:nvCxnSpPr>
          <p:cNvPr id="8" name="直接箭头连接符 7"/>
          <p:cNvCxnSpPr>
            <a:stCxn id="6" idx="2"/>
            <a:endCxn id="3" idx="0"/>
          </p:cNvCxnSpPr>
          <p:nvPr/>
        </p:nvCxnSpPr>
        <p:spPr>
          <a:xfrm>
            <a:off x="6540910" y="1510498"/>
            <a:ext cx="0" cy="91168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744497" y="1467174"/>
            <a:ext cx="800219" cy="461665"/>
          </a:xfrm>
          <a:prstGeom prst="rect">
            <a:avLst/>
          </a:prstGeom>
          <a:noFill/>
        </p:spPr>
        <p:txBody>
          <a:bodyPr wrap="none" rtlCol="0">
            <a:spAutoFit/>
          </a:bodyPr>
          <a:lstStyle/>
          <a:p>
            <a:r>
              <a:rPr lang="zh-CN" altLang="en-US" sz="2400" dirty="0"/>
              <a:t>麻烦</a:t>
            </a:r>
            <a:endParaRPr lang="zh-CN" altLang="en-US" sz="2400" dirty="0"/>
          </a:p>
        </p:txBody>
      </p:sp>
      <p:sp>
        <p:nvSpPr>
          <p:cNvPr id="14" name="文本框 13"/>
          <p:cNvSpPr txBox="1"/>
          <p:nvPr/>
        </p:nvSpPr>
        <p:spPr>
          <a:xfrm>
            <a:off x="6539008" y="1777131"/>
            <a:ext cx="800219" cy="461665"/>
          </a:xfrm>
          <a:prstGeom prst="rect">
            <a:avLst/>
          </a:prstGeom>
          <a:noFill/>
        </p:spPr>
        <p:txBody>
          <a:bodyPr wrap="none" rtlCol="0">
            <a:spAutoFit/>
          </a:bodyPr>
          <a:lstStyle/>
          <a:p>
            <a:r>
              <a:rPr lang="zh-CN" altLang="en-US" sz="2400" dirty="0"/>
              <a:t>脚本</a:t>
            </a:r>
            <a:endParaRPr lang="zh-CN" altLang="en-US" sz="2400" dirty="0"/>
          </a:p>
        </p:txBody>
      </p:sp>
      <p:sp>
        <p:nvSpPr>
          <p:cNvPr id="15" name="矩形: 圆角 14"/>
          <p:cNvSpPr/>
          <p:nvPr/>
        </p:nvSpPr>
        <p:spPr>
          <a:xfrm>
            <a:off x="2895599" y="2409688"/>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Hive</a:t>
            </a:r>
            <a:endParaRPr lang="en-US" altLang="zh-CN" sz="2800" b="1" dirty="0"/>
          </a:p>
          <a:p>
            <a:pPr algn="ctr"/>
            <a:r>
              <a:rPr lang="en-US" altLang="zh-CN" sz="2800" b="1" dirty="0"/>
              <a:t>(</a:t>
            </a:r>
            <a:r>
              <a:rPr lang="zh-CN" altLang="en-US" sz="2800" b="1" dirty="0"/>
              <a:t>数据仓库</a:t>
            </a:r>
            <a:r>
              <a:rPr lang="en-US" altLang="zh-CN" sz="2800" b="1" dirty="0"/>
              <a:t>)</a:t>
            </a:r>
            <a:endParaRPr lang="zh-CN" altLang="en-US" sz="2800" b="1"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68200" y="750034"/>
            <a:ext cx="760464" cy="760464"/>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直接箭头连接符 16"/>
          <p:cNvCxnSpPr>
            <a:stCxn id="9218" idx="2"/>
            <a:endCxn id="15" idx="0"/>
          </p:cNvCxnSpPr>
          <p:nvPr/>
        </p:nvCxnSpPr>
        <p:spPr>
          <a:xfrm>
            <a:off x="4048432" y="1510498"/>
            <a:ext cx="0" cy="89919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895599" y="1698006"/>
            <a:ext cx="1229032" cy="460375"/>
          </a:xfrm>
          <a:prstGeom prst="rect">
            <a:avLst/>
          </a:prstGeom>
          <a:noFill/>
        </p:spPr>
        <p:txBody>
          <a:bodyPr wrap="square">
            <a:spAutoFit/>
          </a:bodyPr>
          <a:lstStyle/>
          <a:p>
            <a:r>
              <a:rPr lang="zh-CN" altLang="en-US" sz="2400" b="1" dirty="0"/>
              <a:t>低门槛</a:t>
            </a:r>
            <a:endParaRPr lang="zh-CN" altLang="en-US" sz="2400" dirty="0"/>
          </a:p>
        </p:txBody>
      </p:sp>
      <p:sp>
        <p:nvSpPr>
          <p:cNvPr id="27" name="矩形: 圆角 26"/>
          <p:cNvSpPr/>
          <p:nvPr/>
        </p:nvSpPr>
        <p:spPr>
          <a:xfrm>
            <a:off x="7865806" y="2416874"/>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Mahout</a:t>
            </a:r>
            <a:endParaRPr lang="en-US" altLang="zh-CN" sz="2800" b="1" dirty="0"/>
          </a:p>
          <a:p>
            <a:pPr algn="ctr"/>
            <a:r>
              <a:rPr lang="en-US" altLang="zh-CN" sz="2800" b="1" dirty="0"/>
              <a:t>(</a:t>
            </a:r>
            <a:r>
              <a:rPr lang="zh-CN" altLang="en-US" sz="2800" b="1" dirty="0"/>
              <a:t>数据挖掘库</a:t>
            </a:r>
            <a:r>
              <a:rPr lang="en-US" altLang="zh-CN" sz="2800" b="1" dirty="0"/>
              <a:t>)</a:t>
            </a:r>
            <a:endParaRPr lang="zh-CN" altLang="en-US" sz="2800" b="1" dirty="0"/>
          </a:p>
        </p:txBody>
      </p:sp>
      <p:pic>
        <p:nvPicPr>
          <p:cNvPr id="2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6420" y="940921"/>
            <a:ext cx="1313934" cy="1434065"/>
          </a:xfrm>
          <a:prstGeom prst="rect">
            <a:avLst/>
          </a:prstGeom>
          <a:noFill/>
          <a:extLst>
            <a:ext uri="{909E8E84-426E-40DD-AFC4-6F175D3DCCD1}">
              <a14:hiddenFill xmlns:a14="http://schemas.microsoft.com/office/drawing/2010/main">
                <a:solidFill>
                  <a:srgbClr val="FFFFFF"/>
                </a:solidFill>
              </a14:hiddenFill>
            </a:ext>
          </a:extLst>
        </p:spPr>
      </p:pic>
      <p:sp>
        <p:nvSpPr>
          <p:cNvPr id="29" name="矩形: 圆角 28"/>
          <p:cNvSpPr/>
          <p:nvPr/>
        </p:nvSpPr>
        <p:spPr>
          <a:xfrm>
            <a:off x="235974" y="2409687"/>
            <a:ext cx="1229032" cy="4057378"/>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ZooKeeper</a:t>
            </a:r>
            <a:endParaRPr lang="en-US" altLang="zh-CN" sz="2800" b="1" dirty="0"/>
          </a:p>
          <a:p>
            <a:pPr algn="ctr"/>
            <a:r>
              <a:rPr lang="en-US" altLang="zh-CN" sz="2800" b="1" dirty="0"/>
              <a:t>(</a:t>
            </a:r>
            <a:r>
              <a:rPr lang="zh-CN" altLang="en-US" sz="2800" b="1" dirty="0"/>
              <a:t>分布式协作服务</a:t>
            </a:r>
            <a:r>
              <a:rPr lang="en-US" altLang="zh-CN" sz="2800" b="1" dirty="0"/>
              <a:t>)</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arn(inVertical)">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218"/>
                                        </p:tgtEl>
                                        <p:attrNameLst>
                                          <p:attrName>style.visibility</p:attrName>
                                        </p:attrNameLst>
                                      </p:cBhvr>
                                      <p:to>
                                        <p:strVal val="visible"/>
                                      </p:to>
                                    </p:set>
                                  </p:childTnLst>
                                </p:cTn>
                              </p:par>
                            </p:childTnLst>
                          </p:cTn>
                        </p:par>
                        <p:par>
                          <p:cTn id="29" fill="hold">
                            <p:stCondLst>
                              <p:cond delay="0"/>
                            </p:stCondLst>
                            <p:childTnLst>
                              <p:par>
                                <p:cTn id="30" presetID="22" presetClass="entr" presetSubtype="1" fill="hold" nodeType="after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up)">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up)">
                                      <p:cBhvr>
                                        <p:cTn id="37" dur="500"/>
                                        <p:tgtEl>
                                          <p:spTgt spid="15"/>
                                        </p:tgtEl>
                                      </p:cBhvr>
                                    </p:animEffect>
                                  </p:childTnLst>
                                </p:cTn>
                              </p:par>
                            </p:childTnLst>
                          </p:cTn>
                        </p:par>
                        <p:par>
                          <p:cTn id="38" fill="hold">
                            <p:stCondLst>
                              <p:cond delay="500"/>
                            </p:stCondLst>
                            <p:childTnLst>
                              <p:par>
                                <p:cTn id="39" presetID="47"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1000"/>
                                        <p:tgtEl>
                                          <p:spTgt spid="26"/>
                                        </p:tgtEl>
                                      </p:cBhvr>
                                    </p:animEffect>
                                    <p:anim calcmode="lin" valueType="num">
                                      <p:cBhvr>
                                        <p:cTn id="42" dur="1000" fill="hold"/>
                                        <p:tgtEl>
                                          <p:spTgt spid="26"/>
                                        </p:tgtEl>
                                        <p:attrNameLst>
                                          <p:attrName>ppt_x</p:attrName>
                                        </p:attrNameLst>
                                      </p:cBhvr>
                                      <p:tavLst>
                                        <p:tav tm="0">
                                          <p:val>
                                            <p:strVal val="#ppt_x"/>
                                          </p:val>
                                        </p:tav>
                                        <p:tav tm="100000">
                                          <p:val>
                                            <p:strVal val="#ppt_x"/>
                                          </p:val>
                                        </p:tav>
                                      </p:tavLst>
                                    </p:anim>
                                    <p:anim calcmode="lin" valueType="num">
                                      <p:cBhvr>
                                        <p:cTn id="4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wipe(up)">
                                      <p:cBhvr>
                                        <p:cTn id="48" dur="500"/>
                                        <p:tgtEl>
                                          <p:spTgt spid="28"/>
                                        </p:tgtEl>
                                      </p:cBhvr>
                                    </p:animEffect>
                                  </p:childTnLst>
                                </p:cTn>
                              </p:par>
                            </p:childTnLst>
                          </p:cTn>
                        </p:par>
                        <p:par>
                          <p:cTn id="49" fill="hold">
                            <p:stCondLst>
                              <p:cond delay="500"/>
                            </p:stCondLst>
                            <p:childTnLst>
                              <p:par>
                                <p:cTn id="50" presetID="22" presetClass="entr" presetSubtype="1" fill="hold" grpId="0" nodeType="after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up)">
                                      <p:cBhvr>
                                        <p:cTn id="5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p:bldP spid="14" grpId="0"/>
      <p:bldP spid="15" grpId="0" animBg="1"/>
      <p:bldP spid="26" grpId="0"/>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2.2 </a:t>
            </a:r>
            <a:r>
              <a:rPr lang="zh-CN" altLang="en-US" sz="4800" b="1" dirty="0">
                <a:solidFill>
                  <a:srgbClr val="000000"/>
                </a:solidFill>
                <a:latin typeface="宋体" panose="02010600030101010101" pitchFamily="2" charset="-122"/>
                <a:ea typeface="宋体" panose="02010600030101010101" pitchFamily="2" charset="-122"/>
                <a:sym typeface="+mn-ea"/>
              </a:rPr>
              <a:t>生态系统</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矩形: 圆角 4"/>
          <p:cNvSpPr/>
          <p:nvPr/>
        </p:nvSpPr>
        <p:spPr>
          <a:xfrm>
            <a:off x="1504335" y="5574890"/>
            <a:ext cx="8652388"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HDFS(</a:t>
            </a:r>
            <a:r>
              <a:rPr lang="zh-CN" altLang="en-US" sz="2800" b="1" dirty="0"/>
              <a:t>分布式文件系统</a:t>
            </a:r>
            <a:r>
              <a:rPr lang="en-US" altLang="zh-CN" sz="2800" b="1" dirty="0"/>
              <a:t>)</a:t>
            </a:r>
            <a:endParaRPr lang="zh-CN" altLang="en-US" sz="2800" b="1" dirty="0"/>
          </a:p>
        </p:txBody>
      </p:sp>
      <p:sp>
        <p:nvSpPr>
          <p:cNvPr id="7" name="矩形: 圆角 6"/>
          <p:cNvSpPr/>
          <p:nvPr/>
        </p:nvSpPr>
        <p:spPr>
          <a:xfrm>
            <a:off x="2910348" y="3435196"/>
            <a:ext cx="7261124"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MapReduce(</a:t>
            </a:r>
            <a:r>
              <a:rPr lang="zh-CN" altLang="en-US" sz="2800" b="1" dirty="0"/>
              <a:t>分布式计算框架</a:t>
            </a:r>
            <a:r>
              <a:rPr lang="en-US" altLang="zh-CN" sz="2800" b="1" dirty="0"/>
              <a:t>)</a:t>
            </a:r>
            <a:endParaRPr lang="zh-CN" altLang="en-US" sz="2800" b="1" dirty="0"/>
          </a:p>
        </p:txBody>
      </p:sp>
      <p:sp>
        <p:nvSpPr>
          <p:cNvPr id="12" name="矩形: 圆角 11"/>
          <p:cNvSpPr/>
          <p:nvPr/>
        </p:nvSpPr>
        <p:spPr>
          <a:xfrm>
            <a:off x="1573161" y="2409687"/>
            <a:ext cx="1229032" cy="3026272"/>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Hbase</a:t>
            </a:r>
            <a:endParaRPr lang="en-US" altLang="zh-CN" sz="2800" b="1" dirty="0"/>
          </a:p>
          <a:p>
            <a:pPr algn="ctr"/>
            <a:r>
              <a:rPr lang="en-US" altLang="zh-CN" sz="2800" b="1" dirty="0"/>
              <a:t>(</a:t>
            </a:r>
            <a:r>
              <a:rPr lang="zh-CN" altLang="en-US" sz="2800" b="1" dirty="0"/>
              <a:t>分布式数据库</a:t>
            </a:r>
            <a:r>
              <a:rPr lang="en-US" altLang="zh-CN" sz="2800" b="1" dirty="0"/>
              <a:t>)</a:t>
            </a:r>
            <a:endParaRPr lang="zh-CN" altLang="en-US" sz="2800" b="1" dirty="0"/>
          </a:p>
        </p:txBody>
      </p:sp>
      <p:sp>
        <p:nvSpPr>
          <p:cNvPr id="3" name="矩形: 圆角 2"/>
          <p:cNvSpPr/>
          <p:nvPr/>
        </p:nvSpPr>
        <p:spPr>
          <a:xfrm>
            <a:off x="5388077" y="2422183"/>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Pig</a:t>
            </a:r>
            <a:endParaRPr lang="en-US" altLang="zh-CN" sz="2800" b="1" dirty="0"/>
          </a:p>
          <a:p>
            <a:pPr algn="ctr"/>
            <a:r>
              <a:rPr lang="en-US" altLang="zh-CN" sz="2800" b="1" dirty="0"/>
              <a:t>(</a:t>
            </a:r>
            <a:r>
              <a:rPr lang="zh-CN" altLang="en-US" sz="2800" b="1" dirty="0"/>
              <a:t>数据流处理</a:t>
            </a:r>
            <a:r>
              <a:rPr lang="en-US" altLang="zh-CN" sz="2800" b="1" dirty="0"/>
              <a:t>)</a:t>
            </a:r>
            <a:endParaRPr lang="zh-CN" altLang="en-US" sz="2800" b="1" dirty="0"/>
          </a:p>
        </p:txBody>
      </p:sp>
      <p:sp>
        <p:nvSpPr>
          <p:cNvPr id="15" name="矩形: 圆角 14"/>
          <p:cNvSpPr/>
          <p:nvPr/>
        </p:nvSpPr>
        <p:spPr>
          <a:xfrm>
            <a:off x="2895599" y="2409688"/>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Hive</a:t>
            </a:r>
            <a:endParaRPr lang="en-US" altLang="zh-CN" sz="2800" b="1" dirty="0"/>
          </a:p>
          <a:p>
            <a:pPr algn="ctr"/>
            <a:r>
              <a:rPr lang="en-US" altLang="zh-CN" sz="2800" b="1" dirty="0"/>
              <a:t>(</a:t>
            </a:r>
            <a:r>
              <a:rPr lang="zh-CN" altLang="en-US" sz="2800" b="1" dirty="0"/>
              <a:t>数据仓库</a:t>
            </a:r>
            <a:r>
              <a:rPr lang="en-US" altLang="zh-CN" sz="2800" b="1" dirty="0"/>
              <a:t>)</a:t>
            </a:r>
            <a:endParaRPr lang="zh-CN" altLang="en-US" sz="2800" b="1" dirty="0"/>
          </a:p>
        </p:txBody>
      </p:sp>
      <p:sp>
        <p:nvSpPr>
          <p:cNvPr id="27" name="矩形: 圆角 26"/>
          <p:cNvSpPr/>
          <p:nvPr/>
        </p:nvSpPr>
        <p:spPr>
          <a:xfrm>
            <a:off x="7865806" y="2416874"/>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Mahout</a:t>
            </a:r>
            <a:endParaRPr lang="en-US" altLang="zh-CN" sz="2800" b="1" dirty="0"/>
          </a:p>
          <a:p>
            <a:pPr algn="ctr"/>
            <a:r>
              <a:rPr lang="en-US" altLang="zh-CN" sz="2800" b="1" dirty="0"/>
              <a:t>(</a:t>
            </a:r>
            <a:r>
              <a:rPr lang="zh-CN" altLang="en-US" sz="2800" b="1" dirty="0"/>
              <a:t>数据挖掘库</a:t>
            </a:r>
            <a:r>
              <a:rPr lang="en-US" altLang="zh-CN" sz="2800" b="1" dirty="0"/>
              <a:t>)</a:t>
            </a:r>
            <a:endParaRPr lang="zh-CN" altLang="en-US" sz="2800" b="1" dirty="0"/>
          </a:p>
        </p:txBody>
      </p:sp>
      <p:sp>
        <p:nvSpPr>
          <p:cNvPr id="29" name="矩形: 圆角 28"/>
          <p:cNvSpPr/>
          <p:nvPr/>
        </p:nvSpPr>
        <p:spPr>
          <a:xfrm>
            <a:off x="235974" y="2409687"/>
            <a:ext cx="1229032" cy="4057378"/>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ZooKeeper</a:t>
            </a:r>
            <a:endParaRPr lang="en-US" altLang="zh-CN" sz="2800" b="1" dirty="0"/>
          </a:p>
          <a:p>
            <a:pPr algn="ctr"/>
            <a:r>
              <a:rPr lang="en-US" altLang="zh-CN" sz="2800" b="1" dirty="0"/>
              <a:t>(</a:t>
            </a:r>
            <a:r>
              <a:rPr lang="zh-CN" altLang="en-US" sz="2800" b="1" dirty="0"/>
              <a:t>分布式协作服务</a:t>
            </a:r>
            <a:r>
              <a:rPr lang="en-US" altLang="zh-CN" sz="2800" b="1" dirty="0"/>
              <a:t>)</a:t>
            </a:r>
            <a:endParaRPr lang="zh-CN" altLang="en-US" sz="2800" b="1" dirty="0"/>
          </a:p>
        </p:txBody>
      </p:sp>
      <p:sp>
        <p:nvSpPr>
          <p:cNvPr id="9" name="矩形: 圆角 8"/>
          <p:cNvSpPr/>
          <p:nvPr/>
        </p:nvSpPr>
        <p:spPr>
          <a:xfrm>
            <a:off x="10358284" y="2423795"/>
            <a:ext cx="1229032" cy="1903576"/>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a:t>Flume</a:t>
            </a:r>
            <a:endParaRPr lang="en-US" altLang="zh-CN" sz="2800" b="1" dirty="0"/>
          </a:p>
          <a:p>
            <a:pPr algn="ctr"/>
            <a:r>
              <a:rPr lang="en-US" altLang="zh-CN" sz="2800" b="1" dirty="0"/>
              <a:t>(</a:t>
            </a:r>
            <a:r>
              <a:rPr lang="zh-CN" altLang="en-US" sz="2800" b="1" dirty="0"/>
              <a:t>日志收集</a:t>
            </a:r>
            <a:r>
              <a:rPr lang="en-US" altLang="zh-CN" sz="2800" b="1" dirty="0"/>
              <a:t>)</a:t>
            </a:r>
            <a:endParaRPr lang="zh-CN" altLang="en-US" sz="2800" b="1" dirty="0"/>
          </a:p>
        </p:txBody>
      </p:sp>
      <p:sp>
        <p:nvSpPr>
          <p:cNvPr id="10" name="矩形: 圆角 9"/>
          <p:cNvSpPr/>
          <p:nvPr/>
        </p:nvSpPr>
        <p:spPr>
          <a:xfrm>
            <a:off x="10358284" y="4493342"/>
            <a:ext cx="1229032" cy="1984796"/>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a:t>Sqoop</a:t>
            </a:r>
            <a:endParaRPr lang="en-US" altLang="zh-CN" sz="2800" b="1" dirty="0"/>
          </a:p>
          <a:p>
            <a:pPr algn="ctr"/>
            <a:r>
              <a:rPr lang="en-US" altLang="zh-CN" sz="2800" b="1" dirty="0"/>
              <a:t>(</a:t>
            </a:r>
            <a:r>
              <a:rPr lang="zh-CN" altLang="en-US" sz="2800" b="1" dirty="0"/>
              <a:t>数据库</a:t>
            </a:r>
            <a:r>
              <a:rPr lang="en-US" altLang="zh-CN" sz="2800" b="1" dirty="0"/>
              <a:t>ETL)</a:t>
            </a:r>
            <a:endParaRPr lang="zh-CN" altLang="en-US" sz="2800" b="1" dirty="0"/>
          </a:p>
        </p:txBody>
      </p:sp>
      <p:pic>
        <p:nvPicPr>
          <p:cNvPr id="1229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0251358" y="1949493"/>
            <a:ext cx="1442884" cy="310746"/>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圆角 10"/>
          <p:cNvSpPr/>
          <p:nvPr/>
        </p:nvSpPr>
        <p:spPr>
          <a:xfrm>
            <a:off x="5388077" y="4639990"/>
            <a:ext cx="2192595" cy="701870"/>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800" b="1" dirty="0"/>
              <a:t>关系数据库</a:t>
            </a:r>
            <a:endParaRPr lang="zh-CN" altLang="en-US" sz="2800" b="1" dirty="0"/>
          </a:p>
        </p:txBody>
      </p:sp>
      <p:sp>
        <p:nvSpPr>
          <p:cNvPr id="16" name="箭头: 左右 15"/>
          <p:cNvSpPr/>
          <p:nvPr/>
        </p:nvSpPr>
        <p:spPr>
          <a:xfrm>
            <a:off x="7520305" y="4448810"/>
            <a:ext cx="2736850" cy="989965"/>
          </a:xfrm>
          <a:prstGeom prst="leftRightArrow">
            <a:avLst>
              <a:gd name="adj1" fmla="val 56253"/>
              <a:gd name="adj2" fmla="val 4478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JDBC</a:t>
            </a:r>
            <a:endParaRPr lang="en-US" altLang="zh-CN" sz="3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wipe(up)">
                                      <p:cBhvr>
                                        <p:cTn id="7" dur="500"/>
                                        <p:tgtEl>
                                          <p:spTgt spid="12290"/>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down)">
                                      <p:cBhvr>
                                        <p:cTn id="21" dur="500"/>
                                        <p:tgtEl>
                                          <p:spTgt spid="11"/>
                                        </p:tgtEl>
                                      </p:cBhvr>
                                    </p:animEffect>
                                  </p:childTnLst>
                                </p:cTn>
                              </p:par>
                            </p:childTnLst>
                          </p:cTn>
                        </p:par>
                        <p:par>
                          <p:cTn id="22" fill="hold">
                            <p:stCondLst>
                              <p:cond delay="500"/>
                            </p:stCondLst>
                            <p:childTnLst>
                              <p:par>
                                <p:cTn id="23" presetID="16" presetClass="entr" presetSubtype="21"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arn(inVertical)">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4800" b="1" dirty="0">
                <a:solidFill>
                  <a:srgbClr val="000000"/>
                </a:solidFill>
                <a:latin typeface="宋体" panose="02010600030101010101" pitchFamily="2" charset="-122"/>
                <a:ea typeface="宋体" panose="02010600030101010101" pitchFamily="2" charset="-122"/>
                <a:sym typeface="+mn-ea"/>
              </a:rPr>
              <a:t>2.2 </a:t>
            </a:r>
            <a:r>
              <a:rPr lang="zh-CN" altLang="en-US" sz="4800" b="1" dirty="0">
                <a:solidFill>
                  <a:srgbClr val="000000"/>
                </a:solidFill>
                <a:latin typeface="宋体" panose="02010600030101010101" pitchFamily="2" charset="-122"/>
                <a:ea typeface="宋体" panose="02010600030101010101" pitchFamily="2" charset="-122"/>
                <a:sym typeface="+mn-ea"/>
              </a:rPr>
              <a:t>生态系统</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5" name="矩形: 圆角 4"/>
          <p:cNvSpPr/>
          <p:nvPr/>
        </p:nvSpPr>
        <p:spPr>
          <a:xfrm>
            <a:off x="1504335" y="5574890"/>
            <a:ext cx="8652388"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HDFS(</a:t>
            </a:r>
            <a:r>
              <a:rPr lang="zh-CN" altLang="en-US" sz="2800" b="1" dirty="0"/>
              <a:t>分布式文件系统</a:t>
            </a:r>
            <a:r>
              <a:rPr lang="en-US" altLang="zh-CN" sz="2800" b="1" dirty="0"/>
              <a:t>)</a:t>
            </a:r>
            <a:endParaRPr lang="zh-CN" altLang="en-US" sz="2800" b="1" dirty="0"/>
          </a:p>
        </p:txBody>
      </p:sp>
      <p:sp>
        <p:nvSpPr>
          <p:cNvPr id="7" name="矩形: 圆角 6"/>
          <p:cNvSpPr/>
          <p:nvPr/>
        </p:nvSpPr>
        <p:spPr>
          <a:xfrm>
            <a:off x="2910348" y="3435196"/>
            <a:ext cx="7261124"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MapReduce(</a:t>
            </a:r>
            <a:r>
              <a:rPr lang="zh-CN" altLang="en-US" sz="2800" b="1" dirty="0"/>
              <a:t>分布式计算框架</a:t>
            </a:r>
            <a:r>
              <a:rPr lang="en-US" altLang="zh-CN" sz="2800" b="1" dirty="0"/>
              <a:t>)</a:t>
            </a:r>
            <a:endParaRPr lang="zh-CN" altLang="en-US" sz="2800" b="1" dirty="0"/>
          </a:p>
        </p:txBody>
      </p:sp>
      <p:sp>
        <p:nvSpPr>
          <p:cNvPr id="12" name="矩形: 圆角 11"/>
          <p:cNvSpPr/>
          <p:nvPr/>
        </p:nvSpPr>
        <p:spPr>
          <a:xfrm>
            <a:off x="1573161" y="2409687"/>
            <a:ext cx="1229032" cy="3026272"/>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Hbase</a:t>
            </a:r>
            <a:endParaRPr lang="en-US" altLang="zh-CN" sz="2800" b="1" dirty="0"/>
          </a:p>
          <a:p>
            <a:pPr algn="ctr"/>
            <a:r>
              <a:rPr lang="en-US" altLang="zh-CN" sz="2800" b="1" dirty="0"/>
              <a:t>(</a:t>
            </a:r>
            <a:r>
              <a:rPr lang="zh-CN" altLang="en-US" sz="2800" b="1" dirty="0"/>
              <a:t>分布式数据库</a:t>
            </a:r>
            <a:r>
              <a:rPr lang="en-US" altLang="zh-CN" sz="2800" b="1" dirty="0"/>
              <a:t>)</a:t>
            </a:r>
            <a:endParaRPr lang="zh-CN" altLang="en-US" sz="2800" b="1" dirty="0"/>
          </a:p>
        </p:txBody>
      </p:sp>
      <p:sp>
        <p:nvSpPr>
          <p:cNvPr id="3" name="矩形: 圆角 2"/>
          <p:cNvSpPr/>
          <p:nvPr/>
        </p:nvSpPr>
        <p:spPr>
          <a:xfrm>
            <a:off x="5388077" y="2422183"/>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Pig</a:t>
            </a:r>
            <a:endParaRPr lang="en-US" altLang="zh-CN" sz="2800" b="1" dirty="0"/>
          </a:p>
          <a:p>
            <a:pPr algn="ctr"/>
            <a:r>
              <a:rPr lang="en-US" altLang="zh-CN" sz="2800" b="1" dirty="0"/>
              <a:t>(</a:t>
            </a:r>
            <a:r>
              <a:rPr lang="zh-CN" altLang="en-US" sz="2800" b="1" dirty="0"/>
              <a:t>数据流处理</a:t>
            </a:r>
            <a:r>
              <a:rPr lang="en-US" altLang="zh-CN" sz="2800" b="1" dirty="0"/>
              <a:t>)</a:t>
            </a:r>
            <a:endParaRPr lang="zh-CN" altLang="en-US" sz="2800" b="1" dirty="0"/>
          </a:p>
        </p:txBody>
      </p:sp>
      <p:sp>
        <p:nvSpPr>
          <p:cNvPr id="15" name="矩形: 圆角 14"/>
          <p:cNvSpPr/>
          <p:nvPr/>
        </p:nvSpPr>
        <p:spPr>
          <a:xfrm>
            <a:off x="2895599" y="2409688"/>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Hive</a:t>
            </a:r>
            <a:endParaRPr lang="en-US" altLang="zh-CN" sz="2800" b="1" dirty="0"/>
          </a:p>
          <a:p>
            <a:pPr algn="ctr"/>
            <a:r>
              <a:rPr lang="en-US" altLang="zh-CN" sz="2800" b="1" dirty="0"/>
              <a:t>(</a:t>
            </a:r>
            <a:r>
              <a:rPr lang="zh-CN" altLang="en-US" sz="2800" b="1" dirty="0"/>
              <a:t>数据仓库</a:t>
            </a:r>
            <a:r>
              <a:rPr lang="en-US" altLang="zh-CN" sz="2800" b="1" dirty="0"/>
              <a:t>)</a:t>
            </a:r>
            <a:endParaRPr lang="zh-CN" altLang="en-US" sz="2800" b="1" dirty="0"/>
          </a:p>
        </p:txBody>
      </p:sp>
      <p:sp>
        <p:nvSpPr>
          <p:cNvPr id="27" name="矩形: 圆角 26"/>
          <p:cNvSpPr/>
          <p:nvPr/>
        </p:nvSpPr>
        <p:spPr>
          <a:xfrm>
            <a:off x="7865806" y="2416874"/>
            <a:ext cx="2305666"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Mahout</a:t>
            </a:r>
            <a:endParaRPr lang="en-US" altLang="zh-CN" sz="2800" b="1" dirty="0"/>
          </a:p>
          <a:p>
            <a:pPr algn="ctr"/>
            <a:r>
              <a:rPr lang="en-US" altLang="zh-CN" sz="2800" b="1" dirty="0"/>
              <a:t>(</a:t>
            </a:r>
            <a:r>
              <a:rPr lang="zh-CN" altLang="en-US" sz="2800" b="1" dirty="0"/>
              <a:t>数据挖掘库</a:t>
            </a:r>
            <a:r>
              <a:rPr lang="en-US" altLang="zh-CN" sz="2800" b="1" dirty="0"/>
              <a:t>)</a:t>
            </a:r>
            <a:endParaRPr lang="zh-CN" altLang="en-US" sz="2800" b="1" dirty="0"/>
          </a:p>
        </p:txBody>
      </p:sp>
      <p:sp>
        <p:nvSpPr>
          <p:cNvPr id="29" name="矩形: 圆角 28"/>
          <p:cNvSpPr/>
          <p:nvPr/>
        </p:nvSpPr>
        <p:spPr>
          <a:xfrm>
            <a:off x="235974" y="2409687"/>
            <a:ext cx="1229032" cy="4057378"/>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err="1"/>
              <a:t>ZooKeeper</a:t>
            </a:r>
            <a:endParaRPr lang="en-US" altLang="zh-CN" sz="2800" b="1" dirty="0"/>
          </a:p>
          <a:p>
            <a:pPr algn="ctr"/>
            <a:r>
              <a:rPr lang="en-US" altLang="zh-CN" sz="2800" b="1" dirty="0"/>
              <a:t>(</a:t>
            </a:r>
            <a:r>
              <a:rPr lang="zh-CN" altLang="en-US" sz="2800" b="1" dirty="0"/>
              <a:t>分布式协作服务</a:t>
            </a:r>
            <a:r>
              <a:rPr lang="en-US" altLang="zh-CN" sz="2800" b="1" dirty="0"/>
              <a:t>)</a:t>
            </a:r>
            <a:endParaRPr lang="zh-CN" altLang="en-US" sz="2800" b="1" dirty="0"/>
          </a:p>
        </p:txBody>
      </p:sp>
      <p:sp>
        <p:nvSpPr>
          <p:cNvPr id="9" name="矩形: 圆角 8"/>
          <p:cNvSpPr/>
          <p:nvPr/>
        </p:nvSpPr>
        <p:spPr>
          <a:xfrm>
            <a:off x="10358284" y="2423795"/>
            <a:ext cx="1229032" cy="1903576"/>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a:t>Flume</a:t>
            </a:r>
            <a:endParaRPr lang="en-US" altLang="zh-CN" sz="2800" b="1" dirty="0"/>
          </a:p>
          <a:p>
            <a:pPr algn="ctr"/>
            <a:r>
              <a:rPr lang="en-US" altLang="zh-CN" sz="2800" b="1" dirty="0"/>
              <a:t>(</a:t>
            </a:r>
            <a:r>
              <a:rPr lang="zh-CN" altLang="en-US" sz="2800" b="1" dirty="0"/>
              <a:t>日志收集</a:t>
            </a:r>
            <a:r>
              <a:rPr lang="en-US" altLang="zh-CN" sz="2800" b="1" dirty="0"/>
              <a:t>)</a:t>
            </a:r>
            <a:endParaRPr lang="zh-CN" altLang="en-US" sz="2800" b="1" dirty="0"/>
          </a:p>
        </p:txBody>
      </p:sp>
      <p:sp>
        <p:nvSpPr>
          <p:cNvPr id="10" name="矩形: 圆角 9"/>
          <p:cNvSpPr/>
          <p:nvPr/>
        </p:nvSpPr>
        <p:spPr>
          <a:xfrm>
            <a:off x="10358284" y="4493342"/>
            <a:ext cx="1229032" cy="1984796"/>
          </a:xfrm>
          <a:prstGeom prst="roundRect">
            <a:avLst/>
          </a:prstGeom>
        </p:spPr>
        <p:style>
          <a:lnRef idx="2">
            <a:schemeClr val="accent1"/>
          </a:lnRef>
          <a:fillRef idx="1">
            <a:schemeClr val="lt1"/>
          </a:fillRef>
          <a:effectRef idx="0">
            <a:schemeClr val="accent1"/>
          </a:effectRef>
          <a:fontRef idx="minor">
            <a:schemeClr val="dk1"/>
          </a:fontRef>
        </p:style>
        <p:txBody>
          <a:bodyPr vert="vert270" rtlCol="0" anchor="ctr"/>
          <a:lstStyle/>
          <a:p>
            <a:pPr algn="ctr"/>
            <a:r>
              <a:rPr lang="en-US" altLang="zh-CN" sz="2800" b="1" dirty="0"/>
              <a:t>Sqoop</a:t>
            </a:r>
            <a:endParaRPr lang="en-US" altLang="zh-CN" sz="2800" b="1" dirty="0"/>
          </a:p>
          <a:p>
            <a:pPr algn="ctr"/>
            <a:r>
              <a:rPr lang="en-US" altLang="zh-CN" sz="2800" b="1" dirty="0"/>
              <a:t>(</a:t>
            </a:r>
            <a:r>
              <a:rPr lang="zh-CN" altLang="en-US" sz="2800" b="1" dirty="0"/>
              <a:t>数据库</a:t>
            </a:r>
            <a:r>
              <a:rPr lang="en-US" altLang="zh-CN" sz="2800" b="1" dirty="0"/>
              <a:t>ETL)</a:t>
            </a:r>
            <a:endParaRPr lang="zh-CN" altLang="en-US" sz="2800" b="1" dirty="0"/>
          </a:p>
        </p:txBody>
      </p:sp>
      <p:sp>
        <p:nvSpPr>
          <p:cNvPr id="6" name="矩形: 圆角 5"/>
          <p:cNvSpPr/>
          <p:nvPr/>
        </p:nvSpPr>
        <p:spPr>
          <a:xfrm>
            <a:off x="235974" y="1182141"/>
            <a:ext cx="11307097"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Ambari(</a:t>
            </a:r>
            <a:r>
              <a:rPr lang="zh-CN" altLang="en-US" sz="2800" b="1" dirty="0"/>
              <a:t>安装、部署、配置和管理工具</a:t>
            </a:r>
            <a:r>
              <a:rPr lang="en-US" altLang="zh-CN" sz="2800" b="1" dirty="0"/>
              <a:t>)</a:t>
            </a:r>
            <a:endParaRPr lang="zh-CN" altLang="en-US" sz="2800" b="1" dirty="0"/>
          </a:p>
        </p:txBody>
      </p:sp>
      <p:sp>
        <p:nvSpPr>
          <p:cNvPr id="8" name="矩形: 圆角 7"/>
          <p:cNvSpPr/>
          <p:nvPr/>
        </p:nvSpPr>
        <p:spPr>
          <a:xfrm>
            <a:off x="2910348" y="4543784"/>
            <a:ext cx="7261124" cy="89217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sz="2800" b="1" dirty="0"/>
              <a:t>YARN(</a:t>
            </a:r>
            <a:r>
              <a:rPr lang="zh-CN" altLang="en-US" sz="2800" b="1" dirty="0"/>
              <a:t>资源调度管理框架</a:t>
            </a:r>
            <a:r>
              <a:rPr lang="en-US" altLang="zh-CN" sz="2800" b="1" dirty="0"/>
              <a:t>)</a:t>
            </a:r>
            <a:endParaRPr lang="en-US" altLang="zh-CN"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out)">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4" name="标题 1"/>
          <p:cNvSpPr txBox="1"/>
          <p:nvPr/>
        </p:nvSpPr>
        <p:spPr>
          <a:xfrm>
            <a:off x="395748" y="275858"/>
            <a:ext cx="10515600" cy="892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sz="4800" b="1" dirty="0">
                <a:solidFill>
                  <a:srgbClr val="000000"/>
                </a:solidFill>
                <a:latin typeface="宋体" panose="02010600030101010101" pitchFamily="2" charset="-122"/>
                <a:ea typeface="宋体" panose="02010600030101010101" pitchFamily="2" charset="-122"/>
                <a:sym typeface="+mn-ea"/>
              </a:rPr>
              <a:t>思政</a:t>
            </a:r>
            <a:endParaRPr lang="zh-CN" sz="4800" b="1" dirty="0">
              <a:solidFill>
                <a:srgbClr val="000000"/>
              </a:solidFill>
              <a:latin typeface="宋体" panose="02010600030101010101" pitchFamily="2" charset="-122"/>
              <a:ea typeface="宋体" panose="02010600030101010101" pitchFamily="2" charset="-122"/>
            </a:endParaRPr>
          </a:p>
        </p:txBody>
      </p:sp>
      <p:sp>
        <p:nvSpPr>
          <p:cNvPr id="8" name="文本框 7"/>
          <p:cNvSpPr txBox="1"/>
          <p:nvPr/>
        </p:nvSpPr>
        <p:spPr>
          <a:xfrm>
            <a:off x="395605" y="1351915"/>
            <a:ext cx="11491595" cy="5004435"/>
          </a:xfrm>
          <a:prstGeom prst="rect">
            <a:avLst/>
          </a:prstGeom>
          <a:noFill/>
        </p:spPr>
        <p:txBody>
          <a:bodyPr wrap="square">
            <a:noAutofit/>
          </a:bodyPr>
          <a:lstStyle/>
          <a:p>
            <a:pPr marL="342900" indent="-342900">
              <a:lnSpc>
                <a:spcPct val="150000"/>
              </a:lnSpc>
              <a:buFont typeface="Arial" panose="020B0604020202020204" pitchFamily="34" charset="0"/>
              <a:buChar char="•"/>
            </a:pPr>
            <a:r>
              <a:rPr lang="zh-CN" altLang="en-US" sz="2400" dirty="0"/>
              <a:t>我们回顾软件发展的历史会发现，差不多类似功能的软件，它们出现的时间都非常接近，比如</a:t>
            </a:r>
            <a:r>
              <a:rPr lang="en-US" altLang="zh-CN" sz="2400" dirty="0"/>
              <a:t>Linux</a:t>
            </a:r>
            <a:r>
              <a:rPr lang="zh-CN" altLang="en-US" sz="2400" dirty="0"/>
              <a:t>和</a:t>
            </a:r>
            <a:r>
              <a:rPr lang="en-US" altLang="zh-CN" sz="2400" dirty="0"/>
              <a:t>Windows</a:t>
            </a:r>
            <a:r>
              <a:rPr lang="zh-CN" altLang="en-US" sz="2400" dirty="0"/>
              <a:t>都是在</a:t>
            </a:r>
            <a:r>
              <a:rPr lang="en-US" altLang="zh-CN" sz="2400" dirty="0"/>
              <a:t>90</a:t>
            </a:r>
            <a:r>
              <a:rPr lang="zh-CN" altLang="en-US" sz="2400" dirty="0"/>
              <a:t>年代初出现，</a:t>
            </a:r>
            <a:r>
              <a:rPr lang="en-US" altLang="zh-CN" sz="2400" dirty="0"/>
              <a:t>Java</a:t>
            </a:r>
            <a:r>
              <a:rPr lang="zh-CN" altLang="en-US" sz="2400" dirty="0"/>
              <a:t>开发中的各类</a:t>
            </a:r>
            <a:r>
              <a:rPr lang="en-US" altLang="zh-CN" sz="2400" dirty="0"/>
              <a:t>MVC</a:t>
            </a:r>
            <a:r>
              <a:rPr lang="zh-CN" altLang="en-US" sz="2400" dirty="0"/>
              <a:t>框架也基本都是同期出现，</a:t>
            </a:r>
            <a:r>
              <a:rPr lang="en-US" altLang="zh-CN" sz="2400" dirty="0"/>
              <a:t>Android</a:t>
            </a:r>
            <a:r>
              <a:rPr lang="zh-CN" altLang="en-US" sz="2400" dirty="0"/>
              <a:t>和</a:t>
            </a:r>
            <a:r>
              <a:rPr lang="en-US" altLang="zh-CN" sz="2400" dirty="0"/>
              <a:t>iOS</a:t>
            </a:r>
            <a:r>
              <a:rPr lang="zh-CN" altLang="en-US" sz="2400" dirty="0"/>
              <a:t>也是前脚后脚问世。</a:t>
            </a:r>
            <a:r>
              <a:rPr lang="en-US" altLang="zh-CN" sz="2400" dirty="0"/>
              <a:t>2011</a:t>
            </a:r>
            <a:r>
              <a:rPr lang="zh-CN" altLang="en-US" sz="2400" dirty="0"/>
              <a:t>年前后，各种</a:t>
            </a:r>
            <a:r>
              <a:rPr lang="en-US" altLang="zh-CN" sz="2400" dirty="0"/>
              <a:t>NoSQL</a:t>
            </a:r>
            <a:r>
              <a:rPr lang="zh-CN" altLang="en-US" sz="2400" dirty="0"/>
              <a:t>数据库也是层出不群。</a:t>
            </a:r>
            <a:endParaRPr lang="zh-CN" altLang="en-US" sz="2400" dirty="0"/>
          </a:p>
          <a:p>
            <a:pPr marL="342900" indent="-342900">
              <a:lnSpc>
                <a:spcPct val="150000"/>
              </a:lnSpc>
              <a:buFont typeface="Arial" panose="020B0604020202020204" pitchFamily="34" charset="0"/>
              <a:buChar char="•"/>
            </a:pPr>
            <a:endParaRPr lang="zh-CN" altLang="en-US" sz="2400" dirty="0"/>
          </a:p>
          <a:p>
            <a:pPr marL="342900" indent="-342900">
              <a:lnSpc>
                <a:spcPct val="150000"/>
              </a:lnSpc>
              <a:buFont typeface="Arial" panose="020B0604020202020204" pitchFamily="34" charset="0"/>
              <a:buChar char="•"/>
            </a:pPr>
            <a:r>
              <a:rPr lang="zh-CN" altLang="en-US" sz="2400" b="1" dirty="0">
                <a:solidFill>
                  <a:srgbClr val="FF0000"/>
                </a:solidFill>
              </a:rPr>
              <a:t>事物发展有自己的潮流和规律</a:t>
            </a:r>
            <a:r>
              <a:rPr lang="zh-CN" altLang="en-US" sz="2400" dirty="0"/>
              <a:t>，当你身处潮流之中的时候，要紧紧抓住潮流的机会，想办法脱颖而出，即使没有成功，也会更加洞悉时代的脉搏，收获珍贵的知识和经验。</a:t>
            </a:r>
            <a:endParaRPr lang="zh-CN" altLang="en-US" sz="2400" dirty="0"/>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CN" sz="4800" b="1" dirty="0">
                <a:solidFill>
                  <a:srgbClr val="000000"/>
                </a:solidFill>
                <a:latin typeface="宋体" panose="02010600030101010101" pitchFamily="2" charset="-122"/>
                <a:ea typeface="宋体" panose="02010600030101010101" pitchFamily="2" charset="-122"/>
              </a:rPr>
              <a:t>2.3	Hadoop</a:t>
            </a:r>
            <a:r>
              <a:rPr lang="zh-CN" altLang="en-US" sz="4800" b="1" dirty="0">
                <a:solidFill>
                  <a:srgbClr val="000000"/>
                </a:solidFill>
                <a:latin typeface="宋体" panose="02010600030101010101" pitchFamily="2" charset="-122"/>
                <a:ea typeface="宋体" panose="02010600030101010101" pitchFamily="2" charset="-122"/>
              </a:rPr>
              <a:t>的安装与使用</a:t>
            </a:r>
            <a:endParaRPr lang="zh-CN" altLang="en-US" sz="4800" b="1" dirty="0">
              <a:solidFill>
                <a:srgbClr val="000000"/>
              </a:solidFill>
              <a:latin typeface="宋体" panose="02010600030101010101" pitchFamily="2" charset="-122"/>
              <a:ea typeface="宋体" panose="02010600030101010101" pitchFamily="2" charset="-122"/>
            </a:endParaRPr>
          </a:p>
        </p:txBody>
      </p:sp>
      <p:sp>
        <p:nvSpPr>
          <p:cNvPr id="20483" name="矩形 3"/>
          <p:cNvSpPr>
            <a:spLocks noChangeArrowheads="1"/>
          </p:cNvSpPr>
          <p:nvPr/>
        </p:nvSpPr>
        <p:spPr bwMode="auto">
          <a:xfrm>
            <a:off x="1905000" y="5294312"/>
            <a:ext cx="7924800"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t>详细安装教程请参考厦门大学数据实验室建设的中国高校大数据课程公共服务平台上的技术文章：</a:t>
            </a:r>
            <a:r>
              <a:rPr lang="en-US" altLang="zh-CN" b="1" dirty="0"/>
              <a:t>《</a:t>
            </a:r>
            <a:r>
              <a:rPr lang="zh-CN" altLang="en-US" b="1" dirty="0"/>
              <a:t>大数据技术原理与应用（第</a:t>
            </a:r>
            <a:r>
              <a:rPr lang="en-US" altLang="zh-CN" b="1" dirty="0"/>
              <a:t>3</a:t>
            </a:r>
            <a:r>
              <a:rPr lang="zh-CN" altLang="en-US" b="1" dirty="0"/>
              <a:t>版） 第二章 大数据处理架构</a:t>
            </a:r>
            <a:r>
              <a:rPr lang="en-US" altLang="zh-CN" b="1" dirty="0"/>
              <a:t>Hadoop </a:t>
            </a:r>
            <a:r>
              <a:rPr lang="zh-CN" altLang="en-US" b="1" dirty="0"/>
              <a:t>学习指南</a:t>
            </a:r>
            <a:r>
              <a:rPr lang="en-US" altLang="zh-CN" b="1" dirty="0"/>
              <a:t>》</a:t>
            </a:r>
            <a:r>
              <a:rPr lang="zh-CN" altLang="en-US" b="1" dirty="0"/>
              <a:t>，给出了每步安装命令和效果截图</a:t>
            </a:r>
            <a:endParaRPr lang="en-US" altLang="zh-CN" b="1" dirty="0"/>
          </a:p>
          <a:p>
            <a:pPr eaLnBrk="1" hangingPunct="1"/>
            <a:r>
              <a:rPr lang="zh-CN" altLang="en-US" b="1" dirty="0"/>
              <a:t>访问地址：</a:t>
            </a:r>
            <a:r>
              <a:rPr lang="en-US" altLang="zh-CN" b="1" dirty="0"/>
              <a:t>http://dblab.xmu.edu.cn/blog/2544-2/</a:t>
            </a:r>
            <a:endParaRPr lang="en-US" altLang="zh-CN" b="1" dirty="0"/>
          </a:p>
        </p:txBody>
      </p:sp>
      <p:sp>
        <p:nvSpPr>
          <p:cNvPr id="20484" name="TextBox 5"/>
          <p:cNvSpPr txBox="1">
            <a:spLocks noChangeArrowheads="1"/>
          </p:cNvSpPr>
          <p:nvPr/>
        </p:nvSpPr>
        <p:spPr bwMode="auto">
          <a:xfrm>
            <a:off x="1809135" y="1946788"/>
            <a:ext cx="4902304" cy="2593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Char char="•"/>
            </a:pPr>
            <a:r>
              <a:rPr lang="en-US" altLang="zh-CN" sz="2800" dirty="0"/>
              <a:t> Hadoop</a:t>
            </a:r>
            <a:r>
              <a:rPr lang="zh-CN" altLang="en-US" sz="2800" dirty="0"/>
              <a:t>安装之前的预备知识</a:t>
            </a:r>
            <a:endParaRPr lang="en-US" altLang="zh-CN" sz="2800" dirty="0"/>
          </a:p>
          <a:p>
            <a:pPr eaLnBrk="1" hangingPunct="1">
              <a:lnSpc>
                <a:spcPct val="150000"/>
              </a:lnSpc>
              <a:buFont typeface="Arial" panose="020B0604020202020204" pitchFamily="34" charset="0"/>
              <a:buChar char="•"/>
            </a:pPr>
            <a:r>
              <a:rPr lang="zh-CN" altLang="en-US" sz="2800" dirty="0"/>
              <a:t>安装</a:t>
            </a:r>
            <a:r>
              <a:rPr lang="en-US" altLang="zh-CN" sz="2800" dirty="0"/>
              <a:t>Linux</a:t>
            </a:r>
            <a:r>
              <a:rPr lang="zh-CN" altLang="en-US" sz="2800" dirty="0"/>
              <a:t>虚拟机</a:t>
            </a:r>
            <a:endParaRPr lang="en-US" altLang="zh-CN" sz="2800" dirty="0"/>
          </a:p>
          <a:p>
            <a:pPr eaLnBrk="1" hangingPunct="1">
              <a:lnSpc>
                <a:spcPct val="150000"/>
              </a:lnSpc>
              <a:buFont typeface="Arial" panose="020B0604020202020204" pitchFamily="34" charset="0"/>
              <a:buChar char="•"/>
            </a:pPr>
            <a:r>
              <a:rPr lang="zh-CN" altLang="en-US" sz="2800" dirty="0"/>
              <a:t>安装双操作系统</a:t>
            </a:r>
            <a:endParaRPr lang="en-US" altLang="zh-CN" sz="2800" dirty="0"/>
          </a:p>
          <a:p>
            <a:pPr eaLnBrk="1" hangingPunct="1">
              <a:lnSpc>
                <a:spcPct val="150000"/>
              </a:lnSpc>
              <a:buFont typeface="Arial" panose="020B0604020202020204" pitchFamily="34" charset="0"/>
              <a:buChar char="•"/>
            </a:pPr>
            <a:r>
              <a:rPr lang="zh-CN" altLang="en-US" sz="2800" dirty="0"/>
              <a:t>详解</a:t>
            </a:r>
            <a:r>
              <a:rPr lang="en-US" altLang="zh-CN" sz="2800" dirty="0"/>
              <a:t>Hadoop</a:t>
            </a:r>
            <a:r>
              <a:rPr lang="zh-CN" altLang="en-US" sz="2800" dirty="0"/>
              <a:t>的安装与使用</a:t>
            </a:r>
            <a:endParaRPr lang="zh-CN"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Box 3"/>
          <p:cNvSpPr txBox="1">
            <a:spLocks noChangeArrowheads="1"/>
          </p:cNvSpPr>
          <p:nvPr/>
        </p:nvSpPr>
        <p:spPr bwMode="auto">
          <a:xfrm>
            <a:off x="1332230" y="1691006"/>
            <a:ext cx="274066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（一）</a:t>
            </a:r>
            <a:r>
              <a:rPr lang="en-US" altLang="zh-CN" sz="2400"/>
              <a:t>Linux</a:t>
            </a:r>
            <a:r>
              <a:rPr lang="zh-CN" altLang="en-US" sz="2400"/>
              <a:t>的选择</a:t>
            </a:r>
            <a:endParaRPr lang="en-US" altLang="zh-CN" sz="2400"/>
          </a:p>
          <a:p>
            <a:pPr eaLnBrk="1" hangingPunct="1"/>
            <a:endParaRPr lang="en-US" altLang="zh-CN" sz="2400"/>
          </a:p>
        </p:txBody>
      </p:sp>
      <p:sp>
        <p:nvSpPr>
          <p:cNvPr id="21508" name="矩形 3"/>
          <p:cNvSpPr>
            <a:spLocks noChangeArrowheads="1"/>
          </p:cNvSpPr>
          <p:nvPr/>
        </p:nvSpPr>
        <p:spPr bwMode="auto">
          <a:xfrm>
            <a:off x="1280160" y="2520950"/>
            <a:ext cx="4358640"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a:t>
            </a:r>
            <a:r>
              <a:rPr lang="en-US" altLang="zh-CN" sz="2400"/>
              <a:t>1</a:t>
            </a:r>
            <a:r>
              <a:rPr lang="zh-CN" altLang="en-US" sz="2400"/>
              <a:t>）选择哪个</a:t>
            </a:r>
            <a:r>
              <a:rPr lang="en-US" altLang="zh-CN" sz="2400"/>
              <a:t>Linux</a:t>
            </a:r>
            <a:r>
              <a:rPr lang="zh-CN" altLang="en-US" sz="2400"/>
              <a:t>发行版？</a:t>
            </a:r>
            <a:endParaRPr lang="en-US" altLang="zh-CN" sz="2400"/>
          </a:p>
          <a:p>
            <a:pPr eaLnBrk="1" hangingPunct="1">
              <a:buFont typeface="Arial" panose="020B0604020202020204" pitchFamily="34" charset="0"/>
              <a:buChar char="•"/>
            </a:pPr>
            <a:r>
              <a:rPr lang="zh-CN" altLang="en-US" sz="2400"/>
              <a:t>服务端：</a:t>
            </a:r>
            <a:r>
              <a:rPr lang="en-US" altLang="zh-CN" sz="2400"/>
              <a:t>CentOS</a:t>
            </a:r>
            <a:r>
              <a:rPr lang="zh-CN" altLang="en-US" sz="2400"/>
              <a:t>系统</a:t>
            </a:r>
            <a:endParaRPr lang="zh-CN" altLang="en-US" sz="2400"/>
          </a:p>
          <a:p>
            <a:pPr eaLnBrk="1" hangingPunct="1">
              <a:buFont typeface="Arial" panose="020B0604020202020204" pitchFamily="34" charset="0"/>
              <a:buChar char="•"/>
            </a:pPr>
            <a:r>
              <a:rPr lang="zh-CN" altLang="en-US" sz="2400"/>
              <a:t>桌面端：</a:t>
            </a:r>
            <a:r>
              <a:rPr lang="en-US" altLang="zh-CN" sz="2400"/>
              <a:t>Ubuntu</a:t>
            </a:r>
            <a:r>
              <a:rPr lang="zh-CN" altLang="en-US" sz="2400"/>
              <a:t>系统</a:t>
            </a:r>
            <a:endParaRPr lang="en-US" altLang="zh-CN" sz="2400"/>
          </a:p>
          <a:p>
            <a:pPr eaLnBrk="1" hangingPunct="1">
              <a:buFont typeface="Arial" panose="020B0604020202020204" pitchFamily="34" charset="0"/>
              <a:buChar char="•"/>
            </a:pPr>
            <a:r>
              <a:rPr lang="zh-CN" altLang="en-US" sz="2400"/>
              <a:t>学</a:t>
            </a:r>
            <a:r>
              <a:rPr lang="en-US" altLang="zh-CN" sz="2400"/>
              <a:t>Hadoop</a:t>
            </a:r>
            <a:r>
              <a:rPr lang="zh-CN" altLang="en-US" sz="2400"/>
              <a:t>：推荐</a:t>
            </a:r>
            <a:r>
              <a:rPr lang="en-US" altLang="zh-CN" sz="2400"/>
              <a:t>Ubuntu</a:t>
            </a:r>
            <a:endParaRPr lang="en-US" altLang="zh-CN" sz="2400"/>
          </a:p>
          <a:p>
            <a:pPr eaLnBrk="1" hangingPunct="1">
              <a:buFont typeface="Arial" panose="020B0604020202020204" pitchFamily="34" charset="0"/>
              <a:buChar char="•"/>
            </a:pPr>
            <a:endParaRPr lang="en-US" altLang="zh-CN" sz="2400"/>
          </a:p>
          <a:p>
            <a:pPr eaLnBrk="1" hangingPunct="1"/>
            <a:r>
              <a:rPr lang="zh-CN" altLang="en-US" sz="2400"/>
              <a:t>（</a:t>
            </a:r>
            <a:r>
              <a:rPr lang="en-US" altLang="zh-CN" sz="2400"/>
              <a:t>2</a:t>
            </a:r>
            <a:r>
              <a:rPr lang="zh-CN" altLang="en-US" sz="2400"/>
              <a:t>）选择</a:t>
            </a:r>
            <a:r>
              <a:rPr lang="en-US" altLang="zh-CN" sz="2400"/>
              <a:t>32</a:t>
            </a:r>
            <a:r>
              <a:rPr lang="zh-CN" altLang="en-US" sz="2400"/>
              <a:t>位还是</a:t>
            </a:r>
            <a:r>
              <a:rPr lang="en-US" altLang="zh-CN" sz="2400"/>
              <a:t>64</a:t>
            </a:r>
            <a:r>
              <a:rPr lang="zh-CN" altLang="en-US" sz="2400"/>
              <a:t>位？</a:t>
            </a:r>
            <a:endParaRPr lang="en-US" altLang="zh-CN" sz="2400"/>
          </a:p>
          <a:p>
            <a:pPr eaLnBrk="1" hangingPunct="1">
              <a:buFont typeface="Arial" panose="020B0604020202020204" pitchFamily="34" charset="0"/>
              <a:buChar char="•"/>
            </a:pPr>
            <a:r>
              <a:rPr lang="zh-CN" altLang="en-US" sz="2400"/>
              <a:t>内存</a:t>
            </a:r>
            <a:r>
              <a:rPr lang="en-US" altLang="zh-CN" sz="2400"/>
              <a:t>&lt;2G</a:t>
            </a:r>
            <a:r>
              <a:rPr lang="zh-CN" altLang="en-US" sz="2400"/>
              <a:t>，</a:t>
            </a:r>
            <a:r>
              <a:rPr lang="zh-CN" altLang="en-US" sz="2400">
                <a:sym typeface="+mn-ea"/>
              </a:rPr>
              <a:t>选</a:t>
            </a:r>
            <a:r>
              <a:rPr lang="en-US" altLang="zh-CN" sz="2400"/>
              <a:t>32</a:t>
            </a:r>
            <a:r>
              <a:rPr lang="zh-CN" altLang="en-US" sz="2400"/>
              <a:t>位</a:t>
            </a:r>
            <a:endParaRPr lang="zh-CN" altLang="en-US" sz="2400"/>
          </a:p>
          <a:p>
            <a:pPr eaLnBrk="1" hangingPunct="1">
              <a:buFont typeface="Arial" panose="020B0604020202020204" pitchFamily="34" charset="0"/>
              <a:buChar char="•"/>
            </a:pPr>
            <a:r>
              <a:rPr lang="zh-CN" altLang="en-US" sz="2400"/>
              <a:t>内存</a:t>
            </a:r>
            <a:r>
              <a:rPr lang="en-US" altLang="zh-CN" sz="2400"/>
              <a:t>&gt;4G</a:t>
            </a:r>
            <a:r>
              <a:rPr lang="zh-CN" altLang="en-US" sz="2400"/>
              <a:t>，选</a:t>
            </a:r>
            <a:r>
              <a:rPr lang="en-US" altLang="zh-CN" sz="2400"/>
              <a:t>64</a:t>
            </a:r>
            <a:r>
              <a:rPr lang="zh-CN" altLang="en-US" sz="2400"/>
              <a:t>位</a:t>
            </a:r>
            <a:endParaRPr lang="en-US" altLang="zh-CN" sz="2400"/>
          </a:p>
          <a:p>
            <a:pPr eaLnBrk="1" hangingPunct="1">
              <a:buFont typeface="Arial" panose="020B0604020202020204" pitchFamily="34" charset="0"/>
              <a:buChar char="•"/>
            </a:pPr>
            <a:endParaRPr lang="en-US" altLang="zh-CN" sz="2400"/>
          </a:p>
        </p:txBody>
      </p:sp>
      <p:sp>
        <p:nvSpPr>
          <p:cNvPr id="20482" name="Rectangle 2"/>
          <p:cNvSpPr>
            <a:spLocks noGrp="1" noChangeArrowheads="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rPr>
              <a:t>预备知识</a:t>
            </a:r>
            <a:endParaRPr sz="4800" b="1" dirty="0">
              <a:solidFill>
                <a:srgbClr val="000000"/>
              </a:solidFill>
              <a:latin typeface="宋体" panose="02010600030101010101" pitchFamily="2" charset="-122"/>
              <a:ea typeface="宋体" panose="02010600030101010101" pitchFamily="2" charset="-122"/>
            </a:endParaRPr>
          </a:p>
        </p:txBody>
      </p:sp>
      <p:sp>
        <p:nvSpPr>
          <p:cNvPr id="22531" name="TextBox 3"/>
          <p:cNvSpPr txBox="1">
            <a:spLocks noChangeArrowheads="1"/>
          </p:cNvSpPr>
          <p:nvPr>
            <p:custDataLst>
              <p:tags r:id="rId2"/>
            </p:custDataLst>
          </p:nvPr>
        </p:nvSpPr>
        <p:spPr bwMode="auto">
          <a:xfrm>
            <a:off x="5387976" y="1781176"/>
            <a:ext cx="32308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（二）系统安装方式：</a:t>
            </a:r>
            <a:endParaRPr lang="zh-CN" altLang="en-US" sz="2400"/>
          </a:p>
        </p:txBody>
      </p:sp>
      <p:sp>
        <p:nvSpPr>
          <p:cNvPr id="22532" name="矩形 4"/>
          <p:cNvSpPr>
            <a:spLocks noChangeArrowheads="1"/>
          </p:cNvSpPr>
          <p:nvPr>
            <p:custDataLst>
              <p:tags r:id="rId3"/>
            </p:custDataLst>
          </p:nvPr>
        </p:nvSpPr>
        <p:spPr bwMode="auto">
          <a:xfrm>
            <a:off x="6356350" y="2644140"/>
            <a:ext cx="3134995"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sz="2400"/>
              <a:t>内存</a:t>
            </a:r>
            <a:r>
              <a:rPr lang="en-US" altLang="zh-CN" sz="2400"/>
              <a:t>&gt;4G</a:t>
            </a:r>
            <a:r>
              <a:rPr lang="zh-CN" altLang="en-US" sz="2400"/>
              <a:t>，</a:t>
            </a:r>
            <a:endParaRPr lang="zh-CN" altLang="en-US" sz="2400"/>
          </a:p>
          <a:p>
            <a:pPr indent="457200" eaLnBrk="1" hangingPunct="1">
              <a:buFont typeface="Arial" panose="020B0604020202020204" pitchFamily="34" charset="0"/>
              <a:buNone/>
            </a:pPr>
            <a:r>
              <a:rPr lang="zh-CN" altLang="en-US" sz="2400"/>
              <a:t>可选虚拟机安装</a:t>
            </a:r>
            <a:endParaRPr lang="zh-CN" altLang="en-US" sz="2400"/>
          </a:p>
          <a:p>
            <a:pPr indent="457200" eaLnBrk="1" hangingPunct="1">
              <a:buFont typeface="Arial" panose="020B0604020202020204" pitchFamily="34" charset="0"/>
              <a:buNone/>
            </a:pPr>
            <a:endParaRPr lang="en-US" altLang="zh-CN" sz="2400"/>
          </a:p>
          <a:p>
            <a:pPr eaLnBrk="1" hangingPunct="1">
              <a:buFont typeface="Arial" panose="020B0604020202020204" pitchFamily="34" charset="0"/>
              <a:buChar char="•"/>
            </a:pPr>
            <a:r>
              <a:rPr lang="en-US" sz="2400"/>
              <a:t>else</a:t>
            </a:r>
            <a:r>
              <a:rPr lang="zh-CN" altLang="en-US" sz="2400"/>
              <a:t>，</a:t>
            </a:r>
            <a:endParaRPr lang="zh-CN" altLang="en-US" sz="2400"/>
          </a:p>
          <a:p>
            <a:pPr marL="457200" lvl="1" indent="0" eaLnBrk="1" hangingPunct="1">
              <a:buFont typeface="Arial" panose="020B0604020202020204" pitchFamily="34" charset="0"/>
              <a:buNone/>
            </a:pPr>
            <a:r>
              <a:rPr lang="zh-CN" altLang="en-US" sz="2400"/>
              <a:t>选择双系统安装</a:t>
            </a:r>
            <a:endParaRPr lang="zh-CN"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rPr>
              <a:t>预备知识</a:t>
            </a:r>
            <a:endParaRPr sz="4800" b="1" dirty="0">
              <a:solidFill>
                <a:srgbClr val="000000"/>
              </a:solidFill>
              <a:latin typeface="宋体" panose="02010600030101010101" pitchFamily="2" charset="-122"/>
              <a:ea typeface="宋体" panose="02010600030101010101" pitchFamily="2" charset="-122"/>
            </a:endParaRPr>
          </a:p>
        </p:txBody>
      </p:sp>
      <p:sp>
        <p:nvSpPr>
          <p:cNvPr id="4" name="文本框 3"/>
          <p:cNvSpPr txBox="1"/>
          <p:nvPr/>
        </p:nvSpPr>
        <p:spPr>
          <a:xfrm>
            <a:off x="344805" y="2161540"/>
            <a:ext cx="5647055" cy="3784600"/>
          </a:xfrm>
          <a:prstGeom prst="rect">
            <a:avLst/>
          </a:prstGeom>
          <a:noFill/>
        </p:spPr>
        <p:txBody>
          <a:bodyPr wrap="square" rtlCol="0" anchor="t">
            <a:spAutoFit/>
          </a:bodyPr>
          <a:lstStyle/>
          <a:p>
            <a:pPr eaLnBrk="1" hangingPunct="1"/>
            <a:r>
              <a:rPr lang="zh-CN" altLang="en-US" sz="2400">
                <a:sym typeface="+mn-ea"/>
              </a:rPr>
              <a:t>（三）</a:t>
            </a:r>
            <a:r>
              <a:rPr lang="en-US" altLang="zh-CN" sz="2400">
                <a:sym typeface="+mn-ea"/>
              </a:rPr>
              <a:t>Linux</a:t>
            </a:r>
            <a:r>
              <a:rPr lang="zh-CN" altLang="en-US" sz="2400">
                <a:sym typeface="+mn-ea"/>
              </a:rPr>
              <a:t>基础</a:t>
            </a:r>
            <a:endParaRPr lang="zh-CN" altLang="en-US" sz="2400">
              <a:sym typeface="+mn-ea"/>
            </a:endParaRPr>
          </a:p>
          <a:p>
            <a:pPr eaLnBrk="1" hangingPunct="1"/>
            <a:endParaRPr lang="en-US" altLang="zh-CN" sz="2400"/>
          </a:p>
          <a:p>
            <a:pPr eaLnBrk="1" hangingPunct="1">
              <a:buFont typeface="Arial" panose="020B0604020202020204" pitchFamily="34" charset="0"/>
              <a:buChar char="•"/>
            </a:pPr>
            <a:r>
              <a:rPr lang="en-US" altLang="zh-CN" sz="2400">
                <a:sym typeface="+mn-ea"/>
              </a:rPr>
              <a:t>Shell  </a:t>
            </a:r>
            <a:r>
              <a:rPr lang="zh-CN" altLang="en-US" sz="2400">
                <a:sym typeface="+mn-ea"/>
              </a:rPr>
              <a:t>“提供使用者使用界面”的软件（命令解析器），类似于</a:t>
            </a:r>
            <a:r>
              <a:rPr lang="en-US" altLang="zh-CN" sz="2400">
                <a:sym typeface="+mn-ea"/>
              </a:rPr>
              <a:t>DOS</a:t>
            </a:r>
            <a:r>
              <a:rPr lang="zh-CN" altLang="en-US" sz="2400">
                <a:sym typeface="+mn-ea"/>
              </a:rPr>
              <a:t>下的</a:t>
            </a:r>
            <a:r>
              <a:rPr lang="en-US" altLang="zh-CN" sz="2400">
                <a:sym typeface="+mn-ea"/>
              </a:rPr>
              <a:t>command</a:t>
            </a:r>
            <a:r>
              <a:rPr lang="zh-CN" altLang="en-US" sz="2400">
                <a:sym typeface="+mn-ea"/>
              </a:rPr>
              <a:t>和后来的</a:t>
            </a:r>
            <a:r>
              <a:rPr lang="en-US" altLang="zh-CN" sz="2400">
                <a:sym typeface="+mn-ea"/>
              </a:rPr>
              <a:t>cmd.exe</a:t>
            </a:r>
            <a:r>
              <a:rPr lang="zh-CN" altLang="en-US" sz="2400">
                <a:sym typeface="+mn-ea"/>
              </a:rPr>
              <a:t>。它接收用户命令，然后调用相应的应用程序</a:t>
            </a:r>
            <a:endParaRPr lang="zh-CN" altLang="en-US" sz="2400">
              <a:sym typeface="+mn-ea"/>
            </a:endParaRPr>
          </a:p>
          <a:p>
            <a:pPr eaLnBrk="1" hangingPunct="1">
              <a:buFont typeface="Arial" panose="020B0604020202020204" pitchFamily="34" charset="0"/>
              <a:buChar char="•"/>
            </a:pPr>
            <a:endParaRPr lang="en-US" altLang="zh-CN" sz="2400"/>
          </a:p>
          <a:p>
            <a:pPr eaLnBrk="1" hangingPunct="1">
              <a:buFont typeface="Arial" panose="020B0604020202020204" pitchFamily="34" charset="0"/>
              <a:buChar char="•"/>
            </a:pPr>
            <a:r>
              <a:rPr lang="en-US" altLang="zh-CN" sz="2400">
                <a:sym typeface="+mn-ea"/>
              </a:rPr>
              <a:t>sudo</a:t>
            </a:r>
            <a:r>
              <a:rPr lang="zh-CN" altLang="en-US" sz="2400">
                <a:sym typeface="+mn-ea"/>
              </a:rPr>
              <a:t>是</a:t>
            </a:r>
            <a:r>
              <a:rPr lang="en-US" altLang="zh-CN" sz="2400">
                <a:sym typeface="+mn-ea"/>
              </a:rPr>
              <a:t>ubuntu</a:t>
            </a:r>
            <a:r>
              <a:rPr lang="zh-CN" altLang="en-US" sz="2400">
                <a:sym typeface="+mn-ea"/>
              </a:rPr>
              <a:t>中一种权限管理机制，管理员可以授权给一些普通用户去执行一些需要</a:t>
            </a:r>
            <a:r>
              <a:rPr lang="en-US" altLang="zh-CN" sz="2400">
                <a:sym typeface="+mn-ea"/>
              </a:rPr>
              <a:t>root</a:t>
            </a:r>
            <a:r>
              <a:rPr lang="zh-CN" altLang="en-US" sz="2400">
                <a:sym typeface="+mn-ea"/>
              </a:rPr>
              <a:t>权限执行的操作。</a:t>
            </a:r>
            <a:endParaRPr lang="zh-CN" altLang="en-US" sz="2400">
              <a:sym typeface="+mn-ea"/>
            </a:endParaRPr>
          </a:p>
        </p:txBody>
      </p:sp>
      <p:sp>
        <p:nvSpPr>
          <p:cNvPr id="24579" name="TextBox 3"/>
          <p:cNvSpPr txBox="1">
            <a:spLocks noChangeArrowheads="1"/>
          </p:cNvSpPr>
          <p:nvPr>
            <p:custDataLst>
              <p:tags r:id="rId2"/>
            </p:custDataLst>
          </p:nvPr>
        </p:nvSpPr>
        <p:spPr bwMode="auto">
          <a:xfrm>
            <a:off x="6322060" y="1816735"/>
            <a:ext cx="5373370" cy="45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（四）</a:t>
            </a:r>
            <a:r>
              <a:rPr lang="en-US" altLang="zh-CN" sz="2400"/>
              <a:t>Hadoop</a:t>
            </a:r>
            <a:r>
              <a:rPr lang="zh-CN" altLang="en-US" sz="2400"/>
              <a:t>安装方式</a:t>
            </a:r>
            <a:endParaRPr lang="en-US" altLang="zh-CN" sz="2400"/>
          </a:p>
          <a:p>
            <a:pPr eaLnBrk="1" hangingPunct="1">
              <a:buFont typeface="Arial" panose="020B0604020202020204" pitchFamily="34" charset="0"/>
              <a:buChar char="•"/>
            </a:pPr>
            <a:r>
              <a:rPr lang="zh-CN" altLang="zh-CN" sz="2400"/>
              <a:t>单机模式：只在一台机器上运行，存储是采用本地文件系统，没有采用分布式文件系统HDFS；</a:t>
            </a:r>
            <a:endParaRPr lang="zh-CN" altLang="zh-CN" sz="2400"/>
          </a:p>
          <a:p>
            <a:pPr eaLnBrk="1" hangingPunct="1">
              <a:buFont typeface="Arial" panose="020B0604020202020204" pitchFamily="34" charset="0"/>
              <a:buChar char="•"/>
            </a:pPr>
            <a:endParaRPr lang="zh-CN" altLang="zh-CN" sz="2400"/>
          </a:p>
          <a:p>
            <a:pPr eaLnBrk="1" hangingPunct="1">
              <a:buFont typeface="Arial" panose="020B0604020202020204" pitchFamily="34" charset="0"/>
              <a:buChar char="•"/>
            </a:pPr>
            <a:r>
              <a:rPr lang="zh-CN" altLang="zh-CN" sz="2400"/>
              <a:t></a:t>
            </a:r>
            <a:r>
              <a:rPr lang="zh-CN" altLang="zh-CN" sz="2400">
                <a:highlight>
                  <a:srgbClr val="FFFF00"/>
                </a:highlight>
              </a:rPr>
              <a:t>伪分布式模式</a:t>
            </a:r>
            <a:r>
              <a:rPr lang="zh-CN" altLang="zh-CN" sz="2400"/>
              <a:t>：存储采用分布式文件系统HDFS，但是，HDFS的名称节点和数据节点都在同一台机器上；</a:t>
            </a:r>
            <a:endParaRPr lang="zh-CN" altLang="zh-CN" sz="2400"/>
          </a:p>
          <a:p>
            <a:pPr eaLnBrk="1" hangingPunct="1">
              <a:buFont typeface="Arial" panose="020B0604020202020204" pitchFamily="34" charset="0"/>
              <a:buChar char="•"/>
            </a:pPr>
            <a:endParaRPr lang="zh-CN" altLang="zh-CN" sz="2400"/>
          </a:p>
          <a:p>
            <a:pPr eaLnBrk="1" hangingPunct="1">
              <a:buFont typeface="Arial" panose="020B0604020202020204" pitchFamily="34" charset="0"/>
              <a:buChar char="•"/>
            </a:pPr>
            <a:r>
              <a:rPr lang="zh-CN" altLang="zh-CN" sz="2400"/>
              <a:t>分布式模式：存储采用分布式文件系统HDFS，而且，HDFS的名称节点和数据节点位于不同机器上。</a:t>
            </a:r>
            <a:endParaRPr lang="zh-CN" altLang="zh-CN"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Box 3"/>
          <p:cNvSpPr txBox="1">
            <a:spLocks noChangeArrowheads="1"/>
          </p:cNvSpPr>
          <p:nvPr/>
        </p:nvSpPr>
        <p:spPr bwMode="auto">
          <a:xfrm>
            <a:off x="838200" y="1506856"/>
            <a:ext cx="1103693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一、材料和工具</a:t>
            </a:r>
            <a:endParaRPr lang="en-US" altLang="zh-CN" sz="2400" dirty="0"/>
          </a:p>
          <a:p>
            <a:pPr eaLnBrk="1" hangingPunct="1"/>
            <a:r>
              <a:rPr lang="en-US" altLang="zh-CN" sz="2400" dirty="0"/>
              <a:t>1</a:t>
            </a:r>
            <a:r>
              <a:rPr lang="zh-CN" altLang="en-US" sz="2400" dirty="0"/>
              <a:t>、下载</a:t>
            </a:r>
            <a:r>
              <a:rPr lang="en-US" altLang="zh-CN" sz="2400" dirty="0"/>
              <a:t>VirtualBox</a:t>
            </a:r>
            <a:r>
              <a:rPr lang="zh-CN" altLang="en-US" sz="2400" dirty="0"/>
              <a:t>虚拟机软件</a:t>
            </a:r>
            <a:endParaRPr lang="zh-CN" altLang="en-US" sz="2400" dirty="0"/>
          </a:p>
          <a:p>
            <a:pPr eaLnBrk="1" hangingPunct="1"/>
            <a:r>
              <a:rPr lang="en-US" altLang="zh-CN" sz="2400" dirty="0"/>
              <a:t>https://download.virtualbox.org/virtualbox/6.1.4/VirtualBox-6.1.4-136177-Win.exe</a:t>
            </a:r>
            <a:endParaRPr lang="en-US" altLang="zh-CN" sz="2400" dirty="0"/>
          </a:p>
          <a:p>
            <a:pPr eaLnBrk="1" hangingPunct="1"/>
            <a:endParaRPr lang="en-US" altLang="zh-CN" sz="2400" dirty="0"/>
          </a:p>
          <a:p>
            <a:pPr eaLnBrk="1" hangingPunct="1"/>
            <a:r>
              <a:rPr lang="en-US" altLang="zh-CN" sz="2400" dirty="0"/>
              <a:t>2. </a:t>
            </a:r>
            <a:r>
              <a:rPr lang="zh-CN" altLang="en-US" sz="2400" dirty="0"/>
              <a:t>下载</a:t>
            </a:r>
            <a:r>
              <a:rPr lang="en-US" altLang="zh-CN" sz="2400" dirty="0"/>
              <a:t>Ubuntu LTS 16.04</a:t>
            </a:r>
            <a:r>
              <a:rPr lang="zh-CN" altLang="en-US" sz="2400" dirty="0"/>
              <a:t>（或</a:t>
            </a:r>
            <a:r>
              <a:rPr lang="en-US" altLang="zh-CN" sz="2400" dirty="0"/>
              <a:t>18.04</a:t>
            </a:r>
            <a:r>
              <a:rPr lang="zh-CN" altLang="en-US" sz="2400" dirty="0"/>
              <a:t>）</a:t>
            </a:r>
            <a:r>
              <a:rPr lang="en-US" altLang="zh-CN" sz="2400" dirty="0"/>
              <a:t> ISO</a:t>
            </a:r>
            <a:r>
              <a:rPr lang="zh-CN" altLang="en-US" sz="2400" dirty="0"/>
              <a:t>映像文件</a:t>
            </a:r>
            <a:endParaRPr lang="zh-CN" altLang="en-US" sz="2400" dirty="0"/>
          </a:p>
          <a:p>
            <a:pPr eaLnBrk="1" hangingPunct="1"/>
            <a:r>
              <a:rPr lang="en-US" altLang="zh-CN" sz="2400" dirty="0"/>
              <a:t>Ubuntu LTS 16.04</a:t>
            </a:r>
            <a:r>
              <a:rPr lang="zh-CN" altLang="en-US" sz="2400" dirty="0"/>
              <a:t>下载：https://www.ubuntu.org.cn/download/ubuntu-kylin</a:t>
            </a:r>
            <a:endParaRPr lang="zh-CN" altLang="en-US" sz="2400" dirty="0"/>
          </a:p>
          <a:p>
            <a:pPr eaLnBrk="1" hangingPunct="1"/>
            <a:r>
              <a:rPr lang="en-US" altLang="zh-CN" sz="2400" dirty="0">
                <a:sym typeface="宋体" panose="02010600030101010101" pitchFamily="2" charset="-122"/>
              </a:rPr>
              <a:t>Ubuntu LTS 18.04</a:t>
            </a:r>
            <a:r>
              <a:rPr lang="zh-CN" altLang="en-US" sz="2400" dirty="0">
                <a:sym typeface="宋体" panose="02010600030101010101" pitchFamily="2" charset="-122"/>
              </a:rPr>
              <a:t>下载：https://ubuntu.com/download/desktop</a:t>
            </a:r>
            <a:endParaRPr lang="zh-CN" altLang="en-US" sz="2400" dirty="0">
              <a:sym typeface="宋体" panose="02010600030101010101" pitchFamily="2" charset="-122"/>
            </a:endParaRPr>
          </a:p>
        </p:txBody>
      </p:sp>
      <p:sp>
        <p:nvSpPr>
          <p:cNvPr id="20482" name="Rectangle 2"/>
          <p:cNvSpPr>
            <a:spLocks noGrp="1" noChangeArrowheads="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rPr>
              <a:t>安装Linux虚拟机</a:t>
            </a:r>
            <a:endParaRPr sz="4800" b="1" dirty="0">
              <a:solidFill>
                <a:srgbClr val="000000"/>
              </a:solidFill>
              <a:latin typeface="宋体" panose="02010600030101010101" pitchFamily="2" charset="-122"/>
              <a:ea typeface="宋体" panose="02010600030101010101" pitchFamily="2" charset="-122"/>
            </a:endParaRPr>
          </a:p>
        </p:txBody>
      </p:sp>
      <p:sp>
        <p:nvSpPr>
          <p:cNvPr id="26627" name="TextBox 4"/>
          <p:cNvSpPr txBox="1">
            <a:spLocks noChangeArrowheads="1"/>
          </p:cNvSpPr>
          <p:nvPr>
            <p:custDataLst>
              <p:tags r:id="rId2"/>
            </p:custDataLst>
          </p:nvPr>
        </p:nvSpPr>
        <p:spPr bwMode="auto">
          <a:xfrm>
            <a:off x="838200" y="4751705"/>
            <a:ext cx="5005705"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二、步骤</a:t>
            </a:r>
            <a:endParaRPr lang="en-US" altLang="zh-CN" sz="2400" dirty="0"/>
          </a:p>
          <a:p>
            <a:pPr eaLnBrk="1" hangingPunct="1"/>
            <a:r>
              <a:rPr lang="zh-CN" altLang="en-US" sz="2400" dirty="0"/>
              <a:t>（一）确认系统版本</a:t>
            </a:r>
            <a:endParaRPr lang="zh-CN" altLang="en-US" sz="2400" dirty="0"/>
          </a:p>
          <a:p>
            <a:pPr eaLnBrk="1" hangingPunct="1"/>
            <a:r>
              <a:rPr lang="zh-CN" altLang="en-US" sz="2400" dirty="0"/>
              <a:t>选择</a:t>
            </a:r>
            <a:r>
              <a:rPr lang="en-US" altLang="zh-CN" sz="2400" dirty="0"/>
              <a:t>64</a:t>
            </a:r>
            <a:r>
              <a:rPr lang="zh-CN" altLang="en-US" sz="2400" dirty="0"/>
              <a:t>位</a:t>
            </a:r>
            <a:r>
              <a:rPr lang="en-US" altLang="zh-CN" sz="2400" dirty="0"/>
              <a:t>Ubuntu</a:t>
            </a:r>
            <a:r>
              <a:rPr lang="zh-CN" altLang="en-US" sz="2400" dirty="0"/>
              <a:t>系统，安装虚拟机前，要进入</a:t>
            </a:r>
            <a:r>
              <a:rPr lang="en-US" altLang="zh-CN" sz="2400" dirty="0"/>
              <a:t>BIOS</a:t>
            </a:r>
            <a:r>
              <a:rPr lang="zh-CN" altLang="en-US" sz="2400" dirty="0"/>
              <a:t>开启</a:t>
            </a:r>
            <a:r>
              <a:rPr lang="en-US" altLang="zh-CN" sz="2400" dirty="0"/>
              <a:t>CPU</a:t>
            </a:r>
            <a:r>
              <a:rPr lang="zh-CN" altLang="en-US" sz="2400" dirty="0"/>
              <a:t>的虚拟化</a:t>
            </a:r>
            <a:endParaRPr lang="zh-CN" altLang="en-US" sz="2400" dirty="0"/>
          </a:p>
        </p:txBody>
      </p:sp>
      <p:pic>
        <p:nvPicPr>
          <p:cNvPr id="26628" name="Picture 2" descr="http://dblab.xmu.edu.cn/blog/wp-content/uploads/2015/10/64430142658029276.jpg"/>
          <p:cNvPicPr>
            <a:picLocks noChangeAspect="1" noChangeArrowheads="1"/>
          </p:cNvPicPr>
          <p:nvPr>
            <p:custDataLst>
              <p:tags r:id="rId3"/>
            </p:custDataLst>
          </p:nvPr>
        </p:nvPicPr>
        <p:blipFill>
          <a:blip r:embed="rId4" cstate="print">
            <a:extLst>
              <a:ext uri="{28A0092B-C50C-407E-A947-70E740481C1C}">
                <a14:useLocalDpi xmlns:a14="http://schemas.microsoft.com/office/drawing/2010/main" val="0"/>
              </a:ext>
            </a:extLst>
          </a:blip>
          <a:srcRect b="38863"/>
          <a:stretch>
            <a:fillRect/>
          </a:stretch>
        </p:blipFill>
        <p:spPr bwMode="auto">
          <a:xfrm>
            <a:off x="6452870" y="4408170"/>
            <a:ext cx="4324350" cy="212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矩形 3"/>
          <p:cNvSpPr>
            <a:spLocks noChangeArrowheads="1"/>
          </p:cNvSpPr>
          <p:nvPr/>
        </p:nvSpPr>
        <p:spPr bwMode="auto">
          <a:xfrm>
            <a:off x="977266" y="1572895"/>
            <a:ext cx="25285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a:t>
            </a:r>
            <a:r>
              <a:rPr lang="zh-CN" altLang="en-US" sz="2400" b="1"/>
              <a:t>二</a:t>
            </a:r>
            <a:r>
              <a:rPr lang="en-US" altLang="zh-CN" sz="2400" b="1"/>
              <a:t>)</a:t>
            </a:r>
            <a:r>
              <a:rPr lang="zh-CN" altLang="en-US" sz="2400" b="1"/>
              <a:t>安装前的准备</a:t>
            </a:r>
            <a:endParaRPr lang="zh-CN" altLang="en-US" sz="2400" b="1"/>
          </a:p>
        </p:txBody>
      </p:sp>
      <p:sp>
        <p:nvSpPr>
          <p:cNvPr id="27652" name="矩形 4"/>
          <p:cNvSpPr>
            <a:spLocks noChangeArrowheads="1"/>
          </p:cNvSpPr>
          <p:nvPr/>
        </p:nvSpPr>
        <p:spPr bwMode="auto">
          <a:xfrm>
            <a:off x="1053465" y="2030095"/>
            <a:ext cx="7696200"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t>1.</a:t>
            </a:r>
            <a:r>
              <a:rPr lang="zh-CN" altLang="en-US" sz="2400" dirty="0"/>
              <a:t>打开</a:t>
            </a:r>
            <a:r>
              <a:rPr lang="en-US" altLang="zh-CN" sz="2400" dirty="0"/>
              <a:t>VirtualBox</a:t>
            </a:r>
            <a:r>
              <a:rPr lang="zh-CN" altLang="en-US" sz="2400" dirty="0"/>
              <a:t>，点击“创建”按钮，创建一个虚拟机</a:t>
            </a:r>
            <a:endParaRPr lang="en-US" altLang="zh-CN" sz="2400" dirty="0"/>
          </a:p>
          <a:p>
            <a:pPr eaLnBrk="1" hangingPunct="1"/>
            <a:r>
              <a:rPr lang="en-US" altLang="zh-CN" sz="2400" dirty="0"/>
              <a:t>2.</a:t>
            </a:r>
            <a:r>
              <a:rPr lang="zh-CN" altLang="en-US" sz="2400" dirty="0"/>
              <a:t>给虚拟机命名，选择操作系统，版本</a:t>
            </a:r>
            <a:endParaRPr lang="en-US" altLang="zh-CN" sz="2400" dirty="0"/>
          </a:p>
          <a:p>
            <a:pPr eaLnBrk="1" hangingPunct="1"/>
            <a:r>
              <a:rPr lang="en-US" altLang="zh-CN" sz="2400" dirty="0"/>
              <a:t>3.</a:t>
            </a:r>
            <a:r>
              <a:rPr lang="zh-CN" altLang="en-US" sz="2400" dirty="0"/>
              <a:t>选择内存大小，这里设置的</a:t>
            </a:r>
            <a:r>
              <a:rPr lang="en-US" altLang="zh-CN" sz="2400" dirty="0"/>
              <a:t>1024M</a:t>
            </a:r>
            <a:endParaRPr lang="en-US" altLang="zh-CN" sz="2400" dirty="0"/>
          </a:p>
          <a:p>
            <a:pPr eaLnBrk="1" hangingPunct="1"/>
            <a:r>
              <a:rPr lang="en-US" altLang="zh-CN" sz="2400" dirty="0"/>
              <a:t>4.</a:t>
            </a:r>
            <a:r>
              <a:rPr lang="zh-CN" altLang="en-US" sz="2400" dirty="0"/>
              <a:t>创建虚拟硬盘</a:t>
            </a:r>
            <a:endParaRPr lang="en-US" altLang="zh-CN" sz="2400" dirty="0"/>
          </a:p>
          <a:p>
            <a:pPr eaLnBrk="1" hangingPunct="1"/>
            <a:r>
              <a:rPr lang="en-US" altLang="zh-CN" sz="2400" dirty="0"/>
              <a:t>5.</a:t>
            </a:r>
            <a:r>
              <a:rPr lang="zh-CN" altLang="en-US" sz="2400" dirty="0"/>
              <a:t>选择虚拟硬盘文件类型</a:t>
            </a:r>
            <a:r>
              <a:rPr lang="en-US" altLang="zh-CN" sz="2400" dirty="0"/>
              <a:t>VDI</a:t>
            </a:r>
            <a:endParaRPr lang="en-US" altLang="zh-CN" sz="2400" dirty="0"/>
          </a:p>
          <a:p>
            <a:pPr eaLnBrk="1" hangingPunct="1"/>
            <a:r>
              <a:rPr lang="en-US" altLang="zh-CN" sz="2400" dirty="0"/>
              <a:t>6.</a:t>
            </a:r>
            <a:r>
              <a:rPr lang="zh-CN" altLang="en-US" sz="2400" dirty="0"/>
              <a:t>虚拟硬盘选择动态分配</a:t>
            </a:r>
            <a:endParaRPr lang="en-US" altLang="zh-CN" sz="2400" dirty="0"/>
          </a:p>
          <a:p>
            <a:pPr eaLnBrk="1" hangingPunct="1"/>
            <a:r>
              <a:rPr lang="en-US" altLang="zh-CN" sz="2400" dirty="0"/>
              <a:t>7.</a:t>
            </a:r>
            <a:r>
              <a:rPr lang="zh-CN" altLang="en-US" sz="2400" dirty="0"/>
              <a:t>选择文件存储的位置和容量大小</a:t>
            </a:r>
            <a:endParaRPr lang="en-US" altLang="zh-CN" sz="2400" dirty="0"/>
          </a:p>
          <a:p>
            <a:pPr eaLnBrk="1" hangingPunct="1"/>
            <a:r>
              <a:rPr lang="en-US" altLang="zh-CN" sz="2400" dirty="0"/>
              <a:t>8.</a:t>
            </a:r>
            <a:r>
              <a:rPr lang="zh-CN" altLang="en-US" sz="2400" dirty="0"/>
              <a:t>点击创建</a:t>
            </a:r>
            <a:endParaRPr lang="zh-CN" altLang="en-US" sz="2400" dirty="0"/>
          </a:p>
          <a:p>
            <a:pPr eaLnBrk="1" hangingPunct="1"/>
            <a:endParaRPr lang="zh-CN" altLang="en-US" sz="2400" dirty="0"/>
          </a:p>
        </p:txBody>
      </p:sp>
      <p:pic>
        <p:nvPicPr>
          <p:cNvPr id="27653"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44945" y="2699704"/>
            <a:ext cx="4445000"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2" name="Rectangle 2"/>
          <p:cNvSpPr>
            <a:spLocks noGrp="1" noChangeArrowheads="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rPr>
              <a:t>安装Linux虚拟机</a:t>
            </a:r>
            <a:endParaRPr sz="48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rPr>
              <a:t>安装Linux虚拟机</a:t>
            </a:r>
            <a:endParaRPr sz="4800" b="1" dirty="0">
              <a:solidFill>
                <a:srgbClr val="000000"/>
              </a:solidFill>
              <a:latin typeface="宋体" panose="02010600030101010101" pitchFamily="2" charset="-122"/>
              <a:ea typeface="宋体" panose="02010600030101010101" pitchFamily="2" charset="-122"/>
            </a:endParaRPr>
          </a:p>
        </p:txBody>
      </p:sp>
      <p:sp>
        <p:nvSpPr>
          <p:cNvPr id="28675" name="矩形 3"/>
          <p:cNvSpPr>
            <a:spLocks noChangeArrowheads="1"/>
          </p:cNvSpPr>
          <p:nvPr>
            <p:custDataLst>
              <p:tags r:id="rId2"/>
            </p:custDataLst>
          </p:nvPr>
        </p:nvSpPr>
        <p:spPr bwMode="auto">
          <a:xfrm>
            <a:off x="1054735" y="1941195"/>
            <a:ext cx="23704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a:t>
            </a:r>
            <a:r>
              <a:rPr lang="zh-CN" altLang="en-US" sz="2400" b="1"/>
              <a:t>三</a:t>
            </a:r>
            <a:r>
              <a:rPr lang="en-US" altLang="zh-CN" sz="2400" b="1"/>
              <a:t>)</a:t>
            </a:r>
            <a:r>
              <a:rPr lang="zh-CN" altLang="en-US" sz="2400" b="1"/>
              <a:t>安装</a:t>
            </a:r>
            <a:r>
              <a:rPr lang="en-US" altLang="zh-CN" sz="2400" b="1"/>
              <a:t>Ubuntu</a:t>
            </a:r>
            <a:endParaRPr lang="en-US" altLang="zh-CN" sz="2400" b="1"/>
          </a:p>
        </p:txBody>
      </p:sp>
      <p:pic>
        <p:nvPicPr>
          <p:cNvPr id="28676" name="Picture 2" descr="http://dblab.xmu.edu.cn/blog/wp-content/uploads/2015/12/4.png"/>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437640" y="3222626"/>
            <a:ext cx="396240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4" descr="http://dblab.xmu.edu.cn/blog/wp-content/uploads/2015/12/61.png"/>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6096000" y="3050541"/>
            <a:ext cx="4038600" cy="332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矩形 3"/>
          <p:cNvSpPr>
            <a:spLocks noChangeArrowheads="1"/>
          </p:cNvSpPr>
          <p:nvPr/>
        </p:nvSpPr>
        <p:spPr bwMode="auto">
          <a:xfrm>
            <a:off x="1104266" y="1590675"/>
            <a:ext cx="912942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第一步：制作安装</a:t>
            </a:r>
            <a:r>
              <a:rPr lang="en-US" altLang="zh-CN" sz="2400" dirty="0"/>
              <a:t>U</a:t>
            </a:r>
            <a:r>
              <a:rPr lang="zh-CN" altLang="en-US" sz="2400" dirty="0"/>
              <a:t>盘</a:t>
            </a:r>
            <a:endParaRPr lang="en-US" altLang="zh-CN" sz="2400" dirty="0"/>
          </a:p>
          <a:p>
            <a:pPr eaLnBrk="1" hangingPunct="1"/>
            <a:r>
              <a:rPr lang="zh-CN" altLang="en-US" sz="2400" dirty="0"/>
              <a:t>具体可参考百度经验文章</a:t>
            </a:r>
            <a:endParaRPr lang="en-US" altLang="zh-CN" sz="2400" dirty="0"/>
          </a:p>
          <a:p>
            <a:pPr eaLnBrk="1" hangingPunct="1"/>
            <a:r>
              <a:rPr lang="en-US" altLang="zh-CN" sz="2400" dirty="0"/>
              <a:t>http://jingyan.baidu.com/article/59703552e0a6e18fc007409f.html</a:t>
            </a:r>
            <a:endParaRPr lang="en-US" altLang="zh-CN" sz="2400" dirty="0"/>
          </a:p>
          <a:p>
            <a:pPr eaLnBrk="1" hangingPunct="1"/>
            <a:endParaRPr lang="en-US" altLang="zh-CN" sz="2400" dirty="0"/>
          </a:p>
          <a:p>
            <a:pPr eaLnBrk="1" hangingPunct="1"/>
            <a:r>
              <a:rPr lang="zh-CN" altLang="en-US" sz="2400" dirty="0"/>
              <a:t>第二步：双系统安装</a:t>
            </a:r>
            <a:endParaRPr lang="en-US" altLang="zh-CN" sz="2400" dirty="0"/>
          </a:p>
          <a:p>
            <a:pPr eaLnBrk="1" hangingPunct="1"/>
            <a:r>
              <a:rPr lang="zh-CN" altLang="en-US" sz="2400" dirty="0"/>
              <a:t>具体可参考百度经验文章</a:t>
            </a:r>
            <a:endParaRPr lang="en-US" altLang="zh-CN" sz="2400" dirty="0"/>
          </a:p>
          <a:p>
            <a:pPr eaLnBrk="1" hangingPunct="1"/>
            <a:r>
              <a:rPr lang="en-US" altLang="zh-CN" sz="2400" dirty="0"/>
              <a:t>http://jingyan.baidu.com/article/dca1fa6fa3b905f1a44052bd.html</a:t>
            </a:r>
            <a:endParaRPr lang="en-US" altLang="zh-CN" sz="2400" dirty="0"/>
          </a:p>
        </p:txBody>
      </p:sp>
      <p:sp>
        <p:nvSpPr>
          <p:cNvPr id="29700" name="矩形 4"/>
          <p:cNvSpPr>
            <a:spLocks noChangeArrowheads="1"/>
          </p:cNvSpPr>
          <p:nvPr/>
        </p:nvSpPr>
        <p:spPr bwMode="auto">
          <a:xfrm>
            <a:off x="1269365" y="4744720"/>
            <a:ext cx="761428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安装后</a:t>
            </a:r>
            <a:r>
              <a:rPr lang="en-US" altLang="zh-CN" sz="2400"/>
              <a:t>Window</a:t>
            </a:r>
            <a:r>
              <a:rPr lang="zh-CN" altLang="en-US" sz="2400"/>
              <a:t>和</a:t>
            </a:r>
            <a:r>
              <a:rPr lang="en-US" altLang="zh-CN" sz="2400"/>
              <a:t>Ubuntu 16.04</a:t>
            </a:r>
            <a:r>
              <a:rPr lang="zh-CN" altLang="en-US" sz="2400"/>
              <a:t>（或</a:t>
            </a:r>
            <a:r>
              <a:rPr lang="en-US" altLang="zh-CN" sz="2400"/>
              <a:t>18.04</a:t>
            </a:r>
            <a:r>
              <a:rPr lang="zh-CN" altLang="en-US" sz="2400"/>
              <a:t>）都可以用</a:t>
            </a:r>
            <a:endParaRPr lang="zh-CN" altLang="en-US" sz="2400"/>
          </a:p>
          <a:p>
            <a:pPr eaLnBrk="1" hangingPunct="1"/>
            <a:r>
              <a:rPr lang="zh-CN" altLang="en-US" sz="2400"/>
              <a:t>在电脑启动时，可选进入</a:t>
            </a:r>
            <a:r>
              <a:rPr lang="en-US" altLang="zh-CN" sz="2400"/>
              <a:t>Ubuntu</a:t>
            </a:r>
            <a:r>
              <a:rPr lang="zh-CN" altLang="en-US" sz="2400"/>
              <a:t>还是 </a:t>
            </a:r>
            <a:r>
              <a:rPr lang="en-US" altLang="zh-CN" sz="2400"/>
              <a:t>Windows</a:t>
            </a:r>
            <a:endParaRPr lang="zh-CN" altLang="en-US" sz="2400"/>
          </a:p>
        </p:txBody>
      </p:sp>
      <p:sp>
        <p:nvSpPr>
          <p:cNvPr id="20482" name="Rectangle 2"/>
          <p:cNvSpPr>
            <a:spLocks noGrp="1" noChangeArrowheads="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rPr>
              <a:t>安装双操作系统</a:t>
            </a:r>
            <a:endParaRPr sz="48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txBox="1">
            <a:spLocks noChangeArrowheads="1"/>
          </p:cNvSpPr>
          <p:nvPr/>
        </p:nvSpPr>
        <p:spPr bwMode="auto">
          <a:xfrm>
            <a:off x="2590800" y="1676400"/>
            <a:ext cx="6654165" cy="328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400" dirty="0"/>
              <a:t>Hadoop</a:t>
            </a:r>
            <a:r>
              <a:rPr lang="zh-CN" altLang="en-US" sz="2400" dirty="0"/>
              <a:t>基本安装配置主要包括以下几个步骤：</a:t>
            </a:r>
            <a:endParaRPr lang="zh-CN" altLang="en-US" sz="2400" dirty="0"/>
          </a:p>
          <a:p>
            <a:pPr>
              <a:spcBef>
                <a:spcPct val="20000"/>
              </a:spcBef>
              <a:buFontTx/>
              <a:buChar char="•"/>
            </a:pPr>
            <a:r>
              <a:rPr lang="zh-CN" altLang="en-US" sz="2400" dirty="0"/>
              <a:t>创建</a:t>
            </a:r>
            <a:r>
              <a:rPr lang="zh-CN" altLang="en-US" sz="2400" dirty="0">
                <a:highlight>
                  <a:srgbClr val="FFFF00"/>
                </a:highlight>
              </a:rPr>
              <a:t>名为</a:t>
            </a:r>
            <a:r>
              <a:rPr lang="en-US" altLang="zh-CN" sz="2400" dirty="0" err="1">
                <a:highlight>
                  <a:srgbClr val="FFFF00"/>
                </a:highlight>
              </a:rPr>
              <a:t>hadoop</a:t>
            </a:r>
            <a:r>
              <a:rPr lang="zh-CN" altLang="en-US" sz="2400" dirty="0"/>
              <a:t>的用户</a:t>
            </a:r>
            <a:endParaRPr lang="zh-CN" altLang="en-US" sz="2400" dirty="0"/>
          </a:p>
          <a:p>
            <a:pPr>
              <a:spcBef>
                <a:spcPct val="20000"/>
              </a:spcBef>
              <a:buFontTx/>
              <a:buChar char="•"/>
            </a:pPr>
            <a:r>
              <a:rPr lang="zh-CN" altLang="en-US" sz="2400" dirty="0">
                <a:solidFill>
                  <a:schemeClr val="bg1">
                    <a:lumMod val="50000"/>
                  </a:schemeClr>
                </a:solidFill>
              </a:rPr>
              <a:t>更新</a:t>
            </a:r>
            <a:r>
              <a:rPr lang="en-US" altLang="zh-CN" sz="2400" dirty="0">
                <a:solidFill>
                  <a:schemeClr val="bg1">
                    <a:lumMod val="50000"/>
                  </a:schemeClr>
                </a:solidFill>
              </a:rPr>
              <a:t>apt</a:t>
            </a:r>
            <a:r>
              <a:rPr lang="zh-CN" altLang="en-US" sz="2400" dirty="0">
                <a:solidFill>
                  <a:schemeClr val="bg1">
                    <a:lumMod val="50000"/>
                  </a:schemeClr>
                </a:solidFill>
              </a:rPr>
              <a:t>和安装</a:t>
            </a:r>
            <a:r>
              <a:rPr lang="en-US" altLang="zh-CN" sz="2400" dirty="0">
                <a:solidFill>
                  <a:schemeClr val="bg1">
                    <a:lumMod val="50000"/>
                  </a:schemeClr>
                </a:solidFill>
              </a:rPr>
              <a:t>Vim</a:t>
            </a:r>
            <a:r>
              <a:rPr lang="zh-CN" altLang="en-US" sz="2400" dirty="0">
                <a:solidFill>
                  <a:schemeClr val="bg1">
                    <a:lumMod val="50000"/>
                  </a:schemeClr>
                </a:solidFill>
              </a:rPr>
              <a:t>编辑器</a:t>
            </a:r>
            <a:endParaRPr lang="zh-CN" altLang="en-US" sz="2400" dirty="0">
              <a:solidFill>
                <a:schemeClr val="bg1">
                  <a:lumMod val="50000"/>
                </a:schemeClr>
              </a:solidFill>
            </a:endParaRPr>
          </a:p>
          <a:p>
            <a:pPr>
              <a:spcBef>
                <a:spcPct val="20000"/>
              </a:spcBef>
              <a:buFontTx/>
              <a:buChar char="•"/>
            </a:pPr>
            <a:r>
              <a:rPr lang="en-US" altLang="zh-CN" sz="2400" dirty="0"/>
              <a:t>SSH</a:t>
            </a:r>
            <a:r>
              <a:rPr lang="zh-CN" altLang="en-US" sz="2400" dirty="0"/>
              <a:t>登录权限设置</a:t>
            </a:r>
            <a:endParaRPr lang="en-US" altLang="zh-CN" sz="2400" dirty="0"/>
          </a:p>
          <a:p>
            <a:pPr>
              <a:spcBef>
                <a:spcPct val="20000"/>
              </a:spcBef>
              <a:buFontTx/>
              <a:buChar char="•"/>
            </a:pPr>
            <a:r>
              <a:rPr lang="zh-CN" altLang="en-US" sz="2400" dirty="0"/>
              <a:t>安装</a:t>
            </a:r>
            <a:r>
              <a:rPr lang="en-US" altLang="zh-CN" sz="2400" dirty="0"/>
              <a:t>Java</a:t>
            </a:r>
            <a:r>
              <a:rPr lang="zh-CN" altLang="en-US" sz="2400" dirty="0"/>
              <a:t>环境</a:t>
            </a:r>
            <a:endParaRPr lang="zh-CN" altLang="en-US" sz="2400" dirty="0"/>
          </a:p>
          <a:p>
            <a:pPr>
              <a:spcBef>
                <a:spcPct val="20000"/>
              </a:spcBef>
              <a:buFontTx/>
              <a:buChar char="•"/>
            </a:pPr>
            <a:r>
              <a:rPr lang="zh-CN" altLang="en-US" sz="2400" dirty="0"/>
              <a:t>单机安装配置</a:t>
            </a:r>
            <a:endParaRPr lang="zh-CN" altLang="en-US" sz="2400" dirty="0"/>
          </a:p>
          <a:p>
            <a:pPr>
              <a:spcBef>
                <a:spcPct val="20000"/>
              </a:spcBef>
              <a:buFontTx/>
              <a:buChar char="•"/>
            </a:pPr>
            <a:r>
              <a:rPr lang="zh-CN" altLang="en-US" sz="2400" dirty="0"/>
              <a:t>伪分布式安装配置 </a:t>
            </a:r>
            <a:endParaRPr lang="zh-CN" altLang="en-US" sz="2400" dirty="0"/>
          </a:p>
        </p:txBody>
      </p:sp>
      <p:sp>
        <p:nvSpPr>
          <p:cNvPr id="30724" name="TextBox 4"/>
          <p:cNvSpPr txBox="1">
            <a:spLocks noChangeArrowheads="1"/>
          </p:cNvSpPr>
          <p:nvPr/>
        </p:nvSpPr>
        <p:spPr bwMode="auto">
          <a:xfrm>
            <a:off x="1955482" y="5570537"/>
            <a:ext cx="79248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t>详细安装配置过程请参考厦门大学数据库实验室出品教程</a:t>
            </a:r>
            <a:endParaRPr lang="en-US" altLang="zh-CN" dirty="0"/>
          </a:p>
          <a:p>
            <a:pPr eaLnBrk="1" hangingPunct="1"/>
            <a:r>
              <a:rPr lang="en-US" altLang="zh-CN" dirty="0"/>
              <a:t>《</a:t>
            </a:r>
            <a:r>
              <a:rPr lang="zh-CN" altLang="zh-CN" b="1" dirty="0"/>
              <a:t>Hadoop</a:t>
            </a:r>
            <a:r>
              <a:rPr lang="zh-CN" altLang="en-US" b="1" dirty="0"/>
              <a:t>安装教程</a:t>
            </a:r>
            <a:r>
              <a:rPr lang="zh-CN" altLang="zh-CN" b="1" dirty="0"/>
              <a:t>_</a:t>
            </a:r>
            <a:r>
              <a:rPr lang="zh-CN" altLang="en-US" b="1" dirty="0"/>
              <a:t>单机</a:t>
            </a:r>
            <a:r>
              <a:rPr lang="zh-CN" altLang="zh-CN" b="1" dirty="0"/>
              <a:t>/</a:t>
            </a:r>
            <a:r>
              <a:rPr lang="zh-CN" altLang="en-US" b="1" dirty="0"/>
              <a:t>伪分布式配置</a:t>
            </a:r>
            <a:r>
              <a:rPr lang="zh-CN" altLang="zh-CN" b="1" dirty="0"/>
              <a:t>_Hadoop3.1.3/Ubuntu18.04</a:t>
            </a:r>
            <a:r>
              <a:rPr lang="en-US" altLang="zh-CN" dirty="0"/>
              <a:t>》</a:t>
            </a:r>
            <a:endParaRPr lang="en-US" altLang="zh-CN" dirty="0"/>
          </a:p>
          <a:p>
            <a:pPr eaLnBrk="1" hangingPunct="1"/>
            <a:r>
              <a:rPr lang="en-US" altLang="zh-CN" dirty="0"/>
              <a:t>http://dblab.xmu.edu.cn/blog/2441-2/</a:t>
            </a:r>
            <a:endParaRPr lang="zh-CN" altLang="en-US" dirty="0"/>
          </a:p>
        </p:txBody>
      </p:sp>
      <p:sp>
        <p:nvSpPr>
          <p:cNvPr id="20482" name="Rectangle 2"/>
          <p:cNvSpPr>
            <a:spLocks noGrp="1" noChangeArrowheads="1"/>
          </p:cNvSpPr>
          <p:nvPr>
            <p:custDataLst>
              <p:tags r:id="rId1"/>
            </p:custDataLst>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err="1">
                <a:solidFill>
                  <a:srgbClr val="000000"/>
                </a:solidFill>
                <a:latin typeface="宋体" panose="02010600030101010101" pitchFamily="2" charset="-122"/>
                <a:ea typeface="宋体" panose="02010600030101010101" pitchFamily="2" charset="-122"/>
              </a:rPr>
              <a:t>单机</a:t>
            </a:r>
            <a:r>
              <a:rPr sz="4800" b="1" dirty="0">
                <a:solidFill>
                  <a:srgbClr val="000000"/>
                </a:solidFill>
                <a:latin typeface="宋体" panose="02010600030101010101" pitchFamily="2" charset="-122"/>
                <a:ea typeface="宋体" panose="02010600030101010101" pitchFamily="2" charset="-122"/>
              </a:rPr>
              <a:t>/</a:t>
            </a:r>
            <a:r>
              <a:rPr sz="4800" b="1" dirty="0" err="1">
                <a:solidFill>
                  <a:srgbClr val="000000"/>
                </a:solidFill>
                <a:latin typeface="宋体" panose="02010600030101010101" pitchFamily="2" charset="-122"/>
                <a:ea typeface="宋体" panose="02010600030101010101" pitchFamily="2" charset="-122"/>
              </a:rPr>
              <a:t>伪分布式</a:t>
            </a:r>
            <a:endParaRPr sz="4800" b="1" dirty="0">
              <a:solidFill>
                <a:srgbClr val="000000"/>
              </a:solidFill>
              <a:latin typeface="宋体" panose="02010600030101010101" pitchFamily="2" charset="-122"/>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sz="4800" b="1" dirty="0">
                <a:solidFill>
                  <a:srgbClr val="000000"/>
                </a:solidFill>
                <a:latin typeface="宋体" panose="02010600030101010101" pitchFamily="2" charset="-122"/>
                <a:ea typeface="宋体" panose="02010600030101010101" pitchFamily="2" charset="-122"/>
              </a:rPr>
              <a:t>创建Hadoop用户</a:t>
            </a:r>
            <a:endParaRPr sz="4800" b="1" dirty="0">
              <a:solidFill>
                <a:srgbClr val="000000"/>
              </a:solidFill>
              <a:latin typeface="宋体" panose="02010600030101010101" pitchFamily="2" charset="-122"/>
              <a:ea typeface="宋体" panose="02010600030101010101" pitchFamily="2" charset="-122"/>
            </a:endParaRPr>
          </a:p>
        </p:txBody>
      </p:sp>
      <p:sp>
        <p:nvSpPr>
          <p:cNvPr id="31747" name="矩形 3"/>
          <p:cNvSpPr>
            <a:spLocks noChangeArrowheads="1"/>
          </p:cNvSpPr>
          <p:nvPr/>
        </p:nvSpPr>
        <p:spPr bwMode="auto">
          <a:xfrm>
            <a:off x="1452880" y="1512090"/>
            <a:ext cx="7848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用户名：</a:t>
            </a:r>
            <a:r>
              <a:rPr lang="en-US" altLang="zh-CN" sz="2400" dirty="0" err="1"/>
              <a:t>hadoop</a:t>
            </a:r>
            <a:endParaRPr lang="zh-CN" altLang="en-US" sz="2400" dirty="0"/>
          </a:p>
        </p:txBody>
      </p:sp>
      <p:sp>
        <p:nvSpPr>
          <p:cNvPr id="31748" name="矩形 4"/>
          <p:cNvSpPr>
            <a:spLocks noChangeArrowheads="1"/>
          </p:cNvSpPr>
          <p:nvPr/>
        </p:nvSpPr>
        <p:spPr bwMode="auto">
          <a:xfrm>
            <a:off x="1452880" y="2046013"/>
            <a:ext cx="83413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首先按 </a:t>
            </a:r>
            <a:r>
              <a:rPr lang="en-US" altLang="zh-CN" sz="2400" b="1" dirty="0" err="1"/>
              <a:t>ctrl+alt+t</a:t>
            </a:r>
            <a:r>
              <a:rPr lang="zh-CN" altLang="en-US" sz="2400" dirty="0"/>
              <a:t> 打开终端窗口，输入如下命令</a:t>
            </a:r>
            <a:r>
              <a:rPr lang="en-US" altLang="zh-CN" sz="2400" dirty="0"/>
              <a:t>:</a:t>
            </a:r>
            <a:endParaRPr lang="en-US" altLang="zh-CN" sz="2400" dirty="0"/>
          </a:p>
        </p:txBody>
      </p:sp>
      <p:graphicFrame>
        <p:nvGraphicFramePr>
          <p:cNvPr id="7" name="表格 6"/>
          <p:cNvGraphicFramePr>
            <a:graphicFrameLocks noGrp="1"/>
          </p:cNvGraphicFramePr>
          <p:nvPr/>
        </p:nvGraphicFramePr>
        <p:xfrm>
          <a:off x="2021840" y="2695576"/>
          <a:ext cx="6096000" cy="457356"/>
        </p:xfrm>
        <a:graphic>
          <a:graphicData uri="http://schemas.openxmlformats.org/drawingml/2006/table">
            <a:tbl>
              <a:tblPr firstRow="1" bandRow="1">
                <a:tableStyleId>{00A15C55-8517-42AA-B614-E9B94910E393}</a:tableStyleId>
              </a:tblPr>
              <a:tblGrid>
                <a:gridCol w="6096000"/>
              </a:tblGrid>
              <a:tr h="371475">
                <a:tc>
                  <a:txBody>
                    <a:bodyPr/>
                    <a:lstStyle/>
                    <a:p>
                      <a:r>
                        <a:rPr lang="en-US" altLang="zh-CN" sz="2400" dirty="0"/>
                        <a:t>$ </a:t>
                      </a:r>
                      <a:r>
                        <a:rPr lang="en-US" altLang="zh-CN" sz="2400" dirty="0" err="1"/>
                        <a:t>sudo</a:t>
                      </a:r>
                      <a:r>
                        <a:rPr lang="en-US" altLang="zh-CN" sz="2400" baseline="0" dirty="0"/>
                        <a:t> </a:t>
                      </a:r>
                      <a:r>
                        <a:rPr lang="en-US" altLang="zh-CN" sz="2400" baseline="0" dirty="0" err="1"/>
                        <a:t>useradd</a:t>
                      </a:r>
                      <a:r>
                        <a:rPr lang="en-US" altLang="zh-CN" sz="2400" baseline="0" dirty="0"/>
                        <a:t> –m </a:t>
                      </a:r>
                      <a:r>
                        <a:rPr lang="en-US" altLang="zh-CN" sz="2400" baseline="0" dirty="0" err="1"/>
                        <a:t>hadoop</a:t>
                      </a:r>
                      <a:r>
                        <a:rPr lang="en-US" altLang="zh-CN" sz="2400" baseline="0" dirty="0"/>
                        <a:t> –s /bin/bash</a:t>
                      </a:r>
                      <a:endParaRPr lang="en-US" altLang="zh-CN" sz="2400" baseline="0" dirty="0"/>
                    </a:p>
                  </a:txBody>
                  <a:tcPr marT="45798" marB="45798"/>
                </a:tc>
              </a:tr>
            </a:tbl>
          </a:graphicData>
        </a:graphic>
      </p:graphicFrame>
      <p:sp>
        <p:nvSpPr>
          <p:cNvPr id="31755" name="矩形 7"/>
          <p:cNvSpPr>
            <a:spLocks noChangeArrowheads="1"/>
          </p:cNvSpPr>
          <p:nvPr/>
        </p:nvSpPr>
        <p:spPr bwMode="auto">
          <a:xfrm>
            <a:off x="1452880" y="3314857"/>
            <a:ext cx="6350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建</a:t>
            </a:r>
            <a:r>
              <a:rPr lang="en-US" altLang="zh-CN" sz="2400" dirty="0" err="1"/>
              <a:t>hadoop</a:t>
            </a:r>
            <a:r>
              <a:rPr lang="en-US" altLang="zh-CN" sz="2400" dirty="0"/>
              <a:t> </a:t>
            </a:r>
            <a:r>
              <a:rPr lang="zh-CN" altLang="en-US" sz="2400" dirty="0"/>
              <a:t>用户，并使用 </a:t>
            </a:r>
            <a:r>
              <a:rPr lang="en-US" altLang="zh-CN" sz="2400" dirty="0"/>
              <a:t>/bin/bash </a:t>
            </a:r>
            <a:r>
              <a:rPr lang="zh-CN" altLang="en-US" sz="2400" dirty="0"/>
              <a:t>作为 </a:t>
            </a:r>
            <a:r>
              <a:rPr lang="en-US" altLang="zh-CN" sz="2400" dirty="0"/>
              <a:t>shell</a:t>
            </a:r>
            <a:endParaRPr lang="en-US" altLang="zh-CN" sz="2400" dirty="0"/>
          </a:p>
        </p:txBody>
      </p:sp>
      <p:sp>
        <p:nvSpPr>
          <p:cNvPr id="31756" name="矩形 8"/>
          <p:cNvSpPr>
            <a:spLocks noChangeArrowheads="1"/>
          </p:cNvSpPr>
          <p:nvPr/>
        </p:nvSpPr>
        <p:spPr bwMode="auto">
          <a:xfrm>
            <a:off x="1452880" y="4005320"/>
            <a:ext cx="7772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设置密码为 </a:t>
            </a:r>
            <a:r>
              <a:rPr lang="en-US" altLang="zh-CN" sz="2400" dirty="0" err="1"/>
              <a:t>hadoop</a:t>
            </a:r>
            <a:r>
              <a:rPr lang="zh-CN" altLang="en-US" sz="2400" dirty="0"/>
              <a:t>，按提示输入两次密码：</a:t>
            </a:r>
            <a:endParaRPr lang="zh-CN" altLang="en-US" sz="2400" dirty="0"/>
          </a:p>
        </p:txBody>
      </p:sp>
      <p:graphicFrame>
        <p:nvGraphicFramePr>
          <p:cNvPr id="10" name="表格 9"/>
          <p:cNvGraphicFramePr>
            <a:graphicFrameLocks noGrp="1"/>
          </p:cNvGraphicFramePr>
          <p:nvPr/>
        </p:nvGraphicFramePr>
        <p:xfrm>
          <a:off x="2021840" y="4708962"/>
          <a:ext cx="6096000" cy="457356"/>
        </p:xfrm>
        <a:graphic>
          <a:graphicData uri="http://schemas.openxmlformats.org/drawingml/2006/table">
            <a:tbl>
              <a:tblPr firstRow="1" bandRow="1">
                <a:tableStyleId>{00A15C55-8517-42AA-B614-E9B94910E393}</a:tableStyleId>
              </a:tblPr>
              <a:tblGrid>
                <a:gridCol w="6096000"/>
              </a:tblGrid>
              <a:tr h="371475">
                <a:tc>
                  <a:txBody>
                    <a:bodyPr/>
                    <a:lstStyle/>
                    <a:p>
                      <a:r>
                        <a:rPr lang="en-US" altLang="zh-CN" sz="2400" dirty="0"/>
                        <a:t>$ </a:t>
                      </a:r>
                      <a:r>
                        <a:rPr lang="en-US" altLang="zh-CN" sz="2400" dirty="0" err="1"/>
                        <a:t>sudo</a:t>
                      </a:r>
                      <a:r>
                        <a:rPr lang="en-US" altLang="zh-CN" sz="2400" dirty="0"/>
                        <a:t> </a:t>
                      </a:r>
                      <a:r>
                        <a:rPr lang="en-US" altLang="zh-CN" sz="2400" dirty="0" err="1"/>
                        <a:t>passwd</a:t>
                      </a:r>
                      <a:r>
                        <a:rPr lang="en-US" altLang="zh-CN" sz="2400" dirty="0"/>
                        <a:t> </a:t>
                      </a:r>
                      <a:r>
                        <a:rPr lang="en-US" altLang="zh-CN" sz="2400" dirty="0" err="1"/>
                        <a:t>hadoop</a:t>
                      </a:r>
                      <a:endParaRPr lang="en-US" altLang="zh-CN" sz="2400" dirty="0" err="1"/>
                    </a:p>
                  </a:txBody>
                  <a:tcPr marT="45798" marB="45798"/>
                </a:tc>
              </a:tr>
            </a:tbl>
          </a:graphicData>
        </a:graphic>
      </p:graphicFrame>
      <p:sp>
        <p:nvSpPr>
          <p:cNvPr id="31763" name="矩形 10"/>
          <p:cNvSpPr>
            <a:spLocks noChangeArrowheads="1"/>
          </p:cNvSpPr>
          <p:nvPr/>
        </p:nvSpPr>
        <p:spPr bwMode="auto">
          <a:xfrm>
            <a:off x="1452880" y="5378316"/>
            <a:ext cx="64211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可为 </a:t>
            </a:r>
            <a:r>
              <a:rPr lang="en-US" altLang="zh-CN" sz="2400" dirty="0" err="1"/>
              <a:t>hadoop</a:t>
            </a:r>
            <a:r>
              <a:rPr lang="en-US" altLang="zh-CN" sz="2400" dirty="0"/>
              <a:t> </a:t>
            </a:r>
            <a:r>
              <a:rPr lang="zh-CN" altLang="en-US" sz="2400" dirty="0"/>
              <a:t>用户增加管理员权限：</a:t>
            </a:r>
            <a:endParaRPr lang="zh-CN" altLang="en-US" sz="2400" dirty="0"/>
          </a:p>
        </p:txBody>
      </p:sp>
      <p:graphicFrame>
        <p:nvGraphicFramePr>
          <p:cNvPr id="12" name="表格 11"/>
          <p:cNvGraphicFramePr>
            <a:graphicFrameLocks noGrp="1"/>
          </p:cNvGraphicFramePr>
          <p:nvPr/>
        </p:nvGraphicFramePr>
        <p:xfrm>
          <a:off x="2021840" y="6035519"/>
          <a:ext cx="6096000" cy="457356"/>
        </p:xfrm>
        <a:graphic>
          <a:graphicData uri="http://schemas.openxmlformats.org/drawingml/2006/table">
            <a:tbl>
              <a:tblPr firstRow="1" bandRow="1">
                <a:tableStyleId>{00A15C55-8517-42AA-B614-E9B94910E393}</a:tableStyleId>
              </a:tblPr>
              <a:tblGrid>
                <a:gridCol w="6096000"/>
              </a:tblGrid>
              <a:tr h="371475">
                <a:tc>
                  <a:txBody>
                    <a:bodyPr/>
                    <a:lstStyle/>
                    <a:p>
                      <a:r>
                        <a:rPr lang="en-US" altLang="zh-CN" sz="2400" dirty="0"/>
                        <a:t>$ </a:t>
                      </a:r>
                      <a:r>
                        <a:rPr lang="en-US" altLang="zh-CN" sz="2400" dirty="0" err="1"/>
                        <a:t>sudo</a:t>
                      </a:r>
                      <a:r>
                        <a:rPr lang="en-US" altLang="zh-CN" sz="2400" dirty="0"/>
                        <a:t> </a:t>
                      </a:r>
                      <a:r>
                        <a:rPr lang="en-US" altLang="zh-CN" sz="2400" dirty="0" err="1"/>
                        <a:t>adduser</a:t>
                      </a:r>
                      <a:r>
                        <a:rPr lang="en-US" altLang="zh-CN" sz="2400" dirty="0"/>
                        <a:t> </a:t>
                      </a:r>
                      <a:r>
                        <a:rPr lang="en-US" altLang="zh-CN" sz="2400" dirty="0" err="1"/>
                        <a:t>hadoop</a:t>
                      </a:r>
                      <a:r>
                        <a:rPr lang="en-US" altLang="zh-CN" sz="2400" dirty="0"/>
                        <a:t> </a:t>
                      </a:r>
                      <a:r>
                        <a:rPr lang="en-US" altLang="zh-CN" sz="2400" dirty="0" err="1"/>
                        <a:t>sudo</a:t>
                      </a:r>
                      <a:endParaRPr lang="en-US" altLang="zh-CN" sz="2400" dirty="0" err="1"/>
                    </a:p>
                  </a:txBody>
                  <a:tcPr marT="45798" marB="45798"/>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7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76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p:bldP spid="31755" grpId="0"/>
      <p:bldP spid="31756" grpId="0"/>
      <p:bldP spid="3176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z="4800" b="1" dirty="0">
                <a:solidFill>
                  <a:srgbClr val="000000"/>
                </a:solidFill>
                <a:latin typeface="宋体" panose="02010600030101010101" pitchFamily="2" charset="-122"/>
                <a:ea typeface="宋体" panose="02010600030101010101" pitchFamily="2" charset="-122"/>
              </a:rPr>
              <a:t>更新</a:t>
            </a:r>
            <a:r>
              <a:rPr lang="en-US" altLang="zh-CN" sz="4800" b="1" dirty="0">
                <a:solidFill>
                  <a:srgbClr val="000000"/>
                </a:solidFill>
                <a:latin typeface="宋体" panose="02010600030101010101" pitchFamily="2" charset="-122"/>
                <a:ea typeface="宋体" panose="02010600030101010101" pitchFamily="2" charset="-122"/>
              </a:rPr>
              <a:t>apt</a:t>
            </a:r>
            <a:r>
              <a:rPr lang="zh-CN" altLang="en-US" sz="4800" b="1" dirty="0">
                <a:solidFill>
                  <a:srgbClr val="000000"/>
                </a:solidFill>
                <a:latin typeface="宋体" panose="02010600030101010101" pitchFamily="2" charset="-122"/>
                <a:ea typeface="宋体" panose="02010600030101010101" pitchFamily="2" charset="-122"/>
              </a:rPr>
              <a:t>和安装</a:t>
            </a:r>
            <a:r>
              <a:rPr lang="en-US" altLang="zh-CN" sz="4800" b="1" dirty="0">
                <a:solidFill>
                  <a:srgbClr val="000000"/>
                </a:solidFill>
                <a:latin typeface="宋体" panose="02010600030101010101" pitchFamily="2" charset="-122"/>
                <a:ea typeface="宋体" panose="02010600030101010101" pitchFamily="2" charset="-122"/>
              </a:rPr>
              <a:t>Vim</a:t>
            </a:r>
            <a:r>
              <a:rPr lang="zh-CN" altLang="en-US" sz="4800" b="1" dirty="0">
                <a:solidFill>
                  <a:srgbClr val="000000"/>
                </a:solidFill>
                <a:latin typeface="宋体" panose="02010600030101010101" pitchFamily="2" charset="-122"/>
                <a:ea typeface="宋体" panose="02010600030101010101" pitchFamily="2" charset="-122"/>
              </a:rPr>
              <a:t>编辑器</a:t>
            </a:r>
            <a:endParaRPr sz="4800" b="1" dirty="0">
              <a:solidFill>
                <a:srgbClr val="000000"/>
              </a:solidFill>
              <a:latin typeface="宋体" panose="02010600030101010101" pitchFamily="2" charset="-122"/>
              <a:ea typeface="宋体" panose="02010600030101010101" pitchFamily="2" charset="-122"/>
            </a:endParaRPr>
          </a:p>
        </p:txBody>
      </p:sp>
      <p:graphicFrame>
        <p:nvGraphicFramePr>
          <p:cNvPr id="7" name="表格 6"/>
          <p:cNvGraphicFramePr>
            <a:graphicFrameLocks noGrp="1"/>
          </p:cNvGraphicFramePr>
          <p:nvPr/>
        </p:nvGraphicFramePr>
        <p:xfrm>
          <a:off x="2021840" y="2695576"/>
          <a:ext cx="6096000" cy="457356"/>
        </p:xfrm>
        <a:graphic>
          <a:graphicData uri="http://schemas.openxmlformats.org/drawingml/2006/table">
            <a:tbl>
              <a:tblPr firstRow="1" bandRow="1">
                <a:tableStyleId>{00A15C55-8517-42AA-B614-E9B94910E393}</a:tableStyleId>
              </a:tblPr>
              <a:tblGrid>
                <a:gridCol w="6096000"/>
              </a:tblGrid>
              <a:tr h="371475">
                <a:tc>
                  <a:txBody>
                    <a:bodyPr/>
                    <a:lstStyle/>
                    <a:p>
                      <a:r>
                        <a:rPr lang="en-US" altLang="zh-CN" sz="2400" dirty="0"/>
                        <a:t>$ </a:t>
                      </a:r>
                      <a:r>
                        <a:rPr lang="en-US" altLang="zh-CN" sz="2400" dirty="0" err="1"/>
                        <a:t>sudo</a:t>
                      </a:r>
                      <a:r>
                        <a:rPr lang="en-US" altLang="zh-CN" sz="2400" baseline="0" dirty="0"/>
                        <a:t> apt-get update</a:t>
                      </a:r>
                      <a:endParaRPr lang="en-US" altLang="zh-CN" sz="2400" baseline="0" dirty="0"/>
                    </a:p>
                  </a:txBody>
                  <a:tcPr marT="45798" marB="45798"/>
                </a:tc>
              </a:tr>
            </a:tbl>
          </a:graphicData>
        </a:graphic>
      </p:graphicFrame>
      <p:graphicFrame>
        <p:nvGraphicFramePr>
          <p:cNvPr id="10" name="表格 9"/>
          <p:cNvGraphicFramePr>
            <a:graphicFrameLocks noGrp="1"/>
          </p:cNvGraphicFramePr>
          <p:nvPr/>
        </p:nvGraphicFramePr>
        <p:xfrm>
          <a:off x="2021840" y="4708962"/>
          <a:ext cx="6096000" cy="457356"/>
        </p:xfrm>
        <a:graphic>
          <a:graphicData uri="http://schemas.openxmlformats.org/drawingml/2006/table">
            <a:tbl>
              <a:tblPr firstRow="1" bandRow="1">
                <a:tableStyleId>{00A15C55-8517-42AA-B614-E9B94910E393}</a:tableStyleId>
              </a:tblPr>
              <a:tblGrid>
                <a:gridCol w="6096000"/>
              </a:tblGrid>
              <a:tr h="371475">
                <a:tc>
                  <a:txBody>
                    <a:bodyPr/>
                    <a:lstStyle/>
                    <a:p>
                      <a:r>
                        <a:rPr lang="en-US" altLang="zh-CN" sz="2400" dirty="0"/>
                        <a:t>$ </a:t>
                      </a:r>
                      <a:r>
                        <a:rPr lang="en-US" altLang="zh-CN" sz="2400" dirty="0" err="1"/>
                        <a:t>sudo</a:t>
                      </a:r>
                      <a:r>
                        <a:rPr lang="en-US" altLang="zh-CN" sz="2400" dirty="0"/>
                        <a:t> apt-get install vim</a:t>
                      </a:r>
                      <a:endParaRPr lang="en-US" altLang="zh-CN" sz="2400" dirty="0"/>
                    </a:p>
                  </a:txBody>
                  <a:tcPr marT="45798" marB="45798"/>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sz="4800" b="1" dirty="0">
                <a:solidFill>
                  <a:srgbClr val="000000"/>
                </a:solidFill>
                <a:latin typeface="宋体" panose="02010600030101010101" pitchFamily="2" charset="-122"/>
                <a:ea typeface="宋体" panose="02010600030101010101" pitchFamily="2" charset="-122"/>
              </a:rPr>
              <a:t>SSH登录权限设置</a:t>
            </a:r>
            <a:endParaRPr sz="4800" b="1" dirty="0">
              <a:solidFill>
                <a:srgbClr val="000000"/>
              </a:solidFill>
              <a:latin typeface="宋体" panose="02010600030101010101" pitchFamily="2" charset="-122"/>
              <a:ea typeface="宋体" panose="02010600030101010101" pitchFamily="2" charset="-122"/>
            </a:endParaRPr>
          </a:p>
        </p:txBody>
      </p:sp>
      <p:sp>
        <p:nvSpPr>
          <p:cNvPr id="32771" name="TextBox 2"/>
          <p:cNvSpPr txBox="1">
            <a:spLocks noChangeArrowheads="1"/>
          </p:cNvSpPr>
          <p:nvPr/>
        </p:nvSpPr>
        <p:spPr bwMode="auto">
          <a:xfrm>
            <a:off x="1193800" y="4746625"/>
            <a:ext cx="8686800"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000" b="1" dirty="0"/>
              <a:t>配置</a:t>
            </a:r>
            <a:r>
              <a:rPr lang="en-US" altLang="zh-CN" sz="2000" b="1" dirty="0"/>
              <a:t>SSH</a:t>
            </a:r>
            <a:r>
              <a:rPr lang="zh-CN" altLang="en-US" sz="2000" b="1" dirty="0"/>
              <a:t>的原因</a:t>
            </a:r>
            <a:r>
              <a:rPr lang="zh-CN" altLang="en-US" sz="2000" dirty="0"/>
              <a:t>：</a:t>
            </a:r>
            <a:endParaRPr lang="en-US" altLang="zh-CN" sz="2000" dirty="0"/>
          </a:p>
          <a:p>
            <a:pPr eaLnBrk="1" hangingPunct="1">
              <a:lnSpc>
                <a:spcPct val="150000"/>
              </a:lnSpc>
            </a:pPr>
            <a:r>
              <a:rPr lang="en-US" altLang="zh-CN" dirty="0"/>
              <a:t>Hadoop</a:t>
            </a:r>
            <a:r>
              <a:rPr lang="zh-CN" altLang="en-US" dirty="0"/>
              <a:t>名称节点（</a:t>
            </a:r>
            <a:r>
              <a:rPr lang="en-US" altLang="zh-CN" dirty="0" err="1"/>
              <a:t>NameNode</a:t>
            </a:r>
            <a:r>
              <a:rPr lang="zh-CN" altLang="en-US" dirty="0"/>
              <a:t>）需要启动集群中所有机器的</a:t>
            </a:r>
            <a:r>
              <a:rPr lang="en-US" altLang="zh-CN" dirty="0"/>
              <a:t>Hadoop</a:t>
            </a:r>
            <a:r>
              <a:rPr lang="zh-CN" altLang="en-US" dirty="0"/>
              <a:t>守护进程，这个过程需要通过</a:t>
            </a:r>
            <a:r>
              <a:rPr lang="en-US" altLang="zh-CN" dirty="0"/>
              <a:t>SSH</a:t>
            </a:r>
            <a:r>
              <a:rPr lang="zh-CN" altLang="en-US" dirty="0"/>
              <a:t>登录来实现。</a:t>
            </a:r>
            <a:r>
              <a:rPr lang="en-US" altLang="zh-CN" dirty="0"/>
              <a:t>Hadoop</a:t>
            </a:r>
            <a:r>
              <a:rPr lang="zh-CN" altLang="en-US" dirty="0"/>
              <a:t>并没有提供</a:t>
            </a:r>
            <a:r>
              <a:rPr lang="en-US" altLang="zh-CN" dirty="0"/>
              <a:t>SSH</a:t>
            </a:r>
            <a:r>
              <a:rPr lang="zh-CN" altLang="en-US" dirty="0"/>
              <a:t>输入密码登录的形式，因此，为了能够顺利登录每台机器，需要将所有机器配置为名称节点可以无密码登录它们</a:t>
            </a:r>
            <a:endParaRPr lang="zh-CN" altLang="en-US" dirty="0"/>
          </a:p>
        </p:txBody>
      </p:sp>
      <p:sp>
        <p:nvSpPr>
          <p:cNvPr id="32772" name="矩形 4"/>
          <p:cNvSpPr>
            <a:spLocks noChangeArrowheads="1"/>
          </p:cNvSpPr>
          <p:nvPr/>
        </p:nvSpPr>
        <p:spPr bwMode="auto">
          <a:xfrm>
            <a:off x="1193800" y="1488440"/>
            <a:ext cx="9245600" cy="49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2000" dirty="0"/>
              <a:t>SSH </a:t>
            </a:r>
            <a:r>
              <a:rPr lang="zh-CN" altLang="en-US" sz="2000" dirty="0"/>
              <a:t>为 </a:t>
            </a:r>
            <a:r>
              <a:rPr lang="en-US" altLang="zh-CN" sz="2000" dirty="0"/>
              <a:t>Secure Shell </a:t>
            </a:r>
            <a:r>
              <a:rPr lang="zh-CN" altLang="en-US" sz="2000" dirty="0"/>
              <a:t>的缩写，是建立在应用层和传输层基础上的安全协议。</a:t>
            </a:r>
            <a:endParaRPr lang="en-US" altLang="zh-CN" sz="2000" dirty="0"/>
          </a:p>
        </p:txBody>
      </p:sp>
      <p:sp>
        <p:nvSpPr>
          <p:cNvPr id="2" name="矩形 1"/>
          <p:cNvSpPr/>
          <p:nvPr/>
        </p:nvSpPr>
        <p:spPr>
          <a:xfrm>
            <a:off x="3901440" y="2145743"/>
            <a:ext cx="1280160" cy="72855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客户端</a:t>
            </a:r>
            <a:endParaRPr lang="zh-CN" altLang="en-US" sz="2800" dirty="0"/>
          </a:p>
        </p:txBody>
      </p:sp>
      <p:sp>
        <p:nvSpPr>
          <p:cNvPr id="3" name="加号 2"/>
          <p:cNvSpPr/>
          <p:nvPr/>
        </p:nvSpPr>
        <p:spPr>
          <a:xfrm>
            <a:off x="5293360" y="2229151"/>
            <a:ext cx="599440" cy="576153"/>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004560" y="2152950"/>
            <a:ext cx="1280160" cy="72855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服务端</a:t>
            </a:r>
            <a:endParaRPr lang="zh-CN" altLang="en-US" sz="2800" dirty="0"/>
          </a:p>
        </p:txBody>
      </p:sp>
      <p:sp>
        <p:nvSpPr>
          <p:cNvPr id="5" name="对话气泡: 圆角矩形 4"/>
          <p:cNvSpPr/>
          <p:nvPr/>
        </p:nvSpPr>
        <p:spPr>
          <a:xfrm>
            <a:off x="1026160" y="3037361"/>
            <a:ext cx="2875280" cy="1255895"/>
          </a:xfrm>
          <a:prstGeom prst="wedgeRoundRectCallout">
            <a:avLst>
              <a:gd name="adj1" fmla="val 47685"/>
              <a:gd name="adj2" fmla="val -8635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t>Ubuntu</a:t>
            </a:r>
            <a:r>
              <a:rPr lang="zh-CN" altLang="en-US" sz="2400" dirty="0"/>
              <a:t>自带安装。</a:t>
            </a:r>
            <a:endParaRPr lang="en-US" altLang="zh-CN" sz="2400" dirty="0"/>
          </a:p>
          <a:p>
            <a:pPr algn="ctr"/>
            <a:r>
              <a:rPr lang="zh-CN" altLang="en-US" sz="2400" dirty="0"/>
              <a:t>含</a:t>
            </a:r>
            <a:r>
              <a:rPr lang="en-US" altLang="zh-CN" sz="2400" dirty="0" err="1"/>
              <a:t>ssh</a:t>
            </a:r>
            <a:r>
              <a:rPr lang="zh-CN" altLang="en-US" sz="2400" dirty="0"/>
              <a:t>程序、</a:t>
            </a:r>
            <a:r>
              <a:rPr lang="en-US" altLang="zh-CN" sz="2400" dirty="0" err="1"/>
              <a:t>scp</a:t>
            </a:r>
            <a:r>
              <a:rPr lang="zh-CN" altLang="en-US" sz="2400" dirty="0"/>
              <a:t>、</a:t>
            </a:r>
            <a:r>
              <a:rPr lang="en-US" altLang="zh-CN" sz="2400" dirty="0" err="1"/>
              <a:t>slogin</a:t>
            </a:r>
            <a:r>
              <a:rPr lang="zh-CN" altLang="en-US" sz="2400" dirty="0"/>
              <a:t>、</a:t>
            </a:r>
            <a:r>
              <a:rPr lang="en-US" altLang="zh-CN" sz="2400" dirty="0"/>
              <a:t>sftp</a:t>
            </a:r>
            <a:r>
              <a:rPr lang="zh-CN" altLang="en-US" sz="2400" dirty="0"/>
              <a:t>等</a:t>
            </a:r>
            <a:endParaRPr lang="zh-CN" altLang="en-US" sz="2400" dirty="0"/>
          </a:p>
        </p:txBody>
      </p:sp>
      <p:sp>
        <p:nvSpPr>
          <p:cNvPr id="6" name="对话气泡: 圆角矩形 5"/>
          <p:cNvSpPr/>
          <p:nvPr/>
        </p:nvSpPr>
        <p:spPr>
          <a:xfrm>
            <a:off x="6532880" y="3125128"/>
            <a:ext cx="4993640" cy="494239"/>
          </a:xfrm>
          <a:prstGeom prst="wedgeRoundRectCallout">
            <a:avLst>
              <a:gd name="adj1" fmla="val -34100"/>
              <a:gd name="adj2" fmla="val -96776"/>
              <a:gd name="adj3" fmla="val 16667"/>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ltLang="zh-CN" sz="2400" dirty="0" err="1"/>
              <a:t>sudo</a:t>
            </a:r>
            <a:r>
              <a:rPr lang="en-US" altLang="zh-CN" sz="2400" dirty="0"/>
              <a:t> apt-get install </a:t>
            </a:r>
            <a:r>
              <a:rPr lang="en-US" altLang="zh-CN" sz="2400" dirty="0" err="1"/>
              <a:t>openssh</a:t>
            </a:r>
            <a:r>
              <a:rPr lang="en-US" altLang="zh-CN" sz="2400" dirty="0"/>
              <a:t>-server</a:t>
            </a:r>
            <a:endParaRPr lang="zh-CN" alt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sz="4800" b="1" dirty="0">
                <a:solidFill>
                  <a:srgbClr val="000000"/>
                </a:solidFill>
                <a:latin typeface="宋体" panose="02010600030101010101" pitchFamily="2" charset="-122"/>
                <a:ea typeface="宋体" panose="02010600030101010101" pitchFamily="2" charset="-122"/>
              </a:rPr>
              <a:t>安装Java环境</a:t>
            </a:r>
            <a:endParaRPr sz="4800" b="1" dirty="0">
              <a:solidFill>
                <a:srgbClr val="000000"/>
              </a:solidFill>
              <a:latin typeface="宋体" panose="02010600030101010101" pitchFamily="2" charset="-122"/>
              <a:ea typeface="宋体" panose="02010600030101010101" pitchFamily="2" charset="-122"/>
            </a:endParaRPr>
          </a:p>
        </p:txBody>
      </p:sp>
      <p:sp>
        <p:nvSpPr>
          <p:cNvPr id="33795" name="Rectangle 3"/>
          <p:cNvSpPr>
            <a:spLocks noGrp="1" noChangeArrowheads="1"/>
          </p:cNvSpPr>
          <p:nvPr>
            <p:ph idx="1"/>
          </p:nvPr>
        </p:nvSpPr>
        <p:spPr>
          <a:xfrm>
            <a:off x="934720" y="1635184"/>
            <a:ext cx="8463280" cy="929640"/>
          </a:xfrm>
        </p:spPr>
        <p:txBody>
          <a:bodyPr>
            <a:normAutofit/>
          </a:bodyPr>
          <a:lstStyle/>
          <a:p>
            <a:r>
              <a:rPr lang="en-US" altLang="zh-CN" sz="2400" dirty="0"/>
              <a:t>Java</a:t>
            </a:r>
            <a:r>
              <a:rPr lang="zh-CN" altLang="en-US" sz="2400" dirty="0"/>
              <a:t>环境可选择 </a:t>
            </a:r>
            <a:r>
              <a:rPr lang="en-US" altLang="zh-CN" sz="2400" dirty="0"/>
              <a:t>Oracle </a:t>
            </a:r>
            <a:r>
              <a:rPr lang="zh-CN" altLang="en-US" sz="2400" dirty="0"/>
              <a:t>的 </a:t>
            </a:r>
            <a:r>
              <a:rPr lang="en-US" altLang="zh-CN" sz="2400" dirty="0"/>
              <a:t>JDK，</a:t>
            </a:r>
            <a:r>
              <a:rPr lang="zh-CN" altLang="en-US" sz="2400" dirty="0"/>
              <a:t>或是 </a:t>
            </a:r>
            <a:r>
              <a:rPr lang="en-US" altLang="zh-CN" sz="2400" dirty="0"/>
              <a:t>OpenJDK</a:t>
            </a:r>
            <a:endParaRPr lang="en-US" altLang="zh-CN" sz="2400" dirty="0"/>
          </a:p>
          <a:p>
            <a:r>
              <a:rPr lang="zh-CN" altLang="zh-CN" sz="2400" dirty="0"/>
              <a:t>建议采用手工方式安装</a:t>
            </a:r>
            <a:r>
              <a:rPr lang="en-US" altLang="zh-CN" sz="2400" dirty="0"/>
              <a:t>Java</a:t>
            </a:r>
            <a:r>
              <a:rPr lang="zh-CN" altLang="en-US" sz="2400" dirty="0"/>
              <a:t>环境</a:t>
            </a:r>
            <a:endParaRPr lang="zh-CN" altLang="en-US" sz="2400" dirty="0"/>
          </a:p>
        </p:txBody>
      </p:sp>
      <p:sp>
        <p:nvSpPr>
          <p:cNvPr id="33796" name="矩形 4"/>
          <p:cNvSpPr>
            <a:spLocks noChangeArrowheads="1"/>
          </p:cNvSpPr>
          <p:nvPr/>
        </p:nvSpPr>
        <p:spPr bwMode="auto">
          <a:xfrm>
            <a:off x="934720" y="2640438"/>
            <a:ext cx="10515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en-US" altLang="zh-CN" sz="2400" dirty="0"/>
              <a:t> </a:t>
            </a:r>
            <a:r>
              <a:rPr lang="zh-CN" altLang="en-US" sz="2400" dirty="0"/>
              <a:t>具体请参考网络教程：</a:t>
            </a:r>
            <a:r>
              <a:rPr lang="en-US" altLang="zh-CN" sz="2400" dirty="0"/>
              <a:t>http://dblab.xmu.edu.cn/blog/2441-2/</a:t>
            </a:r>
            <a:endParaRPr lang="en-US" altLang="zh-CN" sz="2400" dirty="0"/>
          </a:p>
          <a:p>
            <a:pPr eaLnBrk="1" hangingPunct="1">
              <a:buFont typeface="Arial" panose="020B0604020202020204" pitchFamily="34" charset="0"/>
              <a:buChar char="•"/>
            </a:pPr>
            <a:r>
              <a:rPr lang="en-US" altLang="zh-CN" sz="2400" dirty="0"/>
              <a:t> </a:t>
            </a:r>
            <a:r>
              <a:rPr lang="zh-CN" altLang="en-US" sz="2400" dirty="0"/>
              <a:t>到</a:t>
            </a:r>
            <a:r>
              <a:rPr lang="en-US" altLang="zh-CN" sz="2400" dirty="0"/>
              <a:t>Java</a:t>
            </a:r>
            <a:r>
              <a:rPr lang="zh-CN" altLang="en-US" sz="2400" dirty="0"/>
              <a:t>官网下载安装文件jdk-8u162-linux-x64.tar.gz 到</a:t>
            </a:r>
            <a:r>
              <a:rPr lang="en-US" altLang="zh-CN" sz="2400" dirty="0"/>
              <a:t> ~/Downloads/ </a:t>
            </a:r>
            <a:r>
              <a:rPr lang="zh-CN" altLang="en-US" sz="2400" dirty="0"/>
              <a:t>目录</a:t>
            </a:r>
            <a:endParaRPr lang="zh-CN" altLang="en-US" sz="2400" dirty="0"/>
          </a:p>
        </p:txBody>
      </p:sp>
      <p:graphicFrame>
        <p:nvGraphicFramePr>
          <p:cNvPr id="2" name="表格 1"/>
          <p:cNvGraphicFramePr/>
          <p:nvPr/>
        </p:nvGraphicFramePr>
        <p:xfrm>
          <a:off x="1249680" y="3690303"/>
          <a:ext cx="9072879" cy="2651746"/>
        </p:xfrm>
        <a:graphic>
          <a:graphicData uri="http://schemas.openxmlformats.org/drawingml/2006/table">
            <a:tbl>
              <a:tblPr firstRow="1" bandRow="1">
                <a:tableStyleId>{5C22544A-7EE6-4342-B048-85BDC9FD1C3A}</a:tableStyleId>
              </a:tblPr>
              <a:tblGrid>
                <a:gridCol w="9072879"/>
              </a:tblGrid>
              <a:tr h="2011362">
                <a:tc>
                  <a:txBody>
                    <a:bodyPr/>
                    <a:lstStyle/>
                    <a:p>
                      <a:pPr>
                        <a:buNone/>
                      </a:pPr>
                      <a:r>
                        <a:rPr lang="en-US" altLang="zh-CN" sz="2400" dirty="0"/>
                        <a:t>$</a:t>
                      </a:r>
                      <a:r>
                        <a:rPr lang="zh-CN" altLang="en-US" sz="2400" dirty="0"/>
                        <a:t>cd /usr/lib</a:t>
                      </a:r>
                      <a:endParaRPr lang="en-US" altLang="zh-CN" sz="2400" dirty="0"/>
                    </a:p>
                    <a:p>
                      <a:pPr>
                        <a:buNone/>
                      </a:pPr>
                      <a:r>
                        <a:rPr lang="en-US" altLang="zh-CN" sz="2400" dirty="0"/>
                        <a:t>$</a:t>
                      </a:r>
                      <a:r>
                        <a:rPr lang="zh-CN" altLang="en-US" sz="2400" dirty="0"/>
                        <a:t>sudo mkdir jvm #创建/usr/lib/jvm目录用来存放JDK文件</a:t>
                      </a:r>
                      <a:endParaRPr lang="zh-CN" altLang="en-US" sz="2400" dirty="0"/>
                    </a:p>
                    <a:p>
                      <a:pPr>
                        <a:buNone/>
                      </a:pPr>
                      <a:r>
                        <a:rPr lang="en-US" altLang="zh-CN" sz="2400" dirty="0"/>
                        <a:t>$</a:t>
                      </a:r>
                      <a:r>
                        <a:rPr lang="zh-CN" altLang="en-US" sz="2400" dirty="0"/>
                        <a:t>cd ~ #进入hadoop用户的主目录</a:t>
                      </a:r>
                      <a:endParaRPr lang="zh-CN" altLang="en-US" sz="2400" dirty="0"/>
                    </a:p>
                    <a:p>
                      <a:pPr>
                        <a:buNone/>
                      </a:pPr>
                      <a:r>
                        <a:rPr lang="en-US" altLang="zh-CN" sz="2400" dirty="0"/>
                        <a:t>$</a:t>
                      </a:r>
                      <a:r>
                        <a:rPr lang="zh-CN" altLang="en-US" sz="2400" dirty="0"/>
                        <a:t>cd Downloads  #注意区分大小写字母，刚才已经通过FTP软件把JDK安装包jdk-8u162-linux-x64.tar.gz上传到该目录下</a:t>
                      </a:r>
                      <a:endParaRPr lang="zh-CN" altLang="en-US" sz="2400" dirty="0"/>
                    </a:p>
                    <a:p>
                      <a:pPr>
                        <a:buNone/>
                      </a:pPr>
                      <a:r>
                        <a:rPr lang="en-US" altLang="zh-CN" sz="2400" dirty="0"/>
                        <a:t>$</a:t>
                      </a:r>
                      <a:r>
                        <a:rPr lang="zh-CN" altLang="en-US" sz="2400" dirty="0"/>
                        <a:t>sudo tar -zxvf ./jdk-8u162-linux-x64.tar.gz -C /usr/lib/jvm  #把JDK文件解压到/usr/lib/jvm目录下</a:t>
                      </a:r>
                      <a:endParaRPr lang="zh-CN" altLang="en-US" sz="2400" dirty="0"/>
                    </a:p>
                  </a:txBody>
                  <a:tcPr marL="91436" marR="91436" marT="45713" marB="45713">
                    <a:solidFill>
                      <a:schemeClr val="tx1"/>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1"/>
          <p:cNvSpPr>
            <a:spLocks noGrp="1" noChangeArrowheads="1"/>
          </p:cNvSpPr>
          <p:nvPr>
            <p:ph/>
          </p:nvPr>
        </p:nvSpPr>
        <p:spPr>
          <a:xfrm>
            <a:off x="1981200" y="1371601"/>
            <a:ext cx="8153400" cy="690563"/>
          </a:xfrm>
        </p:spPr>
        <p:txBody>
          <a:bodyPr/>
          <a:lstStyle/>
          <a:p>
            <a:pPr marL="0" indent="0">
              <a:buNone/>
            </a:pPr>
            <a:r>
              <a:rPr lang="zh-CN" altLang="en-US" sz="2400" dirty="0"/>
              <a:t>下面继续执行如下命令，设置环境变量：</a:t>
            </a:r>
            <a:endParaRPr lang="zh-CN" altLang="en-US" sz="2400" dirty="0"/>
          </a:p>
        </p:txBody>
      </p:sp>
      <p:sp>
        <p:nvSpPr>
          <p:cNvPr id="34819" name="标题 2"/>
          <p:cNvSpPr>
            <a:spLocks noGrp="1" noChangeArrowheads="1"/>
          </p:cNvSpPr>
          <p:nvPr>
            <p:ph type="title" idx="10"/>
          </p:nvPr>
        </p:nvSpPr>
        <p:spPr>
          <a:xfrm>
            <a:off x="873919" y="431802"/>
            <a:ext cx="10668000" cy="914400"/>
          </a:xfrm>
        </p:spPr>
        <p:txBody>
          <a:bodyPr/>
          <a:lstStyle/>
          <a:p>
            <a:r>
              <a:rPr lang="zh-CN" altLang="en-US" sz="4800" b="1" dirty="0">
                <a:solidFill>
                  <a:srgbClr val="000000"/>
                </a:solidFill>
                <a:latin typeface="宋体" panose="02010600030101010101" pitchFamily="2" charset="-122"/>
                <a:ea typeface="宋体" panose="02010600030101010101" pitchFamily="2" charset="-122"/>
              </a:rPr>
              <a:t>配置</a:t>
            </a:r>
            <a:r>
              <a:rPr sz="4800" b="1" dirty="0" err="1">
                <a:solidFill>
                  <a:srgbClr val="000000"/>
                </a:solidFill>
                <a:latin typeface="宋体" panose="02010600030101010101" pitchFamily="2" charset="-122"/>
                <a:ea typeface="宋体" panose="02010600030101010101" pitchFamily="2" charset="-122"/>
              </a:rPr>
              <a:t>Java环境</a:t>
            </a:r>
            <a:endParaRPr sz="4800" b="1" dirty="0">
              <a:solidFill>
                <a:srgbClr val="000000"/>
              </a:solidFill>
              <a:latin typeface="宋体" panose="02010600030101010101" pitchFamily="2" charset="-122"/>
              <a:ea typeface="宋体" panose="02010600030101010101" pitchFamily="2" charset="-122"/>
            </a:endParaRPr>
          </a:p>
        </p:txBody>
      </p:sp>
      <p:graphicFrame>
        <p:nvGraphicFramePr>
          <p:cNvPr id="4" name="表格 3"/>
          <p:cNvGraphicFramePr/>
          <p:nvPr/>
        </p:nvGraphicFramePr>
        <p:xfrm>
          <a:off x="1981200" y="1793064"/>
          <a:ext cx="8485981" cy="823000"/>
        </p:xfrm>
        <a:graphic>
          <a:graphicData uri="http://schemas.openxmlformats.org/drawingml/2006/table">
            <a:tbl>
              <a:tblPr firstRow="1" bandRow="1">
                <a:tableStyleId>{5C22544A-7EE6-4342-B048-85BDC9FD1C3A}</a:tableStyleId>
              </a:tblPr>
              <a:tblGrid>
                <a:gridCol w="8485981"/>
              </a:tblGrid>
              <a:tr h="728663">
                <a:tc>
                  <a:txBody>
                    <a:bodyPr/>
                    <a:lstStyle/>
                    <a:p>
                      <a:pPr>
                        <a:buNone/>
                      </a:pPr>
                      <a:r>
                        <a:rPr lang="en-US" sz="2400" dirty="0"/>
                        <a:t>$</a:t>
                      </a:r>
                      <a:r>
                        <a:rPr sz="2400" dirty="0"/>
                        <a:t>cd ~</a:t>
                      </a:r>
                      <a:endParaRPr sz="2400" dirty="0"/>
                    </a:p>
                    <a:p>
                      <a:pPr>
                        <a:buNone/>
                      </a:pPr>
                      <a:r>
                        <a:rPr lang="en-US" sz="2400" dirty="0"/>
                        <a:t>$</a:t>
                      </a:r>
                      <a:r>
                        <a:rPr sz="2400" dirty="0"/>
                        <a:t>vim ~/.</a:t>
                      </a:r>
                      <a:r>
                        <a:rPr sz="2400" dirty="0" err="1"/>
                        <a:t>bashrc</a:t>
                      </a:r>
                      <a:endParaRPr sz="2400" dirty="0"/>
                    </a:p>
                  </a:txBody>
                  <a:tcPr marL="91436" marR="91436" marT="45740" marB="45740">
                    <a:solidFill>
                      <a:schemeClr val="tx1"/>
                    </a:solidFill>
                  </a:tcPr>
                </a:tc>
              </a:tr>
            </a:tbl>
          </a:graphicData>
        </a:graphic>
      </p:graphicFrame>
      <p:sp>
        <p:nvSpPr>
          <p:cNvPr id="34826" name="文本框 4"/>
          <p:cNvSpPr txBox="1">
            <a:spLocks noChangeArrowheads="1"/>
          </p:cNvSpPr>
          <p:nvPr/>
        </p:nvSpPr>
        <p:spPr bwMode="auto">
          <a:xfrm>
            <a:off x="2131219" y="2645583"/>
            <a:ext cx="76342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请在这个文件的开头位置，添加如下几行内容：</a:t>
            </a:r>
            <a:endParaRPr lang="zh-CN" altLang="en-US" sz="2400" dirty="0"/>
          </a:p>
        </p:txBody>
      </p:sp>
      <p:graphicFrame>
        <p:nvGraphicFramePr>
          <p:cNvPr id="6" name="表格 5"/>
          <p:cNvGraphicFramePr/>
          <p:nvPr/>
        </p:nvGraphicFramePr>
        <p:xfrm>
          <a:off x="1981200" y="3192973"/>
          <a:ext cx="8485981" cy="1554504"/>
        </p:xfrm>
        <a:graphic>
          <a:graphicData uri="http://schemas.openxmlformats.org/drawingml/2006/table">
            <a:tbl>
              <a:tblPr firstRow="1" bandRow="1">
                <a:tableStyleId>{5C22544A-7EE6-4342-B048-85BDC9FD1C3A}</a:tableStyleId>
              </a:tblPr>
              <a:tblGrid>
                <a:gridCol w="8485981"/>
              </a:tblGrid>
              <a:tr h="1189037">
                <a:tc>
                  <a:txBody>
                    <a:bodyPr/>
                    <a:lstStyle/>
                    <a:p>
                      <a:pPr>
                        <a:buNone/>
                      </a:pPr>
                      <a:r>
                        <a:rPr lang="zh-CN" altLang="en-US" sz="2400" dirty="0"/>
                        <a:t>export JAVA_HOME=/usr/lib/jvm/jdk1.8.0_162</a:t>
                      </a:r>
                      <a:endParaRPr lang="zh-CN" altLang="en-US" sz="2400" dirty="0"/>
                    </a:p>
                    <a:p>
                      <a:pPr>
                        <a:buNone/>
                      </a:pPr>
                      <a:r>
                        <a:rPr lang="zh-CN" altLang="en-US" sz="2400" dirty="0"/>
                        <a:t>export JRE_HOME=${JAVA_HOME}/jre</a:t>
                      </a:r>
                      <a:endParaRPr lang="zh-CN" altLang="en-US" sz="2400" dirty="0"/>
                    </a:p>
                    <a:p>
                      <a:pPr>
                        <a:buNone/>
                      </a:pPr>
                      <a:r>
                        <a:rPr lang="zh-CN" altLang="en-US" sz="2400" dirty="0"/>
                        <a:t>export CLASSPATH=.:${JAVA_HOME}/lib:${JRE_HOME}/lib</a:t>
                      </a:r>
                      <a:endParaRPr lang="zh-CN" altLang="en-US" sz="2400" dirty="0"/>
                    </a:p>
                    <a:p>
                      <a:pPr>
                        <a:buNone/>
                      </a:pPr>
                      <a:r>
                        <a:rPr lang="zh-CN" altLang="en-US" sz="2400" dirty="0"/>
                        <a:t>export PATH=${JAVA_HOME}/bin:$PATH</a:t>
                      </a:r>
                      <a:endParaRPr lang="zh-CN" altLang="en-US" sz="2400" dirty="0"/>
                    </a:p>
                  </a:txBody>
                  <a:tcPr marL="91436" marR="91436" marT="45732" marB="45732">
                    <a:solidFill>
                      <a:schemeClr val="tx1"/>
                    </a:solidFill>
                  </a:tcPr>
                </a:tc>
              </a:tr>
            </a:tbl>
          </a:graphicData>
        </a:graphic>
      </p:graphicFrame>
      <p:sp>
        <p:nvSpPr>
          <p:cNvPr id="34833" name="文本框 6"/>
          <p:cNvSpPr txBox="1">
            <a:spLocks noChangeArrowheads="1"/>
          </p:cNvSpPr>
          <p:nvPr/>
        </p:nvSpPr>
        <p:spPr bwMode="auto">
          <a:xfrm>
            <a:off x="2131219" y="4747477"/>
            <a:ext cx="76342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继续执行如下命令让.bashrc文件的配置立即生效：</a:t>
            </a:r>
            <a:endParaRPr lang="zh-CN" altLang="en-US" sz="2400" dirty="0"/>
          </a:p>
        </p:txBody>
      </p:sp>
      <p:graphicFrame>
        <p:nvGraphicFramePr>
          <p:cNvPr id="8" name="表格 7"/>
          <p:cNvGraphicFramePr/>
          <p:nvPr/>
        </p:nvGraphicFramePr>
        <p:xfrm>
          <a:off x="1981200" y="5209142"/>
          <a:ext cx="8485980" cy="461665"/>
        </p:xfrm>
        <a:graphic>
          <a:graphicData uri="http://schemas.openxmlformats.org/drawingml/2006/table">
            <a:tbl>
              <a:tblPr firstRow="1" bandRow="1">
                <a:tableStyleId>{5C22544A-7EE6-4342-B048-85BDC9FD1C3A}</a:tableStyleId>
              </a:tblPr>
              <a:tblGrid>
                <a:gridCol w="8485980"/>
              </a:tblGrid>
              <a:tr h="461665">
                <a:tc>
                  <a:txBody>
                    <a:bodyPr/>
                    <a:lstStyle/>
                    <a:p>
                      <a:pPr>
                        <a:buNone/>
                      </a:pPr>
                      <a:r>
                        <a:rPr lang="en-US" sz="2400" dirty="0"/>
                        <a:t>$</a:t>
                      </a:r>
                      <a:r>
                        <a:rPr sz="2400" dirty="0"/>
                        <a:t>source ~/.</a:t>
                      </a:r>
                      <a:r>
                        <a:rPr sz="2400" dirty="0" err="1"/>
                        <a:t>bashrc</a:t>
                      </a:r>
                      <a:endParaRPr sz="2400" dirty="0"/>
                    </a:p>
                  </a:txBody>
                  <a:tcPr marL="91436" marR="91436" marT="45740" marB="45740">
                    <a:solidFill>
                      <a:schemeClr val="tx1"/>
                    </a:solidFill>
                  </a:tcPr>
                </a:tc>
              </a:tr>
            </a:tbl>
          </a:graphicData>
        </a:graphic>
      </p:graphicFrame>
      <p:sp>
        <p:nvSpPr>
          <p:cNvPr id="2" name="内容占位符 1"/>
          <p:cNvSpPr txBox="1">
            <a:spLocks noChangeArrowheads="1"/>
          </p:cNvSpPr>
          <p:nvPr/>
        </p:nvSpPr>
        <p:spPr>
          <a:xfrm>
            <a:off x="2130426" y="5839401"/>
            <a:ext cx="8153400" cy="37782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可用如下命令查看是否安装成功：</a:t>
            </a:r>
            <a:endParaRPr lang="zh-CN" altLang="en-US" sz="2400" dirty="0"/>
          </a:p>
        </p:txBody>
      </p:sp>
      <p:graphicFrame>
        <p:nvGraphicFramePr>
          <p:cNvPr id="3" name="表格 2"/>
          <p:cNvGraphicFramePr/>
          <p:nvPr/>
        </p:nvGraphicFramePr>
        <p:xfrm>
          <a:off x="1981200" y="6278707"/>
          <a:ext cx="8485980" cy="457240"/>
        </p:xfrm>
        <a:graphic>
          <a:graphicData uri="http://schemas.openxmlformats.org/drawingml/2006/table">
            <a:tbl>
              <a:tblPr firstRow="1" bandRow="1">
                <a:tableStyleId>{5C22544A-7EE6-4342-B048-85BDC9FD1C3A}</a:tableStyleId>
              </a:tblPr>
              <a:tblGrid>
                <a:gridCol w="8485980"/>
              </a:tblGrid>
              <a:tr h="433966">
                <a:tc>
                  <a:txBody>
                    <a:bodyPr/>
                    <a:lstStyle/>
                    <a:p>
                      <a:pPr>
                        <a:buNone/>
                      </a:pPr>
                      <a:r>
                        <a:rPr lang="en-US" sz="2400" dirty="0"/>
                        <a:t>$</a:t>
                      </a:r>
                      <a:r>
                        <a:rPr sz="2400" dirty="0"/>
                        <a:t>java -version</a:t>
                      </a:r>
                      <a:endParaRPr sz="2400" dirty="0"/>
                    </a:p>
                  </a:txBody>
                  <a:tcPr marL="91436" marR="91436" marT="45740" marB="45740">
                    <a:solidFill>
                      <a:schemeClr val="tx1"/>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a:spLocks noGrp="1" noChangeArrowheads="1"/>
          </p:cNvSpPr>
          <p:nvPr>
            <p:ph type="title" idx="10"/>
          </p:nvPr>
        </p:nvSpPr>
        <p:spPr>
          <a:xfrm>
            <a:off x="589280" y="304802"/>
            <a:ext cx="10668000" cy="914400"/>
          </a:xfrm>
        </p:spPr>
        <p:txBody>
          <a:bodyPr/>
          <a:lstStyle/>
          <a:p>
            <a:r>
              <a:rPr sz="4800" b="1" dirty="0" err="1">
                <a:solidFill>
                  <a:srgbClr val="000000"/>
                </a:solidFill>
                <a:latin typeface="宋体" panose="02010600030101010101" pitchFamily="2" charset="-122"/>
                <a:ea typeface="宋体" panose="02010600030101010101" pitchFamily="2" charset="-122"/>
              </a:rPr>
              <a:t>单机安装</a:t>
            </a:r>
            <a:endParaRPr sz="4800" b="1" dirty="0">
              <a:solidFill>
                <a:srgbClr val="000000"/>
              </a:solidFill>
              <a:latin typeface="宋体" panose="02010600030101010101" pitchFamily="2" charset="-122"/>
              <a:ea typeface="宋体" panose="02010600030101010101" pitchFamily="2" charset="-122"/>
            </a:endParaRPr>
          </a:p>
        </p:txBody>
      </p:sp>
      <p:sp>
        <p:nvSpPr>
          <p:cNvPr id="36867" name="矩形 3"/>
          <p:cNvSpPr>
            <a:spLocks noChangeArrowheads="1"/>
          </p:cNvSpPr>
          <p:nvPr/>
        </p:nvSpPr>
        <p:spPr bwMode="auto">
          <a:xfrm>
            <a:off x="1320800" y="1219202"/>
            <a:ext cx="79248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dirty="0"/>
              <a:t>官网下载</a:t>
            </a:r>
            <a:r>
              <a:rPr lang="en-US" altLang="zh-CN" sz="2400" b="1" dirty="0"/>
              <a:t>hadoop-3.1.3.tar.gz</a:t>
            </a:r>
            <a:r>
              <a:rPr lang="zh-CN" altLang="en-US" sz="2400" dirty="0"/>
              <a:t> 到 </a:t>
            </a:r>
            <a:r>
              <a:rPr lang="en-US" altLang="zh-CN" sz="2400" dirty="0"/>
              <a:t>~/Downloads/ </a:t>
            </a:r>
            <a:r>
              <a:rPr lang="zh-CN" altLang="en-US" sz="2400" dirty="0"/>
              <a:t>目录</a:t>
            </a:r>
            <a:endParaRPr lang="en-US" altLang="zh-CN" sz="2400" dirty="0"/>
          </a:p>
          <a:p>
            <a:pPr eaLnBrk="1" hangingPunct="1"/>
            <a:endParaRPr lang="zh-CN" altLang="en-US" dirty="0"/>
          </a:p>
        </p:txBody>
      </p:sp>
      <p:graphicFrame>
        <p:nvGraphicFramePr>
          <p:cNvPr id="2" name="表格 1"/>
          <p:cNvGraphicFramePr/>
          <p:nvPr/>
        </p:nvGraphicFramePr>
        <p:xfrm>
          <a:off x="1432561" y="1793255"/>
          <a:ext cx="9072879" cy="1935466"/>
        </p:xfrm>
        <a:graphic>
          <a:graphicData uri="http://schemas.openxmlformats.org/drawingml/2006/table">
            <a:tbl>
              <a:tblPr firstRow="1" bandRow="1">
                <a:tableStyleId>{5C22544A-7EE6-4342-B048-85BDC9FD1C3A}</a:tableStyleId>
              </a:tblPr>
              <a:tblGrid>
                <a:gridCol w="9072879"/>
              </a:tblGrid>
              <a:tr h="1935466">
                <a:tc>
                  <a:txBody>
                    <a:bodyPr/>
                    <a:lstStyle/>
                    <a:p>
                      <a:pPr>
                        <a:buNone/>
                      </a:pPr>
                      <a:r>
                        <a:rPr lang="en-US" altLang="zh-CN" sz="2400" dirty="0"/>
                        <a:t>$</a:t>
                      </a:r>
                      <a:r>
                        <a:rPr lang="en-US" altLang="zh-CN" sz="2400" dirty="0" err="1"/>
                        <a:t>sudo</a:t>
                      </a:r>
                      <a:r>
                        <a:rPr lang="zh-CN" altLang="en-US" sz="2400" dirty="0"/>
                        <a:t> </a:t>
                      </a:r>
                      <a:r>
                        <a:rPr lang="en-US" altLang="zh-CN" sz="2400" dirty="0"/>
                        <a:t>tar</a:t>
                      </a:r>
                      <a:r>
                        <a:rPr lang="zh-CN" altLang="en-US" sz="2400" dirty="0"/>
                        <a:t> </a:t>
                      </a:r>
                      <a:r>
                        <a:rPr lang="en-US" altLang="zh-CN" sz="2400" dirty="0"/>
                        <a:t>–</a:t>
                      </a:r>
                      <a:r>
                        <a:rPr lang="en-US" altLang="zh-CN" sz="2400" dirty="0" err="1"/>
                        <a:t>zxf</a:t>
                      </a:r>
                      <a:r>
                        <a:rPr lang="zh-CN" altLang="en-US" sz="2400" dirty="0"/>
                        <a:t> </a:t>
                      </a:r>
                      <a:r>
                        <a:rPr lang="en-US" altLang="zh-CN" sz="2400" dirty="0"/>
                        <a:t>~/</a:t>
                      </a:r>
                      <a:r>
                        <a:rPr lang="en-US" altLang="zh-CN" sz="2400" dirty="0" err="1"/>
                        <a:t>Downlaods</a:t>
                      </a:r>
                      <a:r>
                        <a:rPr lang="en-US" altLang="zh-CN" sz="2400" dirty="0"/>
                        <a:t>/h</a:t>
                      </a:r>
                      <a:r>
                        <a:rPr lang="en-US" altLang="zh-CN" sz="2400" b="1" dirty="0"/>
                        <a:t>adoop-3.1.3.tar.gz</a:t>
                      </a:r>
                      <a:r>
                        <a:rPr lang="zh-CN" altLang="en-US" sz="2400" dirty="0"/>
                        <a:t> </a:t>
                      </a:r>
                      <a:r>
                        <a:rPr lang="en-US" altLang="zh-CN" sz="2400" dirty="0"/>
                        <a:t>-C /</a:t>
                      </a:r>
                      <a:r>
                        <a:rPr lang="en-US" altLang="zh-CN" sz="2400" dirty="0" err="1"/>
                        <a:t>usr</a:t>
                      </a:r>
                      <a:r>
                        <a:rPr lang="en-US" altLang="zh-CN" sz="2400" dirty="0"/>
                        <a:t>/local</a:t>
                      </a:r>
                      <a:endParaRPr lang="en-US" altLang="zh-CN" sz="2400" dirty="0"/>
                    </a:p>
                    <a:p>
                      <a:pPr>
                        <a:buNone/>
                      </a:pPr>
                      <a:r>
                        <a:rPr lang="en-US" altLang="zh-CN" sz="2400" dirty="0"/>
                        <a:t>$</a:t>
                      </a:r>
                      <a:r>
                        <a:rPr lang="zh-CN" altLang="en-US" sz="2400" dirty="0"/>
                        <a:t>cd /usr/l</a:t>
                      </a:r>
                      <a:r>
                        <a:rPr lang="en-US" altLang="zh-CN" sz="2400" dirty="0" err="1"/>
                        <a:t>ocal</a:t>
                      </a:r>
                      <a:r>
                        <a:rPr lang="en-US" altLang="zh-CN" sz="2400" dirty="0"/>
                        <a:t>/</a:t>
                      </a:r>
                      <a:endParaRPr lang="en-US" altLang="zh-CN" sz="2400" dirty="0"/>
                    </a:p>
                    <a:p>
                      <a:pPr>
                        <a:buNone/>
                      </a:pPr>
                      <a:r>
                        <a:rPr lang="en-US" altLang="zh-CN" sz="2400" dirty="0"/>
                        <a:t>$</a:t>
                      </a:r>
                      <a:r>
                        <a:rPr lang="en-US" altLang="zh-CN" sz="2400" dirty="0" err="1"/>
                        <a:t>sudo</a:t>
                      </a:r>
                      <a:r>
                        <a:rPr lang="en-US" altLang="zh-CN" sz="2400" dirty="0"/>
                        <a:t> mv ./hadoop-3.1.3/ ./</a:t>
                      </a:r>
                      <a:r>
                        <a:rPr lang="en-US" altLang="zh-CN" sz="2400" dirty="0" err="1"/>
                        <a:t>hadoop</a:t>
                      </a:r>
                      <a:r>
                        <a:rPr lang="en-US" altLang="zh-CN" sz="2400" dirty="0"/>
                        <a:t> #</a:t>
                      </a:r>
                      <a:r>
                        <a:rPr lang="zh-CN" altLang="en-US" sz="2400" dirty="0"/>
                        <a:t>修改目录名称</a:t>
                      </a:r>
                      <a:endParaRPr lang="en-US" altLang="zh-CN" sz="2400" dirty="0"/>
                    </a:p>
                    <a:p>
                      <a:pPr>
                        <a:buNone/>
                      </a:pPr>
                      <a:r>
                        <a:rPr lang="en-US" altLang="zh-CN" sz="2400" dirty="0"/>
                        <a:t>$</a:t>
                      </a:r>
                      <a:r>
                        <a:rPr lang="en-US" altLang="zh-CN" sz="2400" dirty="0" err="1"/>
                        <a:t>sudo</a:t>
                      </a:r>
                      <a:r>
                        <a:rPr lang="zh-CN" altLang="en-US" sz="2400" dirty="0"/>
                        <a:t> </a:t>
                      </a:r>
                      <a:r>
                        <a:rPr lang="en-US" altLang="zh-CN" sz="2400" dirty="0" err="1"/>
                        <a:t>chown</a:t>
                      </a:r>
                      <a:r>
                        <a:rPr lang="zh-CN" altLang="en-US" sz="2400" dirty="0"/>
                        <a:t> </a:t>
                      </a:r>
                      <a:r>
                        <a:rPr lang="en-US" altLang="zh-CN" sz="2400" dirty="0"/>
                        <a:t>–R</a:t>
                      </a:r>
                      <a:r>
                        <a:rPr lang="zh-CN" altLang="en-US" sz="2400" dirty="0"/>
                        <a:t> </a:t>
                      </a:r>
                      <a:r>
                        <a:rPr lang="en-US" altLang="zh-CN" sz="2400" dirty="0" err="1"/>
                        <a:t>hadoop</a:t>
                      </a:r>
                      <a:r>
                        <a:rPr lang="zh-CN" altLang="en-US" sz="2400" dirty="0"/>
                        <a:t> </a:t>
                      </a:r>
                      <a:r>
                        <a:rPr lang="en-US" altLang="zh-CN" sz="2400" dirty="0"/>
                        <a:t>./</a:t>
                      </a:r>
                      <a:r>
                        <a:rPr lang="en-US" altLang="zh-CN" sz="2400" dirty="0" err="1"/>
                        <a:t>hadoop</a:t>
                      </a:r>
                      <a:endParaRPr lang="en-US" altLang="zh-CN" sz="2400" dirty="0"/>
                    </a:p>
                    <a:p>
                      <a:pPr>
                        <a:buNone/>
                      </a:pPr>
                      <a:r>
                        <a:rPr lang="en-US" altLang="zh-CN" sz="2400" dirty="0"/>
                        <a:t>$./bin/</a:t>
                      </a:r>
                      <a:r>
                        <a:rPr lang="en-US" altLang="zh-CN" sz="2400" dirty="0" err="1"/>
                        <a:t>hadoop</a:t>
                      </a:r>
                      <a:r>
                        <a:rPr lang="en-US" altLang="zh-CN" sz="2400" dirty="0"/>
                        <a:t> version#</a:t>
                      </a:r>
                      <a:r>
                        <a:rPr lang="zh-CN" altLang="en-US" sz="2400" dirty="0"/>
                        <a:t>查看版本</a:t>
                      </a:r>
                      <a:endParaRPr lang="zh-CN" altLang="en-US" sz="2400" dirty="0"/>
                    </a:p>
                  </a:txBody>
                  <a:tcPr marL="91436" marR="91436" marT="45713" marB="45713">
                    <a:solidFill>
                      <a:schemeClr val="tx1"/>
                    </a:solidFill>
                  </a:tcPr>
                </a:tc>
              </a:tr>
            </a:tbl>
          </a:graphicData>
        </a:graphic>
      </p:graphicFrame>
      <p:sp>
        <p:nvSpPr>
          <p:cNvPr id="3" name="矩形 7"/>
          <p:cNvSpPr>
            <a:spLocks noChangeArrowheads="1"/>
          </p:cNvSpPr>
          <p:nvPr/>
        </p:nvSpPr>
        <p:spPr bwMode="auto">
          <a:xfrm>
            <a:off x="1432561" y="4064000"/>
            <a:ext cx="8305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dirty="0"/>
              <a:t>Hadoop </a:t>
            </a:r>
            <a:r>
              <a:rPr lang="zh-CN" altLang="en-US" sz="2400" dirty="0"/>
              <a:t>默认为非分布式模式，无需进行其他配置即可运行</a:t>
            </a:r>
            <a:endParaRPr lang="zh-CN" altLang="en-US" sz="2400" dirty="0"/>
          </a:p>
        </p:txBody>
      </p:sp>
      <p:graphicFrame>
        <p:nvGraphicFramePr>
          <p:cNvPr id="4" name="表格 3"/>
          <p:cNvGraphicFramePr/>
          <p:nvPr/>
        </p:nvGraphicFramePr>
        <p:xfrm>
          <a:off x="1432560" y="4617732"/>
          <a:ext cx="9072879" cy="2103106"/>
        </p:xfrm>
        <a:graphic>
          <a:graphicData uri="http://schemas.openxmlformats.org/drawingml/2006/table">
            <a:tbl>
              <a:tblPr firstRow="1" bandRow="1">
                <a:tableStyleId>{5C22544A-7EE6-4342-B048-85BDC9FD1C3A}</a:tableStyleId>
              </a:tblPr>
              <a:tblGrid>
                <a:gridCol w="9072879"/>
              </a:tblGrid>
              <a:tr h="1935466">
                <a:tc>
                  <a:txBody>
                    <a:bodyPr/>
                    <a:lstStyle/>
                    <a:p>
                      <a:pPr>
                        <a:buNone/>
                      </a:pPr>
                      <a:r>
                        <a:rPr lang="en-US" altLang="zh-CN" sz="2400" dirty="0"/>
                        <a:t>$cd /</a:t>
                      </a:r>
                      <a:r>
                        <a:rPr lang="en-US" altLang="zh-CN" sz="2400" dirty="0" err="1"/>
                        <a:t>usr</a:t>
                      </a:r>
                      <a:r>
                        <a:rPr lang="en-US" altLang="zh-CN" sz="2400" dirty="0"/>
                        <a:t>/local/</a:t>
                      </a:r>
                      <a:r>
                        <a:rPr lang="en-US" altLang="zh-CN" sz="2400" dirty="0" err="1"/>
                        <a:t>hadoop</a:t>
                      </a:r>
                      <a:endParaRPr lang="en-US" altLang="zh-CN" sz="2400" dirty="0"/>
                    </a:p>
                    <a:p>
                      <a:pPr>
                        <a:buNone/>
                      </a:pPr>
                      <a:r>
                        <a:rPr lang="en-US" altLang="zh-CN" sz="2400" dirty="0"/>
                        <a:t>$</a:t>
                      </a:r>
                      <a:r>
                        <a:rPr lang="en-US" altLang="zh-CN" sz="2400" dirty="0" err="1"/>
                        <a:t>mkdir</a:t>
                      </a:r>
                      <a:r>
                        <a:rPr lang="en-US" altLang="zh-CN" sz="2400" dirty="0"/>
                        <a:t> input #</a:t>
                      </a:r>
                      <a:r>
                        <a:rPr lang="zh-CN" altLang="en-US" sz="2400" dirty="0"/>
                        <a:t>新建</a:t>
                      </a:r>
                      <a:r>
                        <a:rPr lang="en-US" altLang="zh-CN" sz="2400" dirty="0"/>
                        <a:t>input</a:t>
                      </a:r>
                      <a:r>
                        <a:rPr lang="zh-CN" altLang="en-US" sz="2400" dirty="0"/>
                        <a:t>目录用于存放输入数据</a:t>
                      </a:r>
                      <a:endParaRPr lang="en-US" altLang="zh-CN" sz="2400" dirty="0"/>
                    </a:p>
                    <a:p>
                      <a:pPr>
                        <a:buNone/>
                      </a:pPr>
                      <a:r>
                        <a:rPr lang="en-US" altLang="zh-CN" sz="2400" dirty="0"/>
                        <a:t>$cp ./</a:t>
                      </a:r>
                      <a:r>
                        <a:rPr lang="en-US" altLang="zh-CN" sz="2400" dirty="0" err="1"/>
                        <a:t>etc</a:t>
                      </a:r>
                      <a:r>
                        <a:rPr lang="en-US" altLang="zh-CN" sz="2400" dirty="0"/>
                        <a:t>/</a:t>
                      </a:r>
                      <a:r>
                        <a:rPr lang="en-US" altLang="zh-CN" sz="2400" dirty="0" err="1"/>
                        <a:t>hadoop</a:t>
                      </a:r>
                      <a:r>
                        <a:rPr lang="en-US" altLang="zh-CN" sz="2400" dirty="0"/>
                        <a:t>/*.xml ./input</a:t>
                      </a:r>
                      <a:endParaRPr lang="en-US" altLang="zh-CN" sz="2400" dirty="0"/>
                    </a:p>
                    <a:p>
                      <a:pPr>
                        <a:buNone/>
                      </a:pPr>
                      <a:r>
                        <a:rPr lang="en-US" altLang="zh-CN" sz="2000" dirty="0"/>
                        <a:t>$./bin/</a:t>
                      </a:r>
                      <a:r>
                        <a:rPr lang="en-US" altLang="zh-CN" sz="2000" dirty="0" err="1"/>
                        <a:t>hadoop</a:t>
                      </a:r>
                      <a:r>
                        <a:rPr lang="en-US" altLang="zh-CN" sz="2000" dirty="0"/>
                        <a:t>/jar/</a:t>
                      </a:r>
                      <a:r>
                        <a:rPr lang="en-US" altLang="zh-CN" sz="2000" dirty="0" err="1"/>
                        <a:t>usr</a:t>
                      </a:r>
                      <a:r>
                        <a:rPr lang="en-US" altLang="zh-CN" sz="2000" dirty="0"/>
                        <a:t>/local/</a:t>
                      </a:r>
                      <a:r>
                        <a:rPr lang="en-US" altLang="zh-CN" sz="2000" dirty="0" err="1"/>
                        <a:t>hadoop</a:t>
                      </a:r>
                      <a:r>
                        <a:rPr lang="en-US" altLang="zh-CN" sz="2000" dirty="0"/>
                        <a:t>/share/</a:t>
                      </a:r>
                      <a:r>
                        <a:rPr lang="en-US" altLang="zh-CN" sz="2000" dirty="0" err="1"/>
                        <a:t>hadoop</a:t>
                      </a:r>
                      <a:r>
                        <a:rPr lang="en-US" altLang="zh-CN" sz="2000" dirty="0"/>
                        <a:t>/</a:t>
                      </a:r>
                      <a:r>
                        <a:rPr lang="en-US" altLang="zh-CN" sz="2000" dirty="0" err="1"/>
                        <a:t>mapreduce</a:t>
                      </a:r>
                      <a:r>
                        <a:rPr lang="en-US" altLang="zh-CN" sz="2000" dirty="0"/>
                        <a:t>/hadoop-mapreduce-examples-3.1.3.jar grep ./input ./output ‘</a:t>
                      </a:r>
                      <a:r>
                        <a:rPr lang="en-US" altLang="zh-CN" sz="2000" dirty="0" err="1"/>
                        <a:t>dfs</a:t>
                      </a:r>
                      <a:r>
                        <a:rPr lang="en-US" altLang="zh-CN" sz="2000" dirty="0"/>
                        <a:t>[a-z.]+’</a:t>
                      </a:r>
                      <a:endParaRPr lang="en-US" altLang="zh-CN" sz="2000" dirty="0"/>
                    </a:p>
                    <a:p>
                      <a:pPr>
                        <a:buNone/>
                      </a:pPr>
                      <a:r>
                        <a:rPr lang="en-US" altLang="zh-CN" sz="2000" dirty="0"/>
                        <a:t>$cat ./output/*</a:t>
                      </a:r>
                      <a:endParaRPr lang="zh-CN" altLang="en-US" sz="2000" dirty="0"/>
                    </a:p>
                  </a:txBody>
                  <a:tcPr marL="91436" marR="91436" marT="45713" marB="45713">
                    <a:solidFill>
                      <a:schemeClr val="tx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53720" y="124936"/>
            <a:ext cx="10515600" cy="999808"/>
          </a:xfrm>
        </p:spPr>
        <p:txBody>
          <a:bodyPr/>
          <a:lstStyle/>
          <a:p>
            <a:r>
              <a:rPr sz="4800" b="1" dirty="0">
                <a:solidFill>
                  <a:srgbClr val="000000"/>
                </a:solidFill>
                <a:latin typeface="宋体" panose="02010600030101010101" pitchFamily="2" charset="-122"/>
                <a:ea typeface="宋体" panose="02010600030101010101" pitchFamily="2" charset="-122"/>
              </a:rPr>
              <a:t>伪分布式安装配置</a:t>
            </a:r>
            <a:endParaRPr sz="4800" b="1" dirty="0">
              <a:solidFill>
                <a:srgbClr val="000000"/>
              </a:solidFill>
              <a:latin typeface="宋体" panose="02010600030101010101" pitchFamily="2" charset="-122"/>
              <a:ea typeface="宋体" panose="02010600030101010101" pitchFamily="2" charset="-122"/>
            </a:endParaRPr>
          </a:p>
        </p:txBody>
      </p:sp>
      <p:sp>
        <p:nvSpPr>
          <p:cNvPr id="39939" name="TextBox 4"/>
          <p:cNvSpPr txBox="1">
            <a:spLocks noChangeArrowheads="1"/>
          </p:cNvSpPr>
          <p:nvPr/>
        </p:nvSpPr>
        <p:spPr bwMode="auto">
          <a:xfrm>
            <a:off x="1277620" y="938848"/>
            <a:ext cx="8689340" cy="5699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400" b="1" dirty="0"/>
              <a:t>实验步骤：</a:t>
            </a:r>
            <a:endParaRPr lang="en-US" altLang="zh-CN" sz="2400" b="1" dirty="0"/>
          </a:p>
          <a:p>
            <a:pPr eaLnBrk="1" hangingPunct="1">
              <a:lnSpc>
                <a:spcPct val="200000"/>
              </a:lnSpc>
              <a:buFont typeface="Wingdings" panose="05000000000000000000" pitchFamily="2" charset="2"/>
              <a:buChar char="p"/>
            </a:pPr>
            <a:r>
              <a:rPr lang="en-US" altLang="zh-CN" sz="2400" dirty="0"/>
              <a:t>cd /</a:t>
            </a:r>
            <a:r>
              <a:rPr lang="en-US" altLang="zh-CN" sz="2400" dirty="0" err="1"/>
              <a:t>usr</a:t>
            </a:r>
            <a:r>
              <a:rPr lang="en-US" altLang="zh-CN" sz="2400" dirty="0"/>
              <a:t>/local/</a:t>
            </a:r>
            <a:r>
              <a:rPr lang="en-US" altLang="zh-CN" sz="2400" dirty="0" err="1"/>
              <a:t>hadoop</a:t>
            </a:r>
            <a:endParaRPr lang="en-US" altLang="zh-CN" sz="2400" dirty="0"/>
          </a:p>
          <a:p>
            <a:pPr eaLnBrk="1" hangingPunct="1">
              <a:lnSpc>
                <a:spcPct val="200000"/>
              </a:lnSpc>
              <a:buFont typeface="Wingdings" panose="05000000000000000000" pitchFamily="2" charset="2"/>
              <a:buChar char="p"/>
            </a:pPr>
            <a:r>
              <a:rPr lang="zh-CN" altLang="en-US" sz="2400" dirty="0"/>
              <a:t>修改配置文件：</a:t>
            </a:r>
            <a:r>
              <a:rPr lang="en-US" altLang="zh-CN" sz="2400" dirty="0"/>
              <a:t>core-site.xml</a:t>
            </a:r>
            <a:r>
              <a:rPr lang="zh-CN" altLang="en-US" sz="2400" dirty="0"/>
              <a:t>，</a:t>
            </a:r>
            <a:r>
              <a:rPr lang="en-US" altLang="zh-CN" sz="2400" dirty="0"/>
              <a:t>hdfs-site.xml</a:t>
            </a:r>
            <a:endParaRPr lang="en-US" altLang="zh-CN" sz="2400" dirty="0"/>
          </a:p>
          <a:p>
            <a:pPr eaLnBrk="1" hangingPunct="1">
              <a:lnSpc>
                <a:spcPct val="200000"/>
              </a:lnSpc>
              <a:buFont typeface="Wingdings" panose="05000000000000000000" pitchFamily="2" charset="2"/>
              <a:buChar char="p"/>
            </a:pPr>
            <a:r>
              <a:rPr lang="zh-CN" altLang="en-US" sz="2400" dirty="0"/>
              <a:t>初始化文件系统</a:t>
            </a:r>
            <a:r>
              <a:rPr lang="en-US" altLang="zh-CN" sz="2400" dirty="0"/>
              <a:t>: ./bin/</a:t>
            </a:r>
            <a:r>
              <a:rPr lang="en-US" altLang="zh-CN" sz="2400" dirty="0" err="1"/>
              <a:t>hdfs</a:t>
            </a:r>
            <a:r>
              <a:rPr lang="en-US" altLang="zh-CN" sz="2400" dirty="0"/>
              <a:t> </a:t>
            </a:r>
            <a:r>
              <a:rPr lang="en-US" altLang="zh-CN" sz="2400" dirty="0" err="1"/>
              <a:t>namenode</a:t>
            </a:r>
            <a:r>
              <a:rPr lang="en-US" altLang="zh-CN" sz="2400" dirty="0"/>
              <a:t> -format</a:t>
            </a:r>
            <a:endParaRPr lang="en-US" altLang="zh-CN" sz="2400" dirty="0"/>
          </a:p>
          <a:p>
            <a:pPr eaLnBrk="1" hangingPunct="1">
              <a:lnSpc>
                <a:spcPct val="200000"/>
              </a:lnSpc>
              <a:buFont typeface="Wingdings" panose="05000000000000000000" pitchFamily="2" charset="2"/>
              <a:buChar char="p"/>
            </a:pPr>
            <a:r>
              <a:rPr lang="zh-CN" altLang="en-US" sz="2400" dirty="0"/>
              <a:t>启动</a:t>
            </a:r>
            <a:r>
              <a:rPr lang="en-US" altLang="zh-CN" sz="2400" dirty="0"/>
              <a:t>HDFS: ./sbin/start-dfs.sh</a:t>
            </a:r>
            <a:endParaRPr lang="en-US" altLang="zh-CN" sz="2400" dirty="0"/>
          </a:p>
          <a:p>
            <a:pPr eaLnBrk="1" hangingPunct="1">
              <a:lnSpc>
                <a:spcPct val="200000"/>
              </a:lnSpc>
              <a:buFont typeface="Wingdings" panose="05000000000000000000" pitchFamily="2" charset="2"/>
              <a:buChar char="p"/>
            </a:pPr>
            <a:r>
              <a:rPr lang="zh-CN" altLang="en-US" sz="2400" dirty="0"/>
              <a:t>启动成功，访问</a:t>
            </a:r>
            <a:r>
              <a:rPr lang="en-US" altLang="zh-CN" sz="2400" dirty="0"/>
              <a:t>web</a:t>
            </a:r>
            <a:r>
              <a:rPr lang="zh-CN" altLang="en-US" sz="2400" dirty="0"/>
              <a:t>界面，查看</a:t>
            </a:r>
            <a:r>
              <a:rPr lang="en-US" altLang="zh-CN" sz="2400" dirty="0"/>
              <a:t>Hadoop</a:t>
            </a:r>
            <a:r>
              <a:rPr lang="zh-CN" altLang="en-US" sz="2400" dirty="0"/>
              <a:t>信息</a:t>
            </a:r>
            <a:endParaRPr lang="en-US" altLang="zh-CN" sz="2400" dirty="0"/>
          </a:p>
          <a:p>
            <a:pPr eaLnBrk="1" hangingPunct="1">
              <a:lnSpc>
                <a:spcPct val="200000"/>
              </a:lnSpc>
              <a:buFont typeface="Wingdings" panose="05000000000000000000" pitchFamily="2" charset="2"/>
              <a:buChar char="p"/>
            </a:pPr>
            <a:r>
              <a:rPr lang="zh-CN" altLang="en-US" sz="2400" dirty="0"/>
              <a:t>运行实例</a:t>
            </a:r>
            <a:endParaRPr lang="en-US" altLang="zh-CN" sz="2400" dirty="0"/>
          </a:p>
          <a:p>
            <a:pPr eaLnBrk="1" hangingPunct="1">
              <a:lnSpc>
                <a:spcPct val="200000"/>
              </a:lnSpc>
              <a:buFont typeface="Wingdings" panose="05000000000000000000" pitchFamily="2" charset="2"/>
              <a:buChar char="p"/>
            </a:pPr>
            <a:r>
              <a:rPr lang="zh-CN" altLang="en-US" sz="2400" dirty="0"/>
              <a:t>停止</a:t>
            </a:r>
            <a:r>
              <a:rPr lang="en-US" altLang="zh-CN" sz="2400" dirty="0"/>
              <a:t>HDFS: ./sbin/stop-dfs.sh</a:t>
            </a:r>
            <a:endParaRPr lang="zh-CN" altLang="en-US" sz="2400" dirty="0"/>
          </a:p>
        </p:txBody>
      </p:sp>
      <p:sp>
        <p:nvSpPr>
          <p:cNvPr id="3" name="文本框 2"/>
          <p:cNvSpPr txBox="1"/>
          <p:nvPr/>
        </p:nvSpPr>
        <p:spPr>
          <a:xfrm>
            <a:off x="4663440" y="1683267"/>
            <a:ext cx="5080000" cy="510778"/>
          </a:xfrm>
          <a:prstGeom prst="wedgeRoundRectCallout">
            <a:avLst>
              <a:gd name="adj1" fmla="val -72467"/>
              <a:gd name="adj2" fmla="val 131124"/>
              <a:gd name="adj3" fmla="val 16667"/>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zh-CN" altLang="en-US" sz="2400" dirty="0"/>
              <a:t>位于 </a:t>
            </a:r>
            <a:r>
              <a:rPr lang="en-US" altLang="zh-CN" sz="2400" dirty="0"/>
              <a:t>./</a:t>
            </a:r>
            <a:r>
              <a:rPr lang="en-US" altLang="zh-CN" sz="2400" dirty="0" err="1"/>
              <a:t>etc</a:t>
            </a:r>
            <a:r>
              <a:rPr lang="en-US" altLang="zh-CN" sz="2400" dirty="0"/>
              <a:t>/</a:t>
            </a:r>
            <a:r>
              <a:rPr lang="en-US" altLang="zh-CN" sz="2400" dirty="0" err="1"/>
              <a:t>hadoop</a:t>
            </a:r>
            <a:r>
              <a:rPr lang="en-US" altLang="zh-CN" sz="2400" dirty="0"/>
              <a:t>/</a:t>
            </a:r>
            <a:endParaRPr lang="zh-CN" alt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矩形 3"/>
          <p:cNvSpPr>
            <a:spLocks noChangeArrowheads="1"/>
          </p:cNvSpPr>
          <p:nvPr/>
        </p:nvSpPr>
        <p:spPr bwMode="auto">
          <a:xfrm>
            <a:off x="726441" y="656621"/>
            <a:ext cx="47564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t>修改配置文件 </a:t>
            </a:r>
            <a:r>
              <a:rPr lang="en-US" altLang="zh-CN" sz="2800" b="1" dirty="0"/>
              <a:t>core-site.xml</a:t>
            </a:r>
            <a:r>
              <a:rPr lang="en-US" altLang="zh-CN" sz="2800" dirty="0"/>
              <a:t> </a:t>
            </a:r>
            <a:endParaRPr lang="zh-CN" altLang="en-US" sz="2800" dirty="0"/>
          </a:p>
        </p:txBody>
      </p:sp>
      <p:sp>
        <p:nvSpPr>
          <p:cNvPr id="40964" name="Rectangle 3"/>
          <p:cNvSpPr>
            <a:spLocks noChangeArrowheads="1"/>
          </p:cNvSpPr>
          <p:nvPr/>
        </p:nvSpPr>
        <p:spPr bwMode="auto">
          <a:xfrm>
            <a:off x="1107440" y="1610553"/>
            <a:ext cx="10759440" cy="4524315"/>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9pPr>
          </a:lstStyle>
          <a:p>
            <a:r>
              <a:rPr lang="en-US" altLang="zh-CN" sz="2400" dirty="0">
                <a:solidFill>
                  <a:srgbClr val="151515"/>
                </a:solidFill>
                <a:latin typeface="Consolas" panose="020B0609020204030204" pitchFamily="49" charset="0"/>
              </a:rPr>
              <a:t>&lt;configuration&gt;</a:t>
            </a:r>
            <a:endParaRPr lang="en-US" altLang="zh-CN" sz="2400" dirty="0"/>
          </a:p>
          <a:p>
            <a:r>
              <a:rPr lang="en-US" altLang="zh-CN" sz="2400" dirty="0">
                <a:solidFill>
                  <a:srgbClr val="151515"/>
                </a:solidFill>
                <a:latin typeface="Consolas" panose="020B0609020204030204" pitchFamily="49" charset="0"/>
              </a:rPr>
              <a:t>    &lt;property&gt;</a:t>
            </a:r>
            <a:endParaRPr lang="en-US" altLang="zh-CN" sz="2400" dirty="0"/>
          </a:p>
          <a:p>
            <a:r>
              <a:rPr lang="en-US" altLang="zh-CN" sz="2400" dirty="0">
                <a:solidFill>
                  <a:srgbClr val="151515"/>
                </a:solidFill>
                <a:latin typeface="Consolas" panose="020B0609020204030204" pitchFamily="49" charset="0"/>
              </a:rPr>
              <a:t>        &lt;name&gt;</a:t>
            </a:r>
            <a:r>
              <a:rPr lang="en-US" altLang="zh-CN" sz="2400" dirty="0" err="1">
                <a:solidFill>
                  <a:srgbClr val="151515"/>
                </a:solidFill>
                <a:latin typeface="Consolas" panose="020B0609020204030204" pitchFamily="49" charset="0"/>
              </a:rPr>
              <a:t>hadoop.tmp.dir</a:t>
            </a:r>
            <a:r>
              <a:rPr lang="en-US" altLang="zh-CN" sz="2400" dirty="0">
                <a:solidFill>
                  <a:srgbClr val="151515"/>
                </a:solidFill>
                <a:latin typeface="Consolas" panose="020B0609020204030204" pitchFamily="49" charset="0"/>
              </a:rPr>
              <a:t>&lt;/name&gt;</a:t>
            </a:r>
            <a:endParaRPr lang="en-US" altLang="zh-CN" sz="2400" dirty="0"/>
          </a:p>
          <a:p>
            <a:r>
              <a:rPr lang="en-US" altLang="zh-CN" sz="2400" dirty="0">
                <a:solidFill>
                  <a:srgbClr val="151515"/>
                </a:solidFill>
                <a:latin typeface="Consolas" panose="020B0609020204030204" pitchFamily="49" charset="0"/>
              </a:rPr>
              <a:t>        &lt;value&gt;file:/usr/local/hadoop/tmp&lt;/value&gt;</a:t>
            </a:r>
            <a:endParaRPr lang="en-US" altLang="zh-CN" sz="2400" dirty="0"/>
          </a:p>
          <a:p>
            <a:r>
              <a:rPr lang="en-US" altLang="zh-CN" sz="2400" dirty="0">
                <a:solidFill>
                  <a:srgbClr val="151515"/>
                </a:solidFill>
                <a:latin typeface="Consolas" panose="020B0609020204030204" pitchFamily="49" charset="0"/>
              </a:rPr>
              <a:t>        &lt;description&gt;Abase for other temporary directories.&lt;/description&gt;</a:t>
            </a:r>
            <a:endParaRPr lang="en-US" altLang="zh-CN" sz="2400" dirty="0"/>
          </a:p>
          <a:p>
            <a:r>
              <a:rPr lang="en-US" altLang="zh-CN" sz="2400" dirty="0">
                <a:solidFill>
                  <a:srgbClr val="151515"/>
                </a:solidFill>
                <a:latin typeface="Consolas" panose="020B0609020204030204" pitchFamily="49" charset="0"/>
              </a:rPr>
              <a:t>    &lt;/property&gt;</a:t>
            </a:r>
            <a:endParaRPr lang="en-US" altLang="zh-CN" sz="2400" dirty="0"/>
          </a:p>
          <a:p>
            <a:r>
              <a:rPr lang="en-US" altLang="zh-CN" sz="2400" dirty="0">
                <a:solidFill>
                  <a:srgbClr val="151515"/>
                </a:solidFill>
                <a:latin typeface="Consolas" panose="020B0609020204030204" pitchFamily="49" charset="0"/>
              </a:rPr>
              <a:t>    &lt;property&gt;</a:t>
            </a:r>
            <a:endParaRPr lang="en-US" altLang="zh-CN" sz="2400" dirty="0"/>
          </a:p>
          <a:p>
            <a:r>
              <a:rPr lang="en-US" altLang="zh-CN" sz="2400" dirty="0">
                <a:solidFill>
                  <a:srgbClr val="151515"/>
                </a:solidFill>
                <a:latin typeface="Consolas" panose="020B0609020204030204" pitchFamily="49" charset="0"/>
              </a:rPr>
              <a:t>        &lt;name&gt;</a:t>
            </a:r>
            <a:r>
              <a:rPr lang="en-US" altLang="zh-CN" sz="2400" dirty="0" err="1">
                <a:solidFill>
                  <a:srgbClr val="151515"/>
                </a:solidFill>
                <a:latin typeface="Consolas" panose="020B0609020204030204" pitchFamily="49" charset="0"/>
              </a:rPr>
              <a:t>fs.defaultFS</a:t>
            </a:r>
            <a:r>
              <a:rPr lang="en-US" altLang="zh-CN" sz="2400" dirty="0">
                <a:solidFill>
                  <a:srgbClr val="151515"/>
                </a:solidFill>
                <a:latin typeface="Consolas" panose="020B0609020204030204" pitchFamily="49" charset="0"/>
              </a:rPr>
              <a:t>&lt;/name&gt;</a:t>
            </a:r>
            <a:endParaRPr lang="en-US" altLang="zh-CN" sz="2400" dirty="0"/>
          </a:p>
          <a:p>
            <a:r>
              <a:rPr lang="en-US" altLang="zh-CN" sz="2400" dirty="0">
                <a:solidFill>
                  <a:srgbClr val="151515"/>
                </a:solidFill>
                <a:latin typeface="Consolas" panose="020B0609020204030204" pitchFamily="49" charset="0"/>
              </a:rPr>
              <a:t>        &lt;value&gt;hdfs://localhost:9000&lt;/value&gt;</a:t>
            </a:r>
            <a:endParaRPr lang="en-US" altLang="zh-CN" sz="2400" dirty="0"/>
          </a:p>
          <a:p>
            <a:r>
              <a:rPr lang="en-US" altLang="zh-CN" sz="2400" dirty="0">
                <a:solidFill>
                  <a:srgbClr val="151515"/>
                </a:solidFill>
                <a:latin typeface="Consolas" panose="020B0609020204030204" pitchFamily="49" charset="0"/>
              </a:rPr>
              <a:t>    &lt;/property&gt;</a:t>
            </a:r>
            <a:endParaRPr lang="en-US" altLang="zh-CN" sz="2400" dirty="0"/>
          </a:p>
          <a:p>
            <a:r>
              <a:rPr lang="en-US" altLang="zh-CN" sz="2400" dirty="0">
                <a:solidFill>
                  <a:srgbClr val="151515"/>
                </a:solidFill>
                <a:latin typeface="Consolas" panose="020B0609020204030204" pitchFamily="49" charset="0"/>
              </a:rPr>
              <a:t>&lt;/configuration&gt;</a:t>
            </a:r>
            <a:endParaRPr lang="en-US" altLang="zh-CN" sz="2400" dirty="0"/>
          </a:p>
        </p:txBody>
      </p:sp>
      <p:sp>
        <p:nvSpPr>
          <p:cNvPr id="5" name="对话气泡: 圆角矩形 4"/>
          <p:cNvSpPr/>
          <p:nvPr/>
        </p:nvSpPr>
        <p:spPr>
          <a:xfrm>
            <a:off x="5003800" y="1371793"/>
            <a:ext cx="3662680" cy="762000"/>
          </a:xfrm>
          <a:prstGeom prst="wedgeRoundRectCallout">
            <a:avLst>
              <a:gd name="adj1" fmla="val -69377"/>
              <a:gd name="adj2" fmla="val 798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t>存放临时数据的目录</a:t>
            </a:r>
            <a:endParaRPr lang="zh-CN" altLang="en-US" sz="2800" dirty="0"/>
          </a:p>
        </p:txBody>
      </p:sp>
      <p:sp>
        <p:nvSpPr>
          <p:cNvPr id="6" name="对话气泡: 圆角矩形 5"/>
          <p:cNvSpPr/>
          <p:nvPr/>
        </p:nvSpPr>
        <p:spPr>
          <a:xfrm>
            <a:off x="5930900" y="3872710"/>
            <a:ext cx="3662680" cy="762000"/>
          </a:xfrm>
          <a:prstGeom prst="wedgeRoundRectCallout">
            <a:avLst>
              <a:gd name="adj1" fmla="val -92401"/>
              <a:gd name="adj2" fmla="val 4383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t>HDFS</a:t>
            </a:r>
            <a:r>
              <a:rPr lang="zh-CN" altLang="en-US" sz="2800" dirty="0"/>
              <a:t>的地址和端口号</a:t>
            </a:r>
            <a:endParaRPr lang="zh-CN" alt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矩形 3"/>
          <p:cNvSpPr>
            <a:spLocks noChangeArrowheads="1"/>
          </p:cNvSpPr>
          <p:nvPr/>
        </p:nvSpPr>
        <p:spPr bwMode="auto">
          <a:xfrm>
            <a:off x="726441" y="656621"/>
            <a:ext cx="47564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t>修改配置文件 </a:t>
            </a:r>
            <a:r>
              <a:rPr lang="en-US" altLang="zh-CN" sz="2800" b="1" dirty="0"/>
              <a:t> hdfs-site.xml</a:t>
            </a:r>
            <a:endParaRPr lang="zh-CN" altLang="en-US" sz="2800" dirty="0"/>
          </a:p>
        </p:txBody>
      </p:sp>
      <p:sp>
        <p:nvSpPr>
          <p:cNvPr id="40964" name="Rectangle 3"/>
          <p:cNvSpPr>
            <a:spLocks noChangeArrowheads="1"/>
          </p:cNvSpPr>
          <p:nvPr/>
        </p:nvSpPr>
        <p:spPr bwMode="auto">
          <a:xfrm>
            <a:off x="1107440" y="1425887"/>
            <a:ext cx="10759440" cy="4893647"/>
          </a:xfrm>
          <a:prstGeom prst="rect">
            <a:avLst/>
          </a:prstGeom>
          <a:solidFill>
            <a:srgbClr val="F5F5F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581025" algn="l"/>
                <a:tab pos="1163320" algn="l"/>
                <a:tab pos="1744345" algn="l"/>
                <a:tab pos="2327275" algn="l"/>
                <a:tab pos="2908300" algn="l"/>
                <a:tab pos="3489325" algn="l"/>
                <a:tab pos="4071620" algn="l"/>
                <a:tab pos="4652645" algn="l"/>
                <a:tab pos="5235575" algn="l"/>
                <a:tab pos="5816600" algn="l"/>
                <a:tab pos="6397625" algn="l"/>
                <a:tab pos="6979920" algn="l"/>
                <a:tab pos="7560945" algn="l"/>
                <a:tab pos="8143875" algn="l"/>
                <a:tab pos="8724900" algn="l"/>
                <a:tab pos="9305925" algn="l"/>
              </a:tabLst>
              <a:defRPr>
                <a:solidFill>
                  <a:schemeClr val="tx1"/>
                </a:solidFill>
                <a:latin typeface="Arial" panose="020B0604020202020204" pitchFamily="34" charset="0"/>
                <a:ea typeface="宋体" panose="02010600030101010101" pitchFamily="2" charset="-122"/>
              </a:defRPr>
            </a:lvl9pPr>
          </a:lstStyle>
          <a:p>
            <a:r>
              <a:rPr lang="en-US" altLang="zh-CN" sz="2400" dirty="0">
                <a:solidFill>
                  <a:srgbClr val="151515"/>
                </a:solidFill>
                <a:latin typeface="Consolas" panose="020B0609020204030204" pitchFamily="49" charset="0"/>
              </a:rPr>
              <a:t>&lt;configuration&gt;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&lt;property&gt;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&lt;name&gt;</a:t>
            </a:r>
            <a:r>
              <a:rPr lang="en-US" altLang="zh-CN" sz="2400" dirty="0" err="1">
                <a:solidFill>
                  <a:srgbClr val="151515"/>
                </a:solidFill>
                <a:latin typeface="Consolas" panose="020B0609020204030204" pitchFamily="49" charset="0"/>
              </a:rPr>
              <a:t>dfs.replication</a:t>
            </a:r>
            <a:r>
              <a:rPr lang="en-US" altLang="zh-CN" sz="2400" dirty="0">
                <a:solidFill>
                  <a:srgbClr val="151515"/>
                </a:solidFill>
                <a:latin typeface="Consolas" panose="020B0609020204030204" pitchFamily="49" charset="0"/>
              </a:rPr>
              <a:t>&lt;/name&gt;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&lt;value&gt;1&lt;/value&gt;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&lt;/property&gt;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&lt;property&gt;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&lt;name&gt;</a:t>
            </a:r>
            <a:r>
              <a:rPr lang="en-US" altLang="zh-CN" sz="2400" dirty="0" err="1">
                <a:solidFill>
                  <a:srgbClr val="151515"/>
                </a:solidFill>
                <a:latin typeface="Consolas" panose="020B0609020204030204" pitchFamily="49" charset="0"/>
              </a:rPr>
              <a:t>dfs.namenode.name.dir</a:t>
            </a:r>
            <a:r>
              <a:rPr lang="en-US" altLang="zh-CN" sz="2400" dirty="0">
                <a:solidFill>
                  <a:srgbClr val="151515"/>
                </a:solidFill>
                <a:latin typeface="Consolas" panose="020B0609020204030204" pitchFamily="49" charset="0"/>
              </a:rPr>
              <a:t>&lt;/name&gt;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&lt;value&gt;file:/usr/local/hadoop/tmp/dfs/name&lt;/value&gt;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&lt;/property&gt;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&lt;property&gt;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&lt;name&gt;</a:t>
            </a:r>
            <a:r>
              <a:rPr lang="en-US" altLang="zh-CN" sz="2400" dirty="0" err="1">
                <a:solidFill>
                  <a:srgbClr val="151515"/>
                </a:solidFill>
                <a:latin typeface="Consolas" panose="020B0609020204030204" pitchFamily="49" charset="0"/>
              </a:rPr>
              <a:t>dfs.datanode.data.dir</a:t>
            </a:r>
            <a:r>
              <a:rPr lang="en-US" altLang="zh-CN" sz="2400" dirty="0">
                <a:solidFill>
                  <a:srgbClr val="151515"/>
                </a:solidFill>
                <a:latin typeface="Consolas" panose="020B0609020204030204" pitchFamily="49" charset="0"/>
              </a:rPr>
              <a:t>&lt;/name&gt;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&lt;value&gt;file:/usr/local/hadoop/tmp/dfs/data&lt;/value&gt;</a:t>
            </a:r>
            <a:endParaRPr lang="en-US" altLang="zh-CN" sz="2400" dirty="0">
              <a:solidFill>
                <a:srgbClr val="151515"/>
              </a:solidFill>
              <a:latin typeface="Consolas" panose="020B0609020204030204" pitchFamily="49" charset="0"/>
            </a:endParaRPr>
          </a:p>
          <a:p>
            <a:r>
              <a:rPr lang="en-US" altLang="zh-CN" sz="2400" dirty="0">
                <a:solidFill>
                  <a:srgbClr val="151515"/>
                </a:solidFill>
                <a:latin typeface="Consolas" panose="020B0609020204030204" pitchFamily="49" charset="0"/>
              </a:rPr>
              <a:t>    &lt;/property&gt;&lt;/configuration&gt;</a:t>
            </a:r>
            <a:endParaRPr lang="en-US" altLang="zh-CN" sz="2400" dirty="0"/>
          </a:p>
        </p:txBody>
      </p:sp>
      <p:sp>
        <p:nvSpPr>
          <p:cNvPr id="5" name="对话气泡: 圆角矩形 4"/>
          <p:cNvSpPr/>
          <p:nvPr/>
        </p:nvSpPr>
        <p:spPr>
          <a:xfrm>
            <a:off x="5003800" y="1371793"/>
            <a:ext cx="3662680" cy="762000"/>
          </a:xfrm>
          <a:prstGeom prst="wedgeRoundRectCallout">
            <a:avLst>
              <a:gd name="adj1" fmla="val -69377"/>
              <a:gd name="adj2" fmla="val 798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solidFill>
                  <a:srgbClr val="151515"/>
                </a:solidFill>
                <a:latin typeface="Consolas" panose="020B0609020204030204" pitchFamily="49" charset="0"/>
              </a:rPr>
              <a:t>副本的数量</a:t>
            </a:r>
            <a:endParaRPr lang="zh-CN" altLang="en-US" sz="2800" dirty="0"/>
          </a:p>
        </p:txBody>
      </p:sp>
      <p:sp>
        <p:nvSpPr>
          <p:cNvPr id="6" name="对话气泡: 圆角矩形 5"/>
          <p:cNvSpPr/>
          <p:nvPr/>
        </p:nvSpPr>
        <p:spPr>
          <a:xfrm>
            <a:off x="7038340" y="2877030"/>
            <a:ext cx="4198620" cy="762000"/>
          </a:xfrm>
          <a:prstGeom prst="wedgeRoundRectCallout">
            <a:avLst>
              <a:gd name="adj1" fmla="val -91846"/>
              <a:gd name="adj2" fmla="val 5583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dirty="0">
                <a:solidFill>
                  <a:srgbClr val="151515"/>
                </a:solidFill>
                <a:latin typeface="Consolas" panose="020B0609020204030204" pitchFamily="49" charset="0"/>
              </a:rPr>
              <a:t>存储</a:t>
            </a:r>
            <a:r>
              <a:rPr lang="en-US" altLang="zh-CN" sz="2800" dirty="0" err="1">
                <a:solidFill>
                  <a:srgbClr val="151515"/>
                </a:solidFill>
                <a:latin typeface="Consolas" panose="020B0609020204030204" pitchFamily="49" charset="0"/>
              </a:rPr>
              <a:t>fsimage</a:t>
            </a:r>
            <a:r>
              <a:rPr lang="zh-CN" altLang="en-US" sz="2800" dirty="0">
                <a:solidFill>
                  <a:srgbClr val="151515"/>
                </a:solidFill>
                <a:latin typeface="Consolas" panose="020B0609020204030204" pitchFamily="49" charset="0"/>
              </a:rPr>
              <a:t>文件的地方</a:t>
            </a:r>
            <a:endParaRPr lang="zh-CN" altLang="en-US" sz="2800" dirty="0"/>
          </a:p>
        </p:txBody>
      </p:sp>
      <p:sp>
        <p:nvSpPr>
          <p:cNvPr id="2" name="对话气泡: 圆角矩形 1"/>
          <p:cNvSpPr/>
          <p:nvPr/>
        </p:nvSpPr>
        <p:spPr>
          <a:xfrm>
            <a:off x="7038340" y="4384017"/>
            <a:ext cx="4574540" cy="762000"/>
          </a:xfrm>
          <a:prstGeom prst="wedgeRoundRectCallout">
            <a:avLst>
              <a:gd name="adj1" fmla="val -91846"/>
              <a:gd name="adj2" fmla="val 5583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dirty="0">
                <a:solidFill>
                  <a:srgbClr val="151515"/>
                </a:solidFill>
                <a:latin typeface="Consolas" panose="020B0609020204030204" pitchFamily="49" charset="0"/>
              </a:rPr>
              <a:t>HDFS</a:t>
            </a:r>
            <a:r>
              <a:rPr lang="zh-CN" altLang="en-US" sz="2800" dirty="0">
                <a:solidFill>
                  <a:srgbClr val="151515"/>
                </a:solidFill>
                <a:latin typeface="Consolas" panose="020B0609020204030204" pitchFamily="49" charset="0"/>
              </a:rPr>
              <a:t>数据存放</a:t>
            </a:r>
            <a:r>
              <a:rPr lang="en-US" altLang="zh-CN" sz="2800" dirty="0">
                <a:solidFill>
                  <a:srgbClr val="151515"/>
                </a:solidFill>
                <a:latin typeface="Consolas" panose="020B0609020204030204" pitchFamily="49" charset="0"/>
              </a:rPr>
              <a:t>block</a:t>
            </a:r>
            <a:r>
              <a:rPr lang="zh-CN" altLang="en-US" sz="2800" dirty="0">
                <a:solidFill>
                  <a:srgbClr val="151515"/>
                </a:solidFill>
                <a:latin typeface="Consolas" panose="020B0609020204030204" pitchFamily="49" charset="0"/>
              </a:rPr>
              <a:t>的地方</a:t>
            </a:r>
            <a:endParaRPr lang="zh-CN" altLang="en-US" sz="2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b="1" dirty="0"/>
              <a:t>本章小结</a:t>
            </a:r>
            <a:endParaRPr lang="zh-CN" altLang="en-US" b="1" dirty="0"/>
          </a:p>
        </p:txBody>
      </p:sp>
      <p:sp>
        <p:nvSpPr>
          <p:cNvPr id="52227" name="Rectangle 3"/>
          <p:cNvSpPr>
            <a:spLocks noGrp="1" noChangeArrowheads="1"/>
          </p:cNvSpPr>
          <p:nvPr>
            <p:ph idx="1"/>
          </p:nvPr>
        </p:nvSpPr>
        <p:spPr/>
        <p:txBody>
          <a:bodyPr>
            <a:normAutofit/>
          </a:bodyPr>
          <a:lstStyle/>
          <a:p>
            <a:pPr>
              <a:lnSpc>
                <a:spcPct val="150000"/>
              </a:lnSpc>
            </a:pPr>
            <a:r>
              <a:rPr lang="en-US" altLang="zh-CN" sz="2000" dirty="0"/>
              <a:t>Hadoop</a:t>
            </a:r>
            <a:r>
              <a:rPr lang="zh-CN" altLang="en-US" sz="2000" dirty="0"/>
              <a:t>被视为事实上的大数据处理标准，本章介绍了</a:t>
            </a:r>
            <a:r>
              <a:rPr lang="en-US" altLang="zh-CN" sz="2000" dirty="0"/>
              <a:t>Hadoop</a:t>
            </a:r>
            <a:r>
              <a:rPr lang="zh-CN" altLang="en-US" sz="2000" dirty="0"/>
              <a:t>的发展历程，并阐述了</a:t>
            </a:r>
            <a:r>
              <a:rPr lang="en-US" altLang="zh-CN" sz="2000" dirty="0"/>
              <a:t>Hadoop</a:t>
            </a:r>
            <a:r>
              <a:rPr lang="zh-CN" altLang="en-US" sz="2000" dirty="0"/>
              <a:t>的高可靠性、高效性、高可扩展性、高容错性、成本低、运行在</a:t>
            </a:r>
            <a:r>
              <a:rPr lang="en-US" altLang="zh-CN" sz="2000" dirty="0"/>
              <a:t>Linux</a:t>
            </a:r>
            <a:r>
              <a:rPr lang="zh-CN" altLang="en-US" sz="2000" dirty="0"/>
              <a:t>平台上、支持多种编程语言等特性</a:t>
            </a:r>
            <a:endParaRPr lang="zh-CN" altLang="en-US" sz="2000" dirty="0"/>
          </a:p>
          <a:p>
            <a:pPr>
              <a:lnSpc>
                <a:spcPct val="150000"/>
              </a:lnSpc>
            </a:pPr>
            <a:r>
              <a:rPr lang="en-US" altLang="zh-CN" sz="2000" dirty="0"/>
              <a:t>Hadoop</a:t>
            </a:r>
            <a:r>
              <a:rPr lang="zh-CN" altLang="en-US" sz="2000" dirty="0"/>
              <a:t>目前已经在各个领域得到了广泛的应用，雅虎、</a:t>
            </a:r>
            <a:r>
              <a:rPr lang="en-US" altLang="zh-CN" sz="2000" dirty="0"/>
              <a:t>Facebook</a:t>
            </a:r>
            <a:r>
              <a:rPr lang="zh-CN" altLang="en-US" sz="2000" dirty="0"/>
              <a:t>、百度、淘宝、网易等公司都建立了自己的</a:t>
            </a:r>
            <a:r>
              <a:rPr lang="en-US" altLang="zh-CN" sz="2000" dirty="0"/>
              <a:t>Hadoop</a:t>
            </a:r>
            <a:r>
              <a:rPr lang="zh-CN" altLang="en-US" sz="2000" dirty="0"/>
              <a:t>集群</a:t>
            </a:r>
            <a:endParaRPr lang="zh-CN" altLang="en-US" sz="2000" dirty="0"/>
          </a:p>
          <a:p>
            <a:pPr>
              <a:lnSpc>
                <a:spcPct val="150000"/>
              </a:lnSpc>
            </a:pPr>
            <a:r>
              <a:rPr lang="zh-CN" altLang="en-US" sz="2000" dirty="0"/>
              <a:t>经过多年发展，</a:t>
            </a:r>
            <a:r>
              <a:rPr lang="en-US" altLang="zh-CN" sz="2000" dirty="0"/>
              <a:t>Hadoop</a:t>
            </a:r>
            <a:r>
              <a:rPr lang="zh-CN" altLang="en-US" sz="2000" dirty="0"/>
              <a:t>项目已经变得非常成熟和完善，</a:t>
            </a:r>
            <a:r>
              <a:rPr lang="en-US" altLang="zh-CN" sz="2000" dirty="0"/>
              <a:t>HDFS</a:t>
            </a:r>
            <a:r>
              <a:rPr lang="zh-CN" altLang="en-US" sz="2000" dirty="0"/>
              <a:t>和</a:t>
            </a:r>
            <a:r>
              <a:rPr lang="en-US" altLang="zh-CN" sz="2000" dirty="0"/>
              <a:t>MapReduce</a:t>
            </a:r>
            <a:r>
              <a:rPr lang="zh-CN" altLang="en-US" sz="2000" dirty="0"/>
              <a:t>是</a:t>
            </a:r>
            <a:r>
              <a:rPr lang="en-US" altLang="zh-CN" sz="2000" dirty="0"/>
              <a:t>Hadoop</a:t>
            </a:r>
            <a:r>
              <a:rPr lang="zh-CN" altLang="en-US" sz="2000" dirty="0"/>
              <a:t>的两大核心组件</a:t>
            </a:r>
            <a:endParaRPr lang="zh-CN" altLang="en-US" sz="2000" dirty="0"/>
          </a:p>
          <a:p>
            <a:pPr>
              <a:lnSpc>
                <a:spcPct val="150000"/>
              </a:lnSpc>
            </a:pPr>
            <a:r>
              <a:rPr lang="zh-CN" altLang="en-US" sz="2000" dirty="0"/>
              <a:t>介绍了如何在</a:t>
            </a:r>
            <a:r>
              <a:rPr lang="en-US" altLang="zh-CN" sz="2000" dirty="0"/>
              <a:t>Linux</a:t>
            </a:r>
            <a:r>
              <a:rPr lang="zh-CN" altLang="en-US" sz="2000" dirty="0"/>
              <a:t>系统下完成</a:t>
            </a:r>
            <a:r>
              <a:rPr lang="en-US" altLang="zh-CN" sz="2000" dirty="0"/>
              <a:t>Hadoop</a:t>
            </a:r>
            <a:r>
              <a:rPr lang="zh-CN" altLang="en-US" sz="2000" dirty="0"/>
              <a:t>的安装和配置，这个部分是后续章节实践环节的基础</a:t>
            </a:r>
            <a:endParaRPr lang="zh-CN" altLang="en-US" sz="2000" dirty="0"/>
          </a:p>
          <a:p>
            <a:pPr>
              <a:lnSpc>
                <a:spcPct val="80000"/>
              </a:lnSpc>
            </a:pPr>
            <a:endParaRPr lang="zh-CN" altLang="en-US" sz="20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 name="KSO_WM_UNIT_PLACING_PICTURE_USER_VIEWPORT" val="{&quot;height&quot;:4952.500787401575,&quot;width&quot;:10800}"/>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PP_MARK_KEY" val="b6b11f8e-c8aa-4790-a55d-ceede10e912b"/>
  <p:tag name="COMMONDATA" val="eyJoZGlkIjoiOTRkNmFmZjRjMzI3MTQ3ZWFlYjhlZWM3YzFkOWNmN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6269</Words>
  <Application>WPS 演示</Application>
  <PresentationFormat>宽屏</PresentationFormat>
  <Paragraphs>611</Paragraphs>
  <Slides>33</Slides>
  <Notes>1</Notes>
  <HiddenSlides>9</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33</vt:i4>
      </vt:variant>
    </vt:vector>
  </HeadingPairs>
  <TitlesOfParts>
    <vt:vector size="46" baseType="lpstr">
      <vt:lpstr>Arial</vt:lpstr>
      <vt:lpstr>宋体</vt:lpstr>
      <vt:lpstr>Wingdings</vt:lpstr>
      <vt:lpstr>黑体</vt:lpstr>
      <vt:lpstr>Helvetica Neue</vt:lpstr>
      <vt:lpstr>-apple-system</vt:lpstr>
      <vt:lpstr>Segoe Print</vt:lpstr>
      <vt:lpstr>等线</vt:lpstr>
      <vt:lpstr>微软雅黑</vt:lpstr>
      <vt:lpstr>Arial Unicode MS</vt:lpstr>
      <vt:lpstr>等线 Light</vt:lpstr>
      <vt:lpstr>Consolas</vt:lpstr>
      <vt:lpstr>Office 主题​​</vt:lpstr>
      <vt:lpstr>第2章	大数据处理架构Hadoop</vt:lpstr>
      <vt:lpstr>PowerPoint 演示文稿</vt:lpstr>
      <vt:lpstr>2.1 概述</vt:lpstr>
      <vt:lpstr>2.1.1 Hadoop简介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Hadoop的安装与使用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创建Hadoop用户</vt:lpstr>
      <vt:lpstr>更新apt和安装Vim编辑器</vt:lpstr>
      <vt:lpstr>SSH登录权限设置</vt:lpstr>
      <vt:lpstr>安装Java环境</vt:lpstr>
      <vt:lpstr>配置Java环境</vt:lpstr>
      <vt:lpstr>单机安装</vt:lpstr>
      <vt:lpstr>伪分布式安装配置</vt:lpstr>
      <vt:lpstr>PowerPoint 演示文稿</vt:lpstr>
      <vt:lpstr>PowerPoint 演示文稿</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大数据管理</dc:title>
  <dc:creator>zitong chen</dc:creator>
  <cp:lastModifiedBy>大洋儿</cp:lastModifiedBy>
  <cp:revision>167</cp:revision>
  <dcterms:created xsi:type="dcterms:W3CDTF">2023-01-31T13:03:00Z</dcterms:created>
  <dcterms:modified xsi:type="dcterms:W3CDTF">2026-03-09T15:49:22Z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ACA66DA1FDD34C498CCA22514DF7C4A6</vt:lpwstr>
  </property>
  <property fmtid="{D5CDD505-2E9C-101B-9397-08002B2CF9AE}" pid="3" name="KSOProductBuildVer">
    <vt:lpwstr>2052-12.1.0.25225</vt:lpwstr>
  </property>
</Properties>
</file>