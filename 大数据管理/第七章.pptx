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15"/>
  </p:notesMasterIdLst>
  <p:handoutMasterIdLst>
    <p:handoutMasterId r:id="rId64"/>
  </p:handoutMasterIdLst>
  <p:sldIdLst>
    <p:sldId id="490" r:id="rId4"/>
    <p:sldId id="419" r:id="rId5"/>
    <p:sldId id="420" r:id="rId6"/>
    <p:sldId id="421" r:id="rId7"/>
    <p:sldId id="491" r:id="rId8"/>
    <p:sldId id="423" r:id="rId9"/>
    <p:sldId id="424" r:id="rId10"/>
    <p:sldId id="428" r:id="rId11"/>
    <p:sldId id="429" r:id="rId12"/>
    <p:sldId id="430" r:id="rId13"/>
    <p:sldId id="431" r:id="rId14"/>
    <p:sldId id="650" r:id="rId16"/>
    <p:sldId id="651" r:id="rId17"/>
    <p:sldId id="652" r:id="rId18"/>
    <p:sldId id="433" r:id="rId19"/>
    <p:sldId id="434" r:id="rId20"/>
    <p:sldId id="435" r:id="rId21"/>
    <p:sldId id="437" r:id="rId22"/>
    <p:sldId id="438" r:id="rId23"/>
    <p:sldId id="439" r:id="rId24"/>
    <p:sldId id="436" r:id="rId25"/>
    <p:sldId id="440" r:id="rId26"/>
    <p:sldId id="441" r:id="rId27"/>
    <p:sldId id="653" r:id="rId28"/>
    <p:sldId id="443" r:id="rId29"/>
    <p:sldId id="493" r:id="rId30"/>
    <p:sldId id="494" r:id="rId31"/>
    <p:sldId id="643" r:id="rId32"/>
    <p:sldId id="644" r:id="rId33"/>
    <p:sldId id="645" r:id="rId34"/>
    <p:sldId id="646" r:id="rId35"/>
    <p:sldId id="647" r:id="rId36"/>
    <p:sldId id="648" r:id="rId37"/>
    <p:sldId id="649" r:id="rId38"/>
    <p:sldId id="444" r:id="rId39"/>
    <p:sldId id="445" r:id="rId40"/>
    <p:sldId id="495" r:id="rId41"/>
    <p:sldId id="565" r:id="rId42"/>
    <p:sldId id="566" r:id="rId43"/>
    <p:sldId id="567" r:id="rId44"/>
    <p:sldId id="568" r:id="rId45"/>
    <p:sldId id="654" r:id="rId46"/>
    <p:sldId id="655" r:id="rId47"/>
    <p:sldId id="656" r:id="rId48"/>
    <p:sldId id="569" r:id="rId49"/>
    <p:sldId id="570" r:id="rId50"/>
    <p:sldId id="446" r:id="rId51"/>
    <p:sldId id="447" r:id="rId52"/>
    <p:sldId id="448" r:id="rId53"/>
    <p:sldId id="449" r:id="rId54"/>
    <p:sldId id="450" r:id="rId55"/>
    <p:sldId id="451" r:id="rId56"/>
    <p:sldId id="452" r:id="rId57"/>
    <p:sldId id="453" r:id="rId58"/>
    <p:sldId id="454" r:id="rId59"/>
    <p:sldId id="455" r:id="rId60"/>
    <p:sldId id="456" r:id="rId61"/>
    <p:sldId id="488" r:id="rId62"/>
    <p:sldId id="489" r:id="rId63"/>
  </p:sldIdLst>
  <p:sldSz cx="12192000" cy="6858000"/>
  <p:notesSz cx="6858000" cy="9144000"/>
  <p:custDataLst>
    <p:tags r:id="rId6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FFC000"/>
    <a:srgbClr val="E7E6E6"/>
    <a:srgbClr val="F8CBAD"/>
    <a:srgbClr val="FDA6B6"/>
    <a:srgbClr val="FFD9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8" Type="http://schemas.openxmlformats.org/officeDocument/2006/relationships/tags" Target="tags/tag96.xml"/><Relationship Id="rId67" Type="http://schemas.openxmlformats.org/officeDocument/2006/relationships/tableStyles" Target="tableStyles.xml"/><Relationship Id="rId66" Type="http://schemas.openxmlformats.org/officeDocument/2006/relationships/viewProps" Target="viewProps.xml"/><Relationship Id="rId65" Type="http://schemas.openxmlformats.org/officeDocument/2006/relationships/presProps" Target="presProps.xml"/><Relationship Id="rId64" Type="http://schemas.openxmlformats.org/officeDocument/2006/relationships/handoutMaster" Target="handoutMasters/handoutMaster1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EA424B-F2C7-4EC9-8DA2-5CFAACF65E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860B0A-E707-4489-B72C-209A0C1058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b="1" dirty="0">
                <a:latin typeface="Arial" panose="020B0604020202020204" pitchFamily="34" charset="0"/>
                <a:sym typeface="+mn-ea"/>
              </a:rPr>
              <a:t>任务的数量</a:t>
            </a:r>
            <a:endParaRPr lang="en-US" altLang="zh-CN" b="1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sym typeface="+mn-ea"/>
              </a:rPr>
              <a:t>最优的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任务个数取决于集群中可用的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任务槽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(slot)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的数目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sym typeface="+mn-ea"/>
              </a:rPr>
              <a:t>通常设置比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任务槽数目稍微小一些的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任务个数（这样可以预留一些系统资源处理可能发生的错误）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b="1" dirty="0">
                <a:latin typeface="Arial" panose="020B0604020202020204" pitchFamily="34" charset="0"/>
                <a:sym typeface="+mn-ea"/>
              </a:rPr>
              <a:t>任务的数量</a:t>
            </a:r>
            <a:endParaRPr lang="en-US" altLang="zh-CN" b="1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sym typeface="+mn-ea"/>
              </a:rPr>
              <a:t>最优的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任务个数取决于集群中可用的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任务槽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(slot)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的数目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sym typeface="+mn-ea"/>
              </a:rPr>
              <a:t>通常设置比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任务槽数目稍微小一些的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任务个数（这样可以预留一些系统资源处理可能发生的错误）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b="1" dirty="0">
                <a:latin typeface="Arial" panose="020B0604020202020204" pitchFamily="34" charset="0"/>
                <a:sym typeface="+mn-ea"/>
              </a:rPr>
              <a:t>任务的数量</a:t>
            </a:r>
            <a:endParaRPr lang="en-US" altLang="zh-CN" b="1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sym typeface="+mn-ea"/>
              </a:rPr>
              <a:t>最优的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任务个数取决于集群中可用的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任务槽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(slot)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的数目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sym typeface="+mn-ea"/>
              </a:rPr>
              <a:t>通常设置比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任务槽数目稍微小一些的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任务个数（这样可以预留一些系统资源处理可能发生的错误）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b="1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b="1" dirty="0">
                <a:latin typeface="Arial" panose="020B0604020202020204" pitchFamily="34" charset="0"/>
                <a:sym typeface="+mn-ea"/>
              </a:rPr>
              <a:t>任务的数量</a:t>
            </a:r>
            <a:endParaRPr lang="en-US" altLang="zh-CN" b="1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sym typeface="+mn-ea"/>
              </a:rPr>
              <a:t>最优的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任务个数取决于集群中可用的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任务槽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(slot)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的数目</a:t>
            </a:r>
            <a:endParaRPr lang="en-US" altLang="zh-CN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sym typeface="+mn-ea"/>
              </a:rPr>
              <a:t>通常设置比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任务槽数目稍微小一些的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Reduce</a:t>
            </a:r>
            <a:r>
              <a:rPr lang="zh-CN" altLang="en-US" dirty="0">
                <a:latin typeface="Arial" panose="020B0604020202020204" pitchFamily="34" charset="0"/>
                <a:sym typeface="+mn-ea"/>
              </a:rPr>
              <a:t>任务个数（这样可以预留一些系统资源处理可能发生的错误）</a:t>
            </a:r>
            <a:endParaRPr lang="en-US" altLang="zh-CN" dirty="0">
              <a:latin typeface="Arial" panose="020B0604020202020204" pitchFamily="34" charset="0"/>
            </a:endParaRP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01BD-4741-4184-BE56-DAF04E336C9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CF920-1DC5-4C71-8718-0D3D51DA575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FB8C7-156C-4269-A9D3-236C9122148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35BB-B880-4407-ACFF-512D8BC24B9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A4FC-A20D-40C9-ABAC-C696099A86F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C5C66-F7B6-4A16-8359-13B29DD706A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52A2-5CC8-435E-A513-EF450F74AF85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93F0-41FC-4EC0-B9B0-30C4E0373CF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D0A6-25F9-45E6-B1AB-8802F7FB4BF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DAC9-C380-4E94-9EDF-CE70C1A17B9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58E9-DE7D-4AC4-86BB-A1A3764A53E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D01BD-4741-4184-BE56-DAF04E336C97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CF920-1DC5-4C71-8718-0D3D51DA575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FB8C7-156C-4269-A9D3-236C9122148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235BB-B880-4407-ACFF-512D8BC24B90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9A4FC-A20D-40C9-ABAC-C696099A86F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C5C66-F7B6-4A16-8359-13B29DD706AB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552A2-5CC8-435E-A513-EF450F74AF85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593F0-41FC-4EC0-B9B0-30C4E0373CF4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DD0A6-25F9-45E6-B1AB-8802F7FB4BF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5DAC9-C380-4E94-9EDF-CE70C1A17B9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B58E9-DE7D-4AC4-86BB-A1A3764A53E4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10668000" cy="91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lvl="0"/>
            <a:r>
              <a:rPr lang="zh-CN" noProof="1"/>
              <a:t>单击此处编辑母版标题样式</a:t>
            </a:r>
            <a:endParaRPr lang="zh-CN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0D025-EB81-4291-9E40-972558CDBCB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0D025-EB81-4291-9E40-972558CDBCB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e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e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tags" Target="../tags/tag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14.png"/><Relationship Id="rId23" Type="http://schemas.openxmlformats.org/officeDocument/2006/relationships/slideLayout" Target="../slideLayouts/slideLayout7.xml"/><Relationship Id="rId22" Type="http://schemas.openxmlformats.org/officeDocument/2006/relationships/tags" Target="../tags/tag26.xml"/><Relationship Id="rId21" Type="http://schemas.openxmlformats.org/officeDocument/2006/relationships/tags" Target="../tags/tag25.xml"/><Relationship Id="rId20" Type="http://schemas.openxmlformats.org/officeDocument/2006/relationships/image" Target="../media/image15.png"/><Relationship Id="rId2" Type="http://schemas.openxmlformats.org/officeDocument/2006/relationships/tags" Target="../tags/tag8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image" Target="../media/image23.png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image" Target="../media/image15.png"/><Relationship Id="rId20" Type="http://schemas.openxmlformats.org/officeDocument/2006/relationships/tags" Target="../tags/tag45.xml"/><Relationship Id="rId2" Type="http://schemas.openxmlformats.org/officeDocument/2006/relationships/tags" Target="../tags/tag28.xml"/><Relationship Id="rId19" Type="http://schemas.openxmlformats.org/officeDocument/2006/relationships/tags" Target="../tags/tag44.xml"/><Relationship Id="rId18" Type="http://schemas.openxmlformats.org/officeDocument/2006/relationships/tags" Target="../tags/tag43.xml"/><Relationship Id="rId17" Type="http://schemas.openxmlformats.org/officeDocument/2006/relationships/tags" Target="../tags/tag42.xml"/><Relationship Id="rId16" Type="http://schemas.openxmlformats.org/officeDocument/2006/relationships/tags" Target="../tags/tag41.xml"/><Relationship Id="rId15" Type="http://schemas.openxmlformats.org/officeDocument/2006/relationships/tags" Target="../tags/tag40.xml"/><Relationship Id="rId14" Type="http://schemas.openxmlformats.org/officeDocument/2006/relationships/tags" Target="../tags/tag39.xml"/><Relationship Id="rId13" Type="http://schemas.openxmlformats.org/officeDocument/2006/relationships/tags" Target="../tags/tag38.xml"/><Relationship Id="rId12" Type="http://schemas.openxmlformats.org/officeDocument/2006/relationships/tags" Target="../tags/tag37.xml"/><Relationship Id="rId11" Type="http://schemas.openxmlformats.org/officeDocument/2006/relationships/tags" Target="../tags/tag36.xml"/><Relationship Id="rId10" Type="http://schemas.openxmlformats.org/officeDocument/2006/relationships/tags" Target="../tags/tag35.xml"/><Relationship Id="rId1" Type="http://schemas.openxmlformats.org/officeDocument/2006/relationships/tags" Target="../tags/tag27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image" Target="../media/image25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image" Target="../media/image26.png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image" Target="../media/image27.png"/><Relationship Id="rId2" Type="http://schemas.openxmlformats.org/officeDocument/2006/relationships/tags" Target="../tags/tag66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image" Target="../media/image15.png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5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image" Target="../media/image28.png"/><Relationship Id="rId2" Type="http://schemas.openxmlformats.org/officeDocument/2006/relationships/tags" Target="../tags/tag81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95.xml"/><Relationship Id="rId17" Type="http://schemas.openxmlformats.org/officeDocument/2006/relationships/tags" Target="../tags/tag94.xml"/><Relationship Id="rId16" Type="http://schemas.openxmlformats.org/officeDocument/2006/relationships/tags" Target="../tags/tag93.xml"/><Relationship Id="rId15" Type="http://schemas.openxmlformats.org/officeDocument/2006/relationships/image" Target="../media/image15.png"/><Relationship Id="rId14" Type="http://schemas.openxmlformats.org/officeDocument/2006/relationships/tags" Target="../tags/tag92.xml"/><Relationship Id="rId13" Type="http://schemas.openxmlformats.org/officeDocument/2006/relationships/tags" Target="../tags/tag91.xml"/><Relationship Id="rId12" Type="http://schemas.openxmlformats.org/officeDocument/2006/relationships/tags" Target="../tags/tag90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tags" Target="../tags/tag80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第三篇 大数据处理与分析</a:t>
            </a:r>
            <a:endParaRPr lang="zh-CN" altLang="en-US" b="1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291955" cy="2116455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重点：分布式并行编程框架</a:t>
            </a:r>
            <a:r>
              <a:rPr lang="en-US" altLang="zh-CN" dirty="0"/>
              <a:t>MapReduce</a:t>
            </a:r>
            <a:r>
              <a:rPr lang="zh-CN" altLang="en-US" dirty="0"/>
              <a:t>、数据仓库</a:t>
            </a:r>
            <a:r>
              <a:rPr lang="en-US" altLang="zh-CN" dirty="0"/>
              <a:t>Hive</a:t>
            </a:r>
            <a:r>
              <a:rPr lang="zh-CN" altLang="en-US" dirty="0"/>
              <a:t>、基于内存的分布式计算框架</a:t>
            </a:r>
            <a:r>
              <a:rPr lang="en-US" altLang="zh-CN" dirty="0"/>
              <a:t>Spark</a:t>
            </a:r>
            <a:r>
              <a:rPr lang="zh-CN" altLang="en-US" dirty="0"/>
              <a:t>、流计算框架</a:t>
            </a:r>
            <a:r>
              <a:rPr lang="en-US" altLang="zh-CN" dirty="0"/>
              <a:t>Storm</a:t>
            </a:r>
            <a:r>
              <a:rPr lang="zh-CN" altLang="en-US" dirty="0"/>
              <a:t>、流处理框架</a:t>
            </a:r>
            <a:r>
              <a:rPr lang="en-US" altLang="zh-CN" dirty="0"/>
              <a:t>Flink</a:t>
            </a:r>
            <a:r>
              <a:rPr lang="zh-CN" altLang="en-US" dirty="0"/>
              <a:t>和图计算框架</a:t>
            </a:r>
            <a:r>
              <a:rPr lang="en-US" altLang="zh-CN" dirty="0"/>
              <a:t>Pregel</a:t>
            </a:r>
            <a:r>
              <a:rPr lang="zh-CN" altLang="en-US" dirty="0"/>
              <a:t>的基本原理</a:t>
            </a:r>
            <a:endParaRPr lang="en-US" altLang="zh-CN" dirty="0"/>
          </a:p>
          <a:p>
            <a:endParaRPr lang="zh-CN" altLang="en-US" dirty="0"/>
          </a:p>
          <a:p>
            <a:r>
              <a:rPr lang="zh-CN" altLang="en-US" dirty="0"/>
              <a:t>难点：理解</a:t>
            </a:r>
            <a:r>
              <a:rPr lang="en-US" altLang="zh-CN" dirty="0"/>
              <a:t>MapReduce</a:t>
            </a:r>
            <a:r>
              <a:rPr lang="zh-CN" altLang="en-US" dirty="0"/>
              <a:t>的工作流程、</a:t>
            </a:r>
            <a:r>
              <a:rPr lang="en-US" altLang="zh-CN" dirty="0"/>
              <a:t>Spark</a:t>
            </a:r>
            <a:r>
              <a:rPr lang="zh-CN" altLang="en-US" dirty="0"/>
              <a:t>运行原理、</a:t>
            </a:r>
            <a:r>
              <a:rPr lang="en-US" altLang="zh-CN" dirty="0"/>
              <a:t>Storm</a:t>
            </a:r>
            <a:r>
              <a:rPr lang="zh-CN" altLang="en-US" dirty="0"/>
              <a:t>的设计思想、</a:t>
            </a:r>
            <a:r>
              <a:rPr lang="en-US" altLang="zh-CN" dirty="0"/>
              <a:t>Flink</a:t>
            </a:r>
            <a:r>
              <a:rPr lang="zh-CN" altLang="en-US" dirty="0"/>
              <a:t>的编程模型和</a:t>
            </a:r>
            <a:r>
              <a:rPr lang="en-US" altLang="zh-CN" dirty="0"/>
              <a:t>Pregel</a:t>
            </a:r>
            <a:r>
              <a:rPr lang="zh-CN" altLang="en-US" dirty="0"/>
              <a:t>的计算模型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标题 2"/>
          <p:cNvSpPr>
            <a:spLocks noGrp="1"/>
          </p:cNvSpPr>
          <p:nvPr>
            <p:ph type="title" idx="10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第</a:t>
            </a:r>
            <a:r>
              <a:rPr lang="en-US" altLang="zh-CN" dirty="0"/>
              <a:t> 7 </a:t>
            </a:r>
            <a:r>
              <a:rPr lang="zh-CN" altLang="en-US" dirty="0"/>
              <a:t>章</a:t>
            </a:r>
            <a:r>
              <a:rPr lang="en-US" altLang="zh-CN" dirty="0"/>
              <a:t> MapReduce</a:t>
            </a:r>
            <a:endParaRPr lang="en-US" altLang="zh-CN" dirty="0"/>
          </a:p>
        </p:txBody>
      </p:sp>
      <p:sp>
        <p:nvSpPr>
          <p:cNvPr id="1028" name="Text Box 6"/>
          <p:cNvSpPr txBox="1"/>
          <p:nvPr/>
        </p:nvSpPr>
        <p:spPr>
          <a:xfrm>
            <a:off x="1452880" y="1447800"/>
            <a:ext cx="5730875" cy="50158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>
              <a:lnSpc>
                <a:spcPct val="200000"/>
              </a:lnSpc>
              <a:buNone/>
            </a:pP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7.1	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概述</a:t>
            </a:r>
            <a:endParaRPr lang="zh-CN" altLang="en-US" sz="320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indent="0">
              <a:lnSpc>
                <a:spcPct val="200000"/>
              </a:lnSpc>
              <a:buNone/>
            </a:pPr>
            <a:r>
              <a:rPr lang="es-E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7.</a:t>
            </a:r>
            <a:r>
              <a:rPr lang="en-US" altLang="es-ES" sz="32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es-E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	MapReduce</a:t>
            </a:r>
            <a:r>
              <a:rPr lang="zh-CN" altLang="es-ES" sz="32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工作流程</a:t>
            </a:r>
            <a:endParaRPr lang="zh-CN" altLang="en-US" sz="320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indent="0">
              <a:lnSpc>
                <a:spcPct val="200000"/>
              </a:lnSpc>
              <a:buNone/>
            </a:pP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7.3	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实例分析：</a:t>
            </a: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WordCount</a:t>
            </a:r>
            <a:endParaRPr lang="zh-CN" altLang="en-US" sz="320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indent="0">
              <a:lnSpc>
                <a:spcPct val="200000"/>
              </a:lnSpc>
              <a:buNone/>
            </a:pPr>
            <a:r>
              <a:rPr lang="en-US" altLang="zh-CN" sz="32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7.4	MapReduce</a:t>
            </a:r>
            <a:r>
              <a:rPr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的具体应用</a:t>
            </a:r>
            <a:endParaRPr lang="zh-CN" altLang="en-US" sz="3200" dirty="0">
              <a:solidFill>
                <a:srgbClr val="00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indent="0">
              <a:lnSpc>
                <a:spcPct val="200000"/>
              </a:lnSpc>
              <a:buNone/>
            </a:pPr>
            <a:r>
              <a:rPr lang="en-US" altLang="zh-CN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7.5	MapReduce</a:t>
            </a:r>
            <a:r>
              <a:rPr lang="zh-CN" altLang="en-US" sz="3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编程实践</a:t>
            </a:r>
            <a:endParaRPr lang="zh-CN" altLang="en-US" sz="3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7.1	</a:t>
            </a:r>
            <a:r>
              <a:rPr lang="zh-CN" altLang="en-US" dirty="0"/>
              <a:t>概述</a:t>
            </a:r>
            <a:endParaRPr lang="zh-CN" altLang="en-US" dirty="0"/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>
              <a:lnSpc>
                <a:spcPct val="200000"/>
              </a:lnSpc>
            </a:pPr>
            <a:r>
              <a:rPr lang="en-US" altLang="zh-CN" dirty="0"/>
              <a:t>7.1.1	</a:t>
            </a:r>
            <a:r>
              <a:rPr lang="zh-CN" altLang="en-US" dirty="0"/>
              <a:t>分布式并行编程</a:t>
            </a:r>
            <a:endParaRPr lang="zh-CN" altLang="en-US" dirty="0"/>
          </a:p>
          <a:p>
            <a:pPr>
              <a:lnSpc>
                <a:spcPct val="200000"/>
              </a:lnSpc>
            </a:pPr>
            <a:r>
              <a:rPr lang="en-US" altLang="zh-CN" dirty="0"/>
              <a:t>7.1.2	MapReduce</a:t>
            </a:r>
            <a:r>
              <a:rPr lang="zh-CN" altLang="en-US" dirty="0"/>
              <a:t>模型简介</a:t>
            </a:r>
            <a:endParaRPr lang="zh-CN" altLang="en-US" dirty="0"/>
          </a:p>
          <a:p>
            <a:pPr>
              <a:lnSpc>
                <a:spcPct val="200000"/>
              </a:lnSpc>
            </a:pPr>
            <a:r>
              <a:rPr lang="en-US" altLang="zh-CN" dirty="0"/>
              <a:t>7.1.3	Map</a:t>
            </a:r>
            <a:r>
              <a:rPr lang="zh-CN" altLang="en-US" dirty="0"/>
              <a:t>和</a:t>
            </a:r>
            <a:r>
              <a:rPr lang="en-US" altLang="zh-CN" dirty="0"/>
              <a:t>Reduce</a:t>
            </a:r>
            <a:r>
              <a:rPr lang="zh-CN" altLang="en-US" dirty="0"/>
              <a:t>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7.1.1	</a:t>
            </a:r>
            <a:r>
              <a:rPr lang="zh-CN" altLang="en-US" dirty="0"/>
              <a:t>分布式并行编程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08610" y="4192270"/>
            <a:ext cx="3540125" cy="152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ctr" eaLnBrk="0" hangingPunct="0">
              <a:lnSpc>
                <a:spcPct val="130000"/>
              </a:lnSpc>
              <a:buNone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“摩尔定律”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pPr indent="0" algn="ctr" eaLnBrk="0" hangingPunct="0">
              <a:lnSpc>
                <a:spcPct val="130000"/>
              </a:lnSpc>
              <a:buNone/>
            </a:pPr>
            <a:r>
              <a:rPr lang="en-US" sz="2400" dirty="0">
                <a:latin typeface="Arial" panose="020B0604020202020204" pitchFamily="34" charset="0"/>
                <a:sym typeface="+mn-ea"/>
              </a:rPr>
              <a:t>CPU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18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个月性能翻一番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pPr indent="0" algn="ctr" eaLnBrk="0" hangingPunct="0">
              <a:lnSpc>
                <a:spcPct val="130000"/>
              </a:lnSpc>
              <a:buNone/>
            </a:pP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2005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年逐渐失效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732155" y="2006600"/>
            <a:ext cx="2682240" cy="227203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2"/>
          <a:srcRect t="10557"/>
          <a:stretch>
            <a:fillRect/>
          </a:stretch>
        </p:blipFill>
        <p:spPr>
          <a:xfrm>
            <a:off x="4471670" y="1423670"/>
            <a:ext cx="6807835" cy="34378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43" name="Rectangle 6"/>
          <p:cNvSpPr/>
          <p:nvPr/>
        </p:nvSpPr>
        <p:spPr>
          <a:xfrm>
            <a:off x="4832985" y="5069840"/>
            <a:ext cx="6520815" cy="152971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indent="0" algn="ctr" eaLnBrk="0" hangingPunct="0">
              <a:lnSpc>
                <a:spcPct val="130000"/>
              </a:lnSpc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开始借助于分布式并行编程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indent="0" algn="ctr" eaLnBrk="0" hangingPunct="0">
              <a:lnSpc>
                <a:spcPct val="130000"/>
              </a:lnSpc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大规模计算机集群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indent="0" algn="ctr" eaLnBrk="0" hangingPunct="0">
              <a:lnSpc>
                <a:spcPct val="130000"/>
              </a:lnSpc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谷歌最先提出分布式并行编程模型</a:t>
            </a:r>
            <a:r>
              <a:rPr lang="en-US" altLang="zh-CN" sz="2400" dirty="0">
                <a:latin typeface="Arial" panose="020B0604020202020204" pitchFamily="34" charset="0"/>
              </a:rPr>
              <a:t>MapReduce</a:t>
            </a:r>
            <a:endParaRPr lang="en-US" altLang="zh-CN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/>
      <p:bldP spid="1024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en-US" dirty="0"/>
              <a:t>7.1.2	MapReduce模型简介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165225" y="5635625"/>
            <a:ext cx="61061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eaLnBrk="0" hangingPunct="0">
              <a:buNone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高度地抽象到了两个函数：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Map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和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Reduce</a:t>
            </a:r>
            <a:endParaRPr lang="en-US" altLang="zh-CN" sz="24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65225" y="5178425"/>
            <a:ext cx="40259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eaLnBrk="0" hangingPunct="0">
              <a:buNone/>
            </a:pPr>
            <a:r>
              <a:rPr lang="zh-CN" altLang="en-US" sz="2400" dirty="0">
                <a:highlight>
                  <a:srgbClr val="FFFF00"/>
                </a:highlight>
                <a:latin typeface="Arial" panose="020B0604020202020204" pitchFamily="34" charset="0"/>
                <a:sym typeface="+mn-ea"/>
              </a:rPr>
              <a:t>核心思想：函数式编程语言</a:t>
            </a:r>
            <a:endParaRPr lang="zh-CN" altLang="en-US" sz="2400" dirty="0">
              <a:highlight>
                <a:srgbClr val="FFFF00"/>
              </a:highlight>
              <a:latin typeface="Arial" panose="020B0604020202020204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65225" y="3579495"/>
            <a:ext cx="985647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分布式并行编程细节：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r>
              <a:rPr lang="zh-CN" altLang="en-US" sz="2400" dirty="0"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   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分布式存储、工作调度、负载均衡、容错处理、网络通信等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2515" y="1691005"/>
            <a:ext cx="765683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  <a:sym typeface="+mn-ea"/>
              </a:rPr>
              <a:t>“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  <a:sym typeface="+mn-ea"/>
              </a:rPr>
              <a:t>分而治之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”策略：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pPr indent="457200"/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存储在分布式文件系统中的大规模数据集，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  <a:p>
            <a:pPr indent="457200"/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切分成许多独立的分片去并行处理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en-US" dirty="0"/>
              <a:t>7.1.2	MapReduce模型简介</a:t>
            </a:r>
            <a:endParaRPr lang="zh-CN" altLang="en-US" dirty="0"/>
          </a:p>
        </p:txBody>
      </p:sp>
      <p:sp>
        <p:nvSpPr>
          <p:cNvPr id="12291" name="Rectangle 4"/>
          <p:cNvSpPr/>
          <p:nvPr/>
        </p:nvSpPr>
        <p:spPr>
          <a:xfrm>
            <a:off x="1017905" y="2003425"/>
            <a:ext cx="41636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indent="0" eaLnBrk="0" hangingPunct="0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设计理念：“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计算向数据靠拢</a:t>
            </a:r>
            <a:r>
              <a:rPr lang="zh-CN" altLang="en-US" sz="2400" dirty="0">
                <a:latin typeface="Arial" panose="020B0604020202020204" pitchFamily="34" charset="0"/>
              </a:rPr>
              <a:t>”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3150" y="5031740"/>
            <a:ext cx="656653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eaLnBrk="0" hangingPunct="0">
              <a:buNone/>
            </a:pP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MapReduce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应用程序则不一定要用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Java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来写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949450" y="3338195"/>
            <a:ext cx="457644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eaLnBrk="0" hangingPunct="0">
              <a:buNone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移动计算要比移动数据更加经济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49450" y="2670810"/>
            <a:ext cx="49422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eaLnBrk="0" hangingPunct="0">
              <a:buNone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移动数据需要大量的网络传输开销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949450" y="400558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highlight>
                  <a:srgbClr val="FFFF00"/>
                </a:highlight>
                <a:sym typeface="+mn-ea"/>
              </a:rPr>
              <a:t>就近</a:t>
            </a:r>
            <a:r>
              <a:rPr lang="zh-CN" altLang="en-US" sz="2400">
                <a:highlight>
                  <a:srgbClr val="FFFF00"/>
                </a:highlight>
              </a:rPr>
              <a:t>运行在</a:t>
            </a:r>
            <a:r>
              <a:rPr lang="en-US" altLang="zh-CN" sz="2400">
                <a:highlight>
                  <a:srgbClr val="FFFF00"/>
                </a:highlight>
              </a:rPr>
              <a:t>HDFS</a:t>
            </a:r>
            <a:r>
              <a:rPr lang="zh-CN" altLang="en-US" sz="2400">
                <a:highlight>
                  <a:srgbClr val="FFFF00"/>
                </a:highlight>
              </a:rPr>
              <a:t>数据节点</a:t>
            </a:r>
            <a:endParaRPr lang="zh-CN" altLang="en-US" sz="2400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9" grpId="0"/>
      <p:bldP spid="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en-US" dirty="0"/>
              <a:t>7.1.3	Map和Reduce函数</a:t>
            </a:r>
            <a:endParaRPr lang="zh-CN" altLang="en-US" dirty="0"/>
          </a:p>
        </p:txBody>
      </p:sp>
      <p:graphicFrame>
        <p:nvGraphicFramePr>
          <p:cNvPr id="6239" name="Group 9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64945" y="1573530"/>
          <a:ext cx="9142730" cy="3931920"/>
        </p:xfrm>
        <a:graphic>
          <a:graphicData uri="http://schemas.openxmlformats.org/drawingml/2006/table">
            <a:tbl>
              <a:tblPr/>
              <a:tblGrid>
                <a:gridCol w="1202055"/>
                <a:gridCol w="1818005"/>
                <a:gridCol w="1938020"/>
                <a:gridCol w="418465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输入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输出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说明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Map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,v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如：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行号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,”a b c”&gt;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List(&lt;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&gt;)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如：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&lt;“a”,1&gt;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&lt;“b”,1&gt;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&lt;“c”,1&gt;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将小数据集进一步解析成一批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&lt;key,value&gt;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对，输入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Map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函数中进行处理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每一个输入的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会输出一批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。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4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是计算的中间结果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Reduce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,List(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)&gt;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如：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&lt;“a”,&lt;1,1,1&gt;&gt;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&gt;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&lt;“a”,3&gt;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输入的中间结果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,List(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)&gt;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中的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List(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表示是一批属于同一个</a:t>
                      </a:r>
                      <a:r>
                        <a:rPr kumimoji="0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kumimoji="0" lang="en-US" altLang="zh-CN" sz="2400" b="0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value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s-ES" altLang="zh-CN" dirty="0"/>
              <a:t>7.</a:t>
            </a:r>
            <a:r>
              <a:rPr lang="en-US" altLang="es-ES" dirty="0"/>
              <a:t>2</a:t>
            </a:r>
            <a:r>
              <a:rPr lang="es-ES" altLang="zh-CN" dirty="0"/>
              <a:t>	MapReduce</a:t>
            </a:r>
            <a:r>
              <a:rPr lang="zh-CN" altLang="es-ES" dirty="0"/>
              <a:t>工作流程</a:t>
            </a:r>
            <a:endParaRPr lang="zh-CN" altLang="en-US" dirty="0"/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sz="3200" dirty="0"/>
              <a:t>7.2.1	</a:t>
            </a:r>
            <a:r>
              <a:rPr lang="zh-CN" altLang="en-US" sz="3200" dirty="0"/>
              <a:t>工作流程概述</a:t>
            </a:r>
            <a:endParaRPr lang="zh-CN" altLang="en-US" sz="32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3200" dirty="0"/>
              <a:t>7.2.2	MapReduce</a:t>
            </a:r>
            <a:r>
              <a:rPr lang="zh-CN" altLang="en-US" sz="3200" dirty="0"/>
              <a:t>各个执行阶段</a:t>
            </a:r>
            <a:endParaRPr lang="zh-CN" altLang="en-US" sz="32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3200" dirty="0"/>
              <a:t>7.2.3	Shuffle</a:t>
            </a:r>
            <a:r>
              <a:rPr lang="zh-CN" altLang="en-US" sz="3200" dirty="0"/>
              <a:t>过程详解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7.2.1	</a:t>
            </a:r>
            <a:r>
              <a:rPr lang="zh-CN" altLang="en-US" dirty="0"/>
              <a:t>工作流程概述</a:t>
            </a:r>
            <a:endParaRPr lang="zh-CN" altLang="en-US" dirty="0"/>
          </a:p>
        </p:txBody>
      </p:sp>
      <p:pic>
        <p:nvPicPr>
          <p:cNvPr id="1536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245" y="2287270"/>
            <a:ext cx="6629400" cy="3270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365" name="TextBox 4"/>
          <p:cNvSpPr txBox="1"/>
          <p:nvPr/>
        </p:nvSpPr>
        <p:spPr>
          <a:xfrm>
            <a:off x="3486150" y="2622550"/>
            <a:ext cx="889635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Shuffle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366" name="TextBox 6"/>
          <p:cNvSpPr txBox="1"/>
          <p:nvPr/>
        </p:nvSpPr>
        <p:spPr>
          <a:xfrm>
            <a:off x="7409815" y="1597660"/>
            <a:ext cx="4368165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不同</a:t>
            </a:r>
            <a:r>
              <a:rPr lang="en-US" altLang="zh-CN" sz="2400" dirty="0">
                <a:latin typeface="Arial" panose="020B0604020202020204" pitchFamily="34" charset="0"/>
              </a:rPr>
              <a:t>Map</a:t>
            </a:r>
            <a:r>
              <a:rPr lang="zh-CN" altLang="en-US" sz="2400" dirty="0">
                <a:latin typeface="Arial" panose="020B0604020202020204" pitchFamily="34" charset="0"/>
              </a:rPr>
              <a:t>间不通信</a:t>
            </a:r>
            <a:endParaRPr lang="en-US" altLang="zh-CN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不同</a:t>
            </a:r>
            <a:r>
              <a:rPr lang="en-US" altLang="zh-CN" sz="2400" dirty="0">
                <a:latin typeface="Arial" panose="020B0604020202020204" pitchFamily="34" charset="0"/>
              </a:rPr>
              <a:t>Reduce</a:t>
            </a:r>
            <a:r>
              <a:rPr lang="zh-CN" altLang="en-US" sz="2400" dirty="0">
                <a:latin typeface="Arial" panose="020B0604020202020204" pitchFamily="34" charset="0"/>
              </a:rPr>
              <a:t>间不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交</a:t>
            </a:r>
            <a:r>
              <a:rPr lang="zh-CN" altLang="en-US" sz="2400" dirty="0">
                <a:latin typeface="Arial" panose="020B0604020202020204" pitchFamily="34" charset="0"/>
              </a:rPr>
              <a:t>信息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zh-CN" altLang="en-US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Arial" panose="020B0604020202020204" pitchFamily="34" charset="0"/>
              </a:rPr>
              <a:t>用户不能显式地从一台机器向另一台机器发送消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息</a:t>
            </a:r>
            <a:r>
              <a:rPr lang="zh-CN" altLang="en-US" sz="2400" dirty="0">
                <a:latin typeface="Arial" panose="020B0604020202020204" pitchFamily="34" charset="0"/>
              </a:rPr>
              <a:t>，所有的数据交换都是通过</a:t>
            </a:r>
            <a:r>
              <a:rPr lang="en-US" altLang="zh-CN" sz="2400" dirty="0">
                <a:latin typeface="Arial" panose="020B0604020202020204" pitchFamily="34" charset="0"/>
              </a:rPr>
              <a:t>MapReduce</a:t>
            </a:r>
            <a:r>
              <a:rPr lang="zh-CN" altLang="en-US" sz="2400" dirty="0">
                <a:latin typeface="Arial" panose="020B0604020202020204" pitchFamily="34" charset="0"/>
              </a:rPr>
              <a:t>框架自身去实现的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" name="TextBox 6"/>
          <p:cNvSpPr txBox="1"/>
          <p:nvPr/>
        </p:nvSpPr>
        <p:spPr>
          <a:xfrm>
            <a:off x="7447915" y="5035550"/>
            <a:ext cx="430339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Map</a:t>
            </a:r>
            <a:r>
              <a:rPr lang="zh-CN" altLang="en-US" sz="2400" dirty="0">
                <a:latin typeface="Arial" panose="020B0604020202020204" pitchFamily="34" charset="0"/>
              </a:rPr>
              <a:t>中间结果存至磁盘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</a:rPr>
              <a:t>Reduce</a:t>
            </a:r>
            <a:r>
              <a:rPr lang="zh-CN" altLang="en-US" sz="2400" dirty="0">
                <a:latin typeface="Arial" panose="020B0604020202020204" pitchFamily="34" charset="0"/>
              </a:rPr>
              <a:t>在全部</a:t>
            </a:r>
            <a:r>
              <a:rPr lang="en-US" altLang="zh-CN" sz="2400" dirty="0">
                <a:latin typeface="Arial" panose="020B0604020202020204" pitchFamily="34" charset="0"/>
              </a:rPr>
              <a:t>Map</a:t>
            </a:r>
            <a:r>
              <a:rPr lang="zh-CN" altLang="en-US" sz="2400" dirty="0">
                <a:latin typeface="Arial" panose="020B0604020202020204" pitchFamily="34" charset="0"/>
              </a:rPr>
              <a:t>之后开始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7.2.2	MapReduce</a:t>
            </a:r>
            <a:r>
              <a:rPr lang="zh-CN" altLang="en-US" dirty="0"/>
              <a:t>各个执行阶段</a:t>
            </a:r>
            <a:endParaRPr lang="zh-CN" altLang="en-US" dirty="0"/>
          </a:p>
        </p:txBody>
      </p:sp>
      <p:pic>
        <p:nvPicPr>
          <p:cNvPr id="1638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200" y="1295400"/>
            <a:ext cx="7842250" cy="5562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7.2.2	MapReduce</a:t>
            </a:r>
            <a:r>
              <a:rPr lang="zh-CN" altLang="en-US" dirty="0"/>
              <a:t>各个执行阶段</a:t>
            </a:r>
            <a:endParaRPr lang="zh-CN" altLang="en-US" dirty="0"/>
          </a:p>
        </p:txBody>
      </p:sp>
      <p:pic>
        <p:nvPicPr>
          <p:cNvPr id="17411" name="Picture 2" descr="c:\users\lenovo\appdata\roaming\360se6\User Data\temp\201306081502585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697038"/>
            <a:ext cx="7715250" cy="3438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2" name="矩形 4"/>
          <p:cNvSpPr/>
          <p:nvPr/>
        </p:nvSpPr>
        <p:spPr>
          <a:xfrm>
            <a:off x="2352675" y="5862320"/>
            <a:ext cx="690816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</a:rPr>
              <a:t>split </a:t>
            </a:r>
            <a:r>
              <a:rPr lang="zh-CN" altLang="en-US" sz="2400" dirty="0">
                <a:latin typeface="Arial" panose="020B0604020202020204" pitchFamily="34" charset="0"/>
              </a:rPr>
              <a:t>是一个逻辑概念，它只包含一些元数据信息，</a:t>
            </a:r>
            <a:endParaRPr lang="zh-CN" altLang="en-US" sz="2400" dirty="0">
              <a:latin typeface="Arial" panose="020B0604020202020204" pitchFamily="34" charset="0"/>
            </a:endParaRPr>
          </a:p>
          <a:p>
            <a:r>
              <a:rPr lang="zh-CN" altLang="en-US" sz="2400" dirty="0">
                <a:latin typeface="Arial" panose="020B0604020202020204" pitchFamily="34" charset="0"/>
              </a:rPr>
              <a:t>比如数据起始位置、数据长度、数据所在节点等。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17413" name="TextBox 4"/>
          <p:cNvSpPr txBox="1"/>
          <p:nvPr/>
        </p:nvSpPr>
        <p:spPr>
          <a:xfrm>
            <a:off x="1046480" y="1417320"/>
            <a:ext cx="267144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Arial" panose="020B0604020202020204" pitchFamily="34" charset="0"/>
              </a:rPr>
              <a:t>关于</a:t>
            </a:r>
            <a:r>
              <a:rPr lang="en-US" altLang="zh-CN" sz="2400" b="1" dirty="0">
                <a:latin typeface="Arial" panose="020B0604020202020204" pitchFamily="34" charset="0"/>
              </a:rPr>
              <a:t>Split</a:t>
            </a:r>
            <a:r>
              <a:rPr lang="zh-CN" altLang="en-US" sz="2400" b="1" dirty="0">
                <a:latin typeface="Arial" panose="020B0604020202020204" pitchFamily="34" charset="0"/>
              </a:rPr>
              <a:t>（分片）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18436" name="矩形 4"/>
          <p:cNvSpPr/>
          <p:nvPr/>
        </p:nvSpPr>
        <p:spPr>
          <a:xfrm>
            <a:off x="7927975" y="4126230"/>
            <a:ext cx="3792855" cy="460375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sz="2400" dirty="0">
                <a:latin typeface="Arial" panose="020B0604020202020204" pitchFamily="34" charset="0"/>
              </a:rPr>
              <a:t>一</a:t>
            </a:r>
            <a:r>
              <a:rPr lang="zh-CN" altLang="en-US" sz="2400" dirty="0">
                <a:latin typeface="Arial" panose="020B0604020202020204" pitchFamily="34" charset="0"/>
              </a:rPr>
              <a:t>个</a:t>
            </a:r>
            <a:r>
              <a:rPr lang="en-US" altLang="zh-CN" sz="2400" dirty="0">
                <a:latin typeface="Arial" panose="020B0604020202020204" pitchFamily="34" charset="0"/>
              </a:rPr>
              <a:t>split</a:t>
            </a:r>
            <a:r>
              <a:rPr lang="zh-CN" altLang="en-US" sz="2400" dirty="0">
                <a:latin typeface="Arial" panose="020B0604020202020204" pitchFamily="34" charset="0"/>
              </a:rPr>
              <a:t>创建一个</a:t>
            </a:r>
            <a:r>
              <a:rPr lang="en-US" altLang="zh-CN" sz="2400" dirty="0">
                <a:latin typeface="Arial" panose="020B0604020202020204" pitchFamily="34" charset="0"/>
              </a:rPr>
              <a:t>Map</a:t>
            </a:r>
            <a:r>
              <a:rPr lang="zh-CN" altLang="en-US" sz="2400" dirty="0">
                <a:latin typeface="Arial" panose="020B0604020202020204" pitchFamily="34" charset="0"/>
              </a:rPr>
              <a:t>任务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55575" y="4039235"/>
            <a:ext cx="34194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理想的分片大小是一个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HDFS</a:t>
            </a:r>
            <a:r>
              <a:rPr lang="zh-CN" altLang="en-US" sz="2400" dirty="0">
                <a:latin typeface="Arial" panose="020B0604020202020204" pitchFamily="34" charset="0"/>
                <a:sym typeface="+mn-ea"/>
              </a:rPr>
              <a:t>块，也可由用户自己决定。</a:t>
            </a:r>
            <a:endParaRPr lang="zh-CN" altLang="en-US" sz="24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3" name="矩形 4"/>
          <p:cNvSpPr/>
          <p:nvPr/>
        </p:nvSpPr>
        <p:spPr>
          <a:xfrm>
            <a:off x="7673975" y="4688205"/>
            <a:ext cx="4317365" cy="448310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square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zh-CN" sz="2400" dirty="0">
                <a:latin typeface="Arial" panose="020B0604020202020204" pitchFamily="34" charset="0"/>
              </a:rPr>
              <a:t>一</a:t>
            </a:r>
            <a:r>
              <a:rPr lang="zh-CN" altLang="en-US" sz="2400" dirty="0">
                <a:latin typeface="Arial" panose="020B0604020202020204" pitchFamily="34" charset="0"/>
              </a:rPr>
              <a:t>个</a:t>
            </a:r>
            <a:r>
              <a:rPr lang="en-US" altLang="zh-CN" sz="2400" dirty="0">
                <a:latin typeface="Arial" panose="020B0604020202020204" pitchFamily="34" charset="0"/>
              </a:rPr>
              <a:t>Map</a:t>
            </a:r>
            <a:r>
              <a:rPr lang="zh-CN" altLang="en-US" sz="2400" dirty="0">
                <a:latin typeface="Arial" panose="020B0604020202020204" pitchFamily="34" charset="0"/>
              </a:rPr>
              <a:t>只在一个</a:t>
            </a:r>
            <a:r>
              <a:rPr lang="en-US" altLang="zh-CN" sz="2400" dirty="0">
                <a:latin typeface="Arial" panose="020B0604020202020204" pitchFamily="34" charset="0"/>
              </a:rPr>
              <a:t>DataNode</a:t>
            </a:r>
            <a:r>
              <a:rPr lang="zh-CN" altLang="en-US" sz="2400" dirty="0">
                <a:latin typeface="Arial" panose="020B0604020202020204" pitchFamily="34" charset="0"/>
              </a:rPr>
              <a:t>上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/>
      <p:bldP spid="17412" grpId="1"/>
      <p:bldP spid="18436" grpId="0" bldLvl="0" animBg="1"/>
      <p:bldP spid="18436" grpId="1"/>
      <p:bldP spid="2" grpId="0"/>
      <p:bldP spid="2" grpId="1"/>
      <p:bldP spid="3" grpId="0" bldLvl="0" animBg="1"/>
      <p:bldP spid="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2" descr="c:\users\lenovo\appdata\roaming\360se6\User Data\temp\201306081502585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" y="86360"/>
            <a:ext cx="12101830" cy="5394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2990850" y="38100"/>
            <a:ext cx="6115050" cy="10858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077200" y="755650"/>
            <a:ext cx="9398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机架</a:t>
            </a:r>
            <a:r>
              <a:rPr lang="en-US" altLang="zh-CN" sz="2000" b="1">
                <a:solidFill>
                  <a:srgbClr val="FF0000"/>
                </a:solidFill>
              </a:rPr>
              <a:t>1</a:t>
            </a:r>
            <a:endParaRPr lang="en-US" altLang="zh-CN" sz="2000" b="1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50975" y="1250950"/>
            <a:ext cx="9029700" cy="108585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537325" y="1968500"/>
            <a:ext cx="9398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00B0F0"/>
                </a:solidFill>
              </a:rPr>
              <a:t>机架</a:t>
            </a:r>
            <a:r>
              <a:rPr lang="en-US" altLang="zh-CN" sz="2000" b="1">
                <a:solidFill>
                  <a:srgbClr val="00B0F0"/>
                </a:solidFill>
              </a:rPr>
              <a:t>2</a:t>
            </a:r>
            <a:endParaRPr lang="en-US" altLang="zh-CN" sz="2000" b="1">
              <a:solidFill>
                <a:srgbClr val="00B0F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89450" y="5654675"/>
            <a:ext cx="939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DN4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45175" y="5654675"/>
            <a:ext cx="939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DN1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6200" y="2463800"/>
            <a:ext cx="11915140" cy="1085850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051540" y="3181350"/>
            <a:ext cx="9398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00B050"/>
                </a:solidFill>
              </a:rPr>
              <a:t>机架</a:t>
            </a:r>
            <a:r>
              <a:rPr lang="en-US" altLang="zh-CN" sz="2000" b="1">
                <a:solidFill>
                  <a:srgbClr val="00B050"/>
                </a:solidFill>
              </a:rPr>
              <a:t>3</a:t>
            </a:r>
            <a:endParaRPr lang="en-US" altLang="zh-CN" sz="2000" b="1">
              <a:solidFill>
                <a:srgbClr val="00B050"/>
              </a:solidFill>
            </a:endParaRPr>
          </a:p>
        </p:txBody>
      </p:sp>
      <p:sp>
        <p:nvSpPr>
          <p:cNvPr id="13" name="云形标注 12"/>
          <p:cNvSpPr/>
          <p:nvPr/>
        </p:nvSpPr>
        <p:spPr>
          <a:xfrm>
            <a:off x="209550" y="4810760"/>
            <a:ext cx="2343150" cy="1561465"/>
          </a:xfrm>
          <a:prstGeom prst="cloudCallou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400"/>
              <a:t>每个</a:t>
            </a:r>
            <a:r>
              <a:rPr lang="en-US" altLang="zh-CN" sz="2400"/>
              <a:t>map</a:t>
            </a:r>
            <a:r>
              <a:rPr lang="zh-CN" altLang="en-US" sz="2400"/>
              <a:t>应到哪个</a:t>
            </a:r>
            <a:r>
              <a:rPr lang="en-US" altLang="zh-CN" sz="2400"/>
              <a:t>DN</a:t>
            </a:r>
            <a:r>
              <a:rPr lang="zh-CN" altLang="en-US" sz="2400"/>
              <a:t>上？</a:t>
            </a:r>
            <a:endParaRPr lang="zh-CN" altLang="en-US" sz="2400"/>
          </a:p>
        </p:txBody>
      </p:sp>
      <p:sp>
        <p:nvSpPr>
          <p:cNvPr id="14" name="文本框 13"/>
          <p:cNvSpPr txBox="1"/>
          <p:nvPr/>
        </p:nvSpPr>
        <p:spPr>
          <a:xfrm>
            <a:off x="3051175" y="5654675"/>
            <a:ext cx="939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DN2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137400" y="5654675"/>
            <a:ext cx="939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DN6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57945" y="4772025"/>
            <a:ext cx="291147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</a:rPr>
              <a:t>考虑因素：</a:t>
            </a:r>
            <a:endParaRPr lang="zh-CN" altLang="en-US" sz="240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/>
              <a:t>减少数据传输</a:t>
            </a:r>
            <a:endParaRPr lang="zh-CN" alt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/>
              <a:t>DN</a:t>
            </a:r>
            <a:r>
              <a:rPr lang="zh-CN" altLang="en-US" sz="2400"/>
              <a:t>间负载均衡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  <p:bldP spid="14" grpId="0"/>
      <p:bldP spid="14" grpId="1"/>
      <p:bldP spid="15" grpId="0"/>
      <p:bldP spid="15" grpId="1"/>
      <p:bldP spid="16" grpId="0"/>
      <p:bldP spid="1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2" descr="c:\users\lenovo\appdata\roaming\360se6\User Data\temp\2013060815025851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" y="86360"/>
            <a:ext cx="12101830" cy="5394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/>
          <p:cNvSpPr/>
          <p:nvPr/>
        </p:nvSpPr>
        <p:spPr>
          <a:xfrm>
            <a:off x="1352550" y="85725"/>
            <a:ext cx="4491990" cy="22504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791075" y="1727200"/>
            <a:ext cx="9398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</a:rPr>
              <a:t>机架</a:t>
            </a:r>
            <a:r>
              <a:rPr lang="en-US" altLang="zh-CN" sz="2000" b="1">
                <a:solidFill>
                  <a:srgbClr val="FF0000"/>
                </a:solidFill>
              </a:rPr>
              <a:t>1</a:t>
            </a:r>
            <a:endParaRPr lang="en-US" altLang="zh-CN" sz="2000" b="1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6096000" y="86360"/>
            <a:ext cx="4384675" cy="225044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9442450" y="215900"/>
            <a:ext cx="9398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00B0F0"/>
                </a:solidFill>
              </a:rPr>
              <a:t>机架</a:t>
            </a:r>
            <a:r>
              <a:rPr lang="en-US" altLang="zh-CN" sz="2000" b="1">
                <a:solidFill>
                  <a:srgbClr val="00B0F0"/>
                </a:solidFill>
              </a:rPr>
              <a:t>2</a:t>
            </a:r>
            <a:endParaRPr lang="en-US" altLang="zh-CN" sz="2000" b="1">
              <a:solidFill>
                <a:srgbClr val="00B0F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89450" y="5654675"/>
            <a:ext cx="939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DN4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45175" y="5654675"/>
            <a:ext cx="939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DN1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6200" y="2463800"/>
            <a:ext cx="11915140" cy="1085850"/>
          </a:xfrm>
          <a:prstGeom prst="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1051540" y="3181350"/>
            <a:ext cx="9398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00B050"/>
                </a:solidFill>
              </a:rPr>
              <a:t>机架</a:t>
            </a:r>
            <a:r>
              <a:rPr lang="en-US" altLang="zh-CN" sz="2000" b="1">
                <a:solidFill>
                  <a:srgbClr val="00B050"/>
                </a:solidFill>
              </a:rPr>
              <a:t>3</a:t>
            </a:r>
            <a:endParaRPr lang="en-US" altLang="zh-CN" sz="2000" b="1">
              <a:solidFill>
                <a:srgbClr val="00B050"/>
              </a:solidFill>
            </a:endParaRPr>
          </a:p>
        </p:txBody>
      </p:sp>
      <p:sp>
        <p:nvSpPr>
          <p:cNvPr id="13" name="云形标注 12"/>
          <p:cNvSpPr/>
          <p:nvPr/>
        </p:nvSpPr>
        <p:spPr>
          <a:xfrm>
            <a:off x="209550" y="4810760"/>
            <a:ext cx="2343150" cy="1561465"/>
          </a:xfrm>
          <a:prstGeom prst="cloudCallou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400"/>
              <a:t>每个</a:t>
            </a:r>
            <a:r>
              <a:rPr lang="en-US" altLang="zh-CN" sz="2400"/>
              <a:t>map</a:t>
            </a:r>
            <a:r>
              <a:rPr lang="zh-CN" altLang="en-US" sz="2400"/>
              <a:t>应到哪个</a:t>
            </a:r>
            <a:r>
              <a:rPr lang="en-US" altLang="zh-CN" sz="2400"/>
              <a:t>DN</a:t>
            </a:r>
            <a:r>
              <a:rPr lang="zh-CN" altLang="en-US" sz="2400"/>
              <a:t>上？</a:t>
            </a:r>
            <a:endParaRPr lang="zh-CN" altLang="en-US" sz="2400"/>
          </a:p>
        </p:txBody>
      </p:sp>
      <p:sp>
        <p:nvSpPr>
          <p:cNvPr id="15" name="文本框 14"/>
          <p:cNvSpPr txBox="1"/>
          <p:nvPr/>
        </p:nvSpPr>
        <p:spPr>
          <a:xfrm>
            <a:off x="7137400" y="5654675"/>
            <a:ext cx="939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</a:rPr>
              <a:t>DN6</a:t>
            </a:r>
            <a:endParaRPr lang="en-US" altLang="zh-CN" sz="2400" b="1">
              <a:solidFill>
                <a:srgbClr val="FF0000"/>
              </a:solidFill>
            </a:endParaRPr>
          </a:p>
        </p:txBody>
      </p:sp>
      <p:sp>
        <p:nvSpPr>
          <p:cNvPr id="12291" name="Rectangle 4"/>
          <p:cNvSpPr/>
          <p:nvPr/>
        </p:nvSpPr>
        <p:spPr>
          <a:xfrm>
            <a:off x="8028305" y="5654675"/>
            <a:ext cx="41636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indent="0" eaLnBrk="0" hangingPunct="0"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设计理念：“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20204" pitchFamily="34" charset="0"/>
              </a:rPr>
              <a:t>计算向数据靠拢</a:t>
            </a:r>
            <a:r>
              <a:rPr lang="zh-CN" altLang="en-US" sz="2400" dirty="0">
                <a:latin typeface="Arial" panose="020B0604020202020204" pitchFamily="34" charset="0"/>
              </a:rPr>
              <a:t>”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0" grpId="0"/>
      <p:bldP spid="10" grpId="1"/>
      <p:bldP spid="15" grpId="0"/>
      <p:bldP spid="15" grpId="1"/>
      <p:bldP spid="12291" grpId="0"/>
      <p:bldP spid="1229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7.2.2	MapReduce</a:t>
            </a:r>
            <a:r>
              <a:rPr lang="zh-CN" altLang="en-US" dirty="0"/>
              <a:t>各个执行阶段</a:t>
            </a:r>
            <a:endParaRPr lang="zh-CN" altLang="en-US" dirty="0"/>
          </a:p>
        </p:txBody>
      </p:sp>
      <p:pic>
        <p:nvPicPr>
          <p:cNvPr id="17411" name="Picture 2" descr="c:\users\lenovo\appdata\roaming\360se6\User Data\temp\20130608150258515.jpg"/>
          <p:cNvPicPr>
            <a:picLocks noChangeAspect="1"/>
          </p:cNvPicPr>
          <p:nvPr/>
        </p:nvPicPr>
        <p:blipFill>
          <a:blip r:embed="rId1"/>
          <a:srcRect l="15679" t="70637" r="30864"/>
          <a:stretch>
            <a:fillRect/>
          </a:stretch>
        </p:blipFill>
        <p:spPr>
          <a:xfrm>
            <a:off x="3219450" y="1973580"/>
            <a:ext cx="6689090" cy="16376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13" name="TextBox 4"/>
          <p:cNvSpPr txBox="1"/>
          <p:nvPr/>
        </p:nvSpPr>
        <p:spPr>
          <a:xfrm>
            <a:off x="1046480" y="1417320"/>
            <a:ext cx="297624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</a:rPr>
              <a:t>Split</a:t>
            </a:r>
            <a:r>
              <a:rPr lang="zh-CN" altLang="en-US" sz="2400" b="1" dirty="0">
                <a:latin typeface="Arial" panose="020B0604020202020204" pitchFamily="34" charset="0"/>
              </a:rPr>
              <a:t>（分片）再探讨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85925" y="4048125"/>
            <a:ext cx="63487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Q</a:t>
            </a:r>
            <a:r>
              <a:rPr lang="zh-CN" altLang="en-US" sz="2800"/>
              <a:t>：</a:t>
            </a:r>
            <a:r>
              <a:rPr lang="zh-CN" altLang="en-US" sz="2800"/>
              <a:t>一个块一个</a:t>
            </a:r>
            <a:r>
              <a:rPr lang="en-US" altLang="zh-CN" sz="2800"/>
              <a:t>split</a:t>
            </a:r>
            <a:r>
              <a:rPr lang="zh-CN" altLang="en-US" sz="2800"/>
              <a:t>主要有什么问题？</a:t>
            </a:r>
            <a:endParaRPr lang="zh-CN" altLang="en-US" sz="2800"/>
          </a:p>
        </p:txBody>
      </p:sp>
      <p:sp>
        <p:nvSpPr>
          <p:cNvPr id="5" name="文本框 4"/>
          <p:cNvSpPr txBox="1"/>
          <p:nvPr/>
        </p:nvSpPr>
        <p:spPr>
          <a:xfrm>
            <a:off x="1685925" y="5426075"/>
            <a:ext cx="65970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Q</a:t>
            </a:r>
            <a:r>
              <a:rPr lang="zh-CN" altLang="en-US" sz="2800"/>
              <a:t>：</a:t>
            </a:r>
            <a:r>
              <a:rPr lang="en-US" altLang="zh-CN" sz="2800"/>
              <a:t>split</a:t>
            </a:r>
            <a:r>
              <a:rPr lang="zh-CN" altLang="en-US" sz="2800"/>
              <a:t>的边界为什么会在块内部？</a:t>
            </a:r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2447925" y="4737100"/>
            <a:ext cx="78517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A</a:t>
            </a:r>
            <a:r>
              <a:rPr lang="zh-CN" altLang="en-US" sz="2800">
                <a:solidFill>
                  <a:srgbClr val="FF0000"/>
                </a:solidFill>
              </a:rPr>
              <a:t>：大数据，块多会有很多</a:t>
            </a:r>
            <a:r>
              <a:rPr lang="en-US" altLang="zh-CN" sz="2800">
                <a:solidFill>
                  <a:srgbClr val="FF0000"/>
                </a:solidFill>
              </a:rPr>
              <a:t>map</a:t>
            </a:r>
            <a:r>
              <a:rPr lang="zh-CN" altLang="en-US" sz="2800">
                <a:solidFill>
                  <a:srgbClr val="FF0000"/>
                </a:solidFill>
              </a:rPr>
              <a:t>任务，效率低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47925" y="6062345"/>
            <a:ext cx="9152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A</a:t>
            </a:r>
            <a:r>
              <a:rPr lang="zh-CN" altLang="en-US" sz="2800">
                <a:solidFill>
                  <a:srgbClr val="FF0000"/>
                </a:solidFill>
              </a:rPr>
              <a:t>：文件记录组块方式可能是跨越式组块。以及分组均衡。</a:t>
            </a:r>
            <a:endParaRPr lang="zh-CN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>
          <a:xfrm>
            <a:off x="838200" y="97790"/>
            <a:ext cx="10515600" cy="83883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7.2.3	Shuffle</a:t>
            </a:r>
            <a:r>
              <a:rPr lang="zh-CN" altLang="en-US" dirty="0"/>
              <a:t>过程详解</a:t>
            </a:r>
            <a:endParaRPr lang="zh-CN" altLang="en-US" dirty="0"/>
          </a:p>
        </p:txBody>
      </p:sp>
      <p:pic>
        <p:nvPicPr>
          <p:cNvPr id="19459" name="Picture 4"/>
          <p:cNvPicPr>
            <a:picLocks noChangeAspect="1"/>
          </p:cNvPicPr>
          <p:nvPr/>
        </p:nvPicPr>
        <p:blipFill>
          <a:blip r:embed="rId1"/>
          <a:srcRect t="8583" b="3153"/>
          <a:stretch>
            <a:fillRect/>
          </a:stretch>
        </p:blipFill>
        <p:spPr>
          <a:xfrm>
            <a:off x="838200" y="1542415"/>
            <a:ext cx="10664190" cy="45961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460" name="Rectangle 5"/>
          <p:cNvSpPr/>
          <p:nvPr/>
        </p:nvSpPr>
        <p:spPr>
          <a:xfrm>
            <a:off x="4876800" y="6317616"/>
            <a:ext cx="223012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r>
              <a:rPr lang="zh-CN" altLang="en-US" sz="2000" dirty="0">
                <a:latin typeface="Arial" panose="020B0604020202020204" pitchFamily="34" charset="0"/>
              </a:rPr>
              <a:t>图</a:t>
            </a:r>
            <a:r>
              <a:rPr lang="en-US" altLang="zh-CN" sz="2000" dirty="0">
                <a:latin typeface="Arial" panose="020B0604020202020204" pitchFamily="34" charset="0"/>
              </a:rPr>
              <a:t>7-3 Shuffle</a:t>
            </a:r>
            <a:r>
              <a:rPr lang="zh-CN" altLang="en-US" sz="2000" dirty="0">
                <a:latin typeface="Arial" panose="020B0604020202020204" pitchFamily="34" charset="0"/>
              </a:rPr>
              <a:t>过程</a:t>
            </a:r>
            <a:r>
              <a:rPr lang="zh-CN" altLang="en-US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461" name="Rectangle 6"/>
          <p:cNvSpPr/>
          <p:nvPr/>
        </p:nvSpPr>
        <p:spPr>
          <a:xfrm>
            <a:off x="838200" y="936784"/>
            <a:ext cx="277304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r>
              <a:rPr lang="en-US" altLang="zh-CN" sz="2400" b="1" dirty="0">
                <a:latin typeface="Arial" panose="020B0604020202020204" pitchFamily="34" charset="0"/>
              </a:rPr>
              <a:t>1. Shuffle</a:t>
            </a:r>
            <a:r>
              <a:rPr lang="zh-CN" altLang="en-US" sz="2400" b="1" dirty="0">
                <a:latin typeface="Arial" panose="020B0604020202020204" pitchFamily="34" charset="0"/>
              </a:rPr>
              <a:t>过程简介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>
          <a:xfrm>
            <a:off x="838200" y="86360"/>
            <a:ext cx="10515600" cy="81851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7.2.3	Shuffle</a:t>
            </a:r>
            <a:r>
              <a:rPr lang="zh-CN" altLang="en-US" dirty="0"/>
              <a:t>过程详解</a:t>
            </a:r>
            <a:endParaRPr lang="zh-CN" altLang="en-US" dirty="0"/>
          </a:p>
        </p:txBody>
      </p:sp>
      <p:sp>
        <p:nvSpPr>
          <p:cNvPr id="20483" name="Rectangle 4"/>
          <p:cNvSpPr/>
          <p:nvPr/>
        </p:nvSpPr>
        <p:spPr>
          <a:xfrm>
            <a:off x="838200" y="814864"/>
            <a:ext cx="338264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r>
              <a:rPr lang="en-US" altLang="zh-CN" sz="2400" b="1" dirty="0">
                <a:latin typeface="Arial" panose="020B0604020202020204" pitchFamily="34" charset="0"/>
              </a:rPr>
              <a:t>2. Map</a:t>
            </a:r>
            <a:r>
              <a:rPr lang="zh-CN" altLang="en-US" sz="2400" b="1" dirty="0">
                <a:latin typeface="Arial" panose="020B0604020202020204" pitchFamily="34" charset="0"/>
              </a:rPr>
              <a:t>端的</a:t>
            </a:r>
            <a:r>
              <a:rPr lang="en-US" altLang="zh-CN" sz="2400" b="1" dirty="0">
                <a:latin typeface="Arial" panose="020B0604020202020204" pitchFamily="34" charset="0"/>
              </a:rPr>
              <a:t>Shuffle</a:t>
            </a:r>
            <a:r>
              <a:rPr lang="zh-CN" altLang="en-US" sz="2400" b="1" dirty="0">
                <a:latin typeface="Arial" panose="020B0604020202020204" pitchFamily="34" charset="0"/>
              </a:rPr>
              <a:t>过程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20484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1715" y="1432560"/>
            <a:ext cx="3985260" cy="43573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485" name="TextBox 5"/>
          <p:cNvSpPr txBox="1"/>
          <p:nvPr/>
        </p:nvSpPr>
        <p:spPr>
          <a:xfrm>
            <a:off x="6513830" y="3639185"/>
            <a:ext cx="4677410" cy="2488054"/>
          </a:xfrm>
          <a:prstGeom prst="wedgeRoundRectCallout">
            <a:avLst>
              <a:gd name="adj1" fmla="val -64091"/>
              <a:gd name="adj2" fmla="val 15902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</a:rPr>
              <a:t>归并所有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溢写文件</a:t>
            </a:r>
            <a:r>
              <a:rPr lang="zh-CN" altLang="en-US" sz="2000" dirty="0">
                <a:latin typeface="Arial" panose="020B0604020202020204" pitchFamily="34" charset="0"/>
              </a:rPr>
              <a:t>得到一个大的文件，放在本地磁盘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</a:rPr>
              <a:t>文件归并时，如果溢写文件数量大于预定值（默认是</a:t>
            </a:r>
            <a:r>
              <a:rPr lang="en-US" altLang="zh-CN" sz="2000" dirty="0">
                <a:latin typeface="Arial" panose="020B0604020202020204" pitchFamily="34" charset="0"/>
              </a:rPr>
              <a:t>3</a:t>
            </a:r>
            <a:r>
              <a:rPr lang="zh-CN" altLang="en-US" sz="2000" dirty="0">
                <a:latin typeface="Arial" panose="020B0604020202020204" pitchFamily="34" charset="0"/>
              </a:rPr>
              <a:t>）则可以再次启动</a:t>
            </a:r>
            <a:r>
              <a:rPr lang="en-US" altLang="zh-CN" sz="2000" dirty="0">
                <a:latin typeface="Arial" panose="020B0604020202020204" pitchFamily="34" charset="0"/>
              </a:rPr>
              <a:t>Combiner</a:t>
            </a:r>
            <a:r>
              <a:rPr lang="zh-CN" altLang="en-US" sz="2000" dirty="0">
                <a:latin typeface="Arial" panose="020B0604020202020204" pitchFamily="34" charset="0"/>
              </a:rPr>
              <a:t>，少于</a:t>
            </a:r>
            <a:r>
              <a:rPr lang="en-US" altLang="zh-CN" sz="2000" dirty="0">
                <a:latin typeface="Arial" panose="020B0604020202020204" pitchFamily="34" charset="0"/>
              </a:rPr>
              <a:t>3</a:t>
            </a:r>
            <a:r>
              <a:rPr lang="zh-CN" altLang="en-US" sz="2000" dirty="0">
                <a:latin typeface="Arial" panose="020B0604020202020204" pitchFamily="34" charset="0"/>
              </a:rPr>
              <a:t>不需要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</a:rPr>
              <a:t>JobTracker</a:t>
            </a:r>
            <a:r>
              <a:rPr lang="zh-CN" altLang="en-US" sz="2000" dirty="0">
                <a:latin typeface="Arial" panose="020B0604020202020204" pitchFamily="34" charset="0"/>
              </a:rPr>
              <a:t>会一直监测</a:t>
            </a:r>
            <a:r>
              <a:rPr lang="en-US" altLang="zh-CN" sz="2000" dirty="0">
                <a:latin typeface="Arial" panose="020B0604020202020204" pitchFamily="34" charset="0"/>
              </a:rPr>
              <a:t>Map</a:t>
            </a:r>
            <a:r>
              <a:rPr lang="zh-CN" altLang="en-US" sz="2000" dirty="0">
                <a:latin typeface="Arial" panose="020B0604020202020204" pitchFamily="34" charset="0"/>
              </a:rPr>
              <a:t>任务的执行，并通知</a:t>
            </a:r>
            <a:r>
              <a:rPr lang="en-US" altLang="zh-CN" sz="2000" dirty="0">
                <a:latin typeface="Arial" panose="020B0604020202020204" pitchFamily="34" charset="0"/>
              </a:rPr>
              <a:t>Reduce</a:t>
            </a:r>
            <a:r>
              <a:rPr lang="zh-CN" altLang="en-US" sz="2000" dirty="0">
                <a:latin typeface="Arial" panose="020B0604020202020204" pitchFamily="34" charset="0"/>
              </a:rPr>
              <a:t>任务来领取数据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20486" name="TextBox 6"/>
          <p:cNvSpPr txBox="1"/>
          <p:nvPr/>
        </p:nvSpPr>
        <p:spPr>
          <a:xfrm>
            <a:off x="1129665" y="5943600"/>
            <a:ext cx="10061575" cy="7067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</a:rPr>
              <a:t>合并（</a:t>
            </a:r>
            <a:r>
              <a:rPr lang="en-US" altLang="zh-CN" sz="2000" dirty="0">
                <a:latin typeface="Arial" panose="020B0604020202020204" pitchFamily="34" charset="0"/>
              </a:rPr>
              <a:t>Combine</a:t>
            </a:r>
            <a:r>
              <a:rPr lang="zh-CN" altLang="en-US" sz="2000" dirty="0">
                <a:latin typeface="Arial" panose="020B0604020202020204" pitchFamily="34" charset="0"/>
              </a:rPr>
              <a:t>）和归并（</a:t>
            </a:r>
            <a:r>
              <a:rPr lang="en-US" altLang="zh-CN" sz="2000" dirty="0">
                <a:latin typeface="Arial" panose="020B0604020202020204" pitchFamily="34" charset="0"/>
              </a:rPr>
              <a:t>Merge</a:t>
            </a:r>
            <a:r>
              <a:rPr lang="zh-CN" altLang="en-US" sz="2000" dirty="0">
                <a:latin typeface="Arial" panose="020B0604020202020204" pitchFamily="34" charset="0"/>
              </a:rPr>
              <a:t>）的区别：</a:t>
            </a:r>
            <a:endParaRPr lang="en-US" altLang="zh-CN" sz="2000" dirty="0">
              <a:latin typeface="Arial" panose="020B0604020202020204" pitchFamily="34" charset="0"/>
            </a:endParaRPr>
          </a:p>
          <a:p>
            <a:r>
              <a:rPr lang="zh-CN" altLang="en-US" sz="2000" dirty="0">
                <a:latin typeface="Arial" panose="020B0604020202020204" pitchFamily="34" charset="0"/>
              </a:rPr>
              <a:t>两个键值对</a:t>
            </a:r>
            <a:r>
              <a:rPr lang="en-US" altLang="zh-CN" sz="2000" dirty="0">
                <a:latin typeface="Arial" panose="020B0604020202020204" pitchFamily="34" charset="0"/>
              </a:rPr>
              <a:t>&lt;“a”,1&gt;</a:t>
            </a:r>
            <a:r>
              <a:rPr lang="zh-CN" altLang="en-US" sz="2000" dirty="0">
                <a:latin typeface="Arial" panose="020B0604020202020204" pitchFamily="34" charset="0"/>
              </a:rPr>
              <a:t>和</a:t>
            </a:r>
            <a:r>
              <a:rPr lang="en-US" altLang="zh-CN" sz="2000" dirty="0">
                <a:latin typeface="Arial" panose="020B0604020202020204" pitchFamily="34" charset="0"/>
              </a:rPr>
              <a:t>&lt;“a”,1&gt;</a:t>
            </a:r>
            <a:r>
              <a:rPr lang="zh-CN" altLang="en-US" sz="2000" dirty="0">
                <a:latin typeface="Arial" panose="020B0604020202020204" pitchFamily="34" charset="0"/>
              </a:rPr>
              <a:t>，如果合并，会得到</a:t>
            </a:r>
            <a:r>
              <a:rPr lang="en-US" altLang="zh-CN" sz="2000" dirty="0">
                <a:latin typeface="Arial" panose="020B0604020202020204" pitchFamily="34" charset="0"/>
              </a:rPr>
              <a:t>&lt;“a”,2&gt;</a:t>
            </a:r>
            <a:r>
              <a:rPr lang="zh-CN" altLang="en-US" sz="2000" dirty="0">
                <a:latin typeface="Arial" panose="020B0604020202020204" pitchFamily="34" charset="0"/>
              </a:rPr>
              <a:t>，如果归并，会得到</a:t>
            </a:r>
            <a:r>
              <a:rPr lang="en-US" altLang="zh-CN" sz="2000" dirty="0">
                <a:latin typeface="Arial" panose="020B0604020202020204" pitchFamily="34" charset="0"/>
              </a:rPr>
              <a:t>&lt;“a”,&lt;1,1&gt;&gt;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7670" y="2540000"/>
            <a:ext cx="2570480" cy="783217"/>
          </a:xfrm>
          <a:prstGeom prst="wedgeRoundRectCallout">
            <a:avLst>
              <a:gd name="adj1" fmla="val 66699"/>
              <a:gd name="adj2" fmla="val 44129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 indent="0">
              <a:buNone/>
            </a:pP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每个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Map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分配一缓存</a:t>
            </a:r>
            <a:endParaRPr lang="zh-CN" altLang="en-US" sz="2000" dirty="0">
              <a:latin typeface="Arial" panose="020B0604020202020204" pitchFamily="34" charset="0"/>
              <a:sym typeface="+mn-ea"/>
            </a:endParaRPr>
          </a:p>
          <a:p>
            <a:pPr indent="0">
              <a:buNone/>
            </a:pP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(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默认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100MB)</a:t>
            </a:r>
            <a:endParaRPr lang="en-US" alt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13830" y="1412240"/>
            <a:ext cx="4676775" cy="1806391"/>
          </a:xfrm>
          <a:prstGeom prst="wedgeRoundRectCallout">
            <a:avLst>
              <a:gd name="adj1" fmla="val -91155"/>
              <a:gd name="adj2" fmla="val 94472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设置溢写比例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0.8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分区默认采用哈希函数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排序是默认的操作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排序后可以合并（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Combine</a:t>
            </a: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）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  <a:sym typeface="+mn-ea"/>
              </a:rPr>
              <a:t>合并不能改变最终结果</a:t>
            </a:r>
            <a:endParaRPr lang="zh-CN" altLang="en-US" sz="2000" dirty="0">
              <a:latin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20485" grpId="0" bldLvl="0" animBg="1"/>
      <p:bldP spid="20485" grpId="1" animBg="1"/>
      <p:bldP spid="20486" grpId="0"/>
      <p:bldP spid="20486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43280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7.2.3	Shuffle</a:t>
            </a:r>
            <a:r>
              <a:rPr lang="zh-CN" altLang="en-US" dirty="0"/>
              <a:t>过程详解</a:t>
            </a:r>
            <a:endParaRPr lang="zh-CN" altLang="en-US" dirty="0"/>
          </a:p>
        </p:txBody>
      </p:sp>
      <p:sp>
        <p:nvSpPr>
          <p:cNvPr id="21507" name="Rectangle 4"/>
          <p:cNvSpPr/>
          <p:nvPr/>
        </p:nvSpPr>
        <p:spPr>
          <a:xfrm>
            <a:off x="960755" y="809149"/>
            <a:ext cx="387413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r>
              <a:rPr lang="en-US" altLang="zh-CN" sz="2400" b="1" dirty="0">
                <a:latin typeface="Arial" panose="020B0604020202020204" pitchFamily="34" charset="0"/>
              </a:rPr>
              <a:t>3. Reduce</a:t>
            </a:r>
            <a:r>
              <a:rPr lang="zh-CN" altLang="en-US" sz="2400" b="1" dirty="0">
                <a:latin typeface="Arial" panose="020B0604020202020204" pitchFamily="34" charset="0"/>
              </a:rPr>
              <a:t>端的</a:t>
            </a:r>
            <a:r>
              <a:rPr lang="en-US" altLang="zh-CN" sz="2400" b="1" dirty="0">
                <a:latin typeface="Arial" panose="020B0604020202020204" pitchFamily="34" charset="0"/>
              </a:rPr>
              <a:t>Shuffle</a:t>
            </a:r>
            <a:r>
              <a:rPr lang="zh-CN" altLang="en-US" sz="2400" b="1" dirty="0">
                <a:latin typeface="Arial" panose="020B0604020202020204" pitchFamily="34" charset="0"/>
              </a:rPr>
              <a:t>过程</a:t>
            </a:r>
            <a:endParaRPr lang="zh-CN" altLang="en-US" sz="2400" b="1" dirty="0">
              <a:latin typeface="Arial" panose="020B0604020202020204" pitchFamily="34" charset="0"/>
            </a:endParaRPr>
          </a:p>
        </p:txBody>
      </p:sp>
      <p:pic>
        <p:nvPicPr>
          <p:cNvPr id="21508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6690" y="2722245"/>
            <a:ext cx="9046845" cy="4111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10" name="TextBox 5"/>
          <p:cNvSpPr txBox="1"/>
          <p:nvPr/>
        </p:nvSpPr>
        <p:spPr>
          <a:xfrm>
            <a:off x="1087755" y="1268730"/>
            <a:ext cx="9785350" cy="1454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</a:rPr>
              <a:t>Reduce</a:t>
            </a:r>
            <a:r>
              <a:rPr lang="zh-CN" altLang="en-US" sz="2000" dirty="0">
                <a:latin typeface="Arial" panose="020B0604020202020204" pitchFamily="34" charset="0"/>
              </a:rPr>
              <a:t>任务通过</a:t>
            </a:r>
            <a:r>
              <a:rPr lang="en-US" altLang="zh-CN" sz="2000" dirty="0">
                <a:latin typeface="Arial" panose="020B0604020202020204" pitchFamily="34" charset="0"/>
              </a:rPr>
              <a:t>RPC</a:t>
            </a:r>
            <a:r>
              <a:rPr lang="zh-CN" altLang="en-US" sz="2000" dirty="0">
                <a:latin typeface="Arial" panose="020B0604020202020204" pitchFamily="34" charset="0"/>
              </a:rPr>
              <a:t>向</a:t>
            </a:r>
            <a:r>
              <a:rPr lang="en-US" altLang="zh-CN" sz="2000" dirty="0">
                <a:latin typeface="Arial" panose="020B0604020202020204" pitchFamily="34" charset="0"/>
              </a:rPr>
              <a:t>JobTracker</a:t>
            </a:r>
            <a:r>
              <a:rPr lang="zh-CN" altLang="en-US" sz="2000" dirty="0">
                <a:latin typeface="Arial" panose="020B0604020202020204" pitchFamily="34" charset="0"/>
              </a:rPr>
              <a:t>询问</a:t>
            </a:r>
            <a:r>
              <a:rPr lang="en-US" altLang="zh-CN" sz="2000" dirty="0">
                <a:latin typeface="Arial" panose="020B0604020202020204" pitchFamily="34" charset="0"/>
              </a:rPr>
              <a:t>Map</a:t>
            </a:r>
            <a:r>
              <a:rPr lang="zh-CN" altLang="en-US" sz="2000" dirty="0">
                <a:latin typeface="Arial" panose="020B0604020202020204" pitchFamily="34" charset="0"/>
              </a:rPr>
              <a:t>任务是否已经完成，若完成，则领取数据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</a:rPr>
              <a:t>Reduce</a:t>
            </a:r>
            <a:r>
              <a:rPr lang="zh-CN" altLang="en-US" sz="2000" dirty="0">
                <a:latin typeface="Arial" panose="020B0604020202020204" pitchFamily="34" charset="0"/>
              </a:rPr>
              <a:t>领取数据先放入缓存，来自不同</a:t>
            </a:r>
            <a:r>
              <a:rPr lang="en-US" altLang="zh-CN" sz="2000" dirty="0">
                <a:latin typeface="Arial" panose="020B0604020202020204" pitchFamily="34" charset="0"/>
              </a:rPr>
              <a:t>Map</a:t>
            </a:r>
            <a:r>
              <a:rPr lang="zh-CN" altLang="en-US" sz="2000" dirty="0">
                <a:latin typeface="Arial" panose="020B0604020202020204" pitchFamily="34" charset="0"/>
              </a:rPr>
              <a:t>机器，先归并，再合并，写入磁盘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</a:rPr>
              <a:t>多个溢写文件归并成一个或多个大文件，文件中的键值对是排序的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</a:rPr>
              <a:t>当数据很少时，不需要溢写到磁盘，直接在缓存中归并，然后输出给</a:t>
            </a:r>
            <a:r>
              <a:rPr lang="en-US" altLang="zh-CN" sz="2000" dirty="0">
                <a:latin typeface="Arial" panose="020B0604020202020204" pitchFamily="34" charset="0"/>
              </a:rPr>
              <a:t>Reduce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7.3	</a:t>
            </a:r>
            <a:r>
              <a:rPr lang="zh-CN" altLang="en-US" dirty="0"/>
              <a:t>实例分析：</a:t>
            </a:r>
            <a:r>
              <a:rPr lang="en-US" altLang="zh-CN" dirty="0"/>
              <a:t>WordCount</a:t>
            </a:r>
            <a:endParaRPr lang="zh-CN" altLang="en-US" dirty="0"/>
          </a:p>
        </p:txBody>
      </p:sp>
      <p:sp>
        <p:nvSpPr>
          <p:cNvPr id="2355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>
            <a:normAutofit fontScale="975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sz="3200" dirty="0"/>
              <a:t>7.3.1	WordCount</a:t>
            </a:r>
            <a:r>
              <a:rPr lang="zh-CN" altLang="en-US" sz="3200" dirty="0"/>
              <a:t>程序任务</a:t>
            </a:r>
            <a:endParaRPr lang="zh-CN" altLang="en-US" sz="32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3200" dirty="0"/>
              <a:t>7.3.2	WordCount</a:t>
            </a:r>
            <a:r>
              <a:rPr lang="zh-CN" altLang="en-US" sz="3200" dirty="0"/>
              <a:t>设计思路</a:t>
            </a:r>
            <a:endParaRPr lang="zh-CN" altLang="en-US" sz="32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3200" dirty="0">
                <a:sym typeface="+mn-ea"/>
              </a:rPr>
              <a:t>7.3.3	WordCount</a:t>
            </a:r>
            <a:r>
              <a:rPr lang="zh-CN" altLang="en-US" sz="3200" dirty="0">
                <a:sym typeface="+mn-ea"/>
              </a:rPr>
              <a:t>的具体执行过程</a:t>
            </a:r>
            <a:endParaRPr lang="zh-CN" altLang="en-US" sz="32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3200" dirty="0"/>
              <a:t>7.3.4	</a:t>
            </a:r>
            <a:r>
              <a:rPr lang="zh-CN" altLang="en-US" sz="3200" dirty="0"/>
              <a:t>一个</a:t>
            </a:r>
            <a:r>
              <a:rPr lang="en-US" altLang="zh-CN" sz="3200" dirty="0"/>
              <a:t>WordCount</a:t>
            </a:r>
            <a:r>
              <a:rPr lang="zh-CN" altLang="en-US" sz="3200" dirty="0"/>
              <a:t>执行过程的实例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en-US" dirty="0"/>
              <a:t>7.3.1	WordCount程序任务</a:t>
            </a:r>
            <a:endParaRPr lang="zh-CN" altLang="en-US" dirty="0"/>
          </a:p>
        </p:txBody>
      </p:sp>
      <p:sp>
        <p:nvSpPr>
          <p:cNvPr id="24579" name="Rectangle 4"/>
          <p:cNvSpPr/>
          <p:nvPr/>
        </p:nvSpPr>
        <p:spPr>
          <a:xfrm>
            <a:off x="4731068" y="1402398"/>
            <a:ext cx="3028315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algn="ctr" eaLnBrk="0" hangingPunct="0"/>
            <a:r>
              <a:rPr lang="zh-CN" altLang="en-US" sz="2000" dirty="0">
                <a:latin typeface="Times New Roman" panose="02020603050405020304" pitchFamily="18" charset="0"/>
              </a:rPr>
              <a:t>表</a:t>
            </a:r>
            <a:r>
              <a:rPr lang="en-US" altLang="zh-CN" sz="2000" dirty="0">
                <a:latin typeface="Times New Roman" panose="02020603050405020304" pitchFamily="18" charset="0"/>
              </a:rPr>
              <a:t>7-2 WordCount</a:t>
            </a:r>
            <a:r>
              <a:rPr lang="zh-CN" altLang="en-US" sz="2000" dirty="0">
                <a:latin typeface="Times New Roman" panose="02020603050405020304" pitchFamily="18" charset="0"/>
              </a:rPr>
              <a:t>程序任务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graphicFrame>
        <p:nvGraphicFramePr>
          <p:cNvPr id="19531" name="Group 75"/>
          <p:cNvGraphicFramePr>
            <a:graphicFrameLocks noGrp="1"/>
          </p:cNvGraphicFramePr>
          <p:nvPr/>
        </p:nvGraphicFramePr>
        <p:xfrm>
          <a:off x="2362200" y="1784350"/>
          <a:ext cx="7620000" cy="1798955"/>
        </p:xfrm>
        <a:graphic>
          <a:graphicData uri="http://schemas.openxmlformats.org/drawingml/2006/table">
            <a:tbl>
              <a:tblPr/>
              <a:tblGrid>
                <a:gridCol w="1452880"/>
                <a:gridCol w="616712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程序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WordCount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输入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一个包含大量单词的文本文件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输出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文件中每个单词及其出现次数（频数），并按照单词字母顺序排序，每个单词和其频数占一行，单词和频数之间有间隔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594" name="Rectangle 44"/>
          <p:cNvSpPr/>
          <p:nvPr/>
        </p:nvSpPr>
        <p:spPr>
          <a:xfrm>
            <a:off x="3575050" y="4113848"/>
            <a:ext cx="4862195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indent="304800" eaLnBrk="0" hangingPunct="0"/>
            <a:r>
              <a:rPr lang="zh-CN" altLang="en-US" sz="2000" dirty="0">
                <a:latin typeface="Times New Roman" panose="02020603050405020304" pitchFamily="18" charset="0"/>
              </a:rPr>
              <a:t>表</a:t>
            </a:r>
            <a:r>
              <a:rPr lang="en-US" altLang="zh-CN" sz="2000" dirty="0">
                <a:latin typeface="Times New Roman" panose="02020603050405020304" pitchFamily="18" charset="0"/>
              </a:rPr>
              <a:t>7-3 </a:t>
            </a:r>
            <a:r>
              <a:rPr lang="zh-CN" altLang="en-US" sz="2000" dirty="0">
                <a:latin typeface="Times New Roman" panose="02020603050405020304" pitchFamily="18" charset="0"/>
              </a:rPr>
              <a:t>一个</a:t>
            </a:r>
            <a:r>
              <a:rPr lang="en-US" altLang="zh-CN" sz="2000" dirty="0">
                <a:latin typeface="Times New Roman" panose="02020603050405020304" pitchFamily="18" charset="0"/>
              </a:rPr>
              <a:t>WordCount</a:t>
            </a:r>
            <a:r>
              <a:rPr lang="zh-CN" altLang="en-US" sz="2000" dirty="0">
                <a:latin typeface="Times New Roman" panose="02020603050405020304" pitchFamily="18" charset="0"/>
              </a:rPr>
              <a:t>的输入和输出实例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  <p:graphicFrame>
        <p:nvGraphicFramePr>
          <p:cNvPr id="19530" name="Group 74"/>
          <p:cNvGraphicFramePr>
            <a:graphicFrameLocks noGrp="1"/>
          </p:cNvGraphicFramePr>
          <p:nvPr/>
        </p:nvGraphicFramePr>
        <p:xfrm>
          <a:off x="3505200" y="4635500"/>
          <a:ext cx="5181600" cy="1706880"/>
        </p:xfrm>
        <a:graphic>
          <a:graphicData uri="http://schemas.openxmlformats.org/drawingml/2006/table">
            <a:tbl>
              <a:tblPr/>
              <a:tblGrid>
                <a:gridCol w="2840355"/>
                <a:gridCol w="2341245"/>
              </a:tblGrid>
              <a:tr h="3962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输入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输出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106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Hello World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Hello Hadoop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Hello MapReduce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Hadoop 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Hello 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MapReduce 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World 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7.3.2	WordCount</a:t>
            </a:r>
            <a:r>
              <a:rPr lang="zh-CN" altLang="en-US" dirty="0"/>
              <a:t>设计思路</a:t>
            </a:r>
            <a:endParaRPr lang="zh-CN" altLang="en-US" dirty="0"/>
          </a:p>
        </p:txBody>
      </p:sp>
      <p:sp>
        <p:nvSpPr>
          <p:cNvPr id="25603" name="Rectangle 3"/>
          <p:cNvSpPr>
            <a:spLocks noGrp="1"/>
          </p:cNvSpPr>
          <p:nvPr>
            <p:ph idx="1"/>
          </p:nvPr>
        </p:nvSpPr>
        <p:spPr>
          <a:xfrm>
            <a:off x="778510" y="1829435"/>
            <a:ext cx="10478770" cy="3985260"/>
          </a:xfrm>
        </p:spPr>
        <p:txBody>
          <a:bodyPr vert="horz" wrap="square" lIns="91440" tIns="45720" rIns="91440" bIns="45720" anchor="t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/>
              <a:t>首先，检查任务是否可以采用</a:t>
            </a:r>
            <a:r>
              <a:rPr lang="en-US" altLang="zh-CN" dirty="0"/>
              <a:t>MapReduce</a:t>
            </a:r>
            <a:r>
              <a:rPr lang="zh-CN" altLang="en-US" dirty="0"/>
              <a:t>来实现</a:t>
            </a:r>
            <a:endParaRPr lang="zh-CN" altLang="en-US" dirty="0"/>
          </a:p>
          <a:p>
            <a:pPr>
              <a:lnSpc>
                <a:spcPct val="200000"/>
              </a:lnSpc>
            </a:pPr>
            <a:r>
              <a:rPr lang="zh-CN" altLang="en-US" dirty="0"/>
              <a:t>其次，确定</a:t>
            </a:r>
            <a:r>
              <a:rPr lang="en-US" altLang="zh-CN" dirty="0"/>
              <a:t>MapReduce</a:t>
            </a:r>
            <a:r>
              <a:rPr lang="zh-CN" altLang="en-US" dirty="0"/>
              <a:t>程序的设计思路</a:t>
            </a:r>
            <a:endParaRPr lang="zh-CN" altLang="en-US" dirty="0"/>
          </a:p>
          <a:p>
            <a:pPr>
              <a:lnSpc>
                <a:spcPct val="200000"/>
              </a:lnSpc>
            </a:pPr>
            <a:r>
              <a:rPr lang="zh-CN" altLang="en-US" dirty="0"/>
              <a:t>最后，确定</a:t>
            </a:r>
            <a:r>
              <a:rPr lang="en-US" altLang="zh-CN" dirty="0"/>
              <a:t>MapReduce</a:t>
            </a:r>
            <a:r>
              <a:rPr lang="zh-CN" altLang="en-US" dirty="0"/>
              <a:t>程序的执行过程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2"/>
          <p:cNvSpPr>
            <a:spLocks noGrp="1"/>
          </p:cNvSpPr>
          <p:nvPr>
            <p:ph type="title"/>
          </p:nvPr>
        </p:nvSpPr>
        <p:spPr>
          <a:xfrm>
            <a:off x="571500" y="135890"/>
            <a:ext cx="4889500" cy="1642745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r>
              <a:rPr lang="en-US" altLang="zh-CN" dirty="0"/>
              <a:t>7.3.3 WordCount</a:t>
            </a:r>
            <a:br>
              <a:rPr lang="en-US" altLang="zh-CN" dirty="0"/>
            </a:br>
            <a:r>
              <a:rPr lang="zh-CN" altLang="en-US" dirty="0"/>
              <a:t>的具体执行过程</a:t>
            </a:r>
            <a:endParaRPr lang="zh-CN" altLang="en-US" dirty="0"/>
          </a:p>
        </p:txBody>
      </p:sp>
      <p:pic>
        <p:nvPicPr>
          <p:cNvPr id="2253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7940" y="398145"/>
            <a:ext cx="9693910" cy="63830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635000" y="97790"/>
            <a:ext cx="5080000" cy="1528445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r>
              <a:rPr lang="en-US" altLang="zh-CN" dirty="0"/>
              <a:t>7.3.4	WordCount</a:t>
            </a:r>
            <a:br>
              <a:rPr lang="en-US" altLang="zh-CN" dirty="0"/>
            </a:br>
            <a:r>
              <a:rPr lang="zh-CN" altLang="en-US" dirty="0"/>
              <a:t>执行过程的实例</a:t>
            </a:r>
            <a:endParaRPr lang="zh-CN" altLang="en-US" dirty="0"/>
          </a:p>
        </p:txBody>
      </p:sp>
      <p:pic>
        <p:nvPicPr>
          <p:cNvPr id="2662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200" y="956310"/>
            <a:ext cx="6416675" cy="572198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8" name="Rectangle 5"/>
          <p:cNvSpPr/>
          <p:nvPr/>
        </p:nvSpPr>
        <p:spPr>
          <a:xfrm>
            <a:off x="927100" y="3517107"/>
            <a:ext cx="371856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r>
              <a:rPr lang="zh-CN" altLang="en-US" sz="2800" dirty="0">
                <a:latin typeface="Arial" panose="020B0604020202020204" pitchFamily="34" charset="0"/>
              </a:rPr>
              <a:t>图</a:t>
            </a:r>
            <a:r>
              <a:rPr lang="en-US" altLang="zh-CN" sz="2800" dirty="0">
                <a:latin typeface="Arial" panose="020B0604020202020204" pitchFamily="34" charset="0"/>
              </a:rPr>
              <a:t>7-7 Map</a:t>
            </a:r>
            <a:r>
              <a:rPr lang="zh-CN" altLang="en-US" sz="2800" dirty="0">
                <a:latin typeface="Arial" panose="020B0604020202020204" pitchFamily="34" charset="0"/>
              </a:rPr>
              <a:t>过程示意图 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7240" y="1518920"/>
            <a:ext cx="8377555" cy="51219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652" name="Rectangle 5"/>
          <p:cNvSpPr/>
          <p:nvPr/>
        </p:nvSpPr>
        <p:spPr>
          <a:xfrm>
            <a:off x="85090" y="2952750"/>
            <a:ext cx="3232150" cy="177863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noAutofit/>
          </a:bodyPr>
          <a:lstStyle/>
          <a:p>
            <a:pPr algn="ctr" eaLnBrk="0" hangingPunct="0"/>
            <a:r>
              <a:rPr lang="zh-CN" altLang="en-US" sz="2800" dirty="0">
                <a:latin typeface="Arial" panose="020B0604020202020204" pitchFamily="34" charset="0"/>
              </a:rPr>
              <a:t>图</a:t>
            </a:r>
            <a:r>
              <a:rPr lang="en-US" altLang="zh-CN" sz="2800" dirty="0">
                <a:latin typeface="Arial" panose="020B0604020202020204" pitchFamily="34" charset="0"/>
              </a:rPr>
              <a:t>7-8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algn="l" eaLnBrk="0" hangingPunct="0"/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没有定义</a:t>
            </a:r>
            <a:r>
              <a:rPr lang="en-US" altLang="zh-CN" sz="2800" dirty="0">
                <a:latin typeface="Arial" panose="020B0604020202020204" pitchFamily="34" charset="0"/>
              </a:rPr>
              <a:t>Combiner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algn="l" eaLnBrk="0" hangingPunct="0"/>
            <a:r>
              <a:rPr lang="zh-CN" altLang="en-US" sz="2800" dirty="0">
                <a:latin typeface="Arial" panose="020B0604020202020204" pitchFamily="34" charset="0"/>
              </a:rPr>
              <a:t>时的</a:t>
            </a:r>
            <a:r>
              <a:rPr lang="en-US" altLang="zh-CN" sz="2800" dirty="0">
                <a:latin typeface="Arial" panose="020B0604020202020204" pitchFamily="34" charset="0"/>
              </a:rPr>
              <a:t>Reduce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algn="l" eaLnBrk="0" hangingPunct="0"/>
            <a:r>
              <a:rPr lang="zh-CN" altLang="en-US" sz="2800" dirty="0">
                <a:latin typeface="Arial" panose="020B0604020202020204" pitchFamily="34" charset="0"/>
              </a:rPr>
              <a:t>过程示意图 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635000" y="97790"/>
            <a:ext cx="5080000" cy="1528445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r>
              <a:rPr lang="en-US" altLang="zh-CN" dirty="0"/>
              <a:t>7.3.4	WordCount</a:t>
            </a:r>
            <a:br>
              <a:rPr lang="en-US" altLang="zh-CN" dirty="0"/>
            </a:br>
            <a:r>
              <a:rPr lang="zh-CN" altLang="en-US" dirty="0"/>
              <a:t>执行过程的实例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5"/>
          <p:cNvSpPr/>
          <p:nvPr/>
        </p:nvSpPr>
        <p:spPr>
          <a:xfrm>
            <a:off x="85090" y="2952750"/>
            <a:ext cx="3232150" cy="177863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noAutofit/>
          </a:bodyPr>
          <a:lstStyle/>
          <a:p>
            <a:pPr algn="ctr" eaLnBrk="0" hangingPunct="0"/>
            <a:r>
              <a:rPr lang="zh-CN" altLang="en-US" sz="2800" dirty="0">
                <a:latin typeface="Arial" panose="020B0604020202020204" pitchFamily="34" charset="0"/>
              </a:rPr>
              <a:t>图</a:t>
            </a:r>
            <a:r>
              <a:rPr lang="en-US" altLang="zh-CN" sz="2800" dirty="0">
                <a:latin typeface="Arial" panose="020B0604020202020204" pitchFamily="34" charset="0"/>
              </a:rPr>
              <a:t>7-8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algn="l" eaLnBrk="0" hangingPunct="0"/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</a:rPr>
              <a:t>有定义</a:t>
            </a:r>
            <a:r>
              <a:rPr lang="en-US" altLang="zh-CN" sz="2800" dirty="0">
                <a:latin typeface="Arial" panose="020B0604020202020204" pitchFamily="34" charset="0"/>
              </a:rPr>
              <a:t>Combiner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algn="l" eaLnBrk="0" hangingPunct="0"/>
            <a:r>
              <a:rPr lang="zh-CN" altLang="en-US" sz="2800" dirty="0">
                <a:latin typeface="Arial" panose="020B0604020202020204" pitchFamily="34" charset="0"/>
              </a:rPr>
              <a:t>时的</a:t>
            </a:r>
            <a:r>
              <a:rPr lang="en-US" altLang="zh-CN" sz="2800" dirty="0">
                <a:latin typeface="Arial" panose="020B0604020202020204" pitchFamily="34" charset="0"/>
              </a:rPr>
              <a:t>Reduce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algn="l" eaLnBrk="0" hangingPunct="0"/>
            <a:r>
              <a:rPr lang="zh-CN" altLang="en-US" sz="2800" dirty="0">
                <a:latin typeface="Arial" panose="020B0604020202020204" pitchFamily="34" charset="0"/>
              </a:rPr>
              <a:t>过程示意图 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26626" name="Rectangle 2"/>
          <p:cNvSpPr>
            <a:spLocks noGrp="1"/>
          </p:cNvSpPr>
          <p:nvPr>
            <p:ph type="title"/>
          </p:nvPr>
        </p:nvSpPr>
        <p:spPr>
          <a:xfrm>
            <a:off x="635000" y="97790"/>
            <a:ext cx="5080000" cy="1528445"/>
          </a:xfrm>
        </p:spPr>
        <p:txBody>
          <a:bodyPr vert="horz" wrap="square" lIns="91440" tIns="45720" rIns="91440" bIns="45720" anchor="ctr" anchorCtr="0">
            <a:normAutofit/>
          </a:bodyPr>
          <a:lstStyle/>
          <a:p>
            <a:r>
              <a:rPr lang="en-US" altLang="zh-CN" dirty="0"/>
              <a:t>7.3.4	WordCount</a:t>
            </a:r>
            <a:br>
              <a:rPr lang="en-US" altLang="zh-CN" dirty="0"/>
            </a:br>
            <a:r>
              <a:rPr lang="zh-CN" altLang="en-US" dirty="0"/>
              <a:t>执行过程的实例</a:t>
            </a:r>
            <a:endParaRPr lang="zh-CN" altLang="en-US" dirty="0"/>
          </a:p>
        </p:txBody>
      </p:sp>
      <p:pic>
        <p:nvPicPr>
          <p:cNvPr id="2867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4880" y="893445"/>
            <a:ext cx="8224520" cy="58966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7.4  MapReduce</a:t>
            </a:r>
            <a:r>
              <a:rPr lang="zh-CN" altLang="en-US" dirty="0"/>
              <a:t>的具体应用</a:t>
            </a:r>
            <a:endParaRPr lang="zh-CN" altLang="en-US" dirty="0"/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>
          <a:xfrm>
            <a:off x="838200" y="1690688"/>
            <a:ext cx="9744075" cy="4705350"/>
          </a:xfrm>
        </p:spPr>
        <p:txBody>
          <a:bodyPr vert="horz" wrap="square" lIns="91440" tIns="45720" rIns="91440" bIns="45720" anchor="t" anchorCtr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CN" dirty="0"/>
              <a:t>MapReduce</a:t>
            </a:r>
            <a:r>
              <a:rPr lang="zh-CN" altLang="en-US" dirty="0"/>
              <a:t>可以很好地应用于各种计算问题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关系代数运算（选择、投影、并、交、差、连接）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分组与聚合运算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矩阵</a:t>
            </a:r>
            <a:r>
              <a:rPr lang="en-US" altLang="zh-CN" dirty="0"/>
              <a:t>-</a:t>
            </a:r>
            <a:r>
              <a:rPr lang="zh-CN" altLang="en-US" dirty="0"/>
              <a:t>向量乘法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矩阵乘法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7.4.1  </a:t>
            </a:r>
            <a:r>
              <a:rPr lang="zh-CN" altLang="en-US" dirty="0"/>
              <a:t>在关系代数运算中</a:t>
            </a:r>
            <a:endParaRPr lang="zh-CN" altLang="en-US" dirty="0"/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>
          <a:xfrm>
            <a:off x="712470" y="1600200"/>
            <a:ext cx="11091545" cy="4705350"/>
          </a:xfrm>
        </p:spPr>
        <p:txBody>
          <a:bodyPr vert="horz" wrap="square" lIns="91440" tIns="45720" rIns="91440" bIns="45720" anchor="t" anchorCtr="0">
            <a:normAutofit fontScale="97500"/>
          </a:bodyPr>
          <a:lstStyle/>
          <a:p>
            <a:pPr>
              <a:lnSpc>
                <a:spcPct val="100000"/>
              </a:lnSpc>
              <a:buNone/>
            </a:pPr>
            <a:r>
              <a:rPr b="1" dirty="0"/>
              <a:t>选择运算</a:t>
            </a:r>
            <a:endParaRPr b="1" dirty="0"/>
          </a:p>
          <a:p>
            <a:pPr>
              <a:lnSpc>
                <a:spcPct val="100000"/>
              </a:lnSpc>
              <a:buNone/>
            </a:pPr>
            <a:r>
              <a:rPr dirty="0"/>
              <a:t>Map函数： 对R中的每个元组t，检测它是否满足C。</a:t>
            </a:r>
            <a:endParaRPr dirty="0"/>
          </a:p>
          <a:p>
            <a:pPr>
              <a:lnSpc>
                <a:spcPct val="100000"/>
              </a:lnSpc>
              <a:buNone/>
            </a:pPr>
            <a:r>
              <a:rPr dirty="0"/>
              <a:t> </a:t>
            </a:r>
            <a:r>
              <a:rPr lang="en-US" dirty="0"/>
              <a:t>                  </a:t>
            </a:r>
            <a:r>
              <a:rPr dirty="0"/>
              <a:t>如果满足，则产生一个键-值对(t,t)。</a:t>
            </a:r>
            <a:endParaRPr dirty="0"/>
          </a:p>
          <a:p>
            <a:pPr>
              <a:lnSpc>
                <a:spcPct val="100000"/>
              </a:lnSpc>
              <a:buNone/>
            </a:pPr>
            <a:r>
              <a:rPr dirty="0"/>
              <a:t>Reduce函数： 作用类似恒等式，仅仅传递结果至输出部分。</a:t>
            </a:r>
            <a:endParaRPr dirty="0"/>
          </a:p>
          <a:p>
            <a:pPr>
              <a:lnSpc>
                <a:spcPct val="100000"/>
              </a:lnSpc>
              <a:buNone/>
            </a:pPr>
            <a:endParaRPr dirty="0"/>
          </a:p>
          <a:p>
            <a:pPr>
              <a:lnSpc>
                <a:spcPct val="100000"/>
              </a:lnSpc>
              <a:buNone/>
            </a:pPr>
            <a:r>
              <a:rPr b="1" dirty="0"/>
              <a:t>投影运算</a:t>
            </a:r>
            <a:endParaRPr b="1" dirty="0"/>
          </a:p>
          <a:p>
            <a:pPr>
              <a:lnSpc>
                <a:spcPct val="100000"/>
              </a:lnSpc>
              <a:buNone/>
            </a:pPr>
            <a:r>
              <a:rPr dirty="0"/>
              <a:t>Map函数： 对R中的每个元组t，</a:t>
            </a:r>
            <a:r>
              <a:rPr lang="zh-CN" dirty="0"/>
              <a:t>保留选中</a:t>
            </a:r>
            <a:r>
              <a:rPr dirty="0"/>
              <a:t>字段得到t‘，输出键-值对(t’,t’)。</a:t>
            </a:r>
            <a:endParaRPr dirty="0"/>
          </a:p>
          <a:p>
            <a:pPr>
              <a:lnSpc>
                <a:spcPct val="100000"/>
              </a:lnSpc>
              <a:buNone/>
            </a:pPr>
            <a:r>
              <a:rPr dirty="0"/>
              <a:t>Reduce函数： (t’</a:t>
            </a:r>
            <a:r>
              <a:rPr lang="en-US" dirty="0"/>
              <a:t>,</a:t>
            </a:r>
            <a:r>
              <a:rPr dirty="0"/>
              <a:t>t’)有可能重复，Reduce函数将(t’,[t’,t’,…,t’])转换成(t’,t’)。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7.4.1  </a:t>
            </a:r>
            <a:r>
              <a:rPr lang="zh-CN" altLang="en-US" dirty="0"/>
              <a:t>在关系代数运算中</a:t>
            </a:r>
            <a:endParaRPr lang="zh-CN" altLang="en-US" dirty="0"/>
          </a:p>
        </p:txBody>
      </p:sp>
      <p:sp>
        <p:nvSpPr>
          <p:cNvPr id="29699" name="Rectangle 3"/>
          <p:cNvSpPr>
            <a:spLocks noGrp="1"/>
          </p:cNvSpPr>
          <p:nvPr>
            <p:ph type="body" idx="4294967295"/>
          </p:nvPr>
        </p:nvSpPr>
        <p:spPr>
          <a:xfrm>
            <a:off x="2064385" y="1461770"/>
            <a:ext cx="8737600" cy="1260475"/>
          </a:xfrm>
        </p:spPr>
        <p:txBody>
          <a:bodyPr vert="horz" wrap="square" lIns="91440" tIns="45720" rIns="91440" bIns="45720" anchor="t" anchorCtr="0">
            <a:noAutofit/>
          </a:bodyPr>
          <a:lstStyle/>
          <a:p>
            <a:pPr algn="l">
              <a:lnSpc>
                <a:spcPct val="80000"/>
              </a:lnSpc>
              <a:buClrTx/>
              <a:buSzTx/>
              <a:buNone/>
            </a:pPr>
            <a:r>
              <a:rPr lang="en-US" sz="2400" dirty="0"/>
              <a:t>考虑R和S的并，将R或S中的文件块分配给Map任务。</a:t>
            </a:r>
            <a:endParaRPr lang="en-US" sz="2400" dirty="0"/>
          </a:p>
          <a:p>
            <a:pPr algn="l">
              <a:lnSpc>
                <a:spcPct val="80000"/>
              </a:lnSpc>
              <a:buClrTx/>
              <a:buSzTx/>
              <a:buNone/>
            </a:pPr>
            <a:r>
              <a:rPr lang="en-US" sz="2400" dirty="0"/>
              <a:t>Map函数： 将每个输入元组变成键-值对(t,t)。</a:t>
            </a:r>
            <a:endParaRPr lang="en-US" sz="2400" dirty="0"/>
          </a:p>
          <a:p>
            <a:pPr algn="l">
              <a:lnSpc>
                <a:spcPct val="80000"/>
              </a:lnSpc>
              <a:buClrTx/>
              <a:buSzTx/>
              <a:buNone/>
            </a:pPr>
            <a:r>
              <a:rPr lang="en-US" sz="2400" dirty="0"/>
              <a:t>Reduce函数： 剔除冗余，保证每个键只有一个值。</a:t>
            </a:r>
            <a:endParaRPr lang="en-US" sz="2400" dirty="0"/>
          </a:p>
        </p:txBody>
      </p:sp>
      <p:sp>
        <p:nvSpPr>
          <p:cNvPr id="2" name="圆角矩形 1"/>
          <p:cNvSpPr/>
          <p:nvPr/>
        </p:nvSpPr>
        <p:spPr>
          <a:xfrm>
            <a:off x="916940" y="1624330"/>
            <a:ext cx="738505" cy="70104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/>
              <a:t>并</a:t>
            </a:r>
            <a:endParaRPr lang="zh-CN" altLang="en-US" sz="3200"/>
          </a:p>
        </p:txBody>
      </p:sp>
      <p:sp>
        <p:nvSpPr>
          <p:cNvPr id="3" name="圆角矩形 2"/>
          <p:cNvSpPr/>
          <p:nvPr/>
        </p:nvSpPr>
        <p:spPr>
          <a:xfrm>
            <a:off x="916940" y="5046980"/>
            <a:ext cx="738505" cy="70104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/>
              <a:t>差</a:t>
            </a:r>
            <a:endParaRPr lang="zh-CN" altLang="en-US" sz="3200"/>
          </a:p>
        </p:txBody>
      </p:sp>
      <p:sp>
        <p:nvSpPr>
          <p:cNvPr id="4" name="圆角矩形 3"/>
          <p:cNvSpPr/>
          <p:nvPr/>
        </p:nvSpPr>
        <p:spPr>
          <a:xfrm>
            <a:off x="916940" y="3188970"/>
            <a:ext cx="738505" cy="70104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/>
              <a:t>交</a:t>
            </a:r>
            <a:endParaRPr lang="zh-CN" altLang="en-US" sz="3200"/>
          </a:p>
        </p:txBody>
      </p:sp>
      <p:sp>
        <p:nvSpPr>
          <p:cNvPr id="5" name="文本框 4"/>
          <p:cNvSpPr txBox="1"/>
          <p:nvPr/>
        </p:nvSpPr>
        <p:spPr>
          <a:xfrm>
            <a:off x="1967865" y="4903470"/>
            <a:ext cx="9076690" cy="13379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228600" indent="-228600" algn="l">
              <a:lnSpc>
                <a:spcPct val="8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sz="2400" dirty="0">
                <a:sym typeface="+mn-ea"/>
              </a:rPr>
              <a:t>R-S，只在R不在S的元组，计算时需要告知每个元组来自R还是S。</a:t>
            </a:r>
            <a:endParaRPr lang="en-US" sz="2400" dirty="0"/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sz="2400" dirty="0">
                <a:sym typeface="+mn-ea"/>
              </a:rPr>
              <a:t>Map函数： 对R中的元组t，产生键-值对(t,R)，同理产生(t,S)。</a:t>
            </a:r>
            <a:endParaRPr lang="en-US" sz="2400" dirty="0"/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sz="2400" dirty="0">
                <a:sym typeface="+mn-ea"/>
              </a:rPr>
              <a:t>Reduce函数： 对每个键t，值表是[R]，则输出(t,t)。</a:t>
            </a:r>
            <a:endParaRPr lang="en-US" altLang="en-US" sz="2400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967865" y="3061970"/>
            <a:ext cx="8930005" cy="1232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28600" indent="-228600" algn="l">
              <a:lnSpc>
                <a:spcPct val="8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sz="2400" dirty="0">
                <a:sym typeface="+mn-ea"/>
              </a:rPr>
              <a:t>输出有两个值</a:t>
            </a:r>
            <a:r>
              <a:rPr lang="zh-CN" altLang="en-US" sz="2400" dirty="0">
                <a:sym typeface="+mn-ea"/>
              </a:rPr>
              <a:t>的</a:t>
            </a:r>
            <a:r>
              <a:rPr lang="en-US" sz="2400" dirty="0">
                <a:sym typeface="+mn-ea"/>
              </a:rPr>
              <a:t>键</a:t>
            </a:r>
            <a:endParaRPr lang="en-US" sz="2400" dirty="0"/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sz="2400" dirty="0">
                <a:sym typeface="+mn-ea"/>
              </a:rPr>
              <a:t>Map函数： 将每个输入元组变成键-值对(t,t)。</a:t>
            </a:r>
            <a:endParaRPr lang="en-US" sz="2400" dirty="0"/>
          </a:p>
          <a:p>
            <a:pPr marL="228600" indent="-228600" algn="l">
              <a:lnSpc>
                <a:spcPct val="8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sz="2400" dirty="0">
                <a:sym typeface="+mn-ea"/>
              </a:rPr>
              <a:t>Reduce函数： 如果键t的值表为[t,t],则输出(t,t)。</a:t>
            </a:r>
            <a:endParaRPr lang="en-US" altLang="en-US" sz="2400" dirty="0"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6" name="内容占位符 5"/>
          <p:cNvGraphicFramePr/>
          <p:nvPr>
            <p:ph idx="1"/>
            <p:custDataLst>
              <p:tags r:id="rId1"/>
            </p:custDataLst>
          </p:nvPr>
        </p:nvGraphicFramePr>
        <p:xfrm>
          <a:off x="889000" y="1580515"/>
          <a:ext cx="2491105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220"/>
                <a:gridCol w="937260"/>
                <a:gridCol w="936625"/>
              </a:tblGrid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ID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年龄</a:t>
                      </a:r>
                      <a:endParaRPr lang="zh-CN" altLang="en-US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籍贯</a:t>
                      </a:r>
                      <a:endParaRPr lang="zh-CN" altLang="en-US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广东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河南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endParaRPr lang="zh-CN" altLang="en-US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湖北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endParaRPr lang="zh-CN" altLang="en-US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河南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1816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关系</a:t>
                      </a:r>
                      <a:r>
                        <a:rPr lang="en-US" altLang="zh-CN" sz="2800"/>
                        <a:t>R</a:t>
                      </a:r>
                      <a:endParaRPr lang="en-US" altLang="zh-CN" sz="2800"/>
                    </a:p>
                  </a:txBody>
                  <a:tcP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41630" y="381635"/>
            <a:ext cx="6744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select * from R where </a:t>
            </a:r>
            <a:r>
              <a:rPr lang="zh-CN" altLang="en-US" sz="3600"/>
              <a:t>年龄</a:t>
            </a:r>
            <a:r>
              <a:rPr lang="en-US" altLang="zh-CN" sz="3600"/>
              <a:t>&gt;8</a:t>
            </a:r>
            <a:r>
              <a:rPr lang="zh-CN" altLang="en-US" sz="3600"/>
              <a:t>；</a:t>
            </a:r>
            <a:endParaRPr lang="zh-CN" altLang="en-US" sz="3600"/>
          </a:p>
        </p:txBody>
      </p:sp>
      <p:graphicFrame>
        <p:nvGraphicFramePr>
          <p:cNvPr id="8" name="表格 7"/>
          <p:cNvGraphicFramePr/>
          <p:nvPr/>
        </p:nvGraphicFramePr>
        <p:xfrm>
          <a:off x="4104640" y="1580515"/>
          <a:ext cx="2855595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5595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&lt;</a:t>
                      </a:r>
                      <a:r>
                        <a:rPr lang="zh-CN" altLang="en-US" sz="2800"/>
                        <a:t>键，值</a:t>
                      </a:r>
                      <a:r>
                        <a:rPr lang="en-US" altLang="zh-CN" sz="2800"/>
                        <a:t>&gt;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&lt;1, &lt;A,8,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广东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&lt;2, &lt;B,7,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河南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&lt;3, &lt;C,9,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&lt;4, &lt;D,9,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&lt;5, &lt;E,8,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&lt;6, &lt;F,7,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map</a:t>
                      </a:r>
                      <a:r>
                        <a:rPr lang="zh-CN" altLang="en-US" sz="2800">
                          <a:sym typeface="+mn-ea"/>
                        </a:rPr>
                        <a:t>输入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9" name="左大括号 8"/>
          <p:cNvSpPr/>
          <p:nvPr/>
        </p:nvSpPr>
        <p:spPr>
          <a:xfrm>
            <a:off x="538480" y="2179955"/>
            <a:ext cx="264160" cy="142240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2414905"/>
            <a:ext cx="5594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分片</a:t>
            </a:r>
            <a:endParaRPr lang="zh-CN" altLang="en-US" sz="2800"/>
          </a:p>
        </p:txBody>
      </p:sp>
      <p:sp>
        <p:nvSpPr>
          <p:cNvPr id="11" name="左大括号 10"/>
          <p:cNvSpPr/>
          <p:nvPr/>
        </p:nvSpPr>
        <p:spPr>
          <a:xfrm>
            <a:off x="538480" y="3729355"/>
            <a:ext cx="264160" cy="142240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0" y="3964305"/>
            <a:ext cx="5594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分片</a:t>
            </a:r>
            <a:endParaRPr lang="zh-CN" altLang="en-US" sz="2800"/>
          </a:p>
        </p:txBody>
      </p:sp>
      <p:graphicFrame>
        <p:nvGraphicFramePr>
          <p:cNvPr id="13" name="表格 12"/>
          <p:cNvGraphicFramePr/>
          <p:nvPr/>
        </p:nvGraphicFramePr>
        <p:xfrm>
          <a:off x="7580630" y="1580515"/>
          <a:ext cx="4403725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3725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zh-CN" altLang="en-US" sz="2800">
                          <a:sym typeface="+mn-ea"/>
                        </a:rPr>
                        <a:t>键，值</a:t>
                      </a:r>
                      <a:r>
                        <a:rPr lang="en-US" altLang="zh-CN" sz="2800">
                          <a:sym typeface="+mn-ea"/>
                        </a:rPr>
                        <a:t>&gt;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不符合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不符合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&lt;C,9,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&gt;,&lt;C,9,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&lt;&lt;D,9,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&gt;, &lt;D,9,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不符合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不符合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map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4" name="云形标注 13"/>
          <p:cNvSpPr/>
          <p:nvPr/>
        </p:nvSpPr>
        <p:spPr>
          <a:xfrm>
            <a:off x="4217670" y="5609590"/>
            <a:ext cx="4392295" cy="1000760"/>
          </a:xfrm>
          <a:prstGeom prst="cloudCallout">
            <a:avLst>
              <a:gd name="adj1" fmla="val 27793"/>
              <a:gd name="adj2" fmla="val -25050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 sz="2800">
                <a:solidFill>
                  <a:schemeClr val="tx1"/>
                </a:solidFill>
                <a:sym typeface="+mn-ea"/>
              </a:rPr>
              <a:t>&lt;3, &lt;C,9,</a:t>
            </a:r>
            <a:r>
              <a:rPr lang="zh-CN" altLang="en-US" sz="2800">
                <a:solidFill>
                  <a:schemeClr val="tx1"/>
                </a:solidFill>
                <a:sym typeface="+mn-ea"/>
              </a:rPr>
              <a:t>广东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&gt;&gt;?</a:t>
            </a:r>
            <a:endParaRPr lang="en-US" altLang="zh-CN" sz="2800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3493135" y="2628900"/>
            <a:ext cx="490855" cy="4737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3496945" y="4203700"/>
            <a:ext cx="490855" cy="4737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7025005" y="2628900"/>
            <a:ext cx="490855" cy="4737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7028815" y="4203700"/>
            <a:ext cx="490855" cy="4737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9" grpId="0" animBg="1"/>
      <p:bldP spid="11" grpId="0" animBg="1"/>
      <p:bldP spid="12" grpId="0"/>
      <p:bldP spid="10" grpId="1"/>
      <p:bldP spid="9" grpId="1" animBg="1"/>
      <p:bldP spid="11" grpId="1" animBg="1"/>
      <p:bldP spid="12" grpId="1"/>
      <p:bldP spid="15" grpId="0" animBg="1"/>
      <p:bldP spid="17" grpId="0" animBg="1"/>
      <p:bldP spid="15" grpId="1" animBg="1"/>
      <p:bldP spid="17" grpId="1" animBg="1"/>
      <p:bldP spid="19" grpId="0" animBg="1"/>
      <p:bldP spid="18" grpId="0" animBg="1"/>
      <p:bldP spid="19" grpId="1" animBg="1"/>
      <p:bldP spid="18" grpId="1" animBg="1"/>
      <p:bldP spid="14" grpId="0" animBg="1"/>
      <p:bldP spid="14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41630" y="381635"/>
            <a:ext cx="6744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select * from R where </a:t>
            </a:r>
            <a:r>
              <a:rPr lang="zh-CN" altLang="en-US" sz="3600"/>
              <a:t>年龄</a:t>
            </a:r>
            <a:r>
              <a:rPr lang="en-US" altLang="zh-CN" sz="3600"/>
              <a:t>&gt;8</a:t>
            </a:r>
            <a:r>
              <a:rPr lang="zh-CN" altLang="en-US" sz="3600"/>
              <a:t>；</a:t>
            </a:r>
            <a:endParaRPr lang="zh-CN" altLang="en-US" sz="3600"/>
          </a:p>
        </p:txBody>
      </p:sp>
      <p:graphicFrame>
        <p:nvGraphicFramePr>
          <p:cNvPr id="13" name="表格 12"/>
          <p:cNvGraphicFramePr/>
          <p:nvPr/>
        </p:nvGraphicFramePr>
        <p:xfrm>
          <a:off x="8377555" y="1580515"/>
          <a:ext cx="3606800" cy="4101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zh-CN" altLang="en-US" sz="2800">
                          <a:sym typeface="+mn-ea"/>
                        </a:rPr>
                        <a:t>键，值</a:t>
                      </a:r>
                      <a:r>
                        <a:rPr lang="en-US" altLang="zh-CN" sz="2800">
                          <a:sym typeface="+mn-ea"/>
                        </a:rPr>
                        <a:t>&gt;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7404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&lt;&lt;C,9,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&gt;,&lt;C,9,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2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rgbClr val="FDA6B6"/>
                    </a:solidFill>
                  </a:tcPr>
                </a:tc>
              </a:tr>
              <a:tr h="83375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2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rgbClr val="FFD966"/>
                    </a:solidFill>
                  </a:tcPr>
                </a:tc>
              </a:tr>
              <a:tr h="667385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2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rgbClr val="FDA6B6"/>
                    </a:solidFill>
                  </a:tcPr>
                </a:tc>
              </a:tr>
              <a:tr h="8235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&lt;&lt;D,9,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&gt;, &lt;D,9,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2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rgbClr val="FFD966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map-</a:t>
                      </a:r>
                      <a:r>
                        <a:rPr lang="en-US" altLang="zh-CN" sz="2800">
                          <a:sym typeface="+mn-ea"/>
                        </a:rPr>
                        <a:t>shuffle</a:t>
                      </a:r>
                      <a:endParaRPr lang="en-US" altLang="zh-CN" sz="2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分区、排序、合并、归并</a:t>
                      </a:r>
                      <a:endParaRPr lang="zh-CN" altLang="en-US" sz="2400"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/>
          <p:nvPr/>
        </p:nvGraphicFramePr>
        <p:xfrm>
          <a:off x="4258310" y="1580515"/>
          <a:ext cx="3606800" cy="445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zh-CN" altLang="en-US" sz="2800">
                          <a:sym typeface="+mn-ea"/>
                        </a:rPr>
                        <a:t>键，值</a:t>
                      </a:r>
                      <a:r>
                        <a:rPr lang="en-US" altLang="zh-CN" sz="2800">
                          <a:sym typeface="+mn-ea"/>
                        </a:rPr>
                        <a:t>&gt;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5278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sym typeface="等线" panose="02010600030101010101" charset="-122"/>
                        </a:rPr>
                        <a:t>&lt;&lt;C,9,</a:t>
                      </a:r>
                      <a:r>
                        <a:rPr lang="zh-CN" altLang="en-US" sz="2200">
                          <a:sym typeface="等线" panose="02010600030101010101" charset="-122"/>
                        </a:rPr>
                        <a:t>广东</a:t>
                      </a:r>
                      <a:r>
                        <a:rPr lang="en-US" altLang="zh-CN" sz="2200">
                          <a:sym typeface="等线" panose="02010600030101010101" charset="-122"/>
                        </a:rPr>
                        <a:t>&gt;,&lt;C,9,</a:t>
                      </a:r>
                      <a:r>
                        <a:rPr lang="zh-CN" altLang="en-US" sz="2200">
                          <a:sym typeface="等线" panose="02010600030101010101" charset="-122"/>
                        </a:rPr>
                        <a:t>广东</a:t>
                      </a:r>
                      <a:r>
                        <a:rPr lang="en-US" altLang="zh-CN" sz="2200">
                          <a:sym typeface="等线" panose="02010600030101010101" charset="-122"/>
                        </a:rPr>
                        <a:t>&gt;&gt;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FDA6B6"/>
                    </a:solidFill>
                  </a:tcPr>
                </a:tc>
              </a:tr>
              <a:tr h="15278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&lt;&lt;D,9,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&gt;, &lt;D,9,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2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reduce-shuffle</a:t>
                      </a:r>
                      <a:endParaRPr lang="en-US" altLang="zh-CN" sz="2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归并</a:t>
                      </a:r>
                      <a:endParaRPr lang="zh-CN" altLang="en-US" sz="2400"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6" name="左箭头 15"/>
          <p:cNvSpPr/>
          <p:nvPr/>
        </p:nvSpPr>
        <p:spPr>
          <a:xfrm>
            <a:off x="3770630" y="2624455"/>
            <a:ext cx="454025" cy="5187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9" name="表格 18"/>
          <p:cNvGraphicFramePr/>
          <p:nvPr/>
        </p:nvGraphicFramePr>
        <p:xfrm>
          <a:off x="158115" y="1580515"/>
          <a:ext cx="3606800" cy="445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6800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zh-CN" altLang="en-US" sz="2800">
                          <a:sym typeface="+mn-ea"/>
                        </a:rPr>
                        <a:t>键，值</a:t>
                      </a:r>
                      <a:r>
                        <a:rPr lang="en-US" altLang="zh-CN" sz="2800">
                          <a:sym typeface="+mn-ea"/>
                        </a:rPr>
                        <a:t>&gt;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5278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sym typeface="等线" panose="02010600030101010101" charset="-122"/>
                        </a:rPr>
                        <a:t>&lt;&lt;C,9,</a:t>
                      </a:r>
                      <a:r>
                        <a:rPr lang="zh-CN" altLang="en-US" sz="2200">
                          <a:sym typeface="等线" panose="02010600030101010101" charset="-122"/>
                        </a:rPr>
                        <a:t>广东</a:t>
                      </a:r>
                      <a:r>
                        <a:rPr lang="en-US" altLang="zh-CN" sz="2200">
                          <a:sym typeface="等线" panose="02010600030101010101" charset="-122"/>
                        </a:rPr>
                        <a:t>&gt;,&lt;C,9,</a:t>
                      </a:r>
                      <a:r>
                        <a:rPr lang="zh-CN" altLang="en-US" sz="2200">
                          <a:sym typeface="等线" panose="02010600030101010101" charset="-122"/>
                        </a:rPr>
                        <a:t>广东</a:t>
                      </a:r>
                      <a:r>
                        <a:rPr lang="en-US" altLang="zh-CN" sz="2200">
                          <a:sym typeface="等线" panose="02010600030101010101" charset="-122"/>
                        </a:rPr>
                        <a:t>&gt;&gt;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 anchor="ctr" anchorCtr="0">
                    <a:solidFill>
                      <a:srgbClr val="FDA6B6"/>
                    </a:solidFill>
                  </a:tcPr>
                </a:tc>
              </a:tr>
              <a:tr h="15278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&lt;&lt;D,9,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&gt;, &lt;D,9,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2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reduce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20" name="左箭头 19"/>
          <p:cNvSpPr/>
          <p:nvPr/>
        </p:nvSpPr>
        <p:spPr>
          <a:xfrm>
            <a:off x="3770630" y="4104640"/>
            <a:ext cx="454025" cy="5187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7887970" y="2454910"/>
            <a:ext cx="444500" cy="0"/>
          </a:xfrm>
          <a:prstGeom prst="straightConnector1">
            <a:avLst/>
          </a:prstGeom>
          <a:ln w="38100">
            <a:solidFill>
              <a:srgbClr val="FDA6B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 flipV="1">
            <a:off x="7906385" y="3178175"/>
            <a:ext cx="463550" cy="833755"/>
          </a:xfrm>
          <a:prstGeom prst="straightConnector1">
            <a:avLst/>
          </a:prstGeom>
          <a:ln w="38100">
            <a:solidFill>
              <a:srgbClr val="FDA6B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7896860" y="3267710"/>
            <a:ext cx="479425" cy="99441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7875905" y="4657725"/>
            <a:ext cx="444500" cy="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8499475" y="1026795"/>
            <a:ext cx="3359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假设按</a:t>
            </a:r>
            <a:r>
              <a:rPr lang="en-US" altLang="zh-CN" sz="2800"/>
              <a:t>ID</a:t>
            </a:r>
            <a:r>
              <a:rPr lang="zh-CN" altLang="en-US" sz="2800"/>
              <a:t>首字母分区</a:t>
            </a:r>
            <a:endParaRPr lang="zh-CN" altLang="en-US" sz="2800"/>
          </a:p>
        </p:txBody>
      </p:sp>
      <p:sp>
        <p:nvSpPr>
          <p:cNvPr id="2" name="矩形 1"/>
          <p:cNvSpPr/>
          <p:nvPr/>
        </p:nvSpPr>
        <p:spPr>
          <a:xfrm>
            <a:off x="8238490" y="2016125"/>
            <a:ext cx="3903980" cy="173609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8288020" y="3595370"/>
            <a:ext cx="3903980" cy="1736090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2" grpId="0" animBg="1"/>
      <p:bldP spid="2" grpId="1" animBg="1"/>
      <p:bldP spid="4" grpId="0" animBg="1"/>
      <p:bldP spid="4" grpId="1" animBg="1"/>
      <p:bldP spid="16" grpId="0" animBg="1"/>
      <p:bldP spid="20" grpId="0" animBg="1"/>
      <p:bldP spid="16" grpId="1" animBg="1"/>
      <p:bldP spid="20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6" name="内容占位符 5"/>
          <p:cNvGraphicFramePr/>
          <p:nvPr>
            <p:ph idx="1"/>
            <p:custDataLst>
              <p:tags r:id="rId1"/>
            </p:custDataLst>
          </p:nvPr>
        </p:nvGraphicFramePr>
        <p:xfrm>
          <a:off x="889000" y="1580515"/>
          <a:ext cx="2491105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220"/>
                <a:gridCol w="937260"/>
                <a:gridCol w="936625"/>
              </a:tblGrid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ID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年龄</a:t>
                      </a:r>
                      <a:endParaRPr lang="zh-CN" altLang="en-US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籍贯</a:t>
                      </a:r>
                      <a:endParaRPr lang="zh-CN" altLang="en-US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广东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河南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endParaRPr lang="zh-CN" altLang="en-US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湖北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endParaRPr lang="zh-CN" altLang="en-US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河南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1816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关系</a:t>
                      </a:r>
                      <a:r>
                        <a:rPr lang="en-US" altLang="zh-CN" sz="2800"/>
                        <a:t>R</a:t>
                      </a:r>
                      <a:endParaRPr lang="en-US" altLang="zh-CN" sz="2800"/>
                    </a:p>
                  </a:txBody>
                  <a:tcP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341630" y="381635"/>
            <a:ext cx="6744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select </a:t>
            </a:r>
            <a:r>
              <a:rPr lang="zh-CN" altLang="en-US" sz="3600"/>
              <a:t>年龄，籍贯</a:t>
            </a:r>
            <a:r>
              <a:rPr lang="en-US" altLang="zh-CN" sz="3600"/>
              <a:t> from R</a:t>
            </a:r>
            <a:r>
              <a:rPr lang="zh-CN" altLang="en-US" sz="3600"/>
              <a:t>；</a:t>
            </a:r>
            <a:endParaRPr lang="zh-CN" altLang="en-US" sz="3600"/>
          </a:p>
        </p:txBody>
      </p:sp>
      <p:graphicFrame>
        <p:nvGraphicFramePr>
          <p:cNvPr id="8" name="表格 7"/>
          <p:cNvGraphicFramePr/>
          <p:nvPr/>
        </p:nvGraphicFramePr>
        <p:xfrm>
          <a:off x="4104640" y="1580515"/>
          <a:ext cx="2855595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5595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zh-CN" altLang="en-US" sz="2800">
                          <a:sym typeface="+mn-ea"/>
                        </a:rPr>
                        <a:t>键，值</a:t>
                      </a:r>
                      <a:r>
                        <a:rPr lang="en-US" altLang="zh-CN" sz="2800">
                          <a:sym typeface="+mn-ea"/>
                        </a:rPr>
                        <a:t>&gt;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&lt;1, &lt;A,8,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广东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&lt;2, &lt;B,7,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河南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&lt;3, &lt;C,9,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&lt;4, &lt;D,9,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&lt;5, &lt;E,8,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&lt;6, &lt;F,7,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map</a:t>
                      </a:r>
                      <a:r>
                        <a:rPr lang="zh-CN" altLang="en-US" sz="2800">
                          <a:sym typeface="+mn-ea"/>
                        </a:rPr>
                        <a:t>输入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9" name="左大括号 8"/>
          <p:cNvSpPr/>
          <p:nvPr/>
        </p:nvSpPr>
        <p:spPr>
          <a:xfrm>
            <a:off x="538480" y="2179955"/>
            <a:ext cx="264160" cy="142240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2414905"/>
            <a:ext cx="5594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分片</a:t>
            </a:r>
            <a:endParaRPr lang="zh-CN" altLang="en-US" sz="2800"/>
          </a:p>
        </p:txBody>
      </p:sp>
      <p:sp>
        <p:nvSpPr>
          <p:cNvPr id="11" name="左大括号 10"/>
          <p:cNvSpPr/>
          <p:nvPr/>
        </p:nvSpPr>
        <p:spPr>
          <a:xfrm>
            <a:off x="538480" y="3729355"/>
            <a:ext cx="264160" cy="142240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0" y="3964305"/>
            <a:ext cx="5594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分片</a:t>
            </a:r>
            <a:endParaRPr lang="zh-CN" altLang="en-US" sz="2800"/>
          </a:p>
        </p:txBody>
      </p:sp>
      <p:graphicFrame>
        <p:nvGraphicFramePr>
          <p:cNvPr id="13" name="表格 12"/>
          <p:cNvGraphicFramePr/>
          <p:nvPr/>
        </p:nvGraphicFramePr>
        <p:xfrm>
          <a:off x="7580630" y="1580515"/>
          <a:ext cx="4403725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3725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zh-CN" altLang="en-US" sz="2800">
                          <a:sym typeface="+mn-ea"/>
                        </a:rPr>
                        <a:t>键，值</a:t>
                      </a:r>
                      <a:r>
                        <a:rPr lang="en-US" altLang="zh-CN" sz="2800">
                          <a:sym typeface="+mn-ea"/>
                        </a:rPr>
                        <a:t>&gt;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&lt;?,&lt;8,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广东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&lt;?,&lt;7,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&lt;?,&lt;9,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&lt;?,&lt;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9,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&lt;?,&lt;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8,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&lt;?,&lt;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7,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map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4" name="云形标注 13"/>
          <p:cNvSpPr/>
          <p:nvPr/>
        </p:nvSpPr>
        <p:spPr>
          <a:xfrm>
            <a:off x="4217670" y="5609590"/>
            <a:ext cx="4392295" cy="1000760"/>
          </a:xfrm>
          <a:prstGeom prst="cloudCallout">
            <a:avLst>
              <a:gd name="adj1" fmla="val 27793"/>
              <a:gd name="adj2" fmla="val -25050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 sz="2800">
                <a:solidFill>
                  <a:schemeClr val="tx1"/>
                </a:solidFill>
                <a:sym typeface="+mn-ea"/>
              </a:rPr>
              <a:t>如何设置键</a:t>
            </a:r>
            <a:r>
              <a:rPr lang="en-US" altLang="zh-CN" sz="2800">
                <a:solidFill>
                  <a:schemeClr val="tx1"/>
                </a:solidFill>
                <a:sym typeface="+mn-ea"/>
              </a:rPr>
              <a:t>?</a:t>
            </a:r>
            <a:endParaRPr lang="en-US" altLang="zh-CN" sz="280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右箭头 1"/>
          <p:cNvSpPr/>
          <p:nvPr/>
        </p:nvSpPr>
        <p:spPr>
          <a:xfrm>
            <a:off x="3493135" y="2628900"/>
            <a:ext cx="490855" cy="4737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3496945" y="4203700"/>
            <a:ext cx="490855" cy="4737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7025005" y="2628900"/>
            <a:ext cx="490855" cy="4737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7028815" y="4203700"/>
            <a:ext cx="490855" cy="4737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18" grpId="1" animBg="1"/>
      <p:bldP spid="19" grpId="1" animBg="1"/>
      <p:bldP spid="14" grpId="0" animBg="1"/>
      <p:bldP spid="14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4" name="表格 13"/>
          <p:cNvGraphicFramePr/>
          <p:nvPr/>
        </p:nvGraphicFramePr>
        <p:xfrm>
          <a:off x="4518660" y="1580515"/>
          <a:ext cx="3930650" cy="4980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650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zh-CN" altLang="en-US" sz="2800">
                          <a:sym typeface="+mn-ea"/>
                        </a:rPr>
                        <a:t>键，值</a:t>
                      </a:r>
                      <a:r>
                        <a:rPr lang="en-US" altLang="zh-CN" sz="2800">
                          <a:sym typeface="+mn-ea"/>
                        </a:rPr>
                        <a:t>&gt;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&lt;&lt;7,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rgbClr val="FF0000"/>
                          </a:solidFill>
                          <a:sym typeface="+mn-ea"/>
                        </a:rPr>
                        <a:t>&lt;&lt;7,</a:t>
                      </a:r>
                      <a:r>
                        <a:rPr lang="zh-CN" altLang="en-US" sz="2400">
                          <a:solidFill>
                            <a:srgbClr val="FF0000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400">
                          <a:solidFill>
                            <a:srgbClr val="FF0000"/>
                          </a:solidFill>
                          <a:sym typeface="+mn-ea"/>
                        </a:rPr>
                        <a:t>&gt;,&lt;7,</a:t>
                      </a:r>
                      <a:r>
                        <a:rPr lang="zh-CN" altLang="en-US" sz="2400">
                          <a:solidFill>
                            <a:srgbClr val="FF0000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400">
                          <a:solidFill>
                            <a:srgbClr val="FF0000"/>
                          </a:solidFill>
                          <a:sym typeface="+mn-ea"/>
                        </a:rPr>
                        <a:t>&gt;&gt;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</a:t>
                      </a:r>
                      <a:endParaRPr lang="zh-CN" altLang="en-US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&lt;8,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,&lt;8,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&lt;&lt;8,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&gt;,&lt;8,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&lt;&lt;9,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&gt;,&lt;9,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&lt;&lt;9,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&gt;,&lt;9,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reduce-shuffle</a:t>
                      </a:r>
                      <a:endParaRPr lang="en-US" altLang="zh-CN" sz="2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归并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6" name="左箭头 15"/>
          <p:cNvSpPr/>
          <p:nvPr/>
        </p:nvSpPr>
        <p:spPr>
          <a:xfrm>
            <a:off x="4064635" y="3157220"/>
            <a:ext cx="454025" cy="5187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41630" y="381635"/>
            <a:ext cx="6744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select </a:t>
            </a:r>
            <a:r>
              <a:rPr lang="zh-CN" altLang="en-US" sz="3600"/>
              <a:t>年龄，籍贯</a:t>
            </a:r>
            <a:r>
              <a:rPr lang="en-US" altLang="zh-CN" sz="3600"/>
              <a:t> from R</a:t>
            </a:r>
            <a:r>
              <a:rPr lang="zh-CN" altLang="en-US" sz="3600"/>
              <a:t>；</a:t>
            </a:r>
            <a:endParaRPr lang="zh-CN" altLang="en-US" sz="3600"/>
          </a:p>
        </p:txBody>
      </p:sp>
      <p:graphicFrame>
        <p:nvGraphicFramePr>
          <p:cNvPr id="5" name="表格 4"/>
          <p:cNvGraphicFramePr/>
          <p:nvPr/>
        </p:nvGraphicFramePr>
        <p:xfrm>
          <a:off x="8903335" y="1580515"/>
          <a:ext cx="3201670" cy="4091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670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zh-CN" altLang="en-US" sz="2800">
                          <a:sym typeface="+mn-ea"/>
                        </a:rPr>
                        <a:t>键，值</a:t>
                      </a:r>
                      <a:r>
                        <a:rPr lang="en-US" altLang="zh-CN" sz="2800">
                          <a:sym typeface="+mn-ea"/>
                        </a:rPr>
                        <a:t>&gt;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&lt;&lt;7,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&gt;,&lt;7,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&lt;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&lt;8,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,&lt;8,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2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&lt;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&lt;9,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,&lt;9,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2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8CBAD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&lt;&lt;7,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&gt;,&lt;7,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2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&lt;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&lt;8,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,&lt;8,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2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&lt;&lt;9,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&gt;,&lt;9,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2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8CBAD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map-shuffle</a:t>
                      </a:r>
                      <a:endParaRPr lang="en-US" altLang="zh-CN" sz="2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000">
                          <a:sym typeface="+mn-ea"/>
                        </a:rPr>
                        <a:t>分区、排序、合并、归并</a:t>
                      </a:r>
                      <a:endParaRPr lang="zh-CN" altLang="en-US" sz="2000"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" name="左箭头 5"/>
          <p:cNvSpPr/>
          <p:nvPr/>
        </p:nvSpPr>
        <p:spPr>
          <a:xfrm>
            <a:off x="4064635" y="2204085"/>
            <a:ext cx="454025" cy="5187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左箭头 7"/>
          <p:cNvSpPr/>
          <p:nvPr/>
        </p:nvSpPr>
        <p:spPr>
          <a:xfrm>
            <a:off x="4064635" y="4166235"/>
            <a:ext cx="454025" cy="5187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/>
          <p:nvPr/>
        </p:nvGraphicFramePr>
        <p:xfrm>
          <a:off x="67310" y="1580515"/>
          <a:ext cx="3930650" cy="3935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650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zh-CN" altLang="en-US" sz="2800">
                          <a:sym typeface="+mn-ea"/>
                        </a:rPr>
                        <a:t>键，值</a:t>
                      </a:r>
                      <a:r>
                        <a:rPr lang="en-US" altLang="zh-CN" sz="2800">
                          <a:sym typeface="+mn-ea"/>
                        </a:rPr>
                        <a:t>&gt;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8616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&lt;&lt;7,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</a:t>
                      </a:r>
                      <a:r>
                        <a:rPr lang="en-US" altLang="zh-CN" sz="2400">
                          <a:solidFill>
                            <a:srgbClr val="FF0000"/>
                          </a:solidFill>
                          <a:sym typeface="+mn-ea"/>
                        </a:rPr>
                        <a:t>&lt;7,</a:t>
                      </a:r>
                      <a:r>
                        <a:rPr lang="zh-CN" altLang="en-US" sz="2400">
                          <a:solidFill>
                            <a:srgbClr val="FF0000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400">
                          <a:solidFill>
                            <a:srgbClr val="FF0000"/>
                          </a:solidFill>
                          <a:sym typeface="+mn-ea"/>
                        </a:rPr>
                        <a:t>&gt;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</a:t>
                      </a:r>
                      <a:endParaRPr lang="zh-CN" altLang="en-US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&lt;8,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,&lt;8,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&lt;&lt;8,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&gt;,&lt;8,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&lt;&lt;9,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&gt;,&lt;9,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&lt;&lt;9,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&gt;,&lt;9,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reduce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cxnSp>
        <p:nvCxnSpPr>
          <p:cNvPr id="21" name="直接箭头连接符 20"/>
          <p:cNvCxnSpPr/>
          <p:nvPr/>
        </p:nvCxnSpPr>
        <p:spPr>
          <a:xfrm flipH="1">
            <a:off x="8457565" y="3455670"/>
            <a:ext cx="491490" cy="769620"/>
          </a:xfrm>
          <a:prstGeom prst="straightConnector1">
            <a:avLst/>
          </a:prstGeom>
          <a:ln w="38100">
            <a:solidFill>
              <a:srgbClr val="FDA6B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 flipV="1">
            <a:off x="8439785" y="4681855"/>
            <a:ext cx="434975" cy="247650"/>
          </a:xfrm>
          <a:prstGeom prst="straightConnector1">
            <a:avLst/>
          </a:prstGeom>
          <a:ln w="38100">
            <a:solidFill>
              <a:srgbClr val="FDA6B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 flipV="1">
            <a:off x="8457565" y="3650615"/>
            <a:ext cx="445135" cy="77851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8449310" y="2999105"/>
            <a:ext cx="408305" cy="24384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>
            <a:off x="8472170" y="2264410"/>
            <a:ext cx="408305" cy="243840"/>
          </a:xfrm>
          <a:prstGeom prst="straightConnector1">
            <a:avLst/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5" idx="1"/>
          </p:cNvCxnSpPr>
          <p:nvPr/>
        </p:nvCxnSpPr>
        <p:spPr>
          <a:xfrm flipH="1" flipV="1">
            <a:off x="8522970" y="2668270"/>
            <a:ext cx="380365" cy="1110615"/>
          </a:xfrm>
          <a:prstGeom prst="straightConnector1">
            <a:avLst/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9077325" y="1026795"/>
            <a:ext cx="28536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假设按</a:t>
            </a:r>
            <a:r>
              <a:rPr lang="zh-CN" altLang="en-US" sz="2800"/>
              <a:t>年龄分区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6" grpId="0" animBg="1"/>
      <p:bldP spid="16" grpId="0" animBg="1"/>
      <p:bldP spid="8" grpId="0" animBg="1"/>
      <p:bldP spid="6" grpId="1" animBg="1"/>
      <p:bldP spid="16" grpId="1" animBg="1"/>
      <p:bldP spid="8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6" name="内容占位符 5"/>
          <p:cNvGraphicFramePr/>
          <p:nvPr>
            <p:ph idx="1"/>
            <p:custDataLst>
              <p:tags r:id="rId1"/>
            </p:custDataLst>
          </p:nvPr>
        </p:nvGraphicFramePr>
        <p:xfrm>
          <a:off x="768350" y="819150"/>
          <a:ext cx="2491105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7220"/>
                <a:gridCol w="937260"/>
                <a:gridCol w="936625"/>
              </a:tblGrid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ID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年龄</a:t>
                      </a:r>
                      <a:endParaRPr lang="zh-CN" altLang="en-US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籍贯</a:t>
                      </a:r>
                      <a:endParaRPr lang="zh-CN" altLang="en-US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广东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B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河南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C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endParaRPr lang="zh-CN" altLang="en-US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D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湖北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E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endParaRPr lang="zh-CN" altLang="en-US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F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河南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1816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关系</a:t>
                      </a:r>
                      <a:r>
                        <a:rPr lang="en-US" altLang="zh-CN" sz="2800"/>
                        <a:t>R</a:t>
                      </a:r>
                      <a:endParaRPr lang="en-US" altLang="zh-CN" sz="2800"/>
                    </a:p>
                  </a:txBody>
                  <a:tcP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280035" y="122555"/>
            <a:ext cx="2963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关系的</a:t>
            </a:r>
            <a:r>
              <a:rPr lang="zh-CN" altLang="en-US" sz="3600"/>
              <a:t>交并差</a:t>
            </a:r>
            <a:endParaRPr lang="zh-CN" altLang="en-US" sz="3600"/>
          </a:p>
        </p:txBody>
      </p:sp>
      <p:graphicFrame>
        <p:nvGraphicFramePr>
          <p:cNvPr id="8" name="表格 7"/>
          <p:cNvGraphicFramePr/>
          <p:nvPr/>
        </p:nvGraphicFramePr>
        <p:xfrm>
          <a:off x="3983990" y="819150"/>
          <a:ext cx="2855595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5595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zh-CN" altLang="en-US" sz="2800">
                          <a:sym typeface="+mn-ea"/>
                        </a:rPr>
                        <a:t>键，值</a:t>
                      </a:r>
                      <a:r>
                        <a:rPr lang="en-US" altLang="zh-CN" sz="2800">
                          <a:sym typeface="+mn-ea"/>
                        </a:rPr>
                        <a:t>&gt;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&lt;1, &lt;A,8,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广东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&lt;2, &lt;B,7,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河南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&lt;3, &lt;C,9,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&lt;4, &lt;D,9,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&lt;5, &lt;E,8,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&lt;6, &lt;F,7,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map</a:t>
                      </a:r>
                      <a:r>
                        <a:rPr lang="zh-CN" altLang="en-US" sz="2800">
                          <a:sym typeface="+mn-ea"/>
                        </a:rPr>
                        <a:t>输入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9" name="左大括号 8"/>
          <p:cNvSpPr/>
          <p:nvPr/>
        </p:nvSpPr>
        <p:spPr>
          <a:xfrm>
            <a:off x="417830" y="1418590"/>
            <a:ext cx="264160" cy="142240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-120650" y="1653540"/>
            <a:ext cx="5594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分片</a:t>
            </a:r>
            <a:endParaRPr lang="zh-CN" altLang="en-US" sz="2800"/>
          </a:p>
        </p:txBody>
      </p:sp>
      <p:sp>
        <p:nvSpPr>
          <p:cNvPr id="11" name="左大括号 10"/>
          <p:cNvSpPr/>
          <p:nvPr/>
        </p:nvSpPr>
        <p:spPr>
          <a:xfrm>
            <a:off x="417830" y="2967990"/>
            <a:ext cx="264160" cy="142240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-120650" y="3202940"/>
            <a:ext cx="5594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分片</a:t>
            </a:r>
            <a:endParaRPr lang="zh-CN" altLang="en-US" sz="2800"/>
          </a:p>
        </p:txBody>
      </p:sp>
      <p:graphicFrame>
        <p:nvGraphicFramePr>
          <p:cNvPr id="13" name="表格 12"/>
          <p:cNvGraphicFramePr/>
          <p:nvPr/>
        </p:nvGraphicFramePr>
        <p:xfrm>
          <a:off x="7459980" y="819150"/>
          <a:ext cx="4403725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3725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zh-CN" altLang="en-US" sz="2800">
                          <a:sym typeface="+mn-ea"/>
                        </a:rPr>
                        <a:t>键，值</a:t>
                      </a:r>
                      <a:r>
                        <a:rPr lang="en-US" altLang="zh-CN" sz="2800">
                          <a:sym typeface="+mn-ea"/>
                        </a:rPr>
                        <a:t>&gt;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&lt;&lt;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A,8,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广东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&gt;, R&gt;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&lt;&lt;B,7,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&gt;, R&gt;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&lt;&lt;C,9,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&gt;, R&gt;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&lt;&lt;D,9,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&gt;, R&gt;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&lt;&lt;E,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8,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&gt;, R&gt;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&lt;&lt;F,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7,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&gt;, R&gt;</a:t>
                      </a:r>
                      <a:endParaRPr lang="en-US" altLang="zh-CN" sz="28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map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2" name="右箭头 1"/>
          <p:cNvSpPr/>
          <p:nvPr/>
        </p:nvSpPr>
        <p:spPr>
          <a:xfrm>
            <a:off x="3372485" y="1867535"/>
            <a:ext cx="490855" cy="4737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3376295" y="3442335"/>
            <a:ext cx="490855" cy="4737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右箭头 17"/>
          <p:cNvSpPr/>
          <p:nvPr/>
        </p:nvSpPr>
        <p:spPr>
          <a:xfrm>
            <a:off x="6904355" y="1867535"/>
            <a:ext cx="490855" cy="4737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右箭头 18"/>
          <p:cNvSpPr/>
          <p:nvPr/>
        </p:nvSpPr>
        <p:spPr>
          <a:xfrm>
            <a:off x="6908165" y="3442335"/>
            <a:ext cx="490855" cy="4737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767715" y="5083175"/>
          <a:ext cx="247586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410"/>
                <a:gridCol w="931545"/>
                <a:gridCol w="930910"/>
              </a:tblGrid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 b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en-US" altLang="zh-CN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 b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altLang="zh-CN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 b="0">
                          <a:solidFill>
                            <a:schemeClr val="tx1"/>
                          </a:solidFill>
                        </a:rPr>
                        <a:t>广东</a:t>
                      </a:r>
                      <a:endParaRPr lang="zh-CN" altLang="en-US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G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青海</a:t>
                      </a:r>
                      <a:endParaRPr lang="zh-CN" altLang="en-US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1816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800"/>
                        <a:t>关系</a:t>
                      </a:r>
                      <a:r>
                        <a:rPr lang="en-US" altLang="zh-CN" sz="2800"/>
                        <a:t>S</a:t>
                      </a:r>
                      <a:endParaRPr lang="en-US" altLang="zh-CN" sz="2800"/>
                    </a:p>
                  </a:txBody>
                  <a:tcPr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15" name="左大括号 14"/>
          <p:cNvSpPr/>
          <p:nvPr/>
        </p:nvSpPr>
        <p:spPr>
          <a:xfrm>
            <a:off x="417830" y="5087620"/>
            <a:ext cx="264160" cy="1097915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-76200" y="5160010"/>
            <a:ext cx="5594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分片</a:t>
            </a:r>
            <a:endParaRPr lang="zh-CN" altLang="en-US" sz="2800"/>
          </a:p>
        </p:txBody>
      </p:sp>
      <p:graphicFrame>
        <p:nvGraphicFramePr>
          <p:cNvPr id="20" name="表格 19"/>
          <p:cNvGraphicFramePr/>
          <p:nvPr/>
        </p:nvGraphicFramePr>
        <p:xfrm>
          <a:off x="3983990" y="5087620"/>
          <a:ext cx="2855595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5595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 b="0">
                          <a:solidFill>
                            <a:schemeClr val="tx1"/>
                          </a:solidFill>
                        </a:rPr>
                        <a:t>&lt;1, &lt;A,8,</a:t>
                      </a:r>
                      <a:r>
                        <a:rPr lang="zh-CN" altLang="en-US" sz="2800" b="0">
                          <a:solidFill>
                            <a:schemeClr val="tx1"/>
                          </a:solidFill>
                        </a:rPr>
                        <a:t>广东</a:t>
                      </a:r>
                      <a:r>
                        <a:rPr lang="en-US" altLang="zh-CN" sz="2800" b="0">
                          <a:solidFill>
                            <a:schemeClr val="tx1"/>
                          </a:solidFill>
                        </a:rPr>
                        <a:t>&gt;&gt;</a:t>
                      </a:r>
                      <a:endParaRPr lang="en-US" altLang="zh-CN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&lt;2, &lt;G,7,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青海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&gt;&gt;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1" name="右箭头 20"/>
          <p:cNvSpPr/>
          <p:nvPr/>
        </p:nvSpPr>
        <p:spPr>
          <a:xfrm>
            <a:off x="3368040" y="5368925"/>
            <a:ext cx="490855" cy="4737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3" name="表格 22"/>
          <p:cNvGraphicFramePr/>
          <p:nvPr/>
        </p:nvGraphicFramePr>
        <p:xfrm>
          <a:off x="7459980" y="5142230"/>
          <a:ext cx="4403725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3725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 b="0">
                          <a:solidFill>
                            <a:schemeClr val="tx1"/>
                          </a:solidFill>
                        </a:rPr>
                        <a:t>&lt;&lt;A,8,</a:t>
                      </a:r>
                      <a:r>
                        <a:rPr lang="zh-CN" altLang="en-US" sz="2800" b="0">
                          <a:solidFill>
                            <a:schemeClr val="tx1"/>
                          </a:solidFill>
                        </a:rPr>
                        <a:t>广东</a:t>
                      </a:r>
                      <a:r>
                        <a:rPr lang="en-US" altLang="zh-CN" sz="2800" b="0">
                          <a:solidFill>
                            <a:schemeClr val="tx1"/>
                          </a:solidFill>
                        </a:rPr>
                        <a:t>&gt;, S&gt;</a:t>
                      </a:r>
                      <a:endParaRPr lang="en-US" altLang="zh-CN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&lt;&lt;G,7,</a:t>
                      </a:r>
                      <a:r>
                        <a:rPr lang="zh-CN" altLang="en-US" sz="2800">
                          <a:solidFill>
                            <a:schemeClr val="tx1"/>
                          </a:solidFill>
                        </a:rPr>
                        <a:t>青海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</a:rPr>
                        <a:t>&gt;, S&gt;</a:t>
                      </a:r>
                      <a:endParaRPr lang="en-US" altLang="zh-CN" sz="28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4" name="右箭头 3"/>
          <p:cNvSpPr/>
          <p:nvPr/>
        </p:nvSpPr>
        <p:spPr>
          <a:xfrm>
            <a:off x="6904355" y="5423535"/>
            <a:ext cx="490855" cy="4737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5" grpId="1" animBg="1"/>
      <p:bldP spid="16" grpId="1"/>
      <p:bldP spid="21" grpId="0" animBg="1"/>
      <p:bldP spid="21" grpId="1" animBg="1"/>
      <p:bldP spid="19" grpId="0" animBg="1"/>
      <p:bldP spid="4" grpId="0" animBg="1"/>
      <p:bldP spid="18" grpId="0" animBg="1"/>
      <p:bldP spid="19" grpId="1" animBg="1"/>
      <p:bldP spid="4" grpId="1" animBg="1"/>
      <p:bldP spid="18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14" name="表格 13"/>
          <p:cNvGraphicFramePr/>
          <p:nvPr>
            <p:custDataLst>
              <p:tags r:id="rId1"/>
            </p:custDataLst>
          </p:nvPr>
        </p:nvGraphicFramePr>
        <p:xfrm>
          <a:off x="4203065" y="1156335"/>
          <a:ext cx="3930650" cy="553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0650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zh-CN" altLang="en-US" sz="2800">
                          <a:sym typeface="+mn-ea"/>
                        </a:rPr>
                        <a:t>键，值</a:t>
                      </a:r>
                      <a:r>
                        <a:rPr lang="en-US" altLang="zh-CN" sz="2800">
                          <a:sym typeface="+mn-ea"/>
                        </a:rPr>
                        <a:t>&gt;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&lt;&lt;B,7,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R&gt;</a:t>
                      </a:r>
                      <a:endParaRPr lang="zh-CN" altLang="en-US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&lt;&lt;F,7,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R&gt;</a:t>
                      </a:r>
                      <a:endParaRPr lang="zh-CN" altLang="en-US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&lt;&lt;G,7,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青海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S&gt;</a:t>
                      </a:r>
                      <a:endParaRPr lang="zh-CN" altLang="en-US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&lt;&lt;A,8,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&lt;R,S&gt;&gt;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&lt;&lt;E,8,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</a:t>
                      </a:r>
                      <a:r>
                        <a:rPr lang="en-US" sz="2400">
                          <a:solidFill>
                            <a:schemeClr val="tx1"/>
                          </a:solidFill>
                          <a:sym typeface="+mn-ea"/>
                        </a:rPr>
                        <a:t>R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&lt;&lt;C,9,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R&gt;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&lt;&lt;D,9,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R&gt;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9448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reduce-shuffle</a:t>
                      </a:r>
                      <a:endParaRPr lang="en-US" altLang="zh-CN" sz="2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归并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6" name="左箭头 15"/>
          <p:cNvSpPr/>
          <p:nvPr/>
        </p:nvSpPr>
        <p:spPr>
          <a:xfrm>
            <a:off x="3712845" y="3406140"/>
            <a:ext cx="454025" cy="5187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5" name="表格 4"/>
          <p:cNvGraphicFramePr/>
          <p:nvPr/>
        </p:nvGraphicFramePr>
        <p:xfrm>
          <a:off x="8911590" y="1156335"/>
          <a:ext cx="3026410" cy="439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6410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zh-CN" altLang="en-US" sz="2800">
                          <a:sym typeface="+mn-ea"/>
                        </a:rPr>
                        <a:t>键，值</a:t>
                      </a:r>
                      <a:r>
                        <a:rPr lang="en-US" altLang="zh-CN" sz="2800">
                          <a:sym typeface="+mn-ea"/>
                        </a:rPr>
                        <a:t>&gt;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&lt;&lt;B,7,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R&gt;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&lt;&lt;A,8,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R&gt;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&lt;&lt;C,9,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R&gt;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8CBAD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&lt;&lt;F,7,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R&gt;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&lt;&lt;E,8,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R&gt;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&lt;&lt;D,9,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R&gt;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8CBAD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map-shuffle</a:t>
                      </a:r>
                      <a:endParaRPr lang="en-US" altLang="zh-CN" sz="2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000">
                          <a:sym typeface="+mn-ea"/>
                        </a:rPr>
                        <a:t>分区、排序、合并、归并</a:t>
                      </a:r>
                      <a:endParaRPr lang="zh-CN" altLang="en-US" sz="2000"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" name="左箭头 5"/>
          <p:cNvSpPr/>
          <p:nvPr/>
        </p:nvSpPr>
        <p:spPr>
          <a:xfrm>
            <a:off x="3712845" y="2243455"/>
            <a:ext cx="454025" cy="5187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左箭头 7"/>
          <p:cNvSpPr/>
          <p:nvPr/>
        </p:nvSpPr>
        <p:spPr>
          <a:xfrm>
            <a:off x="3712845" y="4493895"/>
            <a:ext cx="454025" cy="5187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8169910" y="2983230"/>
            <a:ext cx="667385" cy="1547495"/>
          </a:xfrm>
          <a:prstGeom prst="straightConnector1">
            <a:avLst/>
          </a:prstGeom>
          <a:ln w="38100">
            <a:solidFill>
              <a:srgbClr val="FDA6B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8161020" y="4493895"/>
            <a:ext cx="694690" cy="518795"/>
          </a:xfrm>
          <a:prstGeom prst="straightConnector1">
            <a:avLst/>
          </a:prstGeom>
          <a:ln w="38100">
            <a:solidFill>
              <a:srgbClr val="FDA6B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 flipV="1">
            <a:off x="8197850" y="3585845"/>
            <a:ext cx="667385" cy="2770505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8188325" y="2399665"/>
            <a:ext cx="658495" cy="1093470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8216265" y="2446020"/>
            <a:ext cx="648970" cy="1065530"/>
          </a:xfrm>
          <a:prstGeom prst="straightConnector1">
            <a:avLst/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8143875" y="1954530"/>
            <a:ext cx="675005" cy="18415"/>
          </a:xfrm>
          <a:prstGeom prst="straightConnector1">
            <a:avLst/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8967470" y="702945"/>
            <a:ext cx="27400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假设按</a:t>
            </a:r>
            <a:r>
              <a:rPr lang="zh-CN" altLang="en-US" sz="2800"/>
              <a:t>年龄分区</a:t>
            </a:r>
            <a:endParaRPr lang="zh-CN" altLang="en-US" sz="2800"/>
          </a:p>
        </p:txBody>
      </p:sp>
      <p:sp>
        <p:nvSpPr>
          <p:cNvPr id="7" name="文本框 6"/>
          <p:cNvSpPr txBox="1"/>
          <p:nvPr/>
        </p:nvSpPr>
        <p:spPr>
          <a:xfrm>
            <a:off x="280035" y="122555"/>
            <a:ext cx="2963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关系的</a:t>
            </a:r>
            <a:r>
              <a:rPr lang="zh-CN" altLang="en-US" sz="3600"/>
              <a:t>交并差</a:t>
            </a:r>
            <a:endParaRPr lang="zh-CN" altLang="en-US" sz="3600"/>
          </a:p>
        </p:txBody>
      </p:sp>
      <p:graphicFrame>
        <p:nvGraphicFramePr>
          <p:cNvPr id="4" name="表格 3"/>
          <p:cNvGraphicFramePr/>
          <p:nvPr/>
        </p:nvGraphicFramePr>
        <p:xfrm>
          <a:off x="8912225" y="5553075"/>
          <a:ext cx="3025775" cy="1027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775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 b="0">
                          <a:solidFill>
                            <a:schemeClr val="tx1"/>
                          </a:solidFill>
                          <a:sym typeface="+mn-ea"/>
                        </a:rPr>
                        <a:t>&lt;&lt;G,7,</a:t>
                      </a:r>
                      <a:r>
                        <a:rPr lang="zh-CN" altLang="en-US" sz="2200" b="0">
                          <a:solidFill>
                            <a:schemeClr val="tx1"/>
                          </a:solidFill>
                          <a:sym typeface="+mn-ea"/>
                        </a:rPr>
                        <a:t>青海</a:t>
                      </a:r>
                      <a:r>
                        <a:rPr lang="en-US" altLang="zh-CN" sz="2200" b="0">
                          <a:solidFill>
                            <a:schemeClr val="tx1"/>
                          </a:solidFill>
                          <a:sym typeface="+mn-ea"/>
                        </a:rPr>
                        <a:t>&gt;, S&gt;</a:t>
                      </a:r>
                      <a:endParaRPr lang="en-US" altLang="zh-CN" sz="2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E7E6E6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&lt;&lt;A,8,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&gt;, S&gt;</a:t>
                      </a:r>
                      <a:endParaRPr lang="en-US" altLang="zh-CN" sz="22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cxnSp>
        <p:nvCxnSpPr>
          <p:cNvPr id="12" name="直接箭头连接符 11"/>
          <p:cNvCxnSpPr/>
          <p:nvPr/>
        </p:nvCxnSpPr>
        <p:spPr>
          <a:xfrm flipH="1" flipV="1">
            <a:off x="8188325" y="2908935"/>
            <a:ext cx="674370" cy="2889250"/>
          </a:xfrm>
          <a:prstGeom prst="straightConnector1">
            <a:avLst/>
          </a:prstGeom>
          <a:ln w="3810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endCxn id="14" idx="3"/>
          </p:cNvCxnSpPr>
          <p:nvPr/>
        </p:nvCxnSpPr>
        <p:spPr>
          <a:xfrm flipH="1" flipV="1">
            <a:off x="8133715" y="3924935"/>
            <a:ext cx="731520" cy="57785"/>
          </a:xfrm>
          <a:prstGeom prst="straightConnector1">
            <a:avLst/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表格 16"/>
          <p:cNvGraphicFramePr/>
          <p:nvPr/>
        </p:nvGraphicFramePr>
        <p:xfrm>
          <a:off x="106045" y="1150620"/>
          <a:ext cx="3559175" cy="503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9175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zh-CN" altLang="en-US" sz="2800">
                          <a:sym typeface="+mn-ea"/>
                        </a:rPr>
                        <a:t>键，值</a:t>
                      </a:r>
                      <a:r>
                        <a:rPr lang="en-US" altLang="zh-CN" sz="2800">
                          <a:sym typeface="+mn-ea"/>
                        </a:rPr>
                        <a:t>&gt;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15379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&lt;&lt;G,7,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青海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&gt;, &lt;G,7,</a:t>
                      </a:r>
                      <a:r>
                        <a:rPr lang="zh-CN" altLang="en-US" sz="2200">
                          <a:solidFill>
                            <a:schemeClr val="tx1"/>
                          </a:solidFill>
                          <a:sym typeface="+mn-ea"/>
                        </a:rPr>
                        <a:t>青海</a:t>
                      </a:r>
                      <a:r>
                        <a:rPr lang="en-US" altLang="zh-CN" sz="2200">
                          <a:solidFill>
                            <a:schemeClr val="tx1"/>
                          </a:solidFill>
                          <a:sym typeface="+mn-ea"/>
                        </a:rPr>
                        <a:t>&gt;&gt;</a:t>
                      </a:r>
                      <a:endParaRPr lang="en-US" altLang="zh-CN" sz="22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100965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10287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reduce</a:t>
                      </a:r>
                      <a:endParaRPr lang="en-US" altLang="zh-CN" sz="2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假设求</a:t>
                      </a:r>
                      <a:r>
                        <a:rPr lang="en-US" altLang="zh-CN" sz="2800">
                          <a:sym typeface="+mn-ea"/>
                        </a:rPr>
                        <a:t>S-R</a:t>
                      </a:r>
                      <a:endParaRPr lang="en-US" altLang="zh-CN" sz="2800"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5" grpId="1"/>
      <p:bldP spid="6" grpId="0" animBg="1"/>
      <p:bldP spid="16" grpId="0" animBg="1"/>
      <p:bldP spid="8" grpId="0" animBg="1"/>
      <p:bldP spid="6" grpId="1" animBg="1"/>
      <p:bldP spid="16" grpId="1" animBg="1"/>
      <p:bldP spid="8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254000" y="706755"/>
                <a:ext cx="7473950" cy="21431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00"/>
                    </a:solidFill>
                  </a14:hiddenFill>
                </a:ext>
              </a:extLst>
            </p:spPr>
            <p:txBody>
              <a:bodyPr wrap="square" rtlCol="0" anchor="ctr" anchorCtr="0">
                <a:noAutofit/>
              </a:bodyPr>
              <a:p>
                <a:pPr lvl="0" algn="l">
                  <a:buNone/>
                </a:pPr>
                <a:r>
                  <a:rPr lang="zh-CN" altLang="en-US" sz="260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用</a:t>
                </a:r>
                <a:r>
                  <a:rPr lang="en-US" altLang="zh-CN" sz="260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MapReduce</a:t>
                </a:r>
                <a:r>
                  <a:rPr lang="zh-CN" altLang="en-US" sz="260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求取三个关系</a:t>
                </a:r>
                <a:r>
                  <a:rPr lang="en-US" altLang="zh-CN" sz="260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R</a:t>
                </a:r>
                <a:r>
                  <a:rPr lang="zh-CN" altLang="en-US" sz="260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、</a:t>
                </a:r>
                <a:r>
                  <a:rPr lang="en-US" altLang="zh-CN" sz="260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S</a:t>
                </a:r>
                <a:r>
                  <a:rPr lang="zh-CN" altLang="en-US" sz="260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、</a:t>
                </a:r>
                <a:r>
                  <a:rPr lang="en-US" altLang="zh-CN" sz="260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T</a:t>
                </a:r>
                <a:r>
                  <a:rPr lang="zh-CN" altLang="en-US" sz="260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的运算结果时，产生的中间结果如右图所示，在求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∪</m:t>
                        </m:r>
                        <m: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∩</m:t>
                    </m:r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en-US" sz="260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的</a:t>
                </a:r>
                <a:r>
                  <a:rPr lang="en-US" altLang="zh-CN" sz="260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Reduce</a:t>
                </a:r>
                <a:r>
                  <a:rPr lang="zh-CN" altLang="en-US" sz="260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结果，用到的是哪几行（）。</a:t>
                </a:r>
                <a:endPara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254000" y="706755"/>
                <a:ext cx="7473950" cy="21431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00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7F7F7F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2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2" name="表格 21"/>
          <p:cNvGraphicFramePr/>
          <p:nvPr>
            <p:custDataLst>
              <p:tags r:id="rId13"/>
            </p:custDataLst>
          </p:nvPr>
        </p:nvGraphicFramePr>
        <p:xfrm>
          <a:off x="7891145" y="1225550"/>
          <a:ext cx="4069715" cy="5027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605"/>
                <a:gridCol w="3420110"/>
              </a:tblGrid>
              <a:tr h="51816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zh-CN" altLang="en-US" sz="2800">
                          <a:sym typeface="+mn-ea"/>
                        </a:rPr>
                        <a:t>键，值</a:t>
                      </a:r>
                      <a:r>
                        <a:rPr lang="en-US" altLang="zh-CN" sz="2800">
                          <a:sym typeface="+mn-ea"/>
                        </a:rPr>
                        <a:t>&gt;</a:t>
                      </a:r>
                      <a:endParaRPr lang="en-US" altLang="zh-CN" sz="2800"/>
                    </a:p>
                  </a:txBody>
                  <a:tcPr>
                    <a:solidFill>
                      <a:schemeClr val="tx1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1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&lt;&lt;B,7,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R&gt;</a:t>
                      </a:r>
                      <a:endParaRPr lang="zh-CN" altLang="en-US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2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&lt;&lt;F,7,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河南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S&gt;</a:t>
                      </a:r>
                      <a:endParaRPr lang="zh-CN" altLang="en-US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3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&lt;&lt;G,7,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青海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&lt;R,S&gt;&gt;</a:t>
                      </a:r>
                      <a:endParaRPr lang="zh-CN" altLang="en-US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&lt;&lt;A,8,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T&gt;</a:t>
                      </a:r>
                      <a:endParaRPr lang="en-US" altLang="zh-CN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5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&lt;&lt;E,8,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江西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&lt;R,T&gt;&gt;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6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&lt;&lt;C,9,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广东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&lt;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S,T&gt;&gt;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092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7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&lt;&lt;D,9,</a:t>
                      </a:r>
                      <a:r>
                        <a:rPr lang="zh-CN" altLang="en-US" sz="2400">
                          <a:solidFill>
                            <a:schemeClr val="tx1"/>
                          </a:solidFill>
                          <a:sym typeface="+mn-ea"/>
                        </a:rPr>
                        <a:t>湖北</a:t>
                      </a:r>
                      <a:r>
                        <a:rPr lang="en-US" altLang="zh-CN" sz="2400">
                          <a:solidFill>
                            <a:schemeClr val="tx1"/>
                          </a:solidFill>
                          <a:sym typeface="+mn-ea"/>
                        </a:rPr>
                        <a:t>&gt;, &lt;R,T,S&gt;&gt;</a:t>
                      </a:r>
                      <a:endParaRPr lang="en-US" altLang="zh-CN" sz="240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1816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800">
                        <a:sym typeface="+mn-ea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reduce-shuffle</a:t>
                      </a:r>
                      <a:endParaRPr lang="en-US" altLang="zh-CN" sz="28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归并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pSp>
        <p:nvGrpSpPr>
          <p:cNvPr id="20" name="组合 19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6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5" name="图片 4" descr="tmp78B0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" name="椭圆 1"/>
          <p:cNvSpPr>
            <a:spLocks noChangeAspect="1"/>
          </p:cNvSpPr>
          <p:nvPr>
            <p:custDataLst>
              <p:tags r:id="rId21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sym typeface="+mn-ea"/>
              </a:rPr>
              <a:t>7.4.1  </a:t>
            </a:r>
            <a:r>
              <a:rPr lang="zh-CN" altLang="en-US" dirty="0">
                <a:sym typeface="+mn-ea"/>
              </a:rPr>
              <a:t>在关系代数运算中</a:t>
            </a:r>
            <a:endParaRPr lang="zh-CN" altLang="en-US" dirty="0"/>
          </a:p>
        </p:txBody>
      </p:sp>
      <p:sp>
        <p:nvSpPr>
          <p:cNvPr id="5124" name="Rectangle 3"/>
          <p:cNvSpPr>
            <a:spLocks noGrp="1"/>
          </p:cNvSpPr>
          <p:nvPr>
            <p:ph type="body" idx="4294967295"/>
          </p:nvPr>
        </p:nvSpPr>
        <p:spPr>
          <a:xfrm>
            <a:off x="1221740" y="2021840"/>
            <a:ext cx="10322560" cy="4565650"/>
          </a:xfrm>
        </p:spPr>
        <p:txBody>
          <a:bodyPr vert="horz" wrap="square" lIns="91440" tIns="45720" rIns="91440" bIns="45720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假设有关系</a:t>
            </a:r>
            <a:r>
              <a:rPr lang="en-US" altLang="zh-CN" sz="2400" dirty="0"/>
              <a:t>R(A,B)</a:t>
            </a:r>
            <a:r>
              <a:rPr lang="zh-CN" altLang="en-US" sz="2400" dirty="0"/>
              <a:t>和</a:t>
            </a:r>
            <a:r>
              <a:rPr lang="en-US" altLang="zh-CN" sz="2400" dirty="0"/>
              <a:t>S(B,C)</a:t>
            </a:r>
            <a:r>
              <a:rPr lang="zh-CN" altLang="en-US" sz="2400" dirty="0"/>
              <a:t>，对二者进行自然连接操作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Map</a:t>
            </a:r>
            <a:r>
              <a:rPr lang="zh-CN" altLang="en-US" sz="2400" dirty="0"/>
              <a:t>过程：</a:t>
            </a:r>
            <a:r>
              <a:rPr lang="en-US" altLang="zh-CN" sz="2400" dirty="0"/>
              <a:t>R</a:t>
            </a:r>
            <a:r>
              <a:rPr lang="zh-CN" altLang="en-US" sz="2400" dirty="0"/>
              <a:t>的每个元组</a:t>
            </a:r>
            <a:r>
              <a:rPr lang="en-US" altLang="zh-CN" sz="2400" dirty="0"/>
              <a:t>&lt;a,b&gt;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altLang="zh-CN" sz="2400" dirty="0"/>
              <a:t>&lt;b, &lt;R,a&gt;&gt;</a:t>
            </a:r>
            <a:endParaRPr lang="zh-CN" altLang="en-US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                     S</a:t>
            </a:r>
            <a:r>
              <a:rPr lang="zh-CN" altLang="en-US" sz="2400" dirty="0"/>
              <a:t>的每个元组</a:t>
            </a:r>
            <a:r>
              <a:rPr lang="en-US" altLang="zh-CN" sz="2400" dirty="0"/>
              <a:t>&lt;b,c&gt;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→</a:t>
            </a:r>
            <a:r>
              <a:rPr lang="en-US" altLang="zh-CN" sz="2400" dirty="0"/>
              <a:t>&lt;b, &lt;S,c&gt;&gt;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所有具有相同</a:t>
            </a:r>
            <a:r>
              <a:rPr lang="en-US" altLang="zh-CN" sz="2400" dirty="0"/>
              <a:t>B</a:t>
            </a:r>
            <a:r>
              <a:rPr lang="zh-CN" altLang="en-US" sz="2400" dirty="0"/>
              <a:t>值的元组被发送到同一个</a:t>
            </a:r>
            <a:r>
              <a:rPr lang="en-US" altLang="zh-CN" sz="2400" dirty="0"/>
              <a:t>Reduce</a:t>
            </a:r>
            <a:r>
              <a:rPr lang="zh-CN" altLang="en-US" sz="2400" dirty="0"/>
              <a:t>进程中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Reduce</a:t>
            </a:r>
            <a:r>
              <a:rPr lang="zh-CN" altLang="en-US" sz="2400" dirty="0"/>
              <a:t>任务：把来自关系</a:t>
            </a:r>
            <a:r>
              <a:rPr lang="en-US" altLang="zh-CN" sz="2400" dirty="0"/>
              <a:t>R</a:t>
            </a:r>
            <a:r>
              <a:rPr lang="zh-CN" altLang="en-US" sz="2400" dirty="0"/>
              <a:t>和</a:t>
            </a:r>
            <a:r>
              <a:rPr lang="en-US" altLang="zh-CN" sz="2400" dirty="0"/>
              <a:t>S</a:t>
            </a:r>
            <a:r>
              <a:rPr lang="zh-CN" altLang="en-US" sz="2400" dirty="0"/>
              <a:t>的、具有相同属性</a:t>
            </a:r>
            <a:r>
              <a:rPr lang="en-US" altLang="zh-CN" sz="2400" dirty="0"/>
              <a:t>B</a:t>
            </a:r>
            <a:r>
              <a:rPr lang="zh-CN" altLang="en-US" sz="2400" dirty="0"/>
              <a:t>值的元组进行合并，得</a:t>
            </a:r>
            <a:r>
              <a:rPr lang="en-US" altLang="zh-CN" sz="2400" dirty="0">
                <a:highlight>
                  <a:srgbClr val="00FFFF"/>
                </a:highlight>
              </a:rPr>
              <a:t>&lt;</a:t>
            </a:r>
            <a:r>
              <a:rPr lang="en-US" altLang="zh-CN" sz="2400" dirty="0"/>
              <a:t>b, </a:t>
            </a:r>
            <a:r>
              <a:rPr lang="en-US" altLang="zh-CN" sz="2400" dirty="0">
                <a:highlight>
                  <a:srgbClr val="00FF00"/>
                </a:highlight>
              </a:rPr>
              <a:t>&lt;</a:t>
            </a:r>
            <a:r>
              <a:rPr lang="en-US" altLang="zh-CN" sz="2400" dirty="0"/>
              <a:t> </a:t>
            </a:r>
            <a:r>
              <a:rPr lang="en-US" altLang="zh-CN" sz="2400" dirty="0"/>
              <a:t>&lt;R,a&gt;, &lt;S,c&gt;, &lt;S,c2&gt; </a:t>
            </a:r>
            <a:r>
              <a:rPr lang="en-US" altLang="zh-CN" sz="2400" dirty="0">
                <a:highlight>
                  <a:srgbClr val="00FF00"/>
                </a:highlight>
              </a:rPr>
              <a:t>&gt; </a:t>
            </a:r>
            <a:r>
              <a:rPr lang="en-US" altLang="zh-CN" sz="2400" dirty="0">
                <a:highlight>
                  <a:srgbClr val="00FFFF"/>
                </a:highlight>
              </a:rPr>
              <a:t>&gt;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Reduce</a:t>
            </a:r>
            <a:r>
              <a:rPr lang="zh-CN" altLang="en-US" sz="2400" dirty="0"/>
              <a:t>输出连接后的元组</a:t>
            </a:r>
            <a:r>
              <a:rPr lang="en-US" altLang="zh-CN" sz="2400" dirty="0"/>
              <a:t>&lt;a,b,c&gt;</a:t>
            </a:r>
            <a:r>
              <a:rPr lang="zh-CN" altLang="en-US" sz="2400" dirty="0"/>
              <a:t>，</a:t>
            </a:r>
            <a:r>
              <a:rPr lang="en-US" altLang="zh-CN" sz="2400" dirty="0">
                <a:sym typeface="+mn-ea"/>
              </a:rPr>
              <a:t>&lt;a,b,c2&gt;</a:t>
            </a:r>
            <a:r>
              <a:rPr lang="zh-CN" altLang="en-US" sz="2400" dirty="0"/>
              <a:t>写到一个单独的输出文件中</a:t>
            </a:r>
            <a:endParaRPr lang="zh-CN" altLang="en-US" sz="2400" dirty="0"/>
          </a:p>
        </p:txBody>
      </p:sp>
      <p:sp>
        <p:nvSpPr>
          <p:cNvPr id="5125" name="Rectangle 4"/>
          <p:cNvSpPr/>
          <p:nvPr/>
        </p:nvSpPr>
        <p:spPr>
          <a:xfrm>
            <a:off x="838200" y="1439387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r>
              <a:rPr lang="zh-CN" altLang="en-US" sz="2800" b="1" dirty="0">
                <a:latin typeface="Arial" panose="020B0604020202020204" pitchFamily="34" charset="0"/>
              </a:rPr>
              <a:t>自然连接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3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635" y="579755"/>
            <a:ext cx="9025890" cy="611060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5" name="Rectangle 4"/>
          <p:cNvSpPr/>
          <p:nvPr/>
        </p:nvSpPr>
        <p:spPr>
          <a:xfrm>
            <a:off x="133350" y="163037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r>
              <a:rPr lang="zh-CN" altLang="en-US" sz="2800" b="1" dirty="0">
                <a:latin typeface="Arial" panose="020B0604020202020204" pitchFamily="34" charset="0"/>
              </a:rPr>
              <a:t>自然连接</a:t>
            </a:r>
            <a:endParaRPr lang="zh-CN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3" name="圆角矩形标注 2"/>
          <p:cNvSpPr/>
          <p:nvPr/>
        </p:nvSpPr>
        <p:spPr>
          <a:xfrm>
            <a:off x="4552950" y="163195"/>
            <a:ext cx="2067560" cy="685800"/>
          </a:xfrm>
          <a:prstGeom prst="wedgeRoundRectCallout">
            <a:avLst>
              <a:gd name="adj1" fmla="val -13667"/>
              <a:gd name="adj2" fmla="val 79166"/>
              <a:gd name="adj3" fmla="val 16667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2800"/>
              <a:t>待连接的列</a:t>
            </a:r>
            <a:endParaRPr lang="zh-CN" altLang="en-US" sz="2800"/>
          </a:p>
        </p:txBody>
      </p:sp>
      <p:sp>
        <p:nvSpPr>
          <p:cNvPr id="5" name="云形标注 4"/>
          <p:cNvSpPr/>
          <p:nvPr/>
        </p:nvSpPr>
        <p:spPr>
          <a:xfrm>
            <a:off x="7782560" y="762000"/>
            <a:ext cx="3990340" cy="1952625"/>
          </a:xfrm>
          <a:prstGeom prst="cloudCallout">
            <a:avLst>
              <a:gd name="adj1" fmla="val -50429"/>
              <a:gd name="adj2" fmla="val 72243"/>
            </a:avLst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2800"/>
              <a:t>Shuffle</a:t>
            </a:r>
            <a:r>
              <a:rPr lang="zh-CN" altLang="en-US" sz="2800"/>
              <a:t>的结果是什么？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5" grpId="0" animBg="1"/>
      <p:bldP spid="5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sym typeface="+mn-ea"/>
              </a:rPr>
              <a:t>7.4.2  </a:t>
            </a:r>
            <a:r>
              <a:rPr lang="zh-CN" altLang="en-US" dirty="0">
                <a:sym typeface="+mn-ea"/>
              </a:rPr>
              <a:t>分组与聚合运算</a:t>
            </a:r>
            <a:endParaRPr lang="zh-CN" altLang="en-US" dirty="0">
              <a:sym typeface="+mn-ea"/>
            </a:endParaRPr>
          </a:p>
        </p:txBody>
      </p:sp>
      <p:sp>
        <p:nvSpPr>
          <p:cNvPr id="5125" name="Rectangle 4"/>
          <p:cNvSpPr/>
          <p:nvPr/>
        </p:nvSpPr>
        <p:spPr>
          <a:xfrm>
            <a:off x="902970" y="1531462"/>
            <a:ext cx="33832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r>
              <a:rPr lang="zh-CN" altLang="en-US" sz="2800" dirty="0">
                <a:latin typeface="Arial" panose="020B0604020202020204" pitchFamily="34" charset="0"/>
              </a:rPr>
              <a:t>典型例子：词频计算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2" name="Rectangle 4"/>
          <p:cNvSpPr/>
          <p:nvPr/>
        </p:nvSpPr>
        <p:spPr>
          <a:xfrm>
            <a:off x="948690" y="3429000"/>
            <a:ext cx="7925435" cy="151257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eaLnBrk="0" hangingPunct="0">
              <a:lnSpc>
                <a:spcPct val="110000"/>
              </a:lnSpc>
            </a:pPr>
            <a:r>
              <a:rPr lang="en-US" altLang="zh-CN" sz="2800" dirty="0">
                <a:latin typeface="Arial" panose="020B0604020202020204" pitchFamily="34" charset="0"/>
              </a:rPr>
              <a:t>value:</a:t>
            </a:r>
            <a:r>
              <a:rPr lang="zh-CN" altLang="en-US" sz="2800" dirty="0">
                <a:latin typeface="Arial" panose="020B0604020202020204" pitchFamily="34" charset="0"/>
              </a:rPr>
              <a:t>聚合运算结果</a:t>
            </a:r>
            <a:endParaRPr lang="zh-CN" altLang="en-US" sz="2800" dirty="0">
              <a:latin typeface="Arial" panose="020B0604020202020204" pitchFamily="34" charset="0"/>
            </a:endParaRPr>
          </a:p>
          <a:p>
            <a:pPr eaLnBrk="0" hangingPunct="0">
              <a:lnSpc>
                <a:spcPct val="110000"/>
              </a:lnSpc>
            </a:pPr>
            <a:endParaRPr lang="zh-CN" altLang="en-US" sz="2800" dirty="0">
              <a:latin typeface="Arial" panose="020B0604020202020204" pitchFamily="34" charset="0"/>
            </a:endParaRPr>
          </a:p>
          <a:p>
            <a:pPr indent="457200" eaLnBrk="0" hangingPunct="0">
              <a:lnSpc>
                <a:spcPct val="110000"/>
              </a:lnSpc>
            </a:pPr>
            <a:r>
              <a:rPr lang="en-US" altLang="zh-CN" sz="2800" dirty="0">
                <a:latin typeface="Arial" panose="020B0604020202020204" pitchFamily="34" charset="0"/>
              </a:rPr>
              <a:t>SUM() </a:t>
            </a:r>
            <a:r>
              <a:rPr lang="zh-CN" altLang="en-US" sz="2800" dirty="0">
                <a:latin typeface="Arial" panose="020B0604020202020204" pitchFamily="34" charset="0"/>
              </a:rPr>
              <a:t>、</a:t>
            </a:r>
            <a:r>
              <a:rPr lang="en-US" altLang="zh-CN" sz="2800" dirty="0">
                <a:latin typeface="Arial" panose="020B0604020202020204" pitchFamily="34" charset="0"/>
              </a:rPr>
              <a:t>COUNT()</a:t>
            </a:r>
            <a:r>
              <a:rPr lang="zh-CN" altLang="en-US" sz="2800" dirty="0">
                <a:latin typeface="Arial" panose="020B0604020202020204" pitchFamily="34" charset="0"/>
              </a:rPr>
              <a:t>、</a:t>
            </a:r>
            <a:r>
              <a:rPr lang="en-US" altLang="zh-CN" sz="2800" dirty="0">
                <a:latin typeface="Arial" panose="020B0604020202020204" pitchFamily="34" charset="0"/>
              </a:rPr>
              <a:t>AVG()</a:t>
            </a:r>
            <a:r>
              <a:rPr lang="zh-CN" altLang="en-US" sz="2800" dirty="0">
                <a:latin typeface="Arial" panose="020B0604020202020204" pitchFamily="34" charset="0"/>
              </a:rPr>
              <a:t>、</a:t>
            </a:r>
            <a:r>
              <a:rPr lang="en-US" altLang="zh-CN" sz="2800" dirty="0">
                <a:latin typeface="Arial" panose="020B0604020202020204" pitchFamily="34" charset="0"/>
              </a:rPr>
              <a:t>MIN()</a:t>
            </a:r>
            <a:r>
              <a:rPr lang="zh-CN" altLang="en-US" sz="2800" dirty="0">
                <a:latin typeface="Arial" panose="020B0604020202020204" pitchFamily="34" charset="0"/>
              </a:rPr>
              <a:t>、</a:t>
            </a:r>
            <a:r>
              <a:rPr lang="en-US" altLang="zh-CN" sz="2800" dirty="0">
                <a:latin typeface="Arial" panose="020B0604020202020204" pitchFamily="34" charset="0"/>
              </a:rPr>
              <a:t>MAX()</a:t>
            </a:r>
            <a:endParaRPr lang="en-US" altLang="zh-CN" sz="2800" dirty="0">
              <a:latin typeface="Arial" panose="020B0604020202020204" pitchFamily="34" charset="0"/>
            </a:endParaRPr>
          </a:p>
        </p:txBody>
      </p:sp>
      <p:sp>
        <p:nvSpPr>
          <p:cNvPr id="3" name="Rectangle 4"/>
          <p:cNvSpPr/>
          <p:nvPr/>
        </p:nvSpPr>
        <p:spPr>
          <a:xfrm>
            <a:off x="958215" y="2443322"/>
            <a:ext cx="251396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0" hangingPunct="0"/>
            <a:r>
              <a:rPr lang="en-US" altLang="zh-CN" sz="2800" dirty="0">
                <a:latin typeface="Arial" panose="020B0604020202020204" pitchFamily="34" charset="0"/>
              </a:rPr>
              <a:t>key</a:t>
            </a:r>
            <a:r>
              <a:rPr lang="zh-CN" altLang="en-US" sz="2800" dirty="0">
                <a:latin typeface="Arial" panose="020B0604020202020204" pitchFamily="34" charset="0"/>
              </a:rPr>
              <a:t>：分组依据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7.4.3 </a:t>
            </a:r>
            <a:r>
              <a:rPr lang="zh-CN" altLang="en-US"/>
              <a:t>矩阵</a:t>
            </a:r>
            <a:r>
              <a:rPr lang="en-US" altLang="zh-CN"/>
              <a:t>-</a:t>
            </a:r>
            <a:r>
              <a:rPr lang="zh-CN" altLang="en-US"/>
              <a:t>向量乘法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/>
                  <a:t>矩阵</a:t>
                </a:r>
                <a:r>
                  <a:rPr lang="en-US" altLang="zh-CN"/>
                  <a:t>M*</a:t>
                </a:r>
                <a:r>
                  <a:rPr lang="zh-CN" altLang="en-US"/>
                  <a:t>列向量</a:t>
                </a:r>
                <a:r>
                  <a:rPr lang="en-US" altLang="zh-CN"/>
                  <a:t>V</a:t>
                </a:r>
                <a:endParaRPr lang="en-US" altLang="zh-CN"/>
              </a:p>
              <a:p>
                <a:pPr marL="0" indent="0">
                  <a:buNone/>
                </a:pPr>
                <a:endParaRPr lang="en-US" altLang="zh-CN"/>
              </a:p>
              <a:p>
                <a:pPr marL="0" indent="0">
                  <a:buNone/>
                </a:pPr>
                <a:r>
                  <a:rPr lang="en-US" altLang="zh-CN"/>
                  <a:t>Map:</a:t>
                </a:r>
                <a:endParaRPr lang="en-US" altLang="zh-CN"/>
              </a:p>
              <a:p>
                <a:pPr marL="0" indent="0">
                  <a:buNone/>
                </a:pPr>
                <a:r>
                  <a:rPr lang="zh-CN" altLang="en-US"/>
                  <a:t>输入：</a:t>
                </a:r>
                <a:r>
                  <a:rPr lang="en-US" altLang="zh-CN"/>
                  <a:t>M</a:t>
                </a:r>
                <a:r>
                  <a:rPr lang="zh-CN" altLang="en-US"/>
                  <a:t>的一个文件块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⋯,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,⋯</m:t>
                        </m:r>
                      </m:e>
                    </m:d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和</a:t>
                </a:r>
                <a:r>
                  <a:rPr lang="en-US" altLang="zh-CN"/>
                  <a:t> V=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⋯,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,⋯</m:t>
                        </m:r>
                      </m:e>
                    </m:d>
                  </m:oMath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/>
                  <a:t>输出：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⋯,</m:t>
                        </m:r>
                        <m:d>
                          <m:dPr>
                            <m:begChr m:val="〈"/>
                            <m:endChr m:val="〉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,⋯</m:t>
                        </m:r>
                      </m:e>
                    </m:d>
                  </m:oMath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/>
                  <a:t>Reduce:</a:t>
                </a:r>
                <a:endParaRPr lang="en-US" altLang="zh-CN"/>
              </a:p>
              <a:p>
                <a:pPr marL="0" indent="0">
                  <a:buNone/>
                </a:pPr>
                <a:r>
                  <a:rPr lang="zh-CN" altLang="en-US"/>
                  <a:t>按</a:t>
                </a:r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zh-CN" altLang="en-US"/>
                  <a:t>分组执行聚合</a:t>
                </a:r>
                <a:r>
                  <a:rPr lang="en-US" altLang="zh-CN"/>
                  <a:t>SUM</a:t>
                </a:r>
                <a:r>
                  <a:rPr lang="zh-CN" altLang="en-US"/>
                  <a:t>运算</a:t>
                </a:r>
                <a:endParaRPr lang="zh-CN" altLang="en-US"/>
              </a:p>
            </p:txBody>
          </p:sp>
        </mc:Choice>
        <mc:Fallback>
          <p:sp>
            <p:nvSpPr>
              <p:cNvPr id="4" name="内容占位符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4037330" cy="1325880"/>
          </a:xfrm>
        </p:spPr>
        <p:txBody>
          <a:bodyPr/>
          <a:lstStyle/>
          <a:p>
            <a:r>
              <a:rPr lang="en-US" altLang="zh-CN"/>
              <a:t>7.4.4 </a:t>
            </a:r>
            <a:r>
              <a:rPr lang="zh-CN" altLang="en-US"/>
              <a:t>矩阵乘法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/>
                  <a:t>求</a:t>
                </a:r>
                <a:r>
                  <a:rPr lang="en-US" altLang="zh-CN"/>
                  <a:t> X=</a:t>
                </a:r>
                <a:r>
                  <a:rPr lang="zh-CN" altLang="en-US"/>
                  <a:t>矩阵</a:t>
                </a:r>
                <a:r>
                  <a:rPr lang="en-US" altLang="zh-CN"/>
                  <a:t>M*</a:t>
                </a:r>
                <a:r>
                  <a:rPr lang="zh-CN"/>
                  <a:t>矩阵</a:t>
                </a:r>
                <a:r>
                  <a:rPr lang="en-US" altLang="zh-CN"/>
                  <a:t>N</a:t>
                </a:r>
                <a:endParaRPr lang="en-US" altLang="zh-CN"/>
              </a:p>
              <a:p>
                <a:pPr marL="0" indent="0">
                  <a:buNone/>
                </a:pPr>
                <a:endParaRPr lang="en-US" altLang="zh-CN"/>
              </a:p>
              <a:p>
                <a:pPr marL="0" indent="0">
                  <a:buNone/>
                </a:pPr>
                <a:r>
                  <a:rPr lang="zh-CN" altLang="en-US"/>
                  <a:t>阶段</a:t>
                </a:r>
                <a:r>
                  <a:rPr lang="en-US" altLang="zh-CN"/>
                  <a:t>1. </a:t>
                </a:r>
                <a:r>
                  <a:rPr lang="zh-CN" altLang="en-US"/>
                  <a:t>自然连接：</a:t>
                </a:r>
                <a:endParaRPr lang="en-US" altLang="zh-CN"/>
              </a:p>
              <a:p>
                <a:pPr marL="0" indent="0">
                  <a:buNone/>
                </a:pPr>
                <a:r>
                  <a:rPr lang="en-US" altLang="zh-CN"/>
                  <a:t>Map:</a:t>
                </a:r>
                <a:endParaRPr lang="en-US" altLang="zh-CN"/>
              </a:p>
              <a:p>
                <a:pPr marL="0" indent="0">
                  <a:buNone/>
                </a:pPr>
                <a:r>
                  <a:rPr lang="zh-CN" altLang="en-US"/>
                  <a:t>输入：</a:t>
                </a:r>
                <a:r>
                  <a:rPr lang="en-US" altLang="zh-CN"/>
                  <a:t>M</a:t>
                </a:r>
                <a:r>
                  <a:rPr lang="zh-CN" altLang="en-US"/>
                  <a:t>一文件块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⋯,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,⋯</m:t>
                        </m:r>
                      </m:e>
                    </m:d>
                  </m:oMath>
                </a14:m>
                <a:r>
                  <a:rPr lang="en-US" altLang="zh-CN"/>
                  <a:t> </a:t>
                </a:r>
                <a:r>
                  <a:rPr lang="zh-CN" altLang="en-US"/>
                  <a:t>或</a:t>
                </a:r>
                <a:r>
                  <a:rPr lang="en-US">
                    <a:sym typeface="+mn-ea"/>
                  </a:rPr>
                  <a:t>N</a:t>
                </a:r>
                <a:r>
                  <a:rPr lang="zh-CN" altLang="en-US">
                    <a:sym typeface="+mn-ea"/>
                  </a:rPr>
                  <a:t>一文件块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⋯,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𝑗𝑘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,⋯</m:t>
                        </m:r>
                      </m:e>
                    </m:d>
                  </m:oMath>
                </a14:m>
                <a:r>
                  <a:rPr lang="zh-CN" altLang="en-US"/>
                  <a:t>输出：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⋯,</m:t>
                        </m:r>
                        <m:d>
                          <m:dPr>
                            <m:begChr m:val="〈"/>
                            <m:endChr m:val="〉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𝑀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,⋯</m:t>
                        </m:r>
                      </m:e>
                    </m:d>
                  </m:oMath>
                </a14:m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或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⋯,</m:t>
                        </m:r>
                        <m:d>
                          <m:dPr>
                            <m:begChr m:val="〈"/>
                            <m:endChr m:val="〉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𝑗𝑘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,⋯</m:t>
                        </m:r>
                      </m:e>
                    </m:d>
                  </m:oMath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/>
                  <a:t>Reduce:</a:t>
                </a:r>
                <a:endParaRPr lang="en-US" altLang="zh-CN"/>
              </a:p>
              <a:p>
                <a:pPr marL="0" indent="0">
                  <a:buNone/>
                </a:pPr>
                <a:r>
                  <a:rPr lang="zh-CN" altLang="en-US"/>
                  <a:t>对相同的</a:t>
                </a:r>
                <a:r>
                  <a:rPr lang="en-US" altLang="zh-CN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zh-CN" altLang="en-US"/>
                  <a:t>，输出所有元组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〈"/>
                            <m:endChr m:val="〉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∗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𝑗𝑘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内容占位符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6318821" y="1201991"/>
                <a:ext cx="3588385" cy="105791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r>
                        <a:rPr lang="en-US" altLang="zh-CN" sz="3200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zh-CN" sz="3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CN" sz="3200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8821" y="1201991"/>
                <a:ext cx="3588385" cy="1057910"/>
              </a:xfrm>
              <a:prstGeom prst="rect">
                <a:avLst/>
              </a:prstGeom>
              <a:blipFill rotWithShape="1">
                <a:blip r:embed="rId2"/>
                <a:stretch>
                  <a:fillRect l="-140" t="-474" r="-586" b="-426"/>
                </a:stretch>
              </a:blip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5061521" y="443166"/>
                <a:ext cx="2322195" cy="70866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altLang="zh-CN" sz="36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〈"/>
                              <m:endChr m:val="〉"/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sz="36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3600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1521" y="443166"/>
                <a:ext cx="2322195" cy="708660"/>
              </a:xfrm>
              <a:prstGeom prst="rect">
                <a:avLst/>
              </a:prstGeom>
              <a:blipFill rotWithShape="1">
                <a:blip r:embed="rId3"/>
                <a:stretch>
                  <a:fillRect l="-216" t="-708" r="-194" b="-636"/>
                </a:stretch>
              </a:blip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云形标注 8"/>
              <p:cNvSpPr/>
              <p:nvPr/>
            </p:nvSpPr>
            <p:spPr>
              <a:xfrm>
                <a:off x="7026910" y="2435225"/>
                <a:ext cx="3883025" cy="1530350"/>
              </a:xfrm>
              <a:prstGeom prst="cloudCallout">
                <a:avLst>
                  <a:gd name="adj1" fmla="val -14873"/>
                  <a:gd name="adj2" fmla="val -57427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p>
                <a:pPr algn="ctr"/>
                <a:r>
                  <a:rPr lang="zh-CN" altLang="en-US" sz="2400"/>
                  <a:t>对每一个</a:t>
                </a:r>
                <a:r>
                  <a:rPr lang="en-US" altLang="zh-CN" sz="2400" i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i,k,j</a:t>
                </a:r>
                <a:r>
                  <a:rPr lang="zh-CN" altLang="en-US" sz="2400"/>
                  <a:t>，</a:t>
                </a:r>
                <a:endParaRPr lang="zh-CN" altLang="en-US" sz="2400"/>
              </a:p>
              <a:p>
                <a:pPr algn="ctr"/>
                <a:r>
                  <a:rPr lang="zh-CN" altLang="en-US" sz="2400"/>
                  <a:t>算出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zh-CN" altLang="en-US" sz="2400">
                    <a:latin typeface="Cambria Math" panose="02040503050406030204" pitchFamily="18" charset="0"/>
                    <a:cs typeface="Cambria Math" panose="02040503050406030204" pitchFamily="18" charset="0"/>
                  </a:rPr>
                  <a:t>，</a:t>
                </a:r>
                <a:endParaRPr lang="zh-CN" altLang="en-US" sz="240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algn="ctr"/>
                <a:r>
                  <a:rPr lang="zh-CN" altLang="en-US" sz="2400">
                    <a:latin typeface="Cambria Math" panose="02040503050406030204" pitchFamily="18" charset="0"/>
                    <a:cs typeface="Cambria Math" panose="02040503050406030204" pitchFamily="18" charset="0"/>
                  </a:rPr>
                  <a:t>按</a:t>
                </a:r>
                <a:r>
                  <a:rPr lang="en-US" altLang="zh-CN" sz="2400">
                    <a:latin typeface="Cambria Math" panose="02040503050406030204" pitchFamily="18" charset="0"/>
                    <a:cs typeface="Cambria Math" panose="02040503050406030204" pitchFamily="18" charset="0"/>
                  </a:rPr>
                  <a:t>&lt;i,k&gt;</a:t>
                </a:r>
                <a:r>
                  <a:rPr lang="zh-CN" altLang="en-US" sz="2400">
                    <a:latin typeface="Cambria Math" panose="02040503050406030204" pitchFamily="18" charset="0"/>
                    <a:cs typeface="Cambria Math" panose="02040503050406030204" pitchFamily="18" charset="0"/>
                  </a:rPr>
                  <a:t>分组求和</a:t>
                </a:r>
                <a:endParaRPr lang="zh-CN" altLang="en-US" sz="2400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9" name="云形标注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910" y="2435225"/>
                <a:ext cx="3883025" cy="1530350"/>
              </a:xfrm>
              <a:prstGeom prst="cloudCallout">
                <a:avLst>
                  <a:gd name="adj1" fmla="val -14873"/>
                  <a:gd name="adj2" fmla="val -57427"/>
                </a:avLst>
              </a:prstGeom>
              <a:blipFill rotWithShape="1">
                <a:blip r:embed="rId4"/>
                <a:stretch>
                  <a:fillRect l="-213" t="-11867" r="-164" b="-664"/>
                </a:stretch>
              </a:blip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5" grpId="0" animBg="1"/>
      <p:bldP spid="5" grpId="1" animBg="1"/>
      <p:bldP spid="9" grpId="0" animBg="1"/>
      <p:bldP spid="9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7.4.4 </a:t>
            </a:r>
            <a:r>
              <a:rPr lang="zh-CN" altLang="en-US"/>
              <a:t>矩阵乘法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/>
                  <a:t>阶段</a:t>
                </a:r>
                <a:r>
                  <a:rPr lang="en-US" altLang="zh-CN"/>
                  <a:t>2. </a:t>
                </a:r>
                <a:r>
                  <a:rPr lang="zh-CN" altLang="en-US"/>
                  <a:t>分组聚合：</a:t>
                </a:r>
                <a:endParaRPr lang="en-US" altLang="zh-CN"/>
              </a:p>
              <a:p>
                <a:pPr marL="0" indent="0">
                  <a:buNone/>
                </a:pPr>
                <a:r>
                  <a:rPr lang="en-US" altLang="zh-CN"/>
                  <a:t>Map:</a:t>
                </a:r>
                <a:endParaRPr lang="en-US" altLang="zh-CN"/>
              </a:p>
              <a:p>
                <a:pPr marL="0" indent="0">
                  <a:buNone/>
                </a:pPr>
                <a:r>
                  <a:rPr lang="zh-CN" altLang="en-US"/>
                  <a:t>输入：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⋯,</m:t>
                        </m:r>
                        <m:d>
                          <m:dPr>
                            <m:begChr m:val="〈"/>
                            <m:endChr m:val="〉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𝑗𝑘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,⋯</m:t>
                        </m:r>
                      </m:e>
                    </m:d>
                  </m:oMath>
                </a14:m>
                <a:r>
                  <a:rPr lang="en-US" altLang="zh-CN"/>
                  <a:t> </a:t>
                </a:r>
                <a:endParaRPr lang="en-US" altLang="zh-CN"/>
              </a:p>
              <a:p>
                <a:pPr marL="0" indent="0">
                  <a:buNone/>
                </a:pPr>
                <a:r>
                  <a:rPr lang="zh-CN" altLang="en-US"/>
                  <a:t>输出：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⋯,</m:t>
                        </m:r>
                        <m:d>
                          <m:dPr>
                            <m:begChr m:val="〈"/>
                            <m:endChr m:val="〉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𝑗𝑘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,⋯</m:t>
                        </m:r>
                      </m:e>
                    </m:d>
                  </m:oMath>
                </a14:m>
                <a:endParaRPr lang="en-US" altLang="zh-CN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/>
                  <a:t>Reduce:</a:t>
                </a:r>
                <a:endParaRPr lang="en-US" altLang="zh-CN"/>
              </a:p>
              <a:p>
                <a:pPr marL="0" indent="0">
                  <a:buNone/>
                </a:pPr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按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zh-CN" altLang="en-US">
                    <a:latin typeface="Cambria Math" panose="02040503050406030204" pitchFamily="18" charset="0"/>
                    <a:cs typeface="Cambria Math" panose="02040503050406030204" pitchFamily="18" charset="0"/>
                  </a:rPr>
                  <a:t>分组</a:t>
                </a:r>
                <a:r>
                  <a:rPr lang="zh-CN" altLang="en-US">
                    <a:sym typeface="+mn-ea"/>
                  </a:rPr>
                  <a:t>执行聚合</a:t>
                </a:r>
                <a:r>
                  <a:rPr lang="en-US" altLang="zh-CN">
                    <a:sym typeface="+mn-ea"/>
                  </a:rPr>
                  <a:t>SUM</a:t>
                </a:r>
                <a:r>
                  <a:rPr lang="zh-CN" altLang="en-US">
                    <a:sym typeface="+mn-ea"/>
                  </a:rPr>
                  <a:t>运算，输出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⋯,</m:t>
                        </m:r>
                        <m:d>
                          <m:dPr>
                            <m:begChr m:val="〈"/>
                            <m:endChr m:val="〉"/>
                            <m:ctrlP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〈"/>
                                <m:endChr m:val="〉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nary>
                              <m:naryPr>
                                <m:chr m:val="∑"/>
                                <m:limLoc m:val="subSup"/>
                                <m:supHide m:val="on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∗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𝑗𝑘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  <m:t>,⋯</m:t>
                        </m:r>
                      </m:e>
                    </m:d>
                  </m:oMath>
                </a14:m>
                <a:endParaRPr lang="zh-CN" altLang="en-US" i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内容占位符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lvl="0" algn="l">
                  <a:buNone/>
                </a:pP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考虑使用刚刚介绍的</a:t>
                </a:r>
                <a:r>
                  <a:rPr lang="en-US" altLang="zh-CN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MapReduce</a:t>
                </a: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两阶段求解矩阵乘法，假设有两个稀疏</a:t>
                </a:r>
                <a:r>
                  <a:rPr lang="en-US" altLang="zh-CN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“</a:t>
                </a: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大</a:t>
                </a:r>
                <a:r>
                  <a:rPr lang="en-US" altLang="zh-CN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”</a:t>
                </a: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矩阵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𝑀</m:t>
                    </m:r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𝑁</m:t>
                    </m:r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，计算</a:t>
                </a:r>
                <a:r>
                  <a:rPr lang="en-US" altLang="zh-CN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M*N</a:t>
                </a: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时的自然连接阶段</a:t>
                </a:r>
                <a:r>
                  <a:rPr lang="en-US" altLang="zh-CN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Map</a:t>
                </a: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产生的结果不包含（）</a:t>
                </a:r>
                <a:endParaRPr lang="en-US" altLang="zh-CN" sz="2600">
                  <a:solidFill>
                    <a:srgbClr val="000000"/>
                  </a:solidFill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2786063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&lt;1,&lt;M,1,a&gt;&gt;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438400" y="3471863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&lt;3,&lt;M,2,b&gt;&gt;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2438400" y="4157663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&lt;1,&lt;N,2,c&gt;&gt;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2438400" y="4843463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&lt;2,&lt;N,1,d&gt;&gt;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35361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42219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49077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3"/>
            </p:custDataLst>
          </p:nvPr>
        </p:nvSpPr>
        <p:spPr>
          <a:xfrm>
            <a:off x="2438400" y="55289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&lt;3,&lt;N,2,</a:t>
            </a:r>
            <a:r>
              <a:rPr lang="en-US" altLang="zh-CN" sz="26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null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&gt;&gt;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椭圆 24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5593080"/>
            <a:ext cx="514350" cy="514350"/>
          </a:xfrm>
          <a:prstGeom prst="ellipse">
            <a:avLst/>
          </a:prstGeom>
          <a:solidFill>
            <a:srgbClr val="7F7F7F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6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5" name="图片 4" descr="tmp99CA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" name="椭圆 1"/>
          <p:cNvSpPr>
            <a:spLocks noChangeAspect="1"/>
          </p:cNvSpPr>
          <p:nvPr>
            <p:custDataLst>
              <p:tags r:id="rId22"/>
            </p:custDataLst>
          </p:nvPr>
        </p:nvSpPr>
        <p:spPr>
          <a:xfrm>
            <a:off x="1574800" y="5596255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608965" y="1064260"/>
                <a:ext cx="2620010" cy="68580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𝑀</m:t>
                      </m:r>
                      <m:r>
                        <a:rPr lang="en-US" altLang="zh-C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600" i="1">
                  <a:solidFill>
                    <a:srgbClr val="000000"/>
                  </a:solidFill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965" y="1064260"/>
                <a:ext cx="2620010" cy="685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992505" y="3742690"/>
                <a:ext cx="2019300" cy="107442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𝑁</m:t>
                      </m:r>
                      <m:r>
                        <a:rPr lang="en-US" altLang="zh-CN"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  <m:e>
                                <m:r>
                                  <a:rPr lang="en-US" altLang="zh-CN" sz="26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charset="-122"/>
                                    <a:cs typeface="Cambria Math" panose="02040503050406030204" pitchFamily="18" charset="0"/>
                                  </a:rPr>
                                  <m:t>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600" i="1">
                  <a:solidFill>
                    <a:srgbClr val="000000"/>
                  </a:solidFill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505" y="3742690"/>
                <a:ext cx="2019300" cy="10744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97155" y="1818005"/>
          <a:ext cx="4201160" cy="2886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690"/>
                <a:gridCol w="2617470"/>
              </a:tblGrid>
              <a:tr h="577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map</a:t>
                      </a:r>
                      <a:r>
                        <a:rPr lang="zh-CN" altLang="en-US" sz="2400"/>
                        <a:t>输入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map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577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&lt;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</a:rPr>
                        <a:t>1</a:t>
                      </a:r>
                      <a:r>
                        <a:rPr lang="en-US" altLang="zh-CN" sz="2800"/>
                        <a:t>,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2800"/>
                        <a:t>,a&gt;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2800"/>
                        <a:t>,&lt;M,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</a:rPr>
                        <a:t>1</a:t>
                      </a:r>
                      <a:r>
                        <a:rPr lang="en-US" altLang="zh-CN" sz="2800"/>
                        <a:t>,a&gt;&gt;</a:t>
                      </a:r>
                      <a:endParaRPr lang="zh-CN" altLang="en-US" sz="2800"/>
                    </a:p>
                  </a:txBody>
                  <a:tcPr/>
                </a:tc>
              </a:tr>
              <a:tr h="577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&lt;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</a:rPr>
                        <a:t>2</a:t>
                      </a:r>
                      <a:r>
                        <a:rPr lang="en-US" altLang="zh-CN" sz="2800"/>
                        <a:t>,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altLang="zh-CN" sz="2800"/>
                        <a:t>,b&gt;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  <a:sym typeface="+mn-ea"/>
                        </a:rPr>
                        <a:t>3</a:t>
                      </a:r>
                      <a:r>
                        <a:rPr lang="en-US" altLang="zh-CN" sz="2800">
                          <a:sym typeface="+mn-ea"/>
                        </a:rPr>
                        <a:t>,&lt;M,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  <a:sym typeface="+mn-ea"/>
                        </a:rPr>
                        <a:t>2</a:t>
                      </a:r>
                      <a:r>
                        <a:rPr lang="en-US" altLang="zh-CN" sz="2800">
                          <a:sym typeface="+mn-ea"/>
                        </a:rPr>
                        <a:t>,b&gt;&gt;</a:t>
                      </a:r>
                      <a:endParaRPr lang="zh-CN" altLang="en-US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264160" y="323215"/>
            <a:ext cx="33096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altLang="en-US" sz="2800">
                <a:sym typeface="+mn-ea"/>
              </a:rPr>
              <a:t>阶段</a:t>
            </a:r>
            <a:r>
              <a:rPr lang="en-US" altLang="zh-CN" sz="2800">
                <a:sym typeface="+mn-ea"/>
              </a:rPr>
              <a:t>1. </a:t>
            </a:r>
            <a:r>
              <a:rPr lang="zh-CN" altLang="en-US" sz="2800">
                <a:sym typeface="+mn-ea"/>
              </a:rPr>
              <a:t>自然连接</a:t>
            </a:r>
            <a:endParaRPr lang="zh-CN" altLang="en-US" sz="2800">
              <a:sym typeface="+mn-ea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4"/>
            </p:custDataLst>
          </p:nvPr>
        </p:nvGraphicFramePr>
        <p:xfrm>
          <a:off x="97155" y="4989830"/>
          <a:ext cx="4201160" cy="2886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690"/>
                <a:gridCol w="2617470"/>
              </a:tblGrid>
              <a:tr h="577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map</a:t>
                      </a:r>
                      <a:r>
                        <a:rPr lang="zh-CN" altLang="en-US" sz="2400"/>
                        <a:t>输入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map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577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&lt;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</a:rPr>
                        <a:t>1</a:t>
                      </a:r>
                      <a:r>
                        <a:rPr lang="en-US" altLang="zh-CN" sz="2800"/>
                        <a:t>,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zh-CN" sz="2800"/>
                        <a:t>,c&gt;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zh-CN" sz="2800"/>
                        <a:t>,&lt;N,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</a:rPr>
                        <a:t>1</a:t>
                      </a:r>
                      <a:r>
                        <a:rPr lang="en-US" altLang="zh-CN" sz="2800"/>
                        <a:t>,c&gt;&gt;</a:t>
                      </a:r>
                      <a:endParaRPr lang="zh-CN" altLang="en-US" sz="2800"/>
                    </a:p>
                  </a:txBody>
                  <a:tcPr/>
                </a:tc>
              </a:tr>
              <a:tr h="577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&lt;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</a:rPr>
                        <a:t>2</a:t>
                      </a:r>
                      <a:r>
                        <a:rPr lang="en-US" altLang="zh-CN" sz="2800"/>
                        <a:t>,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2800"/>
                        <a:t>,d&gt;</a:t>
                      </a:r>
                      <a:endParaRPr lang="en-US" altLang="zh-CN" sz="28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  <a:sym typeface="+mn-ea"/>
                        </a:rPr>
                        <a:t>1</a:t>
                      </a:r>
                      <a:r>
                        <a:rPr lang="en-US" altLang="zh-CN" sz="2800">
                          <a:sym typeface="+mn-ea"/>
                        </a:rPr>
                        <a:t>,&lt;N,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  <a:sym typeface="+mn-ea"/>
                        </a:rPr>
                        <a:t>2</a:t>
                      </a:r>
                      <a:r>
                        <a:rPr lang="en-US" altLang="zh-CN" sz="2800">
                          <a:sym typeface="+mn-ea"/>
                        </a:rPr>
                        <a:t>,d&gt;&gt;</a:t>
                      </a:r>
                      <a:endParaRPr lang="zh-CN" altLang="en-US" sz="28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>
            <p:custDataLst>
              <p:tags r:id="rId5"/>
            </p:custDataLst>
          </p:nvPr>
        </p:nvGraphicFramePr>
        <p:xfrm>
          <a:off x="4569460" y="1433830"/>
          <a:ext cx="2617470" cy="230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7470"/>
              </a:tblGrid>
              <a:tr h="577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shuffle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577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2800"/>
                        <a:t>,&lt;M,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</a:rPr>
                        <a:t>1</a:t>
                      </a:r>
                      <a:r>
                        <a:rPr lang="en-US" altLang="zh-CN" sz="2800"/>
                        <a:t>,a&gt;&gt;</a:t>
                      </a:r>
                      <a:endParaRPr lang="zh-CN" altLang="en-US" sz="28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7721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80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77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  <a:sym typeface="+mn-ea"/>
                        </a:rPr>
                        <a:t>3</a:t>
                      </a:r>
                      <a:r>
                        <a:rPr lang="en-US" altLang="zh-CN" sz="2800">
                          <a:sym typeface="+mn-ea"/>
                        </a:rPr>
                        <a:t>,&lt;M,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  <a:sym typeface="+mn-ea"/>
                        </a:rPr>
                        <a:t>2</a:t>
                      </a:r>
                      <a:r>
                        <a:rPr lang="en-US" altLang="zh-CN" sz="2800">
                          <a:sym typeface="+mn-ea"/>
                        </a:rPr>
                        <a:t>,b&gt;&gt;</a:t>
                      </a:r>
                      <a:endParaRPr lang="zh-CN" altLang="en-US" sz="280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>
            <p:custDataLst>
              <p:tags r:id="rId6"/>
            </p:custDataLst>
          </p:nvPr>
        </p:nvGraphicFramePr>
        <p:xfrm>
          <a:off x="4569460" y="4412615"/>
          <a:ext cx="2617470" cy="2308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7470"/>
              </a:tblGrid>
              <a:tr h="577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shuffle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577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2800"/>
                        <a:t>,&lt;N,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</a:rPr>
                        <a:t>2</a:t>
                      </a:r>
                      <a:r>
                        <a:rPr lang="en-US" altLang="zh-CN" sz="2800"/>
                        <a:t>,d&gt;&gt;</a:t>
                      </a:r>
                      <a:endParaRPr lang="zh-CN" altLang="en-US" sz="28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577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  <a:sym typeface="+mn-ea"/>
                        </a:rPr>
                        <a:t>2</a:t>
                      </a:r>
                      <a:r>
                        <a:rPr lang="en-US" altLang="zh-CN" sz="2800">
                          <a:sym typeface="+mn-ea"/>
                        </a:rPr>
                        <a:t>,&lt;N,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  <a:sym typeface="+mn-ea"/>
                        </a:rPr>
                        <a:t>1</a:t>
                      </a:r>
                      <a:r>
                        <a:rPr lang="en-US" altLang="zh-CN" sz="2800">
                          <a:sym typeface="+mn-ea"/>
                        </a:rPr>
                        <a:t>,c&gt;&gt;</a:t>
                      </a:r>
                      <a:endParaRPr lang="zh-CN" altLang="en-US" sz="280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7721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80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表格 14"/>
          <p:cNvGraphicFramePr/>
          <p:nvPr>
            <p:custDataLst>
              <p:tags r:id="rId7"/>
            </p:custDataLst>
          </p:nvPr>
        </p:nvGraphicFramePr>
        <p:xfrm>
          <a:off x="7390130" y="1911985"/>
          <a:ext cx="4608830" cy="1161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830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shuffle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704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2800"/>
                        <a:t>,&lt;&lt;M,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</a:rPr>
                        <a:t>1</a:t>
                      </a:r>
                      <a:r>
                        <a:rPr lang="en-US" altLang="zh-CN" sz="2800"/>
                        <a:t>,a&gt;,</a:t>
                      </a:r>
                      <a:r>
                        <a:rPr lang="en-US" altLang="zh-CN" sz="2800">
                          <a:sym typeface="+mn-ea"/>
                        </a:rPr>
                        <a:t>&lt;N,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  <a:sym typeface="+mn-ea"/>
                        </a:rPr>
                        <a:t>2</a:t>
                      </a:r>
                      <a:r>
                        <a:rPr lang="en-US" altLang="zh-CN" sz="2800">
                          <a:sym typeface="+mn-ea"/>
                        </a:rPr>
                        <a:t>,d&gt;&gt;</a:t>
                      </a:r>
                      <a:r>
                        <a:rPr lang="en-US" altLang="zh-CN" sz="2800"/>
                        <a:t>&gt;</a:t>
                      </a:r>
                      <a:endParaRPr lang="zh-CN" altLang="en-US" sz="28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>
            <p:custDataLst>
              <p:tags r:id="rId8"/>
            </p:custDataLst>
          </p:nvPr>
        </p:nvGraphicFramePr>
        <p:xfrm>
          <a:off x="7390130" y="3549650"/>
          <a:ext cx="4608195" cy="1678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195"/>
              </a:tblGrid>
              <a:tr h="559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shuffle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559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  <a:sym typeface="+mn-ea"/>
                        </a:rPr>
                        <a:t>2</a:t>
                      </a:r>
                      <a:r>
                        <a:rPr lang="en-US" altLang="zh-CN" sz="2800">
                          <a:sym typeface="+mn-ea"/>
                        </a:rPr>
                        <a:t>,&lt;&lt;N,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  <a:sym typeface="+mn-ea"/>
                        </a:rPr>
                        <a:t>1</a:t>
                      </a:r>
                      <a:r>
                        <a:rPr lang="en-US" altLang="zh-CN" sz="2800">
                          <a:sym typeface="+mn-ea"/>
                        </a:rPr>
                        <a:t>,c&gt;&gt;&gt;</a:t>
                      </a:r>
                      <a:endParaRPr lang="zh-CN" altLang="en-US" sz="280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表格 16"/>
          <p:cNvGraphicFramePr/>
          <p:nvPr>
            <p:custDataLst>
              <p:tags r:id="rId9"/>
            </p:custDataLst>
          </p:nvPr>
        </p:nvGraphicFramePr>
        <p:xfrm>
          <a:off x="7390130" y="5237480"/>
          <a:ext cx="4608195" cy="1678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195"/>
              </a:tblGrid>
              <a:tr h="559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shuffle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559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  <a:sym typeface="+mn-ea"/>
                        </a:rPr>
                        <a:t>3</a:t>
                      </a:r>
                      <a:r>
                        <a:rPr lang="en-US" altLang="zh-CN" sz="2800">
                          <a:sym typeface="+mn-ea"/>
                        </a:rPr>
                        <a:t>,&lt;&lt;M,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  <a:sym typeface="+mn-ea"/>
                        </a:rPr>
                        <a:t>2</a:t>
                      </a:r>
                      <a:r>
                        <a:rPr lang="en-US" altLang="zh-CN" sz="2800">
                          <a:sym typeface="+mn-ea"/>
                        </a:rPr>
                        <a:t>,b&gt;&gt;&gt;</a:t>
                      </a:r>
                      <a:endParaRPr lang="zh-CN" altLang="en-US" sz="280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64160" y="323215"/>
            <a:ext cx="330962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altLang="en-US" sz="2800">
                <a:sym typeface="+mn-ea"/>
              </a:rPr>
              <a:t>阶段</a:t>
            </a:r>
            <a:r>
              <a:rPr lang="en-US" altLang="zh-CN" sz="2800">
                <a:sym typeface="+mn-ea"/>
              </a:rPr>
              <a:t>1. </a:t>
            </a:r>
            <a:r>
              <a:rPr lang="zh-CN" altLang="en-US" sz="2800">
                <a:sym typeface="+mn-ea"/>
              </a:rPr>
              <a:t>自然连接</a:t>
            </a:r>
            <a:endParaRPr lang="zh-CN" altLang="en-US" sz="2800">
              <a:sym typeface="+mn-ea"/>
            </a:endParaRPr>
          </a:p>
        </p:txBody>
      </p:sp>
      <p:graphicFrame>
        <p:nvGraphicFramePr>
          <p:cNvPr id="15" name="表格 14"/>
          <p:cNvGraphicFramePr/>
          <p:nvPr>
            <p:custDataLst>
              <p:tags r:id="rId1"/>
            </p:custDataLst>
          </p:nvPr>
        </p:nvGraphicFramePr>
        <p:xfrm>
          <a:off x="7390130" y="1911985"/>
          <a:ext cx="4608830" cy="1161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830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shuffle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704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2800"/>
                        <a:t>,&lt;&lt;M,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</a:rPr>
                        <a:t>1</a:t>
                      </a:r>
                      <a:r>
                        <a:rPr lang="en-US" altLang="zh-CN" sz="2800"/>
                        <a:t>,a&gt;,</a:t>
                      </a:r>
                      <a:r>
                        <a:rPr lang="en-US" altLang="zh-CN" sz="2800">
                          <a:sym typeface="+mn-ea"/>
                        </a:rPr>
                        <a:t>&lt;N,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  <a:sym typeface="+mn-ea"/>
                        </a:rPr>
                        <a:t>2</a:t>
                      </a:r>
                      <a:r>
                        <a:rPr lang="en-US" altLang="zh-CN" sz="2800">
                          <a:sym typeface="+mn-ea"/>
                        </a:rPr>
                        <a:t>,d&gt;&gt;</a:t>
                      </a:r>
                      <a:r>
                        <a:rPr lang="en-US" altLang="zh-CN" sz="2800"/>
                        <a:t>&gt;</a:t>
                      </a:r>
                      <a:endParaRPr lang="zh-CN" altLang="en-US" sz="28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/>
          <p:nvPr>
            <p:custDataLst>
              <p:tags r:id="rId2"/>
            </p:custDataLst>
          </p:nvPr>
        </p:nvGraphicFramePr>
        <p:xfrm>
          <a:off x="7390130" y="3549650"/>
          <a:ext cx="4608195" cy="1678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195"/>
              </a:tblGrid>
              <a:tr h="559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shuffle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559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  <a:sym typeface="+mn-ea"/>
                        </a:rPr>
                        <a:t>2</a:t>
                      </a:r>
                      <a:r>
                        <a:rPr lang="en-US" altLang="zh-CN" sz="2800">
                          <a:sym typeface="+mn-ea"/>
                        </a:rPr>
                        <a:t>,&lt;&lt;N,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  <a:sym typeface="+mn-ea"/>
                        </a:rPr>
                        <a:t>1</a:t>
                      </a:r>
                      <a:r>
                        <a:rPr lang="en-US" altLang="zh-CN" sz="2800">
                          <a:sym typeface="+mn-ea"/>
                        </a:rPr>
                        <a:t>,c&gt;&gt;&gt;</a:t>
                      </a:r>
                      <a:endParaRPr lang="zh-CN" altLang="en-US" sz="280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表格 16"/>
          <p:cNvGraphicFramePr/>
          <p:nvPr>
            <p:custDataLst>
              <p:tags r:id="rId3"/>
            </p:custDataLst>
          </p:nvPr>
        </p:nvGraphicFramePr>
        <p:xfrm>
          <a:off x="7390130" y="5237480"/>
          <a:ext cx="4608195" cy="1678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195"/>
              </a:tblGrid>
              <a:tr h="559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shuffle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559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  <a:sym typeface="+mn-ea"/>
                        </a:rPr>
                        <a:t>3</a:t>
                      </a:r>
                      <a:r>
                        <a:rPr lang="en-US" altLang="zh-CN" sz="2800">
                          <a:sym typeface="+mn-ea"/>
                        </a:rPr>
                        <a:t>,&lt;&lt;M,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  <a:sym typeface="+mn-ea"/>
                        </a:rPr>
                        <a:t>2</a:t>
                      </a:r>
                      <a:r>
                        <a:rPr lang="en-US" altLang="zh-CN" sz="2800">
                          <a:sym typeface="+mn-ea"/>
                        </a:rPr>
                        <a:t>,b&gt;&gt;&gt;</a:t>
                      </a:r>
                      <a:endParaRPr lang="zh-CN" altLang="en-US" sz="280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78790" y="1003935"/>
                <a:ext cx="6096000" cy="9080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altLang="zh-CN" sz="36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36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〈"/>
                              <m:endChr m:val="〉"/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36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6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36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CN" sz="36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6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36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𝑗𝑘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3600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90" y="1003935"/>
                <a:ext cx="6096000" cy="9080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表格 13"/>
          <p:cNvGraphicFramePr/>
          <p:nvPr>
            <p:custDataLst>
              <p:tags r:id="rId5"/>
            </p:custDataLst>
          </p:nvPr>
        </p:nvGraphicFramePr>
        <p:xfrm>
          <a:off x="1409700" y="1911985"/>
          <a:ext cx="4608830" cy="1161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830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Reduce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704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2800"/>
                        <a:t>,&lt;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</a:rPr>
                        <a:t>1</a:t>
                      </a:r>
                      <a:r>
                        <a:rPr lang="en-US" altLang="zh-CN" sz="2800"/>
                        <a:t>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  <a:sym typeface="+mn-ea"/>
                        </a:rPr>
                        <a:t>2</a:t>
                      </a:r>
                      <a:r>
                        <a:rPr lang="en-US" altLang="zh-CN" sz="2800">
                          <a:sym typeface="+mn-ea"/>
                        </a:rPr>
                        <a:t>,ad&gt;</a:t>
                      </a:r>
                      <a:r>
                        <a:rPr lang="en-US" altLang="zh-CN" sz="2800"/>
                        <a:t>&gt;</a:t>
                      </a:r>
                      <a:endParaRPr lang="zh-CN" altLang="en-US" sz="28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/>
          <p:nvPr>
            <p:custDataLst>
              <p:tags r:id="rId6"/>
            </p:custDataLst>
          </p:nvPr>
        </p:nvGraphicFramePr>
        <p:xfrm>
          <a:off x="1409700" y="3549650"/>
          <a:ext cx="4608195" cy="1678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195"/>
              </a:tblGrid>
              <a:tr h="559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ym typeface="+mn-ea"/>
                        </a:rPr>
                        <a:t>Reduce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55943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80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/>
          <p:nvPr>
            <p:custDataLst>
              <p:tags r:id="rId7"/>
            </p:custDataLst>
          </p:nvPr>
        </p:nvGraphicFramePr>
        <p:xfrm>
          <a:off x="1409700" y="5237480"/>
          <a:ext cx="4608195" cy="1678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195"/>
              </a:tblGrid>
              <a:tr h="559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ym typeface="+mn-ea"/>
                        </a:rPr>
                        <a:t>Reduce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55943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80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17805" y="120650"/>
            <a:ext cx="461581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zh-CN" altLang="en-US" sz="3200">
                <a:sym typeface="+mn-ea"/>
              </a:rPr>
              <a:t>阶段</a:t>
            </a:r>
            <a:r>
              <a:rPr lang="en-US" altLang="zh-CN" sz="3200">
                <a:sym typeface="+mn-ea"/>
              </a:rPr>
              <a:t>2. </a:t>
            </a:r>
            <a:r>
              <a:rPr lang="zh-CN" altLang="en-US" sz="3200">
                <a:sym typeface="+mn-ea"/>
              </a:rPr>
              <a:t>分组聚合：</a:t>
            </a:r>
            <a:endParaRPr lang="zh-CN" altLang="en-US" sz="3200">
              <a:sym typeface="+mn-ea"/>
            </a:endParaRPr>
          </a:p>
          <a:p>
            <a:pPr marL="0" indent="0">
              <a:buNone/>
            </a:pPr>
            <a:r>
              <a:rPr lang="zh-CN" altLang="en-US" sz="3200">
                <a:sym typeface="+mn-ea"/>
              </a:rPr>
              <a:t>按</a:t>
            </a:r>
            <a:r>
              <a:rPr lang="en-US" altLang="zh-CN" sz="3200" i="1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i,k</a:t>
            </a:r>
            <a:r>
              <a:rPr lang="zh-CN" altLang="en-US" sz="3200">
                <a:sym typeface="+mn-ea"/>
              </a:rPr>
              <a:t>分组并</a:t>
            </a:r>
            <a:r>
              <a:rPr lang="zh-CN" altLang="en-US" sz="3200">
                <a:sym typeface="+mn-ea"/>
              </a:rPr>
              <a:t>对列</a:t>
            </a:r>
            <a:r>
              <a:rPr lang="en-US" altLang="zh-CN" sz="3200" i="1">
                <a:latin typeface="Times New Roman" panose="02020603050405020304" pitchFamily="18" charset="0"/>
                <a:ea typeface="华文新魏" panose="02010800040101010101" charset="-122"/>
                <a:cs typeface="Times New Roman" panose="02020603050405020304" pitchFamily="18" charset="0"/>
                <a:sym typeface="+mn-ea"/>
              </a:rPr>
              <a:t>j</a:t>
            </a:r>
            <a:r>
              <a:rPr lang="zh-CN" altLang="en-US" sz="3200">
                <a:sym typeface="+mn-ea"/>
              </a:rPr>
              <a:t>求和</a:t>
            </a:r>
            <a:endParaRPr lang="zh-CN" altLang="en-US" sz="3200">
              <a:sym typeface="+mn-ea"/>
            </a:endParaRPr>
          </a:p>
        </p:txBody>
      </p:sp>
      <p:graphicFrame>
        <p:nvGraphicFramePr>
          <p:cNvPr id="14" name="表格 13"/>
          <p:cNvGraphicFramePr/>
          <p:nvPr>
            <p:custDataLst>
              <p:tags r:id="rId1"/>
            </p:custDataLst>
          </p:nvPr>
        </p:nvGraphicFramePr>
        <p:xfrm>
          <a:off x="1409700" y="1911985"/>
          <a:ext cx="4608830" cy="1161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830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Reduce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704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2800"/>
                        <a:t>,&lt;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</a:rPr>
                        <a:t>1</a:t>
                      </a:r>
                      <a:r>
                        <a:rPr lang="en-US" altLang="zh-CN" sz="2800"/>
                        <a:t>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  <a:sym typeface="+mn-ea"/>
                        </a:rPr>
                        <a:t>2</a:t>
                      </a:r>
                      <a:r>
                        <a:rPr lang="en-US" altLang="zh-CN" sz="2800">
                          <a:sym typeface="+mn-ea"/>
                        </a:rPr>
                        <a:t>,ad&gt;</a:t>
                      </a:r>
                      <a:r>
                        <a:rPr lang="en-US" altLang="zh-CN" sz="2800"/>
                        <a:t>&gt;</a:t>
                      </a:r>
                      <a:endParaRPr lang="zh-CN" altLang="en-US" sz="28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/>
          <p:nvPr>
            <p:custDataLst>
              <p:tags r:id="rId2"/>
            </p:custDataLst>
          </p:nvPr>
        </p:nvGraphicFramePr>
        <p:xfrm>
          <a:off x="1409700" y="3549650"/>
          <a:ext cx="4608195" cy="1678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195"/>
              </a:tblGrid>
              <a:tr h="559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ym typeface="+mn-ea"/>
                        </a:rPr>
                        <a:t>Reduce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55943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80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/>
          <p:nvPr>
            <p:custDataLst>
              <p:tags r:id="rId3"/>
            </p:custDataLst>
          </p:nvPr>
        </p:nvGraphicFramePr>
        <p:xfrm>
          <a:off x="1409700" y="5237480"/>
          <a:ext cx="4608195" cy="1678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195"/>
              </a:tblGrid>
              <a:tr h="5594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ym typeface="+mn-ea"/>
                        </a:rPr>
                        <a:t>Reduce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55943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800"/>
                    </a:p>
                  </a:txBody>
                  <a:tcPr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>
            <p:custDataLst>
              <p:tags r:id="rId4"/>
            </p:custDataLst>
          </p:nvPr>
        </p:nvGraphicFramePr>
        <p:xfrm>
          <a:off x="6489700" y="1911985"/>
          <a:ext cx="4608830" cy="1161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08830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/>
                        <a:t>map</a:t>
                      </a:r>
                      <a:r>
                        <a:rPr lang="zh-CN" altLang="en-US" sz="2400"/>
                        <a:t>输出</a:t>
                      </a:r>
                      <a:endParaRPr lang="zh-CN" altLang="en-US" sz="2400"/>
                    </a:p>
                  </a:txBody>
                  <a:tcPr/>
                </a:tc>
              </a:tr>
              <a:tr h="7042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800"/>
                        <a:t>&lt;&lt;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</a:rPr>
                        <a:t>1</a:t>
                      </a:r>
                      <a:r>
                        <a:rPr lang="en-US" altLang="zh-CN" sz="2800"/>
                        <a:t>,</a:t>
                      </a:r>
                      <a:r>
                        <a:rPr lang="en-US" altLang="zh-CN" sz="2800">
                          <a:solidFill>
                            <a:srgbClr val="00B050"/>
                          </a:solidFill>
                          <a:sym typeface="+mn-ea"/>
                        </a:rPr>
                        <a:t>2</a:t>
                      </a:r>
                      <a:r>
                        <a:rPr lang="en-US" altLang="zh-CN" sz="2800">
                          <a:solidFill>
                            <a:schemeClr val="tx1"/>
                          </a:solidFill>
                          <a:sym typeface="+mn-ea"/>
                        </a:rPr>
                        <a:t>&gt;,&lt;</a:t>
                      </a:r>
                      <a:r>
                        <a:rPr lang="en-US" altLang="zh-CN" sz="2800">
                          <a:solidFill>
                            <a:srgbClr val="FF0000"/>
                          </a:solidFill>
                          <a:sym typeface="+mn-ea"/>
                        </a:rPr>
                        <a:t>1</a:t>
                      </a:r>
                      <a:r>
                        <a:rPr lang="en-US" altLang="zh-CN" sz="2800">
                          <a:sym typeface="+mn-ea"/>
                        </a:rPr>
                        <a:t>,ad&gt;</a:t>
                      </a:r>
                      <a:r>
                        <a:rPr lang="en-US" altLang="zh-CN" sz="2800"/>
                        <a:t>&gt;</a:t>
                      </a:r>
                      <a:endParaRPr lang="zh-CN" altLang="en-US" sz="280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78790" y="1003935"/>
                <a:ext cx="6096000" cy="9080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altLang="zh-CN" sz="36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CN" sz="36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begChr m:val="〈"/>
                              <m:endChr m:val="〉"/>
                              <m:ctrlP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36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6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zh-CN" sz="36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zh-CN" sz="36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∗</m:t>
                              </m:r>
                              <m:sSub>
                                <m:sSubPr>
                                  <m:ctrlPr>
                                    <a:rPr lang="en-US" altLang="zh-CN" sz="36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6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sz="3600" i="1">
                                      <a:latin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𝑗𝑘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altLang="zh-CN" sz="3600" i="1">
                  <a:latin typeface="Cambria Math" panose="02040503050406030204" pitchFamily="18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90" y="1003935"/>
                <a:ext cx="6096000" cy="9080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lvl="0" algn="l">
                  <a:buNone/>
                </a:pP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考虑使用刚刚介绍的</a:t>
                </a:r>
                <a:r>
                  <a:rPr lang="en-US" altLang="zh-CN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MapReduce</a:t>
                </a: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两阶段求解矩阵乘法，假设有两个稀疏</a:t>
                </a:r>
                <a:r>
                  <a:rPr lang="en-US" altLang="zh-CN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“</a:t>
                </a: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大</a:t>
                </a:r>
                <a:r>
                  <a:rPr lang="en-US" altLang="zh-CN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”</a:t>
                </a: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矩阵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𝑀</m:t>
                    </m:r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𝑁</m:t>
                    </m:r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，计算</a:t>
                </a:r>
                <a:r>
                  <a:rPr lang="en-US" altLang="zh-CN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M*N</a:t>
                </a: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时的自然连接阶段</a:t>
                </a:r>
                <a:r>
                  <a:rPr lang="en-US" altLang="zh-CN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Reduce</a:t>
                </a: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的结果包含（）</a:t>
                </a:r>
                <a:endParaRPr lang="en-US" altLang="zh-CN" sz="2600">
                  <a:solidFill>
                    <a:srgbClr val="000000"/>
                  </a:solidFill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040063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&lt;1,&lt;1,2,a*c&gt;&gt;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438400" y="4213543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&lt;3,&lt;2,2,</a:t>
            </a:r>
            <a:r>
              <a:rPr lang="en-US" altLang="zh-CN" sz="26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null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&gt;&gt;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104356"/>
            <a:ext cx="514350" cy="514350"/>
          </a:xfrm>
          <a:prstGeom prst="ellipse">
            <a:avLst/>
          </a:prstGeom>
          <a:solidFill>
            <a:srgbClr val="7F7F7F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27783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6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5" name="图片 4" descr="tmp99CA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" name="椭圆 1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4800" y="3107531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7CE09-A6DF-4F65-B9AD-CB157D51E68C}" type="slidenum">
              <a:rPr lang="zh-CN" altLang="en-US" smtClean="0"/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lvl="0" algn="l">
                  <a:buNone/>
                </a:pP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考虑使用刚刚介绍的</a:t>
                </a:r>
                <a:r>
                  <a:rPr lang="en-US" altLang="zh-CN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MapReduce</a:t>
                </a: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两阶段求解矩阵乘法，假设有两个稀疏</a:t>
                </a:r>
                <a:r>
                  <a:rPr lang="en-US" altLang="zh-CN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“</a:t>
                </a: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大</a:t>
                </a:r>
                <a:r>
                  <a:rPr lang="en-US" altLang="zh-CN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”</a:t>
                </a: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矩阵</a:t>
                </a:r>
                <a14:m>
                  <m:oMath xmlns:m="http://schemas.openxmlformats.org/officeDocument/2006/math"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𝑀</m:t>
                    </m:r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𝑁</m:t>
                    </m:r>
                    <m:r>
                      <a:rPr lang="en-US" altLang="zh-CN"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anose="020B0503020204020204" charset="-122"/>
                                <a:cs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𝑑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  <m:e>
                              <m:r>
                                <a:rPr lang="en-US" altLang="zh-CN" sz="26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</a:rPr>
                                <m:t>−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，计算</a:t>
                </a:r>
                <a:r>
                  <a:rPr lang="en-US" altLang="zh-CN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M*N</a:t>
                </a: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时的</a:t>
                </a:r>
                <a:r>
                  <a:rPr lang="zh-CN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最终结果为</a:t>
                </a:r>
                <a:r>
                  <a:rPr lang="zh-CN" altLang="en-US" sz="2600">
                    <a:solidFill>
                      <a:srgbClr val="000000"/>
                    </a:solidFill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（）</a:t>
                </a:r>
                <a:endParaRPr lang="en-US" altLang="zh-CN" sz="2600">
                  <a:solidFill>
                    <a:srgbClr val="000000"/>
                  </a:solidFill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1219200" y="635000"/>
                <a:ext cx="9753600" cy="21431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009583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&lt;&lt;1,2&gt;,</a:t>
            </a:r>
            <a:r>
              <a:rPr lang="en-US" altLang="zh-CN" sz="2600">
                <a:latin typeface="微软雅黑" panose="020B0503020204020204" charset="-122"/>
                <a:ea typeface="微软雅黑" panose="020B0503020204020204" charset="-122"/>
                <a:sym typeface="+mn-ea"/>
              </a:rPr>
              <a:t>a*c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438400" y="4152583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&lt;2,1,</a:t>
            </a:r>
            <a:r>
              <a:rPr lang="en-US" altLang="zh-CN" sz="2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b*d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073876"/>
            <a:ext cx="514350" cy="514350"/>
          </a:xfrm>
          <a:prstGeom prst="ellipse">
            <a:avLst/>
          </a:prstGeom>
          <a:solidFill>
            <a:srgbClr val="7F7F7F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21687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6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lstStyle/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5" name="图片 4" descr="tmp99CA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" name="椭圆 1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4800" y="3077051"/>
            <a:ext cx="514350" cy="514350"/>
          </a:xfrm>
          <a:prstGeom prst="ellipse">
            <a:avLst/>
          </a:prstGeom>
          <a:solidFill>
            <a:srgbClr val="7F7F7F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椭圆 2"/>
          <p:cNvSpPr>
            <a:spLocks noChangeAspect="1"/>
          </p:cNvSpPr>
          <p:nvPr>
            <p:custDataLst>
              <p:tags r:id="rId17"/>
            </p:custDataLst>
          </p:nvPr>
        </p:nvSpPr>
        <p:spPr>
          <a:xfrm>
            <a:off x="1571625" y="3077051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lstStyle/>
          <a:p>
            <a:pPr indent="0"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7.5	MapReduce</a:t>
            </a:r>
            <a:r>
              <a:rPr lang="zh-CN" altLang="en-US" dirty="0"/>
              <a:t>编程实践</a:t>
            </a:r>
            <a:endParaRPr lang="zh-CN" altLang="en-US" dirty="0"/>
          </a:p>
        </p:txBody>
      </p:sp>
      <p:sp>
        <p:nvSpPr>
          <p:cNvPr id="31747" name="Rectangle 3"/>
          <p:cNvSpPr>
            <a:spLocks noGrp="1"/>
          </p:cNvSpPr>
          <p:nvPr>
            <p:ph idx="1"/>
          </p:nvPr>
        </p:nvSpPr>
        <p:spPr>
          <a:xfrm>
            <a:off x="1339215" y="1750060"/>
            <a:ext cx="8229600" cy="2514600"/>
          </a:xfrm>
        </p:spPr>
        <p:txBody>
          <a:bodyPr vert="horz" wrap="square" lIns="91440" tIns="45720" rIns="91440" bIns="45720" anchor="t" anchorCtr="0">
            <a:noAutofit/>
          </a:bodyPr>
          <a:lstStyle/>
          <a:p>
            <a:pPr marL="0" indent="0">
              <a:buNone/>
            </a:pPr>
            <a:r>
              <a:rPr lang="en-US" altLang="zh-CN" dirty="0"/>
              <a:t>7.5.1	</a:t>
            </a:r>
            <a:r>
              <a:rPr lang="zh-CN" altLang="en-US" dirty="0"/>
              <a:t>任务要求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7.5.2	</a:t>
            </a:r>
            <a:r>
              <a:rPr lang="zh-CN" altLang="en-US" dirty="0"/>
              <a:t>编写</a:t>
            </a:r>
            <a:r>
              <a:rPr lang="en-US" altLang="zh-CN" dirty="0"/>
              <a:t>Map</a:t>
            </a:r>
            <a:r>
              <a:rPr lang="zh-CN" altLang="en-US" dirty="0"/>
              <a:t>处理逻辑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7.5.3	</a:t>
            </a:r>
            <a:r>
              <a:rPr lang="zh-CN" altLang="en-US" dirty="0"/>
              <a:t>编写</a:t>
            </a:r>
            <a:r>
              <a:rPr lang="en-US" altLang="zh-CN" dirty="0"/>
              <a:t>Reduce</a:t>
            </a:r>
            <a:r>
              <a:rPr lang="zh-CN" altLang="en-US" dirty="0"/>
              <a:t>处理逻辑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7.5.4	 </a:t>
            </a:r>
            <a:r>
              <a:rPr lang="zh-CN" altLang="en-US" dirty="0"/>
              <a:t>编写</a:t>
            </a:r>
            <a:r>
              <a:rPr lang="en-US" altLang="zh-CN" dirty="0"/>
              <a:t>main</a:t>
            </a:r>
            <a:r>
              <a:rPr lang="zh-CN" altLang="en-US" dirty="0"/>
              <a:t>方法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7.5.5	 </a:t>
            </a:r>
            <a:r>
              <a:rPr lang="zh-CN" altLang="en-US" dirty="0"/>
              <a:t>编译打包代码以及运行程序</a:t>
            </a:r>
            <a:endParaRPr lang="zh-CN" altLang="en-US" dirty="0"/>
          </a:p>
        </p:txBody>
      </p:sp>
      <p:sp>
        <p:nvSpPr>
          <p:cNvPr id="31748" name="TextBox 4"/>
          <p:cNvSpPr txBox="1"/>
          <p:nvPr/>
        </p:nvSpPr>
        <p:spPr>
          <a:xfrm>
            <a:off x="1339215" y="4475480"/>
            <a:ext cx="6516370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</a:rPr>
              <a:t>《</a:t>
            </a:r>
            <a:r>
              <a:rPr lang="zh-CN" altLang="en-US" b="1" dirty="0">
                <a:latin typeface="Arial" panose="020B0604020202020204" pitchFamily="34" charset="0"/>
              </a:rPr>
              <a:t>大数据原理与应用（第</a:t>
            </a:r>
            <a:r>
              <a:rPr lang="en-US" altLang="zh-CN" b="1" dirty="0">
                <a:latin typeface="Arial" panose="020B0604020202020204" pitchFamily="34" charset="0"/>
              </a:rPr>
              <a:t>3</a:t>
            </a:r>
            <a:r>
              <a:rPr lang="zh-CN" altLang="en-US" b="1" dirty="0">
                <a:latin typeface="Arial" panose="020B0604020202020204" pitchFamily="34" charset="0"/>
              </a:rPr>
              <a:t>版） 第</a:t>
            </a:r>
            <a:r>
              <a:rPr lang="en-US" altLang="zh-CN" b="1" dirty="0">
                <a:latin typeface="Arial" panose="020B0604020202020204" pitchFamily="34" charset="0"/>
              </a:rPr>
              <a:t>7</a:t>
            </a:r>
            <a:r>
              <a:rPr lang="zh-CN" altLang="en-US" b="1" dirty="0">
                <a:latin typeface="Arial" panose="020B0604020202020204" pitchFamily="34" charset="0"/>
              </a:rPr>
              <a:t>章 </a:t>
            </a:r>
            <a:r>
              <a:rPr lang="en-US" altLang="zh-CN" b="1" dirty="0">
                <a:latin typeface="Arial" panose="020B0604020202020204" pitchFamily="34" charset="0"/>
              </a:rPr>
              <a:t>MapReduce </a:t>
            </a:r>
            <a:r>
              <a:rPr lang="zh-CN" altLang="en-US" b="1" dirty="0">
                <a:latin typeface="Arial" panose="020B0604020202020204" pitchFamily="34" charset="0"/>
              </a:rPr>
              <a:t>学习指南</a:t>
            </a:r>
            <a:r>
              <a:rPr lang="en-US" altLang="zh-CN" b="1" dirty="0">
                <a:latin typeface="Arial" panose="020B0604020202020204" pitchFamily="34" charset="0"/>
              </a:rPr>
              <a:t>》</a:t>
            </a:r>
            <a:endParaRPr lang="zh-CN" altLang="en-US" b="1" dirty="0">
              <a:latin typeface="Arial" panose="020B0604020202020204" pitchFamily="34" charset="0"/>
            </a:endParaRPr>
          </a:p>
          <a:p>
            <a:r>
              <a:rPr lang="zh-CN" altLang="en-US" b="1" dirty="0">
                <a:latin typeface="Arial" panose="020B0604020202020204" pitchFamily="34" charset="0"/>
              </a:rPr>
              <a:t>访问地址：</a:t>
            </a:r>
            <a:r>
              <a:rPr lang="en-US" altLang="zh-CN" dirty="0">
                <a:latin typeface="Arial" panose="020B0604020202020204" pitchFamily="34" charset="0"/>
              </a:rPr>
              <a:t> http://dblab.xmu.edu.cn/blog/2481-2/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7.5.1 </a:t>
            </a:r>
            <a:r>
              <a:rPr lang="zh-CN" altLang="zh-CN" dirty="0"/>
              <a:t>任务要求</a:t>
            </a:r>
            <a:endParaRPr lang="zh-CN" altLang="en-US" dirty="0"/>
          </a:p>
        </p:txBody>
      </p:sp>
      <p:sp>
        <p:nvSpPr>
          <p:cNvPr id="32771" name="矩形 6"/>
          <p:cNvSpPr/>
          <p:nvPr/>
        </p:nvSpPr>
        <p:spPr>
          <a:xfrm>
            <a:off x="2133600" y="1295400"/>
            <a:ext cx="21767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latin typeface="Arial" panose="020B0604020202020204" pitchFamily="34" charset="0"/>
              </a:rPr>
              <a:t>文件</a:t>
            </a:r>
            <a:r>
              <a:rPr lang="en-US" altLang="zh-CN" b="1" dirty="0">
                <a:latin typeface="Arial" panose="020B0604020202020204" pitchFamily="34" charset="0"/>
              </a:rPr>
              <a:t>A</a:t>
            </a:r>
            <a:r>
              <a:rPr lang="zh-CN" altLang="zh-CN" b="1" dirty="0">
                <a:latin typeface="Arial" panose="020B0604020202020204" pitchFamily="34" charset="0"/>
              </a:rPr>
              <a:t>的内容如下：</a:t>
            </a:r>
            <a:endParaRPr lang="zh-CN" altLang="zh-CN" b="1" dirty="0">
              <a:latin typeface="Arial" panose="020B0604020202020204" pitchFamily="34" charset="0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133600" y="1752600"/>
          <a:ext cx="3124200" cy="782320"/>
        </p:xfrm>
        <a:graphic>
          <a:graphicData uri="http://schemas.openxmlformats.org/drawingml/2006/table">
            <a:tbl>
              <a:tblPr/>
              <a:tblGrid>
                <a:gridCol w="3124200"/>
              </a:tblGrid>
              <a:tr h="78232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China is my motherland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 love China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32774" name="矩形 8"/>
          <p:cNvSpPr/>
          <p:nvPr/>
        </p:nvSpPr>
        <p:spPr>
          <a:xfrm>
            <a:off x="6629400" y="1295400"/>
            <a:ext cx="21767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zh-CN" b="1" dirty="0">
                <a:latin typeface="Arial" panose="020B0604020202020204" pitchFamily="34" charset="0"/>
              </a:rPr>
              <a:t>文件</a:t>
            </a:r>
            <a:r>
              <a:rPr lang="en-US" altLang="zh-CN" b="1" dirty="0">
                <a:latin typeface="Arial" panose="020B0604020202020204" pitchFamily="34" charset="0"/>
              </a:rPr>
              <a:t>B</a:t>
            </a:r>
            <a:r>
              <a:rPr lang="zh-CN" altLang="zh-CN" b="1" dirty="0">
                <a:latin typeface="Arial" panose="020B0604020202020204" pitchFamily="34" charset="0"/>
              </a:rPr>
              <a:t>的内容如下：</a:t>
            </a:r>
            <a:endParaRPr lang="zh-CN" altLang="zh-CN" b="1" dirty="0">
              <a:latin typeface="Arial" panose="020B0604020202020204" pitchFamily="34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6705600" y="1752600"/>
          <a:ext cx="2286000" cy="457200"/>
        </p:xfrm>
        <a:graphic>
          <a:graphicData uri="http://schemas.openxmlformats.org/drawingml/2006/table">
            <a:tbl>
              <a:tblPr/>
              <a:tblGrid>
                <a:gridCol w="22860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 am from  China</a:t>
                      </a:r>
                      <a:endParaRPr kumimoji="0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32777" name="矩形 10"/>
          <p:cNvSpPr/>
          <p:nvPr/>
        </p:nvSpPr>
        <p:spPr>
          <a:xfrm>
            <a:off x="2133600" y="3352800"/>
            <a:ext cx="2468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b="1" dirty="0">
                <a:latin typeface="Arial" panose="020B0604020202020204" pitchFamily="34" charset="0"/>
              </a:rPr>
              <a:t>期望结果</a:t>
            </a:r>
            <a:r>
              <a:rPr lang="zh-CN" altLang="zh-CN" b="1" dirty="0">
                <a:latin typeface="Arial" panose="020B0604020202020204" pitchFamily="34" charset="0"/>
              </a:rPr>
              <a:t>如</a:t>
            </a:r>
            <a:r>
              <a:rPr lang="zh-CN" altLang="en-US" b="1" dirty="0">
                <a:latin typeface="Arial" panose="020B0604020202020204" pitchFamily="34" charset="0"/>
              </a:rPr>
              <a:t>右侧所示</a:t>
            </a:r>
            <a:r>
              <a:rPr lang="zh-CN" altLang="zh-CN" b="1" dirty="0">
                <a:latin typeface="Arial" panose="020B0604020202020204" pitchFamily="34" charset="0"/>
              </a:rPr>
              <a:t>：</a:t>
            </a:r>
            <a:endParaRPr lang="zh-CN" altLang="zh-CN" b="1" dirty="0">
              <a:latin typeface="Arial" panose="020B0604020202020204" pitchFamily="34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4648200" y="3200400"/>
          <a:ext cx="2114550" cy="3327400"/>
        </p:xfrm>
        <a:graphic>
          <a:graphicData uri="http://schemas.openxmlformats.org/drawingml/2006/table">
            <a:tbl>
              <a:tblPr/>
              <a:tblGrid>
                <a:gridCol w="2114550"/>
              </a:tblGrid>
              <a:tr h="28702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                    2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is                   1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China            3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my                 1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love               1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am                 1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from              1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motherland    1</a:t>
                      </a: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68580" marR="6858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7.5.2 </a:t>
            </a:r>
            <a:r>
              <a:rPr lang="zh-CN" altLang="zh-CN" dirty="0"/>
              <a:t>编写</a:t>
            </a:r>
            <a:r>
              <a:rPr lang="en-US" altLang="zh-CN" dirty="0"/>
              <a:t>Map</a:t>
            </a:r>
            <a:r>
              <a:rPr lang="zh-CN" altLang="zh-CN" dirty="0"/>
              <a:t>处理逻辑</a:t>
            </a:r>
            <a:endParaRPr lang="zh-CN" altLang="en-US" dirty="0"/>
          </a:p>
        </p:txBody>
      </p:sp>
      <p:sp>
        <p:nvSpPr>
          <p:cNvPr id="33795" name="TextBox 2"/>
          <p:cNvSpPr txBox="1"/>
          <p:nvPr/>
        </p:nvSpPr>
        <p:spPr>
          <a:xfrm>
            <a:off x="1981200" y="1183640"/>
            <a:ext cx="83820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rial" panose="020B0604020202020204" pitchFamily="34" charset="0"/>
              </a:rPr>
              <a:t>Map</a:t>
            </a:r>
            <a:r>
              <a:rPr lang="zh-CN" altLang="en-US" sz="1600" dirty="0">
                <a:latin typeface="Arial" panose="020B0604020202020204" pitchFamily="34" charset="0"/>
              </a:rPr>
              <a:t>输入类型为</a:t>
            </a:r>
            <a:r>
              <a:rPr lang="en-US" altLang="zh-CN" sz="1600" dirty="0">
                <a:latin typeface="Arial" panose="020B0604020202020204" pitchFamily="34" charset="0"/>
              </a:rPr>
              <a:t>&lt;key,value&gt;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rial" panose="020B0604020202020204" pitchFamily="34" charset="0"/>
              </a:rPr>
              <a:t>期望的</a:t>
            </a:r>
            <a:r>
              <a:rPr lang="en-US" altLang="zh-CN" sz="1600" dirty="0">
                <a:latin typeface="Arial" panose="020B0604020202020204" pitchFamily="34" charset="0"/>
              </a:rPr>
              <a:t>Map</a:t>
            </a:r>
            <a:r>
              <a:rPr lang="zh-CN" altLang="en-US" sz="1600" dirty="0">
                <a:latin typeface="Arial" panose="020B0604020202020204" pitchFamily="34" charset="0"/>
              </a:rPr>
              <a:t>输出类型为</a:t>
            </a:r>
            <a:r>
              <a:rPr lang="en-US" altLang="zh-CN" sz="1600" dirty="0">
                <a:latin typeface="Arial" panose="020B0604020202020204" pitchFamily="34" charset="0"/>
              </a:rPr>
              <a:t>&lt;</a:t>
            </a:r>
            <a:r>
              <a:rPr lang="zh-CN" altLang="en-US" sz="1600" dirty="0">
                <a:latin typeface="Arial" panose="020B0604020202020204" pitchFamily="34" charset="0"/>
              </a:rPr>
              <a:t>单词，出现次数</a:t>
            </a:r>
            <a:r>
              <a:rPr lang="en-US" altLang="zh-CN" sz="1600" dirty="0">
                <a:latin typeface="Arial" panose="020B0604020202020204" pitchFamily="34" charset="0"/>
              </a:rPr>
              <a:t>&gt;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33796" name="TextBox 2"/>
          <p:cNvSpPr txBox="1"/>
          <p:nvPr/>
        </p:nvSpPr>
        <p:spPr>
          <a:xfrm>
            <a:off x="1981200" y="2013585"/>
            <a:ext cx="8382000" cy="8299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rial" panose="020B0604020202020204" pitchFamily="34" charset="0"/>
              </a:rPr>
              <a:t>Map</a:t>
            </a:r>
            <a:r>
              <a:rPr lang="zh-CN" altLang="en-US" sz="1600" dirty="0">
                <a:latin typeface="Arial" panose="020B0604020202020204" pitchFamily="34" charset="0"/>
              </a:rPr>
              <a:t>输入类型最终确定为</a:t>
            </a:r>
            <a:r>
              <a:rPr lang="en-US" altLang="zh-CN" sz="1600" dirty="0">
                <a:latin typeface="Arial" panose="020B0604020202020204" pitchFamily="34" charset="0"/>
              </a:rPr>
              <a:t>&lt;Object,Text&gt;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Arial" panose="020B0604020202020204" pitchFamily="34" charset="0"/>
              </a:rPr>
              <a:t>Map</a:t>
            </a:r>
            <a:r>
              <a:rPr lang="zh-CN" altLang="en-US" sz="1600" dirty="0">
                <a:latin typeface="Arial" panose="020B0604020202020204" pitchFamily="34" charset="0"/>
              </a:rPr>
              <a:t>输出类型最终确定为</a:t>
            </a:r>
            <a:r>
              <a:rPr lang="en-US" altLang="zh-CN" sz="1600" dirty="0">
                <a:latin typeface="Arial" panose="020B0604020202020204" pitchFamily="34" charset="0"/>
              </a:rPr>
              <a:t>&lt;Text,IntWritable&gt;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438400" y="2961006"/>
            <a:ext cx="7772400" cy="329184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public static class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MyMapper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extends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Mapper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Object,Text,Text,IntWritable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&gt;{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            private final static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IntWritable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one = new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IntWritable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(1);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            private Text word = new Text();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            public void map(Object key, Text value, Context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context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throws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IOException,InterruptedException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 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                   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StringTokenizer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new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StringTokenizer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value.toString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()); 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                    while (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itr.hasMoreTokens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())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                    { 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                           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word.set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itr.nextToken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()); 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                           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context.write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word,one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 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                    } 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                } 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}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marL="342900" indent="-342900"/>
            <a:r>
              <a:rPr lang="en-US" altLang="zh-CN" dirty="0"/>
              <a:t>7.5.3 </a:t>
            </a:r>
            <a:r>
              <a:rPr lang="zh-CN" altLang="zh-CN" b="1" dirty="0"/>
              <a:t>编写</a:t>
            </a:r>
            <a:r>
              <a:rPr lang="en-US" altLang="zh-CN" b="1" dirty="0"/>
              <a:t>Reduce</a:t>
            </a:r>
            <a:r>
              <a:rPr lang="zh-CN" altLang="zh-CN" b="1" dirty="0"/>
              <a:t>处理逻辑</a:t>
            </a:r>
            <a:endParaRPr lang="zh-CN" altLang="en-US" dirty="0"/>
          </a:p>
        </p:txBody>
      </p:sp>
      <p:sp>
        <p:nvSpPr>
          <p:cNvPr id="34819" name="TextBox 2"/>
          <p:cNvSpPr txBox="1"/>
          <p:nvPr/>
        </p:nvSpPr>
        <p:spPr>
          <a:xfrm>
            <a:off x="1981200" y="1073785"/>
            <a:ext cx="8382000" cy="23996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</a:rPr>
              <a:t>在</a:t>
            </a:r>
            <a:r>
              <a:rPr lang="en-US" altLang="zh-CN" sz="2000" dirty="0">
                <a:latin typeface="Arial" panose="020B0604020202020204" pitchFamily="34" charset="0"/>
              </a:rPr>
              <a:t>Reduce</a:t>
            </a:r>
            <a:r>
              <a:rPr lang="zh-CN" altLang="en-US" sz="2000" dirty="0">
                <a:latin typeface="Arial" panose="020B0604020202020204" pitchFamily="34" charset="0"/>
              </a:rPr>
              <a:t>处理数据之前，</a:t>
            </a:r>
            <a:r>
              <a:rPr lang="en-US" altLang="zh-CN" sz="2000" dirty="0">
                <a:latin typeface="Arial" panose="020B0604020202020204" pitchFamily="34" charset="0"/>
              </a:rPr>
              <a:t>Map</a:t>
            </a:r>
            <a:r>
              <a:rPr lang="zh-CN" altLang="en-US" sz="2000" dirty="0">
                <a:latin typeface="Arial" panose="020B0604020202020204" pitchFamily="34" charset="0"/>
              </a:rPr>
              <a:t>的结果首先通过</a:t>
            </a:r>
            <a:r>
              <a:rPr lang="en-US" altLang="zh-CN" sz="2000" dirty="0">
                <a:latin typeface="Arial" panose="020B0604020202020204" pitchFamily="34" charset="0"/>
              </a:rPr>
              <a:t>Shuffle</a:t>
            </a:r>
            <a:r>
              <a:rPr lang="zh-CN" altLang="en-US" sz="2000" dirty="0">
                <a:latin typeface="Arial" panose="020B0604020202020204" pitchFamily="34" charset="0"/>
              </a:rPr>
              <a:t>阶段进行整理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</a:rPr>
              <a:t>Reduce</a:t>
            </a:r>
            <a:r>
              <a:rPr lang="zh-CN" altLang="en-US" sz="2000" dirty="0">
                <a:latin typeface="Arial" panose="020B0604020202020204" pitchFamily="34" charset="0"/>
              </a:rPr>
              <a:t>阶段的任务：对输入数字序列进行求和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</a:rPr>
              <a:t>Reduce</a:t>
            </a:r>
            <a:r>
              <a:rPr lang="zh-CN" altLang="en-US" sz="2000" dirty="0">
                <a:latin typeface="Arial" panose="020B0604020202020204" pitchFamily="34" charset="0"/>
              </a:rPr>
              <a:t>的输入数据为</a:t>
            </a:r>
            <a:r>
              <a:rPr lang="en-US" altLang="zh-CN" sz="2000" dirty="0">
                <a:latin typeface="Arial" panose="020B0604020202020204" pitchFamily="34" charset="0"/>
              </a:rPr>
              <a:t>&lt;key,Iterable</a:t>
            </a:r>
            <a:r>
              <a:rPr lang="zh-CN" altLang="en-US" sz="2000" dirty="0">
                <a:latin typeface="Arial" panose="020B0604020202020204" pitchFamily="34" charset="0"/>
              </a:rPr>
              <a:t>容器</a:t>
            </a:r>
            <a:r>
              <a:rPr lang="en-US" altLang="zh-CN" sz="2000" dirty="0">
                <a:latin typeface="Arial" panose="020B0604020202020204" pitchFamily="34" charset="0"/>
              </a:rPr>
              <a:t>&gt;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34820" name="Rectangle 4"/>
          <p:cNvSpPr/>
          <p:nvPr/>
        </p:nvSpPr>
        <p:spPr>
          <a:xfrm>
            <a:off x="2057400" y="3473609"/>
            <a:ext cx="3352800" cy="193802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Reduce</a:t>
            </a:r>
            <a:r>
              <a:rPr lang="zh-CN" altLang="en-US" sz="2000" dirty="0">
                <a:latin typeface="Times New Roman" panose="02020603050405020304" pitchFamily="18" charset="0"/>
              </a:rPr>
              <a:t>任务的输入数据：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&lt;</a:t>
            </a:r>
            <a:r>
              <a:rPr lang="en-US" altLang="zh-CN" sz="2000" dirty="0">
                <a:latin typeface="Arial" panose="020B0604020202020204" pitchFamily="34" charset="0"/>
              </a:rPr>
              <a:t>”</a:t>
            </a:r>
            <a:r>
              <a:rPr lang="en-US" altLang="zh-CN" sz="2000" dirty="0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Arial" panose="020B0604020202020204" pitchFamily="34" charset="0"/>
              </a:rPr>
              <a:t>”</a:t>
            </a:r>
            <a:r>
              <a:rPr lang="en-US" altLang="zh-CN" sz="2000" dirty="0">
                <a:latin typeface="Times New Roman" panose="02020603050405020304" pitchFamily="18" charset="0"/>
              </a:rPr>
              <a:t>,&lt;1,1&gt;&gt;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&lt;</a:t>
            </a:r>
            <a:r>
              <a:rPr lang="en-US" altLang="zh-CN" sz="2000" dirty="0">
                <a:latin typeface="Arial" panose="020B0604020202020204" pitchFamily="34" charset="0"/>
              </a:rPr>
              <a:t>”</a:t>
            </a:r>
            <a:r>
              <a:rPr lang="en-US" altLang="zh-CN" sz="2000" dirty="0">
                <a:latin typeface="Times New Roman" panose="02020603050405020304" pitchFamily="18" charset="0"/>
              </a:rPr>
              <a:t>is</a:t>
            </a:r>
            <a:r>
              <a:rPr lang="en-US" altLang="zh-CN" sz="2000" dirty="0">
                <a:latin typeface="Arial" panose="020B0604020202020204" pitchFamily="34" charset="0"/>
              </a:rPr>
              <a:t>”</a:t>
            </a:r>
            <a:r>
              <a:rPr lang="en-US" altLang="zh-CN" sz="2000" dirty="0">
                <a:latin typeface="Times New Roman" panose="02020603050405020304" pitchFamily="18" charset="0"/>
              </a:rPr>
              <a:t>,1&gt;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2000" dirty="0">
                <a:latin typeface="Arial" panose="020B0604020202020204" pitchFamily="34" charset="0"/>
                <a:ea typeface="Times New Roman" panose="02020603050405020304" pitchFamily="18" charset="0"/>
              </a:rPr>
              <a:t>……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&lt;</a:t>
            </a:r>
            <a:r>
              <a:rPr lang="en-US" altLang="zh-CN" sz="2000" dirty="0">
                <a:latin typeface="Arial" panose="020B0604020202020204" pitchFamily="34" charset="0"/>
              </a:rPr>
              <a:t>”</a:t>
            </a:r>
            <a:r>
              <a:rPr lang="en-US" altLang="zh-CN" sz="2000" dirty="0">
                <a:latin typeface="Times New Roman" panose="02020603050405020304" pitchFamily="18" charset="0"/>
              </a:rPr>
              <a:t>from</a:t>
            </a:r>
            <a:r>
              <a:rPr lang="en-US" altLang="zh-CN" sz="2000" dirty="0">
                <a:latin typeface="Arial" panose="020B0604020202020204" pitchFamily="34" charset="0"/>
              </a:rPr>
              <a:t>”</a:t>
            </a:r>
            <a:r>
              <a:rPr lang="en-US" altLang="zh-CN" sz="2000" dirty="0">
                <a:latin typeface="Times New Roman" panose="02020603050405020304" pitchFamily="18" charset="0"/>
              </a:rPr>
              <a:t>,1&gt;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&lt;</a:t>
            </a:r>
            <a:r>
              <a:rPr lang="en-US" altLang="zh-CN" sz="2000" dirty="0">
                <a:latin typeface="Arial" panose="020B0604020202020204" pitchFamily="34" charset="0"/>
              </a:rPr>
              <a:t>”</a:t>
            </a:r>
            <a:r>
              <a:rPr lang="en-US" altLang="zh-CN" sz="2000" dirty="0">
                <a:latin typeface="Times New Roman" panose="02020603050405020304" pitchFamily="18" charset="0"/>
              </a:rPr>
              <a:t>China</a:t>
            </a:r>
            <a:r>
              <a:rPr lang="en-US" altLang="zh-CN" sz="2000" dirty="0">
                <a:latin typeface="Arial" panose="020B0604020202020204" pitchFamily="34" charset="0"/>
              </a:rPr>
              <a:t>”</a:t>
            </a:r>
            <a:r>
              <a:rPr lang="en-US" altLang="zh-CN" sz="2000" dirty="0">
                <a:latin typeface="Times New Roman" panose="02020603050405020304" pitchFamily="18" charset="0"/>
              </a:rPr>
              <a:t>,&lt;1,1,1&gt;&gt;</a:t>
            </a:r>
            <a:r>
              <a:rPr lang="en-US" altLang="zh-CN" sz="2000" dirty="0">
                <a:latin typeface="Arial" panose="020B0604020202020204" pitchFamily="34" charset="0"/>
              </a:rPr>
              <a:t> 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/>
          <p:nvPr/>
        </p:nvSpPr>
        <p:spPr>
          <a:xfrm>
            <a:off x="2133600" y="1602105"/>
            <a:ext cx="7848600" cy="439991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public static class MyReducer extends Reducer&lt;Text,IntWritable,Text,IntWritable&gt;{ 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	                private IntWritable result = new IntWritable(); 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	                public void reduce(Text key, Iterable&lt;IntWritable&gt; values, Context context) throws IOException,InterruptedException{ 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	                        int sum = 0; 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	                        for (IntWritable val : values) 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	                        {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	                                sum += val.get(); 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	                        }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	                        result.set(sum); 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	                        context.write(key,result); 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	                } 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 sz="2000" dirty="0">
                <a:latin typeface="Times New Roman" panose="02020603050405020304" pitchFamily="18" charset="0"/>
              </a:rPr>
              <a:t>        }</a:t>
            </a:r>
            <a:r>
              <a:rPr lang="en-US" altLang="zh-CN" sz="2000" dirty="0">
                <a:latin typeface="Arial" panose="020B0604020202020204" pitchFamily="34" charset="0"/>
              </a:rPr>
              <a:t> 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  <p:sp>
        <p:nvSpPr>
          <p:cNvPr id="35843" name="标题 2"/>
          <p:cNvSpPr txBox="1"/>
          <p:nvPr/>
        </p:nvSpPr>
        <p:spPr>
          <a:xfrm>
            <a:off x="2667000" y="76200"/>
            <a:ext cx="8001000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marL="342900" indent="-342900" eaLnBrk="0" hangingPunct="0"/>
            <a:r>
              <a:rPr lang="en-US" altLang="zh-CN" sz="320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7.6.3 </a:t>
            </a:r>
            <a:r>
              <a:rPr lang="zh-CN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编写</a:t>
            </a:r>
            <a:r>
              <a:rPr lang="en-US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Reduce</a:t>
            </a:r>
            <a:r>
              <a:rPr lang="zh-CN" altLang="zh-CN" sz="3200" b="1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处理逻辑</a:t>
            </a:r>
            <a:endParaRPr lang="zh-CN" altLang="en-US" sz="3200" dirty="0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7.5.4 </a:t>
            </a:r>
            <a:r>
              <a:rPr lang="zh-CN" altLang="zh-CN" dirty="0"/>
              <a:t>编写</a:t>
            </a:r>
            <a:r>
              <a:rPr lang="en-US" altLang="zh-CN" dirty="0"/>
              <a:t>main</a:t>
            </a:r>
            <a:r>
              <a:rPr lang="zh-CN" altLang="zh-CN" dirty="0"/>
              <a:t>方法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14600" y="1408430"/>
          <a:ext cx="6858000" cy="5659120"/>
        </p:xfrm>
        <a:graphic>
          <a:graphicData uri="http://schemas.openxmlformats.org/drawingml/2006/table">
            <a:tbl>
              <a:tblPr/>
              <a:tblGrid>
                <a:gridCol w="6858000"/>
              </a:tblGrid>
              <a:tr h="4486275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public static void main(String[]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args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 throws Exception{  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Configuration conf = new Configuration();  //</a:t>
                      </a:r>
                      <a:r>
                        <a:rPr kumimoji="0" 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程序运行时参数</a:t>
                      </a:r>
                      <a:endParaRPr kumimoji="0" 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String[]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otherArgs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= new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GenericOptionsParser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conf,args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).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getRemainingArgs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();  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if (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otherArgs.length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!= 2)  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{     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System.err.println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("Usage: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wordcount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&lt;in&gt; &lt;out&gt;");  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       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System.exit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(2);  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}  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Job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job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= new Job(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conf,"word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count");  //</a:t>
                      </a:r>
                      <a:r>
                        <a:rPr kumimoji="0" 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设置环境参数</a:t>
                      </a:r>
                      <a:endParaRPr kumimoji="0" 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job.setJarByClass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WordCount.class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);  //</a:t>
                      </a:r>
                      <a:r>
                        <a:rPr kumimoji="0" 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设置整个程序的类名</a:t>
                      </a:r>
                      <a:endParaRPr kumimoji="0" 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job.setMapperClass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MyMapper.class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);  //</a:t>
                      </a:r>
                      <a:r>
                        <a:rPr kumimoji="0" 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添加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MyMapper</a:t>
                      </a:r>
                      <a:r>
                        <a:rPr kumimoji="0" 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</a:t>
                      </a:r>
                      <a:endParaRPr kumimoji="0" 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job.setReducerClass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MyReducer.class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);  //</a:t>
                      </a:r>
                      <a:r>
                        <a:rPr kumimoji="0" 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添加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MyReducer</a:t>
                      </a:r>
                      <a:r>
                        <a:rPr kumimoji="0" 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类</a:t>
                      </a:r>
                      <a:endParaRPr kumimoji="0" 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job.setOutputKeyClass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Text.class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);  //</a:t>
                      </a:r>
                      <a:r>
                        <a:rPr kumimoji="0" 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设置输出类型</a:t>
                      </a:r>
                      <a:endParaRPr kumimoji="0" 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job.setOutputValueClass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IntWritable.class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);  //</a:t>
                      </a:r>
                      <a:r>
                        <a:rPr kumimoji="0" 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设置输出类型</a:t>
                      </a:r>
                      <a:endParaRPr kumimoji="0" 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FileInputFormat.addInputPath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job,new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Path(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otherArgs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[0]));  //</a:t>
                      </a:r>
                      <a:r>
                        <a:rPr kumimoji="0" 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设置输入文件</a:t>
                      </a:r>
                      <a:endParaRPr kumimoji="0" 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FileOutputFormat.setOutputPath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job,new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Path(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otherArgs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[1])); //</a:t>
                      </a:r>
                      <a:r>
                        <a:rPr kumimoji="0" 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设置输出文件</a:t>
                      </a:r>
                      <a:endParaRPr kumimoji="0" 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        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System.exit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en-US" altLang="zh-CN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job.waitForCompletion</a:t>
                      </a: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(true)?0:1);  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       }</a:t>
                      </a: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charset="0"/>
                        <a:ea typeface="黑体" panose="02010609060101010101" pitchFamily="49" charset="-122"/>
                      </a:endParaRPr>
                    </a:p>
                  </a:txBody>
                  <a:tcPr marL="55306" marR="55306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矩形 2"/>
          <p:cNvSpPr/>
          <p:nvPr/>
        </p:nvSpPr>
        <p:spPr>
          <a:xfrm>
            <a:off x="2819400" y="1143000"/>
            <a:ext cx="6934200" cy="47694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0" hangingPunct="0"/>
            <a:r>
              <a:rPr lang="en-US" altLang="zh-CN" sz="1600" dirty="0">
                <a:latin typeface="Times New Roman" panose="02020603050405020304" pitchFamily="18" charset="0"/>
              </a:rPr>
              <a:t>import java.io.IOException;  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600" dirty="0">
                <a:latin typeface="Times New Roman" panose="02020603050405020304" pitchFamily="18" charset="0"/>
              </a:rPr>
              <a:t>import java.util.StringTokenizer;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600" dirty="0">
                <a:latin typeface="Times New Roman" panose="02020603050405020304" pitchFamily="18" charset="0"/>
              </a:rPr>
              <a:t>import org.apache.hadoop.conf.Configuration;  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600" dirty="0">
                <a:latin typeface="Times New Roman" panose="02020603050405020304" pitchFamily="18" charset="0"/>
              </a:rPr>
              <a:t>import org.apache.hadoop.fs.Path;  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600" dirty="0">
                <a:latin typeface="Times New Roman" panose="02020603050405020304" pitchFamily="18" charset="0"/>
              </a:rPr>
              <a:t>import org.apache.hadoop.io.IntWritable;  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600" dirty="0">
                <a:latin typeface="Times New Roman" panose="02020603050405020304" pitchFamily="18" charset="0"/>
              </a:rPr>
              <a:t>import org.apache.hadoop.io.Text;  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600" dirty="0">
                <a:latin typeface="Times New Roman" panose="02020603050405020304" pitchFamily="18" charset="0"/>
              </a:rPr>
              <a:t>import org.apache.hadoop.mapreduce.Job;  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600" dirty="0">
                <a:latin typeface="Times New Roman" panose="02020603050405020304" pitchFamily="18" charset="0"/>
              </a:rPr>
              <a:t>import org.apache.hadoop.mapreduce.Mapper;  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600" dirty="0">
                <a:latin typeface="Times New Roman" panose="02020603050405020304" pitchFamily="18" charset="0"/>
              </a:rPr>
              <a:t>import org.apache.hadoop.mapreduce.Reducer;  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600" dirty="0">
                <a:latin typeface="Times New Roman" panose="02020603050405020304" pitchFamily="18" charset="0"/>
              </a:rPr>
              <a:t>import org.apache.hadoop.mapreduce.lib.input.FileInputFormat;  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600" dirty="0">
                <a:latin typeface="Times New Roman" panose="02020603050405020304" pitchFamily="18" charset="0"/>
              </a:rPr>
              <a:t>import org.apache.hadoop.mapreduce.lib.output.FileOutputFormat;  </a:t>
            </a:r>
            <a:endParaRPr lang="en-US" altLang="zh-CN" sz="16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600" dirty="0">
                <a:latin typeface="Times New Roman" panose="02020603050405020304" pitchFamily="18" charset="0"/>
              </a:rPr>
              <a:t>import org.apache.hadoop.util.GenericOptionsParser;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eaLnBrk="0" hangingPunct="0"/>
            <a:endParaRPr lang="en-US" altLang="zh-CN" sz="1600" dirty="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 sz="1600" dirty="0">
                <a:latin typeface="Times New Roman" panose="02020603050405020304" pitchFamily="18" charset="0"/>
              </a:rPr>
              <a:t>public class WordCount{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eaLnBrk="0" hangingPunct="0"/>
            <a:endParaRPr lang="en-US" altLang="zh-CN" sz="1600" dirty="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//WordCount</a:t>
            </a:r>
            <a:r>
              <a:rPr lang="zh-CN" altLang="en-US" sz="1600" dirty="0">
                <a:solidFill>
                  <a:srgbClr val="FF0000"/>
                </a:solidFill>
                <a:latin typeface="Times New Roman" panose="02020603050405020304" pitchFamily="18" charset="0"/>
              </a:rPr>
              <a:t>类的具体代码见下一页</a:t>
            </a:r>
            <a:endParaRPr lang="en-US" altLang="zh-CN" sz="16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0" hangingPunct="0"/>
            <a:endParaRPr lang="en-US" altLang="zh-CN" sz="1600" dirty="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 sz="1600" dirty="0">
                <a:latin typeface="Times New Roman" panose="02020603050405020304" pitchFamily="18" charset="0"/>
              </a:rPr>
              <a:t>}</a:t>
            </a:r>
            <a:endParaRPr lang="en-US" altLang="zh-CN" sz="1600" dirty="0">
              <a:latin typeface="Times New Roman" panose="02020603050405020304" pitchFamily="18" charset="0"/>
            </a:endParaRPr>
          </a:p>
          <a:p>
            <a:pPr eaLnBrk="0" hangingPunct="0"/>
            <a:endParaRPr lang="zh-CN" altLang="en-US" sz="1600" dirty="0">
              <a:latin typeface="Arial" panose="020B0604020202020204" pitchFamily="34" charset="0"/>
            </a:endParaRPr>
          </a:p>
        </p:txBody>
      </p:sp>
      <p:sp>
        <p:nvSpPr>
          <p:cNvPr id="37891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完整代码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/>
        </p:nvSpPr>
        <p:spPr>
          <a:xfrm>
            <a:off x="2514600" y="0"/>
            <a:ext cx="8382000" cy="11430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915" name="Rectangle 1"/>
          <p:cNvSpPr/>
          <p:nvPr/>
        </p:nvSpPr>
        <p:spPr>
          <a:xfrm>
            <a:off x="2057400" y="0"/>
            <a:ext cx="8991600" cy="67087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0" hangingPunct="0"/>
            <a:r>
              <a:rPr lang="en-US" altLang="zh-CN" sz="900" dirty="0">
                <a:latin typeface="Times New Roman" panose="02020603050405020304" pitchFamily="18" charset="0"/>
              </a:rPr>
              <a:t>	</a:t>
            </a:r>
            <a:r>
              <a:rPr lang="en-US" altLang="zh-CN" sz="1000" dirty="0">
                <a:latin typeface="Times New Roman" panose="02020603050405020304" pitchFamily="18" charset="0"/>
              </a:rPr>
              <a:t>public class WordCount{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public static class MyMapper extends Mapper&lt;Object,Text,Text,IntWritable&gt;{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private final static IntWritable one = new IntWritable(1);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private Text word = new Text();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public void map(Object key, Text value, Context context) throws IOException,InterruptedException{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        StringTokenizer itr = new StringTokenizer(value.toString());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        while (itr.hasMoreTokens()){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                word.set(itr.nextToken());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                context.write(word,one);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        }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}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}  	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public static class MyReducer extends Reducer&lt;Text,IntWritable,Text,IntWritable&gt;{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private IntWritable result = new IntWritable();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public void reduce(Text key, Iterable&lt;IntWritable&gt; values, Context context) throws IOException,InterruptedException{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        int sum = 0;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        for (IntWritable val : values)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        {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                sum += val.get();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        }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        result.set(sum);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        context.write(key,result);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}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}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public static void main(String[] args) throws Exception{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Configuration conf = new Configuration();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String[] otherArgs = new GenericOptionsParser(conf,args).getRemainingArgs();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if (otherArgs.length != 2)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{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        System.err.println("Usage: wordcount &lt;in&gt; &lt;out&gt;");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        System.exit(2);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}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Job job = new Job(conf,"word count");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job.setJarByClass(WordCount.class);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job.setMapperClass(MyMapper.class);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job.setReducerClass(MyReducer.class);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job.setOutputKeyClass(Text.class);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job.setOutputValueClass(IntWritable.class);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FileInputFormat.addInputPath(job,new Path(otherArgs[0]));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FileOutputFormat.setOutputPath(job,new Path(otherArgs[1]));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        System.exit(job.waitForCompletion(true)?0:1);  </a:t>
            </a:r>
            <a:endParaRPr lang="en-US" altLang="zh-CN" sz="1000" dirty="0">
              <a:latin typeface="Arial" panose="020B0604020202020204" pitchFamily="34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	        }  </a:t>
            </a:r>
            <a:endParaRPr lang="en-US" altLang="zh-CN" sz="1000" dirty="0">
              <a:latin typeface="Times New Roman" panose="02020603050405020304" pitchFamily="18" charset="0"/>
            </a:endParaRPr>
          </a:p>
          <a:p>
            <a:pPr eaLnBrk="0" hangingPunct="0"/>
            <a:r>
              <a:rPr lang="en-US" altLang="zh-CN" sz="1000" dirty="0">
                <a:latin typeface="Times New Roman" panose="02020603050405020304" pitchFamily="18" charset="0"/>
              </a:rPr>
              <a:t>}  </a:t>
            </a:r>
            <a:endParaRPr lang="en-US" altLang="zh-CN" sz="1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7.5.5 </a:t>
            </a:r>
            <a:r>
              <a:rPr lang="zh-CN" altLang="zh-CN" dirty="0"/>
              <a:t>编译打包代码以及运行程序</a:t>
            </a:r>
            <a:endParaRPr lang="zh-CN" altLang="en-US" dirty="0"/>
          </a:p>
        </p:txBody>
      </p:sp>
      <p:sp>
        <p:nvSpPr>
          <p:cNvPr id="39939" name="TextBox 4"/>
          <p:cNvSpPr txBox="1"/>
          <p:nvPr/>
        </p:nvSpPr>
        <p:spPr>
          <a:xfrm>
            <a:off x="2133600" y="1524000"/>
            <a:ext cx="8077200" cy="31692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>
                <a:latin typeface="Arial" panose="020B0604020202020204" pitchFamily="34" charset="0"/>
              </a:rPr>
              <a:t>实验步骤</a:t>
            </a:r>
            <a:r>
              <a:rPr lang="zh-CN" altLang="en-US" sz="2000" dirty="0">
                <a:latin typeface="Arial" panose="020B0604020202020204" pitchFamily="34" charset="0"/>
              </a:rPr>
              <a:t>：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</a:rPr>
              <a:t>使用</a:t>
            </a:r>
            <a:r>
              <a:rPr lang="en-US" altLang="zh-CN" sz="2000" dirty="0">
                <a:latin typeface="Arial" panose="020B0604020202020204" pitchFamily="34" charset="0"/>
              </a:rPr>
              <a:t>java</a:t>
            </a:r>
            <a:r>
              <a:rPr lang="zh-CN" altLang="en-US" sz="2000" dirty="0">
                <a:latin typeface="Arial" panose="020B0604020202020204" pitchFamily="34" charset="0"/>
              </a:rPr>
              <a:t>编译程序，生成</a:t>
            </a:r>
            <a:r>
              <a:rPr lang="en-US" altLang="zh-CN" sz="2000" dirty="0">
                <a:latin typeface="Arial" panose="020B0604020202020204" pitchFamily="34" charset="0"/>
              </a:rPr>
              <a:t>.class</a:t>
            </a:r>
            <a:r>
              <a:rPr lang="zh-CN" altLang="en-US" sz="2000" dirty="0">
                <a:latin typeface="Arial" panose="020B0604020202020204" pitchFamily="34" charset="0"/>
              </a:rPr>
              <a:t>文件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</a:rPr>
              <a:t>将</a:t>
            </a:r>
            <a:r>
              <a:rPr lang="en-US" altLang="zh-CN" sz="2000" dirty="0">
                <a:latin typeface="Arial" panose="020B0604020202020204" pitchFamily="34" charset="0"/>
              </a:rPr>
              <a:t>.class</a:t>
            </a:r>
            <a:r>
              <a:rPr lang="zh-CN" altLang="en-US" sz="2000" dirty="0">
                <a:latin typeface="Arial" panose="020B0604020202020204" pitchFamily="34" charset="0"/>
              </a:rPr>
              <a:t>文件打包为</a:t>
            </a:r>
            <a:r>
              <a:rPr lang="en-US" altLang="zh-CN" sz="2000" dirty="0">
                <a:latin typeface="Arial" panose="020B0604020202020204" pitchFamily="34" charset="0"/>
              </a:rPr>
              <a:t>jar</a:t>
            </a:r>
            <a:r>
              <a:rPr lang="zh-CN" altLang="en-US" sz="2000" dirty="0">
                <a:latin typeface="Arial" panose="020B0604020202020204" pitchFamily="34" charset="0"/>
              </a:rPr>
              <a:t>包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</a:rPr>
              <a:t>运行</a:t>
            </a:r>
            <a:r>
              <a:rPr lang="en-US" altLang="zh-CN" sz="2000" dirty="0">
                <a:latin typeface="Arial" panose="020B0604020202020204" pitchFamily="34" charset="0"/>
              </a:rPr>
              <a:t>jar</a:t>
            </a:r>
            <a:r>
              <a:rPr lang="zh-CN" altLang="en-US" sz="2000" dirty="0">
                <a:latin typeface="Arial" panose="020B0604020202020204" pitchFamily="34" charset="0"/>
              </a:rPr>
              <a:t>包（需要启动</a:t>
            </a:r>
            <a:r>
              <a:rPr lang="en-US" altLang="zh-CN" sz="2000" dirty="0">
                <a:latin typeface="Arial" panose="020B0604020202020204" pitchFamily="34" charset="0"/>
              </a:rPr>
              <a:t>Hadoop</a:t>
            </a:r>
            <a:r>
              <a:rPr lang="zh-CN" altLang="en-US" sz="2000" dirty="0">
                <a:latin typeface="Arial" panose="020B0604020202020204" pitchFamily="34" charset="0"/>
              </a:rPr>
              <a:t>）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Arial" panose="020B0604020202020204" pitchFamily="34" charset="0"/>
              </a:rPr>
              <a:t>查看结果</a:t>
            </a:r>
            <a:endParaRPr lang="en-US" altLang="zh-CN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7.5.5 </a:t>
            </a:r>
            <a:r>
              <a:rPr lang="zh-CN" altLang="zh-CN" dirty="0"/>
              <a:t>编译打包代码以及运行程序</a:t>
            </a:r>
            <a:endParaRPr lang="zh-CN" altLang="en-US" dirty="0"/>
          </a:p>
        </p:txBody>
      </p:sp>
      <p:sp>
        <p:nvSpPr>
          <p:cNvPr id="40963" name="矩形 2"/>
          <p:cNvSpPr/>
          <p:nvPr/>
        </p:nvSpPr>
        <p:spPr>
          <a:xfrm>
            <a:off x="2057400" y="1295400"/>
            <a:ext cx="33832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</a:rPr>
              <a:t>Hadoop 3.1.3 </a:t>
            </a:r>
            <a:r>
              <a:rPr lang="zh-CN" altLang="en-US" b="1" dirty="0">
                <a:latin typeface="Arial" panose="020B0604020202020204" pitchFamily="34" charset="0"/>
              </a:rPr>
              <a:t>版本中的依赖 </a:t>
            </a:r>
            <a:r>
              <a:rPr lang="en-US" altLang="zh-CN" b="1" dirty="0">
                <a:latin typeface="Arial" panose="020B0604020202020204" pitchFamily="34" charset="0"/>
              </a:rPr>
              <a:t>jar</a:t>
            </a:r>
            <a:endParaRPr lang="en-US" altLang="zh-CN" b="1" dirty="0">
              <a:latin typeface="Arial" panose="020B0604020202020204" pitchFamily="34" charset="0"/>
            </a:endParaRPr>
          </a:p>
        </p:txBody>
      </p:sp>
      <p:sp>
        <p:nvSpPr>
          <p:cNvPr id="40964" name="Rectangle 1"/>
          <p:cNvSpPr/>
          <p:nvPr/>
        </p:nvSpPr>
        <p:spPr>
          <a:xfrm>
            <a:off x="2057400" y="2213452"/>
            <a:ext cx="8229600" cy="2556510"/>
          </a:xfrm>
          <a:prstGeom prst="rect">
            <a:avLst/>
          </a:prstGeom>
          <a:noFill/>
          <a:ln w="9525">
            <a:noFill/>
          </a:ln>
        </p:spPr>
        <p:txBody>
          <a:bodyPr lIns="95220" tIns="0" rIns="0" bIns="95220" anchor="ctr" anchorCtr="0">
            <a:spAutoFit/>
          </a:bodyPr>
          <a:lstStyle/>
          <a:p>
            <a:pPr eaLnBrk="0" hangingPunct="0"/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使用 </a:t>
            </a: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Hadoop </a:t>
            </a:r>
            <a:r>
              <a:rPr lang="en-US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3</a:t>
            </a: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.</a:t>
            </a:r>
            <a:r>
              <a:rPr lang="en-US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1</a:t>
            </a: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.</a:t>
            </a:r>
            <a:r>
              <a:rPr lang="en-US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3</a:t>
            </a: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运行 </a:t>
            </a: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WordCount 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实例至少需要如下三个 </a:t>
            </a: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jar:</a:t>
            </a:r>
            <a:endParaRPr lang="zh-CN" altLang="zh-CN" sz="2000" dirty="0">
              <a:latin typeface="Arial" panose="020B0604020202020204" pitchFamily="34" charset="0"/>
            </a:endParaRPr>
          </a:p>
          <a:p>
            <a:pPr eaLnBrk="0" hangingPunct="0">
              <a:buChar char="•"/>
            </a:pP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$HADOOP_HOME/share/hadoop/common/hadoop-common-</a:t>
            </a:r>
            <a:r>
              <a:rPr lang="en-US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3</a:t>
            </a: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.</a:t>
            </a:r>
            <a:r>
              <a:rPr lang="en-US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1</a:t>
            </a: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.</a:t>
            </a:r>
            <a:r>
              <a:rPr lang="en-US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3</a:t>
            </a: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.jar</a:t>
            </a:r>
            <a:endParaRPr lang="zh-CN" altLang="zh-CN" sz="20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eaLnBrk="0" hangingPunct="0">
              <a:buChar char="•"/>
            </a:pP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$HADOOP_HOME/share/hadoop/mapreduce/hadoop-mapreduce-client-core-</a:t>
            </a:r>
            <a:r>
              <a:rPr lang="en-US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3</a:t>
            </a: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.</a:t>
            </a:r>
            <a:r>
              <a:rPr lang="en-US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1</a:t>
            </a: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.</a:t>
            </a:r>
            <a:r>
              <a:rPr lang="en-US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3</a:t>
            </a: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.jar</a:t>
            </a:r>
            <a:endParaRPr lang="zh-CN" altLang="zh-CN" sz="20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eaLnBrk="0" hangingPunct="0">
              <a:buChar char="•"/>
            </a:pP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$HADOOP_HOME/share/hadoop/common/lib/commons-cli-1.2.jar</a:t>
            </a:r>
            <a:endParaRPr lang="en-US" altLang="zh-CN" sz="20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eaLnBrk="0" hangingPunct="0">
              <a:buChar char="•"/>
            </a:pPr>
            <a:endParaRPr lang="zh-CN" altLang="zh-CN" sz="2000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eaLnBrk="0" fontAlgn="ctr" hangingPunct="0"/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通过命令</a:t>
            </a:r>
            <a:r>
              <a:rPr lang="en-US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 </a:t>
            </a:r>
            <a:r>
              <a:rPr lang="zh-CN" altLang="zh-CN" sz="2000" dirty="0">
                <a:solidFill>
                  <a:srgbClr val="333333"/>
                </a:solidFill>
                <a:latin typeface="Arial Unicode MS" panose="020B0604020202020204" charset="-122"/>
              </a:rPr>
              <a:t>hadoop classpath</a:t>
            </a: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 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可以得到运行 </a:t>
            </a: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Hadoop 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程序所需的全部 </a:t>
            </a:r>
            <a:r>
              <a:rPr lang="zh-CN" altLang="zh-CN" sz="2000" dirty="0">
                <a:solidFill>
                  <a:srgbClr val="333333"/>
                </a:solidFill>
                <a:latin typeface="Arial" panose="020B0604020202020204" pitchFamily="34" charset="0"/>
              </a:rPr>
              <a:t>classpath</a:t>
            </a:r>
            <a:r>
              <a:rPr lang="zh-CN" altLang="en-US" sz="2000" dirty="0">
                <a:solidFill>
                  <a:srgbClr val="333333"/>
                </a:solidFill>
                <a:latin typeface="Arial" panose="020B0604020202020204" pitchFamily="34" charset="0"/>
              </a:rPr>
              <a:t>信息</a:t>
            </a:r>
            <a:endParaRPr lang="zh-CN" altLang="en-US" sz="2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7.5.5 </a:t>
            </a:r>
            <a:r>
              <a:rPr lang="zh-CN" altLang="zh-CN" dirty="0"/>
              <a:t>编译打包代码以及运行程序</a:t>
            </a:r>
            <a:endParaRPr lang="zh-CN" altLang="en-US" dirty="0"/>
          </a:p>
        </p:txBody>
      </p:sp>
      <p:sp>
        <p:nvSpPr>
          <p:cNvPr id="41987" name="矩形 2"/>
          <p:cNvSpPr/>
          <p:nvPr/>
        </p:nvSpPr>
        <p:spPr>
          <a:xfrm>
            <a:off x="2133600" y="1371600"/>
            <a:ext cx="75438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将 </a:t>
            </a:r>
            <a:r>
              <a:rPr lang="en-US" altLang="zh-CN" dirty="0">
                <a:latin typeface="Arial" panose="020B0604020202020204" pitchFamily="34" charset="0"/>
              </a:rPr>
              <a:t>Hadoop </a:t>
            </a:r>
            <a:r>
              <a:rPr lang="zh-CN" altLang="en-US" dirty="0">
                <a:latin typeface="Arial" panose="020B0604020202020204" pitchFamily="34" charset="0"/>
              </a:rPr>
              <a:t>的 </a:t>
            </a:r>
            <a:r>
              <a:rPr lang="en-US" altLang="zh-CN" dirty="0">
                <a:latin typeface="Arial" panose="020B0604020202020204" pitchFamily="34" charset="0"/>
              </a:rPr>
              <a:t>classhpath </a:t>
            </a:r>
            <a:r>
              <a:rPr lang="zh-CN" altLang="en-US" dirty="0">
                <a:latin typeface="Arial" panose="020B0604020202020204" pitchFamily="34" charset="0"/>
              </a:rPr>
              <a:t>信息添加到 </a:t>
            </a:r>
            <a:r>
              <a:rPr lang="en-US" altLang="zh-CN" dirty="0">
                <a:latin typeface="Arial" panose="020B0604020202020204" pitchFamily="34" charset="0"/>
              </a:rPr>
              <a:t>CLASSPATH </a:t>
            </a:r>
            <a:r>
              <a:rPr lang="zh-CN" altLang="en-US" dirty="0">
                <a:latin typeface="Arial" panose="020B0604020202020204" pitchFamily="34" charset="0"/>
              </a:rPr>
              <a:t>变量中，在 </a:t>
            </a:r>
            <a:r>
              <a:rPr lang="en-US" altLang="zh-CN" dirty="0">
                <a:latin typeface="Arial" panose="020B0604020202020204" pitchFamily="34" charset="0"/>
              </a:rPr>
              <a:t>~/.bashrc </a:t>
            </a:r>
            <a:r>
              <a:rPr lang="zh-CN" altLang="en-US" dirty="0">
                <a:latin typeface="Arial" panose="020B0604020202020204" pitchFamily="34" charset="0"/>
              </a:rPr>
              <a:t>中增加如下几行：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88" name="Rectangle 2"/>
          <p:cNvSpPr/>
          <p:nvPr/>
        </p:nvSpPr>
        <p:spPr>
          <a:xfrm>
            <a:off x="2209800" y="2134712"/>
            <a:ext cx="7543800" cy="605790"/>
          </a:xfrm>
          <a:prstGeom prst="rect">
            <a:avLst/>
          </a:prstGeom>
          <a:solidFill>
            <a:srgbClr val="F5F5F5"/>
          </a:solidFill>
          <a:ln w="9525">
            <a:noFill/>
          </a:ln>
        </p:spPr>
        <p:txBody>
          <a:bodyPr lIns="0" tIns="0" rIns="0" bIns="114264" anchor="ctr" anchorCtr="0">
            <a:spAutoFit/>
          </a:bodyPr>
          <a:lstStyle/>
          <a:p>
            <a:pPr eaLnBrk="0" fontAlgn="ctr" hangingPunct="0"/>
            <a:r>
              <a:rPr lang="zh-CN" altLang="zh-CN" sz="1600" dirty="0">
                <a:solidFill>
                  <a:srgbClr val="151515"/>
                </a:solidFill>
                <a:latin typeface="Arial Unicode MS" panose="020B0604020202020204" charset="-122"/>
              </a:rPr>
              <a:t>export HADOOP_HOME=/usr/local/hadoop export CLASSPATH=$($HADOOP_HOME/bin/hadoop classpath):$CLASSPATH</a:t>
            </a:r>
            <a:r>
              <a:rPr lang="zh-CN" altLang="zh-CN" sz="1600" dirty="0">
                <a:latin typeface="Arial" panose="020B0604020202020204" pitchFamily="34" charset="0"/>
              </a:rPr>
              <a:t> </a:t>
            </a:r>
            <a:endParaRPr lang="zh-CN" altLang="zh-CN" sz="1600" dirty="0">
              <a:latin typeface="Arial" panose="020B0604020202020204" pitchFamily="34" charset="0"/>
            </a:endParaRPr>
          </a:p>
        </p:txBody>
      </p:sp>
      <p:sp>
        <p:nvSpPr>
          <p:cNvPr id="41989" name="矩形 5"/>
          <p:cNvSpPr/>
          <p:nvPr/>
        </p:nvSpPr>
        <p:spPr>
          <a:xfrm>
            <a:off x="2133600" y="2935288"/>
            <a:ext cx="76962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执行 </a:t>
            </a:r>
            <a:r>
              <a:rPr lang="en-US" altLang="zh-CN" dirty="0">
                <a:latin typeface="Arial" panose="020B0604020202020204" pitchFamily="34" charset="0"/>
              </a:rPr>
              <a:t>source ~/.bashrc </a:t>
            </a:r>
            <a:r>
              <a:rPr lang="zh-CN" altLang="en-US" dirty="0">
                <a:latin typeface="Arial" panose="020B0604020202020204" pitchFamily="34" charset="0"/>
              </a:rPr>
              <a:t>使变量生效，接着就可以通过 </a:t>
            </a:r>
            <a:r>
              <a:rPr lang="en-US" altLang="zh-CN" dirty="0">
                <a:latin typeface="Arial" panose="020B0604020202020204" pitchFamily="34" charset="0"/>
              </a:rPr>
              <a:t>javac </a:t>
            </a:r>
            <a:r>
              <a:rPr lang="zh-CN" altLang="en-US" dirty="0">
                <a:latin typeface="Arial" panose="020B0604020202020204" pitchFamily="34" charset="0"/>
              </a:rPr>
              <a:t>命令编译 </a:t>
            </a:r>
            <a:r>
              <a:rPr lang="en-US" altLang="zh-CN" dirty="0">
                <a:latin typeface="Arial" panose="020B0604020202020204" pitchFamily="34" charset="0"/>
              </a:rPr>
              <a:t>WordCount.java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41990" name="Picture 4" descr="C:\Users\Lenovo\AppData\Roaming\Tencent\Users\70004972\QQ\WinTemp\RichOle\%BK4J)O{IILLLGNA5E(}7F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3733800"/>
            <a:ext cx="2276475" cy="428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91" name="矩形 7"/>
          <p:cNvSpPr/>
          <p:nvPr/>
        </p:nvSpPr>
        <p:spPr>
          <a:xfrm>
            <a:off x="2133600" y="4343400"/>
            <a:ext cx="762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接着把 </a:t>
            </a:r>
            <a:r>
              <a:rPr lang="en-US" altLang="zh-CN" dirty="0">
                <a:latin typeface="Arial" panose="020B0604020202020204" pitchFamily="34" charset="0"/>
              </a:rPr>
              <a:t>.class </a:t>
            </a:r>
            <a:r>
              <a:rPr lang="zh-CN" altLang="en-US" dirty="0">
                <a:latin typeface="Arial" panose="020B0604020202020204" pitchFamily="34" charset="0"/>
              </a:rPr>
              <a:t>文件打包成 </a:t>
            </a:r>
            <a:r>
              <a:rPr lang="en-US" altLang="zh-CN" dirty="0">
                <a:latin typeface="Arial" panose="020B0604020202020204" pitchFamily="34" charset="0"/>
              </a:rPr>
              <a:t>jar</a:t>
            </a:r>
            <a:r>
              <a:rPr lang="zh-CN" altLang="en-US" dirty="0">
                <a:latin typeface="Arial" panose="020B0604020202020204" pitchFamily="34" charset="0"/>
              </a:rPr>
              <a:t>，才能在 </a:t>
            </a:r>
            <a:r>
              <a:rPr lang="en-US" altLang="zh-CN" dirty="0">
                <a:latin typeface="Arial" panose="020B0604020202020204" pitchFamily="34" charset="0"/>
              </a:rPr>
              <a:t>Hadoop </a:t>
            </a:r>
            <a:r>
              <a:rPr lang="zh-CN" altLang="en-US" dirty="0">
                <a:latin typeface="Arial" panose="020B0604020202020204" pitchFamily="34" charset="0"/>
              </a:rPr>
              <a:t>中运行：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41992" name="Picture 5" descr="C:\Users\Lenovo\AppData\Roaming\Tencent\Users\70004972\QQ\WinTemp\RichOle\I$BMKG$%2T1YL5EP[_09(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876800"/>
            <a:ext cx="3657600" cy="466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93" name="Picture 6" descr="C:\Users\Lenovo\AppData\Roaming\Tencent\Users\70004972\QQ\WinTemp\RichOle\XB`E1U%Z_F2@VS9U8F%XKL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9163" y="5953125"/>
            <a:ext cx="6134100" cy="3714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94" name="TextBox 10"/>
          <p:cNvSpPr txBox="1"/>
          <p:nvPr/>
        </p:nvSpPr>
        <p:spPr>
          <a:xfrm>
            <a:off x="2090738" y="5486400"/>
            <a:ext cx="13258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</a:rPr>
              <a:t>运行程序：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en-US" altLang="zh-CN" dirty="0"/>
              <a:t>7.5.5 </a:t>
            </a:r>
            <a:r>
              <a:rPr lang="zh-CN" altLang="zh-CN" dirty="0"/>
              <a:t>编译打包代码以及运行程序</a:t>
            </a:r>
            <a:endParaRPr lang="zh-CN" altLang="en-US" dirty="0"/>
          </a:p>
        </p:txBody>
      </p:sp>
      <p:sp>
        <p:nvSpPr>
          <p:cNvPr id="74755" name="矩形 2"/>
          <p:cNvSpPr/>
          <p:nvPr/>
        </p:nvSpPr>
        <p:spPr>
          <a:xfrm>
            <a:off x="2362200" y="1371600"/>
            <a:ext cx="7467600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</a:rPr>
              <a:t>词频统计结果已经被写入了</a:t>
            </a:r>
            <a:r>
              <a:rPr lang="en-US" altLang="zh-CN" sz="2400" dirty="0">
                <a:latin typeface="Arial" panose="020B0604020202020204" pitchFamily="34" charset="0"/>
              </a:rPr>
              <a:t>HDFS</a:t>
            </a:r>
            <a:r>
              <a:rPr lang="zh-CN" altLang="en-US" sz="2400" dirty="0">
                <a:latin typeface="Arial" panose="020B0604020202020204" pitchFamily="34" charset="0"/>
              </a:rPr>
              <a:t>的“</a:t>
            </a:r>
            <a:r>
              <a:rPr lang="en-US" altLang="zh-CN" sz="2400" dirty="0">
                <a:latin typeface="Arial" panose="020B0604020202020204" pitchFamily="34" charset="0"/>
              </a:rPr>
              <a:t>/user/hadoop/output”</a:t>
            </a:r>
            <a:r>
              <a:rPr lang="zh-CN" altLang="en-US" sz="2400" dirty="0">
                <a:latin typeface="Arial" panose="020B0604020202020204" pitchFamily="34" charset="0"/>
              </a:rPr>
              <a:t>目录中，可以执行如下命令查看词频统计结果：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74756" name="TextBox 3"/>
          <p:cNvSpPr txBox="1"/>
          <p:nvPr/>
        </p:nvSpPr>
        <p:spPr>
          <a:xfrm>
            <a:off x="2514600" y="2819400"/>
            <a:ext cx="5562600" cy="64516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cd /usr/local/hadoop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./bin/hdfs dfs -cat output/*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4757" name="矩形 4"/>
          <p:cNvSpPr/>
          <p:nvPr/>
        </p:nvSpPr>
        <p:spPr>
          <a:xfrm>
            <a:off x="2362200" y="3657600"/>
            <a:ext cx="7315200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r>
              <a:rPr lang="zh-CN" altLang="en-US" sz="2400" dirty="0">
                <a:latin typeface="Arial" panose="020B0604020202020204" pitchFamily="34" charset="0"/>
              </a:rPr>
              <a:t>上面命令执行后，会在屏幕上显示如下词频统计结果：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74758" name="TextBox 5"/>
          <p:cNvSpPr txBox="1"/>
          <p:nvPr/>
        </p:nvSpPr>
        <p:spPr>
          <a:xfrm>
            <a:off x="2438400" y="4267200"/>
            <a:ext cx="1981200" cy="2030095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txBody>
          <a:bodyPr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Hadoop 2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I 2 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Spark 2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 fast 1 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good 1 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is 2</a:t>
            </a:r>
            <a:endParaRPr lang="en-US" altLang="zh-CN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</a:rPr>
              <a:t> love 2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r>
              <a:rPr lang="zh-CN" altLang="en-US" dirty="0"/>
              <a:t>本章小结</a:t>
            </a:r>
            <a:endParaRPr lang="zh-CN" altLang="en-US" dirty="0"/>
          </a:p>
        </p:txBody>
      </p:sp>
      <p:sp>
        <p:nvSpPr>
          <p:cNvPr id="75779" name="Rectangle 3"/>
          <p:cNvSpPr>
            <a:spLocks noGrp="1"/>
          </p:cNvSpPr>
          <p:nvPr>
            <p:ph idx="1"/>
          </p:nvPr>
        </p:nvSpPr>
        <p:spPr>
          <a:xfrm>
            <a:off x="978535" y="1691005"/>
            <a:ext cx="9838690" cy="4571365"/>
          </a:xfrm>
        </p:spPr>
        <p:txBody>
          <a:bodyPr vert="horz" wrap="square" lIns="91440" tIns="45720" rIns="91440" bIns="45720" anchor="t" anchorCtr="0">
            <a:noAutofit/>
          </a:bodyPr>
          <a:lstStyle/>
          <a:p>
            <a:pPr>
              <a:lnSpc>
                <a:spcPct val="80000"/>
              </a:lnSpc>
            </a:pPr>
            <a:r>
              <a:rPr lang="en-US" altLang="zh-CN" sz="2400" dirty="0"/>
              <a:t>MapReduce</a:t>
            </a:r>
            <a:r>
              <a:rPr lang="zh-CN" altLang="en-US" sz="2400" dirty="0"/>
              <a:t>将复杂的、运行于大规模集群上的并行计算过程高度地抽象到了两个函数：</a:t>
            </a:r>
            <a:r>
              <a:rPr lang="en-US" altLang="zh-CN" sz="2400" dirty="0"/>
              <a:t>Map</a:t>
            </a:r>
            <a:r>
              <a:rPr lang="zh-CN" altLang="en-US" sz="2400" dirty="0"/>
              <a:t>和</a:t>
            </a:r>
            <a:r>
              <a:rPr lang="en-US" altLang="zh-CN" sz="2400" dirty="0"/>
              <a:t>Reduce</a:t>
            </a:r>
            <a:r>
              <a:rPr lang="zh-CN" altLang="en-US" sz="2400" dirty="0"/>
              <a:t>，并极大地方便了分布式编程工作，编程人员在不会分布式并行编程的情况下，也可以很容易将自己的程序运行在分布式系统上，完成海量数据集的计算</a:t>
            </a:r>
            <a:endParaRPr lang="zh-CN" altLang="en-US" sz="2400" dirty="0"/>
          </a:p>
          <a:p>
            <a:pPr>
              <a:lnSpc>
                <a:spcPct val="80000"/>
              </a:lnSpc>
            </a:pPr>
            <a:endParaRPr lang="zh-CN" altLang="en-US" sz="2400" dirty="0"/>
          </a:p>
          <a:p>
            <a:pPr>
              <a:lnSpc>
                <a:spcPct val="80000"/>
              </a:lnSpc>
            </a:pPr>
            <a:r>
              <a:rPr lang="en-US" altLang="zh-CN" sz="2400" dirty="0"/>
              <a:t>MapReduce</a:t>
            </a:r>
            <a:r>
              <a:rPr lang="zh-CN" altLang="en-US" sz="2400" dirty="0"/>
              <a:t>执行的全过程包括以下几个主要阶段：从分布式文件系统读入数据、执行</a:t>
            </a:r>
            <a:r>
              <a:rPr lang="en-US" altLang="zh-CN" sz="2400" dirty="0"/>
              <a:t>Map</a:t>
            </a:r>
            <a:r>
              <a:rPr lang="zh-CN" altLang="en-US" sz="2400" dirty="0"/>
              <a:t>任务输出中间结果、通过 </a:t>
            </a:r>
            <a:r>
              <a:rPr lang="en-US" altLang="zh-CN" sz="2400" dirty="0">
                <a:highlight>
                  <a:srgbClr val="00FFFF"/>
                </a:highlight>
              </a:rPr>
              <a:t>Shuffle</a:t>
            </a:r>
            <a:r>
              <a:rPr lang="zh-CN" altLang="en-US" sz="2400" dirty="0">
                <a:highlight>
                  <a:srgbClr val="00FFFF"/>
                </a:highlight>
              </a:rPr>
              <a:t>阶段</a:t>
            </a:r>
            <a:r>
              <a:rPr lang="zh-CN" altLang="en-US" sz="2400" dirty="0"/>
              <a:t>把中间结果分区排序整理后发送给</a:t>
            </a:r>
            <a:r>
              <a:rPr lang="en-US" altLang="zh-CN" sz="2400" dirty="0"/>
              <a:t>Reduce</a:t>
            </a:r>
            <a:r>
              <a:rPr lang="zh-CN" altLang="en-US" sz="2400" dirty="0"/>
              <a:t>任务、执行</a:t>
            </a:r>
            <a:r>
              <a:rPr lang="en-US" altLang="zh-CN" sz="2400" dirty="0"/>
              <a:t>Reduce</a:t>
            </a:r>
            <a:r>
              <a:rPr lang="zh-CN" altLang="en-US" sz="2400" dirty="0"/>
              <a:t>任务得到最终结果并写入分布式文件系统。</a:t>
            </a:r>
            <a:endParaRPr lang="zh-CN" altLang="en-US" sz="2400" dirty="0"/>
          </a:p>
          <a:p>
            <a:pPr>
              <a:lnSpc>
                <a:spcPct val="80000"/>
              </a:lnSpc>
            </a:pPr>
            <a:endParaRPr lang="zh-CN" altLang="en-US" sz="2400" dirty="0"/>
          </a:p>
          <a:p>
            <a:pPr>
              <a:lnSpc>
                <a:spcPct val="80000"/>
              </a:lnSpc>
            </a:pPr>
            <a:r>
              <a:rPr lang="en-US" altLang="zh-CN" sz="2400" dirty="0"/>
              <a:t>MapReduce</a:t>
            </a:r>
            <a:r>
              <a:rPr lang="zh-CN" altLang="en-US" sz="2400" dirty="0"/>
              <a:t>具有广泛的应用，比如关系代数运算、分组与聚合运算、矩阵</a:t>
            </a:r>
            <a:r>
              <a:rPr lang="en-US" altLang="zh-CN" sz="2400" dirty="0"/>
              <a:t>-</a:t>
            </a:r>
            <a:r>
              <a:rPr lang="zh-CN" altLang="en-US" sz="2400" dirty="0"/>
              <a:t>向量乘法、矩阵乘法等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TABLE_BEAUTIFY" val="smartTable{7e778bcd-946f-4728-9de8-3cebce26a9e1}"/>
  <p:tag name="TABLE_ENDDRAG_ORIGIN_RECT" val="684*237"/>
  <p:tag name="TABLE_ENDDRAG_RECT" val="144*170*684*237"/>
</p:tagLst>
</file>

<file path=ppt/tags/tag2.xml><?xml version="1.0" encoding="utf-8"?>
<p:tagLst xmlns:p="http://schemas.openxmlformats.org/presentationml/2006/main">
  <p:tag name="KSO_WM_UNIT_TABLE_BEAUTIFY" val="smartTable{d11a4894-b22d-4b4b-b65f-89bd0c928209}"/>
  <p:tag name="TABLE_ENDDRAG_ORIGIN_RECT" val="252*280"/>
  <p:tag name="TABLE_ENDDRAG_RECT" val="144*165*252*280"/>
</p:tagLst>
</file>

<file path=ppt/tags/tag3.xml><?xml version="1.0" encoding="utf-8"?>
<p:tagLst xmlns:p="http://schemas.openxmlformats.org/presentationml/2006/main">
  <p:tag name="KSO_WM_UNIT_TABLE_BEAUTIFY" val="smartTable{d11a4894-b22d-4b4b-b65f-89bd0c928209}"/>
  <p:tag name="TABLE_ENDDRAG_ORIGIN_RECT" val="252*280"/>
  <p:tag name="TABLE_ENDDRAG_RECT" val="144*165*252*280"/>
</p:tagLst>
</file>

<file path=ppt/tags/tag4.xml><?xml version="1.0" encoding="utf-8"?>
<p:tagLst xmlns:p="http://schemas.openxmlformats.org/presentationml/2006/main">
  <p:tag name="KSO_WM_UNIT_TABLE_BEAUTIFY" val="smartTable{d11a4894-b22d-4b4b-b65f-89bd0c928209}"/>
  <p:tag name="TABLE_ENDDRAG_ORIGIN_RECT" val="346*81"/>
  <p:tag name="TABLE_ENDDRAG_RECT" val="587*404*346*81"/>
</p:tagLst>
</file>

<file path=ppt/tags/tag5.xml><?xml version="1.0" encoding="utf-8"?>
<p:tagLst xmlns:p="http://schemas.openxmlformats.org/presentationml/2006/main">
  <p:tag name="KSO_WM_UNIT_TABLE_BEAUTIFY" val="smartTable{f5514590-4e0f-4d71-bb60-632db5d939ff}"/>
  <p:tag name="TABLE_ENDDRAG_ORIGIN_RECT" val="194*122"/>
  <p:tag name="TABLE_ENDDRAG_RECT" val="60*400*194*122"/>
</p:tagLst>
</file>

<file path=ppt/tags/tag6.xml><?xml version="1.0" encoding="utf-8"?>
<p:tagLst xmlns:p="http://schemas.openxmlformats.org/presentationml/2006/main">
  <p:tag name="TABLE_ENDDRAG_ORIGIN_RECT" val="238*80"/>
  <p:tag name="TABLE_ENDDRAG_RECT" val="701*437*238*80"/>
</p:tagLst>
</file>

<file path=ppt/tags/tag7.xml><?xml version="1.0" encoding="utf-8"?>
<p:tagLst xmlns:p="http://schemas.openxmlformats.org/presentationml/2006/main">
  <p:tag name="RAINPROBLEM" val="ProblemBody"/>
</p:tagLst>
</file>

<file path=ppt/tags/tag8.xml><?xml version="1.0" encoding="utf-8"?>
<p:tagLst xmlns:p="http://schemas.openxmlformats.org/presentationml/2006/main">
  <p:tag name="RAINPROBLEM" val="ProblemBody"/>
</p:tagLst>
</file>

<file path=ppt/tags/tag9.xml><?xml version="1.0" encoding="utf-8"?>
<p:tagLst xmlns:p="http://schemas.openxmlformats.org/presentationml/2006/main">
  <p:tag name="RAINPROBLEM" val="ProblemItem"/>
</p:tagLst>
</file>

<file path=ppt/tags/tag10.xml><?xml version="1.0" encoding="utf-8"?>
<p:tagLst xmlns:p="http://schemas.openxmlformats.org/presentationml/2006/main">
  <p:tag name="RAINPROBLEM" val="ProblemItem"/>
</p:tagLst>
</file>

<file path=ppt/tags/tag11.xml><?xml version="1.0" encoding="utf-8"?>
<p:tagLst xmlns:p="http://schemas.openxmlformats.org/presentationml/2006/main">
  <p:tag name="RAINPROBLEM" val="ProblemItem"/>
</p:tagLst>
</file>

<file path=ppt/tags/tag12.xml><?xml version="1.0" encoding="utf-8"?>
<p:tagLst xmlns:p="http://schemas.openxmlformats.org/presentationml/2006/main">
  <p:tag name="RAINPROBLEM" val="ProblemItem"/>
</p:tagLst>
</file>

<file path=ppt/tags/tag1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7.xml><?xml version="1.0" encoding="utf-8"?>
<p:tagLst xmlns:p="http://schemas.openxmlformats.org/presentationml/2006/main">
  <p:tag name="RAINPROBLEM" val="ProblemSubmit"/>
  <p:tag name="RAINPROBLEMTYPE" val="MultipleChoice"/>
</p:tagLst>
</file>

<file path=ppt/tags/tag18.xml><?xml version="1.0" encoding="utf-8"?>
<p:tagLst xmlns:p="http://schemas.openxmlformats.org/presentationml/2006/main">
  <p:tag name="TABLE_ENDDRAG_ORIGIN_RECT" val="238*80"/>
  <p:tag name="TABLE_ENDDRAG_RECT" val="701*437*238*80"/>
  <p:tag name="KSO_WM_UNIT_TABLE_BEAUTIFY" val="smartTable{1a474a63-ef95-419a-94fc-8c028baee54b}"/>
</p:tagLst>
</file>

<file path=ppt/tags/tag19.xml><?xml version="1.0" encoding="utf-8"?>
<p:tagLst xmlns:p="http://schemas.openxmlformats.org/presentationml/2006/main">
  <p:tag name="RAINPROBLEMTYPE" val="ProblemTypeMarker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" val="ProblemSetting"/>
  <p:tag name="RAINPROBLEMTYPE" val="MultipleChoice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p="http://schemas.openxmlformats.org/presentationml/2006/main">
  <p:tag name="RAINPROBLEM" val="MultipleChoice"/>
  <p:tag name="PROBLEMSCORE" val="1.0"/>
</p:tagLst>
</file>

<file path=ppt/tags/tag27.xml><?xml version="1.0" encoding="utf-8"?>
<p:tagLst xmlns:p="http://schemas.openxmlformats.org/presentationml/2006/main">
  <p:tag name="RAINPROBLEM" val="ProblemBody"/>
</p:tagLst>
</file>

<file path=ppt/tags/tag28.xml><?xml version="1.0" encoding="utf-8"?>
<p:tagLst xmlns:p="http://schemas.openxmlformats.org/presentationml/2006/main">
  <p:tag name="RAINPROBLEM" val="ProblemBody"/>
</p:tagLst>
</file>

<file path=ppt/tags/tag29.xml><?xml version="1.0" encoding="utf-8"?>
<p:tagLst xmlns:p="http://schemas.openxmlformats.org/presentationml/2006/main">
  <p:tag name="RAINPROBLEM" val="ProblemItem"/>
  <p:tag name="KSO_WM_DIAGRAM_VIRTUALLY_FRAME" val="{&quot;height&quot;:266.5749606299213,&quot;left&quot;:123.75,&quot;top&quot;:219.37503937007872,&quot;width&quot;:740.25}"/>
</p:tagLst>
</file>

<file path=ppt/tags/tag30.xml><?xml version="1.0" encoding="utf-8"?>
<p:tagLst xmlns:p="http://schemas.openxmlformats.org/presentationml/2006/main">
  <p:tag name="RAINPROBLEM" val="ProblemItem"/>
  <p:tag name="KSO_WM_DIAGRAM_VIRTUALLY_FRAME" val="{&quot;height&quot;:266.5749606299213,&quot;left&quot;:123.75,&quot;top&quot;:219.37503937007872,&quot;width&quot;:740.25}"/>
</p:tagLst>
</file>

<file path=ppt/tags/tag31.xml><?xml version="1.0" encoding="utf-8"?>
<p:tagLst xmlns:p="http://schemas.openxmlformats.org/presentationml/2006/main">
  <p:tag name="RAINPROBLEM" val="ProblemItem"/>
  <p:tag name="KSO_WM_DIAGRAM_VIRTUALLY_FRAME" val="{&quot;height&quot;:266.5749606299213,&quot;left&quot;:123.75,&quot;top&quot;:219.37503937007872,&quot;width&quot;:740.25}"/>
</p:tagLst>
</file>

<file path=ppt/tags/tag32.xml><?xml version="1.0" encoding="utf-8"?>
<p:tagLst xmlns:p="http://schemas.openxmlformats.org/presentationml/2006/main">
  <p:tag name="RAINPROBLEM" val="ProblemItem"/>
  <p:tag name="KSO_WM_DIAGRAM_VIRTUALLY_FRAME" val="{&quot;height&quot;:266.5749606299213,&quot;left&quot;:123.75,&quot;top&quot;:219.37503937007872,&quot;width&quot;:740.25}"/>
</p:tagLst>
</file>

<file path=ppt/tags/tag33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66.5749606299213,&quot;left&quot;:123.75,&quot;top&quot;:219.37503937007872,&quot;width&quot;:740.25}"/>
</p:tagLst>
</file>

<file path=ppt/tags/tag34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66.5749606299213,&quot;left&quot;:123.75,&quot;top&quot;:219.37503937007872,&quot;width&quot;:740.25}"/>
</p:tagLst>
</file>

<file path=ppt/tags/tag35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66.5749606299213,&quot;left&quot;:123.75,&quot;top&quot;:219.37503937007872,&quot;width&quot;:740.25}"/>
</p:tagLst>
</file>

<file path=ppt/tags/tag36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66.5749606299213,&quot;left&quot;:123.75,&quot;top&quot;:219.37503937007872,&quot;width&quot;:740.25}"/>
</p:tagLst>
</file>

<file path=ppt/tags/tag37.xml><?xml version="1.0" encoding="utf-8"?>
<p:tagLst xmlns:p="http://schemas.openxmlformats.org/presentationml/2006/main">
  <p:tag name="RAINPROBLEM" val="ProblemSubmit"/>
  <p:tag name="RAINPROBLEMTYPE" val="MultipleChoice"/>
</p:tagLst>
</file>

<file path=ppt/tags/tag38.xml><?xml version="1.0" encoding="utf-8"?>
<p:tagLst xmlns:p="http://schemas.openxmlformats.org/presentationml/2006/main">
  <p:tag name="RAINPROBLEM" val="ProblemItem"/>
  <p:tag name="KSO_WM_DIAGRAM_VIRTUALLY_FRAME" val="{&quot;height&quot;:266.5749606299213,&quot;left&quot;:123.75,&quot;top&quot;:219.37503937007872,&quot;width&quot;:740.25}"/>
</p:tagLst>
</file>

<file path=ppt/tags/tag39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66.5749606299213,&quot;left&quot;:123.75,&quot;top&quot;:219.37503937007872,&quot;width&quot;:740.25}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RAINPROBLEMTYPE" val="ProblemTypeMarker"/>
</p:tagLst>
</file>

<file path=ppt/tags/tag43.xml><?xml version="1.0" encoding="utf-8"?>
<p:tagLst xmlns:p="http://schemas.openxmlformats.org/presentationml/2006/main">
  <p:tag name="RAINPROBLEMTYPE" val="ProblemTypeMarker"/>
</p:tagLst>
</file>

<file path=ppt/tags/tag44.xml><?xml version="1.0" encoding="utf-8"?>
<p:tagLst xmlns:p="http://schemas.openxmlformats.org/presentationml/2006/main">
  <p:tag name="RAINPROBLEMTYPE" val="ProblemTypeMarker"/>
</p:tagLst>
</file>

<file path=ppt/tags/tag45.xml><?xml version="1.0" encoding="utf-8"?>
<p:tagLst xmlns:p="http://schemas.openxmlformats.org/presentationml/2006/main">
  <p:tag name="RAINPROBLEM" val="ProblemSetting"/>
  <p:tag name="RAINPROBLEMTYPE" val="MultipleChoice"/>
</p:tagLst>
</file>

<file path=ppt/tags/tag46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66.5749606299213,&quot;left&quot;:123.75,&quot;top&quot;:219.37503937007872,&quot;width&quot;:740.25}"/>
</p:tagLst>
</file>

<file path=ppt/tags/tag47.xml><?xml version="1.0" encoding="utf-8"?>
<p:tagLst xmlns:p="http://schemas.openxmlformats.org/presentationml/2006/main">
  <p:tag name="RAINPROBLEM" val="MultipleChoice"/>
  <p:tag name="PROBLEMSCORE" val="1.0"/>
</p:tagLst>
</file>

<file path=ppt/tags/tag48.xml><?xml version="1.0" encoding="utf-8"?>
<p:tagLst xmlns:p="http://schemas.openxmlformats.org/presentationml/2006/main">
  <p:tag name="TABLE_ENDDRAG_ORIGIN_RECT" val="249*227"/>
  <p:tag name="TABLE_ENDDRAG_RECT" val="-62*202*249*227"/>
</p:tagLst>
</file>

<file path=ppt/tags/tag49.xml><?xml version="1.0" encoding="utf-8"?>
<p:tagLst xmlns:p="http://schemas.openxmlformats.org/presentationml/2006/main">
  <p:tag name="TABLE_ENDDRAG_ORIGIN_RECT" val="249*227"/>
  <p:tag name="TABLE_ENDDRAG_RECT" val="-62*202*249*227"/>
</p:tagLst>
</file>

<file path=ppt/tags/tag50.xml><?xml version="1.0" encoding="utf-8"?>
<p:tagLst xmlns:p="http://schemas.openxmlformats.org/presentationml/2006/main">
  <p:tag name="TABLE_ENDDRAG_ORIGIN_RECT" val="249*227"/>
  <p:tag name="TABLE_ENDDRAG_RECT" val="-62*202*249*227"/>
</p:tagLst>
</file>

<file path=ppt/tags/tag51.xml><?xml version="1.0" encoding="utf-8"?>
<p:tagLst xmlns:p="http://schemas.openxmlformats.org/presentationml/2006/main">
  <p:tag name="TABLE_ENDDRAG_ORIGIN_RECT" val="249*227"/>
  <p:tag name="TABLE_ENDDRAG_RECT" val="-62*202*249*227"/>
</p:tagLst>
</file>

<file path=ppt/tags/tag52.xml><?xml version="1.0" encoding="utf-8"?>
<p:tagLst xmlns:p="http://schemas.openxmlformats.org/presentationml/2006/main">
  <p:tag name="TABLE_ENDDRAG_ORIGIN_RECT" val="362*89"/>
  <p:tag name="TABLE_ENDDRAG_RECT" val="581*150*362*89"/>
</p:tagLst>
</file>

<file path=ppt/tags/tag53.xml><?xml version="1.0" encoding="utf-8"?>
<p:tagLst xmlns:p="http://schemas.openxmlformats.org/presentationml/2006/main">
  <p:tag name="TABLE_ENDDRAG_ORIGIN_RECT" val="362*132"/>
  <p:tag name="TABLE_ENDDRAG_RECT" val="581*279*362*132"/>
</p:tagLst>
</file>

<file path=ppt/tags/tag54.xml><?xml version="1.0" encoding="utf-8"?>
<p:tagLst xmlns:p="http://schemas.openxmlformats.org/presentationml/2006/main">
  <p:tag name="TABLE_ENDDRAG_ORIGIN_RECT" val="362*132"/>
  <p:tag name="TABLE_ENDDRAG_RECT" val="581*279*362*132"/>
</p:tagLst>
</file>

<file path=ppt/tags/tag55.xml><?xml version="1.0" encoding="utf-8"?>
<p:tagLst xmlns:p="http://schemas.openxmlformats.org/presentationml/2006/main">
  <p:tag name="TABLE_ENDDRAG_ORIGIN_RECT" val="362*89"/>
  <p:tag name="TABLE_ENDDRAG_RECT" val="581*150*362*89"/>
</p:tagLst>
</file>

<file path=ppt/tags/tag56.xml><?xml version="1.0" encoding="utf-8"?>
<p:tagLst xmlns:p="http://schemas.openxmlformats.org/presentationml/2006/main">
  <p:tag name="TABLE_ENDDRAG_ORIGIN_RECT" val="362*132"/>
  <p:tag name="TABLE_ENDDRAG_RECT" val="581*279*362*132"/>
</p:tagLst>
</file>

<file path=ppt/tags/tag57.xml><?xml version="1.0" encoding="utf-8"?>
<p:tagLst xmlns:p="http://schemas.openxmlformats.org/presentationml/2006/main">
  <p:tag name="TABLE_ENDDRAG_ORIGIN_RECT" val="362*132"/>
  <p:tag name="TABLE_ENDDRAG_RECT" val="581*279*362*132"/>
</p:tagLst>
</file>

<file path=ppt/tags/tag58.xml><?xml version="1.0" encoding="utf-8"?>
<p:tagLst xmlns:p="http://schemas.openxmlformats.org/presentationml/2006/main">
  <p:tag name="TABLE_ENDDRAG_ORIGIN_RECT" val="362*89"/>
  <p:tag name="TABLE_ENDDRAG_RECT" val="581*150*362*89"/>
</p:tagLst>
</file>

<file path=ppt/tags/tag59.xml><?xml version="1.0" encoding="utf-8"?>
<p:tagLst xmlns:p="http://schemas.openxmlformats.org/presentationml/2006/main">
  <p:tag name="TABLE_ENDDRAG_ORIGIN_RECT" val="362*132"/>
  <p:tag name="TABLE_ENDDRAG_RECT" val="581*279*362*132"/>
</p:tagLst>
</file>

<file path=ppt/tags/tag60.xml><?xml version="1.0" encoding="utf-8"?>
<p:tagLst xmlns:p="http://schemas.openxmlformats.org/presentationml/2006/main">
  <p:tag name="TABLE_ENDDRAG_ORIGIN_RECT" val="362*132"/>
  <p:tag name="TABLE_ENDDRAG_RECT" val="581*279*362*132"/>
</p:tagLst>
</file>

<file path=ppt/tags/tag61.xml><?xml version="1.0" encoding="utf-8"?>
<p:tagLst xmlns:p="http://schemas.openxmlformats.org/presentationml/2006/main">
  <p:tag name="TABLE_ENDDRAG_ORIGIN_RECT" val="362*89"/>
  <p:tag name="TABLE_ENDDRAG_RECT" val="581*150*362*89"/>
</p:tagLst>
</file>

<file path=ppt/tags/tag62.xml><?xml version="1.0" encoding="utf-8"?>
<p:tagLst xmlns:p="http://schemas.openxmlformats.org/presentationml/2006/main">
  <p:tag name="TABLE_ENDDRAG_ORIGIN_RECT" val="362*132"/>
  <p:tag name="TABLE_ENDDRAG_RECT" val="581*279*362*132"/>
</p:tagLst>
</file>

<file path=ppt/tags/tag63.xml><?xml version="1.0" encoding="utf-8"?>
<p:tagLst xmlns:p="http://schemas.openxmlformats.org/presentationml/2006/main">
  <p:tag name="TABLE_ENDDRAG_ORIGIN_RECT" val="362*132"/>
  <p:tag name="TABLE_ENDDRAG_RECT" val="581*279*362*132"/>
</p:tagLst>
</file>

<file path=ppt/tags/tag64.xml><?xml version="1.0" encoding="utf-8"?>
<p:tagLst xmlns:p="http://schemas.openxmlformats.org/presentationml/2006/main">
  <p:tag name="TABLE_ENDDRAG_ORIGIN_RECT" val="362*89"/>
  <p:tag name="TABLE_ENDDRAG_RECT" val="581*150*362*89"/>
</p:tagLst>
</file>

<file path=ppt/tags/tag65.xml><?xml version="1.0" encoding="utf-8"?>
<p:tagLst xmlns:p="http://schemas.openxmlformats.org/presentationml/2006/main">
  <p:tag name="RAINPROBLEM" val="ProblemBody"/>
</p:tagLst>
</file>

<file path=ppt/tags/tag66.xml><?xml version="1.0" encoding="utf-8"?>
<p:tagLst xmlns:p="http://schemas.openxmlformats.org/presentationml/2006/main">
  <p:tag name="RAINPROBLEM" val="ProblemBody"/>
</p:tagLst>
</file>

<file path=ppt/tags/tag67.xml><?xml version="1.0" encoding="utf-8"?>
<p:tagLst xmlns:p="http://schemas.openxmlformats.org/presentationml/2006/main">
  <p:tag name="RAINPROBLEM" val="ProblemItem"/>
</p:tagLst>
</file>

<file path=ppt/tags/tag68.xml><?xml version="1.0" encoding="utf-8"?>
<p:tagLst xmlns:p="http://schemas.openxmlformats.org/presentationml/2006/main">
  <p:tag name="RAINPROBLEM" val="ProblemItem"/>
</p:tagLst>
</file>

<file path=ppt/tags/tag6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1.xml><?xml version="1.0" encoding="utf-8"?>
<p:tagLst xmlns:p="http://schemas.openxmlformats.org/presentationml/2006/main">
  <p:tag name="RAINPROBLEM" val="ProblemSubmit"/>
  <p:tag name="RAINPROBLEMTYPE" val="MultipleChoice"/>
</p:tagLst>
</file>

<file path=ppt/tags/tag72.xml><?xml version="1.0" encoding="utf-8"?>
<p:tagLst xmlns:p="http://schemas.openxmlformats.org/presentationml/2006/main">
  <p:tag name="RAINPROBLEMTYPE" val="ProblemTypeMarker"/>
</p:tagLst>
</file>

<file path=ppt/tags/tag73.xml><?xml version="1.0" encoding="utf-8"?>
<p:tagLst xmlns:p="http://schemas.openxmlformats.org/presentationml/2006/main">
  <p:tag name="RAINPROBLEMTYPE" val="ProblemTypeMarker"/>
</p:tagLst>
</file>

<file path=ppt/tags/tag74.xml><?xml version="1.0" encoding="utf-8"?>
<p:tagLst xmlns:p="http://schemas.openxmlformats.org/presentationml/2006/main">
  <p:tag name="RAINPROBLEMTYPE" val="ProblemTypeMarker"/>
</p:tagLst>
</file>

<file path=ppt/tags/tag75.xml><?xml version="1.0" encoding="utf-8"?>
<p:tagLst xmlns:p="http://schemas.openxmlformats.org/presentationml/2006/main">
  <p:tag name="RAINPROBLEMTYPE" val="ProblemTypeMarker"/>
</p:tagLst>
</file>

<file path=ppt/tags/tag76.xml><?xml version="1.0" encoding="utf-8"?>
<p:tagLst xmlns:p="http://schemas.openxmlformats.org/presentationml/2006/main">
  <p:tag name="RAINPROBLEMTYPE" val="ProblemTypeMarker"/>
</p:tagLst>
</file>

<file path=ppt/tags/tag77.xml><?xml version="1.0" encoding="utf-8"?>
<p:tagLst xmlns:p="http://schemas.openxmlformats.org/presentationml/2006/main">
  <p:tag name="RAINPROBLEM" val="ProblemSetting"/>
  <p:tag name="RAINPROBLEMTYPE" val="MultipleChoice"/>
</p:tagLst>
</file>

<file path=ppt/tags/tag7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9.xml><?xml version="1.0" encoding="utf-8"?>
<p:tagLst xmlns:p="http://schemas.openxmlformats.org/presentationml/2006/main">
  <p:tag name="RAINPROBLEM" val="MultipleChoice"/>
  <p:tag name="PROBLEMSCORE" val="1.0"/>
</p:tagLst>
</file>

<file path=ppt/tags/tag80.xml><?xml version="1.0" encoding="utf-8"?>
<p:tagLst xmlns:p="http://schemas.openxmlformats.org/presentationml/2006/main">
  <p:tag name="RAINPROBLEM" val="ProblemBody"/>
</p:tagLst>
</file>

<file path=ppt/tags/tag81.xml><?xml version="1.0" encoding="utf-8"?>
<p:tagLst xmlns:p="http://schemas.openxmlformats.org/presentationml/2006/main">
  <p:tag name="RAINPROBLEM" val="ProblemBody"/>
</p:tagLst>
</file>

<file path=ppt/tags/tag82.xml><?xml version="1.0" encoding="utf-8"?>
<p:tagLst xmlns:p="http://schemas.openxmlformats.org/presentationml/2006/main">
  <p:tag name="RAINPROBLEM" val="ProblemItem"/>
</p:tagLst>
</file>

<file path=ppt/tags/tag83.xml><?xml version="1.0" encoding="utf-8"?>
<p:tagLst xmlns:p="http://schemas.openxmlformats.org/presentationml/2006/main">
  <p:tag name="RAINPROBLEM" val="ProblemItem"/>
</p:tagLst>
</file>

<file path=ppt/tags/tag8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8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6.xml><?xml version="1.0" encoding="utf-8"?>
<p:tagLst xmlns:p="http://schemas.openxmlformats.org/presentationml/2006/main">
  <p:tag name="RAINPROBLEM" val="ProblemSubmit"/>
  <p:tag name="RAINPROBLEMTYPE" val="MultipleChoice"/>
</p:tagLst>
</file>

<file path=ppt/tags/tag87.xml><?xml version="1.0" encoding="utf-8"?>
<p:tagLst xmlns:p="http://schemas.openxmlformats.org/presentationml/2006/main">
  <p:tag name="RAINPROBLEMTYPE" val="ProblemTypeMarker"/>
</p:tagLst>
</file>

<file path=ppt/tags/tag88.xml><?xml version="1.0" encoding="utf-8"?>
<p:tagLst xmlns:p="http://schemas.openxmlformats.org/presentationml/2006/main">
  <p:tag name="RAINPROBLEMTYPE" val="ProblemTypeMarker"/>
</p:tagLst>
</file>

<file path=ppt/tags/tag89.xml><?xml version="1.0" encoding="utf-8"?>
<p:tagLst xmlns:p="http://schemas.openxmlformats.org/presentationml/2006/main">
  <p:tag name="RAINPROBLEMTYPE" val="ProblemTypeMarker"/>
</p:tagLst>
</file>

<file path=ppt/tags/tag90.xml><?xml version="1.0" encoding="utf-8"?>
<p:tagLst xmlns:p="http://schemas.openxmlformats.org/presentationml/2006/main">
  <p:tag name="RAINPROBLEMTYPE" val="ProblemTypeMarker"/>
</p:tagLst>
</file>

<file path=ppt/tags/tag91.xml><?xml version="1.0" encoding="utf-8"?>
<p:tagLst xmlns:p="http://schemas.openxmlformats.org/presentationml/2006/main">
  <p:tag name="RAINPROBLEMTYPE" val="ProblemTypeMarker"/>
</p:tagLst>
</file>

<file path=ppt/tags/tag92.xml><?xml version="1.0" encoding="utf-8"?>
<p:tagLst xmlns:p="http://schemas.openxmlformats.org/presentationml/2006/main">
  <p:tag name="RAINPROBLEM" val="ProblemSetting"/>
  <p:tag name="RAINPROBLEMTYPE" val="MultipleChoice"/>
</p:tagLst>
</file>

<file path=ppt/tags/tag9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5.xml><?xml version="1.0" encoding="utf-8"?>
<p:tagLst xmlns:p="http://schemas.openxmlformats.org/presentationml/2006/main">
  <p:tag name="RAINPROBLEM" val="MultipleChoice"/>
  <p:tag name="PROBLEMSCORE" val="1.0"/>
</p:tagLst>
</file>

<file path=ppt/tags/tag96.xml><?xml version="1.0" encoding="utf-8"?>
<p:tagLst xmlns:p="http://schemas.openxmlformats.org/presentationml/2006/main">
  <p:tag name="KSO_WPP_MARK_KEY" val="6603ea97-e6fc-4ca0-bd86-c0c191acb811"/>
  <p:tag name="COMMONDATA" val="eyJoZGlkIjoiOTRkNmFmZjRjMzI3MTQ3ZWFlYjhlZWM3YzFkOWNmN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13983</Words>
  <Application>WPS 演示</Application>
  <PresentationFormat>宽屏</PresentationFormat>
  <Paragraphs>1276</Paragraphs>
  <Slides>59</Slides>
  <Notes>1</Notes>
  <HiddenSlides>35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59</vt:i4>
      </vt:variant>
    </vt:vector>
  </HeadingPairs>
  <TitlesOfParts>
    <vt:vector size="75" baseType="lpstr">
      <vt:lpstr>Arial</vt:lpstr>
      <vt:lpstr>宋体</vt:lpstr>
      <vt:lpstr>Wingdings</vt:lpstr>
      <vt:lpstr>黑体</vt:lpstr>
      <vt:lpstr>Times New Roman</vt:lpstr>
      <vt:lpstr>等线 Light</vt:lpstr>
      <vt:lpstr>等线</vt:lpstr>
      <vt:lpstr>微软雅黑</vt:lpstr>
      <vt:lpstr>Arial Unicode MS</vt:lpstr>
      <vt:lpstr>Cambria Math</vt:lpstr>
      <vt:lpstr>MS Mincho</vt:lpstr>
      <vt:lpstr>Segoe Print</vt:lpstr>
      <vt:lpstr>华文新魏</vt:lpstr>
      <vt:lpstr>Calibri</vt:lpstr>
      <vt:lpstr>Office 主题​​</vt:lpstr>
      <vt:lpstr>1_Office 主题​​</vt:lpstr>
      <vt:lpstr>第三篇 大数据处理与分析</vt:lpstr>
      <vt:lpstr>第 7 章 MapReduce</vt:lpstr>
      <vt:lpstr>7.1	概述</vt:lpstr>
      <vt:lpstr>7.1.1	分布式并行编程</vt:lpstr>
      <vt:lpstr>7.1.2	MapReduce模型简介</vt:lpstr>
      <vt:lpstr>7.1.2	MapReduce模型简介</vt:lpstr>
      <vt:lpstr>7.1.3	Map和Reduce函数</vt:lpstr>
      <vt:lpstr>7.2	MapReduce工作流程</vt:lpstr>
      <vt:lpstr>7.2.1	工作流程概述</vt:lpstr>
      <vt:lpstr>7.2.2	MapReduce各个执行阶段</vt:lpstr>
      <vt:lpstr>7.2.2	MapReduce各个执行阶段</vt:lpstr>
      <vt:lpstr>PowerPoint 演示文稿</vt:lpstr>
      <vt:lpstr>PowerPoint 演示文稿</vt:lpstr>
      <vt:lpstr>7.2.2	MapReduce各个执行阶段</vt:lpstr>
      <vt:lpstr>7.2.3	Shuffle过程详解</vt:lpstr>
      <vt:lpstr>7.2.3	Shuffle过程详解</vt:lpstr>
      <vt:lpstr>7.2.3	Shuffle过程详解</vt:lpstr>
      <vt:lpstr>7.3	实例分析：WordCount</vt:lpstr>
      <vt:lpstr>7.3.1	WordCount程序任务</vt:lpstr>
      <vt:lpstr>7.3.2	WordCount设计思路</vt:lpstr>
      <vt:lpstr>7.3.3 WordCount 的具体执行过程</vt:lpstr>
      <vt:lpstr>7.3.4	WordCount 执行过程的实例</vt:lpstr>
      <vt:lpstr>7.3.4	WordCount 执行过程的实例</vt:lpstr>
      <vt:lpstr>7.3.4	WordCount 执行过程的实例</vt:lpstr>
      <vt:lpstr>7.4  MapReduce的具体应用</vt:lpstr>
      <vt:lpstr>7.4.1  在关系代数运算中</vt:lpstr>
      <vt:lpstr>7.4.1  在关系代数运算中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7.4.1  在关系代数运算中</vt:lpstr>
      <vt:lpstr>PowerPoint 演示文稿</vt:lpstr>
      <vt:lpstr>7.4.2  分组与聚合运算</vt:lpstr>
      <vt:lpstr>7.4.3 矩阵-向量乘法</vt:lpstr>
      <vt:lpstr>7.4.4 矩阵乘法</vt:lpstr>
      <vt:lpstr>7.4.4 矩阵乘法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7.5	MapReduce编程实践</vt:lpstr>
      <vt:lpstr>7.5.1 任务要求</vt:lpstr>
      <vt:lpstr>7.5.2 编写Map处理逻辑</vt:lpstr>
      <vt:lpstr>7.5.3 编写Reduce处理逻辑</vt:lpstr>
      <vt:lpstr>PowerPoint 演示文稿</vt:lpstr>
      <vt:lpstr>7.5.4 编写main方法</vt:lpstr>
      <vt:lpstr>完整代码</vt:lpstr>
      <vt:lpstr>PowerPoint 演示文稿</vt:lpstr>
      <vt:lpstr>7.5.5 编译打包代码以及运行程序</vt:lpstr>
      <vt:lpstr>7.5.5 编译打包代码以及运行程序</vt:lpstr>
      <vt:lpstr>7.5.5 编译打包代码以及运行程序</vt:lpstr>
      <vt:lpstr>7.5.5 编译打包代码以及运行程序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大数据管理</dc:title>
  <dc:creator>zitong chen</dc:creator>
  <cp:lastModifiedBy>大洋儿</cp:lastModifiedBy>
  <cp:revision>156</cp:revision>
  <dcterms:created xsi:type="dcterms:W3CDTF">2023-01-31T13:03:00Z</dcterms:created>
  <dcterms:modified xsi:type="dcterms:W3CDTF">2026-04-07T01:23:02Z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59D19141392645C587473909C9AA136C</vt:lpwstr>
  </property>
  <property fmtid="{D5CDD505-2E9C-101B-9397-08002B2CF9AE}" pid="3" name="KSOProductBuildVer">
    <vt:lpwstr>2052-12.1.0.25225</vt:lpwstr>
  </property>
</Properties>
</file>