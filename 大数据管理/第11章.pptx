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51"/>
  </p:handoutMasterIdLst>
  <p:sldIdLst>
    <p:sldId id="614" r:id="rId3"/>
    <p:sldId id="420" r:id="rId4"/>
    <p:sldId id="505" r:id="rId5"/>
    <p:sldId id="958" r:id="rId6"/>
    <p:sldId id="959" r:id="rId8"/>
    <p:sldId id="1000" r:id="rId9"/>
    <p:sldId id="960" r:id="rId10"/>
    <p:sldId id="961" r:id="rId11"/>
    <p:sldId id="962" r:id="rId12"/>
    <p:sldId id="963" r:id="rId13"/>
    <p:sldId id="964" r:id="rId14"/>
    <p:sldId id="965" r:id="rId15"/>
    <p:sldId id="966" r:id="rId16"/>
    <p:sldId id="967" r:id="rId17"/>
    <p:sldId id="968" r:id="rId18"/>
    <p:sldId id="969" r:id="rId19"/>
    <p:sldId id="970" r:id="rId20"/>
    <p:sldId id="971" r:id="rId21"/>
    <p:sldId id="972" r:id="rId22"/>
    <p:sldId id="973" r:id="rId23"/>
    <p:sldId id="974" r:id="rId24"/>
    <p:sldId id="975" r:id="rId25"/>
    <p:sldId id="976" r:id="rId26"/>
    <p:sldId id="977" r:id="rId27"/>
    <p:sldId id="978" r:id="rId28"/>
    <p:sldId id="979" r:id="rId29"/>
    <p:sldId id="981" r:id="rId30"/>
    <p:sldId id="982" r:id="rId31"/>
    <p:sldId id="1043" r:id="rId32"/>
    <p:sldId id="983" r:id="rId33"/>
    <p:sldId id="984" r:id="rId34"/>
    <p:sldId id="985" r:id="rId35"/>
    <p:sldId id="986" r:id="rId36"/>
    <p:sldId id="987" r:id="rId37"/>
    <p:sldId id="988" r:id="rId38"/>
    <p:sldId id="989" r:id="rId39"/>
    <p:sldId id="990" r:id="rId40"/>
    <p:sldId id="992" r:id="rId41"/>
    <p:sldId id="1039" r:id="rId42"/>
    <p:sldId id="1041" r:id="rId43"/>
    <p:sldId id="1042" r:id="rId44"/>
    <p:sldId id="993" r:id="rId45"/>
    <p:sldId id="994" r:id="rId46"/>
    <p:sldId id="995" r:id="rId47"/>
    <p:sldId id="996" r:id="rId48"/>
    <p:sldId id="997" r:id="rId49"/>
    <p:sldId id="999" r:id="rId50"/>
  </p:sldIdLst>
  <p:sldSz cx="12192000" cy="6858000"/>
  <p:notesSz cx="6858000" cy="9144000"/>
  <p:custDataLst>
    <p:tags r:id="rId5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第一篇" id="{3E72D914-66BA-4579-8F52-77CB28085651}">
          <p14:sldIdLst>
            <p14:sldId id="614"/>
            <p14:sldId id="420"/>
            <p14:sldId id="505"/>
            <p14:sldId id="958"/>
            <p14:sldId id="959"/>
            <p14:sldId id="1000"/>
            <p14:sldId id="960"/>
            <p14:sldId id="961"/>
            <p14:sldId id="962"/>
            <p14:sldId id="963"/>
            <p14:sldId id="964"/>
            <p14:sldId id="965"/>
            <p14:sldId id="966"/>
            <p14:sldId id="967"/>
            <p14:sldId id="968"/>
            <p14:sldId id="969"/>
            <p14:sldId id="970"/>
            <p14:sldId id="971"/>
            <p14:sldId id="972"/>
            <p14:sldId id="973"/>
            <p14:sldId id="974"/>
            <p14:sldId id="975"/>
            <p14:sldId id="976"/>
            <p14:sldId id="977"/>
            <p14:sldId id="978"/>
            <p14:sldId id="979"/>
            <p14:sldId id="981"/>
            <p14:sldId id="982"/>
            <p14:sldId id="1043"/>
            <p14:sldId id="983"/>
            <p14:sldId id="984"/>
            <p14:sldId id="985"/>
            <p14:sldId id="986"/>
            <p14:sldId id="987"/>
            <p14:sldId id="988"/>
            <p14:sldId id="989"/>
            <p14:sldId id="990"/>
            <p14:sldId id="992"/>
            <p14:sldId id="1039"/>
            <p14:sldId id="1041"/>
            <p14:sldId id="1042"/>
            <p14:sldId id="993"/>
            <p14:sldId id="994"/>
            <p14:sldId id="995"/>
            <p14:sldId id="996"/>
            <p14:sldId id="997"/>
            <p14:sldId id="99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9EBF5"/>
    <a:srgbClr val="CFD5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35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5" Type="http://schemas.openxmlformats.org/officeDocument/2006/relationships/tags" Target="tags/tag28.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EA424B-F2C7-4EC9-8DA2-5CFAACF65E1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860B0A-E707-4489-B72C-209A0C1058F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sym typeface="+mn-ea"/>
              </a:rPr>
              <a:t>OLAP</a:t>
            </a:r>
            <a:r>
              <a:rPr lang="zh-CN" altLang="zh-CN" dirty="0">
                <a:sym typeface="+mn-ea"/>
              </a:rPr>
              <a:t>（</a:t>
            </a:r>
            <a:r>
              <a:rPr lang="en-US" altLang="zh-CN" dirty="0">
                <a:sym typeface="+mn-ea"/>
              </a:rPr>
              <a:t>On-Line Analytical Processing</a:t>
            </a:r>
            <a:r>
              <a:rPr lang="zh-CN" altLang="zh-CN" dirty="0">
                <a:sym typeface="+mn-ea"/>
              </a:rPr>
              <a:t>）</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p:sp>
      <p:sp>
        <p:nvSpPr>
          <p:cNvPr id="63491"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6349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31D01BD-4741-4184-BE56-DAF04E336C9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AECF920-1DC5-4C71-8718-0D3D51DA575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7DFB8C7-156C-4269-A9D3-236C9122148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3A235BB-B880-4407-ACFF-512D8BC24B90}"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5229A4FC-A20D-40C9-ABAC-C696099A86F2}"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C8C5C66-F7B6-4A16-8359-13B29DD706AB}"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AB552A2-5CC8-435E-A513-EF450F74AF85}"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42593F0-41FC-4EC0-B9B0-30C4E0373CF4}"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7ADD0A6-25F9-45E6-B1AB-8802F7FB4BFD}"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B55DAC9-C380-4E94-9EDF-CE70C1A17B9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49B58E9-DE7D-4AC4-86BB-A1A3764A53E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9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1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2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3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4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5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6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7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8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9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0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600200"/>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0"/>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4" Type="http://schemas.openxmlformats.org/officeDocument/2006/relationships/theme" Target="../theme/theme1.xml"/><Relationship Id="rId33" Type="http://schemas.openxmlformats.org/officeDocument/2006/relationships/image" Target="../media/image1.png"/><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50D025-EB81-4291-9E40-972558CDBCB9}"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57CE09-A6DF-4F65-B9AD-CB157D51E68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4.jpe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em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emf"/></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emf"/></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image" Target="../media/image10.emf"/></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tags" Target="../tags/tag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emf"/></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jpeg"/><Relationship Id="rId3" Type="http://schemas.openxmlformats.org/officeDocument/2006/relationships/tags" Target="../tags/tag4.xml"/><Relationship Id="rId2" Type="http://schemas.openxmlformats.org/officeDocument/2006/relationships/image" Target="../media/image14.png"/><Relationship Id="rId1" Type="http://schemas.openxmlformats.org/officeDocument/2006/relationships/tags" Target="../tags/tag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5.xml"/><Relationship Id="rId4" Type="http://schemas.openxmlformats.org/officeDocument/2006/relationships/image" Target="../media/image19.jpeg"/><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image" Target="../media/image16.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emf"/></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emf"/></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emf"/></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emf"/></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emf"/></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emf"/></Relationships>
</file>

<file path=ppt/slides/_rels/slide3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s>
</file>

<file path=ppt/slides/_rels/slide40.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6" Type="http://schemas.openxmlformats.org/officeDocument/2006/relationships/slideLayout" Target="../slideLayouts/slideLayout2.xml"/><Relationship Id="rId15" Type="http://schemas.openxmlformats.org/officeDocument/2006/relationships/tags" Target="../tags/tag26.xml"/><Relationship Id="rId14" Type="http://schemas.openxmlformats.org/officeDocument/2006/relationships/tags" Target="../tags/tag25.xml"/><Relationship Id="rId13" Type="http://schemas.openxmlformats.org/officeDocument/2006/relationships/tags" Target="../tags/tag24.xml"/><Relationship Id="rId12" Type="http://schemas.openxmlformats.org/officeDocument/2006/relationships/tags" Target="../tags/tag23.xml"/><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tags" Target="../tags/tag12.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tags" Target="../tags/tag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0.emf"/><Relationship Id="rId1" Type="http://schemas.openxmlformats.org/officeDocument/2006/relationships/oleObject" Target="../embeddings/oleObject1.bin"/></Relationships>
</file>

<file path=ppt/slides/_rels/slide44.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1.emf"/><Relationship Id="rId1" Type="http://schemas.openxmlformats.org/officeDocument/2006/relationships/oleObject" Target="../embeddings/oleObject2.bin"/></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32.emf"/><Relationship Id="rId1" Type="http://schemas.openxmlformats.org/officeDocument/2006/relationships/oleObject" Target="../embeddings/oleObject3.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dirty="0">
                <a:sym typeface="+mn-ea"/>
              </a:rPr>
              <a:t>第</a:t>
            </a:r>
            <a:r>
              <a:rPr lang="en-US" altLang="zh-CN" b="1" dirty="0">
                <a:sym typeface="+mn-ea"/>
              </a:rPr>
              <a:t>11</a:t>
            </a:r>
            <a:r>
              <a:rPr lang="zh-CN" altLang="en-US" b="1" dirty="0">
                <a:sym typeface="+mn-ea"/>
              </a:rPr>
              <a:t>章 流计算</a:t>
            </a:r>
            <a:endParaRPr lang="en-US" altLang="zh-CN" b="1" dirty="0">
              <a:solidFill>
                <a:srgbClr val="000000"/>
              </a:solidFill>
              <a:effectLst/>
              <a:latin typeface="宋体" panose="02010600030101010101" pitchFamily="2" charset="-122"/>
              <a:ea typeface="宋体" panose="02010600030101010101" pitchFamily="2" charset="-122"/>
              <a:sym typeface="+mn-ea"/>
            </a:endParaRPr>
          </a:p>
        </p:txBody>
      </p:sp>
      <p:sp>
        <p:nvSpPr>
          <p:cNvPr id="3" name="副标题 2"/>
          <p:cNvSpPr>
            <a:spLocks noGrp="1"/>
          </p:cNvSpPr>
          <p:nvPr>
            <p:ph type="subTitle"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892175"/>
          </a:xfrm>
        </p:spPr>
        <p:txBody>
          <a:bodyPr>
            <a:normAutofit/>
          </a:bodyPr>
          <a:lstStyle/>
          <a:p>
            <a:r>
              <a:rPr lang="zh-CN" altLang="en-US" sz="4800" b="1" dirty="0">
                <a:sym typeface="+mn-ea"/>
              </a:rPr>
              <a:t>第</a:t>
            </a:r>
            <a:r>
              <a:rPr lang="en-US" altLang="zh-CN" sz="4800" b="1" dirty="0">
                <a:sym typeface="+mn-ea"/>
              </a:rPr>
              <a:t>11</a:t>
            </a:r>
            <a:r>
              <a:rPr lang="zh-CN" altLang="en-US" sz="4800" b="1" dirty="0">
                <a:sym typeface="+mn-ea"/>
              </a:rPr>
              <a:t>章 流计算</a:t>
            </a:r>
            <a:endParaRPr lang="en-US" altLang="zh-CN" sz="4800" b="1" dirty="0">
              <a:solidFill>
                <a:srgbClr val="000000"/>
              </a:solidFill>
              <a:effectLst/>
              <a:latin typeface="宋体" panose="02010600030101010101" pitchFamily="2" charset="-122"/>
              <a:ea typeface="宋体" panose="02010600030101010101" pitchFamily="2" charset="-122"/>
              <a:sym typeface="+mn-ea"/>
            </a:endParaRPr>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5" name="圆角矩形 4"/>
          <p:cNvSpPr/>
          <p:nvPr/>
        </p:nvSpPr>
        <p:spPr>
          <a:xfrm>
            <a:off x="534670" y="2572385"/>
            <a:ext cx="278765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a:t>11.1 </a:t>
            </a:r>
            <a:r>
              <a:rPr lang="zh-CN" altLang="en-US" sz="2800"/>
              <a:t>概述</a:t>
            </a:r>
            <a:endParaRPr lang="zh-CN" altLang="en-US" sz="2800"/>
          </a:p>
        </p:txBody>
      </p:sp>
      <p:sp>
        <p:nvSpPr>
          <p:cNvPr id="6" name="圆角矩形 5"/>
          <p:cNvSpPr/>
          <p:nvPr/>
        </p:nvSpPr>
        <p:spPr>
          <a:xfrm>
            <a:off x="4309745" y="1553210"/>
            <a:ext cx="278765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eaLnBrk="1" hangingPunct="1">
              <a:buClrTx/>
              <a:buSzTx/>
              <a:buFontTx/>
            </a:pPr>
            <a:r>
              <a:rPr lang="en-US" sz="2800">
                <a:sym typeface="+mn-ea"/>
              </a:rPr>
              <a:t>11.2  处理流程</a:t>
            </a:r>
            <a:endParaRPr lang="en-US" sz="2800"/>
          </a:p>
        </p:txBody>
      </p:sp>
      <p:sp>
        <p:nvSpPr>
          <p:cNvPr id="7" name="圆角矩形 6"/>
          <p:cNvSpPr/>
          <p:nvPr/>
        </p:nvSpPr>
        <p:spPr>
          <a:xfrm>
            <a:off x="8471535" y="2489200"/>
            <a:ext cx="278765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dirty="0"/>
              <a:t>11.3 </a:t>
            </a:r>
            <a:r>
              <a:rPr lang="zh-CN" altLang="en-US" sz="2800" dirty="0"/>
              <a:t>应用</a:t>
            </a:r>
            <a:endParaRPr lang="zh-CN" altLang="en-US" sz="2800" dirty="0"/>
          </a:p>
        </p:txBody>
      </p:sp>
      <p:sp>
        <p:nvSpPr>
          <p:cNvPr id="8" name="圆角矩形 7"/>
          <p:cNvSpPr/>
          <p:nvPr/>
        </p:nvSpPr>
        <p:spPr>
          <a:xfrm>
            <a:off x="8472170" y="4213225"/>
            <a:ext cx="2787015" cy="894715"/>
          </a:xfrm>
          <a:prstGeom prst="roundRect">
            <a:avLst/>
          </a:prstGeom>
          <a:solidFill>
            <a:srgbClr val="FFFF00"/>
          </a:solidFill>
        </p:spPr>
        <p:style>
          <a:lnRef idx="1">
            <a:schemeClr val="accent2"/>
          </a:lnRef>
          <a:fillRef idx="2">
            <a:schemeClr val="accent2"/>
          </a:fillRef>
          <a:effectRef idx="1">
            <a:schemeClr val="accent2"/>
          </a:effectRef>
          <a:fontRef idx="minor">
            <a:schemeClr val="dk1"/>
          </a:fontRef>
        </p:style>
        <p:txBody>
          <a:bodyPr rtlCol="0" anchor="ctr"/>
          <a:lstStyle/>
          <a:p>
            <a:pPr algn="ctr">
              <a:buClrTx/>
              <a:buSzTx/>
              <a:buFontTx/>
            </a:pPr>
            <a:r>
              <a:rPr lang="en-US" sz="2800"/>
              <a:t>11.4 </a:t>
            </a:r>
            <a:r>
              <a:rPr lang="en-US" sz="2800">
                <a:sym typeface="+mn-ea"/>
              </a:rPr>
              <a:t>开源框架 – Storm</a:t>
            </a:r>
            <a:endParaRPr lang="en-US" sz="2800"/>
          </a:p>
        </p:txBody>
      </p:sp>
      <p:sp>
        <p:nvSpPr>
          <p:cNvPr id="10" name="圆角矩形 9"/>
          <p:cNvSpPr/>
          <p:nvPr/>
        </p:nvSpPr>
        <p:spPr>
          <a:xfrm>
            <a:off x="477520" y="4351655"/>
            <a:ext cx="2844165" cy="75628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buClrTx/>
              <a:buSzTx/>
              <a:buFontTx/>
            </a:pPr>
            <a:r>
              <a:rPr lang="en-US" sz="2800"/>
              <a:t>11.5 </a:t>
            </a:r>
            <a:r>
              <a:rPr lang="en-US" sz="2800">
                <a:sym typeface="+mn-ea"/>
              </a:rPr>
              <a:t>Spark Streaming</a:t>
            </a:r>
            <a:endParaRPr lang="en-US" sz="2800">
              <a:sym typeface="+mn-ea"/>
            </a:endParaRPr>
          </a:p>
        </p:txBody>
      </p:sp>
      <p:pic>
        <p:nvPicPr>
          <p:cNvPr id="3" name="图片 2"/>
          <p:cNvPicPr/>
          <p:nvPr/>
        </p:nvPicPr>
        <p:blipFill>
          <a:blip r:embed="rId1"/>
          <a:stretch>
            <a:fillRect/>
          </a:stretch>
        </p:blipFill>
        <p:spPr>
          <a:xfrm>
            <a:off x="3321368" y="3162935"/>
            <a:ext cx="5038725" cy="24574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childTnLst>
                          </p:cTn>
                        </p:par>
                        <p:par>
                          <p:cTn id="20" fill="hold">
                            <p:stCondLst>
                              <p:cond delay="2000"/>
                            </p:stCondLst>
                            <p:childTnLst>
                              <p:par>
                                <p:cTn id="21" presetID="22" presetClass="entr" presetSubtype="2"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right)">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6" grpId="0" bldLvl="0" animBg="1"/>
      <p:bldP spid="6" grpId="1" animBg="1"/>
      <p:bldP spid="7" grpId="0" bldLvl="0" animBg="1"/>
      <p:bldP spid="7" grpId="1" animBg="1"/>
      <p:bldP spid="8" grpId="0" bldLvl="0" animBg="1"/>
      <p:bldP spid="8" grpId="1" animBg="1"/>
      <p:bldP spid="10" grpId="0" bldLvl="0" animBg="1"/>
      <p:bldP spid="10"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p:txBody>
          <a:bodyPr vert="horz" wrap="square" lIns="91440" tIns="45720" rIns="91440" bIns="45720" anchor="ctr" anchorCtr="0"/>
          <a:lstStyle/>
          <a:p>
            <a:r>
              <a:rPr lang="en-US" altLang="zh-CN" b="1" dirty="0"/>
              <a:t>11.1	</a:t>
            </a:r>
            <a:r>
              <a:rPr lang="zh-CN" altLang="en-US" b="1" dirty="0"/>
              <a:t>概述</a:t>
            </a:r>
            <a:endParaRPr lang="zh-CN" altLang="en-US" b="1" dirty="0"/>
          </a:p>
        </p:txBody>
      </p:sp>
      <p:sp>
        <p:nvSpPr>
          <p:cNvPr id="14339" name="Rectangle 3"/>
          <p:cNvSpPr>
            <a:spLocks noGrp="1"/>
          </p:cNvSpPr>
          <p:nvPr>
            <p:ph idx="1"/>
          </p:nvPr>
        </p:nvSpPr>
        <p:spPr/>
        <p:txBody>
          <a:bodyPr vert="horz" wrap="square" lIns="91440" tIns="45720" rIns="91440" bIns="45720" anchor="t" anchorCtr="0">
            <a:normAutofit/>
          </a:bodyPr>
          <a:lstStyle/>
          <a:p>
            <a:pPr marL="0" indent="0">
              <a:lnSpc>
                <a:spcPct val="120000"/>
              </a:lnSpc>
              <a:buNone/>
            </a:pPr>
            <a:r>
              <a:rPr lang="en-US" altLang="zh-CN" sz="3300" dirty="0">
                <a:sym typeface="+mn-ea"/>
              </a:rPr>
              <a:t>11.1.1	</a:t>
            </a:r>
            <a:r>
              <a:rPr lang="zh-CN" altLang="en-US" sz="3300" dirty="0">
                <a:sym typeface="+mn-ea"/>
              </a:rPr>
              <a:t>静态数据和流数据</a:t>
            </a:r>
            <a:endParaRPr lang="zh-CN" altLang="en-US" sz="3300" dirty="0"/>
          </a:p>
          <a:p>
            <a:pPr marL="0" indent="0">
              <a:lnSpc>
                <a:spcPct val="120000"/>
              </a:lnSpc>
              <a:buNone/>
            </a:pPr>
            <a:r>
              <a:rPr lang="en-US" altLang="zh-CN" sz="3300" dirty="0">
                <a:sym typeface="+mn-ea"/>
              </a:rPr>
              <a:t>11.1.2	</a:t>
            </a:r>
            <a:r>
              <a:rPr lang="zh-CN" altLang="en-US" sz="3300" dirty="0">
                <a:sym typeface="+mn-ea"/>
              </a:rPr>
              <a:t>批量计算和实时计算</a:t>
            </a:r>
            <a:endParaRPr lang="zh-CN" altLang="en-US" sz="3300" dirty="0"/>
          </a:p>
          <a:p>
            <a:pPr marL="0" indent="0">
              <a:lnSpc>
                <a:spcPct val="120000"/>
              </a:lnSpc>
              <a:buNone/>
            </a:pPr>
            <a:r>
              <a:rPr lang="en-US" altLang="zh-CN" sz="3300" dirty="0">
                <a:sym typeface="+mn-ea"/>
              </a:rPr>
              <a:t>11.1.3	</a:t>
            </a:r>
            <a:r>
              <a:rPr lang="zh-CN" altLang="en-US" sz="3300" dirty="0">
                <a:sym typeface="+mn-ea"/>
              </a:rPr>
              <a:t>流计算概念</a:t>
            </a:r>
            <a:endParaRPr lang="zh-CN" altLang="en-US" sz="3300" dirty="0"/>
          </a:p>
          <a:p>
            <a:pPr marL="0" indent="0">
              <a:lnSpc>
                <a:spcPct val="120000"/>
              </a:lnSpc>
              <a:buNone/>
            </a:pPr>
            <a:r>
              <a:rPr lang="en-US" altLang="zh-CN" sz="3300" dirty="0">
                <a:sym typeface="+mn-ea"/>
              </a:rPr>
              <a:t>11.1.4	</a:t>
            </a:r>
            <a:r>
              <a:rPr lang="zh-CN" altLang="en-US" sz="3300" dirty="0">
                <a:sym typeface="+mn-ea"/>
              </a:rPr>
              <a:t>流计算与</a:t>
            </a:r>
            <a:r>
              <a:rPr lang="en-US" altLang="zh-CN" sz="3300" dirty="0">
                <a:sym typeface="+mn-ea"/>
              </a:rPr>
              <a:t>Hadoop</a:t>
            </a:r>
            <a:endParaRPr lang="en-US" altLang="zh-CN" sz="3300" dirty="0"/>
          </a:p>
          <a:p>
            <a:pPr marL="0" indent="0">
              <a:lnSpc>
                <a:spcPct val="120000"/>
              </a:lnSpc>
              <a:buNone/>
            </a:pPr>
            <a:r>
              <a:rPr lang="en-US" altLang="zh-CN" sz="3300" dirty="0">
                <a:sym typeface="+mn-ea"/>
              </a:rPr>
              <a:t>11.1.5	</a:t>
            </a:r>
            <a:r>
              <a:rPr lang="zh-CN" altLang="en-US" sz="3300" dirty="0">
                <a:sym typeface="+mn-ea"/>
              </a:rPr>
              <a:t>流计算框架</a:t>
            </a:r>
            <a:endParaRPr lang="zh-CN" altLang="en-US" sz="2400" dirty="0"/>
          </a:p>
        </p:txBody>
      </p:sp>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标题 2"/>
          <p:cNvSpPr>
            <a:spLocks noGrp="1"/>
          </p:cNvSpPr>
          <p:nvPr>
            <p:ph type="title"/>
          </p:nvPr>
        </p:nvSpPr>
        <p:spPr/>
        <p:txBody>
          <a:bodyPr vert="horz" wrap="square" lIns="91440" tIns="45720" rIns="91440" bIns="45720" anchor="ctr" anchorCtr="0"/>
          <a:lstStyle/>
          <a:p>
            <a:r>
              <a:rPr lang="en-US" altLang="zh-CN" b="1" dirty="0"/>
              <a:t>11.1.1 </a:t>
            </a:r>
            <a:r>
              <a:rPr lang="zh-CN" altLang="en-US" b="1" dirty="0"/>
              <a:t>静态数据和流数据</a:t>
            </a:r>
            <a:endParaRPr lang="zh-CN" altLang="en-US" b="1" dirty="0"/>
          </a:p>
        </p:txBody>
      </p:sp>
      <p:pic>
        <p:nvPicPr>
          <p:cNvPr id="9220" name="Picture 8"/>
          <p:cNvPicPr>
            <a:picLocks noChangeAspect="1"/>
          </p:cNvPicPr>
          <p:nvPr/>
        </p:nvPicPr>
        <p:blipFill>
          <a:blip r:embed="rId1"/>
          <a:stretch>
            <a:fillRect/>
          </a:stretch>
        </p:blipFill>
        <p:spPr>
          <a:xfrm>
            <a:off x="2012315" y="2907030"/>
            <a:ext cx="7632065" cy="3703955"/>
          </a:xfrm>
          <a:prstGeom prst="rect">
            <a:avLst/>
          </a:prstGeom>
          <a:noFill/>
          <a:ln w="9525">
            <a:noFill/>
          </a:ln>
        </p:spPr>
      </p:pic>
      <p:sp>
        <p:nvSpPr>
          <p:cNvPr id="2" name="文本框 1"/>
          <p:cNvSpPr txBox="1"/>
          <p:nvPr/>
        </p:nvSpPr>
        <p:spPr>
          <a:xfrm>
            <a:off x="909320" y="1691005"/>
            <a:ext cx="6605905" cy="953135"/>
          </a:xfrm>
          <a:prstGeom prst="rect">
            <a:avLst/>
          </a:prstGeom>
          <a:noFill/>
        </p:spPr>
        <p:txBody>
          <a:bodyPr wrap="square" rtlCol="0" anchor="t">
            <a:spAutoFit/>
          </a:bodyPr>
          <a:lstStyle/>
          <a:p>
            <a:r>
              <a:rPr lang="zh-CN" altLang="en-US" sz="2800" dirty="0">
                <a:sym typeface="+mn-ea"/>
              </a:rPr>
              <a:t>静态数据：不会随时间发生改变的数据</a:t>
            </a:r>
            <a:endParaRPr lang="zh-CN" altLang="en-US" sz="2800" dirty="0">
              <a:sym typeface="+mn-ea"/>
            </a:endParaRPr>
          </a:p>
          <a:p>
            <a:r>
              <a:rPr lang="zh-CN" altLang="en-US" sz="2800" dirty="0">
                <a:sym typeface="+mn-ea"/>
              </a:rPr>
              <a:t>例如：历史数据</a:t>
            </a:r>
            <a:endParaRPr lang="zh-CN" altLang="en-US" sz="2800" dirty="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标题 2"/>
          <p:cNvSpPr>
            <a:spLocks noGrp="1"/>
          </p:cNvSpPr>
          <p:nvPr>
            <p:ph type="title"/>
          </p:nvPr>
        </p:nvSpPr>
        <p:spPr/>
        <p:txBody>
          <a:bodyPr vert="horz" wrap="square" lIns="91440" tIns="45720" rIns="91440" bIns="45720" anchor="ctr" anchorCtr="0"/>
          <a:lstStyle/>
          <a:p>
            <a:r>
              <a:rPr lang="en-US" altLang="zh-CN" b="1" dirty="0"/>
              <a:t>11.1.1 </a:t>
            </a:r>
            <a:r>
              <a:rPr lang="zh-CN" altLang="en-US" b="1" dirty="0"/>
              <a:t>静态数据和流数据</a:t>
            </a:r>
            <a:endParaRPr lang="zh-CN" altLang="en-US" b="1" dirty="0"/>
          </a:p>
        </p:txBody>
      </p:sp>
      <p:sp>
        <p:nvSpPr>
          <p:cNvPr id="2" name="文本框 1"/>
          <p:cNvSpPr txBox="1"/>
          <p:nvPr>
            <p:custDataLst>
              <p:tags r:id="rId1"/>
            </p:custDataLst>
          </p:nvPr>
        </p:nvSpPr>
        <p:spPr>
          <a:xfrm>
            <a:off x="909320" y="1691005"/>
            <a:ext cx="9448800" cy="953135"/>
          </a:xfrm>
          <a:prstGeom prst="rect">
            <a:avLst/>
          </a:prstGeom>
          <a:noFill/>
        </p:spPr>
        <p:txBody>
          <a:bodyPr wrap="square" rtlCol="0" anchor="t">
            <a:spAutoFit/>
          </a:bodyPr>
          <a:lstStyle/>
          <a:p>
            <a:r>
              <a:rPr lang="zh-CN" altLang="en-US" sz="2800" dirty="0">
                <a:sym typeface="+mn-ea"/>
              </a:rPr>
              <a:t>流数据：</a:t>
            </a:r>
            <a:r>
              <a:rPr lang="zh-CN" altLang="zh-CN" sz="2800" dirty="0">
                <a:sym typeface="+mn-ea"/>
              </a:rPr>
              <a:t>数据以大量、快速、时变的流形式持续到达</a:t>
            </a:r>
            <a:endParaRPr lang="en-US" altLang="zh-CN" sz="2800" dirty="0"/>
          </a:p>
          <a:p>
            <a:r>
              <a:rPr lang="zh-CN" altLang="en-US" sz="2800" dirty="0">
                <a:sym typeface="+mn-ea"/>
              </a:rPr>
              <a:t>出现在</a:t>
            </a:r>
            <a:r>
              <a:rPr lang="en-US" altLang="zh-CN" sz="2800" dirty="0">
                <a:sym typeface="+mn-ea"/>
              </a:rPr>
              <a:t>Web</a:t>
            </a:r>
            <a:r>
              <a:rPr lang="zh-CN" altLang="zh-CN" sz="2800" dirty="0">
                <a:sym typeface="+mn-ea"/>
              </a:rPr>
              <a:t>应用、网络监控、传感监测等领域</a:t>
            </a:r>
            <a:endParaRPr lang="zh-CN" altLang="en-US" sz="2800" dirty="0">
              <a:sym typeface="+mn-ea"/>
            </a:endParaRPr>
          </a:p>
        </p:txBody>
      </p:sp>
      <p:sp>
        <p:nvSpPr>
          <p:cNvPr id="3" name="文本框 2"/>
          <p:cNvSpPr txBox="1"/>
          <p:nvPr/>
        </p:nvSpPr>
        <p:spPr>
          <a:xfrm>
            <a:off x="968375" y="2830830"/>
            <a:ext cx="7430135" cy="521970"/>
          </a:xfrm>
          <a:prstGeom prst="rect">
            <a:avLst/>
          </a:prstGeom>
          <a:noFill/>
        </p:spPr>
        <p:txBody>
          <a:bodyPr wrap="square" rtlCol="0" anchor="t">
            <a:spAutoFit/>
          </a:bodyPr>
          <a:lstStyle/>
          <a:p>
            <a:r>
              <a:rPr lang="zh-CN" altLang="en-US" sz="2800" dirty="0">
                <a:sym typeface="+mn-ea"/>
              </a:rPr>
              <a:t>实例：电子商务网站用户点击流</a:t>
            </a:r>
            <a:endParaRPr lang="zh-CN" altLang="en-US" sz="2800" dirty="0">
              <a:sym typeface="+mn-ea"/>
            </a:endParaRPr>
          </a:p>
        </p:txBody>
      </p:sp>
      <p:pic>
        <p:nvPicPr>
          <p:cNvPr id="102" name="图片 101"/>
          <p:cNvPicPr/>
          <p:nvPr/>
        </p:nvPicPr>
        <p:blipFill>
          <a:blip r:embed="rId2"/>
          <a:srcRect l="3144" t="12185" r="4034" b="15917"/>
          <a:stretch>
            <a:fillRect/>
          </a:stretch>
        </p:blipFill>
        <p:spPr>
          <a:xfrm>
            <a:off x="1736090" y="3626485"/>
            <a:ext cx="5660390" cy="285115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标题 2"/>
          <p:cNvSpPr>
            <a:spLocks noGrp="1"/>
          </p:cNvSpPr>
          <p:nvPr>
            <p:ph type="title"/>
          </p:nvPr>
        </p:nvSpPr>
        <p:spPr/>
        <p:txBody>
          <a:bodyPr vert="horz" wrap="square" lIns="91440" tIns="45720" rIns="91440" bIns="45720" anchor="ctr" anchorCtr="0"/>
          <a:lstStyle/>
          <a:p>
            <a:r>
              <a:rPr lang="en-US" altLang="zh-CN" b="1" dirty="0"/>
              <a:t>11.1.1 </a:t>
            </a:r>
            <a:r>
              <a:rPr lang="zh-CN" altLang="en-US" b="1" dirty="0"/>
              <a:t>静态数据和流数据</a:t>
            </a:r>
            <a:endParaRPr lang="zh-CN" altLang="en-US" b="1" dirty="0"/>
          </a:p>
        </p:txBody>
      </p:sp>
      <p:sp>
        <p:nvSpPr>
          <p:cNvPr id="4" name="文本框 3"/>
          <p:cNvSpPr txBox="1"/>
          <p:nvPr/>
        </p:nvSpPr>
        <p:spPr>
          <a:xfrm>
            <a:off x="958850" y="1755140"/>
            <a:ext cx="9998075" cy="4225925"/>
          </a:xfrm>
          <a:prstGeom prst="rect">
            <a:avLst/>
          </a:prstGeom>
          <a:noFill/>
        </p:spPr>
        <p:txBody>
          <a:bodyPr wrap="square" rtlCol="0" anchor="t">
            <a:spAutoFit/>
          </a:bodyPr>
          <a:lstStyle/>
          <a:p>
            <a:pPr>
              <a:lnSpc>
                <a:spcPct val="140000"/>
              </a:lnSpc>
            </a:pPr>
            <a:r>
              <a:rPr lang="zh-CN" altLang="en-US" sz="2400"/>
              <a:t>流数据具有如下特征：</a:t>
            </a:r>
            <a:endParaRPr lang="zh-CN" altLang="en-US" sz="2400"/>
          </a:p>
          <a:p>
            <a:pPr marL="457200" indent="-457200">
              <a:lnSpc>
                <a:spcPct val="140000"/>
              </a:lnSpc>
              <a:buFont typeface="+mj-lt"/>
              <a:buAutoNum type="arabicPeriod"/>
            </a:pPr>
            <a:r>
              <a:rPr lang="zh-CN" altLang="en-US" sz="2400"/>
              <a:t>数据快速持续到达，潜在大小也许是无穷无尽的</a:t>
            </a:r>
            <a:endParaRPr lang="zh-CN" altLang="en-US" sz="2400"/>
          </a:p>
          <a:p>
            <a:pPr marL="457200" indent="-457200">
              <a:lnSpc>
                <a:spcPct val="140000"/>
              </a:lnSpc>
              <a:buFont typeface="+mj-lt"/>
              <a:buAutoNum type="arabicPeriod"/>
            </a:pPr>
            <a:r>
              <a:rPr lang="zh-CN" altLang="en-US" sz="2400"/>
              <a:t>数据来源众多，格式复杂</a:t>
            </a:r>
            <a:endParaRPr lang="zh-CN" altLang="en-US" sz="2400"/>
          </a:p>
          <a:p>
            <a:pPr marL="457200" indent="-457200">
              <a:lnSpc>
                <a:spcPct val="140000"/>
              </a:lnSpc>
              <a:buFont typeface="+mj-lt"/>
              <a:buAutoNum type="arabicPeriod"/>
            </a:pPr>
            <a:r>
              <a:rPr lang="zh-CN" altLang="en-US" sz="2400"/>
              <a:t>数据量大，但是不十分关注存储，一旦经过处理，要么被丢弃，要么被归档存储</a:t>
            </a:r>
            <a:endParaRPr lang="zh-CN" altLang="en-US" sz="2400"/>
          </a:p>
          <a:p>
            <a:pPr marL="457200" indent="-457200">
              <a:lnSpc>
                <a:spcPct val="140000"/>
              </a:lnSpc>
              <a:buFont typeface="+mj-lt"/>
              <a:buAutoNum type="arabicPeriod"/>
            </a:pPr>
            <a:r>
              <a:rPr lang="zh-CN" altLang="en-US" sz="2400"/>
              <a:t>注重数据的整体价值，不过分关注个别数据</a:t>
            </a:r>
            <a:endParaRPr lang="zh-CN" altLang="en-US" sz="2400"/>
          </a:p>
          <a:p>
            <a:pPr marL="457200" indent="-457200">
              <a:lnSpc>
                <a:spcPct val="140000"/>
              </a:lnSpc>
              <a:buFont typeface="+mj-lt"/>
              <a:buAutoNum type="arabicPeriod"/>
            </a:pPr>
            <a:r>
              <a:rPr lang="zh-CN" altLang="en-US" sz="2400"/>
              <a:t>数据顺序颠倒，或者不完整，系统无法控制将要处理的新到达的数据元素的顺序</a:t>
            </a:r>
            <a:endParaRPr lang="zh-CN" alt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标题 2"/>
          <p:cNvSpPr>
            <a:spLocks noGrp="1"/>
          </p:cNvSpPr>
          <p:nvPr>
            <p:ph type="title"/>
          </p:nvPr>
        </p:nvSpPr>
        <p:spPr/>
        <p:txBody>
          <a:bodyPr vert="horz" wrap="square" lIns="91440" tIns="45720" rIns="91440" bIns="45720" anchor="ctr" anchorCtr="0"/>
          <a:lstStyle/>
          <a:p>
            <a:r>
              <a:rPr lang="en-US" altLang="zh-CN" b="1" dirty="0"/>
              <a:t>11.1.2 </a:t>
            </a:r>
            <a:r>
              <a:rPr lang="zh-CN" altLang="en-US" b="1" dirty="0"/>
              <a:t>批量计算和实时计算</a:t>
            </a:r>
            <a:endParaRPr lang="zh-CN" altLang="en-US" b="1" dirty="0"/>
          </a:p>
        </p:txBody>
      </p:sp>
      <p:sp>
        <p:nvSpPr>
          <p:cNvPr id="11266" name="内容占位符 1"/>
          <p:cNvSpPr>
            <a:spLocks noGrp="1"/>
          </p:cNvSpPr>
          <p:nvPr>
            <p:ph idx="4294967295"/>
          </p:nvPr>
        </p:nvSpPr>
        <p:spPr>
          <a:xfrm>
            <a:off x="1032986" y="1520825"/>
            <a:ext cx="8783638" cy="822325"/>
          </a:xfrm>
        </p:spPr>
        <p:txBody>
          <a:bodyPr vert="horz" wrap="square" lIns="91440" tIns="45720" rIns="91440" bIns="45720" anchor="t" anchorCtr="0">
            <a:noAutofit/>
          </a:bodyPr>
          <a:lstStyle/>
          <a:p>
            <a:pPr marL="0" indent="0">
              <a:buNone/>
            </a:pPr>
            <a:r>
              <a:rPr lang="zh-CN" altLang="zh-CN" sz="2400" dirty="0"/>
              <a:t>对静态数据和流数据的处理，对应着两种截然不同的计算模式：</a:t>
            </a:r>
            <a:endParaRPr lang="zh-CN" altLang="zh-CN" sz="2400" dirty="0"/>
          </a:p>
          <a:p>
            <a:pPr marL="0" indent="0">
              <a:buNone/>
            </a:pPr>
            <a:r>
              <a:rPr lang="zh-CN" altLang="zh-CN" sz="2400" dirty="0"/>
              <a:t>批量计算和实时计算</a:t>
            </a:r>
            <a:endParaRPr lang="zh-CN" altLang="zh-CN" sz="2400" dirty="0"/>
          </a:p>
        </p:txBody>
      </p:sp>
      <p:sp>
        <p:nvSpPr>
          <p:cNvPr id="11268" name="文本框 2"/>
          <p:cNvSpPr txBox="1"/>
          <p:nvPr/>
        </p:nvSpPr>
        <p:spPr>
          <a:xfrm>
            <a:off x="7009130" y="6169025"/>
            <a:ext cx="2468880" cy="398780"/>
          </a:xfrm>
          <a:prstGeom prst="rect">
            <a:avLst/>
          </a:prstGeom>
          <a:noFill/>
          <a:ln w="9525">
            <a:noFill/>
          </a:ln>
        </p:spPr>
        <p:txBody>
          <a:bodyPr wrap="none">
            <a:spAutoFit/>
          </a:bodyPr>
          <a:lstStyle/>
          <a:p>
            <a:r>
              <a:rPr lang="zh-CN" altLang="en-US" sz="2000" dirty="0">
                <a:latin typeface="Arial" panose="020B0604020202020204" pitchFamily="34" charset="0"/>
              </a:rPr>
              <a:t>数据的两种处理模型</a:t>
            </a:r>
            <a:endParaRPr lang="zh-CN" altLang="en-US" sz="2000" dirty="0">
              <a:latin typeface="Arial" panose="020B0604020202020204" pitchFamily="34" charset="0"/>
            </a:endParaRPr>
          </a:p>
        </p:txBody>
      </p:sp>
      <p:pic>
        <p:nvPicPr>
          <p:cNvPr id="11269" name="图片 3"/>
          <p:cNvPicPr>
            <a:picLocks noChangeAspect="1"/>
          </p:cNvPicPr>
          <p:nvPr/>
        </p:nvPicPr>
        <p:blipFill>
          <a:blip r:embed="rId1"/>
          <a:stretch>
            <a:fillRect/>
          </a:stretch>
        </p:blipFill>
        <p:spPr>
          <a:xfrm>
            <a:off x="6019800" y="2438400"/>
            <a:ext cx="4448175" cy="3635375"/>
          </a:xfrm>
          <a:prstGeom prst="rect">
            <a:avLst/>
          </a:prstGeom>
          <a:noFill/>
          <a:ln w="9525">
            <a:noFill/>
          </a:ln>
        </p:spPr>
      </p:pic>
      <p:sp>
        <p:nvSpPr>
          <p:cNvPr id="11270" name="TextBox 5"/>
          <p:cNvSpPr txBox="1"/>
          <p:nvPr/>
        </p:nvSpPr>
        <p:spPr>
          <a:xfrm>
            <a:off x="1081405" y="2596833"/>
            <a:ext cx="4343400" cy="3415030"/>
          </a:xfrm>
          <a:prstGeom prst="rect">
            <a:avLst/>
          </a:prstGeom>
          <a:noFill/>
          <a:ln w="9525">
            <a:noFill/>
          </a:ln>
        </p:spPr>
        <p:txBody>
          <a:bodyPr>
            <a:spAutoFit/>
          </a:bodyPr>
          <a:lstStyle/>
          <a:p>
            <a:pPr>
              <a:buFont typeface="Arial" panose="020B0604020202020204" pitchFamily="34" charset="0"/>
              <a:buChar char="•"/>
            </a:pPr>
            <a:r>
              <a:rPr lang="zh-CN" altLang="en-US" sz="2400" dirty="0">
                <a:latin typeface="Arial" panose="020B0604020202020204" pitchFamily="34" charset="0"/>
              </a:rPr>
              <a:t>批量计算：充裕时间处理静态数据，如</a:t>
            </a:r>
            <a:r>
              <a:rPr lang="en-US" altLang="zh-CN" sz="2400" dirty="0">
                <a:latin typeface="Arial" panose="020B0604020202020204" pitchFamily="34" charset="0"/>
              </a:rPr>
              <a:t>Hadoop</a:t>
            </a:r>
            <a:endParaRPr lang="en-US" altLang="zh-CN" sz="2400" dirty="0">
              <a:latin typeface="Arial" panose="020B0604020202020204" pitchFamily="34" charset="0"/>
            </a:endParaRPr>
          </a:p>
          <a:p>
            <a:pPr>
              <a:buFont typeface="Arial" panose="020B0604020202020204" pitchFamily="34" charset="0"/>
              <a:buChar char="•"/>
            </a:pPr>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Times New Roman" panose="02020603050405020304" pitchFamily="18" charset="0"/>
                <a:cs typeface="Times New Roman" panose="02020603050405020304" pitchFamily="18" charset="0"/>
              </a:rPr>
              <a:t>流数据</a:t>
            </a:r>
            <a:r>
              <a:rPr lang="zh-CN" altLang="en-US" sz="2400" dirty="0">
                <a:latin typeface="Times New Roman" panose="02020603050405020304" pitchFamily="18" charset="0"/>
                <a:cs typeface="Times New Roman" panose="02020603050405020304" pitchFamily="18" charset="0"/>
              </a:rPr>
              <a:t>不适合采用批量计算，因为流数据不适合用传统的关系模型建模</a:t>
            </a:r>
            <a:endParaRPr lang="zh-CN" alt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altLang="zh-C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流数据必须采用实时计算，响应时间为秒级</a:t>
            </a:r>
            <a:endParaRPr lang="zh-CN" altLang="en-US"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7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7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标题 2"/>
          <p:cNvSpPr>
            <a:spLocks noGrp="1"/>
          </p:cNvSpPr>
          <p:nvPr>
            <p:ph type="title"/>
          </p:nvPr>
        </p:nvSpPr>
        <p:spPr/>
        <p:txBody>
          <a:bodyPr vert="horz" wrap="square" lIns="91440" tIns="45720" rIns="91440" bIns="45720" anchor="ctr" anchorCtr="0"/>
          <a:lstStyle/>
          <a:p>
            <a:r>
              <a:rPr lang="en-US" altLang="zh-CN" b="1" dirty="0"/>
              <a:t>11.1.3 </a:t>
            </a:r>
            <a:r>
              <a:rPr lang="zh-CN" altLang="en-US" b="1" dirty="0"/>
              <a:t>流计算概念</a:t>
            </a:r>
            <a:endParaRPr lang="zh-CN" altLang="en-US" b="1" dirty="0"/>
          </a:p>
        </p:txBody>
      </p:sp>
      <p:sp>
        <p:nvSpPr>
          <p:cNvPr id="12290" name="内容占位符 1"/>
          <p:cNvSpPr>
            <a:spLocks noGrp="1"/>
          </p:cNvSpPr>
          <p:nvPr>
            <p:ph idx="4294967295"/>
          </p:nvPr>
        </p:nvSpPr>
        <p:spPr>
          <a:xfrm>
            <a:off x="1136333" y="1550988"/>
            <a:ext cx="10771187" cy="468312"/>
          </a:xfrm>
        </p:spPr>
        <p:txBody>
          <a:bodyPr vert="horz" wrap="square" lIns="91440" tIns="45720" rIns="91440" bIns="45720" anchor="t" anchorCtr="0"/>
          <a:lstStyle/>
          <a:p>
            <a:pPr marL="0" indent="0">
              <a:buNone/>
            </a:pPr>
            <a:r>
              <a:rPr lang="zh-CN" altLang="zh-CN" sz="2400" dirty="0"/>
              <a:t>实时获取来自不同数据源的海量数据，经过实时分析处理，获得有价值的信息</a:t>
            </a:r>
            <a:endParaRPr lang="zh-CN" altLang="zh-CN" sz="2000" dirty="0"/>
          </a:p>
        </p:txBody>
      </p:sp>
      <p:sp>
        <p:nvSpPr>
          <p:cNvPr id="12292" name="文本框 6"/>
          <p:cNvSpPr txBox="1"/>
          <p:nvPr/>
        </p:nvSpPr>
        <p:spPr>
          <a:xfrm>
            <a:off x="1909445" y="2600960"/>
            <a:ext cx="487680" cy="2306955"/>
          </a:xfrm>
          <a:prstGeom prst="rect">
            <a:avLst/>
          </a:prstGeom>
          <a:noFill/>
          <a:ln w="9525">
            <a:noFill/>
          </a:ln>
        </p:spPr>
        <p:txBody>
          <a:bodyPr wrap="none">
            <a:spAutoFit/>
          </a:bodyPr>
          <a:lstStyle/>
          <a:p>
            <a:r>
              <a:rPr lang="zh-CN" altLang="en-US" sz="2400" dirty="0">
                <a:latin typeface="Arial" panose="020B0604020202020204" pitchFamily="34" charset="0"/>
              </a:rPr>
              <a:t>流</a:t>
            </a:r>
            <a:endParaRPr lang="zh-CN" altLang="en-US" sz="2400" dirty="0">
              <a:latin typeface="Arial" panose="020B0604020202020204" pitchFamily="34" charset="0"/>
            </a:endParaRPr>
          </a:p>
          <a:p>
            <a:r>
              <a:rPr lang="zh-CN" altLang="en-US" sz="2400" dirty="0">
                <a:latin typeface="Arial" panose="020B0604020202020204" pitchFamily="34" charset="0"/>
              </a:rPr>
              <a:t>计</a:t>
            </a:r>
            <a:endParaRPr lang="zh-CN" altLang="en-US" sz="2400" dirty="0">
              <a:latin typeface="Arial" panose="020B0604020202020204" pitchFamily="34" charset="0"/>
            </a:endParaRPr>
          </a:p>
          <a:p>
            <a:r>
              <a:rPr lang="zh-CN" altLang="en-US" sz="2400" dirty="0">
                <a:latin typeface="Arial" panose="020B0604020202020204" pitchFamily="34" charset="0"/>
              </a:rPr>
              <a:t>算</a:t>
            </a:r>
            <a:endParaRPr lang="zh-CN" altLang="en-US" sz="2400" dirty="0">
              <a:latin typeface="Arial" panose="020B0604020202020204" pitchFamily="34" charset="0"/>
            </a:endParaRPr>
          </a:p>
          <a:p>
            <a:r>
              <a:rPr lang="zh-CN" altLang="en-US" sz="2400" dirty="0">
                <a:latin typeface="Arial" panose="020B0604020202020204" pitchFamily="34" charset="0"/>
              </a:rPr>
              <a:t>示</a:t>
            </a:r>
            <a:endParaRPr lang="zh-CN" altLang="en-US" sz="2400" dirty="0">
              <a:latin typeface="Arial" panose="020B0604020202020204" pitchFamily="34" charset="0"/>
            </a:endParaRPr>
          </a:p>
          <a:p>
            <a:r>
              <a:rPr lang="zh-CN" altLang="en-US" sz="2400" dirty="0">
                <a:latin typeface="Arial" panose="020B0604020202020204" pitchFamily="34" charset="0"/>
              </a:rPr>
              <a:t>意</a:t>
            </a:r>
            <a:endParaRPr lang="zh-CN" altLang="en-US" sz="2400" dirty="0">
              <a:latin typeface="Arial" panose="020B0604020202020204" pitchFamily="34" charset="0"/>
            </a:endParaRPr>
          </a:p>
          <a:p>
            <a:r>
              <a:rPr lang="zh-CN" altLang="en-US" sz="2400" dirty="0">
                <a:latin typeface="Arial" panose="020B0604020202020204" pitchFamily="34" charset="0"/>
              </a:rPr>
              <a:t>图</a:t>
            </a:r>
            <a:endParaRPr lang="zh-CN" altLang="en-US" sz="2400" dirty="0">
              <a:latin typeface="Arial" panose="020B0604020202020204" pitchFamily="34" charset="0"/>
            </a:endParaRPr>
          </a:p>
        </p:txBody>
      </p:sp>
      <p:pic>
        <p:nvPicPr>
          <p:cNvPr id="12293" name="Picture 8"/>
          <p:cNvPicPr>
            <a:picLocks noChangeAspect="1"/>
          </p:cNvPicPr>
          <p:nvPr/>
        </p:nvPicPr>
        <p:blipFill>
          <a:blip r:embed="rId1"/>
          <a:stretch>
            <a:fillRect/>
          </a:stretch>
        </p:blipFill>
        <p:spPr>
          <a:xfrm>
            <a:off x="2743200" y="1918335"/>
            <a:ext cx="6858000" cy="3371850"/>
          </a:xfrm>
          <a:prstGeom prst="rect">
            <a:avLst/>
          </a:prstGeom>
          <a:noFill/>
          <a:ln w="9525">
            <a:noFill/>
          </a:ln>
        </p:spPr>
      </p:pic>
      <p:sp>
        <p:nvSpPr>
          <p:cNvPr id="2" name="文本框 1"/>
          <p:cNvSpPr txBox="1"/>
          <p:nvPr/>
        </p:nvSpPr>
        <p:spPr>
          <a:xfrm>
            <a:off x="1024255" y="5651500"/>
            <a:ext cx="9025255" cy="829945"/>
          </a:xfrm>
          <a:prstGeom prst="rect">
            <a:avLst/>
          </a:prstGeom>
          <a:noFill/>
        </p:spPr>
        <p:txBody>
          <a:bodyPr wrap="square" rtlCol="0" anchor="t">
            <a:spAutoFit/>
          </a:bodyPr>
          <a:lstStyle/>
          <a:p>
            <a:r>
              <a:rPr lang="zh-CN" altLang="zh-CN" sz="2400" dirty="0">
                <a:sym typeface="+mn-ea"/>
              </a:rPr>
              <a:t>基本理念：</a:t>
            </a:r>
            <a:r>
              <a:rPr lang="zh-CN" altLang="zh-CN" sz="2400" b="1" dirty="0">
                <a:highlight>
                  <a:srgbClr val="FFFF00"/>
                </a:highlight>
                <a:sym typeface="+mn-ea"/>
              </a:rPr>
              <a:t>数据的价值随着时间的流逝而降低</a:t>
            </a:r>
            <a:r>
              <a:rPr lang="zh-CN" altLang="en-US" sz="2400" b="1" dirty="0">
                <a:sym typeface="+mn-ea"/>
              </a:rPr>
              <a:t>，</a:t>
            </a:r>
            <a:r>
              <a:rPr lang="zh-CN" altLang="en-US" sz="2400" dirty="0">
                <a:sym typeface="+mn-ea"/>
              </a:rPr>
              <a:t>如用户点击流</a:t>
            </a:r>
            <a:endParaRPr lang="zh-CN" altLang="en-US" sz="2400" dirty="0">
              <a:sym typeface="+mn-ea"/>
            </a:endParaRPr>
          </a:p>
          <a:p>
            <a:r>
              <a:rPr lang="zh-CN" altLang="zh-CN" sz="2400" dirty="0">
                <a:sym typeface="+mn-ea"/>
              </a:rPr>
              <a:t>当事件出现时就应该立即进行处理，而不是缓存起来进行批量处理。</a:t>
            </a:r>
            <a:endParaRPr lang="zh-CN" altLang="en-US" sz="2400"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标题 2"/>
          <p:cNvSpPr>
            <a:spLocks noGrp="1"/>
          </p:cNvSpPr>
          <p:nvPr>
            <p:ph type="title"/>
          </p:nvPr>
        </p:nvSpPr>
        <p:spPr/>
        <p:txBody>
          <a:bodyPr vert="horz" wrap="square" lIns="91440" tIns="45720" rIns="91440" bIns="45720" anchor="ctr" anchorCtr="0"/>
          <a:lstStyle/>
          <a:p>
            <a:r>
              <a:rPr lang="en-US" altLang="zh-CN" b="1" dirty="0"/>
              <a:t>11.1.3 </a:t>
            </a:r>
            <a:r>
              <a:rPr lang="zh-CN" altLang="en-US" b="1" dirty="0"/>
              <a:t>流计算概念</a:t>
            </a:r>
            <a:endParaRPr lang="zh-CN" altLang="en-US" b="1" dirty="0"/>
          </a:p>
        </p:txBody>
      </p:sp>
      <p:sp>
        <p:nvSpPr>
          <p:cNvPr id="13314" name="内容占位符 1"/>
          <p:cNvSpPr>
            <a:spLocks noGrp="1"/>
          </p:cNvSpPr>
          <p:nvPr>
            <p:ph idx="4294967295"/>
          </p:nvPr>
        </p:nvSpPr>
        <p:spPr>
          <a:xfrm>
            <a:off x="1676400" y="1691005"/>
            <a:ext cx="10249535" cy="477520"/>
          </a:xfrm>
        </p:spPr>
        <p:txBody>
          <a:bodyPr vert="horz" wrap="square" lIns="91440" tIns="45720" rIns="91440" bIns="45720" anchor="t" anchorCtr="0">
            <a:noAutofit/>
          </a:bodyPr>
          <a:lstStyle/>
          <a:p>
            <a:pPr marL="0" indent="0">
              <a:buNone/>
            </a:pPr>
            <a:r>
              <a:rPr lang="zh-CN" altLang="zh-CN" sz="2400" dirty="0"/>
              <a:t>为了及时处理流数据，就需要一个低延迟、可扩展、高可靠的处理引擎。</a:t>
            </a:r>
            <a:endParaRPr lang="zh-CN" altLang="zh-CN" sz="2400" dirty="0"/>
          </a:p>
        </p:txBody>
      </p:sp>
      <p:sp>
        <p:nvSpPr>
          <p:cNvPr id="2" name="文本框 1"/>
          <p:cNvSpPr txBox="1"/>
          <p:nvPr/>
        </p:nvSpPr>
        <p:spPr>
          <a:xfrm>
            <a:off x="1017270" y="2438400"/>
            <a:ext cx="9077960" cy="3561715"/>
          </a:xfrm>
          <a:prstGeom prst="rect">
            <a:avLst/>
          </a:prstGeom>
          <a:noFill/>
        </p:spPr>
        <p:txBody>
          <a:bodyPr wrap="square" rtlCol="0" anchor="t">
            <a:spAutoFit/>
          </a:bodyPr>
          <a:lstStyle/>
          <a:p>
            <a:pPr marL="0" indent="0">
              <a:buNone/>
            </a:pPr>
            <a:r>
              <a:rPr lang="zh-CN" altLang="zh-CN" sz="2400" dirty="0">
                <a:sym typeface="+mn-ea"/>
              </a:rPr>
              <a:t>对于一个流计算系统来说，它应达到如下需求：</a:t>
            </a:r>
            <a:endParaRPr lang="en-US" altLang="zh-CN" sz="2400" dirty="0"/>
          </a:p>
          <a:p>
            <a:pPr lvl="1">
              <a:lnSpc>
                <a:spcPct val="140000"/>
              </a:lnSpc>
            </a:pPr>
            <a:r>
              <a:rPr lang="zh-CN" altLang="zh-CN" sz="2400" dirty="0">
                <a:sym typeface="+mn-ea"/>
              </a:rPr>
              <a:t>高性能：处理大数据的基本要求，如每秒处理几十万条数据</a:t>
            </a:r>
            <a:endParaRPr lang="zh-CN" altLang="zh-CN" sz="2400" dirty="0"/>
          </a:p>
          <a:p>
            <a:pPr lvl="1">
              <a:lnSpc>
                <a:spcPct val="140000"/>
              </a:lnSpc>
            </a:pPr>
            <a:r>
              <a:rPr lang="zh-CN" altLang="zh-CN" sz="2400" dirty="0">
                <a:sym typeface="+mn-ea"/>
              </a:rPr>
              <a:t>海量式：支持</a:t>
            </a:r>
            <a:r>
              <a:rPr lang="en-US" altLang="zh-CN" sz="2400" dirty="0">
                <a:sym typeface="+mn-ea"/>
              </a:rPr>
              <a:t>TB</a:t>
            </a:r>
            <a:r>
              <a:rPr lang="zh-CN" altLang="zh-CN" sz="2400" dirty="0">
                <a:sym typeface="+mn-ea"/>
              </a:rPr>
              <a:t>级甚至是</a:t>
            </a:r>
            <a:r>
              <a:rPr lang="en-US" altLang="zh-CN" sz="2400" dirty="0">
                <a:sym typeface="+mn-ea"/>
              </a:rPr>
              <a:t>PB</a:t>
            </a:r>
            <a:r>
              <a:rPr lang="zh-CN" altLang="zh-CN" sz="2400" dirty="0">
                <a:sym typeface="+mn-ea"/>
              </a:rPr>
              <a:t>级的数据规模</a:t>
            </a:r>
            <a:endParaRPr lang="zh-CN" altLang="zh-CN" sz="2400" dirty="0"/>
          </a:p>
          <a:p>
            <a:pPr lvl="1">
              <a:lnSpc>
                <a:spcPct val="140000"/>
              </a:lnSpc>
            </a:pPr>
            <a:r>
              <a:rPr lang="zh-CN" altLang="zh-CN" sz="2400" dirty="0">
                <a:sym typeface="+mn-ea"/>
              </a:rPr>
              <a:t>实时性：保证较</a:t>
            </a:r>
            <a:r>
              <a:rPr lang="zh-CN" altLang="zh-CN" sz="2400" dirty="0">
                <a:highlight>
                  <a:srgbClr val="FFFF00"/>
                </a:highlight>
                <a:sym typeface="+mn-ea"/>
              </a:rPr>
              <a:t>低的延迟</a:t>
            </a:r>
            <a:r>
              <a:rPr lang="zh-CN" altLang="zh-CN" sz="2400" dirty="0">
                <a:sym typeface="+mn-ea"/>
              </a:rPr>
              <a:t>时间，达到秒级别，甚至是毫秒级别</a:t>
            </a:r>
            <a:endParaRPr lang="zh-CN" altLang="zh-CN" sz="2400" dirty="0"/>
          </a:p>
          <a:p>
            <a:pPr lvl="1">
              <a:lnSpc>
                <a:spcPct val="140000"/>
              </a:lnSpc>
            </a:pPr>
            <a:r>
              <a:rPr lang="zh-CN" altLang="zh-CN" sz="2400" dirty="0">
                <a:sym typeface="+mn-ea"/>
              </a:rPr>
              <a:t>分布式：支持大数据的基本架构，必须能够平滑</a:t>
            </a:r>
            <a:r>
              <a:rPr lang="zh-CN" altLang="zh-CN" sz="2400" dirty="0">
                <a:highlight>
                  <a:srgbClr val="FFFF00"/>
                </a:highlight>
                <a:sym typeface="+mn-ea"/>
              </a:rPr>
              <a:t>扩展</a:t>
            </a:r>
            <a:endParaRPr lang="zh-CN" altLang="zh-CN" sz="2400" dirty="0"/>
          </a:p>
          <a:p>
            <a:pPr lvl="1">
              <a:lnSpc>
                <a:spcPct val="140000"/>
              </a:lnSpc>
            </a:pPr>
            <a:r>
              <a:rPr lang="zh-CN" altLang="zh-CN" sz="2400" dirty="0">
                <a:sym typeface="+mn-ea"/>
              </a:rPr>
              <a:t>可靠性：能</a:t>
            </a:r>
            <a:r>
              <a:rPr lang="zh-CN" altLang="zh-CN" sz="2400" dirty="0">
                <a:highlight>
                  <a:srgbClr val="FFFF00"/>
                </a:highlight>
                <a:sym typeface="+mn-ea"/>
              </a:rPr>
              <a:t>可靠</a:t>
            </a:r>
            <a:r>
              <a:rPr lang="zh-CN" altLang="zh-CN" sz="2400" dirty="0">
                <a:sym typeface="+mn-ea"/>
              </a:rPr>
              <a:t>地处理流数据</a:t>
            </a:r>
            <a:endParaRPr lang="zh-CN" altLang="zh-CN" sz="2400" dirty="0">
              <a:sym typeface="+mn-ea"/>
            </a:endParaRPr>
          </a:p>
          <a:p>
            <a:pPr marL="0" lvl="1" indent="457200">
              <a:lnSpc>
                <a:spcPct val="140000"/>
              </a:lnSpc>
            </a:pPr>
            <a:r>
              <a:rPr lang="zh-CN" altLang="zh-CN" sz="2400" dirty="0">
                <a:sym typeface="+mn-ea"/>
              </a:rPr>
              <a:t>易用性：能够快速进行开发和部署</a:t>
            </a:r>
            <a:endParaRPr lang="zh-CN" altLang="zh-CN" sz="2400"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标题 2"/>
          <p:cNvSpPr>
            <a:spLocks noGrp="1"/>
          </p:cNvSpPr>
          <p:nvPr>
            <p:ph type="title"/>
          </p:nvPr>
        </p:nvSpPr>
        <p:spPr/>
        <p:txBody>
          <a:bodyPr vert="horz" wrap="square" lIns="91440" tIns="45720" rIns="91440" bIns="45720" anchor="ctr" anchorCtr="0"/>
          <a:lstStyle/>
          <a:p>
            <a:r>
              <a:rPr lang="en-US" altLang="zh-CN" b="1" dirty="0"/>
              <a:t>11.1.4 </a:t>
            </a:r>
            <a:r>
              <a:rPr lang="zh-CN" altLang="en-US" b="1" dirty="0"/>
              <a:t>流计算与</a:t>
            </a:r>
            <a:r>
              <a:rPr lang="en-US" altLang="zh-CN" b="1" dirty="0"/>
              <a:t>Hadoop</a:t>
            </a:r>
            <a:endParaRPr lang="zh-CN" altLang="en-US" b="1" dirty="0"/>
          </a:p>
        </p:txBody>
      </p:sp>
      <p:sp>
        <p:nvSpPr>
          <p:cNvPr id="14338" name="内容占位符 1"/>
          <p:cNvSpPr>
            <a:spLocks noGrp="1"/>
          </p:cNvSpPr>
          <p:nvPr>
            <p:ph idx="1"/>
          </p:nvPr>
        </p:nvSpPr>
        <p:spPr>
          <a:xfrm>
            <a:off x="511810" y="1691005"/>
            <a:ext cx="11118215" cy="4351655"/>
          </a:xfrm>
        </p:spPr>
        <p:txBody>
          <a:bodyPr vert="horz" wrap="square" lIns="91440" tIns="45720" rIns="91440" bIns="45720" anchor="t" anchorCtr="0">
            <a:noAutofit/>
          </a:bodyPr>
          <a:lstStyle/>
          <a:p>
            <a:pPr>
              <a:lnSpc>
                <a:spcPct val="150000"/>
              </a:lnSpc>
            </a:pPr>
            <a:r>
              <a:rPr lang="zh-CN" altLang="zh-CN" sz="2400" dirty="0"/>
              <a:t>“变通”的方案</a:t>
            </a:r>
            <a:r>
              <a:rPr lang="zh-CN" sz="2400" dirty="0"/>
              <a:t>：</a:t>
            </a:r>
            <a:r>
              <a:rPr lang="zh-CN" altLang="zh-CN" sz="2400" dirty="0"/>
              <a:t>将基于</a:t>
            </a:r>
            <a:r>
              <a:rPr lang="en-US" altLang="zh-CN" sz="2400" dirty="0"/>
              <a:t>MapReduce</a:t>
            </a:r>
            <a:r>
              <a:rPr lang="zh-CN" altLang="zh-CN" sz="2400" dirty="0"/>
              <a:t>的批量处理转为小批量处理，将输入数据切成小的片段，每隔一个周期就启动一次</a:t>
            </a:r>
            <a:r>
              <a:rPr lang="en-US" altLang="zh-CN" sz="2400" dirty="0"/>
              <a:t>MapReduce</a:t>
            </a:r>
            <a:r>
              <a:rPr lang="zh-CN" altLang="zh-CN" sz="2400" dirty="0"/>
              <a:t>作业</a:t>
            </a:r>
            <a:r>
              <a:rPr lang="zh-CN" altLang="en-US" sz="2400" dirty="0"/>
              <a:t>。</a:t>
            </a:r>
            <a:endParaRPr lang="zh-CN" altLang="en-US" sz="2400" dirty="0"/>
          </a:p>
          <a:p>
            <a:pPr>
              <a:lnSpc>
                <a:spcPct val="150000"/>
              </a:lnSpc>
            </a:pPr>
            <a:endParaRPr lang="zh-CN" altLang="en-US" sz="2400" dirty="0"/>
          </a:p>
          <a:p>
            <a:pPr>
              <a:lnSpc>
                <a:spcPct val="150000"/>
              </a:lnSpc>
            </a:pPr>
            <a:r>
              <a:rPr lang="zh-CN" altLang="en-US" sz="2400" dirty="0"/>
              <a:t>这种方式无法有效处理流数据</a:t>
            </a:r>
            <a:endParaRPr lang="en-US" altLang="zh-CN" sz="2400" dirty="0"/>
          </a:p>
          <a:p>
            <a:pPr lvl="1">
              <a:lnSpc>
                <a:spcPct val="150000"/>
              </a:lnSpc>
            </a:pPr>
            <a:r>
              <a:rPr lang="zh-CN" altLang="en-US" dirty="0"/>
              <a:t>切分成小片段可降低延迟，但增加了附加开销，还要处理片段之间依赖关系</a:t>
            </a:r>
            <a:endParaRPr lang="en-US" altLang="zh-CN" dirty="0"/>
          </a:p>
          <a:p>
            <a:pPr lvl="1">
              <a:lnSpc>
                <a:spcPct val="150000"/>
              </a:lnSpc>
            </a:pPr>
            <a:r>
              <a:rPr lang="zh-CN" altLang="en-US" dirty="0"/>
              <a:t>需要改造</a:t>
            </a:r>
            <a:r>
              <a:rPr lang="en-US" altLang="zh-CN" dirty="0"/>
              <a:t>MapReduce</a:t>
            </a:r>
            <a:r>
              <a:rPr lang="zh-CN" altLang="en-US" dirty="0"/>
              <a:t>以支持流式处理</a:t>
            </a:r>
            <a:endParaRPr lang="zh-CN" altLang="en-US" dirty="0"/>
          </a:p>
          <a:p>
            <a:pPr lvl="1">
              <a:lnSpc>
                <a:spcPct val="150000"/>
              </a:lnSpc>
            </a:pPr>
            <a:r>
              <a:rPr lang="zh-CN" altLang="en-US" dirty="0"/>
              <a:t>降低用户程序的可伸缩性</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3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33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33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33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标题 2"/>
          <p:cNvSpPr>
            <a:spLocks noGrp="1"/>
          </p:cNvSpPr>
          <p:nvPr>
            <p:ph type="title"/>
          </p:nvPr>
        </p:nvSpPr>
        <p:spPr/>
        <p:txBody>
          <a:bodyPr vert="horz" wrap="square" lIns="91440" tIns="45720" rIns="91440" bIns="45720" anchor="ctr" anchorCtr="0"/>
          <a:lstStyle/>
          <a:p>
            <a:r>
              <a:rPr lang="en-US" altLang="zh-CN" b="1" dirty="0"/>
              <a:t>11.1.5 </a:t>
            </a:r>
            <a:r>
              <a:rPr lang="zh-CN" altLang="en-US" b="1" dirty="0"/>
              <a:t>流计算框架</a:t>
            </a:r>
            <a:endParaRPr lang="zh-CN" altLang="en-US" b="1" dirty="0"/>
          </a:p>
        </p:txBody>
      </p:sp>
      <p:sp>
        <p:nvSpPr>
          <p:cNvPr id="15362" name="内容占位符 1"/>
          <p:cNvSpPr>
            <a:spLocks noGrp="1"/>
          </p:cNvSpPr>
          <p:nvPr>
            <p:ph idx="1"/>
          </p:nvPr>
        </p:nvSpPr>
        <p:spPr>
          <a:xfrm>
            <a:off x="838200" y="1579880"/>
            <a:ext cx="10515600" cy="4597400"/>
          </a:xfrm>
        </p:spPr>
        <p:txBody>
          <a:bodyPr vert="horz" wrap="square" lIns="91440" tIns="45720" rIns="91440" bIns="45720" anchor="t" anchorCtr="0">
            <a:normAutofit/>
          </a:bodyPr>
          <a:lstStyle/>
          <a:p>
            <a:pPr marL="0" indent="0">
              <a:buNone/>
            </a:pPr>
            <a:r>
              <a:rPr lang="zh-CN" altLang="en-US" sz="2400" dirty="0"/>
              <a:t>三类常见的流计算框架和平台：</a:t>
            </a:r>
            <a:endParaRPr lang="zh-CN" altLang="en-US" sz="2400" dirty="0"/>
          </a:p>
          <a:p>
            <a:r>
              <a:rPr lang="zh-CN" altLang="en-US" sz="2400" dirty="0">
                <a:sym typeface="+mn-ea"/>
              </a:rPr>
              <a:t>商业级</a:t>
            </a:r>
            <a:r>
              <a:rPr lang="zh-CN" altLang="zh-CN" sz="2400" dirty="0">
                <a:sym typeface="+mn-ea"/>
              </a:rPr>
              <a:t>的流计算平台</a:t>
            </a:r>
            <a:r>
              <a:rPr lang="zh-CN" altLang="en-US" sz="2400" dirty="0"/>
              <a:t>：</a:t>
            </a:r>
            <a:r>
              <a:rPr lang="en-US" altLang="zh-CN" sz="2400" dirty="0"/>
              <a:t>IBM InfoSphere Streams</a:t>
            </a:r>
            <a:r>
              <a:rPr lang="zh-CN" altLang="en-US" sz="2400" dirty="0"/>
              <a:t>和</a:t>
            </a:r>
            <a:r>
              <a:rPr lang="en-US" altLang="zh-CN" sz="2400" dirty="0"/>
              <a:t>IBM StreamBase</a:t>
            </a:r>
            <a:endParaRPr lang="en-US" altLang="zh-CN" sz="2400" dirty="0"/>
          </a:p>
          <a:p>
            <a:endParaRPr lang="zh-CN" altLang="en-US" sz="2400" dirty="0"/>
          </a:p>
          <a:p>
            <a:r>
              <a:rPr lang="zh-CN" altLang="en-US" sz="2400" dirty="0"/>
              <a:t>开源流计算框架，代表如下：</a:t>
            </a:r>
            <a:endParaRPr lang="en-US" altLang="zh-CN" sz="2400" dirty="0"/>
          </a:p>
          <a:p>
            <a:pPr lvl="1"/>
            <a:r>
              <a:rPr lang="en-US" altLang="zh-CN" sz="2400" dirty="0"/>
              <a:t>Twitter Storm</a:t>
            </a:r>
            <a:r>
              <a:rPr lang="zh-CN" altLang="zh-CN" sz="2400" dirty="0"/>
              <a:t>：免费、开源的分布式实时计算系统，可简单、高效、可靠地处理大量的流数据</a:t>
            </a:r>
            <a:endParaRPr lang="zh-CN" altLang="zh-CN" sz="2400" dirty="0"/>
          </a:p>
          <a:p>
            <a:pPr lvl="1"/>
            <a:r>
              <a:rPr lang="en-US" altLang="zh-CN" sz="2400" dirty="0"/>
              <a:t>Yahoo! S4</a:t>
            </a:r>
            <a:r>
              <a:rPr lang="zh-CN" altLang="zh-CN" sz="2400" dirty="0"/>
              <a:t>（</a:t>
            </a:r>
            <a:r>
              <a:rPr lang="en-US" altLang="zh-CN" sz="2400" dirty="0"/>
              <a:t>Simple Scalable Streaming System</a:t>
            </a:r>
            <a:r>
              <a:rPr lang="zh-CN" altLang="zh-CN" sz="2400" dirty="0"/>
              <a:t>）：开源流计算平台，是通用的、分布式的、可扩展的、分区容错的、可插拔的流式系统</a:t>
            </a:r>
            <a:endParaRPr lang="en-US" altLang="zh-CN" sz="2400" dirty="0"/>
          </a:p>
          <a:p>
            <a:endParaRPr lang="zh-CN" altLang="en-US" sz="2400" dirty="0"/>
          </a:p>
          <a:p>
            <a:r>
              <a:rPr lang="zh-CN" altLang="en-US" sz="2400" dirty="0"/>
              <a:t>公司为支持自身业务开发的流计算框架：</a:t>
            </a:r>
            <a:endParaRPr lang="en-US" altLang="zh-CN" sz="2400" dirty="0"/>
          </a:p>
          <a:p>
            <a:pPr lvl="1"/>
            <a:r>
              <a:rPr lang="en-US" altLang="zh-CN" sz="2400" dirty="0"/>
              <a:t>Dstream</a:t>
            </a:r>
            <a:r>
              <a:rPr lang="zh-CN" altLang="en-US" sz="2400" dirty="0"/>
              <a:t>（百度）、银河流数据处理平台（淘宝）、</a:t>
            </a:r>
            <a:r>
              <a:rPr lang="en-US" altLang="zh-CN" sz="2400" dirty="0"/>
              <a:t>Super Mario</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36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36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362">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36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p:txBody>
          <a:bodyPr vert="horz" wrap="square" lIns="91440" tIns="45720" rIns="91440" bIns="45720" anchor="ctr" anchorCtr="0"/>
          <a:lstStyle/>
          <a:p>
            <a:r>
              <a:rPr lang="en-US" altLang="zh-CN" b="1" dirty="0"/>
              <a:t>11.2	</a:t>
            </a:r>
            <a:r>
              <a:rPr lang="zh-CN" altLang="en-US" b="1" dirty="0"/>
              <a:t>流计算处理流程</a:t>
            </a:r>
            <a:endParaRPr lang="zh-CN" altLang="en-US" b="1" dirty="0"/>
          </a:p>
        </p:txBody>
      </p:sp>
      <p:sp>
        <p:nvSpPr>
          <p:cNvPr id="16387" name="Rectangle 3"/>
          <p:cNvSpPr>
            <a:spLocks noGrp="1"/>
          </p:cNvSpPr>
          <p:nvPr>
            <p:ph idx="1"/>
          </p:nvPr>
        </p:nvSpPr>
        <p:spPr/>
        <p:txBody>
          <a:bodyPr vert="horz" wrap="square" lIns="91440" tIns="45720" rIns="91440" bIns="45720" anchor="t" anchorCtr="0"/>
          <a:lstStyle/>
          <a:p>
            <a:pPr marL="0" indent="0">
              <a:lnSpc>
                <a:spcPct val="200000"/>
              </a:lnSpc>
              <a:buNone/>
            </a:pPr>
            <a:r>
              <a:rPr lang="en-US" altLang="zh-CN" dirty="0"/>
              <a:t>11.2.1	</a:t>
            </a:r>
            <a:r>
              <a:rPr lang="zh-CN" altLang="en-US" dirty="0"/>
              <a:t>概述</a:t>
            </a:r>
            <a:endParaRPr lang="zh-CN" altLang="en-US" dirty="0"/>
          </a:p>
          <a:p>
            <a:pPr marL="0" indent="0">
              <a:lnSpc>
                <a:spcPct val="200000"/>
              </a:lnSpc>
              <a:buNone/>
            </a:pPr>
            <a:r>
              <a:rPr lang="en-US" altLang="zh-CN" dirty="0"/>
              <a:t>11.2.2	</a:t>
            </a:r>
            <a:r>
              <a:rPr lang="zh-CN" altLang="en-US" dirty="0"/>
              <a:t>数据实时采集</a:t>
            </a:r>
            <a:endParaRPr lang="zh-CN" altLang="en-US" dirty="0"/>
          </a:p>
          <a:p>
            <a:pPr marL="0" indent="0">
              <a:lnSpc>
                <a:spcPct val="200000"/>
              </a:lnSpc>
              <a:buNone/>
            </a:pPr>
            <a:r>
              <a:rPr lang="en-US" altLang="zh-CN" dirty="0"/>
              <a:t>11.2.3	</a:t>
            </a:r>
            <a:r>
              <a:rPr lang="zh-CN" altLang="en-US" dirty="0"/>
              <a:t>数据实时计算</a:t>
            </a:r>
            <a:endParaRPr lang="zh-CN" altLang="en-US" dirty="0"/>
          </a:p>
          <a:p>
            <a:pPr marL="0" indent="0">
              <a:lnSpc>
                <a:spcPct val="200000"/>
              </a:lnSpc>
              <a:buNone/>
            </a:pPr>
            <a:r>
              <a:rPr lang="en-US" altLang="zh-CN" dirty="0"/>
              <a:t>11.2.4	</a:t>
            </a:r>
            <a:r>
              <a:rPr lang="zh-CN" altLang="en-US" dirty="0"/>
              <a:t>实时查询服务</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标题 2"/>
          <p:cNvSpPr>
            <a:spLocks noGrp="1"/>
          </p:cNvSpPr>
          <p:nvPr>
            <p:ph type="title"/>
          </p:nvPr>
        </p:nvSpPr>
        <p:spPr/>
        <p:txBody>
          <a:bodyPr vert="horz" wrap="square" lIns="91440" tIns="45720" rIns="91440" bIns="45720" anchor="ctr" anchorCtr="0"/>
          <a:lstStyle/>
          <a:p>
            <a:r>
              <a:rPr lang="en-US" altLang="zh-CN" b="1" dirty="0"/>
              <a:t>11.2.1 </a:t>
            </a:r>
            <a:r>
              <a:rPr lang="zh-CN" altLang="en-US" b="1" dirty="0"/>
              <a:t>概述</a:t>
            </a:r>
            <a:endParaRPr lang="zh-CN" altLang="en-US" b="1" dirty="0"/>
          </a:p>
        </p:txBody>
      </p:sp>
      <p:sp>
        <p:nvSpPr>
          <p:cNvPr id="17412" name="文本框 4"/>
          <p:cNvSpPr txBox="1"/>
          <p:nvPr/>
        </p:nvSpPr>
        <p:spPr>
          <a:xfrm>
            <a:off x="4307840" y="3879850"/>
            <a:ext cx="2926080" cy="368300"/>
          </a:xfrm>
          <a:prstGeom prst="rect">
            <a:avLst/>
          </a:prstGeom>
          <a:noFill/>
          <a:ln w="9525">
            <a:noFill/>
          </a:ln>
        </p:spPr>
        <p:txBody>
          <a:bodyPr wrap="none">
            <a:spAutoFit/>
          </a:bodyPr>
          <a:lstStyle/>
          <a:p>
            <a:r>
              <a:rPr lang="zh-CN" altLang="en-US" dirty="0">
                <a:latin typeface="Arial" panose="020B0604020202020204" pitchFamily="34" charset="0"/>
              </a:rPr>
              <a:t>传统的数据处理流程示意图</a:t>
            </a:r>
            <a:endParaRPr lang="zh-CN" altLang="en-US" dirty="0">
              <a:latin typeface="Arial" panose="020B0604020202020204" pitchFamily="34" charset="0"/>
            </a:endParaRPr>
          </a:p>
        </p:txBody>
      </p:sp>
      <p:pic>
        <p:nvPicPr>
          <p:cNvPr id="17413" name="Picture 8"/>
          <p:cNvPicPr>
            <a:picLocks noChangeAspect="1"/>
          </p:cNvPicPr>
          <p:nvPr/>
        </p:nvPicPr>
        <p:blipFill>
          <a:blip r:embed="rId1"/>
          <a:stretch>
            <a:fillRect/>
          </a:stretch>
        </p:blipFill>
        <p:spPr>
          <a:xfrm>
            <a:off x="2431415" y="2809240"/>
            <a:ext cx="6994525" cy="805815"/>
          </a:xfrm>
          <a:prstGeom prst="rect">
            <a:avLst/>
          </a:prstGeom>
          <a:noFill/>
          <a:ln w="9525">
            <a:noFill/>
          </a:ln>
        </p:spPr>
      </p:pic>
      <p:sp>
        <p:nvSpPr>
          <p:cNvPr id="2" name="文本框 1"/>
          <p:cNvSpPr txBox="1"/>
          <p:nvPr/>
        </p:nvSpPr>
        <p:spPr>
          <a:xfrm>
            <a:off x="1007745" y="1516380"/>
            <a:ext cx="9724390" cy="829945"/>
          </a:xfrm>
          <a:prstGeom prst="rect">
            <a:avLst/>
          </a:prstGeom>
          <a:noFill/>
        </p:spPr>
        <p:txBody>
          <a:bodyPr wrap="square" rtlCol="0" anchor="t">
            <a:spAutoFit/>
          </a:bodyPr>
          <a:lstStyle/>
          <a:p>
            <a:r>
              <a:rPr lang="zh-CN" altLang="en-US" sz="2400"/>
              <a:t>传统的数据</a:t>
            </a:r>
            <a:r>
              <a:rPr lang="zh-CN" altLang="en-US" sz="2400">
                <a:solidFill>
                  <a:srgbClr val="FF0000"/>
                </a:solidFill>
              </a:rPr>
              <a:t>处理流程</a:t>
            </a:r>
            <a:r>
              <a:rPr lang="zh-CN" altLang="en-US" sz="2400"/>
              <a:t>：</a:t>
            </a:r>
            <a:r>
              <a:rPr lang="zh-CN" altLang="en-US" sz="2400"/>
              <a:t>先采集数据并存储，后由用户通过查询操作和数据管理系统进行交互</a:t>
            </a:r>
            <a:endParaRPr lang="zh-CN" altLang="en-US" sz="2400"/>
          </a:p>
        </p:txBody>
      </p:sp>
      <p:sp>
        <p:nvSpPr>
          <p:cNvPr id="3" name="文本框 2"/>
          <p:cNvSpPr txBox="1"/>
          <p:nvPr/>
        </p:nvSpPr>
        <p:spPr>
          <a:xfrm>
            <a:off x="949325" y="4512945"/>
            <a:ext cx="9606915" cy="1842770"/>
          </a:xfrm>
          <a:prstGeom prst="rect">
            <a:avLst/>
          </a:prstGeom>
          <a:noFill/>
        </p:spPr>
        <p:txBody>
          <a:bodyPr wrap="square" rtlCol="0" anchor="t">
            <a:spAutoFit/>
          </a:bodyPr>
          <a:lstStyle/>
          <a:p>
            <a:pPr>
              <a:lnSpc>
                <a:spcPct val="110000"/>
              </a:lnSpc>
            </a:pPr>
            <a:r>
              <a:rPr lang="zh-CN" altLang="zh-CN" sz="2400" dirty="0">
                <a:sym typeface="+mn-ea"/>
              </a:rPr>
              <a:t>传统的数据处理流程隐含了两个前提：</a:t>
            </a:r>
            <a:endParaRPr lang="zh-CN" altLang="zh-CN" sz="2400" dirty="0"/>
          </a:p>
          <a:p>
            <a:pPr marL="685800" lvl="1" indent="-228600" algn="l">
              <a:lnSpc>
                <a:spcPct val="110000"/>
              </a:lnSpc>
              <a:spcBef>
                <a:spcPts val="500"/>
              </a:spcBef>
              <a:buFont typeface="Arial" panose="020B0604020202020204" pitchFamily="34" charset="0"/>
              <a:buChar char="•"/>
            </a:pPr>
            <a:r>
              <a:rPr lang="zh-CN" altLang="zh-CN" sz="2400" b="1" dirty="0">
                <a:sym typeface="+mn-ea"/>
              </a:rPr>
              <a:t>存储的数据是旧的</a:t>
            </a:r>
            <a:r>
              <a:rPr lang="zh-CN" altLang="zh-CN" sz="2400" dirty="0">
                <a:sym typeface="+mn-ea"/>
              </a:rPr>
              <a:t>。存储的静态数据是过去某一时刻的快照，这些数据在查询时可能已不具备时效性了</a:t>
            </a:r>
            <a:endParaRPr lang="zh-CN" altLang="zh-CN" sz="2400" dirty="0"/>
          </a:p>
          <a:p>
            <a:pPr marL="685800" lvl="1" indent="-228600" algn="l">
              <a:lnSpc>
                <a:spcPct val="110000"/>
              </a:lnSpc>
              <a:spcBef>
                <a:spcPts val="500"/>
              </a:spcBef>
              <a:buFont typeface="Arial" panose="020B0604020202020204" pitchFamily="34" charset="0"/>
              <a:buChar char="•"/>
            </a:pPr>
            <a:r>
              <a:rPr lang="zh-CN" altLang="zh-CN" sz="2400" b="1" dirty="0">
                <a:sym typeface="+mn-ea"/>
              </a:rPr>
              <a:t>需要用户主动发出查询</a:t>
            </a:r>
            <a:r>
              <a:rPr lang="zh-CN" altLang="en-US" sz="2400" b="1" dirty="0">
                <a:sym typeface="+mn-ea"/>
              </a:rPr>
              <a:t>来获取结果</a:t>
            </a:r>
            <a:endParaRPr lang="zh-CN" altLang="en-US" sz="2400" b="1"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标题 2"/>
          <p:cNvSpPr>
            <a:spLocks noGrp="1"/>
          </p:cNvSpPr>
          <p:nvPr>
            <p:ph type="title"/>
          </p:nvPr>
        </p:nvSpPr>
        <p:spPr/>
        <p:txBody>
          <a:bodyPr vert="horz" wrap="square" lIns="91440" tIns="45720" rIns="91440" bIns="45720" anchor="ctr" anchorCtr="0"/>
          <a:lstStyle/>
          <a:p>
            <a:r>
              <a:rPr lang="en-US" altLang="zh-CN" b="1" dirty="0">
                <a:sym typeface="+mn-ea"/>
              </a:rPr>
              <a:t>11.2.1 </a:t>
            </a:r>
            <a:r>
              <a:rPr lang="zh-CN" altLang="en-US" b="1" dirty="0">
                <a:sym typeface="+mn-ea"/>
              </a:rPr>
              <a:t>概述</a:t>
            </a:r>
            <a:endParaRPr lang="zh-CN" altLang="en-US" dirty="0"/>
          </a:p>
        </p:txBody>
      </p:sp>
      <p:sp>
        <p:nvSpPr>
          <p:cNvPr id="18436" name="文本框 5"/>
          <p:cNvSpPr txBox="1"/>
          <p:nvPr/>
        </p:nvSpPr>
        <p:spPr>
          <a:xfrm>
            <a:off x="4832350" y="5334953"/>
            <a:ext cx="2722880" cy="398780"/>
          </a:xfrm>
          <a:prstGeom prst="rect">
            <a:avLst/>
          </a:prstGeom>
          <a:noFill/>
          <a:ln w="9525">
            <a:noFill/>
          </a:ln>
        </p:spPr>
        <p:txBody>
          <a:bodyPr wrap="none">
            <a:spAutoFit/>
          </a:bodyPr>
          <a:lstStyle/>
          <a:p>
            <a:r>
              <a:rPr lang="zh-CN" altLang="en-US" sz="2000" dirty="0">
                <a:latin typeface="Arial" panose="020B0604020202020204" pitchFamily="34" charset="0"/>
              </a:rPr>
              <a:t>流计算处理流程示意图</a:t>
            </a:r>
            <a:endParaRPr lang="zh-CN" altLang="en-US" sz="2000" dirty="0">
              <a:latin typeface="Arial" panose="020B0604020202020204" pitchFamily="34" charset="0"/>
            </a:endParaRPr>
          </a:p>
        </p:txBody>
      </p:sp>
      <p:pic>
        <p:nvPicPr>
          <p:cNvPr id="18437" name="Picture 7"/>
          <p:cNvPicPr>
            <a:picLocks noChangeAspect="1"/>
          </p:cNvPicPr>
          <p:nvPr/>
        </p:nvPicPr>
        <p:blipFill>
          <a:blip r:embed="rId1"/>
          <a:stretch>
            <a:fillRect/>
          </a:stretch>
        </p:blipFill>
        <p:spPr>
          <a:xfrm>
            <a:off x="3048000" y="2590800"/>
            <a:ext cx="6057900" cy="2489200"/>
          </a:xfrm>
          <a:prstGeom prst="rect">
            <a:avLst/>
          </a:prstGeom>
          <a:noFill/>
          <a:ln w="9525">
            <a:noFill/>
          </a:ln>
        </p:spPr>
      </p:pic>
      <p:sp>
        <p:nvSpPr>
          <p:cNvPr id="2" name="文本框 1"/>
          <p:cNvSpPr txBox="1"/>
          <p:nvPr/>
        </p:nvSpPr>
        <p:spPr>
          <a:xfrm>
            <a:off x="1007745" y="1505585"/>
            <a:ext cx="9440545" cy="460375"/>
          </a:xfrm>
          <a:prstGeom prst="rect">
            <a:avLst/>
          </a:prstGeom>
          <a:noFill/>
        </p:spPr>
        <p:txBody>
          <a:bodyPr wrap="square" rtlCol="0" anchor="t">
            <a:spAutoFit/>
          </a:bodyPr>
          <a:lstStyle/>
          <a:p>
            <a:r>
              <a:rPr lang="zh-CN" altLang="en-US" sz="2400"/>
              <a:t>流计算的</a:t>
            </a:r>
            <a:r>
              <a:rPr lang="zh-CN" altLang="en-US" sz="2400">
                <a:solidFill>
                  <a:srgbClr val="FF0000"/>
                </a:solidFill>
              </a:rPr>
              <a:t>处理流程</a:t>
            </a:r>
            <a:r>
              <a:rPr lang="zh-CN" altLang="en-US" sz="2400"/>
              <a:t>一般包含三个阶段：</a:t>
            </a:r>
            <a:endParaRPr lang="zh-CN" altLang="en-US"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标题 2"/>
          <p:cNvSpPr>
            <a:spLocks noGrp="1"/>
          </p:cNvSpPr>
          <p:nvPr>
            <p:ph type="title"/>
          </p:nvPr>
        </p:nvSpPr>
        <p:spPr/>
        <p:txBody>
          <a:bodyPr vert="horz" wrap="square" lIns="91440" tIns="45720" rIns="91440" bIns="45720" anchor="ctr" anchorCtr="0"/>
          <a:lstStyle/>
          <a:p>
            <a:pPr marL="342900" indent="-342900"/>
            <a:r>
              <a:rPr lang="en-US" altLang="zh-CN" b="1" dirty="0"/>
              <a:t>11.2.2 </a:t>
            </a:r>
            <a:r>
              <a:rPr lang="zh-CN" altLang="zh-CN" b="1" dirty="0"/>
              <a:t>数据实时采集</a:t>
            </a:r>
            <a:endParaRPr lang="zh-CN" altLang="zh-CN" b="1" dirty="0"/>
          </a:p>
        </p:txBody>
      </p:sp>
      <p:sp>
        <p:nvSpPr>
          <p:cNvPr id="19458" name="内容占位符 1"/>
          <p:cNvSpPr>
            <a:spLocks noGrp="1"/>
          </p:cNvSpPr>
          <p:nvPr>
            <p:ph idx="1"/>
          </p:nvPr>
        </p:nvSpPr>
        <p:spPr/>
        <p:txBody>
          <a:bodyPr vert="horz" wrap="square" lIns="91440" tIns="45720" rIns="91440" bIns="45720" anchor="t" anchorCtr="0">
            <a:normAutofit/>
          </a:bodyPr>
          <a:lstStyle/>
          <a:p>
            <a:r>
              <a:rPr lang="zh-CN" altLang="zh-CN" sz="2400" dirty="0"/>
              <a:t>通常采集多个数据源的海量数据，需要保证实时性、低延迟与稳定可靠</a:t>
            </a:r>
            <a:endParaRPr lang="zh-CN" altLang="zh-CN" sz="2400" dirty="0"/>
          </a:p>
          <a:p>
            <a:endParaRPr lang="en-US" altLang="zh-CN" sz="2400" dirty="0"/>
          </a:p>
          <a:p>
            <a:r>
              <a:rPr lang="zh-CN" altLang="zh-CN" sz="2400" dirty="0"/>
              <a:t>以日志数据为例，由于分布式集群的广泛应用，数据分散存储在不同的机器上，因此需要实时汇总来自不同机器上的日志数据</a:t>
            </a:r>
            <a:endParaRPr lang="zh-CN" altLang="zh-CN" sz="2400" dirty="0"/>
          </a:p>
          <a:p>
            <a:endParaRPr lang="en-US" altLang="zh-CN" sz="2400" dirty="0"/>
          </a:p>
          <a:p>
            <a:r>
              <a:rPr lang="zh-CN" altLang="zh-CN" sz="2400" dirty="0"/>
              <a:t>目前有许多互联网公司发布的开源分布式日志采集系统均可满足每秒数百</a:t>
            </a:r>
            <a:r>
              <a:rPr lang="en-US" altLang="zh-CN" sz="2400" dirty="0"/>
              <a:t>MB</a:t>
            </a:r>
            <a:r>
              <a:rPr lang="zh-CN" altLang="zh-CN" sz="2400" dirty="0"/>
              <a:t>的数据采集和传输需求，如</a:t>
            </a:r>
            <a:r>
              <a:rPr lang="zh-CN" altLang="en-US" sz="2400" dirty="0"/>
              <a:t>：</a:t>
            </a:r>
            <a:endParaRPr lang="en-US" altLang="zh-CN" sz="2400" dirty="0"/>
          </a:p>
          <a:p>
            <a:pPr lvl="1"/>
            <a:r>
              <a:rPr lang="en-US" altLang="zh-CN" dirty="0"/>
              <a:t>LinkedIn</a:t>
            </a:r>
            <a:r>
              <a:rPr lang="zh-CN" altLang="zh-CN" dirty="0"/>
              <a:t>的</a:t>
            </a:r>
            <a:r>
              <a:rPr lang="en-US" altLang="zh-CN" dirty="0"/>
              <a:t>Kafka</a:t>
            </a:r>
            <a:endParaRPr lang="en-US" altLang="zh-CN" dirty="0"/>
          </a:p>
          <a:p>
            <a:pPr lvl="1"/>
            <a:r>
              <a:rPr lang="zh-CN" altLang="zh-CN" dirty="0"/>
              <a:t>淘宝的</a:t>
            </a:r>
            <a:r>
              <a:rPr lang="en-US" altLang="zh-CN" dirty="0"/>
              <a:t>Time Tunnel</a:t>
            </a:r>
            <a:endParaRPr lang="en-US" altLang="zh-CN" dirty="0"/>
          </a:p>
          <a:p>
            <a:pPr lvl="1"/>
            <a:r>
              <a:rPr lang="zh-CN" altLang="zh-CN" dirty="0"/>
              <a:t>基于</a:t>
            </a:r>
            <a:r>
              <a:rPr lang="en-US" altLang="zh-CN" dirty="0"/>
              <a:t>Hadoop</a:t>
            </a:r>
            <a:r>
              <a:rPr lang="zh-CN" altLang="zh-CN" dirty="0"/>
              <a:t>的</a:t>
            </a:r>
            <a:r>
              <a:rPr lang="en-US" altLang="zh-CN" dirty="0"/>
              <a:t>Chukwa</a:t>
            </a:r>
            <a:r>
              <a:rPr lang="zh-CN" altLang="zh-CN" dirty="0"/>
              <a:t>和</a:t>
            </a:r>
            <a:r>
              <a:rPr lang="en-US" altLang="zh-CN" dirty="0"/>
              <a:t>Flume</a:t>
            </a:r>
            <a:endParaRPr lang="en-US" altLang="zh-CN" dirty="0"/>
          </a:p>
        </p:txBody>
      </p:sp>
      <p:pic>
        <p:nvPicPr>
          <p:cNvPr id="19460" name="Picture 7"/>
          <p:cNvPicPr>
            <a:picLocks noChangeAspect="1"/>
          </p:cNvPicPr>
          <p:nvPr/>
        </p:nvPicPr>
        <p:blipFill>
          <a:blip r:embed="rId1"/>
          <a:stretch>
            <a:fillRect/>
          </a:stretch>
        </p:blipFill>
        <p:spPr>
          <a:xfrm>
            <a:off x="6477000" y="4876800"/>
            <a:ext cx="3619500" cy="1487488"/>
          </a:xfrm>
          <a:prstGeom prst="rect">
            <a:avLst/>
          </a:prstGeom>
          <a:noFill/>
          <a:ln w="9525">
            <a:noFill/>
          </a:ln>
        </p:spPr>
      </p:pic>
      <p:sp>
        <p:nvSpPr>
          <p:cNvPr id="5" name="矩形 4"/>
          <p:cNvSpPr/>
          <p:nvPr/>
        </p:nvSpPr>
        <p:spPr>
          <a:xfrm>
            <a:off x="7391400" y="4724400"/>
            <a:ext cx="1828800" cy="609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标题 2"/>
          <p:cNvSpPr>
            <a:spLocks noGrp="1"/>
          </p:cNvSpPr>
          <p:nvPr>
            <p:ph type="title"/>
          </p:nvPr>
        </p:nvSpPr>
        <p:spPr/>
        <p:txBody>
          <a:bodyPr vert="horz" wrap="square" lIns="91440" tIns="45720" rIns="91440" bIns="45720" anchor="ctr" anchorCtr="0"/>
          <a:lstStyle/>
          <a:p>
            <a:pPr marL="342900" indent="-342900"/>
            <a:r>
              <a:rPr lang="en-US" altLang="zh-CN" b="1" dirty="0"/>
              <a:t>11.2.2 </a:t>
            </a:r>
            <a:r>
              <a:rPr lang="zh-CN" altLang="zh-CN" b="1" dirty="0"/>
              <a:t>数据实时采集</a:t>
            </a:r>
            <a:endParaRPr lang="zh-CN" altLang="zh-CN" b="1" dirty="0"/>
          </a:p>
        </p:txBody>
      </p:sp>
      <p:sp>
        <p:nvSpPr>
          <p:cNvPr id="20482" name="内容占位符 1"/>
          <p:cNvSpPr>
            <a:spLocks noGrp="1"/>
          </p:cNvSpPr>
          <p:nvPr>
            <p:ph idx="1"/>
          </p:nvPr>
        </p:nvSpPr>
        <p:spPr>
          <a:xfrm>
            <a:off x="838200" y="1559560"/>
            <a:ext cx="10515600" cy="4617720"/>
          </a:xfrm>
        </p:spPr>
        <p:txBody>
          <a:bodyPr vert="horz" wrap="square" lIns="91440" tIns="45720" rIns="91440" bIns="45720" anchor="t" anchorCtr="0"/>
          <a:lstStyle/>
          <a:p>
            <a:r>
              <a:rPr lang="zh-CN" altLang="zh-CN" sz="2400" dirty="0"/>
              <a:t>数据采集系统的基本架构一般有以下三个部分</a:t>
            </a:r>
            <a:r>
              <a:rPr lang="zh-CN" altLang="en-US" sz="2400" dirty="0"/>
              <a:t>：</a:t>
            </a:r>
            <a:endParaRPr lang="zh-CN" altLang="zh-CN" sz="2400" dirty="0"/>
          </a:p>
          <a:p>
            <a:pPr lvl="1"/>
            <a:r>
              <a:rPr lang="en-US" altLang="zh-CN" sz="2000" dirty="0"/>
              <a:t>Agent</a:t>
            </a:r>
            <a:r>
              <a:rPr lang="zh-CN" altLang="zh-CN" sz="2000" dirty="0"/>
              <a:t>：主动采集数据，并把数据推送到</a:t>
            </a:r>
            <a:r>
              <a:rPr lang="en-US" altLang="zh-CN" sz="2000" dirty="0"/>
              <a:t>Collector</a:t>
            </a:r>
            <a:r>
              <a:rPr lang="zh-CN" altLang="zh-CN" sz="2000" dirty="0"/>
              <a:t>部分</a:t>
            </a:r>
            <a:endParaRPr lang="zh-CN" altLang="zh-CN" sz="2000" dirty="0"/>
          </a:p>
          <a:p>
            <a:pPr lvl="1"/>
            <a:r>
              <a:rPr lang="en-US" altLang="zh-CN" sz="2000" dirty="0"/>
              <a:t>Collector</a:t>
            </a:r>
            <a:r>
              <a:rPr lang="zh-CN" altLang="zh-CN" sz="2000" dirty="0"/>
              <a:t>：接收多个</a:t>
            </a:r>
            <a:r>
              <a:rPr lang="en-US" altLang="zh-CN" sz="2000" dirty="0"/>
              <a:t>Agent</a:t>
            </a:r>
            <a:r>
              <a:rPr lang="zh-CN" altLang="zh-CN" sz="2000" dirty="0"/>
              <a:t>的数据，并实现有序、可靠、高性能的转发</a:t>
            </a:r>
            <a:endParaRPr lang="zh-CN" altLang="zh-CN" sz="2000" dirty="0"/>
          </a:p>
          <a:p>
            <a:pPr lvl="1"/>
            <a:r>
              <a:rPr lang="en-US" altLang="zh-CN" sz="2000" dirty="0"/>
              <a:t>Store</a:t>
            </a:r>
            <a:r>
              <a:rPr lang="zh-CN" altLang="zh-CN" sz="2000" dirty="0"/>
              <a:t>：存储</a:t>
            </a:r>
            <a:r>
              <a:rPr lang="en-US" altLang="zh-CN" sz="2000" dirty="0"/>
              <a:t>Collector</a:t>
            </a:r>
            <a:r>
              <a:rPr lang="zh-CN" altLang="zh-CN" sz="2000" dirty="0"/>
              <a:t>转发过来的数据</a:t>
            </a:r>
            <a:r>
              <a:rPr lang="zh-CN" altLang="en-US" sz="2000" dirty="0"/>
              <a:t>（对于流计算不存储数据）</a:t>
            </a:r>
            <a:endParaRPr lang="zh-CN" altLang="zh-CN" sz="2000" dirty="0"/>
          </a:p>
        </p:txBody>
      </p:sp>
      <p:sp>
        <p:nvSpPr>
          <p:cNvPr id="20484" name="文本框 6"/>
          <p:cNvSpPr txBox="1"/>
          <p:nvPr/>
        </p:nvSpPr>
        <p:spPr>
          <a:xfrm>
            <a:off x="5092700" y="6169025"/>
            <a:ext cx="2214880" cy="337185"/>
          </a:xfrm>
          <a:prstGeom prst="rect">
            <a:avLst/>
          </a:prstGeom>
          <a:noFill/>
          <a:ln w="9525">
            <a:noFill/>
          </a:ln>
        </p:spPr>
        <p:txBody>
          <a:bodyPr wrap="none">
            <a:spAutoFit/>
          </a:bodyPr>
          <a:lstStyle/>
          <a:p>
            <a:r>
              <a:rPr lang="zh-CN" altLang="zh-CN" sz="1600" dirty="0">
                <a:latin typeface="Arial" panose="020B0604020202020204" pitchFamily="34" charset="0"/>
              </a:rPr>
              <a:t>数据采集系统基本架构</a:t>
            </a:r>
            <a:endParaRPr lang="zh-CN" altLang="en-US" sz="1600" dirty="0">
              <a:latin typeface="Arial" panose="020B0604020202020204" pitchFamily="34" charset="0"/>
            </a:endParaRPr>
          </a:p>
        </p:txBody>
      </p:sp>
      <p:pic>
        <p:nvPicPr>
          <p:cNvPr id="20485" name="Picture 7"/>
          <p:cNvPicPr>
            <a:picLocks noChangeAspect="1"/>
          </p:cNvPicPr>
          <p:nvPr/>
        </p:nvPicPr>
        <p:blipFill>
          <a:blip r:embed="rId1"/>
          <a:stretch>
            <a:fillRect/>
          </a:stretch>
        </p:blipFill>
        <p:spPr>
          <a:xfrm>
            <a:off x="3276600" y="3378200"/>
            <a:ext cx="5943600" cy="2641600"/>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标题 2"/>
          <p:cNvSpPr>
            <a:spLocks noGrp="1"/>
          </p:cNvSpPr>
          <p:nvPr>
            <p:ph type="title"/>
          </p:nvPr>
        </p:nvSpPr>
        <p:spPr/>
        <p:txBody>
          <a:bodyPr vert="horz" wrap="square" lIns="91440" tIns="45720" rIns="91440" bIns="45720" anchor="ctr" anchorCtr="0"/>
          <a:lstStyle/>
          <a:p>
            <a:pPr marL="342900" indent="-342900"/>
            <a:r>
              <a:rPr lang="en-US" altLang="zh-CN" b="1" dirty="0"/>
              <a:t>11.2.3 </a:t>
            </a:r>
            <a:r>
              <a:rPr lang="zh-CN" altLang="zh-CN" b="1" dirty="0"/>
              <a:t>数据实时</a:t>
            </a:r>
            <a:r>
              <a:rPr lang="zh-CN" altLang="en-US" b="1" dirty="0"/>
              <a:t>计算</a:t>
            </a:r>
            <a:endParaRPr lang="zh-CN" altLang="zh-CN" b="1" dirty="0"/>
          </a:p>
        </p:txBody>
      </p:sp>
      <p:sp>
        <p:nvSpPr>
          <p:cNvPr id="21506" name="内容占位符 1"/>
          <p:cNvSpPr>
            <a:spLocks noGrp="1"/>
          </p:cNvSpPr>
          <p:nvPr>
            <p:ph idx="1"/>
          </p:nvPr>
        </p:nvSpPr>
        <p:spPr/>
        <p:txBody>
          <a:bodyPr vert="horz" wrap="square" lIns="91440" tIns="45720" rIns="91440" bIns="45720" anchor="t" anchorCtr="0"/>
          <a:lstStyle/>
          <a:p>
            <a:r>
              <a:rPr lang="zh-CN" altLang="zh-CN" sz="2400" dirty="0"/>
              <a:t>对采集的数据进行实时的分析和计算</a:t>
            </a:r>
            <a:r>
              <a:rPr lang="zh-CN" altLang="en-US" sz="2400" dirty="0"/>
              <a:t>，并反馈实时结果</a:t>
            </a:r>
            <a:endParaRPr lang="en-US" altLang="zh-CN" sz="2400" dirty="0"/>
          </a:p>
          <a:p>
            <a:r>
              <a:rPr lang="zh-CN" altLang="zh-CN" sz="2400" dirty="0"/>
              <a:t>经流处理系统处理后的数据，可视情况进行存储，以便之后再进行分析计算。在时效性要求较高的场景中，处理之后的数据也可以直接丢弃</a:t>
            </a:r>
            <a:endParaRPr lang="zh-CN" altLang="zh-CN" sz="2400" dirty="0"/>
          </a:p>
        </p:txBody>
      </p:sp>
      <p:sp>
        <p:nvSpPr>
          <p:cNvPr id="21508" name="文本框 6"/>
          <p:cNvSpPr txBox="1"/>
          <p:nvPr/>
        </p:nvSpPr>
        <p:spPr>
          <a:xfrm>
            <a:off x="5107940" y="5003800"/>
            <a:ext cx="1808480" cy="337185"/>
          </a:xfrm>
          <a:prstGeom prst="rect">
            <a:avLst/>
          </a:prstGeom>
          <a:noFill/>
          <a:ln w="9525">
            <a:noFill/>
          </a:ln>
        </p:spPr>
        <p:txBody>
          <a:bodyPr wrap="none">
            <a:spAutoFit/>
          </a:bodyPr>
          <a:lstStyle/>
          <a:p>
            <a:r>
              <a:rPr lang="zh-CN" altLang="en-US" sz="1600" dirty="0">
                <a:latin typeface="Arial" panose="020B0604020202020204" pitchFamily="34" charset="0"/>
              </a:rPr>
              <a:t>数据实时计算流程</a:t>
            </a:r>
            <a:endParaRPr lang="zh-CN" altLang="en-US" sz="1600" dirty="0">
              <a:latin typeface="Arial" panose="020B0604020202020204" pitchFamily="34" charset="0"/>
            </a:endParaRPr>
          </a:p>
        </p:txBody>
      </p:sp>
      <p:pic>
        <p:nvPicPr>
          <p:cNvPr id="21509" name="Picture 7"/>
          <p:cNvPicPr>
            <a:picLocks noChangeAspect="1"/>
          </p:cNvPicPr>
          <p:nvPr/>
        </p:nvPicPr>
        <p:blipFill>
          <a:blip r:embed="rId1"/>
          <a:stretch>
            <a:fillRect/>
          </a:stretch>
        </p:blipFill>
        <p:spPr>
          <a:xfrm>
            <a:off x="3050540" y="3327400"/>
            <a:ext cx="5886450" cy="1662113"/>
          </a:xfrm>
          <a:prstGeom prst="rect">
            <a:avLst/>
          </a:prstGeom>
          <a:noFill/>
          <a:ln w="9525">
            <a:noFill/>
          </a:ln>
        </p:spPr>
      </p:pic>
      <p:pic>
        <p:nvPicPr>
          <p:cNvPr id="21510" name="Picture 7"/>
          <p:cNvPicPr>
            <a:picLocks noChangeAspect="1"/>
          </p:cNvPicPr>
          <p:nvPr/>
        </p:nvPicPr>
        <p:blipFill>
          <a:blip r:embed="rId2"/>
          <a:stretch>
            <a:fillRect/>
          </a:stretch>
        </p:blipFill>
        <p:spPr>
          <a:xfrm>
            <a:off x="6972300" y="4989513"/>
            <a:ext cx="3619500" cy="1487487"/>
          </a:xfrm>
          <a:prstGeom prst="rect">
            <a:avLst/>
          </a:prstGeom>
          <a:noFill/>
          <a:ln w="9525">
            <a:noFill/>
          </a:ln>
        </p:spPr>
      </p:pic>
      <p:sp>
        <p:nvSpPr>
          <p:cNvPr id="7" name="矩形 6"/>
          <p:cNvSpPr/>
          <p:nvPr/>
        </p:nvSpPr>
        <p:spPr>
          <a:xfrm>
            <a:off x="7886700" y="5410200"/>
            <a:ext cx="1828800" cy="609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标题 2"/>
          <p:cNvSpPr>
            <a:spLocks noGrp="1"/>
          </p:cNvSpPr>
          <p:nvPr>
            <p:ph type="title"/>
          </p:nvPr>
        </p:nvSpPr>
        <p:spPr/>
        <p:txBody>
          <a:bodyPr vert="horz" wrap="square" lIns="91440" tIns="45720" rIns="91440" bIns="45720" anchor="ctr" anchorCtr="0"/>
          <a:lstStyle/>
          <a:p>
            <a:pPr marL="342900" indent="-342900"/>
            <a:r>
              <a:rPr lang="en-US" altLang="zh-CN" b="1" dirty="0"/>
              <a:t>11.2.3 </a:t>
            </a:r>
            <a:r>
              <a:rPr lang="zh-CN" altLang="en-US" b="1" dirty="0"/>
              <a:t>实时查询服务</a:t>
            </a:r>
            <a:endParaRPr lang="zh-CN" altLang="zh-CN" b="1" dirty="0"/>
          </a:p>
        </p:txBody>
      </p:sp>
      <p:sp>
        <p:nvSpPr>
          <p:cNvPr id="22530" name="内容占位符 1"/>
          <p:cNvSpPr>
            <a:spLocks noGrp="1"/>
          </p:cNvSpPr>
          <p:nvPr>
            <p:ph idx="1"/>
          </p:nvPr>
        </p:nvSpPr>
        <p:spPr/>
        <p:txBody>
          <a:bodyPr vert="horz" wrap="square" lIns="91440" tIns="45720" rIns="91440" bIns="45720" anchor="t" anchorCtr="0">
            <a:normAutofit/>
          </a:bodyPr>
          <a:lstStyle/>
          <a:p>
            <a:r>
              <a:rPr lang="zh-CN" altLang="zh-CN" sz="2400" dirty="0"/>
              <a:t>经由流计算框架得出的结果可供用户进行实时查询、展示或储存</a:t>
            </a:r>
            <a:endParaRPr lang="zh-CN" altLang="zh-CN" sz="2400" dirty="0"/>
          </a:p>
          <a:p>
            <a:endParaRPr lang="en-US" altLang="zh-CN" sz="2400" dirty="0"/>
          </a:p>
          <a:p>
            <a:r>
              <a:rPr lang="zh-CN" altLang="zh-CN" sz="2400" dirty="0"/>
              <a:t>传统的数据处理流程，用户需要主动发出查询才能获得想要的结果。而在流处理流程中，实时查询服务可以不断更新结果，并将用户所需的结果实时推送给用户</a:t>
            </a:r>
            <a:endParaRPr lang="zh-CN" altLang="zh-CN" sz="2400" dirty="0"/>
          </a:p>
          <a:p>
            <a:endParaRPr lang="en-US" altLang="zh-CN" sz="2400" dirty="0"/>
          </a:p>
          <a:p>
            <a:r>
              <a:rPr lang="zh-CN" altLang="zh-CN" sz="2400" dirty="0"/>
              <a:t>虽然通过对传统的数据处理系统进行</a:t>
            </a:r>
            <a:r>
              <a:rPr lang="zh-CN" altLang="zh-CN" sz="2400" b="1" dirty="0"/>
              <a:t>定时</a:t>
            </a:r>
            <a:r>
              <a:rPr lang="zh-CN" altLang="zh-CN" sz="2400" dirty="0"/>
              <a:t>查询，也可以实现不断地更新结果和结果推送，但通过这样的方式获取的结果，仍然是根据过去某一时刻的数据得到的结果，与实时结果有着本质的区别</a:t>
            </a:r>
            <a:endParaRPr lang="zh-CN" altLang="zh-CN" sz="2400" dirty="0"/>
          </a:p>
          <a:p>
            <a:endParaRPr lang="zh-CN" altLang="zh-CN" sz="2400" dirty="0"/>
          </a:p>
        </p:txBody>
      </p:sp>
      <p:pic>
        <p:nvPicPr>
          <p:cNvPr id="22532" name="Picture 7"/>
          <p:cNvPicPr>
            <a:picLocks noChangeAspect="1"/>
          </p:cNvPicPr>
          <p:nvPr/>
        </p:nvPicPr>
        <p:blipFill>
          <a:blip r:embed="rId1"/>
          <a:stretch>
            <a:fillRect/>
          </a:stretch>
        </p:blipFill>
        <p:spPr>
          <a:xfrm>
            <a:off x="7036435" y="5141595"/>
            <a:ext cx="3619500" cy="1487488"/>
          </a:xfrm>
          <a:prstGeom prst="rect">
            <a:avLst/>
          </a:prstGeom>
          <a:noFill/>
          <a:ln w="9525">
            <a:noFill/>
          </a:ln>
        </p:spPr>
      </p:pic>
      <p:sp>
        <p:nvSpPr>
          <p:cNvPr id="5" name="矩形 4"/>
          <p:cNvSpPr/>
          <p:nvPr/>
        </p:nvSpPr>
        <p:spPr>
          <a:xfrm>
            <a:off x="7391400" y="5867400"/>
            <a:ext cx="1828800" cy="609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标题 2"/>
          <p:cNvSpPr>
            <a:spLocks noGrp="1"/>
          </p:cNvSpPr>
          <p:nvPr>
            <p:ph type="title"/>
          </p:nvPr>
        </p:nvSpPr>
        <p:spPr/>
        <p:txBody>
          <a:bodyPr vert="horz" wrap="square" lIns="91440" tIns="45720" rIns="91440" bIns="45720" anchor="ctr" anchorCtr="0"/>
          <a:lstStyle/>
          <a:p>
            <a:pPr marL="342900" indent="-342900"/>
            <a:r>
              <a:rPr lang="en-US" altLang="zh-CN" b="1" dirty="0">
                <a:sym typeface="+mn-ea"/>
              </a:rPr>
              <a:t>11.2	</a:t>
            </a:r>
            <a:r>
              <a:rPr lang="zh-CN" altLang="en-US" b="1" dirty="0">
                <a:sym typeface="+mn-ea"/>
              </a:rPr>
              <a:t>流计算处理流程</a:t>
            </a:r>
            <a:endParaRPr lang="zh-CN" altLang="zh-CN" b="1" dirty="0"/>
          </a:p>
        </p:txBody>
      </p:sp>
      <p:sp>
        <p:nvSpPr>
          <p:cNvPr id="2" name="文本框 1"/>
          <p:cNvSpPr txBox="1"/>
          <p:nvPr/>
        </p:nvSpPr>
        <p:spPr>
          <a:xfrm>
            <a:off x="988060" y="1691005"/>
            <a:ext cx="8900160" cy="5077460"/>
          </a:xfrm>
          <a:prstGeom prst="rect">
            <a:avLst/>
          </a:prstGeom>
          <a:noFill/>
        </p:spPr>
        <p:txBody>
          <a:bodyPr wrap="square" rtlCol="0" anchor="t">
            <a:spAutoFit/>
          </a:bodyPr>
          <a:lstStyle/>
          <a:p>
            <a:pPr>
              <a:lnSpc>
                <a:spcPct val="150000"/>
              </a:lnSpc>
            </a:pPr>
            <a:r>
              <a:rPr lang="zh-CN" altLang="en-US" sz="2400"/>
              <a:t>可见，流处理系统与传统的数据处理系统有如下不同：</a:t>
            </a:r>
            <a:endParaRPr lang="zh-CN" altLang="en-US" sz="2400"/>
          </a:p>
          <a:p>
            <a:pPr marL="457200" indent="-457200">
              <a:lnSpc>
                <a:spcPct val="150000"/>
              </a:lnSpc>
              <a:buAutoNum type="arabicPeriod"/>
            </a:pPr>
            <a:r>
              <a:rPr lang="zh-CN" altLang="en-US" sz="2400"/>
              <a:t>流处理系统处理的是实时的数据，而传统的数据处理系统处理的是预先存储好的静态数据</a:t>
            </a:r>
            <a:endParaRPr lang="zh-CN" altLang="en-US" sz="2400"/>
          </a:p>
          <a:p>
            <a:pPr marL="457200" indent="-457200">
              <a:lnSpc>
                <a:spcPct val="150000"/>
              </a:lnSpc>
              <a:buAutoNum type="arabicPeriod"/>
            </a:pPr>
            <a:endParaRPr lang="zh-CN" altLang="en-US" sz="2400"/>
          </a:p>
          <a:p>
            <a:pPr marL="457200" indent="-457200">
              <a:lnSpc>
                <a:spcPct val="150000"/>
              </a:lnSpc>
              <a:buAutoNum type="arabicPeriod"/>
            </a:pPr>
            <a:r>
              <a:rPr lang="zh-CN" altLang="en-US" sz="2400"/>
              <a:t>用户通过流处理系统获取的是实时结果，而通过传统的数据处理系统，获取的是过去某一时刻的结果</a:t>
            </a:r>
            <a:endParaRPr lang="zh-CN" altLang="en-US" sz="2400"/>
          </a:p>
          <a:p>
            <a:pPr marL="457200" indent="-457200">
              <a:lnSpc>
                <a:spcPct val="150000"/>
              </a:lnSpc>
              <a:buAutoNum type="arabicPeriod"/>
            </a:pPr>
            <a:endParaRPr lang="zh-CN" altLang="en-US" sz="2400"/>
          </a:p>
          <a:p>
            <a:pPr marL="457200" indent="-457200">
              <a:lnSpc>
                <a:spcPct val="150000"/>
              </a:lnSpc>
              <a:buAutoNum type="arabicPeriod"/>
            </a:pPr>
            <a:r>
              <a:rPr lang="zh-CN" altLang="en-US" sz="2400"/>
              <a:t>流处理系统无需用户主动发出查询，实时查询服务可以主动将实时结果推送给用户</a:t>
            </a:r>
            <a:endParaRPr lang="zh-CN" altLang="en-US" sz="2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标题 2"/>
          <p:cNvSpPr>
            <a:spLocks noGrp="1"/>
          </p:cNvSpPr>
          <p:nvPr>
            <p:ph type="title"/>
          </p:nvPr>
        </p:nvSpPr>
        <p:spPr/>
        <p:txBody>
          <a:bodyPr vert="horz" wrap="square" lIns="91440" tIns="45720" rIns="91440" bIns="45720" anchor="ctr" anchorCtr="0"/>
          <a:lstStyle/>
          <a:p>
            <a:pPr marL="342900" indent="-342900"/>
            <a:r>
              <a:rPr lang="en-US" altLang="zh-CN" b="1" dirty="0"/>
              <a:t>11.3 </a:t>
            </a:r>
            <a:r>
              <a:rPr lang="zh-CN" altLang="en-US" b="1" dirty="0"/>
              <a:t>流计算的应用</a:t>
            </a:r>
            <a:endParaRPr lang="zh-CN" altLang="zh-CN" b="1" dirty="0"/>
          </a:p>
        </p:txBody>
      </p:sp>
      <p:sp>
        <p:nvSpPr>
          <p:cNvPr id="24578" name="内容占位符 1"/>
          <p:cNvSpPr>
            <a:spLocks noGrp="1"/>
          </p:cNvSpPr>
          <p:nvPr>
            <p:ph idx="1"/>
          </p:nvPr>
        </p:nvSpPr>
        <p:spPr/>
        <p:txBody>
          <a:bodyPr vert="horz" wrap="square" lIns="91440" tIns="45720" rIns="91440" bIns="45720" anchor="t" anchorCtr="0">
            <a:normAutofit lnSpcReduction="10000"/>
          </a:bodyPr>
          <a:lstStyle/>
          <a:p>
            <a:pPr>
              <a:lnSpc>
                <a:spcPct val="110000"/>
              </a:lnSpc>
            </a:pPr>
            <a:r>
              <a:rPr lang="zh-CN" altLang="zh-CN" sz="2400" dirty="0"/>
              <a:t>流计算是针对流数据的实时计算，可以应用在多种场景中，如</a:t>
            </a:r>
            <a:r>
              <a:rPr lang="en-US" altLang="zh-CN" sz="2400" dirty="0"/>
              <a:t>Web</a:t>
            </a:r>
            <a:r>
              <a:rPr lang="zh-CN" altLang="zh-CN" sz="2400" dirty="0"/>
              <a:t>服务、机器翻译、广告投放、自然语言处理、气候模拟预测等</a:t>
            </a:r>
            <a:endParaRPr lang="zh-CN" altLang="zh-CN" sz="2400" dirty="0"/>
          </a:p>
          <a:p>
            <a:pPr>
              <a:lnSpc>
                <a:spcPct val="110000"/>
              </a:lnSpc>
            </a:pPr>
            <a:endParaRPr lang="en-US" altLang="zh-CN" sz="2400" dirty="0"/>
          </a:p>
          <a:p>
            <a:pPr>
              <a:lnSpc>
                <a:spcPct val="110000"/>
              </a:lnSpc>
            </a:pPr>
            <a:r>
              <a:rPr lang="zh-CN" altLang="en-US" sz="2400" dirty="0"/>
              <a:t>如</a:t>
            </a:r>
            <a:r>
              <a:rPr lang="zh-CN" altLang="zh-CN" sz="2400" dirty="0"/>
              <a:t>百度、淘宝等大型网站中，每天都会产生大量流数据，包括用户的搜索内容、用户的浏览记录等数据。采用流计算进行实时数据分析，可以了解每个时刻的流量变化情况，甚至可以分析用户的实时浏览轨迹，从而进行实时个性化内容推荐</a:t>
            </a:r>
            <a:endParaRPr lang="zh-CN" altLang="zh-CN" sz="2400" dirty="0"/>
          </a:p>
          <a:p>
            <a:pPr>
              <a:lnSpc>
                <a:spcPct val="110000"/>
              </a:lnSpc>
            </a:pPr>
            <a:endParaRPr lang="zh-CN" altLang="zh-CN" sz="2400" dirty="0"/>
          </a:p>
          <a:p>
            <a:pPr>
              <a:lnSpc>
                <a:spcPct val="110000"/>
              </a:lnSpc>
            </a:pPr>
            <a:r>
              <a:rPr lang="zh-CN" altLang="zh-CN" sz="2400" dirty="0"/>
              <a:t>但是，并不是每个应用场景都需要用到流计算的。流计算适合于需要处理持续到达的流数据、对数据处理有较高实时性要求的场景</a:t>
            </a:r>
            <a:endParaRPr lang="zh-CN" altLang="zh-CN"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标题 2"/>
          <p:cNvSpPr>
            <a:spLocks noGrp="1"/>
          </p:cNvSpPr>
          <p:nvPr>
            <p:ph type="title"/>
          </p:nvPr>
        </p:nvSpPr>
        <p:spPr/>
        <p:txBody>
          <a:bodyPr vert="horz" wrap="square" lIns="91440" tIns="45720" rIns="91440" bIns="45720" anchor="ctr" anchorCtr="0"/>
          <a:lstStyle/>
          <a:p>
            <a:pPr marL="342900" indent="-342900"/>
            <a:r>
              <a:rPr lang="en-US" altLang="zh-CN" b="1" dirty="0"/>
              <a:t>11.3.1 </a:t>
            </a:r>
            <a:r>
              <a:rPr lang="zh-CN" altLang="en-US" b="1" dirty="0"/>
              <a:t>应用场景</a:t>
            </a:r>
            <a:r>
              <a:rPr lang="en-US" altLang="zh-CN" b="1" dirty="0"/>
              <a:t>1: </a:t>
            </a:r>
            <a:r>
              <a:rPr lang="zh-CN" altLang="en-US" b="1" dirty="0"/>
              <a:t>实时分析</a:t>
            </a:r>
            <a:endParaRPr lang="zh-CN" altLang="zh-CN" b="1" dirty="0"/>
          </a:p>
        </p:txBody>
      </p:sp>
      <p:sp>
        <p:nvSpPr>
          <p:cNvPr id="25602" name="内容占位符 1"/>
          <p:cNvSpPr>
            <a:spLocks noGrp="1"/>
          </p:cNvSpPr>
          <p:nvPr>
            <p:ph idx="1"/>
          </p:nvPr>
        </p:nvSpPr>
        <p:spPr>
          <a:xfrm>
            <a:off x="838200" y="1825625"/>
            <a:ext cx="10515600" cy="1948815"/>
          </a:xfrm>
        </p:spPr>
        <p:txBody>
          <a:bodyPr vert="horz" wrap="square" lIns="91440" tIns="45720" rIns="91440" bIns="45720" anchor="t" anchorCtr="0">
            <a:noAutofit/>
          </a:bodyPr>
          <a:lstStyle/>
          <a:p>
            <a:r>
              <a:rPr lang="zh-CN" altLang="zh-CN" sz="2400" dirty="0"/>
              <a:t>传统的业务分析一般采用分布式离线计算的方式，即将数据全部保存起来，然后每隔一定的时间进行离线分析来得到结果。但这样会导致一定的延时，</a:t>
            </a:r>
            <a:r>
              <a:rPr lang="zh-CN" altLang="en-US" sz="2400" dirty="0"/>
              <a:t>难以</a:t>
            </a:r>
            <a:r>
              <a:rPr lang="zh-CN" altLang="zh-CN" sz="2400" dirty="0"/>
              <a:t>保证结果的实时性</a:t>
            </a:r>
            <a:endParaRPr lang="en-US" altLang="zh-CN" sz="2400" dirty="0"/>
          </a:p>
          <a:p>
            <a:r>
              <a:rPr lang="zh-CN" altLang="en-US" sz="2400" dirty="0"/>
              <a:t>随着分析业务对实时性要求的提升，离线分析模式已经不适合用于流数据的分析，也不适用于要求实时响应的互联网应用场景</a:t>
            </a:r>
            <a:endParaRPr lang="zh-CN" altLang="zh-CN" sz="2400" dirty="0"/>
          </a:p>
        </p:txBody>
      </p:sp>
      <p:pic>
        <p:nvPicPr>
          <p:cNvPr id="2" name="图片 1"/>
          <p:cNvPicPr>
            <a:picLocks noChangeAspect="1"/>
          </p:cNvPicPr>
          <p:nvPr>
            <p:custDataLst>
              <p:tags r:id="rId1"/>
            </p:custDataLst>
          </p:nvPr>
        </p:nvPicPr>
        <p:blipFill>
          <a:blip r:embed="rId2"/>
          <a:stretch>
            <a:fillRect/>
          </a:stretch>
        </p:blipFill>
        <p:spPr>
          <a:xfrm>
            <a:off x="1029335" y="4213225"/>
            <a:ext cx="5267325" cy="1781175"/>
          </a:xfrm>
          <a:prstGeom prst="rect">
            <a:avLst/>
          </a:prstGeom>
        </p:spPr>
      </p:pic>
      <p:pic>
        <p:nvPicPr>
          <p:cNvPr id="102" name="图片 101"/>
          <p:cNvPicPr/>
          <p:nvPr/>
        </p:nvPicPr>
        <p:blipFill>
          <a:blip r:embed="rId3"/>
          <a:stretch>
            <a:fillRect/>
          </a:stretch>
        </p:blipFill>
        <p:spPr>
          <a:xfrm>
            <a:off x="7171055" y="4213225"/>
            <a:ext cx="3697605" cy="178054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标题 2"/>
          <p:cNvSpPr>
            <a:spLocks noGrp="1"/>
          </p:cNvSpPr>
          <p:nvPr>
            <p:ph type="title"/>
          </p:nvPr>
        </p:nvSpPr>
        <p:spPr/>
        <p:txBody>
          <a:bodyPr vert="horz" wrap="square" lIns="91440" tIns="45720" rIns="91440" bIns="45720" anchor="ctr" anchorCtr="0"/>
          <a:lstStyle/>
          <a:p>
            <a:pPr marL="342900" indent="-342900"/>
            <a:r>
              <a:rPr lang="en-US" altLang="zh-CN" b="1" dirty="0"/>
              <a:t>11.3.1 </a:t>
            </a:r>
            <a:r>
              <a:rPr lang="zh-CN" altLang="en-US" b="1" dirty="0"/>
              <a:t>应用场景</a:t>
            </a:r>
            <a:r>
              <a:rPr lang="en-US" altLang="zh-CN" b="1" dirty="0"/>
              <a:t>1: </a:t>
            </a:r>
            <a:r>
              <a:rPr lang="zh-CN" altLang="en-US" b="1" dirty="0"/>
              <a:t>实时分析</a:t>
            </a:r>
            <a:endParaRPr lang="zh-CN" altLang="zh-CN" b="1" dirty="0"/>
          </a:p>
        </p:txBody>
      </p:sp>
      <p:sp>
        <p:nvSpPr>
          <p:cNvPr id="26626" name="内容占位符 1"/>
          <p:cNvSpPr>
            <a:spLocks noGrp="1"/>
          </p:cNvSpPr>
          <p:nvPr>
            <p:ph idx="1"/>
          </p:nvPr>
        </p:nvSpPr>
        <p:spPr/>
        <p:txBody>
          <a:bodyPr vert="horz" wrap="square" lIns="91440" tIns="45720" rIns="91440" bIns="45720" anchor="t" anchorCtr="0"/>
          <a:lstStyle/>
          <a:p>
            <a:pPr marL="0" indent="0">
              <a:buNone/>
            </a:pPr>
            <a:r>
              <a:rPr lang="zh-CN" altLang="zh-CN" sz="2400" dirty="0"/>
              <a:t>针对流数据，“量子恒道”开发了海量数据实时流计算框架</a:t>
            </a:r>
            <a:r>
              <a:rPr lang="en-US" altLang="zh-CN" sz="2400" dirty="0"/>
              <a:t>SM(Super Mario)</a:t>
            </a:r>
            <a:r>
              <a:rPr lang="zh-CN" altLang="en-US" sz="2400" dirty="0"/>
              <a:t>。通过该框架，</a:t>
            </a:r>
            <a:r>
              <a:rPr lang="zh-CN" altLang="zh-CN" sz="2400" dirty="0"/>
              <a:t>量子恒道可处理每天</a:t>
            </a:r>
            <a:r>
              <a:rPr lang="en-US" altLang="zh-CN" sz="2400" dirty="0"/>
              <a:t>TB</a:t>
            </a:r>
            <a:r>
              <a:rPr lang="zh-CN" altLang="zh-CN" sz="2400" dirty="0"/>
              <a:t>级的实时流数据，并且从用户发出请求到数据展示，整个延时控制在</a:t>
            </a:r>
            <a:r>
              <a:rPr lang="en-US" altLang="zh-CN" sz="2400" dirty="0"/>
              <a:t>2-3</a:t>
            </a:r>
            <a:r>
              <a:rPr lang="zh-CN" altLang="zh-CN" sz="2400" dirty="0"/>
              <a:t>秒内，达到了实时性的要求</a:t>
            </a:r>
            <a:endParaRPr lang="zh-CN" altLang="zh-CN" sz="2400" dirty="0"/>
          </a:p>
        </p:txBody>
      </p:sp>
      <p:sp>
        <p:nvSpPr>
          <p:cNvPr id="26628" name="文本框 4"/>
          <p:cNvSpPr txBox="1"/>
          <p:nvPr/>
        </p:nvSpPr>
        <p:spPr>
          <a:xfrm>
            <a:off x="4995863" y="6381750"/>
            <a:ext cx="2103120" cy="337185"/>
          </a:xfrm>
          <a:prstGeom prst="rect">
            <a:avLst/>
          </a:prstGeom>
          <a:noFill/>
          <a:ln w="9525">
            <a:noFill/>
          </a:ln>
        </p:spPr>
        <p:txBody>
          <a:bodyPr wrap="none">
            <a:spAutoFit/>
          </a:bodyPr>
          <a:lstStyle/>
          <a:p>
            <a:r>
              <a:rPr lang="en-US" altLang="zh-CN" sz="1600" dirty="0">
                <a:latin typeface="Arial" panose="020B0604020202020204" pitchFamily="34" charset="0"/>
              </a:rPr>
              <a:t>Super Mario</a:t>
            </a:r>
            <a:r>
              <a:rPr lang="zh-CN" altLang="zh-CN" sz="1600" dirty="0">
                <a:latin typeface="Arial" panose="020B0604020202020204" pitchFamily="34" charset="0"/>
              </a:rPr>
              <a:t>处理流程</a:t>
            </a:r>
            <a:endParaRPr lang="zh-CN" altLang="en-US" sz="1600" dirty="0">
              <a:latin typeface="Arial" panose="020B0604020202020204" pitchFamily="34" charset="0"/>
            </a:endParaRPr>
          </a:p>
        </p:txBody>
      </p:sp>
      <p:pic>
        <p:nvPicPr>
          <p:cNvPr id="26629" name="Picture 7"/>
          <p:cNvPicPr>
            <a:picLocks noChangeAspect="1"/>
          </p:cNvPicPr>
          <p:nvPr/>
        </p:nvPicPr>
        <p:blipFill>
          <a:blip r:embed="rId1"/>
          <a:stretch>
            <a:fillRect/>
          </a:stretch>
        </p:blipFill>
        <p:spPr>
          <a:xfrm>
            <a:off x="3657600" y="3155950"/>
            <a:ext cx="4876800" cy="3228975"/>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标题 2"/>
          <p:cNvSpPr>
            <a:spLocks noGrp="1"/>
          </p:cNvSpPr>
          <p:nvPr>
            <p:ph type="title"/>
          </p:nvPr>
        </p:nvSpPr>
        <p:spPr/>
        <p:txBody>
          <a:bodyPr vert="horz" wrap="square" lIns="91440" tIns="45720" rIns="91440" bIns="45720" anchor="ctr" anchorCtr="0"/>
          <a:lstStyle/>
          <a:p>
            <a:pPr marL="342900" indent="-342900"/>
            <a:r>
              <a:rPr lang="en-US" altLang="zh-CN" b="1" dirty="0"/>
              <a:t>11.3.1 </a:t>
            </a:r>
            <a:r>
              <a:rPr lang="zh-CN" altLang="en-US" b="1" dirty="0"/>
              <a:t>应用场景</a:t>
            </a:r>
            <a:r>
              <a:rPr lang="en-US" altLang="zh-CN" b="1" dirty="0"/>
              <a:t>2: </a:t>
            </a:r>
            <a:r>
              <a:rPr lang="zh-CN" altLang="en-US" b="1" dirty="0"/>
              <a:t>实时交通</a:t>
            </a:r>
            <a:endParaRPr lang="zh-CN" altLang="zh-CN" b="1" dirty="0"/>
          </a:p>
        </p:txBody>
      </p:sp>
      <p:pic>
        <p:nvPicPr>
          <p:cNvPr id="106" name="图片 105"/>
          <p:cNvPicPr/>
          <p:nvPr>
            <p:custDataLst>
              <p:tags r:id="rId1"/>
            </p:custDataLst>
          </p:nvPr>
        </p:nvPicPr>
        <p:blipFill>
          <a:blip r:embed="rId2"/>
          <a:stretch>
            <a:fillRect/>
          </a:stretch>
        </p:blipFill>
        <p:spPr>
          <a:xfrm>
            <a:off x="6666865" y="2111375"/>
            <a:ext cx="4686935" cy="3260725"/>
          </a:xfrm>
          <a:prstGeom prst="rect">
            <a:avLst/>
          </a:prstGeom>
          <a:noFill/>
          <a:ln w="9525">
            <a:noFill/>
          </a:ln>
        </p:spPr>
      </p:pic>
      <p:sp>
        <p:nvSpPr>
          <p:cNvPr id="3" name="文本框 2"/>
          <p:cNvSpPr txBox="1"/>
          <p:nvPr/>
        </p:nvSpPr>
        <p:spPr>
          <a:xfrm>
            <a:off x="7920355" y="5561330"/>
            <a:ext cx="2515235" cy="645160"/>
          </a:xfrm>
          <a:prstGeom prst="rect">
            <a:avLst/>
          </a:prstGeom>
          <a:noFill/>
        </p:spPr>
        <p:txBody>
          <a:bodyPr wrap="square" rtlCol="0" anchor="t">
            <a:spAutoFit/>
          </a:bodyPr>
          <a:p>
            <a:pPr algn="ctr"/>
            <a:r>
              <a:rPr lang="zh-CN" altLang="en-US"/>
              <a:t>深圳“智慧公交”K5路</a:t>
            </a:r>
            <a:endParaRPr lang="zh-CN" altLang="en-US"/>
          </a:p>
          <a:p>
            <a:pPr algn="ctr"/>
            <a:r>
              <a:rPr lang="zh-CN" altLang="en-US"/>
              <a:t>“主动控制”交通信号灯</a:t>
            </a:r>
            <a:endParaRPr lang="zh-CN" altLang="en-US"/>
          </a:p>
        </p:txBody>
      </p:sp>
      <p:pic>
        <p:nvPicPr>
          <p:cNvPr id="108" name="图片 107"/>
          <p:cNvPicPr/>
          <p:nvPr>
            <p:custDataLst>
              <p:tags r:id="rId3"/>
            </p:custDataLst>
          </p:nvPr>
        </p:nvPicPr>
        <p:blipFill>
          <a:blip r:embed="rId4"/>
          <a:srcRect t="18035"/>
          <a:stretch>
            <a:fillRect/>
          </a:stretch>
        </p:blipFill>
        <p:spPr>
          <a:xfrm rot="5400000">
            <a:off x="1522730" y="1242695"/>
            <a:ext cx="3219450" cy="5038725"/>
          </a:xfrm>
          <a:prstGeom prst="rect">
            <a:avLst/>
          </a:prstGeom>
          <a:noFill/>
          <a:ln w="9525">
            <a:noFill/>
          </a:ln>
        </p:spPr>
      </p:pic>
      <p:sp>
        <p:nvSpPr>
          <p:cNvPr id="4" name="文本框 3"/>
          <p:cNvSpPr txBox="1"/>
          <p:nvPr/>
        </p:nvSpPr>
        <p:spPr>
          <a:xfrm>
            <a:off x="1082040" y="5561330"/>
            <a:ext cx="4351655" cy="645160"/>
          </a:xfrm>
          <a:prstGeom prst="rect">
            <a:avLst/>
          </a:prstGeom>
          <a:noFill/>
        </p:spPr>
        <p:txBody>
          <a:bodyPr wrap="square" rtlCol="0" anchor="t">
            <a:spAutoFit/>
          </a:bodyPr>
          <a:p>
            <a:pPr algn="ctr"/>
            <a:r>
              <a:rPr lang="zh-CN" altLang="en-US"/>
              <a:t>基于北斗定位实现</a:t>
            </a:r>
            <a:endParaRPr lang="zh-CN" altLang="en-US"/>
          </a:p>
          <a:p>
            <a:pPr algn="ctr"/>
            <a:r>
              <a:rPr lang="zh-CN" altLang="en-US"/>
              <a:t>高德地图在全国近360城上线“绿灯导航”</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标题 2"/>
          <p:cNvSpPr>
            <a:spLocks noGrp="1"/>
          </p:cNvSpPr>
          <p:nvPr>
            <p:ph type="title"/>
          </p:nvPr>
        </p:nvSpPr>
        <p:spPr/>
        <p:txBody>
          <a:bodyPr vert="horz" wrap="square" lIns="91440" tIns="45720" rIns="91440" bIns="45720" anchor="ctr" anchorCtr="0"/>
          <a:lstStyle/>
          <a:p>
            <a:pPr marL="342900" indent="-342900"/>
            <a:r>
              <a:rPr lang="en-US" altLang="zh-CN" b="1" dirty="0"/>
              <a:t>11.4 </a:t>
            </a:r>
            <a:r>
              <a:rPr lang="zh-CN" altLang="zh-CN" b="1" dirty="0"/>
              <a:t>开源流计算框架</a:t>
            </a:r>
            <a:r>
              <a:rPr lang="en-US" altLang="zh-CN" b="1" dirty="0"/>
              <a:t>Storm</a:t>
            </a:r>
            <a:endParaRPr lang="zh-CN" altLang="zh-CN" b="1" dirty="0"/>
          </a:p>
        </p:txBody>
      </p:sp>
      <p:sp>
        <p:nvSpPr>
          <p:cNvPr id="28674" name="内容占位符 1"/>
          <p:cNvSpPr>
            <a:spLocks noGrp="1"/>
          </p:cNvSpPr>
          <p:nvPr>
            <p:ph idx="1"/>
          </p:nvPr>
        </p:nvSpPr>
        <p:spPr/>
        <p:txBody>
          <a:bodyPr vert="horz" wrap="square" lIns="91440" tIns="45720" rIns="91440" bIns="45720" anchor="t" anchorCtr="0">
            <a:normAutofit/>
          </a:bodyPr>
          <a:lstStyle/>
          <a:p>
            <a:pPr marL="0" indent="0">
              <a:lnSpc>
                <a:spcPct val="150000"/>
              </a:lnSpc>
              <a:buNone/>
            </a:pPr>
            <a:r>
              <a:rPr lang="en-US" altLang="zh-CN" dirty="0"/>
              <a:t>11.</a:t>
            </a:r>
            <a:r>
              <a:rPr lang="zh-CN" altLang="zh-CN" dirty="0"/>
              <a:t>4.1	 Storm简介</a:t>
            </a:r>
            <a:endParaRPr lang="zh-CN" altLang="en-US" dirty="0"/>
          </a:p>
          <a:p>
            <a:pPr marL="0" indent="0">
              <a:lnSpc>
                <a:spcPct val="150000"/>
              </a:lnSpc>
              <a:buNone/>
            </a:pPr>
            <a:r>
              <a:rPr lang="en-US" altLang="zh-CN" dirty="0"/>
              <a:t>11.</a:t>
            </a:r>
            <a:r>
              <a:rPr lang="zh-CN" altLang="zh-CN" dirty="0"/>
              <a:t>4.2	 Storm的特点</a:t>
            </a:r>
            <a:endParaRPr lang="zh-CN" altLang="en-US" dirty="0"/>
          </a:p>
          <a:p>
            <a:pPr marL="0" indent="0">
              <a:lnSpc>
                <a:spcPct val="150000"/>
              </a:lnSpc>
              <a:buNone/>
            </a:pPr>
            <a:r>
              <a:rPr lang="en-US" altLang="zh-CN" dirty="0"/>
              <a:t>11.</a:t>
            </a:r>
            <a:r>
              <a:rPr lang="zh-CN" altLang="zh-CN" dirty="0"/>
              <a:t>4.3	 Storm设计思想</a:t>
            </a:r>
            <a:endParaRPr lang="zh-CN" altLang="en-US" dirty="0"/>
          </a:p>
          <a:p>
            <a:pPr marL="0" indent="0">
              <a:lnSpc>
                <a:spcPct val="150000"/>
              </a:lnSpc>
              <a:buNone/>
            </a:pPr>
            <a:r>
              <a:rPr lang="en-US" altLang="zh-CN" dirty="0"/>
              <a:t>11.</a:t>
            </a:r>
            <a:r>
              <a:rPr lang="zh-CN" altLang="zh-CN" dirty="0"/>
              <a:t>4.4	</a:t>
            </a:r>
            <a:r>
              <a:rPr lang="en-US" altLang="zh-CN" dirty="0"/>
              <a:t> </a:t>
            </a:r>
            <a:r>
              <a:rPr lang="zh-CN" altLang="zh-CN" dirty="0"/>
              <a:t>Storm框架设计</a:t>
            </a:r>
            <a:endParaRPr lang="zh-CN" altLang="zh-CN" dirty="0"/>
          </a:p>
          <a:p>
            <a:pPr marL="0" indent="0">
              <a:lnSpc>
                <a:spcPct val="150000"/>
              </a:lnSpc>
              <a:buNone/>
            </a:pPr>
            <a:r>
              <a:rPr lang="en-US" altLang="zh-CN" dirty="0"/>
              <a:t>11.4.5  Storm</a:t>
            </a:r>
            <a:r>
              <a:rPr lang="zh-CN" altLang="en-US" dirty="0"/>
              <a:t>实例</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标题 2"/>
          <p:cNvSpPr>
            <a:spLocks noGrp="1"/>
          </p:cNvSpPr>
          <p:nvPr>
            <p:ph type="title"/>
          </p:nvPr>
        </p:nvSpPr>
        <p:spPr/>
        <p:txBody>
          <a:bodyPr vert="horz" wrap="square" lIns="91440" tIns="45720" rIns="91440" bIns="45720" anchor="ctr" anchorCtr="0"/>
          <a:lstStyle/>
          <a:p>
            <a:r>
              <a:rPr lang="en-US" altLang="zh-CN" b="1" dirty="0"/>
              <a:t>11.4 </a:t>
            </a:r>
            <a:r>
              <a:rPr lang="zh-CN" altLang="zh-CN" b="1" dirty="0"/>
              <a:t>开源流计算框架</a:t>
            </a:r>
            <a:r>
              <a:rPr lang="en-US" altLang="zh-CN" b="1" dirty="0"/>
              <a:t>Storm</a:t>
            </a:r>
            <a:endParaRPr lang="zh-CN" altLang="en-US" b="1" dirty="0"/>
          </a:p>
        </p:txBody>
      </p:sp>
      <p:pic>
        <p:nvPicPr>
          <p:cNvPr id="100" name="图片 99"/>
          <p:cNvPicPr/>
          <p:nvPr/>
        </p:nvPicPr>
        <p:blipFill>
          <a:blip r:embed="rId1"/>
          <a:stretch>
            <a:fillRect/>
          </a:stretch>
        </p:blipFill>
        <p:spPr>
          <a:xfrm>
            <a:off x="1035050" y="2705100"/>
            <a:ext cx="1787525" cy="1725295"/>
          </a:xfrm>
          <a:prstGeom prst="rect">
            <a:avLst/>
          </a:prstGeom>
          <a:noFill/>
          <a:ln w="9525">
            <a:noFill/>
          </a:ln>
        </p:spPr>
      </p:pic>
      <p:pic>
        <p:nvPicPr>
          <p:cNvPr id="101" name="图片 100"/>
          <p:cNvPicPr/>
          <p:nvPr/>
        </p:nvPicPr>
        <p:blipFill>
          <a:blip r:embed="rId2"/>
          <a:srcRect l="24519" t="28212" r="23500" b="22596"/>
          <a:stretch>
            <a:fillRect/>
          </a:stretch>
        </p:blipFill>
        <p:spPr>
          <a:xfrm>
            <a:off x="2931160" y="2753995"/>
            <a:ext cx="1828165" cy="1687830"/>
          </a:xfrm>
          <a:prstGeom prst="rect">
            <a:avLst/>
          </a:prstGeom>
          <a:noFill/>
          <a:ln w="9525">
            <a:noFill/>
          </a:ln>
        </p:spPr>
      </p:pic>
      <p:sp>
        <p:nvSpPr>
          <p:cNvPr id="3" name="文本框 2"/>
          <p:cNvSpPr txBox="1"/>
          <p:nvPr/>
        </p:nvSpPr>
        <p:spPr>
          <a:xfrm>
            <a:off x="3105150" y="4430395"/>
            <a:ext cx="1480820" cy="460375"/>
          </a:xfrm>
          <a:prstGeom prst="rect">
            <a:avLst/>
          </a:prstGeom>
          <a:noFill/>
        </p:spPr>
        <p:txBody>
          <a:bodyPr wrap="square" rtlCol="0" anchor="t">
            <a:spAutoFit/>
          </a:bodyPr>
          <a:p>
            <a:r>
              <a:rPr lang="zh-CN" altLang="en-US" sz="2400" dirty="0">
                <a:sym typeface="+mn-ea"/>
              </a:rPr>
              <a:t>政府机构</a:t>
            </a:r>
            <a:endParaRPr lang="zh-CN" altLang="en-US" sz="2400" dirty="0">
              <a:sym typeface="+mn-ea"/>
            </a:endParaRPr>
          </a:p>
        </p:txBody>
      </p:sp>
      <p:sp>
        <p:nvSpPr>
          <p:cNvPr id="4" name="文本框 3"/>
          <p:cNvSpPr txBox="1"/>
          <p:nvPr/>
        </p:nvSpPr>
        <p:spPr>
          <a:xfrm>
            <a:off x="1157605" y="4430395"/>
            <a:ext cx="1426210" cy="460375"/>
          </a:xfrm>
          <a:prstGeom prst="rect">
            <a:avLst/>
          </a:prstGeom>
          <a:noFill/>
        </p:spPr>
        <p:txBody>
          <a:bodyPr wrap="square" rtlCol="0" anchor="t">
            <a:spAutoFit/>
          </a:bodyPr>
          <a:p>
            <a:r>
              <a:rPr lang="zh-CN" altLang="en-US" sz="2400" dirty="0">
                <a:sym typeface="+mn-ea"/>
              </a:rPr>
              <a:t>金融机构</a:t>
            </a:r>
            <a:endParaRPr lang="zh-CN" altLang="en-US" sz="2400" dirty="0">
              <a:sym typeface="+mn-ea"/>
            </a:endParaRPr>
          </a:p>
        </p:txBody>
      </p:sp>
      <p:pic>
        <p:nvPicPr>
          <p:cNvPr id="102" name="图片 101"/>
          <p:cNvPicPr/>
          <p:nvPr/>
        </p:nvPicPr>
        <p:blipFill>
          <a:blip r:embed="rId3"/>
          <a:stretch>
            <a:fillRect/>
          </a:stretch>
        </p:blipFill>
        <p:spPr>
          <a:xfrm>
            <a:off x="6523355" y="2650490"/>
            <a:ext cx="1653540" cy="1677035"/>
          </a:xfrm>
          <a:prstGeom prst="rect">
            <a:avLst/>
          </a:prstGeom>
          <a:noFill/>
          <a:ln w="9525">
            <a:noFill/>
          </a:ln>
        </p:spPr>
      </p:pic>
      <p:pic>
        <p:nvPicPr>
          <p:cNvPr id="103" name="图片 102"/>
          <p:cNvPicPr/>
          <p:nvPr/>
        </p:nvPicPr>
        <p:blipFill>
          <a:blip r:embed="rId4"/>
          <a:stretch>
            <a:fillRect/>
          </a:stretch>
        </p:blipFill>
        <p:spPr>
          <a:xfrm>
            <a:off x="8396605" y="2753995"/>
            <a:ext cx="1755140" cy="1573530"/>
          </a:xfrm>
          <a:prstGeom prst="rect">
            <a:avLst/>
          </a:prstGeom>
          <a:noFill/>
          <a:ln w="9525">
            <a:noFill/>
          </a:ln>
        </p:spPr>
      </p:pic>
      <p:sp>
        <p:nvSpPr>
          <p:cNvPr id="5" name="文本框 4"/>
          <p:cNvSpPr txBox="1"/>
          <p:nvPr/>
        </p:nvSpPr>
        <p:spPr>
          <a:xfrm>
            <a:off x="6523355" y="4484370"/>
            <a:ext cx="1480185" cy="460375"/>
          </a:xfrm>
          <a:prstGeom prst="rect">
            <a:avLst/>
          </a:prstGeom>
          <a:noFill/>
        </p:spPr>
        <p:txBody>
          <a:bodyPr wrap="square" rtlCol="0" anchor="t">
            <a:spAutoFit/>
          </a:bodyPr>
          <a:p>
            <a:r>
              <a:rPr lang="en-US" altLang="zh-CN" sz="2400" dirty="0">
                <a:sym typeface="+mn-ea"/>
              </a:rPr>
              <a:t>2010</a:t>
            </a:r>
            <a:r>
              <a:rPr lang="zh-CN" altLang="en-US" sz="2400" dirty="0">
                <a:sym typeface="+mn-ea"/>
              </a:rPr>
              <a:t>年</a:t>
            </a:r>
            <a:r>
              <a:rPr lang="en-US" altLang="zh-CN" sz="2400" dirty="0">
                <a:sym typeface="+mn-ea"/>
              </a:rPr>
              <a:t>S4</a:t>
            </a:r>
            <a:endParaRPr lang="en-US" altLang="zh-CN" sz="2400" dirty="0">
              <a:sym typeface="+mn-ea"/>
            </a:endParaRPr>
          </a:p>
        </p:txBody>
      </p:sp>
      <p:sp>
        <p:nvSpPr>
          <p:cNvPr id="6" name="文本框 5"/>
          <p:cNvSpPr txBox="1"/>
          <p:nvPr/>
        </p:nvSpPr>
        <p:spPr>
          <a:xfrm>
            <a:off x="8312150" y="4483100"/>
            <a:ext cx="1924685" cy="460375"/>
          </a:xfrm>
          <a:prstGeom prst="rect">
            <a:avLst/>
          </a:prstGeom>
          <a:noFill/>
        </p:spPr>
        <p:txBody>
          <a:bodyPr wrap="square" rtlCol="0" anchor="t">
            <a:spAutoFit/>
          </a:bodyPr>
          <a:p>
            <a:r>
              <a:rPr lang="en-US" altLang="zh-CN" sz="2400" dirty="0">
                <a:sym typeface="+mn-ea"/>
              </a:rPr>
              <a:t>2011</a:t>
            </a:r>
            <a:r>
              <a:rPr lang="zh-CN" altLang="en-US" sz="2400" dirty="0">
                <a:sym typeface="+mn-ea"/>
              </a:rPr>
              <a:t>年</a:t>
            </a:r>
            <a:r>
              <a:rPr lang="en-US" altLang="zh-CN" sz="2400" dirty="0">
                <a:sym typeface="+mn-ea"/>
              </a:rPr>
              <a:t>Storm</a:t>
            </a:r>
            <a:endParaRPr lang="en-US" altLang="zh-CN" sz="2400" dirty="0">
              <a:sym typeface="+mn-ea"/>
            </a:endParaRPr>
          </a:p>
        </p:txBody>
      </p:sp>
      <p:sp>
        <p:nvSpPr>
          <p:cNvPr id="7" name="文本框 6"/>
          <p:cNvSpPr txBox="1"/>
          <p:nvPr>
            <p:custDataLst>
              <p:tags r:id="rId5"/>
            </p:custDataLst>
          </p:nvPr>
        </p:nvSpPr>
        <p:spPr>
          <a:xfrm>
            <a:off x="1062355" y="1691005"/>
            <a:ext cx="3900170" cy="460375"/>
          </a:xfrm>
          <a:prstGeom prst="rect">
            <a:avLst/>
          </a:prstGeom>
          <a:noFill/>
        </p:spPr>
        <p:txBody>
          <a:bodyPr wrap="square" rtlCol="0" anchor="t">
            <a:spAutoFit/>
          </a:bodyPr>
          <a:p>
            <a:r>
              <a:rPr lang="zh-CN" altLang="en-US" sz="2400" dirty="0">
                <a:sym typeface="+mn-ea"/>
              </a:rPr>
              <a:t>流数据源少，系统定制</a:t>
            </a:r>
            <a:r>
              <a:rPr lang="zh-CN" altLang="en-US" sz="2400" dirty="0">
                <a:sym typeface="+mn-ea"/>
              </a:rPr>
              <a:t>昂贵</a:t>
            </a:r>
            <a:endParaRPr lang="zh-CN" altLang="en-US" sz="2400" dirty="0">
              <a:sym typeface="+mn-ea"/>
            </a:endParaRPr>
          </a:p>
        </p:txBody>
      </p:sp>
      <p:sp>
        <p:nvSpPr>
          <p:cNvPr id="8" name="文本框 7"/>
          <p:cNvSpPr txBox="1"/>
          <p:nvPr/>
        </p:nvSpPr>
        <p:spPr>
          <a:xfrm>
            <a:off x="1062355" y="5158740"/>
            <a:ext cx="3696970" cy="829945"/>
          </a:xfrm>
          <a:prstGeom prst="rect">
            <a:avLst/>
          </a:prstGeom>
          <a:noFill/>
        </p:spPr>
        <p:txBody>
          <a:bodyPr wrap="square" rtlCol="0" anchor="t">
            <a:spAutoFit/>
          </a:bodyPr>
          <a:p>
            <a:r>
              <a:rPr lang="zh-CN" altLang="en-US" sz="2400" dirty="0">
                <a:sym typeface="+mn-ea"/>
              </a:rPr>
              <a:t>研究实时数据库，</a:t>
            </a:r>
            <a:r>
              <a:rPr lang="zh-CN" altLang="en-US" sz="2400" dirty="0">
                <a:sym typeface="+mn-ea"/>
              </a:rPr>
              <a:t>即</a:t>
            </a:r>
            <a:endParaRPr lang="zh-CN" altLang="en-US" sz="2400" dirty="0">
              <a:sym typeface="+mn-ea"/>
            </a:endParaRPr>
          </a:p>
          <a:p>
            <a:r>
              <a:rPr lang="zh-CN" altLang="en-US" sz="2400" dirty="0">
                <a:sym typeface="+mn-ea"/>
              </a:rPr>
              <a:t>传统数据库处理的流式化</a:t>
            </a:r>
            <a:endParaRPr lang="zh-CN" altLang="en-US" sz="2400" dirty="0">
              <a:sym typeface="+mn-ea"/>
            </a:endParaRPr>
          </a:p>
        </p:txBody>
      </p:sp>
      <p:sp>
        <p:nvSpPr>
          <p:cNvPr id="9" name="文本框 8"/>
          <p:cNvSpPr txBox="1"/>
          <p:nvPr/>
        </p:nvSpPr>
        <p:spPr>
          <a:xfrm>
            <a:off x="6235700" y="5158740"/>
            <a:ext cx="4001135" cy="829945"/>
          </a:xfrm>
          <a:prstGeom prst="rect">
            <a:avLst/>
          </a:prstGeom>
          <a:noFill/>
        </p:spPr>
        <p:txBody>
          <a:bodyPr wrap="square" rtlCol="0" anchor="t">
            <a:spAutoFit/>
          </a:bodyPr>
          <a:p>
            <a:r>
              <a:rPr lang="zh-CN" altLang="en-US" sz="2400" dirty="0">
                <a:sym typeface="+mn-ea"/>
              </a:rPr>
              <a:t>开源流计算框架，</a:t>
            </a:r>
            <a:endParaRPr lang="zh-CN" altLang="en-US" sz="2400" dirty="0">
              <a:sym typeface="+mn-ea"/>
            </a:endParaRPr>
          </a:p>
          <a:p>
            <a:r>
              <a:rPr lang="zh-CN" altLang="en-US" sz="2400">
                <a:sym typeface="+mn-ea"/>
              </a:rPr>
              <a:t>改变了开发实时应用的方式</a:t>
            </a:r>
            <a:endParaRPr lang="zh-CN" altLang="en-US" sz="2400" dirty="0">
              <a:sym typeface="+mn-ea"/>
            </a:endParaRPr>
          </a:p>
        </p:txBody>
      </p:sp>
      <p:sp>
        <p:nvSpPr>
          <p:cNvPr id="10" name="文本框 9"/>
          <p:cNvSpPr txBox="1"/>
          <p:nvPr/>
        </p:nvSpPr>
        <p:spPr>
          <a:xfrm>
            <a:off x="6687820" y="1557655"/>
            <a:ext cx="3549015" cy="829945"/>
          </a:xfrm>
          <a:prstGeom prst="rect">
            <a:avLst/>
          </a:prstGeom>
          <a:noFill/>
        </p:spPr>
        <p:txBody>
          <a:bodyPr wrap="square" rtlCol="0" anchor="t">
            <a:spAutoFit/>
          </a:bodyPr>
          <a:p>
            <a:r>
              <a:rPr lang="zh-CN" altLang="en-US" sz="2400" dirty="0">
                <a:sym typeface="+mn-ea"/>
              </a:rPr>
              <a:t>批处理系统关注吞吐率，</a:t>
            </a:r>
            <a:endParaRPr lang="zh-CN" altLang="en-US" sz="2400" dirty="0">
              <a:sym typeface="+mn-ea"/>
            </a:endParaRPr>
          </a:p>
          <a:p>
            <a:r>
              <a:rPr lang="zh-CN" altLang="en-US" sz="2400" dirty="0">
                <a:sym typeface="+mn-ea"/>
              </a:rPr>
              <a:t>流处理系统关注延时</a:t>
            </a:r>
            <a:endParaRPr lang="zh-CN" altLang="en-US" sz="2400"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p:bldP spid="10" grpId="0"/>
      <p:bldP spid="5" grpId="1"/>
      <p:bldP spid="6" grpId="1"/>
      <p:bldP spid="9" grpId="1"/>
      <p:bldP spid="10"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标题 2"/>
          <p:cNvSpPr>
            <a:spLocks noGrp="1"/>
          </p:cNvSpPr>
          <p:nvPr>
            <p:ph type="title"/>
          </p:nvPr>
        </p:nvSpPr>
        <p:spPr/>
        <p:txBody>
          <a:bodyPr vert="horz" wrap="square" lIns="91440" tIns="45720" rIns="91440" bIns="45720" anchor="ctr" anchorCtr="0"/>
          <a:lstStyle/>
          <a:p>
            <a:pPr marL="342900" indent="-342900"/>
            <a:r>
              <a:rPr lang="en-US" altLang="zh-CN" b="1" dirty="0"/>
              <a:t>11.4.1 Storm</a:t>
            </a:r>
            <a:r>
              <a:rPr lang="zh-CN" altLang="zh-CN" b="1" dirty="0"/>
              <a:t>简介</a:t>
            </a:r>
            <a:endParaRPr lang="zh-CN" altLang="zh-CN" b="1" dirty="0"/>
          </a:p>
        </p:txBody>
      </p:sp>
      <p:sp>
        <p:nvSpPr>
          <p:cNvPr id="30722" name="内容占位符 1"/>
          <p:cNvSpPr>
            <a:spLocks noGrp="1"/>
          </p:cNvSpPr>
          <p:nvPr>
            <p:ph idx="1"/>
          </p:nvPr>
        </p:nvSpPr>
        <p:spPr>
          <a:xfrm>
            <a:off x="838200" y="1622425"/>
            <a:ext cx="10515600" cy="1724025"/>
          </a:xfrm>
        </p:spPr>
        <p:txBody>
          <a:bodyPr vert="horz" wrap="square" lIns="91440" tIns="45720" rIns="91440" bIns="45720" anchor="t" anchorCtr="0">
            <a:normAutofit lnSpcReduction="10000"/>
          </a:bodyPr>
          <a:lstStyle/>
          <a:p>
            <a:r>
              <a:rPr lang="en-US" altLang="zh-CN" sz="2400" dirty="0"/>
              <a:t>Twitter Storm</a:t>
            </a:r>
            <a:r>
              <a:rPr lang="zh-CN" altLang="zh-CN" sz="2400" dirty="0"/>
              <a:t>是一个免费、开源的分布式实时计算系统</a:t>
            </a:r>
            <a:endParaRPr lang="zh-CN" altLang="zh-CN" sz="2400" dirty="0"/>
          </a:p>
          <a:p>
            <a:r>
              <a:rPr lang="en-US" altLang="zh-CN" sz="2400" dirty="0"/>
              <a:t>Storm</a:t>
            </a:r>
            <a:r>
              <a:rPr lang="zh-CN" altLang="zh-CN" sz="2400" dirty="0"/>
              <a:t>对于实时计算的意义类似于</a:t>
            </a:r>
            <a:r>
              <a:rPr lang="en-US" altLang="zh-CN" sz="2400" dirty="0"/>
              <a:t>Hadoop</a:t>
            </a:r>
            <a:r>
              <a:rPr lang="zh-CN" altLang="zh-CN" sz="2400" dirty="0"/>
              <a:t>对于批处理的意义</a:t>
            </a:r>
            <a:endParaRPr lang="zh-CN" altLang="zh-CN" sz="2400" dirty="0"/>
          </a:p>
          <a:p>
            <a:r>
              <a:rPr lang="en-US" altLang="zh-CN" sz="2400" dirty="0"/>
              <a:t>Storm</a:t>
            </a:r>
            <a:r>
              <a:rPr lang="zh-CN" altLang="zh-CN" sz="2400" dirty="0"/>
              <a:t>可以简单、高效、可靠地处理流数据，并支持多种编程语言</a:t>
            </a:r>
            <a:endParaRPr lang="en-US" altLang="zh-CN" sz="2400" dirty="0"/>
          </a:p>
          <a:p>
            <a:r>
              <a:rPr lang="en-US" altLang="zh-CN" sz="2400" dirty="0"/>
              <a:t>Storm</a:t>
            </a:r>
            <a:r>
              <a:rPr lang="zh-CN" altLang="zh-CN" sz="2400" dirty="0"/>
              <a:t>框架可方便地与数据库系统整合，从而开发出强大的实时计算系统</a:t>
            </a:r>
            <a:endParaRPr lang="en-US" altLang="zh-CN" sz="2400" dirty="0"/>
          </a:p>
          <a:p>
            <a:endParaRPr lang="en-US" altLang="zh-CN" sz="2400" dirty="0"/>
          </a:p>
        </p:txBody>
      </p:sp>
      <p:sp>
        <p:nvSpPr>
          <p:cNvPr id="31748" name="文本框 9"/>
          <p:cNvSpPr txBox="1"/>
          <p:nvPr/>
        </p:nvSpPr>
        <p:spPr>
          <a:xfrm>
            <a:off x="3861435" y="6293485"/>
            <a:ext cx="3823335" cy="460375"/>
          </a:xfrm>
          <a:prstGeom prst="rect">
            <a:avLst/>
          </a:prstGeom>
          <a:noFill/>
          <a:ln w="9525">
            <a:noFill/>
          </a:ln>
        </p:spPr>
        <p:txBody>
          <a:bodyPr wrap="none">
            <a:spAutoFit/>
          </a:bodyPr>
          <a:p>
            <a:r>
              <a:rPr lang="en-US" altLang="zh-CN" sz="2400" dirty="0">
                <a:latin typeface="Arial" panose="020B0604020202020204" pitchFamily="34" charset="0"/>
              </a:rPr>
              <a:t>Twitter</a:t>
            </a:r>
            <a:r>
              <a:rPr lang="zh-CN" altLang="zh-CN" sz="2400" dirty="0">
                <a:latin typeface="Arial" panose="020B0604020202020204" pitchFamily="34" charset="0"/>
              </a:rPr>
              <a:t>的分层数据处理架构</a:t>
            </a:r>
            <a:endParaRPr lang="zh-CN" altLang="zh-CN" sz="2400" dirty="0">
              <a:latin typeface="Arial" panose="020B0604020202020204" pitchFamily="34" charset="0"/>
            </a:endParaRPr>
          </a:p>
        </p:txBody>
      </p:sp>
      <p:pic>
        <p:nvPicPr>
          <p:cNvPr id="31749" name="Picture 7"/>
          <p:cNvPicPr>
            <a:picLocks noChangeAspect="1"/>
          </p:cNvPicPr>
          <p:nvPr/>
        </p:nvPicPr>
        <p:blipFill>
          <a:blip r:embed="rId1"/>
          <a:stretch>
            <a:fillRect/>
          </a:stretch>
        </p:blipFill>
        <p:spPr>
          <a:xfrm>
            <a:off x="2893060" y="3429000"/>
            <a:ext cx="5759450" cy="278193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7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p:bldP spid="31748"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2"/>
          <p:cNvSpPr>
            <a:spLocks noGrp="1"/>
          </p:cNvSpPr>
          <p:nvPr>
            <p:ph type="title"/>
          </p:nvPr>
        </p:nvSpPr>
        <p:spPr/>
        <p:txBody>
          <a:bodyPr vert="horz" wrap="square" lIns="91440" tIns="45720" rIns="91440" bIns="45720" anchor="ctr" anchorCtr="0"/>
          <a:lstStyle/>
          <a:p>
            <a:pPr marL="342900" indent="-342900"/>
            <a:r>
              <a:rPr lang="en-US" altLang="zh-CN" b="1" dirty="0"/>
              <a:t>11.4.2 Storm</a:t>
            </a:r>
            <a:r>
              <a:rPr lang="zh-CN" altLang="en-US" b="1" dirty="0"/>
              <a:t>的特点</a:t>
            </a:r>
            <a:endParaRPr lang="zh-CN" altLang="zh-CN" b="1" dirty="0"/>
          </a:p>
        </p:txBody>
      </p:sp>
      <p:sp>
        <p:nvSpPr>
          <p:cNvPr id="32771" name="内容占位符 1"/>
          <p:cNvSpPr>
            <a:spLocks noGrp="1"/>
          </p:cNvSpPr>
          <p:nvPr>
            <p:ph idx="1"/>
          </p:nvPr>
        </p:nvSpPr>
        <p:spPr>
          <a:xfrm>
            <a:off x="838200" y="1690370"/>
            <a:ext cx="10515600" cy="4799965"/>
          </a:xfrm>
        </p:spPr>
        <p:txBody>
          <a:bodyPr vert="horz" wrap="square" lIns="91440" tIns="45720" rIns="91440" bIns="45720" anchor="t" anchorCtr="0">
            <a:normAutofit fontScale="90000" lnSpcReduction="10000"/>
          </a:bodyPr>
          <a:lstStyle/>
          <a:p>
            <a:pPr marL="0" indent="0">
              <a:lnSpc>
                <a:spcPct val="110000"/>
              </a:lnSpc>
              <a:buNone/>
            </a:pPr>
            <a:r>
              <a:rPr lang="zh-CN" altLang="zh-CN" sz="2400" dirty="0">
                <a:sym typeface="+mn-ea"/>
              </a:rPr>
              <a:t>免费、开源：Storm是一款开源框架，可以免费使用</a:t>
            </a:r>
            <a:endParaRPr lang="zh-CN" altLang="zh-CN" sz="2400" dirty="0"/>
          </a:p>
          <a:p>
            <a:pPr marL="0" indent="0">
              <a:lnSpc>
                <a:spcPct val="110000"/>
              </a:lnSpc>
              <a:buNone/>
            </a:pPr>
            <a:r>
              <a:rPr lang="zh-CN" altLang="zh-CN" sz="2400" dirty="0">
                <a:sym typeface="+mn-ea"/>
              </a:rPr>
              <a:t>快速部署：Storm可以快速进行部署和使用</a:t>
            </a:r>
            <a:endParaRPr lang="zh-CN" altLang="zh-CN" sz="2400" dirty="0">
              <a:sym typeface="+mn-ea"/>
            </a:endParaRPr>
          </a:p>
          <a:p>
            <a:pPr marL="0" indent="0">
              <a:lnSpc>
                <a:spcPct val="110000"/>
              </a:lnSpc>
              <a:buNone/>
            </a:pPr>
            <a:endParaRPr lang="zh-CN" altLang="zh-CN" sz="2400" dirty="0"/>
          </a:p>
          <a:p>
            <a:pPr marL="0" indent="0">
              <a:lnSpc>
                <a:spcPct val="110000"/>
              </a:lnSpc>
              <a:buNone/>
            </a:pPr>
            <a:r>
              <a:rPr lang="zh-CN" altLang="zh-CN" sz="2400" dirty="0"/>
              <a:t>简易的API：Storm的API在使用上即简单又方便</a:t>
            </a:r>
            <a:endParaRPr lang="zh-CN" altLang="zh-CN" sz="2400" dirty="0"/>
          </a:p>
          <a:p>
            <a:pPr marL="0" indent="0">
              <a:lnSpc>
                <a:spcPct val="110000"/>
              </a:lnSpc>
              <a:buNone/>
            </a:pPr>
            <a:r>
              <a:rPr lang="zh-CN" altLang="zh-CN" sz="2400" dirty="0">
                <a:sym typeface="+mn-ea"/>
              </a:rPr>
              <a:t>支持各种编程语言：Storm支持使用各种编程语言来定义任务</a:t>
            </a:r>
            <a:endParaRPr lang="zh-CN" altLang="zh-CN" sz="2400" dirty="0">
              <a:sym typeface="+mn-ea"/>
            </a:endParaRPr>
          </a:p>
          <a:p>
            <a:pPr marL="0" indent="0">
              <a:lnSpc>
                <a:spcPct val="110000"/>
              </a:lnSpc>
              <a:buNone/>
            </a:pPr>
            <a:r>
              <a:rPr lang="zh-CN" altLang="zh-CN" sz="2400" dirty="0">
                <a:sym typeface="+mn-ea"/>
              </a:rPr>
              <a:t>整合性：Storm可方便地与队列系统和数据库系统进行整合</a:t>
            </a:r>
            <a:endParaRPr lang="zh-CN" altLang="zh-CN" sz="2400" dirty="0">
              <a:sym typeface="+mn-ea"/>
            </a:endParaRPr>
          </a:p>
          <a:p>
            <a:pPr marL="0" indent="0">
              <a:lnSpc>
                <a:spcPct val="110000"/>
              </a:lnSpc>
              <a:buNone/>
            </a:pPr>
            <a:endParaRPr lang="zh-CN" altLang="zh-CN" sz="2400" dirty="0"/>
          </a:p>
          <a:p>
            <a:pPr marL="0" indent="0">
              <a:lnSpc>
                <a:spcPct val="110000"/>
              </a:lnSpc>
              <a:buNone/>
            </a:pPr>
            <a:r>
              <a:rPr lang="zh-CN" altLang="zh-CN" sz="2400" dirty="0"/>
              <a:t>可扩展性：Storm的并行特性使其可以运行在分布式集群中</a:t>
            </a:r>
            <a:endParaRPr lang="zh-CN" altLang="zh-CN" sz="2400" dirty="0"/>
          </a:p>
          <a:p>
            <a:pPr marL="0" indent="0">
              <a:lnSpc>
                <a:spcPct val="110000"/>
              </a:lnSpc>
              <a:buNone/>
            </a:pPr>
            <a:r>
              <a:rPr lang="zh-CN" altLang="zh-CN" sz="2400" dirty="0"/>
              <a:t>容错性：Storm可自动进行故障节点的重启、任务的重新分配</a:t>
            </a:r>
            <a:endParaRPr lang="zh-CN" altLang="zh-CN" sz="2400" dirty="0"/>
          </a:p>
          <a:p>
            <a:pPr marL="0" indent="0">
              <a:lnSpc>
                <a:spcPct val="110000"/>
              </a:lnSpc>
              <a:buNone/>
            </a:pPr>
            <a:r>
              <a:rPr lang="zh-CN" altLang="zh-CN" sz="2400" dirty="0"/>
              <a:t>可靠的消息处理：Storm保证每个消息都能完整处理</a:t>
            </a:r>
            <a:endParaRPr lang="zh-CN" altLang="zh-CN" sz="2400" dirty="0"/>
          </a:p>
          <a:p>
            <a:pPr marL="0" indent="0">
              <a:lnSpc>
                <a:spcPct val="110000"/>
              </a:lnSpc>
              <a:buNone/>
            </a:pPr>
            <a:endParaRPr lang="zh-CN"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771">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771">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1">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771">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77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2"/>
          <p:cNvSpPr>
            <a:spLocks noGrp="1"/>
          </p:cNvSpPr>
          <p:nvPr>
            <p:ph type="title"/>
          </p:nvPr>
        </p:nvSpPr>
        <p:spPr/>
        <p:txBody>
          <a:bodyPr vert="horz" wrap="square" lIns="91440" tIns="45720" rIns="91440" bIns="45720" anchor="ctr" anchorCtr="0"/>
          <a:lstStyle/>
          <a:p>
            <a:pPr marL="342900" indent="-342900"/>
            <a:r>
              <a:rPr lang="en-US" altLang="zh-CN" b="1" dirty="0"/>
              <a:t>11.4.3 Storm</a:t>
            </a:r>
            <a:r>
              <a:rPr lang="zh-CN" altLang="en-US" b="1" dirty="0"/>
              <a:t>设计思想</a:t>
            </a:r>
            <a:endParaRPr lang="zh-CN" altLang="zh-CN" b="1" dirty="0"/>
          </a:p>
        </p:txBody>
      </p:sp>
      <p:sp>
        <p:nvSpPr>
          <p:cNvPr id="33795" name="内容占位符 1"/>
          <p:cNvSpPr>
            <a:spLocks noGrp="1"/>
          </p:cNvSpPr>
          <p:nvPr>
            <p:ph idx="1"/>
          </p:nvPr>
        </p:nvSpPr>
        <p:spPr/>
        <p:txBody>
          <a:bodyPr vert="horz" wrap="square" lIns="91440" tIns="45720" rIns="91440" bIns="45720" anchor="t" anchorCtr="0">
            <a:normAutofit lnSpcReduction="10000"/>
          </a:bodyPr>
          <a:lstStyle/>
          <a:p>
            <a:pPr marL="0" indent="0">
              <a:lnSpc>
                <a:spcPct val="150000"/>
              </a:lnSpc>
              <a:buNone/>
            </a:pPr>
            <a:r>
              <a:rPr lang="en-US" altLang="zh-CN" dirty="0"/>
              <a:t>Storm</a:t>
            </a:r>
            <a:r>
              <a:rPr lang="zh-CN" altLang="zh-CN" dirty="0"/>
              <a:t>主要术语包括：</a:t>
            </a:r>
            <a:endParaRPr lang="zh-CN" altLang="zh-CN" dirty="0"/>
          </a:p>
          <a:p>
            <a:pPr>
              <a:lnSpc>
                <a:spcPct val="150000"/>
              </a:lnSpc>
            </a:pPr>
            <a:r>
              <a:rPr lang="en-US" altLang="zh-CN" b="1" dirty="0"/>
              <a:t>Streams</a:t>
            </a:r>
            <a:endParaRPr lang="zh-CN" altLang="zh-CN" b="1" dirty="0"/>
          </a:p>
          <a:p>
            <a:pPr>
              <a:lnSpc>
                <a:spcPct val="150000"/>
              </a:lnSpc>
            </a:pPr>
            <a:r>
              <a:rPr lang="en-US" altLang="zh-CN" b="1" dirty="0"/>
              <a:t>Spouts</a:t>
            </a:r>
            <a:endParaRPr lang="zh-CN" altLang="zh-CN" b="1" dirty="0"/>
          </a:p>
          <a:p>
            <a:pPr>
              <a:lnSpc>
                <a:spcPct val="150000"/>
              </a:lnSpc>
            </a:pPr>
            <a:r>
              <a:rPr lang="en-US" altLang="zh-CN" b="1" dirty="0"/>
              <a:t>Bolts</a:t>
            </a:r>
            <a:endParaRPr lang="zh-CN" altLang="zh-CN" b="1" dirty="0"/>
          </a:p>
          <a:p>
            <a:pPr>
              <a:lnSpc>
                <a:spcPct val="150000"/>
              </a:lnSpc>
            </a:pPr>
            <a:r>
              <a:rPr lang="en-US" altLang="zh-CN" b="1" dirty="0"/>
              <a:t>Topology</a:t>
            </a:r>
            <a:endParaRPr lang="en-US" altLang="zh-CN" b="1" dirty="0"/>
          </a:p>
          <a:p>
            <a:pPr>
              <a:lnSpc>
                <a:spcPct val="150000"/>
              </a:lnSpc>
            </a:pPr>
            <a:r>
              <a:rPr lang="en-US" altLang="zh-CN" b="1" dirty="0"/>
              <a:t>Stream Groupings</a:t>
            </a:r>
            <a:endParaRPr lang="en-US" altLang="zh-CN" b="1" dirty="0"/>
          </a:p>
          <a:p>
            <a:endParaRPr lang="en-US" altLang="zh-CN"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2"/>
          <p:cNvSpPr>
            <a:spLocks noGrp="1"/>
          </p:cNvSpPr>
          <p:nvPr>
            <p:ph type="title"/>
          </p:nvPr>
        </p:nvSpPr>
        <p:spPr/>
        <p:txBody>
          <a:bodyPr vert="horz" wrap="square" lIns="91440" tIns="45720" rIns="91440" bIns="45720" anchor="ctr" anchorCtr="0"/>
          <a:lstStyle/>
          <a:p>
            <a:pPr marL="342900" indent="-342900"/>
            <a:r>
              <a:rPr lang="en-US" altLang="zh-CN" b="1" dirty="0"/>
              <a:t>11.4.3 Storm</a:t>
            </a:r>
            <a:r>
              <a:rPr lang="zh-CN" altLang="en-US" b="1" dirty="0"/>
              <a:t>设计思想</a:t>
            </a:r>
            <a:endParaRPr lang="zh-CN" altLang="zh-CN" b="1" dirty="0"/>
          </a:p>
        </p:txBody>
      </p:sp>
      <p:sp>
        <p:nvSpPr>
          <p:cNvPr id="33795" name="内容占位符 1"/>
          <p:cNvSpPr>
            <a:spLocks noGrp="1"/>
          </p:cNvSpPr>
          <p:nvPr>
            <p:ph idx="1"/>
          </p:nvPr>
        </p:nvSpPr>
        <p:spPr>
          <a:xfrm>
            <a:off x="838200" y="1691005"/>
            <a:ext cx="10515600" cy="850900"/>
          </a:xfrm>
        </p:spPr>
        <p:txBody>
          <a:bodyPr vert="horz" wrap="square" lIns="91440" tIns="45720" rIns="91440" bIns="45720" anchor="t" anchorCtr="0">
            <a:normAutofit lnSpcReduction="10000"/>
          </a:bodyPr>
          <a:lstStyle/>
          <a:p>
            <a:r>
              <a:rPr lang="en-US" altLang="zh-CN" sz="2400" b="1" dirty="0"/>
              <a:t>Streams</a:t>
            </a:r>
            <a:r>
              <a:rPr lang="zh-CN" altLang="en-US" sz="2400" b="1" dirty="0"/>
              <a:t>：</a:t>
            </a:r>
            <a:r>
              <a:rPr lang="en-US" altLang="zh-CN" sz="2400" dirty="0"/>
              <a:t>Storm</a:t>
            </a:r>
            <a:r>
              <a:rPr lang="zh-CN" altLang="en-US" sz="2400" dirty="0"/>
              <a:t>将</a:t>
            </a:r>
            <a:r>
              <a:rPr lang="zh-CN" altLang="zh-CN" sz="2400" dirty="0"/>
              <a:t>流数据</a:t>
            </a:r>
            <a:r>
              <a:rPr lang="en-US" altLang="zh-CN" sz="2400" dirty="0"/>
              <a:t>Stream</a:t>
            </a:r>
            <a:r>
              <a:rPr lang="zh-CN" altLang="en-US" sz="2400" dirty="0"/>
              <a:t>描述成</a:t>
            </a:r>
            <a:r>
              <a:rPr lang="zh-CN" altLang="zh-CN" sz="2400" dirty="0"/>
              <a:t>一个无限的</a:t>
            </a:r>
            <a:r>
              <a:rPr lang="en-US" altLang="zh-CN" sz="2400" dirty="0"/>
              <a:t>Tuple</a:t>
            </a:r>
            <a:r>
              <a:rPr lang="zh-CN" altLang="zh-CN" sz="2400" dirty="0"/>
              <a:t>序列</a:t>
            </a:r>
            <a:r>
              <a:rPr lang="zh-CN" altLang="en-US" sz="2400" dirty="0"/>
              <a:t>，</a:t>
            </a:r>
            <a:r>
              <a:rPr lang="zh-CN" altLang="zh-CN" sz="2400" dirty="0"/>
              <a:t>这些</a:t>
            </a:r>
            <a:r>
              <a:rPr lang="en-US" altLang="zh-CN" sz="2400" dirty="0"/>
              <a:t>Tuple</a:t>
            </a:r>
            <a:r>
              <a:rPr lang="zh-CN" altLang="zh-CN" sz="2400" dirty="0"/>
              <a:t>序列会以分布式的方式并行地创建和处理</a:t>
            </a:r>
            <a:endParaRPr lang="zh-CN" altLang="zh-CN" sz="2400" dirty="0"/>
          </a:p>
          <a:p>
            <a:endParaRPr lang="zh-CN" altLang="zh-CN" sz="2400" dirty="0"/>
          </a:p>
        </p:txBody>
      </p:sp>
      <p:pic>
        <p:nvPicPr>
          <p:cNvPr id="33796" name="Picture 6"/>
          <p:cNvPicPr>
            <a:picLocks noChangeAspect="1"/>
          </p:cNvPicPr>
          <p:nvPr/>
        </p:nvPicPr>
        <p:blipFill>
          <a:blip r:embed="rId1"/>
          <a:stretch>
            <a:fillRect/>
          </a:stretch>
        </p:blipFill>
        <p:spPr>
          <a:xfrm>
            <a:off x="3048000" y="2541905"/>
            <a:ext cx="6172200" cy="1901825"/>
          </a:xfrm>
          <a:prstGeom prst="rect">
            <a:avLst/>
          </a:prstGeom>
          <a:noFill/>
          <a:ln w="9525">
            <a:noFill/>
          </a:ln>
        </p:spPr>
      </p:pic>
      <p:sp>
        <p:nvSpPr>
          <p:cNvPr id="33797" name="矩形 4"/>
          <p:cNvSpPr/>
          <p:nvPr/>
        </p:nvSpPr>
        <p:spPr>
          <a:xfrm>
            <a:off x="838200" y="4874260"/>
            <a:ext cx="10397490" cy="1014730"/>
          </a:xfrm>
          <a:prstGeom prst="rect">
            <a:avLst/>
          </a:prstGeom>
          <a:noFill/>
          <a:ln w="9525">
            <a:noFill/>
          </a:ln>
        </p:spPr>
        <p:txBody>
          <a:bodyPr wrap="square">
            <a:spAutoFit/>
          </a:bodyPr>
          <a:lstStyle/>
          <a:p>
            <a:pPr>
              <a:buFont typeface="Arial" panose="020B0604020202020204" pitchFamily="34" charset="0"/>
              <a:buChar char="•"/>
            </a:pPr>
            <a:r>
              <a:rPr lang="zh-CN" altLang="en-US" sz="2000" dirty="0">
                <a:latin typeface="Arial" panose="020B0604020202020204" pitchFamily="34" charset="0"/>
              </a:rPr>
              <a:t>每个</a:t>
            </a:r>
            <a:r>
              <a:rPr lang="en-US" altLang="zh-CN" sz="2000" dirty="0">
                <a:latin typeface="Arial" panose="020B0604020202020204" pitchFamily="34" charset="0"/>
              </a:rPr>
              <a:t>tuple</a:t>
            </a:r>
            <a:r>
              <a:rPr lang="zh-CN" altLang="en-US" sz="2000" dirty="0">
                <a:latin typeface="Arial" panose="020B0604020202020204" pitchFamily="34" charset="0"/>
              </a:rPr>
              <a:t>是一堆值，每个值有一个名字，并且每个值可以是任何类型</a:t>
            </a:r>
            <a:endParaRPr lang="en-US" altLang="zh-CN" sz="2000" dirty="0">
              <a:latin typeface="Arial" panose="020B0604020202020204" pitchFamily="34" charset="0"/>
            </a:endParaRPr>
          </a:p>
          <a:p>
            <a:pPr>
              <a:buFont typeface="Arial" panose="020B0604020202020204" pitchFamily="34" charset="0"/>
              <a:buChar char="•"/>
            </a:pPr>
            <a:r>
              <a:rPr lang="en-US" altLang="zh-CN" sz="2000" dirty="0">
                <a:latin typeface="Arial" panose="020B0604020202020204" pitchFamily="34" charset="0"/>
              </a:rPr>
              <a:t>Tuple</a:t>
            </a:r>
            <a:r>
              <a:rPr lang="zh-CN" altLang="en-US" sz="2000" dirty="0">
                <a:latin typeface="Arial" panose="020B0604020202020204" pitchFamily="34" charset="0"/>
              </a:rPr>
              <a:t>本来应该是一个</a:t>
            </a:r>
            <a:r>
              <a:rPr lang="en-US" altLang="zh-CN" sz="2000" dirty="0">
                <a:latin typeface="Arial" panose="020B0604020202020204" pitchFamily="34" charset="0"/>
              </a:rPr>
              <a:t>Key-Value</a:t>
            </a:r>
            <a:r>
              <a:rPr lang="zh-CN" altLang="en-US" sz="2000" dirty="0">
                <a:latin typeface="Arial" panose="020B0604020202020204" pitchFamily="34" charset="0"/>
              </a:rPr>
              <a:t>的</a:t>
            </a:r>
            <a:r>
              <a:rPr lang="en-US" altLang="zh-CN" sz="2000" dirty="0">
                <a:latin typeface="Arial" panose="020B0604020202020204" pitchFamily="34" charset="0"/>
              </a:rPr>
              <a:t>Map</a:t>
            </a:r>
            <a:r>
              <a:rPr lang="zh-CN" altLang="en-US" sz="2000" dirty="0">
                <a:latin typeface="Arial" panose="020B0604020202020204" pitchFamily="34" charset="0"/>
              </a:rPr>
              <a:t>，由于各个组件间传递的</a:t>
            </a:r>
            <a:r>
              <a:rPr lang="en-US" altLang="zh-CN" sz="2000" dirty="0">
                <a:latin typeface="Arial" panose="020B0604020202020204" pitchFamily="34" charset="0"/>
              </a:rPr>
              <a:t>tuple</a:t>
            </a:r>
            <a:r>
              <a:rPr lang="zh-CN" altLang="en-US" sz="2000" dirty="0">
                <a:latin typeface="Arial" panose="020B0604020202020204" pitchFamily="34" charset="0"/>
              </a:rPr>
              <a:t>的字段名称已经事先定义好了，所以</a:t>
            </a:r>
            <a:r>
              <a:rPr lang="en-US" altLang="zh-CN" sz="2000" dirty="0">
                <a:latin typeface="Arial" panose="020B0604020202020204" pitchFamily="34" charset="0"/>
              </a:rPr>
              <a:t>Tuple</a:t>
            </a:r>
            <a:r>
              <a:rPr lang="zh-CN" altLang="en-US" sz="2000" dirty="0">
                <a:latin typeface="Arial" panose="020B0604020202020204" pitchFamily="34" charset="0"/>
              </a:rPr>
              <a:t>只需要按序填入各个</a:t>
            </a:r>
            <a:r>
              <a:rPr lang="en-US" altLang="zh-CN" sz="2000" dirty="0">
                <a:latin typeface="Arial" panose="020B0604020202020204" pitchFamily="34" charset="0"/>
              </a:rPr>
              <a:t>Value</a:t>
            </a:r>
            <a:r>
              <a:rPr lang="zh-CN" altLang="en-US" sz="2000" dirty="0">
                <a:latin typeface="Arial" panose="020B0604020202020204" pitchFamily="34" charset="0"/>
              </a:rPr>
              <a:t>，所以就是一个</a:t>
            </a:r>
            <a:r>
              <a:rPr lang="en-US" altLang="zh-CN" sz="2000" dirty="0">
                <a:latin typeface="Arial" panose="020B0604020202020204" pitchFamily="34" charset="0"/>
              </a:rPr>
              <a:t>Value List</a:t>
            </a:r>
            <a:r>
              <a:rPr lang="zh-CN" altLang="en-US" sz="2000" dirty="0">
                <a:latin typeface="Arial" panose="020B0604020202020204" pitchFamily="34" charset="0"/>
              </a:rPr>
              <a:t>（值列表）</a:t>
            </a:r>
            <a:endParaRPr lang="zh-CN" altLang="en-US" sz="2000" dirty="0">
              <a:latin typeface="Arial" panose="020B0604020202020204" pitchFamily="34" charset="0"/>
            </a:endParaRPr>
          </a:p>
        </p:txBody>
      </p:sp>
      <p:graphicFrame>
        <p:nvGraphicFramePr>
          <p:cNvPr id="7" name="表格 6"/>
          <p:cNvGraphicFramePr>
            <a:graphicFrameLocks noGrp="1"/>
          </p:cNvGraphicFramePr>
          <p:nvPr/>
        </p:nvGraphicFramePr>
        <p:xfrm>
          <a:off x="3124200" y="6096000"/>
          <a:ext cx="6096000" cy="371475"/>
        </p:xfrm>
        <a:graphic>
          <a:graphicData uri="http://schemas.openxmlformats.org/drawingml/2006/table">
            <a:tbl>
              <a:tblPr firstRow="1" bandRow="1">
                <a:tableStyleId>{5C22544A-7EE6-4342-B048-85BDC9FD1C3A}</a:tableStyleId>
              </a:tblPr>
              <a:tblGrid>
                <a:gridCol w="1524000"/>
                <a:gridCol w="1524000"/>
                <a:gridCol w="1524000"/>
                <a:gridCol w="1524000"/>
              </a:tblGrid>
              <a:tr h="371475">
                <a:tc>
                  <a:txBody>
                    <a:bodyPr/>
                    <a:lstStyle/>
                    <a:p>
                      <a:pPr algn="ctr"/>
                      <a:r>
                        <a:rPr lang="en-US" altLang="zh-CN" dirty="0">
                          <a:solidFill>
                            <a:schemeClr val="tx1"/>
                          </a:solidFill>
                        </a:rPr>
                        <a:t>Field1</a:t>
                      </a:r>
                      <a:endParaRPr lang="zh-CN" altLang="en-US" dirty="0">
                        <a:solidFill>
                          <a:schemeClr val="tx1"/>
                        </a:solidFill>
                      </a:endParaRPr>
                    </a:p>
                  </a:txBody>
                  <a:tcPr/>
                </a:tc>
                <a:tc>
                  <a:txBody>
                    <a:bodyPr/>
                    <a:lstStyle/>
                    <a:p>
                      <a:pPr algn="ctr"/>
                      <a:r>
                        <a:rPr lang="en-US" altLang="zh-CN" dirty="0">
                          <a:solidFill>
                            <a:schemeClr val="tx1"/>
                          </a:solidFill>
                        </a:rPr>
                        <a:t>Field2</a:t>
                      </a:r>
                      <a:endParaRPr lang="zh-CN" altLang="en-US" dirty="0">
                        <a:solidFill>
                          <a:schemeClr val="tx1"/>
                        </a:solidFill>
                      </a:endParaRPr>
                    </a:p>
                  </a:txBody>
                  <a:tcPr/>
                </a:tc>
                <a:tc>
                  <a:txBody>
                    <a:bodyPr/>
                    <a:lstStyle/>
                    <a:p>
                      <a:pPr algn="ctr"/>
                      <a:r>
                        <a:rPr lang="en-US" altLang="zh-CN" dirty="0">
                          <a:solidFill>
                            <a:schemeClr val="tx1"/>
                          </a:solidFill>
                        </a:rPr>
                        <a:t>Field3</a:t>
                      </a:r>
                      <a:endParaRPr lang="zh-CN" altLang="en-US" dirty="0">
                        <a:solidFill>
                          <a:schemeClr val="tx1"/>
                        </a:solidFill>
                      </a:endParaRPr>
                    </a:p>
                  </a:txBody>
                  <a:tcPr/>
                </a:tc>
                <a:tc>
                  <a:txBody>
                    <a:bodyPr/>
                    <a:lstStyle/>
                    <a:p>
                      <a:pPr algn="ctr"/>
                      <a:r>
                        <a:rPr lang="en-US" altLang="zh-CN" dirty="0">
                          <a:solidFill>
                            <a:schemeClr val="tx1"/>
                          </a:solidFill>
                        </a:rPr>
                        <a:t>Field4</a:t>
                      </a:r>
                      <a:endParaRPr lang="zh-CN" altLang="en-US" dirty="0">
                        <a:solidFill>
                          <a:schemeClr val="tx1"/>
                        </a:solidFill>
                      </a:endParaRPr>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p:bldP spid="33797"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2"/>
          <p:cNvSpPr>
            <a:spLocks noGrp="1"/>
          </p:cNvSpPr>
          <p:nvPr>
            <p:ph type="title"/>
          </p:nvPr>
        </p:nvSpPr>
        <p:spPr/>
        <p:txBody>
          <a:bodyPr vert="horz" wrap="square" lIns="91440" tIns="45720" rIns="91440" bIns="45720" anchor="ctr" anchorCtr="0"/>
          <a:lstStyle/>
          <a:p>
            <a:pPr marL="342900" indent="-342900"/>
            <a:r>
              <a:rPr lang="en-US" altLang="zh-CN" b="1" dirty="0"/>
              <a:t>11.4.3 Storm</a:t>
            </a:r>
            <a:r>
              <a:rPr lang="zh-CN" altLang="en-US" b="1" dirty="0"/>
              <a:t>设计思想</a:t>
            </a:r>
            <a:endParaRPr lang="zh-CN" altLang="zh-CN" b="1" dirty="0"/>
          </a:p>
        </p:txBody>
      </p:sp>
      <p:sp>
        <p:nvSpPr>
          <p:cNvPr id="34819" name="内容占位符 1"/>
          <p:cNvSpPr>
            <a:spLocks noGrp="1"/>
          </p:cNvSpPr>
          <p:nvPr>
            <p:ph idx="1"/>
          </p:nvPr>
        </p:nvSpPr>
        <p:spPr>
          <a:xfrm>
            <a:off x="838200" y="1825625"/>
            <a:ext cx="10515600" cy="1546225"/>
          </a:xfrm>
        </p:spPr>
        <p:txBody>
          <a:bodyPr vert="horz" wrap="square" lIns="91440" tIns="45720" rIns="91440" bIns="45720" anchor="t" anchorCtr="0"/>
          <a:lstStyle/>
          <a:p>
            <a:r>
              <a:rPr lang="en-US" altLang="zh-CN" sz="2400" b="1" dirty="0"/>
              <a:t>Spout</a:t>
            </a:r>
            <a:r>
              <a:rPr lang="zh-CN" altLang="en-US" sz="2400" b="1" dirty="0"/>
              <a:t>：</a:t>
            </a:r>
            <a:r>
              <a:rPr lang="en-US" altLang="zh-CN" sz="2400" dirty="0"/>
              <a:t>Storm</a:t>
            </a:r>
            <a:r>
              <a:rPr lang="zh-CN" altLang="zh-CN" sz="2400" dirty="0"/>
              <a:t>认为每个</a:t>
            </a:r>
            <a:r>
              <a:rPr lang="en-US" altLang="zh-CN" sz="2400" dirty="0"/>
              <a:t>Stream</a:t>
            </a:r>
            <a:r>
              <a:rPr lang="zh-CN" altLang="zh-CN" sz="2400" dirty="0"/>
              <a:t>都有一个源头，并把这个源头抽象为</a:t>
            </a:r>
            <a:r>
              <a:rPr lang="en-US" altLang="zh-CN" sz="2400" dirty="0"/>
              <a:t>Spout</a:t>
            </a:r>
            <a:endParaRPr lang="en-US" altLang="zh-CN" sz="2400" dirty="0"/>
          </a:p>
          <a:p>
            <a:r>
              <a:rPr lang="zh-CN" altLang="en-US" sz="2400" dirty="0"/>
              <a:t>通常</a:t>
            </a:r>
            <a:r>
              <a:rPr lang="en-US" altLang="zh-CN" sz="2400" dirty="0"/>
              <a:t>Spout</a:t>
            </a:r>
            <a:r>
              <a:rPr lang="zh-CN" altLang="en-US" sz="2400" dirty="0"/>
              <a:t>会从外部数据源（队列、数据库等）读取数据，然后封装成</a:t>
            </a:r>
            <a:r>
              <a:rPr lang="en-US" altLang="zh-CN" sz="2400" dirty="0"/>
              <a:t>Tuple</a:t>
            </a:r>
            <a:r>
              <a:rPr lang="zh-CN" altLang="en-US" sz="2400" dirty="0"/>
              <a:t>形式，发送到</a:t>
            </a:r>
            <a:r>
              <a:rPr lang="en-US" altLang="zh-CN" sz="2400" dirty="0"/>
              <a:t>Stream</a:t>
            </a:r>
            <a:r>
              <a:rPr lang="zh-CN" altLang="en-US" sz="2400" dirty="0"/>
              <a:t>中。</a:t>
            </a:r>
            <a:endParaRPr lang="zh-CN" altLang="en-US" sz="2400" dirty="0"/>
          </a:p>
        </p:txBody>
      </p:sp>
      <p:pic>
        <p:nvPicPr>
          <p:cNvPr id="34820" name="Picture 6"/>
          <p:cNvPicPr>
            <a:picLocks noChangeAspect="1"/>
          </p:cNvPicPr>
          <p:nvPr/>
        </p:nvPicPr>
        <p:blipFill>
          <a:blip r:embed="rId1"/>
          <a:stretch>
            <a:fillRect/>
          </a:stretch>
        </p:blipFill>
        <p:spPr>
          <a:xfrm>
            <a:off x="3048000" y="4114800"/>
            <a:ext cx="6215063" cy="1965325"/>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2"/>
          <p:cNvSpPr>
            <a:spLocks noGrp="1"/>
          </p:cNvSpPr>
          <p:nvPr>
            <p:ph type="title"/>
          </p:nvPr>
        </p:nvSpPr>
        <p:spPr/>
        <p:txBody>
          <a:bodyPr vert="horz" wrap="square" lIns="91440" tIns="45720" rIns="91440" bIns="45720" anchor="ctr" anchorCtr="0"/>
          <a:lstStyle/>
          <a:p>
            <a:pPr marL="342900" indent="-342900"/>
            <a:r>
              <a:rPr lang="en-US" altLang="zh-CN" b="1" dirty="0"/>
              <a:t>11.4.3 Storm</a:t>
            </a:r>
            <a:r>
              <a:rPr lang="zh-CN" altLang="en-US" b="1" dirty="0"/>
              <a:t>设计思想</a:t>
            </a:r>
            <a:endParaRPr lang="zh-CN" altLang="zh-CN" b="1" dirty="0"/>
          </a:p>
        </p:txBody>
      </p:sp>
      <p:sp>
        <p:nvSpPr>
          <p:cNvPr id="35843" name="内容占位符 1"/>
          <p:cNvSpPr>
            <a:spLocks noGrp="1"/>
          </p:cNvSpPr>
          <p:nvPr>
            <p:ph idx="1"/>
          </p:nvPr>
        </p:nvSpPr>
        <p:spPr/>
        <p:txBody>
          <a:bodyPr vert="horz" wrap="square" lIns="91440" tIns="45720" rIns="91440" bIns="45720" anchor="t" anchorCtr="0">
            <a:normAutofit/>
          </a:bodyPr>
          <a:lstStyle/>
          <a:p>
            <a:r>
              <a:rPr lang="en-US" altLang="zh-CN" sz="2400" b="1" dirty="0"/>
              <a:t>Bolt</a:t>
            </a:r>
            <a:r>
              <a:rPr lang="zh-CN" altLang="en-US" sz="2400" b="1" dirty="0"/>
              <a:t>：</a:t>
            </a:r>
            <a:r>
              <a:rPr lang="en-US" altLang="zh-CN" sz="2400" dirty="0"/>
              <a:t>Storm</a:t>
            </a:r>
            <a:r>
              <a:rPr lang="zh-CN" altLang="zh-CN" sz="2400" dirty="0"/>
              <a:t>将</a:t>
            </a:r>
            <a:r>
              <a:rPr lang="en-US" altLang="zh-CN" sz="2400" dirty="0"/>
              <a:t>Streams</a:t>
            </a:r>
            <a:r>
              <a:rPr lang="zh-CN" altLang="zh-CN" sz="2400" dirty="0"/>
              <a:t>的状态转换过程抽象为</a:t>
            </a:r>
            <a:r>
              <a:rPr lang="en-US" altLang="zh-CN" sz="2400" dirty="0"/>
              <a:t>Bolt</a:t>
            </a:r>
            <a:r>
              <a:rPr lang="zh-CN" altLang="zh-CN" sz="2400" dirty="0"/>
              <a:t>。</a:t>
            </a:r>
            <a:endParaRPr lang="zh-CN" altLang="zh-CN" sz="2400" dirty="0"/>
          </a:p>
          <a:p>
            <a:r>
              <a:rPr lang="en-US" altLang="zh-CN" sz="2400" dirty="0"/>
              <a:t>Bolt</a:t>
            </a:r>
            <a:r>
              <a:rPr lang="zh-CN" altLang="en-US" sz="2400" dirty="0"/>
              <a:t>既</a:t>
            </a:r>
            <a:r>
              <a:rPr lang="zh-CN" altLang="zh-CN" sz="2400" dirty="0"/>
              <a:t>可处理</a:t>
            </a:r>
            <a:r>
              <a:rPr lang="en-US" altLang="zh-CN" sz="2400" dirty="0"/>
              <a:t>Tuple</a:t>
            </a:r>
            <a:r>
              <a:rPr lang="zh-CN" altLang="zh-CN" sz="2400" dirty="0"/>
              <a:t>，也可将处理后的</a:t>
            </a:r>
            <a:r>
              <a:rPr lang="en-US" altLang="zh-CN" sz="2400" dirty="0"/>
              <a:t>Tuple</a:t>
            </a:r>
            <a:r>
              <a:rPr lang="zh-CN" altLang="zh-CN" sz="2400" dirty="0"/>
              <a:t>作为新的</a:t>
            </a:r>
            <a:r>
              <a:rPr lang="en-US" altLang="zh-CN" sz="2400" dirty="0"/>
              <a:t>Streams</a:t>
            </a:r>
            <a:r>
              <a:rPr lang="zh-CN" altLang="zh-CN" sz="2400" dirty="0"/>
              <a:t>发送给其他</a:t>
            </a:r>
            <a:r>
              <a:rPr lang="en-US" altLang="zh-CN" sz="2400" dirty="0"/>
              <a:t>Bolt</a:t>
            </a:r>
            <a:endParaRPr lang="en-US" altLang="zh-CN" sz="2400" dirty="0"/>
          </a:p>
          <a:p>
            <a:r>
              <a:rPr lang="en-US" altLang="zh-CN" sz="2400" dirty="0"/>
              <a:t>Bolt</a:t>
            </a:r>
            <a:r>
              <a:rPr lang="zh-CN" altLang="en-US" sz="2400" dirty="0"/>
              <a:t>可以执行过滤、聚合、查询等操作</a:t>
            </a:r>
            <a:endParaRPr lang="en-US" altLang="zh-CN" sz="2400" dirty="0"/>
          </a:p>
          <a:p>
            <a:endParaRPr lang="en-US" altLang="zh-CN" sz="2400" dirty="0"/>
          </a:p>
        </p:txBody>
      </p:sp>
      <p:pic>
        <p:nvPicPr>
          <p:cNvPr id="35844" name="Picture 6"/>
          <p:cNvPicPr>
            <a:picLocks noChangeAspect="1"/>
          </p:cNvPicPr>
          <p:nvPr/>
        </p:nvPicPr>
        <p:blipFill>
          <a:blip r:embed="rId1"/>
          <a:stretch>
            <a:fillRect/>
          </a:stretch>
        </p:blipFill>
        <p:spPr>
          <a:xfrm>
            <a:off x="2286000" y="3740785"/>
            <a:ext cx="7696200" cy="2917825"/>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2"/>
          <p:cNvSpPr>
            <a:spLocks noGrp="1"/>
          </p:cNvSpPr>
          <p:nvPr>
            <p:ph type="title"/>
          </p:nvPr>
        </p:nvSpPr>
        <p:spPr/>
        <p:txBody>
          <a:bodyPr vert="horz" wrap="square" lIns="91440" tIns="45720" rIns="91440" bIns="45720" anchor="ctr" anchorCtr="0"/>
          <a:lstStyle/>
          <a:p>
            <a:pPr marL="342900" indent="-342900"/>
            <a:r>
              <a:rPr lang="en-US" altLang="zh-CN" b="1" dirty="0"/>
              <a:t>11.4.3 Storm</a:t>
            </a:r>
            <a:r>
              <a:rPr lang="zh-CN" altLang="en-US" b="1" dirty="0"/>
              <a:t>设计思想</a:t>
            </a:r>
            <a:endParaRPr lang="zh-CN" altLang="zh-CN" b="1" dirty="0"/>
          </a:p>
        </p:txBody>
      </p:sp>
      <p:sp>
        <p:nvSpPr>
          <p:cNvPr id="36867" name="内容占位符 1"/>
          <p:cNvSpPr>
            <a:spLocks noGrp="1"/>
          </p:cNvSpPr>
          <p:nvPr>
            <p:ph idx="1"/>
          </p:nvPr>
        </p:nvSpPr>
        <p:spPr/>
        <p:txBody>
          <a:bodyPr vert="horz" wrap="square" lIns="91440" tIns="45720" rIns="91440" bIns="45720" anchor="t" anchorCtr="0"/>
          <a:lstStyle/>
          <a:p>
            <a:r>
              <a:rPr lang="en-US" altLang="zh-CN" sz="2400" b="1" dirty="0"/>
              <a:t>Topology</a:t>
            </a:r>
            <a:r>
              <a:rPr lang="zh-CN" altLang="en-US" sz="2400" b="1" dirty="0"/>
              <a:t>：</a:t>
            </a:r>
            <a:r>
              <a:rPr lang="en-US" altLang="zh-CN" sz="2400" dirty="0"/>
              <a:t>Storm</a:t>
            </a:r>
            <a:r>
              <a:rPr lang="zh-CN" altLang="zh-CN" sz="2400" dirty="0"/>
              <a:t>将</a:t>
            </a:r>
            <a:r>
              <a:rPr lang="en-US" altLang="zh-CN" sz="2400" dirty="0"/>
              <a:t>Spouts</a:t>
            </a:r>
            <a:r>
              <a:rPr lang="zh-CN" altLang="zh-CN" sz="2400" dirty="0"/>
              <a:t>和</a:t>
            </a:r>
            <a:r>
              <a:rPr lang="en-US" altLang="zh-CN" sz="2400" dirty="0"/>
              <a:t>Bolts</a:t>
            </a:r>
            <a:r>
              <a:rPr lang="zh-CN" altLang="zh-CN" sz="2400" dirty="0"/>
              <a:t>组成的网络抽象成</a:t>
            </a:r>
            <a:r>
              <a:rPr lang="en-US" altLang="zh-CN" sz="2400" dirty="0"/>
              <a:t>Topology</a:t>
            </a:r>
            <a:r>
              <a:rPr lang="zh-CN" altLang="zh-CN" sz="2400" dirty="0"/>
              <a:t>，</a:t>
            </a:r>
            <a:r>
              <a:rPr lang="zh-CN" altLang="en-US" sz="2400" dirty="0"/>
              <a:t>它</a:t>
            </a:r>
            <a:r>
              <a:rPr lang="zh-CN" altLang="zh-CN" sz="2400" dirty="0"/>
              <a:t>可以被提交到</a:t>
            </a:r>
            <a:r>
              <a:rPr lang="en-US" altLang="zh-CN" sz="2400" dirty="0"/>
              <a:t>Storm</a:t>
            </a:r>
            <a:r>
              <a:rPr lang="zh-CN" altLang="zh-CN" sz="2400" dirty="0"/>
              <a:t>集群执行。</a:t>
            </a:r>
            <a:r>
              <a:rPr lang="en-US" altLang="zh-CN" sz="2400" dirty="0"/>
              <a:t>Topology</a:t>
            </a:r>
            <a:r>
              <a:rPr lang="zh-CN" altLang="en-US" sz="2400" dirty="0"/>
              <a:t>可视为</a:t>
            </a:r>
            <a:r>
              <a:rPr lang="zh-CN" altLang="zh-CN" sz="2400" dirty="0"/>
              <a:t>流转换图</a:t>
            </a:r>
            <a:r>
              <a:rPr lang="zh-CN" altLang="en-US" sz="2400" dirty="0"/>
              <a:t>，图中</a:t>
            </a:r>
            <a:r>
              <a:rPr lang="zh-CN" altLang="zh-CN" sz="2400" dirty="0"/>
              <a:t>节点是一个</a:t>
            </a:r>
            <a:r>
              <a:rPr lang="en-US" altLang="zh-CN" sz="2400" dirty="0"/>
              <a:t>Spout</a:t>
            </a:r>
            <a:r>
              <a:rPr lang="zh-CN" altLang="zh-CN" sz="2400" dirty="0"/>
              <a:t>或</a:t>
            </a:r>
            <a:r>
              <a:rPr lang="en-US" altLang="zh-CN" sz="2400" dirty="0"/>
              <a:t>Bolt</a:t>
            </a:r>
            <a:r>
              <a:rPr lang="zh-CN" altLang="zh-CN" sz="2400" dirty="0"/>
              <a:t>，边则表示</a:t>
            </a:r>
            <a:r>
              <a:rPr lang="en-US" altLang="zh-CN" sz="2400" dirty="0"/>
              <a:t>Bolt</a:t>
            </a:r>
            <a:r>
              <a:rPr lang="zh-CN" altLang="zh-CN" sz="2400" dirty="0"/>
              <a:t>订阅了哪个</a:t>
            </a:r>
            <a:r>
              <a:rPr lang="en-US" altLang="zh-CN" sz="2400" dirty="0"/>
              <a:t>Stream</a:t>
            </a:r>
            <a:r>
              <a:rPr lang="zh-CN" altLang="zh-CN" sz="2400" dirty="0"/>
              <a:t>。当</a:t>
            </a:r>
            <a:r>
              <a:rPr lang="en-US" altLang="zh-CN" sz="2400" dirty="0"/>
              <a:t>Spout</a:t>
            </a:r>
            <a:r>
              <a:rPr lang="zh-CN" altLang="zh-CN" sz="2400" dirty="0"/>
              <a:t>或者</a:t>
            </a:r>
            <a:r>
              <a:rPr lang="en-US" altLang="zh-CN" sz="2400" dirty="0"/>
              <a:t>Bolt</a:t>
            </a:r>
            <a:r>
              <a:rPr lang="zh-CN" altLang="zh-CN" sz="2400" dirty="0"/>
              <a:t>发送元组时，它会把元组发送到每个订阅了该</a:t>
            </a:r>
            <a:r>
              <a:rPr lang="en-US" altLang="zh-CN" sz="2400" dirty="0"/>
              <a:t>Stream</a:t>
            </a:r>
            <a:r>
              <a:rPr lang="zh-CN" altLang="zh-CN" sz="2400" dirty="0"/>
              <a:t>的</a:t>
            </a:r>
            <a:r>
              <a:rPr lang="en-US" altLang="zh-CN" sz="2400" dirty="0"/>
              <a:t>Bolt</a:t>
            </a:r>
            <a:r>
              <a:rPr lang="zh-CN" altLang="zh-CN" sz="2400" dirty="0"/>
              <a:t>上进行处理</a:t>
            </a:r>
            <a:endParaRPr lang="en-US" altLang="zh-CN" sz="2400" dirty="0"/>
          </a:p>
          <a:p>
            <a:endParaRPr lang="en-US" altLang="zh-CN" sz="2400" dirty="0"/>
          </a:p>
        </p:txBody>
      </p:sp>
      <p:sp>
        <p:nvSpPr>
          <p:cNvPr id="36868" name="矩形 4"/>
          <p:cNvSpPr/>
          <p:nvPr/>
        </p:nvSpPr>
        <p:spPr>
          <a:xfrm>
            <a:off x="917575" y="3868420"/>
            <a:ext cx="4535170" cy="1938020"/>
          </a:xfrm>
          <a:prstGeom prst="rect">
            <a:avLst/>
          </a:prstGeom>
          <a:noFill/>
          <a:ln w="9525">
            <a:noFill/>
          </a:ln>
        </p:spPr>
        <p:txBody>
          <a:bodyPr wrap="square">
            <a:spAutoFit/>
          </a:bodyPr>
          <a:lstStyle/>
          <a:p>
            <a:pPr>
              <a:buFont typeface="Arial" panose="020B0604020202020204" pitchFamily="34" charset="0"/>
              <a:buChar char="•"/>
            </a:pPr>
            <a:r>
              <a:rPr lang="zh-CN" altLang="en-US" sz="2400" dirty="0">
                <a:latin typeface="Arial" panose="020B0604020202020204" pitchFamily="34" charset="0"/>
              </a:rPr>
              <a:t>在</a:t>
            </a:r>
            <a:r>
              <a:rPr lang="en-US" altLang="zh-CN" sz="2400" dirty="0">
                <a:latin typeface="Arial" panose="020B0604020202020204" pitchFamily="34" charset="0"/>
              </a:rPr>
              <a:t>Topology</a:t>
            </a:r>
            <a:r>
              <a:rPr lang="zh-CN" altLang="en-US" sz="2400" dirty="0">
                <a:latin typeface="Arial" panose="020B0604020202020204" pitchFamily="34" charset="0"/>
              </a:rPr>
              <a:t>的具体实现上，</a:t>
            </a:r>
            <a:r>
              <a:rPr lang="en-US" altLang="zh-CN" sz="2400" dirty="0">
                <a:latin typeface="Arial" panose="020B0604020202020204" pitchFamily="34" charset="0"/>
              </a:rPr>
              <a:t>Storm</a:t>
            </a:r>
            <a:r>
              <a:rPr lang="zh-CN" altLang="en-US" sz="2400" dirty="0">
                <a:latin typeface="Arial" panose="020B0604020202020204" pitchFamily="34" charset="0"/>
              </a:rPr>
              <a:t>中的</a:t>
            </a:r>
            <a:r>
              <a:rPr lang="en-US" altLang="zh-CN" sz="2400" dirty="0">
                <a:latin typeface="Arial" panose="020B0604020202020204" pitchFamily="34" charset="0"/>
              </a:rPr>
              <a:t>Topology</a:t>
            </a:r>
            <a:r>
              <a:rPr lang="zh-CN" altLang="en-US" sz="2400" dirty="0">
                <a:latin typeface="Arial" panose="020B0604020202020204" pitchFamily="34" charset="0"/>
              </a:rPr>
              <a:t>定义仅仅是一些</a:t>
            </a:r>
            <a:r>
              <a:rPr lang="en-US" altLang="zh-CN" sz="2400" dirty="0">
                <a:latin typeface="Arial" panose="020B0604020202020204" pitchFamily="34" charset="0"/>
              </a:rPr>
              <a:t>Thrift</a:t>
            </a:r>
            <a:r>
              <a:rPr lang="zh-CN" altLang="en-US" sz="2400" dirty="0">
                <a:latin typeface="Arial" panose="020B0604020202020204" pitchFamily="34" charset="0"/>
              </a:rPr>
              <a:t>结构体（二进制高性能的通信中间件），支持各种编程语言进行定义</a:t>
            </a:r>
            <a:endParaRPr lang="zh-CN" altLang="en-US" sz="2400" dirty="0">
              <a:latin typeface="Arial" panose="020B0604020202020204" pitchFamily="34" charset="0"/>
            </a:endParaRPr>
          </a:p>
        </p:txBody>
      </p:sp>
      <p:grpSp>
        <p:nvGrpSpPr>
          <p:cNvPr id="36869" name="组合 12"/>
          <p:cNvGrpSpPr/>
          <p:nvPr/>
        </p:nvGrpSpPr>
        <p:grpSpPr>
          <a:xfrm>
            <a:off x="6365875" y="3357880"/>
            <a:ext cx="3650317" cy="3046968"/>
            <a:chOff x="5156205" y="3657600"/>
            <a:chExt cx="3649911" cy="3046968"/>
          </a:xfrm>
        </p:grpSpPr>
        <p:pic>
          <p:nvPicPr>
            <p:cNvPr id="36870" name="Picture 6"/>
            <p:cNvPicPr>
              <a:picLocks noChangeAspect="1"/>
            </p:cNvPicPr>
            <p:nvPr/>
          </p:nvPicPr>
          <p:blipFill>
            <a:blip r:embed="rId1"/>
            <a:stretch>
              <a:fillRect/>
            </a:stretch>
          </p:blipFill>
          <p:spPr>
            <a:xfrm>
              <a:off x="5181600" y="3657600"/>
              <a:ext cx="3624263" cy="2819400"/>
            </a:xfrm>
            <a:prstGeom prst="rect">
              <a:avLst/>
            </a:prstGeom>
            <a:noFill/>
            <a:ln w="9525">
              <a:noFill/>
            </a:ln>
          </p:spPr>
        </p:pic>
        <p:sp>
          <p:nvSpPr>
            <p:cNvPr id="36871" name="TextBox 5"/>
            <p:cNvSpPr txBox="1"/>
            <p:nvPr/>
          </p:nvSpPr>
          <p:spPr>
            <a:xfrm>
              <a:off x="5156205" y="4953000"/>
              <a:ext cx="779693" cy="368300"/>
            </a:xfrm>
            <a:prstGeom prst="rect">
              <a:avLst/>
            </a:prstGeom>
            <a:noFill/>
            <a:ln w="9525">
              <a:noFill/>
            </a:ln>
          </p:spPr>
          <p:txBody>
            <a:bodyPr wrap="none">
              <a:spAutoFit/>
            </a:bodyPr>
            <a:lstStyle/>
            <a:p>
              <a:r>
                <a:rPr lang="en-US" altLang="zh-CN" dirty="0">
                  <a:latin typeface="Arial" panose="020B0604020202020204" pitchFamily="34" charset="0"/>
                </a:rPr>
                <a:t>Spout</a:t>
              </a:r>
              <a:endParaRPr lang="zh-CN" altLang="en-US" dirty="0">
                <a:latin typeface="Arial" panose="020B0604020202020204" pitchFamily="34" charset="0"/>
              </a:endParaRPr>
            </a:p>
          </p:txBody>
        </p:sp>
        <p:sp>
          <p:nvSpPr>
            <p:cNvPr id="36872" name="TextBox 6"/>
            <p:cNvSpPr txBox="1"/>
            <p:nvPr/>
          </p:nvSpPr>
          <p:spPr>
            <a:xfrm>
              <a:off x="5156205" y="5879068"/>
              <a:ext cx="779693" cy="368300"/>
            </a:xfrm>
            <a:prstGeom prst="rect">
              <a:avLst/>
            </a:prstGeom>
            <a:noFill/>
            <a:ln w="9525">
              <a:noFill/>
            </a:ln>
          </p:spPr>
          <p:txBody>
            <a:bodyPr wrap="none">
              <a:spAutoFit/>
            </a:bodyPr>
            <a:lstStyle/>
            <a:p>
              <a:r>
                <a:rPr lang="en-US" altLang="zh-CN" dirty="0">
                  <a:latin typeface="Arial" panose="020B0604020202020204" pitchFamily="34" charset="0"/>
                </a:rPr>
                <a:t>Spout</a:t>
              </a:r>
              <a:endParaRPr lang="zh-CN" altLang="en-US" dirty="0">
                <a:latin typeface="Arial" panose="020B0604020202020204" pitchFamily="34" charset="0"/>
              </a:endParaRPr>
            </a:p>
          </p:txBody>
        </p:sp>
        <p:sp>
          <p:nvSpPr>
            <p:cNvPr id="36873" name="TextBox 7"/>
            <p:cNvSpPr txBox="1"/>
            <p:nvPr/>
          </p:nvSpPr>
          <p:spPr>
            <a:xfrm>
              <a:off x="6732989" y="4572000"/>
              <a:ext cx="576516" cy="368300"/>
            </a:xfrm>
            <a:prstGeom prst="rect">
              <a:avLst/>
            </a:prstGeom>
            <a:noFill/>
            <a:ln w="9525">
              <a:noFill/>
            </a:ln>
          </p:spPr>
          <p:txBody>
            <a:bodyPr wrap="none">
              <a:spAutoFit/>
            </a:bodyPr>
            <a:lstStyle/>
            <a:p>
              <a:r>
                <a:rPr lang="en-US" altLang="zh-CN" dirty="0">
                  <a:latin typeface="Arial" panose="020B0604020202020204" pitchFamily="34" charset="0"/>
                </a:rPr>
                <a:t>Bolt</a:t>
              </a:r>
              <a:endParaRPr lang="zh-CN" altLang="en-US" dirty="0">
                <a:latin typeface="Arial" panose="020B0604020202020204" pitchFamily="34" charset="0"/>
              </a:endParaRPr>
            </a:p>
          </p:txBody>
        </p:sp>
        <p:sp>
          <p:nvSpPr>
            <p:cNvPr id="36874" name="TextBox 8"/>
            <p:cNvSpPr txBox="1"/>
            <p:nvPr/>
          </p:nvSpPr>
          <p:spPr>
            <a:xfrm>
              <a:off x="6761564" y="5421868"/>
              <a:ext cx="576516" cy="368300"/>
            </a:xfrm>
            <a:prstGeom prst="rect">
              <a:avLst/>
            </a:prstGeom>
            <a:noFill/>
            <a:ln w="9525">
              <a:noFill/>
            </a:ln>
          </p:spPr>
          <p:txBody>
            <a:bodyPr wrap="none">
              <a:spAutoFit/>
            </a:bodyPr>
            <a:lstStyle/>
            <a:p>
              <a:r>
                <a:rPr lang="en-US" altLang="zh-CN" dirty="0">
                  <a:latin typeface="Arial" panose="020B0604020202020204" pitchFamily="34" charset="0"/>
                </a:rPr>
                <a:t>Bolt</a:t>
              </a:r>
              <a:endParaRPr lang="zh-CN" altLang="en-US" dirty="0">
                <a:latin typeface="Arial" panose="020B0604020202020204" pitchFamily="34" charset="0"/>
              </a:endParaRPr>
            </a:p>
          </p:txBody>
        </p:sp>
        <p:sp>
          <p:nvSpPr>
            <p:cNvPr id="36875" name="TextBox 9"/>
            <p:cNvSpPr txBox="1"/>
            <p:nvPr/>
          </p:nvSpPr>
          <p:spPr>
            <a:xfrm>
              <a:off x="6732989" y="6324600"/>
              <a:ext cx="576516" cy="368300"/>
            </a:xfrm>
            <a:prstGeom prst="rect">
              <a:avLst/>
            </a:prstGeom>
            <a:noFill/>
            <a:ln w="9525">
              <a:noFill/>
            </a:ln>
          </p:spPr>
          <p:txBody>
            <a:bodyPr wrap="none">
              <a:spAutoFit/>
            </a:bodyPr>
            <a:lstStyle/>
            <a:p>
              <a:r>
                <a:rPr lang="en-US" altLang="zh-CN" dirty="0">
                  <a:latin typeface="Arial" panose="020B0604020202020204" pitchFamily="34" charset="0"/>
                </a:rPr>
                <a:t>Bolt</a:t>
              </a:r>
              <a:endParaRPr lang="zh-CN" altLang="en-US" dirty="0">
                <a:latin typeface="Arial" panose="020B0604020202020204" pitchFamily="34" charset="0"/>
              </a:endParaRPr>
            </a:p>
          </p:txBody>
        </p:sp>
        <p:sp>
          <p:nvSpPr>
            <p:cNvPr id="36876" name="TextBox 10"/>
            <p:cNvSpPr txBox="1"/>
            <p:nvPr/>
          </p:nvSpPr>
          <p:spPr>
            <a:xfrm>
              <a:off x="8229600" y="5029200"/>
              <a:ext cx="576516" cy="368300"/>
            </a:xfrm>
            <a:prstGeom prst="rect">
              <a:avLst/>
            </a:prstGeom>
            <a:noFill/>
            <a:ln w="9525">
              <a:noFill/>
            </a:ln>
          </p:spPr>
          <p:txBody>
            <a:bodyPr wrap="none">
              <a:spAutoFit/>
            </a:bodyPr>
            <a:lstStyle/>
            <a:p>
              <a:r>
                <a:rPr lang="en-US" altLang="zh-CN" dirty="0">
                  <a:latin typeface="Arial" panose="020B0604020202020204" pitchFamily="34" charset="0"/>
                </a:rPr>
                <a:t>Bolt</a:t>
              </a:r>
              <a:endParaRPr lang="zh-CN" altLang="en-US" dirty="0">
                <a:latin typeface="Arial" panose="020B0604020202020204" pitchFamily="34" charset="0"/>
              </a:endParaRPr>
            </a:p>
          </p:txBody>
        </p:sp>
        <p:sp>
          <p:nvSpPr>
            <p:cNvPr id="36877" name="TextBox 11"/>
            <p:cNvSpPr txBox="1"/>
            <p:nvPr/>
          </p:nvSpPr>
          <p:spPr>
            <a:xfrm>
              <a:off x="8229600" y="6336268"/>
              <a:ext cx="576516" cy="368300"/>
            </a:xfrm>
            <a:prstGeom prst="rect">
              <a:avLst/>
            </a:prstGeom>
            <a:noFill/>
            <a:ln w="9525">
              <a:noFill/>
            </a:ln>
          </p:spPr>
          <p:txBody>
            <a:bodyPr wrap="none">
              <a:spAutoFit/>
            </a:bodyPr>
            <a:lstStyle/>
            <a:p>
              <a:r>
                <a:rPr lang="en-US" altLang="zh-CN" dirty="0">
                  <a:latin typeface="Arial" panose="020B0604020202020204" pitchFamily="34" charset="0"/>
                </a:rPr>
                <a:t>Bolt</a:t>
              </a:r>
              <a:endParaRPr lang="zh-CN" altLang="en-US" dirty="0">
                <a:latin typeface="Arial" panose="020B0604020202020204" pitchFamily="34" charset="0"/>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2"/>
          <p:cNvSpPr>
            <a:spLocks noGrp="1"/>
          </p:cNvSpPr>
          <p:nvPr>
            <p:ph type="title"/>
          </p:nvPr>
        </p:nvSpPr>
        <p:spPr/>
        <p:txBody>
          <a:bodyPr vert="horz" wrap="square" lIns="91440" tIns="45720" rIns="91440" bIns="45720" anchor="ctr" anchorCtr="0"/>
          <a:lstStyle/>
          <a:p>
            <a:pPr marL="342900" indent="-342900"/>
            <a:r>
              <a:rPr lang="en-US" altLang="zh-CN" b="1" dirty="0"/>
              <a:t>11.4.3 Storm</a:t>
            </a:r>
            <a:r>
              <a:rPr lang="zh-CN" altLang="en-US" b="1" dirty="0"/>
              <a:t>设计思想</a:t>
            </a:r>
            <a:endParaRPr lang="zh-CN" altLang="zh-CN" b="1" dirty="0"/>
          </a:p>
        </p:txBody>
      </p:sp>
      <p:sp>
        <p:nvSpPr>
          <p:cNvPr id="37891" name="内容占位符 1"/>
          <p:cNvSpPr>
            <a:spLocks noGrp="1"/>
          </p:cNvSpPr>
          <p:nvPr>
            <p:ph idx="1"/>
          </p:nvPr>
        </p:nvSpPr>
        <p:spPr>
          <a:xfrm>
            <a:off x="838200" y="1580515"/>
            <a:ext cx="10515600" cy="1397000"/>
          </a:xfrm>
        </p:spPr>
        <p:txBody>
          <a:bodyPr vert="horz" wrap="square" lIns="91440" tIns="45720" rIns="91440" bIns="45720" anchor="t" anchorCtr="0">
            <a:normAutofit lnSpcReduction="10000"/>
          </a:bodyPr>
          <a:lstStyle/>
          <a:p>
            <a:pPr>
              <a:lnSpc>
                <a:spcPct val="120000"/>
              </a:lnSpc>
            </a:pPr>
            <a:r>
              <a:rPr lang="en-US" altLang="zh-CN" sz="2400" b="1" dirty="0"/>
              <a:t>Stream Groupings</a:t>
            </a:r>
            <a:r>
              <a:rPr lang="zh-CN" altLang="en-US" sz="2400" b="1" dirty="0"/>
              <a:t>：</a:t>
            </a:r>
            <a:r>
              <a:rPr lang="zh-CN" altLang="zh-CN" sz="2400" dirty="0"/>
              <a:t>用于告知</a:t>
            </a:r>
            <a:r>
              <a:rPr lang="en-US" altLang="zh-CN" sz="2400" dirty="0"/>
              <a:t>Topology</a:t>
            </a:r>
            <a:r>
              <a:rPr lang="zh-CN" altLang="zh-CN" sz="2400" dirty="0"/>
              <a:t>如何在两个组件间进行</a:t>
            </a:r>
            <a:r>
              <a:rPr lang="en-US" altLang="zh-CN" sz="2400" dirty="0"/>
              <a:t>Tuple</a:t>
            </a:r>
            <a:r>
              <a:rPr lang="zh-CN" altLang="zh-CN" sz="2400" dirty="0"/>
              <a:t>的传送。每一个</a:t>
            </a:r>
            <a:r>
              <a:rPr lang="en-US" altLang="zh-CN" sz="2400" dirty="0"/>
              <a:t>Spout</a:t>
            </a:r>
            <a:r>
              <a:rPr lang="zh-CN" altLang="zh-CN" sz="2400" dirty="0"/>
              <a:t>和</a:t>
            </a:r>
            <a:r>
              <a:rPr lang="en-US" altLang="zh-CN" sz="2400" dirty="0"/>
              <a:t>Bolt</a:t>
            </a:r>
            <a:r>
              <a:rPr lang="zh-CN" altLang="zh-CN" sz="2400" dirty="0"/>
              <a:t>都可以有多个分布式任务，一个任务在什么时候、以什么方式发送</a:t>
            </a:r>
            <a:r>
              <a:rPr lang="en-US" altLang="zh-CN" sz="2400" dirty="0"/>
              <a:t>Tuple</a:t>
            </a:r>
            <a:r>
              <a:rPr lang="zh-CN" altLang="zh-CN" sz="2400" dirty="0"/>
              <a:t>就是由</a:t>
            </a:r>
            <a:r>
              <a:rPr lang="en-US" altLang="zh-CN" sz="2400" dirty="0"/>
              <a:t>Stream Groupings</a:t>
            </a:r>
            <a:r>
              <a:rPr lang="zh-CN" altLang="zh-CN" sz="2400" dirty="0"/>
              <a:t>来决定的</a:t>
            </a:r>
            <a:endParaRPr lang="zh-CN" altLang="zh-CN" sz="2400" dirty="0"/>
          </a:p>
        </p:txBody>
      </p:sp>
      <p:pic>
        <p:nvPicPr>
          <p:cNvPr id="37892" name="Picture 6"/>
          <p:cNvPicPr>
            <a:picLocks noChangeAspect="1"/>
          </p:cNvPicPr>
          <p:nvPr/>
        </p:nvPicPr>
        <p:blipFill>
          <a:blip r:embed="rId1"/>
          <a:stretch>
            <a:fillRect/>
          </a:stretch>
        </p:blipFill>
        <p:spPr>
          <a:xfrm>
            <a:off x="3505200" y="3105150"/>
            <a:ext cx="5772150" cy="3752850"/>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2"/>
          <p:cNvSpPr>
            <a:spLocks noGrp="1"/>
          </p:cNvSpPr>
          <p:nvPr>
            <p:ph type="title"/>
          </p:nvPr>
        </p:nvSpPr>
        <p:spPr/>
        <p:txBody>
          <a:bodyPr vert="horz" wrap="square" lIns="91440" tIns="45720" rIns="91440" bIns="45720" anchor="ctr" anchorCtr="0"/>
          <a:lstStyle/>
          <a:p>
            <a:pPr marL="342900" indent="-342900"/>
            <a:r>
              <a:rPr lang="en-US" altLang="zh-CN" b="1" dirty="0"/>
              <a:t>11.4.3 Storm</a:t>
            </a:r>
            <a:r>
              <a:rPr lang="zh-CN" altLang="en-US" b="1" dirty="0"/>
              <a:t>设计思想</a:t>
            </a:r>
            <a:endParaRPr lang="zh-CN" altLang="zh-CN" b="1" dirty="0"/>
          </a:p>
        </p:txBody>
      </p:sp>
      <p:sp>
        <p:nvSpPr>
          <p:cNvPr id="38915" name="内容占位符 1"/>
          <p:cNvSpPr>
            <a:spLocks noGrp="1"/>
          </p:cNvSpPr>
          <p:nvPr>
            <p:ph idx="1"/>
          </p:nvPr>
        </p:nvSpPr>
        <p:spPr/>
        <p:txBody>
          <a:bodyPr vert="horz" wrap="square" lIns="91440" tIns="45720" rIns="91440" bIns="45720" anchor="t" anchorCtr="0">
            <a:noAutofit/>
          </a:bodyPr>
          <a:lstStyle/>
          <a:p>
            <a:pPr>
              <a:lnSpc>
                <a:spcPct val="110000"/>
              </a:lnSpc>
              <a:buNone/>
            </a:pPr>
            <a:r>
              <a:rPr lang="zh-CN" altLang="zh-CN" sz="2400" dirty="0"/>
              <a:t>目前，</a:t>
            </a:r>
            <a:r>
              <a:rPr lang="en-US" altLang="zh-CN" sz="2400" dirty="0"/>
              <a:t>Storm</a:t>
            </a:r>
            <a:r>
              <a:rPr lang="zh-CN" altLang="zh-CN" sz="2400" dirty="0"/>
              <a:t>中的</a:t>
            </a:r>
            <a:r>
              <a:rPr lang="en-US" altLang="zh-CN" sz="2400" dirty="0"/>
              <a:t>Stream Groupings</a:t>
            </a:r>
            <a:r>
              <a:rPr lang="zh-CN" altLang="zh-CN" sz="2400" dirty="0"/>
              <a:t>有如下</a:t>
            </a:r>
            <a:r>
              <a:rPr lang="en-US" altLang="zh-CN" sz="2400" dirty="0"/>
              <a:t>6</a:t>
            </a:r>
            <a:r>
              <a:rPr lang="zh-CN" altLang="zh-CN" sz="2400" dirty="0"/>
              <a:t>种方式</a:t>
            </a:r>
            <a:r>
              <a:rPr lang="zh-CN" altLang="en-US" sz="2400" dirty="0"/>
              <a:t>：</a:t>
            </a:r>
            <a:endParaRPr lang="en-US" altLang="zh-CN" sz="2400" dirty="0"/>
          </a:p>
          <a:p>
            <a:pPr>
              <a:lnSpc>
                <a:spcPct val="110000"/>
              </a:lnSpc>
              <a:buNone/>
            </a:pPr>
            <a:r>
              <a:rPr lang="en-US" altLang="zh-CN" sz="2400" dirty="0"/>
              <a:t>(1)ShuffleGrouping</a:t>
            </a:r>
            <a:r>
              <a:rPr lang="zh-CN" altLang="en-US" sz="2400" dirty="0"/>
              <a:t>：随机分组，随机分发</a:t>
            </a:r>
            <a:r>
              <a:rPr lang="en-US" altLang="zh-CN" sz="2400" dirty="0"/>
              <a:t>Stream</a:t>
            </a:r>
            <a:r>
              <a:rPr lang="zh-CN" altLang="en-US" sz="2400" dirty="0"/>
              <a:t>中的</a:t>
            </a:r>
            <a:r>
              <a:rPr lang="en-US" altLang="zh-CN" sz="2400" dirty="0"/>
              <a:t>Tuple</a:t>
            </a:r>
            <a:r>
              <a:rPr lang="zh-CN" altLang="en-US" sz="2400" dirty="0"/>
              <a:t>，保证每个</a:t>
            </a:r>
            <a:r>
              <a:rPr lang="en-US" altLang="zh-CN" sz="2400" dirty="0"/>
              <a:t>Bolt</a:t>
            </a:r>
            <a:r>
              <a:rPr lang="zh-CN" altLang="en-US" sz="2400" dirty="0"/>
              <a:t>的</a:t>
            </a:r>
            <a:r>
              <a:rPr lang="en-US" altLang="zh-CN" sz="2400" dirty="0"/>
              <a:t>Task</a:t>
            </a:r>
            <a:r>
              <a:rPr lang="zh-CN" altLang="en-US" sz="2400" dirty="0"/>
              <a:t>接收</a:t>
            </a:r>
            <a:r>
              <a:rPr lang="en-US" altLang="zh-CN" sz="2400" dirty="0"/>
              <a:t>Tuple</a:t>
            </a:r>
            <a:r>
              <a:rPr lang="zh-CN" altLang="en-US" sz="2400" dirty="0"/>
              <a:t>数量大致一致</a:t>
            </a:r>
            <a:endParaRPr lang="zh-CN" altLang="en-US" sz="2400" dirty="0"/>
          </a:p>
          <a:p>
            <a:pPr>
              <a:lnSpc>
                <a:spcPct val="110000"/>
              </a:lnSpc>
              <a:buNone/>
            </a:pPr>
            <a:r>
              <a:rPr lang="en-US" altLang="zh-CN" sz="2400" dirty="0"/>
              <a:t>(2)FieldsGrouping</a:t>
            </a:r>
            <a:r>
              <a:rPr lang="zh-CN" altLang="en-US" sz="2400" dirty="0"/>
              <a:t>：按照字段分组，保证相同字段的</a:t>
            </a:r>
            <a:r>
              <a:rPr lang="en-US" altLang="zh-CN" sz="2400" dirty="0"/>
              <a:t>Tuple</a:t>
            </a:r>
            <a:r>
              <a:rPr lang="zh-CN" altLang="en-US" sz="2400" dirty="0"/>
              <a:t>分配到同一个</a:t>
            </a:r>
            <a:r>
              <a:rPr lang="en-US" altLang="zh-CN" sz="2400" dirty="0"/>
              <a:t>Task</a:t>
            </a:r>
            <a:r>
              <a:rPr lang="zh-CN" altLang="en-US" sz="2400" dirty="0"/>
              <a:t>中</a:t>
            </a:r>
            <a:endParaRPr lang="zh-CN" altLang="en-US" sz="2400" dirty="0"/>
          </a:p>
          <a:p>
            <a:pPr>
              <a:lnSpc>
                <a:spcPct val="110000"/>
              </a:lnSpc>
              <a:buNone/>
            </a:pPr>
            <a:r>
              <a:rPr lang="en-US" altLang="zh-CN" sz="2400" dirty="0"/>
              <a:t>(3)AllGrouping</a:t>
            </a:r>
            <a:r>
              <a:rPr lang="zh-CN" altLang="en-US" sz="2400" dirty="0"/>
              <a:t>：广播发送，每一个</a:t>
            </a:r>
            <a:r>
              <a:rPr lang="en-US" altLang="zh-CN" sz="2400" dirty="0"/>
              <a:t>Task</a:t>
            </a:r>
            <a:r>
              <a:rPr lang="zh-CN" altLang="en-US" sz="2400" dirty="0"/>
              <a:t>都会收到所有的</a:t>
            </a:r>
            <a:r>
              <a:rPr lang="en-US" altLang="zh-CN" sz="2400" dirty="0"/>
              <a:t>Tuple</a:t>
            </a:r>
            <a:endParaRPr lang="en-US" altLang="zh-CN" sz="2400" dirty="0"/>
          </a:p>
          <a:p>
            <a:pPr>
              <a:lnSpc>
                <a:spcPct val="110000"/>
              </a:lnSpc>
              <a:buNone/>
            </a:pPr>
            <a:r>
              <a:rPr lang="en-US" altLang="zh-CN" sz="2400" dirty="0"/>
              <a:t>(4)GlobalGrouping</a:t>
            </a:r>
            <a:r>
              <a:rPr lang="zh-CN" altLang="en-US" sz="2400" dirty="0"/>
              <a:t>：全局分组，所有的</a:t>
            </a:r>
            <a:r>
              <a:rPr lang="en-US" altLang="zh-CN" sz="2400" dirty="0"/>
              <a:t>Tuple</a:t>
            </a:r>
            <a:r>
              <a:rPr lang="zh-CN" altLang="en-US" sz="2400" dirty="0"/>
              <a:t>都发送到同一个</a:t>
            </a:r>
            <a:r>
              <a:rPr lang="en-US" altLang="zh-CN" sz="2400" dirty="0"/>
              <a:t>Task</a:t>
            </a:r>
            <a:r>
              <a:rPr lang="zh-CN" altLang="en-US" sz="2400" dirty="0"/>
              <a:t>中</a:t>
            </a:r>
            <a:endParaRPr lang="zh-CN" altLang="en-US" sz="2400" dirty="0"/>
          </a:p>
          <a:p>
            <a:pPr>
              <a:lnSpc>
                <a:spcPct val="110000"/>
              </a:lnSpc>
              <a:buNone/>
            </a:pPr>
            <a:r>
              <a:rPr lang="en-US" altLang="zh-CN" sz="2400" dirty="0"/>
              <a:t>(5)NonGrouping</a:t>
            </a:r>
            <a:r>
              <a:rPr lang="zh-CN" altLang="en-US" sz="2400" dirty="0"/>
              <a:t>：不分组，和</a:t>
            </a:r>
            <a:r>
              <a:rPr lang="en-US" altLang="zh-CN" sz="2400" dirty="0"/>
              <a:t>ShuffleGrouping</a:t>
            </a:r>
            <a:r>
              <a:rPr lang="zh-CN" altLang="en-US" sz="2400" dirty="0"/>
              <a:t>类似，当前</a:t>
            </a:r>
            <a:r>
              <a:rPr lang="en-US" altLang="zh-CN" sz="2400" dirty="0"/>
              <a:t>Task</a:t>
            </a:r>
            <a:r>
              <a:rPr lang="zh-CN" altLang="en-US" sz="2400" dirty="0"/>
              <a:t>的执行会和它的被订阅者在同一个线程中执行</a:t>
            </a:r>
            <a:endParaRPr lang="zh-CN" altLang="en-US" sz="2400" dirty="0"/>
          </a:p>
          <a:p>
            <a:pPr>
              <a:lnSpc>
                <a:spcPct val="110000"/>
              </a:lnSpc>
              <a:buNone/>
            </a:pPr>
            <a:r>
              <a:rPr lang="en-US" altLang="zh-CN" sz="2400" dirty="0"/>
              <a:t>(6)DirectGrouping</a:t>
            </a:r>
            <a:r>
              <a:rPr lang="zh-CN" altLang="en-US" sz="2400" dirty="0"/>
              <a:t>：直接分组，直接指定由某个</a:t>
            </a:r>
            <a:r>
              <a:rPr lang="en-US" altLang="zh-CN" sz="2400" dirty="0"/>
              <a:t>Task</a:t>
            </a:r>
            <a:r>
              <a:rPr lang="zh-CN" altLang="en-US" sz="2400" dirty="0"/>
              <a:t>来执行</a:t>
            </a:r>
            <a:r>
              <a:rPr lang="en-US" altLang="zh-CN" sz="2400" dirty="0"/>
              <a:t>Tuple</a:t>
            </a:r>
            <a:r>
              <a:rPr lang="zh-CN" altLang="en-US" sz="2400" dirty="0"/>
              <a:t>的处理</a:t>
            </a:r>
            <a:endParaRPr lang="zh-CN" alt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2"/>
          <p:cNvSpPr>
            <a:spLocks noGrp="1"/>
          </p:cNvSpPr>
          <p:nvPr>
            <p:ph type="title"/>
          </p:nvPr>
        </p:nvSpPr>
        <p:spPr/>
        <p:txBody>
          <a:bodyPr vert="horz" wrap="square" lIns="91440" tIns="45720" rIns="91440" bIns="45720" anchor="ctr" anchorCtr="0"/>
          <a:lstStyle/>
          <a:p>
            <a:r>
              <a:rPr lang="en-US" altLang="zh-CN" b="1" dirty="0"/>
              <a:t>11.4.4 Storm</a:t>
            </a:r>
            <a:r>
              <a:rPr lang="zh-CN" altLang="zh-CN" b="1" dirty="0"/>
              <a:t>框架设计</a:t>
            </a:r>
            <a:endParaRPr lang="zh-CN" altLang="en-US" b="1" dirty="0"/>
          </a:p>
        </p:txBody>
      </p:sp>
      <p:graphicFrame>
        <p:nvGraphicFramePr>
          <p:cNvPr id="4" name="表格 3"/>
          <p:cNvGraphicFramePr>
            <a:graphicFrameLocks noGrp="1"/>
          </p:cNvGraphicFramePr>
          <p:nvPr/>
        </p:nvGraphicFramePr>
        <p:xfrm>
          <a:off x="2842895" y="4315460"/>
          <a:ext cx="6096000" cy="185420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pPr algn="ctr"/>
                      <a:endParaRPr lang="zh-CN" altLang="en-US" sz="2400" dirty="0">
                        <a:solidFill>
                          <a:schemeClr val="tx1"/>
                        </a:solidFill>
                      </a:endParaRPr>
                    </a:p>
                  </a:txBody>
                  <a:tcPr/>
                </a:tc>
                <a:tc>
                  <a:txBody>
                    <a:bodyPr/>
                    <a:lstStyle/>
                    <a:p>
                      <a:pPr algn="ctr"/>
                      <a:r>
                        <a:rPr lang="en-US" altLang="zh-CN" sz="2400" dirty="0" err="1">
                          <a:solidFill>
                            <a:schemeClr val="tx1"/>
                          </a:solidFill>
                        </a:rPr>
                        <a:t>Hadoop</a:t>
                      </a:r>
                      <a:endParaRPr lang="en-US" altLang="zh-CN" sz="2400" dirty="0" err="1">
                        <a:solidFill>
                          <a:schemeClr val="tx1"/>
                        </a:solidFill>
                      </a:endParaRPr>
                    </a:p>
                  </a:txBody>
                  <a:tcPr/>
                </a:tc>
                <a:tc>
                  <a:txBody>
                    <a:bodyPr/>
                    <a:lstStyle/>
                    <a:p>
                      <a:pPr algn="ctr"/>
                      <a:r>
                        <a:rPr lang="en-US" altLang="zh-CN" sz="2400" dirty="0">
                          <a:solidFill>
                            <a:schemeClr val="tx1"/>
                          </a:solidFill>
                        </a:rPr>
                        <a:t>Storm</a:t>
                      </a:r>
                      <a:endParaRPr lang="en-US" altLang="zh-CN" sz="2400" dirty="0">
                        <a:solidFill>
                          <a:schemeClr val="tx1"/>
                        </a:solidFill>
                      </a:endParaRPr>
                    </a:p>
                  </a:txBody>
                  <a:tcPr/>
                </a:tc>
              </a:tr>
              <a:tr h="370840">
                <a:tc>
                  <a:txBody>
                    <a:bodyPr/>
                    <a:lstStyle/>
                    <a:p>
                      <a:pPr algn="ctr"/>
                      <a:r>
                        <a:rPr lang="zh-CN" altLang="en-US" sz="2400" dirty="0"/>
                        <a:t>应用名称</a:t>
                      </a:r>
                      <a:endParaRPr lang="zh-CN" altLang="en-US" sz="2400" dirty="0"/>
                    </a:p>
                  </a:txBody>
                  <a:tcPr/>
                </a:tc>
                <a:tc>
                  <a:txBody>
                    <a:bodyPr/>
                    <a:lstStyle/>
                    <a:p>
                      <a:pPr algn="ctr"/>
                      <a:r>
                        <a:rPr lang="en-US" altLang="zh-CN" sz="2400" dirty="0"/>
                        <a:t>Job</a:t>
                      </a:r>
                      <a:endParaRPr lang="en-US" altLang="zh-CN" sz="2400" dirty="0"/>
                    </a:p>
                  </a:txBody>
                  <a:tcPr/>
                </a:tc>
                <a:tc>
                  <a:txBody>
                    <a:bodyPr/>
                    <a:lstStyle/>
                    <a:p>
                      <a:pPr algn="ctr"/>
                      <a:r>
                        <a:rPr lang="en-US" altLang="zh-CN" sz="2400" dirty="0"/>
                        <a:t>Topology</a:t>
                      </a:r>
                      <a:endParaRPr lang="en-US" altLang="zh-CN" sz="2400" dirty="0"/>
                    </a:p>
                  </a:txBody>
                  <a:tcPr/>
                </a:tc>
              </a:tr>
              <a:tr h="370840">
                <a:tc row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2400" dirty="0"/>
                        <a:t>系统角色</a:t>
                      </a:r>
                      <a:endParaRPr lang="zh-CN" altLang="en-US" sz="2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dirty="0" err="1"/>
                        <a:t>JobTracker</a:t>
                      </a:r>
                      <a:endParaRPr lang="en-US" altLang="zh-CN" sz="2400" dirty="0" err="1"/>
                    </a:p>
                  </a:txBody>
                  <a:tcPr/>
                </a:tc>
                <a:tc>
                  <a:txBody>
                    <a:bodyPr/>
                    <a:lstStyle/>
                    <a:p>
                      <a:pPr algn="ctr"/>
                      <a:r>
                        <a:rPr lang="en-US" altLang="zh-CN" sz="2400" dirty="0"/>
                        <a:t>Nimbus</a:t>
                      </a:r>
                      <a:endParaRPr lang="en-US" altLang="zh-CN" sz="2400" dirty="0"/>
                    </a:p>
                  </a:txBody>
                  <a:tcPr/>
                </a:tc>
              </a:tr>
              <a:tr h="370840">
                <a:tc vMerge="1">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dirty="0" err="1"/>
                        <a:t>TaskTracker</a:t>
                      </a:r>
                      <a:endParaRPr lang="en-US" altLang="zh-CN" sz="2400" dirty="0" err="1"/>
                    </a:p>
                  </a:txBody>
                  <a:tcPr/>
                </a:tc>
                <a:tc>
                  <a:txBody>
                    <a:bodyPr/>
                    <a:lstStyle/>
                    <a:p>
                      <a:pPr algn="ctr"/>
                      <a:r>
                        <a:rPr lang="en-US" altLang="zh-CN" sz="2400" dirty="0"/>
                        <a:t>Supervisor</a:t>
                      </a:r>
                      <a:endParaRPr lang="en-US" altLang="zh-CN" sz="2400" dirty="0"/>
                    </a:p>
                  </a:txBody>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2400" dirty="0"/>
                        <a:t>组件接口</a:t>
                      </a:r>
                      <a:endParaRPr lang="zh-CN" altLang="en-US" sz="2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dirty="0"/>
                        <a:t>Map/Reduce</a:t>
                      </a:r>
                      <a:endParaRPr lang="en-US" altLang="zh-CN" sz="2400" dirty="0"/>
                    </a:p>
                  </a:txBody>
                  <a:tcPr/>
                </a:tc>
                <a:tc>
                  <a:txBody>
                    <a:bodyPr/>
                    <a:lstStyle/>
                    <a:p>
                      <a:pPr algn="ctr"/>
                      <a:r>
                        <a:rPr lang="en-US" altLang="zh-CN" sz="2400" dirty="0"/>
                        <a:t>Spout/Bolt</a:t>
                      </a:r>
                      <a:endParaRPr lang="en-US" altLang="zh-CN" sz="2400" dirty="0"/>
                    </a:p>
                  </a:txBody>
                  <a:tcPr/>
                </a:tc>
              </a:tr>
            </a:tbl>
          </a:graphicData>
        </a:graphic>
      </p:graphicFrame>
      <p:sp>
        <p:nvSpPr>
          <p:cNvPr id="39964" name="TextBox 4"/>
          <p:cNvSpPr txBox="1"/>
          <p:nvPr/>
        </p:nvSpPr>
        <p:spPr>
          <a:xfrm>
            <a:off x="3182620" y="3855085"/>
            <a:ext cx="5416550" cy="460375"/>
          </a:xfrm>
          <a:prstGeom prst="rect">
            <a:avLst/>
          </a:prstGeom>
          <a:noFill/>
          <a:ln w="9525">
            <a:noFill/>
          </a:ln>
        </p:spPr>
        <p:txBody>
          <a:bodyPr wrap="none">
            <a:spAutoFit/>
          </a:bodyPr>
          <a:lstStyle/>
          <a:p>
            <a:r>
              <a:rPr lang="en-US" altLang="zh-CN" sz="2400" dirty="0">
                <a:latin typeface="Arial" panose="020B0604020202020204" pitchFamily="34" charset="0"/>
              </a:rPr>
              <a:t>Storm</a:t>
            </a:r>
            <a:r>
              <a:rPr lang="zh-CN" altLang="en-US" sz="2400" dirty="0">
                <a:latin typeface="Arial" panose="020B0604020202020204" pitchFamily="34" charset="0"/>
              </a:rPr>
              <a:t>和</a:t>
            </a:r>
            <a:r>
              <a:rPr lang="en-US" altLang="zh-CN" sz="2400" dirty="0">
                <a:latin typeface="Arial" panose="020B0604020202020204" pitchFamily="34" charset="0"/>
              </a:rPr>
              <a:t>Hadoop</a:t>
            </a:r>
            <a:r>
              <a:rPr lang="zh-CN" altLang="en-US" sz="2400" dirty="0">
                <a:latin typeface="Arial" panose="020B0604020202020204" pitchFamily="34" charset="0"/>
              </a:rPr>
              <a:t>架构组件功能对应关系</a:t>
            </a:r>
            <a:endParaRPr lang="zh-CN" altLang="en-US" sz="2400" dirty="0">
              <a:latin typeface="Arial" panose="020B0604020202020204" pitchFamily="34" charset="0"/>
            </a:endParaRPr>
          </a:p>
        </p:txBody>
      </p:sp>
      <p:sp>
        <p:nvSpPr>
          <p:cNvPr id="39965" name="矩形 4"/>
          <p:cNvSpPr/>
          <p:nvPr/>
        </p:nvSpPr>
        <p:spPr>
          <a:xfrm>
            <a:off x="1203325" y="1526540"/>
            <a:ext cx="9737725" cy="1938020"/>
          </a:xfrm>
          <a:prstGeom prst="rect">
            <a:avLst/>
          </a:prstGeom>
          <a:noFill/>
          <a:ln w="9525">
            <a:noFill/>
          </a:ln>
        </p:spPr>
        <p:txBody>
          <a:bodyPr wrap="square">
            <a:spAutoFit/>
          </a:bodyPr>
          <a:lstStyle/>
          <a:p>
            <a:pPr>
              <a:buFont typeface="Arial" panose="020B0604020202020204" pitchFamily="34" charset="0"/>
              <a:buChar char="•"/>
            </a:pPr>
            <a:r>
              <a:rPr lang="en-US" altLang="zh-CN" sz="2400" dirty="0">
                <a:latin typeface="Arial" panose="020B0604020202020204" pitchFamily="34" charset="0"/>
              </a:rPr>
              <a:t>Storm</a:t>
            </a:r>
            <a:r>
              <a:rPr lang="zh-CN" altLang="zh-CN" sz="2400" dirty="0">
                <a:latin typeface="Arial" panose="020B0604020202020204" pitchFamily="34" charset="0"/>
              </a:rPr>
              <a:t>运行任务的方式与</a:t>
            </a:r>
            <a:r>
              <a:rPr lang="en-US" altLang="zh-CN" sz="2400" dirty="0">
                <a:latin typeface="Arial" panose="020B0604020202020204" pitchFamily="34" charset="0"/>
              </a:rPr>
              <a:t>Hadoop</a:t>
            </a:r>
            <a:r>
              <a:rPr lang="zh-CN" altLang="zh-CN" sz="2400" dirty="0">
                <a:latin typeface="Arial" panose="020B0604020202020204" pitchFamily="34" charset="0"/>
              </a:rPr>
              <a:t>类似：</a:t>
            </a:r>
            <a:r>
              <a:rPr lang="en-US" altLang="zh-CN" sz="2400" dirty="0">
                <a:latin typeface="Arial" panose="020B0604020202020204" pitchFamily="34" charset="0"/>
              </a:rPr>
              <a:t>Hadoop</a:t>
            </a:r>
            <a:r>
              <a:rPr lang="zh-CN" altLang="zh-CN" sz="2400" dirty="0">
                <a:latin typeface="Arial" panose="020B0604020202020204" pitchFamily="34" charset="0"/>
              </a:rPr>
              <a:t>运行的是</a:t>
            </a:r>
            <a:r>
              <a:rPr lang="en-US" altLang="zh-CN" sz="2400" dirty="0">
                <a:latin typeface="Arial" panose="020B0604020202020204" pitchFamily="34" charset="0"/>
              </a:rPr>
              <a:t>MapReduce</a:t>
            </a:r>
            <a:r>
              <a:rPr lang="zh-CN" altLang="zh-CN" sz="2400" dirty="0">
                <a:latin typeface="Arial" panose="020B0604020202020204" pitchFamily="34" charset="0"/>
              </a:rPr>
              <a:t>作业，而</a:t>
            </a:r>
            <a:r>
              <a:rPr lang="en-US" altLang="zh-CN" sz="2400" dirty="0">
                <a:latin typeface="Arial" panose="020B0604020202020204" pitchFamily="34" charset="0"/>
              </a:rPr>
              <a:t>Storm</a:t>
            </a:r>
            <a:r>
              <a:rPr lang="zh-CN" altLang="en-US" sz="2400" dirty="0">
                <a:latin typeface="Arial" panose="020B0604020202020204" pitchFamily="34" charset="0"/>
              </a:rPr>
              <a:t>运</a:t>
            </a:r>
            <a:r>
              <a:rPr lang="zh-CN" altLang="zh-CN" sz="2400" dirty="0">
                <a:latin typeface="Arial" panose="020B0604020202020204" pitchFamily="34" charset="0"/>
              </a:rPr>
              <a:t>行的是“</a:t>
            </a:r>
            <a:r>
              <a:rPr lang="en-US" altLang="zh-CN" sz="2400" dirty="0">
                <a:latin typeface="Arial" panose="020B0604020202020204" pitchFamily="34" charset="0"/>
              </a:rPr>
              <a:t>Topology</a:t>
            </a:r>
            <a:r>
              <a:rPr lang="zh-CN" altLang="zh-CN" sz="2400" dirty="0">
                <a:latin typeface="Arial" panose="020B0604020202020204" pitchFamily="34" charset="0"/>
              </a:rPr>
              <a:t>”</a:t>
            </a:r>
            <a:endParaRPr lang="en-US" altLang="zh-CN" sz="2400" dirty="0">
              <a:latin typeface="Arial" panose="020B0604020202020204" pitchFamily="34" charset="0"/>
            </a:endParaRPr>
          </a:p>
          <a:p>
            <a:pPr>
              <a:buFont typeface="Arial" panose="020B0604020202020204" pitchFamily="34" charset="0"/>
              <a:buChar char="•"/>
            </a:pPr>
            <a:endParaRPr lang="en-US" altLang="zh-CN" sz="2400" dirty="0">
              <a:latin typeface="Arial" panose="020B0604020202020204" pitchFamily="34" charset="0"/>
            </a:endParaRPr>
          </a:p>
          <a:p>
            <a:pPr>
              <a:buFont typeface="Arial" panose="020B0604020202020204" pitchFamily="34" charset="0"/>
              <a:buChar char="•"/>
            </a:pPr>
            <a:r>
              <a:rPr lang="zh-CN" altLang="en-US" sz="2400" dirty="0">
                <a:latin typeface="Arial" panose="020B0604020202020204" pitchFamily="34" charset="0"/>
              </a:rPr>
              <a:t>但</a:t>
            </a:r>
            <a:r>
              <a:rPr lang="zh-CN" altLang="zh-CN" sz="2400" dirty="0">
                <a:latin typeface="Arial" panose="020B0604020202020204" pitchFamily="34" charset="0"/>
              </a:rPr>
              <a:t>两者的任务大不相同，主要的不同是</a:t>
            </a:r>
            <a:r>
              <a:rPr lang="zh-CN" altLang="en-US" sz="2400" dirty="0">
                <a:latin typeface="Arial" panose="020B0604020202020204" pitchFamily="34" charset="0"/>
              </a:rPr>
              <a:t>：</a:t>
            </a:r>
            <a:r>
              <a:rPr lang="en-US" altLang="zh-CN" sz="2400" dirty="0">
                <a:latin typeface="Arial" panose="020B0604020202020204" pitchFamily="34" charset="0"/>
              </a:rPr>
              <a:t>MapReduce</a:t>
            </a:r>
            <a:r>
              <a:rPr lang="zh-CN" altLang="zh-CN" sz="2400" dirty="0">
                <a:latin typeface="Arial" panose="020B0604020202020204" pitchFamily="34" charset="0"/>
              </a:rPr>
              <a:t>作业最终会完成计算并结束运行，而</a:t>
            </a:r>
            <a:r>
              <a:rPr lang="en-US" altLang="zh-CN" sz="2400" dirty="0">
                <a:latin typeface="Arial" panose="020B0604020202020204" pitchFamily="34" charset="0"/>
              </a:rPr>
              <a:t>Topology</a:t>
            </a:r>
            <a:r>
              <a:rPr lang="zh-CN" altLang="zh-CN" sz="2400" dirty="0">
                <a:latin typeface="Arial" panose="020B0604020202020204" pitchFamily="34" charset="0"/>
              </a:rPr>
              <a:t>将持续处理消息（直到人为终止）</a:t>
            </a:r>
            <a:endParaRPr lang="zh-CN" altLang="zh-CN" sz="2400" dirty="0">
              <a:latin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2"/>
          <p:cNvSpPr>
            <a:spLocks noGrp="1"/>
          </p:cNvSpPr>
          <p:nvPr>
            <p:ph type="title"/>
          </p:nvPr>
        </p:nvSpPr>
        <p:spPr/>
        <p:txBody>
          <a:bodyPr vert="horz" wrap="square" lIns="91440" tIns="45720" rIns="91440" bIns="45720" anchor="ctr" anchorCtr="0"/>
          <a:lstStyle/>
          <a:p>
            <a:pPr marL="342900" indent="-342900"/>
            <a:r>
              <a:rPr lang="en-US" altLang="zh-CN" b="1" dirty="0"/>
              <a:t>11.4.4 Storm</a:t>
            </a:r>
            <a:r>
              <a:rPr lang="zh-CN" altLang="zh-CN" b="1" dirty="0"/>
              <a:t>框架设计</a:t>
            </a:r>
            <a:endParaRPr lang="zh-CN" altLang="zh-CN" b="1" dirty="0"/>
          </a:p>
        </p:txBody>
      </p:sp>
      <p:sp>
        <p:nvSpPr>
          <p:cNvPr id="40963" name="内容占位符 1"/>
          <p:cNvSpPr>
            <a:spLocks noGrp="1"/>
          </p:cNvSpPr>
          <p:nvPr>
            <p:ph idx="1"/>
          </p:nvPr>
        </p:nvSpPr>
        <p:spPr>
          <a:xfrm>
            <a:off x="1015365" y="1825625"/>
            <a:ext cx="10097770" cy="4351655"/>
          </a:xfrm>
        </p:spPr>
        <p:txBody>
          <a:bodyPr vert="horz" wrap="square" lIns="91440" tIns="45720" rIns="91440" bIns="45720" anchor="t" anchorCtr="0">
            <a:normAutofit/>
          </a:bodyPr>
          <a:lstStyle/>
          <a:p>
            <a:pPr marL="0" indent="0">
              <a:lnSpc>
                <a:spcPct val="120000"/>
              </a:lnSpc>
              <a:buNone/>
            </a:pPr>
            <a:r>
              <a:rPr lang="zh-CN" altLang="en-US" sz="2400" dirty="0"/>
              <a:t>Storm集群采用“Master—Worker”的节点方式：</a:t>
            </a:r>
            <a:endParaRPr lang="zh-CN" altLang="en-US" sz="2400" dirty="0"/>
          </a:p>
          <a:p>
            <a:pPr>
              <a:lnSpc>
                <a:spcPct val="120000"/>
              </a:lnSpc>
            </a:pPr>
            <a:r>
              <a:rPr lang="zh-CN" altLang="en-US" sz="2400" dirty="0"/>
              <a:t>Master节点运行名为“Nimbus”的后台程序，负责在集群范围内分发代码、为Worker分配任务和监测故障</a:t>
            </a:r>
            <a:endParaRPr lang="zh-CN" altLang="en-US" sz="2400" dirty="0"/>
          </a:p>
          <a:p>
            <a:pPr marL="0" indent="0">
              <a:lnSpc>
                <a:spcPct val="120000"/>
              </a:lnSpc>
              <a:buNone/>
            </a:pPr>
            <a:endParaRPr lang="zh-CN" altLang="en-US" sz="2400" dirty="0"/>
          </a:p>
          <a:p>
            <a:pPr>
              <a:lnSpc>
                <a:spcPct val="120000"/>
              </a:lnSpc>
            </a:pPr>
            <a:r>
              <a:rPr lang="zh-CN" altLang="en-US" sz="2400" dirty="0"/>
              <a:t>Worker节点运行名为“Supervisor”的后台程序，负责监听分配给它所在机器的工作，即根据Nimbus分配的任务来决定启动或停止Worker进程</a:t>
            </a:r>
            <a:endParaRPr lang="zh-CN" alt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标题 2"/>
          <p:cNvSpPr>
            <a:spLocks noGrp="1"/>
          </p:cNvSpPr>
          <p:nvPr>
            <p:ph type="title"/>
          </p:nvPr>
        </p:nvSpPr>
        <p:spPr/>
        <p:txBody>
          <a:bodyPr vert="horz" wrap="square" lIns="91440" tIns="45720" rIns="91440" bIns="45720" anchor="ctr" anchorCtr="0"/>
          <a:lstStyle/>
          <a:p>
            <a:pPr marL="342900" indent="-342900"/>
            <a:r>
              <a:rPr lang="en-US" altLang="zh-CN" b="1" dirty="0"/>
              <a:t>11.4.4 Storm</a:t>
            </a:r>
            <a:r>
              <a:rPr lang="zh-CN" altLang="zh-CN" b="1" dirty="0"/>
              <a:t>框架设计</a:t>
            </a:r>
            <a:endParaRPr lang="zh-CN" altLang="zh-CN" b="1" dirty="0"/>
          </a:p>
        </p:txBody>
      </p:sp>
      <p:sp>
        <p:nvSpPr>
          <p:cNvPr id="41988" name="文本框 5"/>
          <p:cNvSpPr txBox="1"/>
          <p:nvPr/>
        </p:nvSpPr>
        <p:spPr>
          <a:xfrm>
            <a:off x="6749257" y="5969000"/>
            <a:ext cx="2519680" cy="460375"/>
          </a:xfrm>
          <a:prstGeom prst="rect">
            <a:avLst/>
          </a:prstGeom>
          <a:noFill/>
          <a:ln w="9525">
            <a:noFill/>
          </a:ln>
        </p:spPr>
        <p:txBody>
          <a:bodyPr wrap="none">
            <a:spAutoFit/>
          </a:bodyPr>
          <a:lstStyle/>
          <a:p>
            <a:pPr algn="ctr"/>
            <a:r>
              <a:rPr lang="en-US" altLang="zh-CN" sz="2400" dirty="0">
                <a:latin typeface="Arial" panose="020B0604020202020204" pitchFamily="34" charset="0"/>
              </a:rPr>
              <a:t>Storm</a:t>
            </a:r>
            <a:r>
              <a:rPr lang="zh-CN" altLang="en-US" sz="2400" dirty="0">
                <a:latin typeface="Arial" panose="020B0604020202020204" pitchFamily="34" charset="0"/>
              </a:rPr>
              <a:t>集群架框架</a:t>
            </a:r>
            <a:endParaRPr lang="zh-CN" altLang="en-US" sz="2400" dirty="0">
              <a:latin typeface="Arial" panose="020B0604020202020204" pitchFamily="34" charset="0"/>
            </a:endParaRPr>
          </a:p>
        </p:txBody>
      </p:sp>
      <p:pic>
        <p:nvPicPr>
          <p:cNvPr id="41989" name="Picture 7"/>
          <p:cNvPicPr>
            <a:picLocks noChangeAspect="1"/>
          </p:cNvPicPr>
          <p:nvPr/>
        </p:nvPicPr>
        <p:blipFill>
          <a:blip r:embed="rId1"/>
          <a:stretch>
            <a:fillRect/>
          </a:stretch>
        </p:blipFill>
        <p:spPr>
          <a:xfrm>
            <a:off x="5163185" y="2447925"/>
            <a:ext cx="5692775" cy="3444875"/>
          </a:xfrm>
          <a:prstGeom prst="rect">
            <a:avLst/>
          </a:prstGeom>
          <a:noFill/>
          <a:ln w="9525">
            <a:noFill/>
          </a:ln>
        </p:spPr>
      </p:pic>
      <p:sp>
        <p:nvSpPr>
          <p:cNvPr id="2" name="文本框 1"/>
          <p:cNvSpPr txBox="1"/>
          <p:nvPr/>
        </p:nvSpPr>
        <p:spPr>
          <a:xfrm>
            <a:off x="962025" y="3210560"/>
            <a:ext cx="3895725" cy="2601595"/>
          </a:xfrm>
          <a:prstGeom prst="rect">
            <a:avLst/>
          </a:prstGeom>
          <a:noFill/>
        </p:spPr>
        <p:txBody>
          <a:bodyPr wrap="square" rtlCol="0" anchor="t">
            <a:noAutofit/>
          </a:bodyPr>
          <a:p>
            <a:pPr marL="0" indent="0">
              <a:lnSpc>
                <a:spcPct val="120000"/>
              </a:lnSpc>
              <a:buNone/>
            </a:pPr>
            <a:r>
              <a:rPr lang="zh-CN" altLang="en-US" sz="2400" dirty="0">
                <a:sym typeface="+mn-ea"/>
              </a:rPr>
              <a:t>借助于</a:t>
            </a:r>
            <a:r>
              <a:rPr lang="en-US" altLang="zh-CN" sz="2400" dirty="0">
                <a:sym typeface="+mn-ea"/>
              </a:rPr>
              <a:t>Zookeeper</a:t>
            </a:r>
            <a:r>
              <a:rPr lang="zh-CN" altLang="en-US" sz="2400" dirty="0">
                <a:sym typeface="+mn-ea"/>
              </a:rPr>
              <a:t>，若</a:t>
            </a:r>
            <a:r>
              <a:rPr lang="en-US" altLang="zh-CN" sz="2400" dirty="0">
                <a:sym typeface="+mn-ea"/>
              </a:rPr>
              <a:t>Nimbus</a:t>
            </a:r>
            <a:r>
              <a:rPr lang="zh-CN" altLang="zh-CN" sz="2400" dirty="0">
                <a:sym typeface="+mn-ea"/>
              </a:rPr>
              <a:t>进程或</a:t>
            </a:r>
            <a:r>
              <a:rPr lang="en-US" altLang="zh-CN" sz="2400" dirty="0">
                <a:sym typeface="+mn-ea"/>
              </a:rPr>
              <a:t>Supervisor</a:t>
            </a:r>
            <a:r>
              <a:rPr lang="zh-CN" altLang="zh-CN" sz="2400" dirty="0">
                <a:sym typeface="+mn-ea"/>
              </a:rPr>
              <a:t>进程</a:t>
            </a:r>
            <a:r>
              <a:rPr lang="zh-CN" altLang="en-US" sz="2400" dirty="0">
                <a:sym typeface="+mn-ea"/>
              </a:rPr>
              <a:t>意外</a:t>
            </a:r>
            <a:r>
              <a:rPr lang="zh-CN" altLang="zh-CN" sz="2400" dirty="0">
                <a:sym typeface="+mn-ea"/>
              </a:rPr>
              <a:t>终止，</a:t>
            </a:r>
            <a:r>
              <a:rPr lang="zh-CN" altLang="en-US" sz="2400" dirty="0">
                <a:sym typeface="+mn-ea"/>
              </a:rPr>
              <a:t>重启时也能读取、</a:t>
            </a:r>
            <a:r>
              <a:rPr lang="zh-CN" altLang="zh-CN" sz="2400" dirty="0">
                <a:sym typeface="+mn-ea"/>
              </a:rPr>
              <a:t>恢复之前的状态并继续工作</a:t>
            </a:r>
            <a:r>
              <a:rPr lang="zh-CN" altLang="en-US" sz="2400" dirty="0">
                <a:sym typeface="+mn-ea"/>
              </a:rPr>
              <a:t>，</a:t>
            </a:r>
            <a:r>
              <a:rPr lang="zh-CN" altLang="zh-CN" sz="2400" dirty="0">
                <a:sym typeface="+mn-ea"/>
              </a:rPr>
              <a:t>使得</a:t>
            </a:r>
            <a:r>
              <a:rPr lang="en-US" altLang="zh-CN" sz="2400" dirty="0">
                <a:sym typeface="+mn-ea"/>
              </a:rPr>
              <a:t>Storm</a:t>
            </a:r>
            <a:r>
              <a:rPr lang="zh-CN" altLang="zh-CN" sz="2400" dirty="0">
                <a:sym typeface="+mn-ea"/>
              </a:rPr>
              <a:t>极其稳定</a:t>
            </a:r>
            <a:endParaRPr lang="zh-CN" altLang="zh-CN" sz="2400" dirty="0">
              <a:sym typeface="+mn-ea"/>
            </a:endParaRPr>
          </a:p>
        </p:txBody>
      </p:sp>
      <p:sp>
        <p:nvSpPr>
          <p:cNvPr id="3" name="文本框 2"/>
          <p:cNvSpPr txBox="1"/>
          <p:nvPr/>
        </p:nvSpPr>
        <p:spPr>
          <a:xfrm>
            <a:off x="962025" y="1630680"/>
            <a:ext cx="9894570" cy="829945"/>
          </a:xfrm>
          <a:prstGeom prst="rect">
            <a:avLst/>
          </a:prstGeom>
          <a:noFill/>
        </p:spPr>
        <p:txBody>
          <a:bodyPr wrap="square" rtlCol="0" anchor="t">
            <a:spAutoFit/>
          </a:bodyPr>
          <a:p>
            <a:pPr marL="0" indent="0">
              <a:buNone/>
            </a:pPr>
            <a:r>
              <a:rPr lang="en-US" altLang="zh-CN" sz="2400" dirty="0">
                <a:sym typeface="+mn-ea"/>
              </a:rPr>
              <a:t>Storm</a:t>
            </a:r>
            <a:r>
              <a:rPr lang="zh-CN" altLang="en-US" sz="2400" dirty="0">
                <a:sym typeface="+mn-ea"/>
              </a:rPr>
              <a:t>使用</a:t>
            </a:r>
            <a:r>
              <a:rPr lang="en-US" altLang="zh-CN" sz="2400" dirty="0">
                <a:sym typeface="+mn-ea"/>
              </a:rPr>
              <a:t>Zookeeper</a:t>
            </a:r>
            <a:r>
              <a:rPr lang="zh-CN" altLang="zh-CN" sz="2400" dirty="0">
                <a:sym typeface="+mn-ea"/>
              </a:rPr>
              <a:t>来作为分布式协调组件，负责</a:t>
            </a:r>
            <a:r>
              <a:rPr lang="en-US" altLang="zh-CN" sz="2400" dirty="0">
                <a:sym typeface="+mn-ea"/>
              </a:rPr>
              <a:t>Nimbus</a:t>
            </a:r>
            <a:r>
              <a:rPr lang="zh-CN" altLang="zh-CN" sz="2400" dirty="0">
                <a:sym typeface="+mn-ea"/>
              </a:rPr>
              <a:t>和多个</a:t>
            </a:r>
            <a:r>
              <a:rPr lang="en-US" altLang="zh-CN" sz="2400" dirty="0">
                <a:sym typeface="+mn-ea"/>
              </a:rPr>
              <a:t>Supervisor</a:t>
            </a:r>
            <a:r>
              <a:rPr lang="zh-CN" altLang="zh-CN" sz="2400" dirty="0">
                <a:sym typeface="+mn-ea"/>
              </a:rPr>
              <a:t>之间的所有协调工作</a:t>
            </a:r>
            <a:r>
              <a:rPr lang="zh-CN" altLang="en-US" sz="2400" dirty="0">
                <a:sym typeface="+mn-ea"/>
              </a:rPr>
              <a:t>。</a:t>
            </a:r>
            <a:endParaRPr lang="zh-CN" altLang="en-US" sz="2400" dirty="0">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2"/>
          <p:cNvSpPr>
            <a:spLocks noGrp="1"/>
          </p:cNvSpPr>
          <p:nvPr>
            <p:ph type="title"/>
          </p:nvPr>
        </p:nvSpPr>
        <p:spPr/>
        <p:txBody>
          <a:bodyPr vert="horz" wrap="square" lIns="91440" tIns="45720" rIns="91440" bIns="45720" anchor="ctr" anchorCtr="0"/>
          <a:lstStyle/>
          <a:p>
            <a:pPr marL="342900" indent="-342900"/>
            <a:r>
              <a:rPr lang="en-US" altLang="zh-CN" b="1" dirty="0"/>
              <a:t>11.4.4 Storm</a:t>
            </a:r>
            <a:r>
              <a:rPr lang="zh-CN" altLang="zh-CN" b="1" dirty="0"/>
              <a:t>框架设计</a:t>
            </a:r>
            <a:endParaRPr lang="zh-CN" altLang="zh-CN" b="1" dirty="0"/>
          </a:p>
        </p:txBody>
      </p:sp>
      <p:pic>
        <p:nvPicPr>
          <p:cNvPr id="44037" name="Picture 7"/>
          <p:cNvPicPr>
            <a:picLocks noChangeAspect="1"/>
          </p:cNvPicPr>
          <p:nvPr/>
        </p:nvPicPr>
        <p:blipFill>
          <a:blip r:embed="rId1"/>
          <a:stretch>
            <a:fillRect/>
          </a:stretch>
        </p:blipFill>
        <p:spPr>
          <a:xfrm>
            <a:off x="1986280" y="2312035"/>
            <a:ext cx="7073900" cy="4276090"/>
          </a:xfrm>
          <a:prstGeom prst="rect">
            <a:avLst/>
          </a:prstGeom>
          <a:noFill/>
          <a:ln w="9525">
            <a:noFill/>
          </a:ln>
        </p:spPr>
      </p:pic>
      <p:sp>
        <p:nvSpPr>
          <p:cNvPr id="44038" name="矩形 5"/>
          <p:cNvSpPr/>
          <p:nvPr/>
        </p:nvSpPr>
        <p:spPr>
          <a:xfrm>
            <a:off x="905510" y="1573530"/>
            <a:ext cx="8357870" cy="460375"/>
          </a:xfrm>
          <a:prstGeom prst="rect">
            <a:avLst/>
          </a:prstGeom>
          <a:noFill/>
          <a:ln w="9525">
            <a:noFill/>
          </a:ln>
        </p:spPr>
        <p:txBody>
          <a:bodyPr wrap="square">
            <a:spAutoFit/>
          </a:bodyPr>
          <a:lstStyle/>
          <a:p>
            <a:pPr indent="0">
              <a:buNone/>
            </a:pPr>
            <a:r>
              <a:rPr lang="zh-CN" altLang="zh-CN" sz="2400" dirty="0">
                <a:sym typeface="+mn-ea"/>
              </a:rPr>
              <a:t>基于这样的架构设计，</a:t>
            </a:r>
            <a:r>
              <a:rPr lang="en-US" altLang="zh-CN" sz="2400" dirty="0">
                <a:sym typeface="+mn-ea"/>
              </a:rPr>
              <a:t>Storm</a:t>
            </a:r>
            <a:r>
              <a:rPr lang="zh-CN" altLang="zh-CN" sz="2400" dirty="0">
                <a:sym typeface="+mn-ea"/>
              </a:rPr>
              <a:t>的工作流程如</a:t>
            </a:r>
            <a:r>
              <a:rPr lang="zh-CN" altLang="en-US" sz="2400" dirty="0">
                <a:sym typeface="+mn-ea"/>
              </a:rPr>
              <a:t>下</a:t>
            </a:r>
            <a:r>
              <a:rPr lang="zh-CN" altLang="zh-CN" sz="2400" dirty="0">
                <a:sym typeface="+mn-ea"/>
              </a:rPr>
              <a:t>图</a:t>
            </a:r>
            <a:r>
              <a:rPr lang="zh-CN" altLang="en-US" sz="2400" dirty="0">
                <a:sym typeface="+mn-ea"/>
              </a:rPr>
              <a:t>所示：</a:t>
            </a:r>
            <a:endParaRPr lang="zh-CN" altLang="en-US" sz="2400" dirty="0">
              <a:latin typeface="Arial" panose="020B0604020202020204" pitchFamily="34" charset="0"/>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b="1"/>
              <a:t>11.4.5 Storm</a:t>
            </a:r>
            <a:r>
              <a:rPr lang="zh-CN" altLang="en-US" b="1"/>
              <a:t>实例</a:t>
            </a:r>
            <a:endParaRPr lang="zh-CN" altLang="en-US" b="1"/>
          </a:p>
        </p:txBody>
      </p:sp>
      <p:sp>
        <p:nvSpPr>
          <p:cNvPr id="4" name="灯片编号占位符 3"/>
          <p:cNvSpPr>
            <a:spLocks noGrp="1"/>
          </p:cNvSpPr>
          <p:nvPr>
            <p:ph type="sldNum" sz="quarter" idx="12"/>
          </p:nvPr>
        </p:nvSpPr>
        <p:spPr/>
        <p:txBody>
          <a:bodyPr/>
          <a:p>
            <a:fld id="{7E57CE09-A6DF-4F65-B9AD-CB157D51E68C}" type="slidenum">
              <a:rPr lang="zh-CN" altLang="en-US" smtClean="0"/>
            </a:fld>
            <a:endParaRPr lang="zh-CN" altLang="en-US"/>
          </a:p>
        </p:txBody>
      </p:sp>
      <p:grpSp>
        <p:nvGrpSpPr>
          <p:cNvPr id="19" name="组合 18"/>
          <p:cNvGrpSpPr/>
          <p:nvPr/>
        </p:nvGrpSpPr>
        <p:grpSpPr>
          <a:xfrm>
            <a:off x="598170" y="3316605"/>
            <a:ext cx="2216150" cy="3460750"/>
            <a:chOff x="942" y="3978"/>
            <a:chExt cx="3490" cy="5450"/>
          </a:xfrm>
        </p:grpSpPr>
        <p:sp>
          <p:nvSpPr>
            <p:cNvPr id="6" name="矩形 5"/>
            <p:cNvSpPr/>
            <p:nvPr/>
          </p:nvSpPr>
          <p:spPr>
            <a:xfrm>
              <a:off x="942" y="3978"/>
              <a:ext cx="3490" cy="4495"/>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p>
              <a:pPr algn="ctr"/>
              <a:endParaRPr lang="zh-CN" altLang="en-US"/>
            </a:p>
          </p:txBody>
        </p:sp>
        <p:sp>
          <p:nvSpPr>
            <p:cNvPr id="7" name="文本框 6"/>
            <p:cNvSpPr txBox="1"/>
            <p:nvPr/>
          </p:nvSpPr>
          <p:spPr>
            <a:xfrm>
              <a:off x="1919" y="4256"/>
              <a:ext cx="1536" cy="725"/>
            </a:xfrm>
            <a:prstGeom prst="rect">
              <a:avLst/>
            </a:prstGeom>
            <a:noFill/>
          </p:spPr>
          <p:txBody>
            <a:bodyPr wrap="square" rtlCol="0">
              <a:spAutoFit/>
            </a:bodyPr>
            <a:p>
              <a:r>
                <a:rPr lang="en-US" altLang="zh-CN" sz="2400"/>
                <a:t>Spout</a:t>
              </a:r>
              <a:endParaRPr lang="en-US" altLang="zh-CN" sz="2400"/>
            </a:p>
          </p:txBody>
        </p:sp>
        <p:sp>
          <p:nvSpPr>
            <p:cNvPr id="8" name="文本框 7"/>
            <p:cNvSpPr txBox="1"/>
            <p:nvPr/>
          </p:nvSpPr>
          <p:spPr>
            <a:xfrm>
              <a:off x="1635" y="8704"/>
              <a:ext cx="1920" cy="725"/>
            </a:xfrm>
            <a:prstGeom prst="rect">
              <a:avLst/>
            </a:prstGeom>
            <a:noFill/>
          </p:spPr>
          <p:txBody>
            <a:bodyPr wrap="square" rtlCol="0">
              <a:spAutoFit/>
            </a:bodyPr>
            <a:p>
              <a:r>
                <a:rPr lang="zh-CN" altLang="en-US" sz="2400"/>
                <a:t>数据源</a:t>
              </a:r>
              <a:endParaRPr lang="zh-CN" altLang="en-US" sz="2400"/>
            </a:p>
          </p:txBody>
        </p:sp>
      </p:grpSp>
      <p:grpSp>
        <p:nvGrpSpPr>
          <p:cNvPr id="20" name="组合 19"/>
          <p:cNvGrpSpPr/>
          <p:nvPr/>
        </p:nvGrpSpPr>
        <p:grpSpPr>
          <a:xfrm>
            <a:off x="4697730" y="3316605"/>
            <a:ext cx="2216150" cy="3460750"/>
            <a:chOff x="7398" y="3978"/>
            <a:chExt cx="3490" cy="5450"/>
          </a:xfrm>
        </p:grpSpPr>
        <p:sp>
          <p:nvSpPr>
            <p:cNvPr id="9" name="矩形 8"/>
            <p:cNvSpPr/>
            <p:nvPr>
              <p:custDataLst>
                <p:tags r:id="rId1"/>
              </p:custDataLst>
            </p:nvPr>
          </p:nvSpPr>
          <p:spPr>
            <a:xfrm>
              <a:off x="7398" y="3978"/>
              <a:ext cx="3490" cy="4495"/>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p>
              <a:pPr algn="ctr"/>
              <a:endParaRPr lang="zh-CN" altLang="en-US"/>
            </a:p>
          </p:txBody>
        </p:sp>
        <p:sp>
          <p:nvSpPr>
            <p:cNvPr id="10" name="文本框 9"/>
            <p:cNvSpPr txBox="1"/>
            <p:nvPr>
              <p:custDataLst>
                <p:tags r:id="rId2"/>
              </p:custDataLst>
            </p:nvPr>
          </p:nvSpPr>
          <p:spPr>
            <a:xfrm>
              <a:off x="8576" y="4256"/>
              <a:ext cx="1536" cy="725"/>
            </a:xfrm>
            <a:prstGeom prst="rect">
              <a:avLst/>
            </a:prstGeom>
            <a:noFill/>
          </p:spPr>
          <p:txBody>
            <a:bodyPr wrap="square" rtlCol="0">
              <a:spAutoFit/>
            </a:bodyPr>
            <a:p>
              <a:r>
                <a:rPr lang="en-US" altLang="zh-CN" sz="2400"/>
                <a:t>Bolt</a:t>
              </a:r>
              <a:endParaRPr lang="en-US" altLang="zh-CN" sz="2400"/>
            </a:p>
          </p:txBody>
        </p:sp>
        <p:sp>
          <p:nvSpPr>
            <p:cNvPr id="11" name="文本框 10"/>
            <p:cNvSpPr txBox="1"/>
            <p:nvPr>
              <p:custDataLst>
                <p:tags r:id="rId3"/>
              </p:custDataLst>
            </p:nvPr>
          </p:nvSpPr>
          <p:spPr>
            <a:xfrm>
              <a:off x="7921" y="8704"/>
              <a:ext cx="2305" cy="725"/>
            </a:xfrm>
            <a:prstGeom prst="rect">
              <a:avLst/>
            </a:prstGeom>
            <a:noFill/>
          </p:spPr>
          <p:txBody>
            <a:bodyPr wrap="square" rtlCol="0">
              <a:spAutoFit/>
            </a:bodyPr>
            <a:p>
              <a:r>
                <a:rPr lang="zh-CN" altLang="en-US" sz="2400"/>
                <a:t>单词分割</a:t>
              </a:r>
              <a:endParaRPr lang="zh-CN" altLang="en-US" sz="2400"/>
            </a:p>
          </p:txBody>
        </p:sp>
      </p:grpSp>
      <p:grpSp>
        <p:nvGrpSpPr>
          <p:cNvPr id="21" name="组合 20"/>
          <p:cNvGrpSpPr/>
          <p:nvPr/>
        </p:nvGrpSpPr>
        <p:grpSpPr>
          <a:xfrm>
            <a:off x="8610600" y="3316605"/>
            <a:ext cx="2216150" cy="3460750"/>
            <a:chOff x="13560" y="3978"/>
            <a:chExt cx="3490" cy="5450"/>
          </a:xfrm>
        </p:grpSpPr>
        <p:sp>
          <p:nvSpPr>
            <p:cNvPr id="12" name="矩形 11"/>
            <p:cNvSpPr/>
            <p:nvPr>
              <p:custDataLst>
                <p:tags r:id="rId4"/>
              </p:custDataLst>
            </p:nvPr>
          </p:nvSpPr>
          <p:spPr>
            <a:xfrm>
              <a:off x="13560" y="3978"/>
              <a:ext cx="3490" cy="4495"/>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p>
              <a:pPr algn="ctr"/>
              <a:endParaRPr lang="zh-CN" altLang="en-US"/>
            </a:p>
          </p:txBody>
        </p:sp>
        <p:sp>
          <p:nvSpPr>
            <p:cNvPr id="13" name="文本框 12"/>
            <p:cNvSpPr txBox="1"/>
            <p:nvPr>
              <p:custDataLst>
                <p:tags r:id="rId5"/>
              </p:custDataLst>
            </p:nvPr>
          </p:nvSpPr>
          <p:spPr>
            <a:xfrm>
              <a:off x="14672" y="4256"/>
              <a:ext cx="1536" cy="725"/>
            </a:xfrm>
            <a:prstGeom prst="rect">
              <a:avLst/>
            </a:prstGeom>
            <a:noFill/>
          </p:spPr>
          <p:txBody>
            <a:bodyPr wrap="square" rtlCol="0">
              <a:spAutoFit/>
            </a:bodyPr>
            <a:p>
              <a:r>
                <a:rPr lang="en-US" altLang="zh-CN" sz="2400"/>
                <a:t>Bolt</a:t>
              </a:r>
              <a:endParaRPr lang="en-US" altLang="zh-CN" sz="2400"/>
            </a:p>
          </p:txBody>
        </p:sp>
        <p:sp>
          <p:nvSpPr>
            <p:cNvPr id="14" name="文本框 13"/>
            <p:cNvSpPr txBox="1"/>
            <p:nvPr>
              <p:custDataLst>
                <p:tags r:id="rId6"/>
              </p:custDataLst>
            </p:nvPr>
          </p:nvSpPr>
          <p:spPr>
            <a:xfrm>
              <a:off x="14194" y="8704"/>
              <a:ext cx="2491" cy="725"/>
            </a:xfrm>
            <a:prstGeom prst="rect">
              <a:avLst/>
            </a:prstGeom>
            <a:noFill/>
          </p:spPr>
          <p:txBody>
            <a:bodyPr wrap="square" rtlCol="0">
              <a:spAutoFit/>
            </a:bodyPr>
            <a:p>
              <a:r>
                <a:rPr lang="zh-CN" altLang="en-US" sz="2400"/>
                <a:t>单词统计</a:t>
              </a:r>
              <a:endParaRPr lang="zh-CN" altLang="en-US" sz="2400"/>
            </a:p>
          </p:txBody>
        </p:sp>
      </p:grpSp>
      <p:sp>
        <p:nvSpPr>
          <p:cNvPr id="15" name="文本框 14"/>
          <p:cNvSpPr txBox="1"/>
          <p:nvPr/>
        </p:nvSpPr>
        <p:spPr>
          <a:xfrm>
            <a:off x="598170" y="1508760"/>
            <a:ext cx="4232275" cy="460375"/>
          </a:xfrm>
          <a:prstGeom prst="rect">
            <a:avLst/>
          </a:prstGeom>
          <a:noFill/>
        </p:spPr>
        <p:txBody>
          <a:bodyPr wrap="square" rtlCol="0" anchor="t">
            <a:spAutoFit/>
          </a:bodyPr>
          <a:p>
            <a:r>
              <a:rPr lang="zh-CN" altLang="en-US" sz="2400">
                <a:sym typeface="+mn-ea"/>
              </a:rPr>
              <a:t>单词统计，</a:t>
            </a:r>
            <a:r>
              <a:rPr lang="en-US" altLang="zh-CN" sz="2400">
                <a:sym typeface="+mn-ea"/>
              </a:rPr>
              <a:t>Topology</a:t>
            </a:r>
            <a:r>
              <a:rPr lang="zh-CN" altLang="en-US" sz="2400">
                <a:sym typeface="+mn-ea"/>
              </a:rPr>
              <a:t>整体逻辑</a:t>
            </a:r>
            <a:endParaRPr lang="zh-CN" altLang="en-US" sz="2400">
              <a:sym typeface="+mn-ea"/>
            </a:endParaRPr>
          </a:p>
        </p:txBody>
      </p:sp>
      <p:sp>
        <p:nvSpPr>
          <p:cNvPr id="17" name="右箭头 16"/>
          <p:cNvSpPr/>
          <p:nvPr/>
        </p:nvSpPr>
        <p:spPr>
          <a:xfrm>
            <a:off x="3221355" y="4415155"/>
            <a:ext cx="1069340" cy="6572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右箭头 17"/>
          <p:cNvSpPr/>
          <p:nvPr/>
        </p:nvSpPr>
        <p:spPr>
          <a:xfrm>
            <a:off x="7261860" y="4415155"/>
            <a:ext cx="1069340" cy="6572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left)">
                                      <p:cBhvr>
                                        <p:cTn id="11" dur="500"/>
                                        <p:tgtEl>
                                          <p:spTgt spid="17"/>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left)">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wipe(left)">
                                      <p:cBhvr>
                                        <p:cTn id="2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17" grpId="1" animBg="1"/>
      <p:bldP spid="18" grpId="0" bldLvl="0" animBg="1"/>
      <p:bldP spid="18" grpId="1"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b="1"/>
              <a:t>11.4.5 Storm</a:t>
            </a:r>
            <a:r>
              <a:rPr lang="zh-CN" altLang="en-US" b="1"/>
              <a:t>实例</a:t>
            </a:r>
            <a:endParaRPr lang="zh-CN" altLang="en-US" b="1"/>
          </a:p>
        </p:txBody>
      </p:sp>
      <p:sp>
        <p:nvSpPr>
          <p:cNvPr id="4" name="灯片编号占位符 3"/>
          <p:cNvSpPr>
            <a:spLocks noGrp="1"/>
          </p:cNvSpPr>
          <p:nvPr>
            <p:ph type="sldNum" sz="quarter" idx="12"/>
          </p:nvPr>
        </p:nvSpPr>
        <p:spPr/>
        <p:txBody>
          <a:bodyPr/>
          <a:p>
            <a:fld id="{7E57CE09-A6DF-4F65-B9AD-CB157D51E68C}" type="slidenum">
              <a:rPr lang="zh-CN" altLang="en-US" smtClean="0"/>
            </a:fld>
            <a:endParaRPr lang="zh-CN" altLang="en-US"/>
          </a:p>
        </p:txBody>
      </p:sp>
      <p:grpSp>
        <p:nvGrpSpPr>
          <p:cNvPr id="22" name="组合 21"/>
          <p:cNvGrpSpPr/>
          <p:nvPr/>
        </p:nvGrpSpPr>
        <p:grpSpPr>
          <a:xfrm>
            <a:off x="598170" y="3316605"/>
            <a:ext cx="2216150" cy="2853690"/>
            <a:chOff x="942" y="5223"/>
            <a:chExt cx="3490" cy="4494"/>
          </a:xfrm>
        </p:grpSpPr>
        <p:sp>
          <p:nvSpPr>
            <p:cNvPr id="6" name="矩形 5"/>
            <p:cNvSpPr/>
            <p:nvPr/>
          </p:nvSpPr>
          <p:spPr>
            <a:xfrm>
              <a:off x="942" y="5223"/>
              <a:ext cx="3490" cy="4495"/>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p>
              <a:pPr algn="ctr"/>
              <a:endParaRPr lang="zh-CN" altLang="en-US"/>
            </a:p>
          </p:txBody>
        </p:sp>
        <p:sp>
          <p:nvSpPr>
            <p:cNvPr id="7" name="文本框 6"/>
            <p:cNvSpPr txBox="1"/>
            <p:nvPr/>
          </p:nvSpPr>
          <p:spPr>
            <a:xfrm>
              <a:off x="1919" y="5501"/>
              <a:ext cx="1536" cy="725"/>
            </a:xfrm>
            <a:prstGeom prst="rect">
              <a:avLst/>
            </a:prstGeom>
            <a:noFill/>
          </p:spPr>
          <p:txBody>
            <a:bodyPr wrap="square" rtlCol="0">
              <a:spAutoFit/>
            </a:bodyPr>
            <a:p>
              <a:r>
                <a:rPr lang="en-US" altLang="zh-CN" sz="2400"/>
                <a:t>Spout</a:t>
              </a:r>
              <a:endParaRPr lang="en-US" altLang="zh-CN" sz="2400"/>
            </a:p>
          </p:txBody>
        </p:sp>
      </p:grpSp>
      <p:sp>
        <p:nvSpPr>
          <p:cNvPr id="8" name="文本框 7"/>
          <p:cNvSpPr txBox="1"/>
          <p:nvPr/>
        </p:nvSpPr>
        <p:spPr>
          <a:xfrm>
            <a:off x="894080" y="6261100"/>
            <a:ext cx="1616075" cy="460375"/>
          </a:xfrm>
          <a:prstGeom prst="rect">
            <a:avLst/>
          </a:prstGeom>
          <a:noFill/>
        </p:spPr>
        <p:txBody>
          <a:bodyPr wrap="square" rtlCol="0">
            <a:spAutoFit/>
          </a:bodyPr>
          <a:p>
            <a:r>
              <a:rPr lang="en-US" altLang="zh-CN" sz="2400"/>
              <a:t>sentences</a:t>
            </a:r>
            <a:endParaRPr lang="en-US" altLang="zh-CN" sz="2400"/>
          </a:p>
        </p:txBody>
      </p:sp>
      <p:grpSp>
        <p:nvGrpSpPr>
          <p:cNvPr id="23" name="组合 22"/>
          <p:cNvGrpSpPr/>
          <p:nvPr/>
        </p:nvGrpSpPr>
        <p:grpSpPr>
          <a:xfrm>
            <a:off x="4697730" y="3316605"/>
            <a:ext cx="2216150" cy="2853690"/>
            <a:chOff x="7398" y="5223"/>
            <a:chExt cx="3490" cy="4494"/>
          </a:xfrm>
        </p:grpSpPr>
        <p:sp>
          <p:nvSpPr>
            <p:cNvPr id="9" name="矩形 8"/>
            <p:cNvSpPr/>
            <p:nvPr>
              <p:custDataLst>
                <p:tags r:id="rId1"/>
              </p:custDataLst>
            </p:nvPr>
          </p:nvSpPr>
          <p:spPr>
            <a:xfrm>
              <a:off x="7398" y="5223"/>
              <a:ext cx="3490" cy="4495"/>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p>
              <a:pPr algn="ctr"/>
              <a:endParaRPr lang="zh-CN" altLang="en-US"/>
            </a:p>
          </p:txBody>
        </p:sp>
        <p:sp>
          <p:nvSpPr>
            <p:cNvPr id="10" name="文本框 9"/>
            <p:cNvSpPr txBox="1"/>
            <p:nvPr>
              <p:custDataLst>
                <p:tags r:id="rId2"/>
              </p:custDataLst>
            </p:nvPr>
          </p:nvSpPr>
          <p:spPr>
            <a:xfrm>
              <a:off x="8576" y="5501"/>
              <a:ext cx="1536" cy="725"/>
            </a:xfrm>
            <a:prstGeom prst="rect">
              <a:avLst/>
            </a:prstGeom>
            <a:noFill/>
          </p:spPr>
          <p:txBody>
            <a:bodyPr wrap="square" rtlCol="0">
              <a:spAutoFit/>
            </a:bodyPr>
            <a:p>
              <a:r>
                <a:rPr lang="en-US" altLang="zh-CN" sz="2400"/>
                <a:t>Bolt</a:t>
              </a:r>
              <a:endParaRPr lang="en-US" altLang="zh-CN" sz="2400"/>
            </a:p>
          </p:txBody>
        </p:sp>
      </p:grpSp>
      <p:sp>
        <p:nvSpPr>
          <p:cNvPr id="11" name="文本框 10"/>
          <p:cNvSpPr txBox="1"/>
          <p:nvPr/>
        </p:nvSpPr>
        <p:spPr>
          <a:xfrm>
            <a:off x="5368290" y="6261100"/>
            <a:ext cx="786765" cy="460375"/>
          </a:xfrm>
          <a:prstGeom prst="rect">
            <a:avLst/>
          </a:prstGeom>
          <a:noFill/>
        </p:spPr>
        <p:txBody>
          <a:bodyPr wrap="square" rtlCol="0">
            <a:spAutoFit/>
          </a:bodyPr>
          <a:p>
            <a:r>
              <a:rPr lang="en-US" altLang="zh-CN" sz="2400"/>
              <a:t>split</a:t>
            </a:r>
            <a:endParaRPr lang="en-US" altLang="zh-CN" sz="2400"/>
          </a:p>
        </p:txBody>
      </p:sp>
      <p:grpSp>
        <p:nvGrpSpPr>
          <p:cNvPr id="33" name="组合 32"/>
          <p:cNvGrpSpPr/>
          <p:nvPr/>
        </p:nvGrpSpPr>
        <p:grpSpPr>
          <a:xfrm>
            <a:off x="8610600" y="3316605"/>
            <a:ext cx="2216150" cy="2853690"/>
            <a:chOff x="13560" y="5223"/>
            <a:chExt cx="3490" cy="4494"/>
          </a:xfrm>
        </p:grpSpPr>
        <p:sp>
          <p:nvSpPr>
            <p:cNvPr id="12" name="矩形 11"/>
            <p:cNvSpPr/>
            <p:nvPr>
              <p:custDataLst>
                <p:tags r:id="rId3"/>
              </p:custDataLst>
            </p:nvPr>
          </p:nvSpPr>
          <p:spPr>
            <a:xfrm>
              <a:off x="13560" y="5223"/>
              <a:ext cx="3490" cy="4495"/>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p>
              <a:pPr algn="ctr"/>
              <a:endParaRPr lang="zh-CN" altLang="en-US"/>
            </a:p>
          </p:txBody>
        </p:sp>
        <p:sp>
          <p:nvSpPr>
            <p:cNvPr id="13" name="文本框 12"/>
            <p:cNvSpPr txBox="1"/>
            <p:nvPr>
              <p:custDataLst>
                <p:tags r:id="rId4"/>
              </p:custDataLst>
            </p:nvPr>
          </p:nvSpPr>
          <p:spPr>
            <a:xfrm>
              <a:off x="14672" y="5501"/>
              <a:ext cx="1536" cy="725"/>
            </a:xfrm>
            <a:prstGeom prst="rect">
              <a:avLst/>
            </a:prstGeom>
            <a:noFill/>
          </p:spPr>
          <p:txBody>
            <a:bodyPr wrap="square" rtlCol="0">
              <a:spAutoFit/>
            </a:bodyPr>
            <a:p>
              <a:r>
                <a:rPr lang="en-US" altLang="zh-CN" sz="2400"/>
                <a:t>Bolt</a:t>
              </a:r>
              <a:endParaRPr lang="en-US" altLang="zh-CN" sz="2400"/>
            </a:p>
          </p:txBody>
        </p:sp>
      </p:grpSp>
      <p:sp>
        <p:nvSpPr>
          <p:cNvPr id="14" name="文本框 13"/>
          <p:cNvSpPr txBox="1"/>
          <p:nvPr/>
        </p:nvSpPr>
        <p:spPr>
          <a:xfrm>
            <a:off x="9190990" y="6261100"/>
            <a:ext cx="984250" cy="460375"/>
          </a:xfrm>
          <a:prstGeom prst="rect">
            <a:avLst/>
          </a:prstGeom>
          <a:noFill/>
        </p:spPr>
        <p:txBody>
          <a:bodyPr wrap="square" rtlCol="0">
            <a:spAutoFit/>
          </a:bodyPr>
          <a:p>
            <a:r>
              <a:rPr lang="en-US" altLang="zh-CN" sz="2400"/>
              <a:t>count</a:t>
            </a:r>
            <a:endParaRPr lang="en-US" altLang="zh-CN" sz="2400"/>
          </a:p>
        </p:txBody>
      </p:sp>
      <p:sp>
        <p:nvSpPr>
          <p:cNvPr id="3" name="内容占位符 2"/>
          <p:cNvSpPr>
            <a:spLocks noGrp="1"/>
          </p:cNvSpPr>
          <p:nvPr>
            <p:ph idx="1"/>
          </p:nvPr>
        </p:nvSpPr>
        <p:spPr>
          <a:xfrm>
            <a:off x="598170" y="1403985"/>
            <a:ext cx="9711055" cy="1604010"/>
          </a:xfrm>
        </p:spPr>
        <p:txBody>
          <a:bodyPr/>
          <a:p>
            <a:pPr marL="0" indent="0">
              <a:buNone/>
            </a:pPr>
            <a:r>
              <a:rPr lang="en-US" altLang="zh-CN" sz="2000"/>
              <a:t>TopologyBuilder builder = new TopologyBuilder();</a:t>
            </a:r>
            <a:endParaRPr lang="en-US" altLang="zh-CN" sz="2000"/>
          </a:p>
          <a:p>
            <a:pPr marL="0" indent="0">
              <a:buNone/>
            </a:pPr>
            <a:r>
              <a:rPr lang="en-US" altLang="zh-CN" sz="2000"/>
              <a:t>Builder.setSpout("sentences”, new RandomSentenceSpout(), </a:t>
            </a:r>
            <a:r>
              <a:rPr lang="en-US" altLang="zh-CN" sz="2000" b="1">
                <a:solidFill>
                  <a:srgbClr val="FF0000"/>
                </a:solidFill>
              </a:rPr>
              <a:t>2</a:t>
            </a:r>
            <a:r>
              <a:rPr lang="en-US" altLang="zh-CN" sz="2000"/>
              <a:t>);</a:t>
            </a:r>
            <a:endParaRPr lang="en-US" altLang="zh-CN" sz="2000"/>
          </a:p>
          <a:p>
            <a:pPr marL="0" indent="0">
              <a:buNone/>
            </a:pPr>
            <a:r>
              <a:rPr lang="en-US" altLang="zh-CN" sz="2000"/>
              <a:t>builder.setBolt(“split”, new SplitSentence(), </a:t>
            </a:r>
            <a:r>
              <a:rPr lang="en-US" altLang="zh-CN" sz="2000" b="1">
                <a:solidFill>
                  <a:srgbClr val="00B050"/>
                </a:solidFill>
              </a:rPr>
              <a:t>3</a:t>
            </a:r>
            <a:r>
              <a:rPr lang="en-US" altLang="zh-CN" sz="2000"/>
              <a:t>).shuffleGrouping("sentences”);</a:t>
            </a:r>
            <a:endParaRPr lang="en-US" altLang="zh-CN" sz="2000"/>
          </a:p>
          <a:p>
            <a:pPr marL="0" indent="0">
              <a:buNone/>
            </a:pPr>
            <a:r>
              <a:rPr lang="en-US" altLang="zh-CN" sz="2000"/>
              <a:t>builder.setBolt("count”,new WordCount(), </a:t>
            </a:r>
            <a:r>
              <a:rPr lang="en-US" altLang="zh-CN" sz="2000" b="1">
                <a:solidFill>
                  <a:srgbClr val="00B0F0"/>
                </a:solidFill>
              </a:rPr>
              <a:t>2</a:t>
            </a:r>
            <a:r>
              <a:rPr lang="en-US" altLang="zh-CN" sz="2000"/>
              <a:t>).fieldsGrouping("split”,new Fields("word”));</a:t>
            </a:r>
            <a:endParaRPr lang="en-US" altLang="zh-CN" sz="2000"/>
          </a:p>
        </p:txBody>
      </p:sp>
      <p:sp>
        <p:nvSpPr>
          <p:cNvPr id="5" name="椭圆 4"/>
          <p:cNvSpPr/>
          <p:nvPr/>
        </p:nvSpPr>
        <p:spPr>
          <a:xfrm>
            <a:off x="1329055" y="4163695"/>
            <a:ext cx="637540" cy="57912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椭圆 15"/>
          <p:cNvSpPr/>
          <p:nvPr/>
        </p:nvSpPr>
        <p:spPr>
          <a:xfrm>
            <a:off x="1329055" y="5066030"/>
            <a:ext cx="637540" cy="57912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 name="椭圆 23"/>
          <p:cNvSpPr/>
          <p:nvPr>
            <p:custDataLst>
              <p:tags r:id="rId5"/>
            </p:custDataLst>
          </p:nvPr>
        </p:nvSpPr>
        <p:spPr>
          <a:xfrm>
            <a:off x="5445760" y="3953510"/>
            <a:ext cx="637540" cy="57912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椭圆 24"/>
          <p:cNvSpPr/>
          <p:nvPr>
            <p:custDataLst>
              <p:tags r:id="rId6"/>
            </p:custDataLst>
          </p:nvPr>
        </p:nvSpPr>
        <p:spPr>
          <a:xfrm>
            <a:off x="5445760" y="4671060"/>
            <a:ext cx="637540" cy="57912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 name="椭圆 25"/>
          <p:cNvSpPr/>
          <p:nvPr>
            <p:custDataLst>
              <p:tags r:id="rId7"/>
            </p:custDataLst>
          </p:nvPr>
        </p:nvSpPr>
        <p:spPr>
          <a:xfrm>
            <a:off x="5445760" y="5417185"/>
            <a:ext cx="637540" cy="57912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27" name="直接箭头连接符 26"/>
          <p:cNvCxnSpPr>
            <a:stCxn id="5" idx="6"/>
            <a:endCxn id="24" idx="2"/>
          </p:cNvCxnSpPr>
          <p:nvPr/>
        </p:nvCxnSpPr>
        <p:spPr>
          <a:xfrm flipV="1">
            <a:off x="1966595" y="4243070"/>
            <a:ext cx="3479165" cy="210185"/>
          </a:xfrm>
          <a:prstGeom prst="straightConnector1">
            <a:avLst/>
          </a:prstGeom>
          <a:ln w="28575">
            <a:tailEnd type="arrow" w="med" len="med"/>
          </a:ln>
        </p:spPr>
        <p:style>
          <a:lnRef idx="3">
            <a:schemeClr val="dk1"/>
          </a:lnRef>
          <a:fillRef idx="0">
            <a:schemeClr val="dk1"/>
          </a:fillRef>
          <a:effectRef idx="2">
            <a:schemeClr val="dk1"/>
          </a:effectRef>
          <a:fontRef idx="minor">
            <a:schemeClr val="tx1"/>
          </a:fontRef>
        </p:style>
      </p:cxnSp>
      <p:cxnSp>
        <p:nvCxnSpPr>
          <p:cNvPr id="28" name="直接箭头连接符 27"/>
          <p:cNvCxnSpPr>
            <a:stCxn id="5" idx="6"/>
            <a:endCxn id="25" idx="2"/>
          </p:cNvCxnSpPr>
          <p:nvPr/>
        </p:nvCxnSpPr>
        <p:spPr>
          <a:xfrm>
            <a:off x="1966595" y="4453255"/>
            <a:ext cx="3479165" cy="507365"/>
          </a:xfrm>
          <a:prstGeom prst="straightConnector1">
            <a:avLst/>
          </a:prstGeom>
          <a:ln w="28575">
            <a:tailEnd type="arrow" w="med" len="med"/>
          </a:ln>
        </p:spPr>
        <p:style>
          <a:lnRef idx="3">
            <a:schemeClr val="dk1"/>
          </a:lnRef>
          <a:fillRef idx="0">
            <a:schemeClr val="dk1"/>
          </a:fillRef>
          <a:effectRef idx="2">
            <a:schemeClr val="dk1"/>
          </a:effectRef>
          <a:fontRef idx="minor">
            <a:schemeClr val="tx1"/>
          </a:fontRef>
        </p:style>
      </p:cxnSp>
      <p:cxnSp>
        <p:nvCxnSpPr>
          <p:cNvPr id="29" name="直接箭头连接符 28"/>
          <p:cNvCxnSpPr>
            <a:stCxn id="5" idx="6"/>
            <a:endCxn id="26" idx="2"/>
          </p:cNvCxnSpPr>
          <p:nvPr/>
        </p:nvCxnSpPr>
        <p:spPr>
          <a:xfrm>
            <a:off x="1966595" y="4453255"/>
            <a:ext cx="3479165" cy="1253490"/>
          </a:xfrm>
          <a:prstGeom prst="straightConnector1">
            <a:avLst/>
          </a:prstGeom>
          <a:ln w="28575">
            <a:tailEnd type="arrow" w="med" len="med"/>
          </a:ln>
        </p:spPr>
        <p:style>
          <a:lnRef idx="3">
            <a:schemeClr val="dk1"/>
          </a:lnRef>
          <a:fillRef idx="0">
            <a:schemeClr val="dk1"/>
          </a:fillRef>
          <a:effectRef idx="2">
            <a:schemeClr val="dk1"/>
          </a:effectRef>
          <a:fontRef idx="minor">
            <a:schemeClr val="tx1"/>
          </a:fontRef>
        </p:style>
      </p:cxnSp>
      <p:cxnSp>
        <p:nvCxnSpPr>
          <p:cNvPr id="30" name="直接箭头连接符 29"/>
          <p:cNvCxnSpPr>
            <a:stCxn id="16" idx="6"/>
            <a:endCxn id="24" idx="2"/>
          </p:cNvCxnSpPr>
          <p:nvPr/>
        </p:nvCxnSpPr>
        <p:spPr>
          <a:xfrm flipV="1">
            <a:off x="1966595" y="4243070"/>
            <a:ext cx="3479165" cy="1112520"/>
          </a:xfrm>
          <a:prstGeom prst="straightConnector1">
            <a:avLst/>
          </a:prstGeom>
          <a:ln w="28575">
            <a:tailEnd type="arrow" w="med" len="med"/>
          </a:ln>
        </p:spPr>
        <p:style>
          <a:lnRef idx="3">
            <a:schemeClr val="dk1"/>
          </a:lnRef>
          <a:fillRef idx="0">
            <a:schemeClr val="dk1"/>
          </a:fillRef>
          <a:effectRef idx="2">
            <a:schemeClr val="dk1"/>
          </a:effectRef>
          <a:fontRef idx="minor">
            <a:schemeClr val="tx1"/>
          </a:fontRef>
        </p:style>
      </p:cxnSp>
      <p:cxnSp>
        <p:nvCxnSpPr>
          <p:cNvPr id="31" name="直接箭头连接符 30"/>
          <p:cNvCxnSpPr>
            <a:stCxn id="16" idx="6"/>
            <a:endCxn id="25" idx="2"/>
          </p:cNvCxnSpPr>
          <p:nvPr/>
        </p:nvCxnSpPr>
        <p:spPr>
          <a:xfrm flipV="1">
            <a:off x="1966595" y="4960620"/>
            <a:ext cx="3479165" cy="394970"/>
          </a:xfrm>
          <a:prstGeom prst="straightConnector1">
            <a:avLst/>
          </a:prstGeom>
          <a:ln w="28575">
            <a:tailEnd type="arrow" w="med" len="med"/>
          </a:ln>
        </p:spPr>
        <p:style>
          <a:lnRef idx="3">
            <a:schemeClr val="dk1"/>
          </a:lnRef>
          <a:fillRef idx="0">
            <a:schemeClr val="dk1"/>
          </a:fillRef>
          <a:effectRef idx="2">
            <a:schemeClr val="dk1"/>
          </a:effectRef>
          <a:fontRef idx="minor">
            <a:schemeClr val="tx1"/>
          </a:fontRef>
        </p:style>
      </p:cxnSp>
      <p:cxnSp>
        <p:nvCxnSpPr>
          <p:cNvPr id="32" name="直接箭头连接符 31"/>
          <p:cNvCxnSpPr>
            <a:stCxn id="16" idx="6"/>
            <a:endCxn id="26" idx="2"/>
          </p:cNvCxnSpPr>
          <p:nvPr/>
        </p:nvCxnSpPr>
        <p:spPr>
          <a:xfrm>
            <a:off x="1966595" y="5355590"/>
            <a:ext cx="3479165" cy="351155"/>
          </a:xfrm>
          <a:prstGeom prst="straightConnector1">
            <a:avLst/>
          </a:prstGeom>
          <a:ln w="28575">
            <a:tailEnd type="arrow" w="med" len="med"/>
          </a:ln>
        </p:spPr>
        <p:style>
          <a:lnRef idx="3">
            <a:schemeClr val="dk1"/>
          </a:lnRef>
          <a:fillRef idx="0">
            <a:schemeClr val="dk1"/>
          </a:fillRef>
          <a:effectRef idx="2">
            <a:schemeClr val="dk1"/>
          </a:effectRef>
          <a:fontRef idx="minor">
            <a:schemeClr val="tx1"/>
          </a:fontRef>
        </p:style>
      </p:cxnSp>
      <p:sp>
        <p:nvSpPr>
          <p:cNvPr id="34" name="椭圆 33"/>
          <p:cNvSpPr/>
          <p:nvPr>
            <p:custDataLst>
              <p:tags r:id="rId8"/>
            </p:custDataLst>
          </p:nvPr>
        </p:nvSpPr>
        <p:spPr>
          <a:xfrm>
            <a:off x="9335135" y="4163695"/>
            <a:ext cx="637540" cy="57912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 name="椭圆 34"/>
          <p:cNvSpPr/>
          <p:nvPr>
            <p:custDataLst>
              <p:tags r:id="rId9"/>
            </p:custDataLst>
          </p:nvPr>
        </p:nvSpPr>
        <p:spPr>
          <a:xfrm>
            <a:off x="9335135" y="5066030"/>
            <a:ext cx="637540" cy="57912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36" name="直接箭头连接符 35"/>
          <p:cNvCxnSpPr>
            <a:stCxn id="24" idx="6"/>
            <a:endCxn id="34" idx="1"/>
          </p:cNvCxnSpPr>
          <p:nvPr>
            <p:custDataLst>
              <p:tags r:id="rId10"/>
            </p:custDataLst>
          </p:nvPr>
        </p:nvCxnSpPr>
        <p:spPr>
          <a:xfrm>
            <a:off x="6083300" y="4243070"/>
            <a:ext cx="3345180" cy="5715"/>
          </a:xfrm>
          <a:prstGeom prst="straightConnector1">
            <a:avLst/>
          </a:prstGeom>
          <a:ln w="28575">
            <a:prstDash val="dash"/>
            <a:tailEnd type="arrow" w="med" len="med"/>
          </a:ln>
        </p:spPr>
        <p:style>
          <a:lnRef idx="3">
            <a:schemeClr val="dk1"/>
          </a:lnRef>
          <a:fillRef idx="0">
            <a:schemeClr val="dk1"/>
          </a:fillRef>
          <a:effectRef idx="2">
            <a:schemeClr val="dk1"/>
          </a:effectRef>
          <a:fontRef idx="minor">
            <a:schemeClr val="tx1"/>
          </a:fontRef>
        </p:style>
      </p:cxnSp>
      <p:cxnSp>
        <p:nvCxnSpPr>
          <p:cNvPr id="37" name="直接箭头连接符 36"/>
          <p:cNvCxnSpPr>
            <a:stCxn id="24" idx="6"/>
            <a:endCxn id="35" idx="1"/>
          </p:cNvCxnSpPr>
          <p:nvPr>
            <p:custDataLst>
              <p:tags r:id="rId11"/>
            </p:custDataLst>
          </p:nvPr>
        </p:nvCxnSpPr>
        <p:spPr>
          <a:xfrm>
            <a:off x="6083300" y="4243070"/>
            <a:ext cx="3345180" cy="908050"/>
          </a:xfrm>
          <a:prstGeom prst="straightConnector1">
            <a:avLst/>
          </a:prstGeom>
          <a:ln w="28575">
            <a:prstDash val="dash"/>
            <a:tailEnd type="arrow" w="med" len="med"/>
          </a:ln>
        </p:spPr>
        <p:style>
          <a:lnRef idx="3">
            <a:schemeClr val="dk1"/>
          </a:lnRef>
          <a:fillRef idx="0">
            <a:schemeClr val="dk1"/>
          </a:fillRef>
          <a:effectRef idx="2">
            <a:schemeClr val="dk1"/>
          </a:effectRef>
          <a:fontRef idx="minor">
            <a:schemeClr val="tx1"/>
          </a:fontRef>
        </p:style>
      </p:cxnSp>
      <p:cxnSp>
        <p:nvCxnSpPr>
          <p:cNvPr id="38" name="直接箭头连接符 37"/>
          <p:cNvCxnSpPr>
            <a:stCxn id="25" idx="6"/>
            <a:endCxn id="35" idx="2"/>
          </p:cNvCxnSpPr>
          <p:nvPr>
            <p:custDataLst>
              <p:tags r:id="rId12"/>
            </p:custDataLst>
          </p:nvPr>
        </p:nvCxnSpPr>
        <p:spPr>
          <a:xfrm>
            <a:off x="6083300" y="4960620"/>
            <a:ext cx="3251835" cy="394970"/>
          </a:xfrm>
          <a:prstGeom prst="straightConnector1">
            <a:avLst/>
          </a:prstGeom>
          <a:ln w="28575">
            <a:prstDash val="dash"/>
            <a:tailEnd type="arrow" w="med" len="med"/>
          </a:ln>
        </p:spPr>
        <p:style>
          <a:lnRef idx="3">
            <a:schemeClr val="dk1"/>
          </a:lnRef>
          <a:fillRef idx="0">
            <a:schemeClr val="dk1"/>
          </a:fillRef>
          <a:effectRef idx="2">
            <a:schemeClr val="dk1"/>
          </a:effectRef>
          <a:fontRef idx="minor">
            <a:schemeClr val="tx1"/>
          </a:fontRef>
        </p:style>
      </p:cxnSp>
      <p:cxnSp>
        <p:nvCxnSpPr>
          <p:cNvPr id="39" name="直接箭头连接符 38"/>
          <p:cNvCxnSpPr>
            <a:stCxn id="25" idx="6"/>
            <a:endCxn id="34" idx="2"/>
          </p:cNvCxnSpPr>
          <p:nvPr>
            <p:custDataLst>
              <p:tags r:id="rId13"/>
            </p:custDataLst>
          </p:nvPr>
        </p:nvCxnSpPr>
        <p:spPr>
          <a:xfrm flipV="1">
            <a:off x="6083300" y="4453255"/>
            <a:ext cx="3251835" cy="507365"/>
          </a:xfrm>
          <a:prstGeom prst="straightConnector1">
            <a:avLst/>
          </a:prstGeom>
          <a:ln w="28575">
            <a:prstDash val="dash"/>
            <a:tailEnd type="arrow" w="med" len="med"/>
          </a:ln>
        </p:spPr>
        <p:style>
          <a:lnRef idx="3">
            <a:schemeClr val="dk1"/>
          </a:lnRef>
          <a:fillRef idx="0">
            <a:schemeClr val="dk1"/>
          </a:fillRef>
          <a:effectRef idx="2">
            <a:schemeClr val="dk1"/>
          </a:effectRef>
          <a:fontRef idx="minor">
            <a:schemeClr val="tx1"/>
          </a:fontRef>
        </p:style>
      </p:cxnSp>
      <p:cxnSp>
        <p:nvCxnSpPr>
          <p:cNvPr id="40" name="直接箭头连接符 39"/>
          <p:cNvCxnSpPr>
            <a:stCxn id="26" idx="6"/>
            <a:endCxn id="35" idx="3"/>
          </p:cNvCxnSpPr>
          <p:nvPr>
            <p:custDataLst>
              <p:tags r:id="rId14"/>
            </p:custDataLst>
          </p:nvPr>
        </p:nvCxnSpPr>
        <p:spPr>
          <a:xfrm flipV="1">
            <a:off x="6083300" y="5560060"/>
            <a:ext cx="3345180" cy="146685"/>
          </a:xfrm>
          <a:prstGeom prst="straightConnector1">
            <a:avLst/>
          </a:prstGeom>
          <a:ln w="28575">
            <a:prstDash val="dash"/>
            <a:tailEnd type="arrow" w="med" len="med"/>
          </a:ln>
        </p:spPr>
        <p:style>
          <a:lnRef idx="3">
            <a:schemeClr val="dk1"/>
          </a:lnRef>
          <a:fillRef idx="0">
            <a:schemeClr val="dk1"/>
          </a:fillRef>
          <a:effectRef idx="2">
            <a:schemeClr val="dk1"/>
          </a:effectRef>
          <a:fontRef idx="minor">
            <a:schemeClr val="tx1"/>
          </a:fontRef>
        </p:style>
      </p:cxnSp>
      <p:cxnSp>
        <p:nvCxnSpPr>
          <p:cNvPr id="41" name="直接箭头连接符 40"/>
          <p:cNvCxnSpPr>
            <a:stCxn id="26" idx="6"/>
            <a:endCxn id="34" idx="3"/>
          </p:cNvCxnSpPr>
          <p:nvPr>
            <p:custDataLst>
              <p:tags r:id="rId15"/>
            </p:custDataLst>
          </p:nvPr>
        </p:nvCxnSpPr>
        <p:spPr>
          <a:xfrm flipV="1">
            <a:off x="6083300" y="4657725"/>
            <a:ext cx="3345180" cy="1049020"/>
          </a:xfrm>
          <a:prstGeom prst="straightConnector1">
            <a:avLst/>
          </a:prstGeom>
          <a:ln w="28575">
            <a:prstDash val="dash"/>
            <a:tailEnd type="arrow" w="med" len="med"/>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left)">
                                      <p:cBhvr>
                                        <p:cTn id="39" dur="500"/>
                                        <p:tgtEl>
                                          <p:spTgt spid="24"/>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left)">
                                      <p:cBhvr>
                                        <p:cTn id="42" dur="500"/>
                                        <p:tgtEl>
                                          <p:spTgt spid="25"/>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wipe(left)">
                                      <p:cBhvr>
                                        <p:cTn id="45" dur="500"/>
                                        <p:tgtEl>
                                          <p:spTgt spid="2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wipe(left)">
                                      <p:cBhvr>
                                        <p:cTn id="50" dur="500"/>
                                        <p:tgtEl>
                                          <p:spTgt spid="27"/>
                                        </p:tgtEl>
                                      </p:cBhvr>
                                    </p:animEffect>
                                  </p:childTnLst>
                                </p:cTn>
                              </p:par>
                            </p:childTnLst>
                          </p:cTn>
                        </p:par>
                        <p:par>
                          <p:cTn id="51" fill="hold">
                            <p:stCondLst>
                              <p:cond delay="500"/>
                            </p:stCondLst>
                            <p:childTnLst>
                              <p:par>
                                <p:cTn id="52" presetID="22" presetClass="entr" presetSubtype="8" fill="hold" nodeType="after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wipe(left)">
                                      <p:cBhvr>
                                        <p:cTn id="54" dur="500"/>
                                        <p:tgtEl>
                                          <p:spTgt spid="28"/>
                                        </p:tgtEl>
                                      </p:cBhvr>
                                    </p:animEffect>
                                  </p:childTnLst>
                                </p:cTn>
                              </p:par>
                            </p:childTnLst>
                          </p:cTn>
                        </p:par>
                        <p:par>
                          <p:cTn id="55" fill="hold">
                            <p:stCondLst>
                              <p:cond delay="1000"/>
                            </p:stCondLst>
                            <p:childTnLst>
                              <p:par>
                                <p:cTn id="56" presetID="22" presetClass="entr" presetSubtype="8" fill="hold" nodeType="after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wipe(left)">
                                      <p:cBhvr>
                                        <p:cTn id="58" dur="500"/>
                                        <p:tgtEl>
                                          <p:spTgt spid="29"/>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wipe(left)">
                                      <p:cBhvr>
                                        <p:cTn id="63" dur="500"/>
                                        <p:tgtEl>
                                          <p:spTgt spid="30"/>
                                        </p:tgtEl>
                                      </p:cBhvr>
                                    </p:animEffect>
                                  </p:childTnLst>
                                </p:cTn>
                              </p:par>
                            </p:childTnLst>
                          </p:cTn>
                        </p:par>
                        <p:par>
                          <p:cTn id="64" fill="hold">
                            <p:stCondLst>
                              <p:cond delay="500"/>
                            </p:stCondLst>
                            <p:childTnLst>
                              <p:par>
                                <p:cTn id="65" presetID="22" presetClass="entr" presetSubtype="8" fill="hold" nodeType="after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wipe(left)">
                                      <p:cBhvr>
                                        <p:cTn id="67" dur="500"/>
                                        <p:tgtEl>
                                          <p:spTgt spid="31"/>
                                        </p:tgtEl>
                                      </p:cBhvr>
                                    </p:animEffect>
                                  </p:childTnLst>
                                </p:cTn>
                              </p:par>
                            </p:childTnLst>
                          </p:cTn>
                        </p:par>
                        <p:par>
                          <p:cTn id="68" fill="hold">
                            <p:stCondLst>
                              <p:cond delay="1000"/>
                            </p:stCondLst>
                            <p:childTnLst>
                              <p:par>
                                <p:cTn id="69" presetID="22" presetClass="entr" presetSubtype="8" fill="hold" nodeType="after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wipe(left)">
                                      <p:cBhvr>
                                        <p:cTn id="71" dur="500"/>
                                        <p:tgtEl>
                                          <p:spTgt spid="32"/>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33"/>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14"/>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wipe(left)">
                                      <p:cBhvr>
                                        <p:cTn id="88" dur="500"/>
                                        <p:tgtEl>
                                          <p:spTgt spid="34"/>
                                        </p:tgtEl>
                                      </p:cBhvr>
                                    </p:animEffect>
                                  </p:childTnLst>
                                </p:cTn>
                              </p:par>
                              <p:par>
                                <p:cTn id="89" presetID="22" presetClass="entr" presetSubtype="8" fill="hold" grpId="0" nodeType="withEffect">
                                  <p:stCondLst>
                                    <p:cond delay="0"/>
                                  </p:stCondLst>
                                  <p:childTnLst>
                                    <p:set>
                                      <p:cBhvr>
                                        <p:cTn id="90" dur="1" fill="hold">
                                          <p:stCondLst>
                                            <p:cond delay="0"/>
                                          </p:stCondLst>
                                        </p:cTn>
                                        <p:tgtEl>
                                          <p:spTgt spid="35"/>
                                        </p:tgtEl>
                                        <p:attrNameLst>
                                          <p:attrName>style.visibility</p:attrName>
                                        </p:attrNameLst>
                                      </p:cBhvr>
                                      <p:to>
                                        <p:strVal val="visible"/>
                                      </p:to>
                                    </p:set>
                                    <p:animEffect transition="in" filter="wipe(left)">
                                      <p:cBhvr>
                                        <p:cTn id="91" dur="500"/>
                                        <p:tgtEl>
                                          <p:spTgt spid="35"/>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36"/>
                                        </p:tgtEl>
                                        <p:attrNameLst>
                                          <p:attrName>style.visibility</p:attrName>
                                        </p:attrNameLst>
                                      </p:cBhvr>
                                      <p:to>
                                        <p:strVal val="visible"/>
                                      </p:to>
                                    </p:set>
                                    <p:animEffect transition="in" filter="wipe(left)">
                                      <p:cBhvr>
                                        <p:cTn id="96" dur="500"/>
                                        <p:tgtEl>
                                          <p:spTgt spid="36"/>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wipe(left)">
                                      <p:cBhvr>
                                        <p:cTn id="101" dur="500"/>
                                        <p:tgtEl>
                                          <p:spTgt spid="37"/>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wipe(left)">
                                      <p:cBhvr>
                                        <p:cTn id="106" dur="500"/>
                                        <p:tgtEl>
                                          <p:spTgt spid="39"/>
                                        </p:tgtEl>
                                      </p:cBhvr>
                                    </p:animEffect>
                                  </p:childTnLst>
                                </p:cTn>
                              </p:par>
                            </p:childTnLst>
                          </p:cTn>
                        </p:par>
                        <p:par>
                          <p:cTn id="107" fill="hold">
                            <p:stCondLst>
                              <p:cond delay="500"/>
                            </p:stCondLst>
                            <p:childTnLst>
                              <p:par>
                                <p:cTn id="108" presetID="22" presetClass="entr" presetSubtype="8" fill="hold" nodeType="afterEffect">
                                  <p:stCondLst>
                                    <p:cond delay="0"/>
                                  </p:stCondLst>
                                  <p:childTnLst>
                                    <p:set>
                                      <p:cBhvr>
                                        <p:cTn id="109" dur="1" fill="hold">
                                          <p:stCondLst>
                                            <p:cond delay="0"/>
                                          </p:stCondLst>
                                        </p:cTn>
                                        <p:tgtEl>
                                          <p:spTgt spid="38"/>
                                        </p:tgtEl>
                                        <p:attrNameLst>
                                          <p:attrName>style.visibility</p:attrName>
                                        </p:attrNameLst>
                                      </p:cBhvr>
                                      <p:to>
                                        <p:strVal val="visible"/>
                                      </p:to>
                                    </p:set>
                                    <p:animEffect transition="in" filter="wipe(left)">
                                      <p:cBhvr>
                                        <p:cTn id="110" dur="500"/>
                                        <p:tgtEl>
                                          <p:spTgt spid="38"/>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nodeType="click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wipe(left)">
                                      <p:cBhvr>
                                        <p:cTn id="115" dur="500"/>
                                        <p:tgtEl>
                                          <p:spTgt spid="41"/>
                                        </p:tgtEl>
                                      </p:cBhvr>
                                    </p:animEffect>
                                  </p:childTnLst>
                                </p:cTn>
                              </p:par>
                            </p:childTnLst>
                          </p:cTn>
                        </p:par>
                        <p:par>
                          <p:cTn id="116" fill="hold">
                            <p:stCondLst>
                              <p:cond delay="500"/>
                            </p:stCondLst>
                            <p:childTnLst>
                              <p:par>
                                <p:cTn id="117" presetID="22" presetClass="entr" presetSubtype="8" fill="hold" nodeType="afterEffect">
                                  <p:stCondLst>
                                    <p:cond delay="0"/>
                                  </p:stCondLst>
                                  <p:childTnLst>
                                    <p:set>
                                      <p:cBhvr>
                                        <p:cTn id="118" dur="1" fill="hold">
                                          <p:stCondLst>
                                            <p:cond delay="0"/>
                                          </p:stCondLst>
                                        </p:cTn>
                                        <p:tgtEl>
                                          <p:spTgt spid="40"/>
                                        </p:tgtEl>
                                        <p:attrNameLst>
                                          <p:attrName>style.visibility</p:attrName>
                                        </p:attrNameLst>
                                      </p:cBhvr>
                                      <p:to>
                                        <p:strVal val="visible"/>
                                      </p:to>
                                    </p:set>
                                    <p:animEffect transition="in" filter="wipe(left)">
                                      <p:cBhvr>
                                        <p:cTn id="119"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5" grpId="0" bldLvl="0" animBg="1"/>
      <p:bldP spid="16" grpId="0" bldLvl="0" animBg="1"/>
      <p:bldP spid="5" grpId="1" animBg="1"/>
      <p:bldP spid="16" grpId="1" animBg="1"/>
      <p:bldP spid="11" grpId="0"/>
      <p:bldP spid="11" grpId="1"/>
      <p:bldP spid="24" grpId="0" bldLvl="0" animBg="1"/>
      <p:bldP spid="25" grpId="0" bldLvl="0" animBg="1"/>
      <p:bldP spid="24" grpId="1" animBg="1"/>
      <p:bldP spid="25" grpId="1" animBg="1"/>
      <p:bldP spid="26" grpId="0" bldLvl="0" animBg="1"/>
      <p:bldP spid="26" grpId="1" animBg="1"/>
      <p:bldP spid="14" grpId="0"/>
      <p:bldP spid="14" grpId="1"/>
      <p:bldP spid="34" grpId="0" bldLvl="0" animBg="1"/>
      <p:bldP spid="35" grpId="0" bldLvl="0" animBg="1"/>
      <p:bldP spid="34" grpId="1" animBg="1"/>
      <p:bldP spid="35"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b="1">
                <a:sym typeface="+mn-ea"/>
              </a:rPr>
              <a:t>11.4.5 Storm</a:t>
            </a:r>
            <a:r>
              <a:rPr lang="zh-CN" altLang="en-US" b="1">
                <a:sym typeface="+mn-ea"/>
              </a:rPr>
              <a:t>实例</a:t>
            </a:r>
            <a:endParaRPr lang="zh-CN" altLang="en-US"/>
          </a:p>
        </p:txBody>
      </p:sp>
      <p:sp>
        <p:nvSpPr>
          <p:cNvPr id="4" name="灯片编号占位符 3"/>
          <p:cNvSpPr>
            <a:spLocks noGrp="1"/>
          </p:cNvSpPr>
          <p:nvPr>
            <p:ph type="sldNum" sz="quarter" idx="12"/>
          </p:nvPr>
        </p:nvSpPr>
        <p:spPr/>
        <p:txBody>
          <a:bodyPr/>
          <a:p>
            <a:fld id="{7E57CE09-A6DF-4F65-B9AD-CB157D51E68C}" type="slidenum">
              <a:rPr lang="zh-CN" altLang="en-US" smtClean="0"/>
            </a:fld>
            <a:endParaRPr lang="zh-CN" altLang="en-US"/>
          </a:p>
        </p:txBody>
      </p:sp>
      <p:pic>
        <p:nvPicPr>
          <p:cNvPr id="100" name="图片 99"/>
          <p:cNvPicPr/>
          <p:nvPr>
            <p:custDataLst>
              <p:tags r:id="rId1"/>
            </p:custDataLst>
          </p:nvPr>
        </p:nvPicPr>
        <p:blipFill>
          <a:blip r:embed="rId2"/>
          <a:stretch>
            <a:fillRect/>
          </a:stretch>
        </p:blipFill>
        <p:spPr>
          <a:xfrm>
            <a:off x="144145" y="2207260"/>
            <a:ext cx="5029200" cy="3867150"/>
          </a:xfrm>
          <a:prstGeom prst="rect">
            <a:avLst/>
          </a:prstGeom>
          <a:noFill/>
          <a:ln w="9525">
            <a:noFill/>
          </a:ln>
        </p:spPr>
      </p:pic>
      <p:pic>
        <p:nvPicPr>
          <p:cNvPr id="101" name="图片 100"/>
          <p:cNvPicPr/>
          <p:nvPr/>
        </p:nvPicPr>
        <p:blipFill>
          <a:blip r:embed="rId3"/>
          <a:stretch>
            <a:fillRect/>
          </a:stretch>
        </p:blipFill>
        <p:spPr>
          <a:xfrm>
            <a:off x="5864225" y="2419350"/>
            <a:ext cx="6327775" cy="3581400"/>
          </a:xfrm>
          <a:prstGeom prst="rect">
            <a:avLst/>
          </a:prstGeom>
          <a:noFill/>
          <a:ln w="9525">
            <a:noFill/>
          </a:ln>
        </p:spPr>
      </p:pic>
      <p:sp>
        <p:nvSpPr>
          <p:cNvPr id="5" name="文本框 4"/>
          <p:cNvSpPr txBox="1"/>
          <p:nvPr/>
        </p:nvSpPr>
        <p:spPr>
          <a:xfrm>
            <a:off x="1597660" y="6244590"/>
            <a:ext cx="2337435" cy="368300"/>
          </a:xfrm>
          <a:prstGeom prst="rect">
            <a:avLst/>
          </a:prstGeom>
          <a:noFill/>
        </p:spPr>
        <p:txBody>
          <a:bodyPr wrap="square" rtlCol="0">
            <a:spAutoFit/>
          </a:bodyPr>
          <a:p>
            <a:r>
              <a:rPr lang="en-US" altLang="zh-CN"/>
              <a:t>Storm</a:t>
            </a:r>
            <a:r>
              <a:rPr lang="zh-CN" altLang="en-US"/>
              <a:t>单词统计结果</a:t>
            </a:r>
            <a:endParaRPr lang="zh-CN" altLang="en-US"/>
          </a:p>
        </p:txBody>
      </p:sp>
      <p:sp>
        <p:nvSpPr>
          <p:cNvPr id="6" name="文本框 5"/>
          <p:cNvSpPr txBox="1"/>
          <p:nvPr/>
        </p:nvSpPr>
        <p:spPr>
          <a:xfrm>
            <a:off x="7129780" y="6185535"/>
            <a:ext cx="2709545" cy="368300"/>
          </a:xfrm>
          <a:prstGeom prst="rect">
            <a:avLst/>
          </a:prstGeom>
          <a:noFill/>
        </p:spPr>
        <p:txBody>
          <a:bodyPr wrap="square" rtlCol="0">
            <a:spAutoFit/>
          </a:bodyPr>
          <a:p>
            <a:r>
              <a:rPr lang="zh-CN"/>
              <a:t>实时热门话题的处理流程</a:t>
            </a:r>
            <a:endParaRPr 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vert="horz" wrap="square" lIns="91440" tIns="45720" rIns="91440" bIns="45720" anchor="ctr" anchorCtr="0"/>
          <a:lstStyle/>
          <a:p>
            <a:r>
              <a:rPr lang="en-US" altLang="zh-CN" b="1" dirty="0"/>
              <a:t>11.5 Spark Streaming</a:t>
            </a:r>
            <a:endParaRPr lang="zh-CN" altLang="en-US" b="1" dirty="0"/>
          </a:p>
        </p:txBody>
      </p:sp>
      <p:sp>
        <p:nvSpPr>
          <p:cNvPr id="45059" name="矩形 2"/>
          <p:cNvSpPr/>
          <p:nvPr/>
        </p:nvSpPr>
        <p:spPr>
          <a:xfrm>
            <a:off x="957580" y="1691005"/>
            <a:ext cx="6260465" cy="3538220"/>
          </a:xfrm>
          <a:prstGeom prst="rect">
            <a:avLst/>
          </a:prstGeom>
          <a:noFill/>
          <a:ln w="9525">
            <a:noFill/>
          </a:ln>
        </p:spPr>
        <p:txBody>
          <a:bodyPr wrap="none">
            <a:spAutoFit/>
          </a:bodyPr>
          <a:lstStyle/>
          <a:p>
            <a:pPr>
              <a:lnSpc>
                <a:spcPct val="200000"/>
              </a:lnSpc>
            </a:pPr>
            <a:r>
              <a:rPr lang="zh-CN" altLang="en-US" sz="2800" dirty="0">
                <a:latin typeface="Arial" panose="020B0604020202020204" pitchFamily="34" charset="0"/>
              </a:rPr>
              <a:t>构建在</a:t>
            </a:r>
            <a:r>
              <a:rPr lang="en-US" altLang="zh-CN" sz="2800" dirty="0">
                <a:latin typeface="Arial" panose="020B0604020202020204" pitchFamily="34" charset="0"/>
              </a:rPr>
              <a:t>Spark</a:t>
            </a:r>
            <a:r>
              <a:rPr lang="zh-CN" altLang="en-US" sz="2800" dirty="0">
                <a:latin typeface="Arial" panose="020B0604020202020204" pitchFamily="34" charset="0"/>
              </a:rPr>
              <a:t>上的实时计算框架</a:t>
            </a:r>
            <a:endParaRPr lang="zh-CN" altLang="en-US" sz="2800" dirty="0">
              <a:latin typeface="Arial" panose="020B0604020202020204" pitchFamily="34" charset="0"/>
            </a:endParaRPr>
          </a:p>
          <a:p>
            <a:pPr>
              <a:lnSpc>
                <a:spcPct val="200000"/>
              </a:lnSpc>
            </a:pPr>
            <a:r>
              <a:rPr lang="zh-CN" altLang="en-US" sz="2800" dirty="0">
                <a:latin typeface="Arial" panose="020B0604020202020204" pitchFamily="34" charset="0"/>
              </a:rPr>
              <a:t>可结合批处理和交互查询</a:t>
            </a:r>
            <a:endParaRPr lang="en-US" altLang="zh-CN" sz="2800" dirty="0">
              <a:latin typeface="Arial" panose="020B0604020202020204" pitchFamily="34" charset="0"/>
            </a:endParaRPr>
          </a:p>
          <a:p>
            <a:pPr>
              <a:lnSpc>
                <a:spcPct val="200000"/>
              </a:lnSpc>
            </a:pPr>
            <a:r>
              <a:rPr lang="en-US" altLang="zh-CN" sz="2800" dirty="0">
                <a:latin typeface="Arial" panose="020B0604020202020204" pitchFamily="34" charset="0"/>
              </a:rPr>
              <a:t>11.5.1 Spark Streaming</a:t>
            </a:r>
            <a:r>
              <a:rPr lang="zh-CN" altLang="zh-CN" sz="2800" dirty="0">
                <a:latin typeface="Arial" panose="020B0604020202020204" pitchFamily="34" charset="0"/>
              </a:rPr>
              <a:t>设计</a:t>
            </a:r>
            <a:endParaRPr lang="en-US" altLang="zh-CN" sz="2800" dirty="0">
              <a:latin typeface="Arial" panose="020B0604020202020204" pitchFamily="34" charset="0"/>
            </a:endParaRPr>
          </a:p>
          <a:p>
            <a:pPr>
              <a:lnSpc>
                <a:spcPct val="200000"/>
              </a:lnSpc>
            </a:pPr>
            <a:r>
              <a:rPr lang="en-US" altLang="zh-CN" sz="2800" dirty="0">
                <a:latin typeface="Arial" panose="020B0604020202020204" pitchFamily="34" charset="0"/>
              </a:rPr>
              <a:t>11.5.2 Spark Streaming</a:t>
            </a:r>
            <a:r>
              <a:rPr lang="zh-CN" altLang="zh-CN" sz="2800" dirty="0">
                <a:latin typeface="Arial" panose="020B0604020202020204" pitchFamily="34" charset="0"/>
              </a:rPr>
              <a:t>与</a:t>
            </a:r>
            <a:r>
              <a:rPr lang="en-US" altLang="zh-CN" sz="2800" dirty="0">
                <a:latin typeface="Arial" panose="020B0604020202020204" pitchFamily="34" charset="0"/>
              </a:rPr>
              <a:t>Storm</a:t>
            </a:r>
            <a:r>
              <a:rPr lang="zh-CN" altLang="zh-CN" sz="2800" dirty="0">
                <a:latin typeface="Arial" panose="020B0604020202020204" pitchFamily="34" charset="0"/>
              </a:rPr>
              <a:t>的对比</a:t>
            </a:r>
            <a:endParaRPr lang="zh-CN" altLang="zh-CN" sz="2800" dirty="0">
              <a:latin typeface="Arial" panose="020B0604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标题 1"/>
          <p:cNvSpPr>
            <a:spLocks noGrp="1"/>
          </p:cNvSpPr>
          <p:nvPr>
            <p:ph type="title"/>
          </p:nvPr>
        </p:nvSpPr>
        <p:spPr/>
        <p:txBody>
          <a:bodyPr vert="horz" wrap="square" lIns="91440" tIns="45720" rIns="91440" bIns="45720" anchor="ctr" anchorCtr="0"/>
          <a:lstStyle/>
          <a:p>
            <a:r>
              <a:rPr lang="en-US" altLang="zh-CN" b="1" dirty="0"/>
              <a:t>11.5.1 Spark Streaming</a:t>
            </a:r>
            <a:r>
              <a:rPr lang="zh-CN" altLang="zh-CN" b="1" dirty="0"/>
              <a:t>设计</a:t>
            </a:r>
            <a:endParaRPr lang="zh-CN" altLang="en-US" b="1" dirty="0"/>
          </a:p>
        </p:txBody>
      </p:sp>
      <p:sp>
        <p:nvSpPr>
          <p:cNvPr id="2052" name="矩形 2"/>
          <p:cNvSpPr/>
          <p:nvPr/>
        </p:nvSpPr>
        <p:spPr>
          <a:xfrm>
            <a:off x="921385" y="1518920"/>
            <a:ext cx="9531350" cy="1198880"/>
          </a:xfrm>
          <a:prstGeom prst="rect">
            <a:avLst/>
          </a:prstGeom>
          <a:noFill/>
          <a:ln w="9525">
            <a:noFill/>
          </a:ln>
        </p:spPr>
        <p:txBody>
          <a:bodyPr wrap="square">
            <a:spAutoFit/>
          </a:bodyPr>
          <a:lstStyle/>
          <a:p>
            <a:pPr indent="0">
              <a:buNone/>
            </a:pPr>
            <a:r>
              <a:rPr lang="en-US" altLang="zh-CN" sz="2400" dirty="0">
                <a:latin typeface="Arial" panose="020B0604020202020204" pitchFamily="34" charset="0"/>
              </a:rPr>
              <a:t>Spark Streaming</a:t>
            </a:r>
            <a:r>
              <a:rPr lang="zh-CN" altLang="zh-CN" sz="2400" dirty="0">
                <a:latin typeface="Arial" panose="020B0604020202020204" pitchFamily="34" charset="0"/>
              </a:rPr>
              <a:t>可整合多种输入数据源，如</a:t>
            </a:r>
            <a:r>
              <a:rPr lang="en-US" altLang="zh-CN" sz="2400" dirty="0">
                <a:latin typeface="Arial" panose="020B0604020202020204" pitchFamily="34" charset="0"/>
              </a:rPr>
              <a:t>Kafka</a:t>
            </a:r>
            <a:r>
              <a:rPr lang="zh-CN" altLang="zh-CN" sz="2400" dirty="0">
                <a:latin typeface="Arial" panose="020B0604020202020204" pitchFamily="34" charset="0"/>
              </a:rPr>
              <a:t>、</a:t>
            </a:r>
            <a:r>
              <a:rPr lang="en-US" altLang="zh-CN" sz="2400" dirty="0">
                <a:latin typeface="Arial" panose="020B0604020202020204" pitchFamily="34" charset="0"/>
              </a:rPr>
              <a:t>Flume</a:t>
            </a:r>
            <a:r>
              <a:rPr lang="zh-CN" altLang="zh-CN" sz="2400" dirty="0">
                <a:latin typeface="Arial" panose="020B0604020202020204" pitchFamily="34" charset="0"/>
              </a:rPr>
              <a:t>、</a:t>
            </a:r>
            <a:r>
              <a:rPr lang="en-US" altLang="zh-CN" sz="2400" dirty="0">
                <a:latin typeface="Arial" panose="020B0604020202020204" pitchFamily="34" charset="0"/>
              </a:rPr>
              <a:t>HDFS</a:t>
            </a:r>
            <a:r>
              <a:rPr lang="zh-CN" altLang="zh-CN" sz="2400" dirty="0">
                <a:latin typeface="Arial" panose="020B0604020202020204" pitchFamily="34" charset="0"/>
              </a:rPr>
              <a:t>，甚至是普通的</a:t>
            </a:r>
            <a:r>
              <a:rPr lang="en-US" altLang="zh-CN" sz="2400" dirty="0">
                <a:latin typeface="Arial" panose="020B0604020202020204" pitchFamily="34" charset="0"/>
              </a:rPr>
              <a:t>TCP</a:t>
            </a:r>
            <a:r>
              <a:rPr lang="zh-CN" altLang="zh-CN" sz="2400" dirty="0">
                <a:latin typeface="Arial" panose="020B0604020202020204" pitchFamily="34" charset="0"/>
              </a:rPr>
              <a:t>套接字。经处理后的数据可存储至文件系统、数据库，或显示在仪表盘里。</a:t>
            </a:r>
            <a:endParaRPr lang="zh-CN" altLang="zh-CN" sz="2400" dirty="0">
              <a:latin typeface="Arial" panose="020B0604020202020204" pitchFamily="34" charset="0"/>
            </a:endParaRPr>
          </a:p>
        </p:txBody>
      </p:sp>
      <p:sp>
        <p:nvSpPr>
          <p:cNvPr id="2053" name="Rectangle 2"/>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2050" name="Object 1"/>
          <p:cNvGraphicFramePr/>
          <p:nvPr/>
        </p:nvGraphicFramePr>
        <p:xfrm>
          <a:off x="2616835" y="3235325"/>
          <a:ext cx="6629400" cy="2149475"/>
        </p:xfrm>
        <a:graphic>
          <a:graphicData uri="http://schemas.openxmlformats.org/presentationml/2006/ole">
            <mc:AlternateContent xmlns:mc="http://schemas.openxmlformats.org/markup-compatibility/2006">
              <mc:Choice xmlns:v="urn:schemas-microsoft-com:vml" Requires="v">
                <p:oleObj spid="_x0000_s3079" name="" r:id="rId1" imgW="8432800" imgH="2743200" progId="Visio.Drawing.15">
                  <p:embed/>
                </p:oleObj>
              </mc:Choice>
              <mc:Fallback>
                <p:oleObj name="" r:id="rId1" imgW="8432800" imgH="2743200" progId="Visio.Drawing.15">
                  <p:embed/>
                  <p:pic>
                    <p:nvPicPr>
                      <p:cNvPr id="0" name="图片 3075"/>
                      <p:cNvPicPr/>
                      <p:nvPr/>
                    </p:nvPicPr>
                    <p:blipFill>
                      <a:blip r:embed="rId2"/>
                      <a:stretch>
                        <a:fillRect/>
                      </a:stretch>
                    </p:blipFill>
                    <p:spPr>
                      <a:xfrm>
                        <a:off x="2616835" y="3235325"/>
                        <a:ext cx="6629400" cy="2149475"/>
                      </a:xfrm>
                      <a:prstGeom prst="rect">
                        <a:avLst/>
                      </a:prstGeom>
                      <a:noFill/>
                      <a:ln w="38100">
                        <a:noFill/>
                        <a:miter/>
                      </a:ln>
                    </p:spPr>
                  </p:pic>
                </p:oleObj>
              </mc:Fallback>
            </mc:AlternateContent>
          </a:graphicData>
        </a:graphic>
      </p:graphicFrame>
      <p:sp>
        <p:nvSpPr>
          <p:cNvPr id="2054" name="矩形 5"/>
          <p:cNvSpPr/>
          <p:nvPr/>
        </p:nvSpPr>
        <p:spPr>
          <a:xfrm>
            <a:off x="3105150" y="5715000"/>
            <a:ext cx="6038850" cy="460375"/>
          </a:xfrm>
          <a:prstGeom prst="rect">
            <a:avLst/>
          </a:prstGeom>
          <a:noFill/>
          <a:ln w="9525">
            <a:noFill/>
          </a:ln>
        </p:spPr>
        <p:txBody>
          <a:bodyPr wrap="square">
            <a:spAutoFit/>
          </a:bodyPr>
          <a:lstStyle/>
          <a:p>
            <a:r>
              <a:rPr lang="en-US" altLang="zh-CN" sz="2400" dirty="0">
                <a:latin typeface="Arial" panose="020B0604020202020204" pitchFamily="34" charset="0"/>
              </a:rPr>
              <a:t>Spark Streaming</a:t>
            </a:r>
            <a:r>
              <a:rPr lang="zh-CN" altLang="zh-CN" sz="2400" dirty="0">
                <a:latin typeface="Arial" panose="020B0604020202020204" pitchFamily="34" charset="0"/>
              </a:rPr>
              <a:t>支持的输入、输出数据源</a:t>
            </a:r>
            <a:endParaRPr lang="zh-CN" altLang="zh-CN" sz="2400" dirty="0">
              <a:latin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标题 1"/>
          <p:cNvSpPr>
            <a:spLocks noGrp="1"/>
          </p:cNvSpPr>
          <p:nvPr>
            <p:ph type="title"/>
          </p:nvPr>
        </p:nvSpPr>
        <p:spPr/>
        <p:txBody>
          <a:bodyPr vert="horz" wrap="square" lIns="91440" tIns="45720" rIns="91440" bIns="45720" anchor="ctr" anchorCtr="0"/>
          <a:lstStyle/>
          <a:p>
            <a:r>
              <a:rPr lang="en-US" altLang="zh-CN" b="1" dirty="0"/>
              <a:t>11.5.1 Spark Streaming</a:t>
            </a:r>
            <a:r>
              <a:rPr lang="zh-CN" altLang="zh-CN" b="1" dirty="0"/>
              <a:t>设计</a:t>
            </a:r>
            <a:endParaRPr lang="zh-CN" altLang="en-US" b="1" dirty="0"/>
          </a:p>
        </p:txBody>
      </p:sp>
      <p:sp>
        <p:nvSpPr>
          <p:cNvPr id="3076" name="矩形 2"/>
          <p:cNvSpPr/>
          <p:nvPr/>
        </p:nvSpPr>
        <p:spPr>
          <a:xfrm>
            <a:off x="1012825" y="1691005"/>
            <a:ext cx="9947910" cy="829945"/>
          </a:xfrm>
          <a:prstGeom prst="rect">
            <a:avLst/>
          </a:prstGeom>
          <a:noFill/>
          <a:ln w="9525">
            <a:noFill/>
          </a:ln>
        </p:spPr>
        <p:txBody>
          <a:bodyPr wrap="square">
            <a:spAutoFit/>
          </a:bodyPr>
          <a:lstStyle/>
          <a:p>
            <a:r>
              <a:rPr lang="en-US" altLang="zh-CN" sz="2400" dirty="0">
                <a:latin typeface="Arial" panose="020B0604020202020204" pitchFamily="34" charset="0"/>
              </a:rPr>
              <a:t>Spark Streaming</a:t>
            </a:r>
            <a:r>
              <a:rPr lang="zh-CN" altLang="zh-CN" sz="2400" dirty="0">
                <a:latin typeface="Arial" panose="020B0604020202020204" pitchFamily="34" charset="0"/>
              </a:rPr>
              <a:t>的基本原理是将实时输入数据流以时间片（秒级）为单位进行拆分，然后经</a:t>
            </a:r>
            <a:r>
              <a:rPr lang="en-US" altLang="zh-CN" sz="2400" dirty="0">
                <a:latin typeface="Arial" panose="020B0604020202020204" pitchFamily="34" charset="0"/>
              </a:rPr>
              <a:t>Spark</a:t>
            </a:r>
            <a:r>
              <a:rPr lang="zh-CN" altLang="zh-CN" sz="2400" dirty="0">
                <a:latin typeface="Arial" panose="020B0604020202020204" pitchFamily="34" charset="0"/>
              </a:rPr>
              <a:t>引擎以类似批处理的方式处理每个时间片数据</a:t>
            </a:r>
            <a:endParaRPr lang="zh-CN" altLang="zh-CN" sz="2400" dirty="0">
              <a:latin typeface="Arial" panose="020B0604020202020204" pitchFamily="34" charset="0"/>
            </a:endParaRPr>
          </a:p>
        </p:txBody>
      </p:sp>
      <p:sp>
        <p:nvSpPr>
          <p:cNvPr id="3077" name="Rectangle 2"/>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3074" name="Object 1"/>
          <p:cNvGraphicFramePr/>
          <p:nvPr/>
        </p:nvGraphicFramePr>
        <p:xfrm>
          <a:off x="1611630" y="3607435"/>
          <a:ext cx="8338185" cy="1275080"/>
        </p:xfrm>
        <a:graphic>
          <a:graphicData uri="http://schemas.openxmlformats.org/presentationml/2006/ole">
            <mc:AlternateContent xmlns:mc="http://schemas.openxmlformats.org/markup-compatibility/2006">
              <mc:Choice xmlns:v="urn:schemas-microsoft-com:vml" Requires="v">
                <p:oleObj spid="_x0000_s4098" name="" r:id="rId1" imgW="10078720" imgH="1341120" progId="Visio.Drawing.15">
                  <p:embed/>
                </p:oleObj>
              </mc:Choice>
              <mc:Fallback>
                <p:oleObj name="" r:id="rId1" imgW="10078720" imgH="1341120" progId="Visio.Drawing.15">
                  <p:embed/>
                  <p:pic>
                    <p:nvPicPr>
                      <p:cNvPr id="0" name="图片 1"/>
                      <p:cNvPicPr/>
                      <p:nvPr/>
                    </p:nvPicPr>
                    <p:blipFill>
                      <a:blip r:embed="rId2"/>
                      <a:stretch>
                        <a:fillRect/>
                      </a:stretch>
                    </p:blipFill>
                    <p:spPr>
                      <a:xfrm>
                        <a:off x="1611630" y="3607435"/>
                        <a:ext cx="8338185" cy="1275080"/>
                      </a:xfrm>
                      <a:prstGeom prst="rect">
                        <a:avLst/>
                      </a:prstGeom>
                      <a:noFill/>
                      <a:ln w="38100">
                        <a:noFill/>
                        <a:miter/>
                      </a:ln>
                    </p:spPr>
                  </p:pic>
                </p:oleObj>
              </mc:Fallback>
            </mc:AlternateContent>
          </a:graphicData>
        </a:graphic>
      </p:graphicFrame>
      <p:sp>
        <p:nvSpPr>
          <p:cNvPr id="3078" name="矩形 5"/>
          <p:cNvSpPr/>
          <p:nvPr/>
        </p:nvSpPr>
        <p:spPr>
          <a:xfrm>
            <a:off x="4013200" y="5319395"/>
            <a:ext cx="3672205" cy="460375"/>
          </a:xfrm>
          <a:prstGeom prst="rect">
            <a:avLst/>
          </a:prstGeom>
          <a:noFill/>
          <a:ln w="9525">
            <a:noFill/>
          </a:ln>
        </p:spPr>
        <p:txBody>
          <a:bodyPr wrap="none">
            <a:spAutoFit/>
          </a:bodyPr>
          <a:lstStyle/>
          <a:p>
            <a:r>
              <a:rPr lang="en-US" altLang="zh-CN" sz="2400" dirty="0">
                <a:latin typeface="Arial" panose="020B0604020202020204" pitchFamily="34" charset="0"/>
              </a:rPr>
              <a:t>Spark Streaming</a:t>
            </a:r>
            <a:r>
              <a:rPr lang="zh-CN" altLang="zh-CN" sz="2400" dirty="0">
                <a:latin typeface="Arial" panose="020B0604020202020204" pitchFamily="34" charset="0"/>
              </a:rPr>
              <a:t>执行流程</a:t>
            </a:r>
            <a:endParaRPr lang="zh-CN" altLang="zh-CN" sz="2400" dirty="0">
              <a:latin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标题 1"/>
          <p:cNvSpPr>
            <a:spLocks noGrp="1"/>
          </p:cNvSpPr>
          <p:nvPr>
            <p:ph type="title"/>
          </p:nvPr>
        </p:nvSpPr>
        <p:spPr/>
        <p:txBody>
          <a:bodyPr vert="horz" wrap="square" lIns="91440" tIns="45720" rIns="91440" bIns="45720" anchor="ctr" anchorCtr="0"/>
          <a:lstStyle/>
          <a:p>
            <a:r>
              <a:rPr lang="en-US" altLang="zh-CN" b="1" dirty="0"/>
              <a:t>11.5.1 Spark Streaming</a:t>
            </a:r>
            <a:r>
              <a:rPr lang="zh-CN" altLang="zh-CN" b="1" dirty="0"/>
              <a:t>设计</a:t>
            </a:r>
            <a:endParaRPr lang="zh-CN" altLang="en-US" b="1" dirty="0"/>
          </a:p>
        </p:txBody>
      </p:sp>
      <p:sp>
        <p:nvSpPr>
          <p:cNvPr id="4100" name="矩形 2"/>
          <p:cNvSpPr/>
          <p:nvPr/>
        </p:nvSpPr>
        <p:spPr>
          <a:xfrm>
            <a:off x="1017905" y="1295400"/>
            <a:ext cx="9838690" cy="1938020"/>
          </a:xfrm>
          <a:prstGeom prst="rect">
            <a:avLst/>
          </a:prstGeom>
          <a:noFill/>
          <a:ln w="9525">
            <a:noFill/>
          </a:ln>
        </p:spPr>
        <p:txBody>
          <a:bodyPr wrap="square">
            <a:spAutoFit/>
          </a:bodyPr>
          <a:lstStyle/>
          <a:p>
            <a:pPr indent="457200"/>
            <a:r>
              <a:rPr lang="en-US" altLang="zh-CN" sz="2400" dirty="0">
                <a:latin typeface="Arial" panose="020B0604020202020204" pitchFamily="34" charset="0"/>
              </a:rPr>
              <a:t>Spark Streaming</a:t>
            </a:r>
            <a:r>
              <a:rPr lang="zh-CN" altLang="zh-CN" sz="2400" dirty="0">
                <a:latin typeface="Arial" panose="020B0604020202020204" pitchFamily="34" charset="0"/>
              </a:rPr>
              <a:t>最主要的抽象是</a:t>
            </a:r>
            <a:r>
              <a:rPr lang="en-US" altLang="zh-CN" sz="2400" dirty="0">
                <a:latin typeface="Arial" panose="020B0604020202020204" pitchFamily="34" charset="0"/>
              </a:rPr>
              <a:t>DStream</a:t>
            </a:r>
            <a:r>
              <a:rPr lang="zh-CN" altLang="zh-CN" sz="2400" dirty="0">
                <a:latin typeface="Arial" panose="020B0604020202020204" pitchFamily="34" charset="0"/>
              </a:rPr>
              <a:t>（</a:t>
            </a:r>
            <a:r>
              <a:rPr lang="en-US" altLang="zh-CN" sz="2400" dirty="0">
                <a:latin typeface="Arial" panose="020B0604020202020204" pitchFamily="34" charset="0"/>
              </a:rPr>
              <a:t>Discretized Stream</a:t>
            </a:r>
            <a:r>
              <a:rPr lang="zh-CN" altLang="zh-CN" sz="2400" dirty="0">
                <a:latin typeface="Arial" panose="020B0604020202020204" pitchFamily="34" charset="0"/>
              </a:rPr>
              <a:t>，离散化数据流），表示连续不断的数据流。</a:t>
            </a:r>
            <a:endParaRPr lang="zh-CN" altLang="zh-CN" sz="2400" dirty="0">
              <a:latin typeface="Arial" panose="020B0604020202020204" pitchFamily="34" charset="0"/>
            </a:endParaRPr>
          </a:p>
          <a:p>
            <a:pPr indent="457200"/>
            <a:r>
              <a:rPr lang="zh-CN" altLang="zh-CN" sz="2400" dirty="0">
                <a:latin typeface="Arial" panose="020B0604020202020204" pitchFamily="34" charset="0"/>
              </a:rPr>
              <a:t>在内部实现上，</a:t>
            </a:r>
            <a:r>
              <a:rPr lang="en-US" altLang="zh-CN" sz="2400" dirty="0">
                <a:latin typeface="Arial" panose="020B0604020202020204" pitchFamily="34" charset="0"/>
              </a:rPr>
              <a:t>Spark Streaming</a:t>
            </a:r>
            <a:r>
              <a:rPr lang="zh-CN" altLang="zh-CN" sz="2400" dirty="0">
                <a:latin typeface="Arial" panose="020B0604020202020204" pitchFamily="34" charset="0"/>
              </a:rPr>
              <a:t>的输入数据按照时间片（如</a:t>
            </a:r>
            <a:r>
              <a:rPr lang="en-US" altLang="zh-CN" sz="2400" dirty="0">
                <a:latin typeface="Arial" panose="020B0604020202020204" pitchFamily="34" charset="0"/>
              </a:rPr>
              <a:t>1</a:t>
            </a:r>
            <a:r>
              <a:rPr lang="zh-CN" altLang="zh-CN" sz="2400" dirty="0">
                <a:latin typeface="Arial" panose="020B0604020202020204" pitchFamily="34" charset="0"/>
              </a:rPr>
              <a:t>秒）分成一段一段的</a:t>
            </a:r>
            <a:r>
              <a:rPr lang="en-US" altLang="zh-CN" sz="2400" dirty="0">
                <a:latin typeface="Arial" panose="020B0604020202020204" pitchFamily="34" charset="0"/>
              </a:rPr>
              <a:t>DStream</a:t>
            </a:r>
            <a:r>
              <a:rPr lang="zh-CN" altLang="zh-CN" sz="2400" dirty="0">
                <a:latin typeface="Arial" panose="020B0604020202020204" pitchFamily="34" charset="0"/>
              </a:rPr>
              <a:t>，每一段数据转换为</a:t>
            </a:r>
            <a:r>
              <a:rPr lang="en-US" altLang="zh-CN" sz="2400" dirty="0">
                <a:latin typeface="Arial" panose="020B0604020202020204" pitchFamily="34" charset="0"/>
              </a:rPr>
              <a:t>Spark</a:t>
            </a:r>
            <a:r>
              <a:rPr lang="zh-CN" altLang="zh-CN" sz="2400" dirty="0">
                <a:latin typeface="Arial" panose="020B0604020202020204" pitchFamily="34" charset="0"/>
              </a:rPr>
              <a:t>中的</a:t>
            </a:r>
            <a:r>
              <a:rPr lang="en-US" altLang="zh-CN" sz="2400" dirty="0">
                <a:latin typeface="Arial" panose="020B0604020202020204" pitchFamily="34" charset="0"/>
              </a:rPr>
              <a:t>RDD</a:t>
            </a:r>
            <a:r>
              <a:rPr lang="zh-CN" altLang="zh-CN" sz="2400" dirty="0">
                <a:latin typeface="Arial" panose="020B0604020202020204" pitchFamily="34" charset="0"/>
              </a:rPr>
              <a:t>，并且对</a:t>
            </a:r>
            <a:r>
              <a:rPr lang="en-US" altLang="zh-CN" sz="2400" dirty="0">
                <a:latin typeface="Arial" panose="020B0604020202020204" pitchFamily="34" charset="0"/>
              </a:rPr>
              <a:t>DStream</a:t>
            </a:r>
            <a:r>
              <a:rPr lang="zh-CN" altLang="zh-CN" sz="2400" dirty="0">
                <a:latin typeface="Arial" panose="020B0604020202020204" pitchFamily="34" charset="0"/>
              </a:rPr>
              <a:t>的操作都最终转变为对相应的</a:t>
            </a:r>
            <a:r>
              <a:rPr lang="en-US" altLang="zh-CN" sz="2400" dirty="0">
                <a:latin typeface="Arial" panose="020B0604020202020204" pitchFamily="34" charset="0"/>
              </a:rPr>
              <a:t>RDD</a:t>
            </a:r>
            <a:r>
              <a:rPr lang="zh-CN" altLang="zh-CN" sz="2400" dirty="0">
                <a:latin typeface="Arial" panose="020B0604020202020204" pitchFamily="34" charset="0"/>
              </a:rPr>
              <a:t>的操作</a:t>
            </a:r>
            <a:endParaRPr lang="zh-CN" altLang="zh-CN" sz="2400" dirty="0">
              <a:latin typeface="Arial" panose="020B0604020202020204" pitchFamily="34" charset="0"/>
            </a:endParaRPr>
          </a:p>
        </p:txBody>
      </p:sp>
      <p:sp>
        <p:nvSpPr>
          <p:cNvPr id="4101" name="Rectangle 2"/>
          <p:cNvSpPr/>
          <p:nvPr/>
        </p:nvSpPr>
        <p:spPr>
          <a:xfrm>
            <a:off x="1524000" y="-184150"/>
            <a:ext cx="309880" cy="36830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4098" name="Object 1"/>
          <p:cNvGraphicFramePr/>
          <p:nvPr/>
        </p:nvGraphicFramePr>
        <p:xfrm>
          <a:off x="2304415" y="3429000"/>
          <a:ext cx="6840220" cy="2869565"/>
        </p:xfrm>
        <a:graphic>
          <a:graphicData uri="http://schemas.openxmlformats.org/presentationml/2006/ole">
            <mc:AlternateContent xmlns:mc="http://schemas.openxmlformats.org/markup-compatibility/2006">
              <mc:Choice xmlns:v="urn:schemas-microsoft-com:vml" Requires="v">
                <p:oleObj spid="_x0000_s5122" name="" r:id="rId1" imgW="8077200" imgH="3281680" progId="Visio.Drawing.15">
                  <p:embed/>
                </p:oleObj>
              </mc:Choice>
              <mc:Fallback>
                <p:oleObj name="" r:id="rId1" imgW="8077200" imgH="3281680" progId="Visio.Drawing.15">
                  <p:embed/>
                  <p:pic>
                    <p:nvPicPr>
                      <p:cNvPr id="0" name="图片 3077"/>
                      <p:cNvPicPr/>
                      <p:nvPr/>
                    </p:nvPicPr>
                    <p:blipFill>
                      <a:blip r:embed="rId2"/>
                      <a:stretch>
                        <a:fillRect/>
                      </a:stretch>
                    </p:blipFill>
                    <p:spPr>
                      <a:xfrm>
                        <a:off x="2304415" y="3429000"/>
                        <a:ext cx="6840220" cy="2869565"/>
                      </a:xfrm>
                      <a:prstGeom prst="rect">
                        <a:avLst/>
                      </a:prstGeom>
                      <a:noFill/>
                      <a:ln w="38100">
                        <a:noFill/>
                        <a:miter/>
                      </a:ln>
                    </p:spPr>
                  </p:pic>
                </p:oleObj>
              </mc:Fallback>
            </mc:AlternateContent>
          </a:graphicData>
        </a:graphic>
      </p:graphicFrame>
      <p:sp>
        <p:nvSpPr>
          <p:cNvPr id="4102" name="矩形 5"/>
          <p:cNvSpPr/>
          <p:nvPr/>
        </p:nvSpPr>
        <p:spPr>
          <a:xfrm>
            <a:off x="4463415" y="6362700"/>
            <a:ext cx="2227580" cy="368300"/>
          </a:xfrm>
          <a:prstGeom prst="rect">
            <a:avLst/>
          </a:prstGeom>
          <a:noFill/>
          <a:ln w="9525">
            <a:noFill/>
          </a:ln>
        </p:spPr>
        <p:txBody>
          <a:bodyPr wrap="none">
            <a:spAutoFit/>
          </a:bodyPr>
          <a:lstStyle/>
          <a:p>
            <a:r>
              <a:rPr lang="en-US" altLang="zh-CN" dirty="0">
                <a:latin typeface="Arial" panose="020B0604020202020204" pitchFamily="34" charset="0"/>
              </a:rPr>
              <a:t>DStream</a:t>
            </a:r>
            <a:r>
              <a:rPr lang="zh-CN" altLang="zh-CN" dirty="0">
                <a:latin typeface="Arial" panose="020B0604020202020204" pitchFamily="34" charset="0"/>
              </a:rPr>
              <a:t>操作示意图</a:t>
            </a:r>
            <a:endParaRPr lang="zh-CN" altLang="en-US" dirty="0">
              <a:latin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vert="horz" wrap="square" lIns="91440" tIns="45720" rIns="91440" bIns="45720" anchor="ctr" anchorCtr="0"/>
          <a:lstStyle/>
          <a:p>
            <a:r>
              <a:rPr lang="en-US" altLang="zh-CN" b="1" dirty="0"/>
              <a:t>11.5.2 Spark Streaming</a:t>
            </a:r>
            <a:r>
              <a:rPr lang="zh-CN" altLang="zh-CN" b="1" dirty="0"/>
              <a:t>与</a:t>
            </a:r>
            <a:r>
              <a:rPr lang="en-US" altLang="zh-CN" b="1" dirty="0"/>
              <a:t>Storm</a:t>
            </a:r>
            <a:r>
              <a:rPr lang="zh-CN" altLang="zh-CN" b="1" dirty="0"/>
              <a:t>的对比</a:t>
            </a:r>
            <a:endParaRPr lang="zh-CN" altLang="en-US" b="1" dirty="0"/>
          </a:p>
        </p:txBody>
      </p:sp>
      <p:sp>
        <p:nvSpPr>
          <p:cNvPr id="46083" name="矩形 2"/>
          <p:cNvSpPr/>
          <p:nvPr/>
        </p:nvSpPr>
        <p:spPr>
          <a:xfrm>
            <a:off x="1021080" y="1600200"/>
            <a:ext cx="9414510" cy="829945"/>
          </a:xfrm>
          <a:prstGeom prst="rect">
            <a:avLst/>
          </a:prstGeom>
          <a:noFill/>
          <a:ln w="9525">
            <a:noFill/>
          </a:ln>
        </p:spPr>
        <p:txBody>
          <a:bodyPr wrap="square">
            <a:spAutoFit/>
          </a:bodyPr>
          <a:lstStyle/>
          <a:p>
            <a:pPr>
              <a:buFont typeface="Arial" panose="020B0604020202020204" pitchFamily="34" charset="0"/>
              <a:buChar char="•"/>
            </a:pPr>
            <a:r>
              <a:rPr lang="en-US" altLang="zh-CN" sz="2400" dirty="0">
                <a:latin typeface="Arial" panose="020B0604020202020204" pitchFamily="34" charset="0"/>
              </a:rPr>
              <a:t>Spark Streaming</a:t>
            </a:r>
            <a:r>
              <a:rPr lang="zh-CN" altLang="zh-CN" sz="2400" dirty="0">
                <a:latin typeface="Arial" panose="020B0604020202020204" pitchFamily="34" charset="0"/>
              </a:rPr>
              <a:t>和</a:t>
            </a:r>
            <a:r>
              <a:rPr lang="en-US" altLang="zh-CN" sz="2400" dirty="0">
                <a:latin typeface="Arial" panose="020B0604020202020204" pitchFamily="34" charset="0"/>
              </a:rPr>
              <a:t>Storm</a:t>
            </a:r>
            <a:r>
              <a:rPr lang="zh-CN" altLang="zh-CN" sz="2400" dirty="0">
                <a:latin typeface="Arial" panose="020B0604020202020204" pitchFamily="34" charset="0"/>
              </a:rPr>
              <a:t>最大的区别在于，</a:t>
            </a:r>
            <a:r>
              <a:rPr lang="en-US" altLang="zh-CN" sz="2400" dirty="0">
                <a:latin typeface="Arial" panose="020B0604020202020204" pitchFamily="34" charset="0"/>
              </a:rPr>
              <a:t>Spark Streaming</a:t>
            </a:r>
            <a:r>
              <a:rPr lang="zh-CN" altLang="zh-CN" sz="2400" dirty="0">
                <a:latin typeface="Arial" panose="020B0604020202020204" pitchFamily="34" charset="0"/>
              </a:rPr>
              <a:t>无法实现毫秒级的流计算，而</a:t>
            </a:r>
            <a:r>
              <a:rPr lang="en-US" altLang="zh-CN" sz="2400" dirty="0">
                <a:latin typeface="Arial" panose="020B0604020202020204" pitchFamily="34" charset="0"/>
              </a:rPr>
              <a:t>Storm</a:t>
            </a:r>
            <a:r>
              <a:rPr lang="zh-CN" altLang="zh-CN" sz="2400" dirty="0">
                <a:latin typeface="Arial" panose="020B0604020202020204" pitchFamily="34" charset="0"/>
              </a:rPr>
              <a:t>可以实现毫秒级响应</a:t>
            </a:r>
            <a:endParaRPr lang="zh-CN" altLang="zh-CN" sz="2400" dirty="0">
              <a:latin typeface="Arial" panose="020B0604020202020204" pitchFamily="34" charset="0"/>
            </a:endParaRPr>
          </a:p>
        </p:txBody>
      </p:sp>
      <p:sp>
        <p:nvSpPr>
          <p:cNvPr id="46084" name="矩形 3"/>
          <p:cNvSpPr/>
          <p:nvPr/>
        </p:nvSpPr>
        <p:spPr>
          <a:xfrm>
            <a:off x="1123315" y="3084830"/>
            <a:ext cx="9192895" cy="2676525"/>
          </a:xfrm>
          <a:prstGeom prst="rect">
            <a:avLst/>
          </a:prstGeom>
          <a:noFill/>
          <a:ln w="9525">
            <a:noFill/>
          </a:ln>
        </p:spPr>
        <p:txBody>
          <a:bodyPr wrap="square">
            <a:spAutoFit/>
          </a:bodyPr>
          <a:lstStyle/>
          <a:p>
            <a:pPr>
              <a:buFont typeface="Arial" panose="020B0604020202020204" pitchFamily="34" charset="0"/>
              <a:buChar char="•"/>
            </a:pPr>
            <a:r>
              <a:rPr lang="en-US" altLang="zh-CN" sz="2400" dirty="0">
                <a:latin typeface="Arial" panose="020B0604020202020204" pitchFamily="34" charset="0"/>
              </a:rPr>
              <a:t>Spark Streaming</a:t>
            </a:r>
            <a:r>
              <a:rPr lang="zh-CN" altLang="zh-CN" sz="2400" dirty="0">
                <a:latin typeface="Arial" panose="020B0604020202020204" pitchFamily="34" charset="0"/>
              </a:rPr>
              <a:t>构建在</a:t>
            </a:r>
            <a:r>
              <a:rPr lang="en-US" altLang="zh-CN" sz="2400" dirty="0">
                <a:latin typeface="Arial" panose="020B0604020202020204" pitchFamily="34" charset="0"/>
              </a:rPr>
              <a:t>Spark</a:t>
            </a:r>
            <a:r>
              <a:rPr lang="zh-CN" altLang="zh-CN" sz="2400" dirty="0">
                <a:latin typeface="Arial" panose="020B0604020202020204" pitchFamily="34" charset="0"/>
              </a:rPr>
              <a:t>上，一方面是因为</a:t>
            </a:r>
            <a:r>
              <a:rPr lang="en-US" altLang="zh-CN" sz="2400" dirty="0">
                <a:latin typeface="Arial" panose="020B0604020202020204" pitchFamily="34" charset="0"/>
              </a:rPr>
              <a:t>Spark</a:t>
            </a:r>
            <a:r>
              <a:rPr lang="zh-CN" altLang="zh-CN" sz="2400" dirty="0">
                <a:latin typeface="Arial" panose="020B0604020202020204" pitchFamily="34" charset="0"/>
              </a:rPr>
              <a:t>的低延迟执行引擎（</a:t>
            </a:r>
            <a:r>
              <a:rPr lang="en-US" altLang="zh-CN" sz="2400" dirty="0">
                <a:latin typeface="Arial" panose="020B0604020202020204" pitchFamily="34" charset="0"/>
              </a:rPr>
              <a:t>100ms+</a:t>
            </a:r>
            <a:r>
              <a:rPr lang="zh-CN" altLang="zh-CN" sz="2400" dirty="0">
                <a:latin typeface="Arial" panose="020B0604020202020204" pitchFamily="34" charset="0"/>
              </a:rPr>
              <a:t>）可以用于实时计算，另一方面，相比于</a:t>
            </a:r>
            <a:r>
              <a:rPr lang="en-US" altLang="zh-CN" sz="2400" dirty="0">
                <a:latin typeface="Arial" panose="020B0604020202020204" pitchFamily="34" charset="0"/>
              </a:rPr>
              <a:t>Storm</a:t>
            </a:r>
            <a:r>
              <a:rPr lang="zh-CN" altLang="zh-CN" sz="2400" dirty="0">
                <a:latin typeface="Arial" panose="020B0604020202020204" pitchFamily="34" charset="0"/>
              </a:rPr>
              <a:t>，</a:t>
            </a:r>
            <a:r>
              <a:rPr lang="en-US" altLang="zh-CN" sz="2400" dirty="0">
                <a:latin typeface="Arial" panose="020B0604020202020204" pitchFamily="34" charset="0"/>
              </a:rPr>
              <a:t>RDD</a:t>
            </a:r>
            <a:r>
              <a:rPr lang="zh-CN" altLang="zh-CN" sz="2400" dirty="0">
                <a:latin typeface="Arial" panose="020B0604020202020204" pitchFamily="34" charset="0"/>
              </a:rPr>
              <a:t>数据集更容易做高效的容错处理</a:t>
            </a:r>
            <a:endParaRPr lang="en-US" altLang="zh-CN" sz="2400" dirty="0">
              <a:latin typeface="Arial" panose="020B0604020202020204" pitchFamily="34" charset="0"/>
            </a:endParaRPr>
          </a:p>
          <a:p>
            <a:pPr>
              <a:buFont typeface="Arial" panose="020B0604020202020204" pitchFamily="34" charset="0"/>
              <a:buChar char="•"/>
            </a:pPr>
            <a:endParaRPr lang="en-US" altLang="zh-CN" sz="2400" dirty="0">
              <a:latin typeface="Arial" panose="020B0604020202020204" pitchFamily="34" charset="0"/>
            </a:endParaRPr>
          </a:p>
          <a:p>
            <a:pPr>
              <a:buFont typeface="Arial" panose="020B0604020202020204" pitchFamily="34" charset="0"/>
              <a:buChar char="•"/>
            </a:pPr>
            <a:r>
              <a:rPr lang="en-US" altLang="zh-CN" sz="2400" dirty="0">
                <a:latin typeface="Arial" panose="020B0604020202020204" pitchFamily="34" charset="0"/>
              </a:rPr>
              <a:t>Spark Streaming</a:t>
            </a:r>
            <a:r>
              <a:rPr lang="zh-CN" altLang="zh-CN" sz="2400" dirty="0">
                <a:latin typeface="Arial" panose="020B0604020202020204" pitchFamily="34" charset="0"/>
              </a:rPr>
              <a:t>采用的小批量处理的方式使得它可以同时兼容批量和实时数据处理的逻辑和算法，因此，方便了一些需要历史数据和实时数据联合分析的特定应用场合</a:t>
            </a:r>
            <a:endParaRPr lang="zh-CN" altLang="zh-CN" sz="2400" dirty="0">
              <a:latin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p:txBody>
          <a:bodyPr vert="horz" wrap="square" lIns="91440" tIns="45720" rIns="91440" bIns="45720" anchor="ctr" anchorCtr="0"/>
          <a:lstStyle/>
          <a:p>
            <a:r>
              <a:rPr lang="zh-CN" altLang="en-US" b="1" dirty="0"/>
              <a:t>本章小结</a:t>
            </a:r>
            <a:endParaRPr lang="zh-CN" altLang="en-US" b="1" dirty="0"/>
          </a:p>
        </p:txBody>
      </p:sp>
      <p:sp>
        <p:nvSpPr>
          <p:cNvPr id="48131" name="Rectangle 3"/>
          <p:cNvSpPr>
            <a:spLocks noGrp="1"/>
          </p:cNvSpPr>
          <p:nvPr>
            <p:ph idx="1"/>
          </p:nvPr>
        </p:nvSpPr>
        <p:spPr>
          <a:xfrm>
            <a:off x="838200" y="1520190"/>
            <a:ext cx="10515600" cy="4933950"/>
          </a:xfrm>
        </p:spPr>
        <p:txBody>
          <a:bodyPr vert="horz" wrap="square" lIns="91440" tIns="45720" rIns="91440" bIns="45720" anchor="t" anchorCtr="0">
            <a:noAutofit/>
          </a:bodyPr>
          <a:lstStyle/>
          <a:p>
            <a:pPr>
              <a:lnSpc>
                <a:spcPct val="150000"/>
              </a:lnSpc>
            </a:pPr>
            <a:r>
              <a:rPr lang="zh-CN" altLang="en-US" sz="2400" dirty="0"/>
              <a:t>流数据：持续到达的大量数据，处理强调实时性</a:t>
            </a:r>
            <a:r>
              <a:rPr lang="en-US" altLang="zh-CN" sz="2400" dirty="0"/>
              <a:t>(</a:t>
            </a:r>
            <a:r>
              <a:rPr lang="zh-CN" altLang="en-US" sz="2400" dirty="0"/>
              <a:t>一般为秒级</a:t>
            </a:r>
            <a:r>
              <a:rPr lang="en-US" altLang="zh-CN" sz="2400" dirty="0"/>
              <a:t>)</a:t>
            </a:r>
            <a:r>
              <a:rPr lang="zh-CN" altLang="en-US" sz="2400" dirty="0"/>
              <a:t>。</a:t>
            </a:r>
            <a:endParaRPr lang="zh-CN" altLang="en-US" sz="2400" dirty="0"/>
          </a:p>
          <a:p>
            <a:pPr>
              <a:lnSpc>
                <a:spcPct val="150000"/>
              </a:lnSpc>
            </a:pPr>
            <a:r>
              <a:rPr lang="en-US" altLang="zh-CN" sz="2400" dirty="0"/>
              <a:t>MapReduce</a:t>
            </a:r>
            <a:r>
              <a:rPr lang="zh-CN" altLang="en-US" sz="2400" dirty="0"/>
              <a:t>框架面向的是海量数据的离线处理，不适用于处理流数据。</a:t>
            </a:r>
            <a:endParaRPr lang="zh-CN" altLang="en-US" sz="2400" dirty="0"/>
          </a:p>
          <a:p>
            <a:pPr>
              <a:lnSpc>
                <a:spcPct val="150000"/>
              </a:lnSpc>
            </a:pPr>
            <a:r>
              <a:rPr lang="zh-CN" altLang="en-US" sz="2400" dirty="0"/>
              <a:t>流计算的处理流程：数据实时采集、数据实时计算和实时查询服务三个部分。</a:t>
            </a:r>
            <a:endParaRPr lang="zh-CN" altLang="en-US" sz="2400" dirty="0"/>
          </a:p>
          <a:p>
            <a:pPr>
              <a:lnSpc>
                <a:spcPct val="150000"/>
              </a:lnSpc>
            </a:pPr>
            <a:r>
              <a:rPr lang="en-US" altLang="zh-CN" sz="2400" dirty="0">
                <a:highlight>
                  <a:srgbClr val="FFFF00"/>
                </a:highlight>
              </a:rPr>
              <a:t>Storm</a:t>
            </a:r>
            <a:r>
              <a:rPr lang="zh-CN" altLang="en-US" sz="2400" dirty="0">
                <a:highlight>
                  <a:srgbClr val="FFFF00"/>
                </a:highlight>
              </a:rPr>
              <a:t>框架</a:t>
            </a:r>
            <a:r>
              <a:rPr lang="zh-CN" altLang="en-US" sz="2400" dirty="0"/>
              <a:t>对设计概念进行了抽象化，其主要术语包括</a:t>
            </a:r>
            <a:r>
              <a:rPr lang="en-US" altLang="zh-CN" sz="2400" dirty="0"/>
              <a:t>Streams</a:t>
            </a:r>
            <a:r>
              <a:rPr lang="zh-CN" altLang="en-US" sz="2400" dirty="0"/>
              <a:t>、</a:t>
            </a:r>
            <a:r>
              <a:rPr lang="en-US" altLang="zh-CN" sz="2400" dirty="0"/>
              <a:t>Spouts</a:t>
            </a:r>
            <a:r>
              <a:rPr lang="zh-CN" altLang="en-US" sz="2400" dirty="0"/>
              <a:t>、</a:t>
            </a:r>
            <a:r>
              <a:rPr lang="en-US" altLang="zh-CN" sz="2400" dirty="0"/>
              <a:t>Bolts</a:t>
            </a:r>
            <a:r>
              <a:rPr lang="zh-CN" altLang="en-US" sz="2400" dirty="0"/>
              <a:t>、</a:t>
            </a:r>
            <a:r>
              <a:rPr lang="en-US" altLang="zh-CN" sz="2400" dirty="0"/>
              <a:t>Topology</a:t>
            </a:r>
            <a:r>
              <a:rPr lang="zh-CN" altLang="en-US" sz="2400" dirty="0"/>
              <a:t>和</a:t>
            </a:r>
            <a:r>
              <a:rPr lang="en-US" altLang="zh-CN" sz="2400" dirty="0"/>
              <a:t>Stream Groupings</a:t>
            </a:r>
            <a:r>
              <a:rPr lang="zh-CN" altLang="en-US" sz="2400" dirty="0"/>
              <a:t>，在</a:t>
            </a:r>
            <a:r>
              <a:rPr lang="en-US" altLang="zh-CN" sz="2400" dirty="0"/>
              <a:t>Topology</a:t>
            </a:r>
            <a:r>
              <a:rPr lang="zh-CN" altLang="en-US" sz="2400" dirty="0"/>
              <a:t>中定义整体任务的处理逻辑，再通过</a:t>
            </a:r>
            <a:r>
              <a:rPr lang="en-US" altLang="zh-CN" sz="2400" dirty="0"/>
              <a:t>Bolt</a:t>
            </a:r>
            <a:r>
              <a:rPr lang="zh-CN" altLang="en-US" sz="2400" dirty="0"/>
              <a:t>具体执行，</a:t>
            </a:r>
            <a:r>
              <a:rPr lang="en-US" altLang="zh-CN" sz="2400" dirty="0"/>
              <a:t>Stream Groupings</a:t>
            </a:r>
            <a:r>
              <a:rPr lang="zh-CN" altLang="en-US" sz="2400" dirty="0"/>
              <a:t>则定义了</a:t>
            </a:r>
            <a:r>
              <a:rPr lang="en-US" altLang="zh-CN" sz="2400" dirty="0"/>
              <a:t>Tuple</a:t>
            </a:r>
            <a:r>
              <a:rPr lang="zh-CN" altLang="en-US" sz="2400" dirty="0"/>
              <a:t>如何在不同组件间进行传输。</a:t>
            </a:r>
            <a:endParaRPr lang="zh-CN" altLang="en-US" sz="2400" dirty="0"/>
          </a:p>
          <a:p>
            <a:pPr>
              <a:lnSpc>
                <a:spcPct val="150000"/>
              </a:lnSpc>
            </a:pPr>
            <a:r>
              <a:rPr lang="zh-CN" altLang="en-US" sz="2400" dirty="0"/>
              <a:t>介绍了开源流计算框架</a:t>
            </a:r>
            <a:r>
              <a:rPr lang="en-US" altLang="zh-CN" sz="2400" dirty="0"/>
              <a:t>Spark Streaming</a:t>
            </a:r>
            <a:r>
              <a:rPr lang="zh-CN" altLang="en-US" sz="2400" dirty="0"/>
              <a:t>和</a:t>
            </a:r>
            <a:r>
              <a:rPr lang="en-US" altLang="zh-CN" sz="2400" dirty="0"/>
              <a:t>Storm</a:t>
            </a:r>
            <a:r>
              <a:rPr lang="zh-CN" altLang="en-US" sz="2400" dirty="0"/>
              <a:t>做了对比。</a:t>
            </a:r>
            <a:endParaRPr lang="zh-CN" altLang="en-US" sz="2400" dirty="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UNIT_PLACING_PICTURE_USER_VIEWPORT" val="{&quot;height&quot;:2805,&quot;width&quot;:8295}"/>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PP_MARK_KEY" val="b6b11f8e-c8aa-4790-a55d-ceede10e912b"/>
  <p:tag name="COMMONDATA" val="eyJoZGlkIjoiOTRkNmFmZjRjMzI3MTQ3ZWFlYjhlZWM3YzFkOWNmN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6965</Words>
  <Application>WPS 演示</Application>
  <PresentationFormat>宽屏</PresentationFormat>
  <Paragraphs>474</Paragraphs>
  <Slides>47</Slides>
  <Notes>3</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3</vt:i4>
      </vt:variant>
      <vt:variant>
        <vt:lpstr>幻灯片标题</vt:lpstr>
      </vt:variant>
      <vt:variant>
        <vt:i4>47</vt:i4>
      </vt:variant>
    </vt:vector>
  </HeadingPairs>
  <TitlesOfParts>
    <vt:vector size="59" baseType="lpstr">
      <vt:lpstr>Arial</vt:lpstr>
      <vt:lpstr>宋体</vt:lpstr>
      <vt:lpstr>Wingdings</vt:lpstr>
      <vt:lpstr>Times New Roman</vt:lpstr>
      <vt:lpstr>等线 Light</vt:lpstr>
      <vt:lpstr>等线</vt:lpstr>
      <vt:lpstr>微软雅黑</vt:lpstr>
      <vt:lpstr>Arial Unicode MS</vt:lpstr>
      <vt:lpstr>Office 主题​​</vt:lpstr>
      <vt:lpstr>Visio.Drawing.15</vt:lpstr>
      <vt:lpstr>Visio.Drawing.15</vt:lpstr>
      <vt:lpstr>Visio.Drawing.15</vt:lpstr>
      <vt:lpstr>第11章 流计算</vt:lpstr>
      <vt:lpstr>第11章 流计算</vt:lpstr>
      <vt:lpstr>11.1	概述</vt:lpstr>
      <vt:lpstr>11.1.1 静态数据和流数据</vt:lpstr>
      <vt:lpstr>11.1.1 静态数据和流数据</vt:lpstr>
      <vt:lpstr>11.1.1 静态数据和流数据</vt:lpstr>
      <vt:lpstr>11.1.2 批量计算和实时计算</vt:lpstr>
      <vt:lpstr>11.1.3 流计算概念</vt:lpstr>
      <vt:lpstr>11.1.3 流计算概念</vt:lpstr>
      <vt:lpstr>11.1.4 流计算与Hadoop</vt:lpstr>
      <vt:lpstr>11.1.5 流计算框架</vt:lpstr>
      <vt:lpstr>11.2	流计算处理流程</vt:lpstr>
      <vt:lpstr>11.2.1 概述</vt:lpstr>
      <vt:lpstr>11.2.1 概述</vt:lpstr>
      <vt:lpstr>11.2.2 数据实时采集</vt:lpstr>
      <vt:lpstr>11.2.2 数据实时采集</vt:lpstr>
      <vt:lpstr>11.2.3 数据实时计算</vt:lpstr>
      <vt:lpstr>11.2.3 实时查询服务</vt:lpstr>
      <vt:lpstr>11.2	流计算处理流程</vt:lpstr>
      <vt:lpstr>11.3 流计算的应用</vt:lpstr>
      <vt:lpstr>11.3.1 应用场景1: 实时分析</vt:lpstr>
      <vt:lpstr>11.3.1 应用场景1: 实时分析</vt:lpstr>
      <vt:lpstr>11.3.1 应用场景2: 实时交通</vt:lpstr>
      <vt:lpstr>11.4 开源流计算框架Storm</vt:lpstr>
      <vt:lpstr>11.4 开源流计算框架Storm</vt:lpstr>
      <vt:lpstr>11.4.1 Storm简介</vt:lpstr>
      <vt:lpstr>11.4.2 Storm的特点</vt:lpstr>
      <vt:lpstr>11.4.3 Storm设计思想</vt:lpstr>
      <vt:lpstr>11.4.3 Storm设计思想</vt:lpstr>
      <vt:lpstr>11.4.3 Storm设计思想</vt:lpstr>
      <vt:lpstr>11.4.3 Storm设计思想</vt:lpstr>
      <vt:lpstr>11.4.3 Storm设计思想</vt:lpstr>
      <vt:lpstr>11.4.3 Storm设计思想</vt:lpstr>
      <vt:lpstr>11.4.3 Storm设计思想</vt:lpstr>
      <vt:lpstr>11.4.4 Storm框架设计</vt:lpstr>
      <vt:lpstr>11.4.4 Storm框架设计</vt:lpstr>
      <vt:lpstr>11.4.4 Storm框架设计</vt:lpstr>
      <vt:lpstr>11.4.4 Storm框架设计</vt:lpstr>
      <vt:lpstr>11.4.5 Storm实例</vt:lpstr>
      <vt:lpstr>11.4.5 Storm实例</vt:lpstr>
      <vt:lpstr>11.4.5 Storm实例</vt:lpstr>
      <vt:lpstr>11.5 Spark Streaming</vt:lpstr>
      <vt:lpstr>11.5.1 Spark Streaming设计</vt:lpstr>
      <vt:lpstr>11.5.1 Spark Streaming设计</vt:lpstr>
      <vt:lpstr>11.5.1 Spark Streaming设计</vt:lpstr>
      <vt:lpstr>11.5.2 Spark Streaming与Storm的对比</vt:lpstr>
      <vt:lpstr>本章小结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大数据管理</dc:title>
  <dc:creator>zitong chen</dc:creator>
  <cp:lastModifiedBy>大洋儿</cp:lastModifiedBy>
  <cp:revision>258</cp:revision>
  <dcterms:created xsi:type="dcterms:W3CDTF">2023-01-31T13:03:00Z</dcterms:created>
  <dcterms:modified xsi:type="dcterms:W3CDTF">2026-05-18T17:38:02Z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770EE3586B024E12A3FE9C609DE46694_12</vt:lpwstr>
  </property>
  <property fmtid="{D5CDD505-2E9C-101B-9397-08002B2CF9AE}" pid="3" name="KSOProductBuildVer">
    <vt:lpwstr>2052-12.1.0.26375</vt:lpwstr>
  </property>
</Properties>
</file>