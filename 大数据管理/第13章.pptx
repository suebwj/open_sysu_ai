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63"/>
  </p:handoutMasterIdLst>
  <p:sldIdLst>
    <p:sldId id="614" r:id="rId3"/>
    <p:sldId id="993" r:id="rId5"/>
    <p:sldId id="1062" r:id="rId6"/>
    <p:sldId id="1064" r:id="rId7"/>
    <p:sldId id="1065" r:id="rId8"/>
    <p:sldId id="1066" r:id="rId9"/>
    <p:sldId id="1067" r:id="rId10"/>
    <p:sldId id="1117" r:id="rId11"/>
    <p:sldId id="1118" r:id="rId12"/>
    <p:sldId id="1069" r:id="rId13"/>
    <p:sldId id="1070" r:id="rId14"/>
    <p:sldId id="1072" r:id="rId15"/>
    <p:sldId id="1073" r:id="rId16"/>
    <p:sldId id="1074" r:id="rId17"/>
    <p:sldId id="1075" r:id="rId18"/>
    <p:sldId id="1076" r:id="rId19"/>
    <p:sldId id="1078" r:id="rId20"/>
    <p:sldId id="1079" r:id="rId21"/>
    <p:sldId id="1080" r:id="rId22"/>
    <p:sldId id="1081" r:id="rId23"/>
    <p:sldId id="1082" r:id="rId24"/>
    <p:sldId id="1166" r:id="rId25"/>
    <p:sldId id="1083" r:id="rId26"/>
    <p:sldId id="1084" r:id="rId27"/>
    <p:sldId id="1085" r:id="rId28"/>
    <p:sldId id="1086" r:id="rId29"/>
    <p:sldId id="1087" r:id="rId30"/>
    <p:sldId id="1088" r:id="rId31"/>
    <p:sldId id="1089" r:id="rId32"/>
    <p:sldId id="1090" r:id="rId33"/>
    <p:sldId id="1091" r:id="rId34"/>
    <p:sldId id="1092" r:id="rId35"/>
    <p:sldId id="1093" r:id="rId36"/>
    <p:sldId id="1094" r:id="rId37"/>
    <p:sldId id="1095" r:id="rId38"/>
    <p:sldId id="1096" r:id="rId39"/>
    <p:sldId id="1097" r:id="rId40"/>
    <p:sldId id="1098" r:id="rId41"/>
    <p:sldId id="1099" r:id="rId42"/>
    <p:sldId id="1100" r:id="rId43"/>
    <p:sldId id="1101" r:id="rId44"/>
    <p:sldId id="1204" r:id="rId45"/>
    <p:sldId id="1203" r:id="rId46"/>
    <p:sldId id="1102" r:id="rId47"/>
    <p:sldId id="1221" r:id="rId48"/>
    <p:sldId id="1223" r:id="rId49"/>
    <p:sldId id="1103" r:id="rId50"/>
    <p:sldId id="1104" r:id="rId51"/>
    <p:sldId id="1105" r:id="rId52"/>
    <p:sldId id="1106" r:id="rId53"/>
    <p:sldId id="1107" r:id="rId54"/>
    <p:sldId id="1109" r:id="rId55"/>
    <p:sldId id="1110" r:id="rId56"/>
    <p:sldId id="1111" r:id="rId57"/>
    <p:sldId id="1112" r:id="rId58"/>
    <p:sldId id="1113" r:id="rId59"/>
    <p:sldId id="1114" r:id="rId60"/>
    <p:sldId id="1115" r:id="rId61"/>
    <p:sldId id="1116" r:id="rId62"/>
  </p:sldIdLst>
  <p:sldSz cx="12192000" cy="6858000"/>
  <p:notesSz cx="6858000" cy="9144000"/>
  <p:custDataLst>
    <p:tags r:id="rId6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第一篇" id="{3E72D914-66BA-4579-8F52-77CB28085651}">
          <p14:sldIdLst>
            <p14:sldId id="614"/>
            <p14:sldId id="993"/>
            <p14:sldId id="1062"/>
            <p14:sldId id="1064"/>
            <p14:sldId id="1065"/>
            <p14:sldId id="1066"/>
            <p14:sldId id="1067"/>
            <p14:sldId id="1117"/>
            <p14:sldId id="1118"/>
            <p14:sldId id="1069"/>
            <p14:sldId id="1070"/>
            <p14:sldId id="1072"/>
            <p14:sldId id="1073"/>
            <p14:sldId id="1074"/>
            <p14:sldId id="1075"/>
            <p14:sldId id="1076"/>
            <p14:sldId id="1078"/>
            <p14:sldId id="1079"/>
            <p14:sldId id="1080"/>
            <p14:sldId id="1081"/>
            <p14:sldId id="1082"/>
            <p14:sldId id="1166"/>
            <p14:sldId id="1083"/>
            <p14:sldId id="1084"/>
            <p14:sldId id="1085"/>
            <p14:sldId id="1086"/>
            <p14:sldId id="1087"/>
            <p14:sldId id="1088"/>
            <p14:sldId id="1089"/>
            <p14:sldId id="1090"/>
            <p14:sldId id="1091"/>
            <p14:sldId id="1092"/>
            <p14:sldId id="1093"/>
            <p14:sldId id="1094"/>
            <p14:sldId id="1095"/>
            <p14:sldId id="1096"/>
            <p14:sldId id="1097"/>
            <p14:sldId id="1098"/>
            <p14:sldId id="1099"/>
            <p14:sldId id="1100"/>
            <p14:sldId id="1101"/>
            <p14:sldId id="1204"/>
            <p14:sldId id="1203"/>
            <p14:sldId id="1102"/>
            <p14:sldId id="1221"/>
            <p14:sldId id="1223"/>
            <p14:sldId id="1103"/>
            <p14:sldId id="1104"/>
            <p14:sldId id="1105"/>
            <p14:sldId id="1106"/>
            <p14:sldId id="1107"/>
            <p14:sldId id="1109"/>
            <p14:sldId id="1110"/>
            <p14:sldId id="1111"/>
            <p14:sldId id="1112"/>
            <p14:sldId id="1113"/>
            <p14:sldId id="1114"/>
            <p14:sldId id="1115"/>
            <p14:sldId id="1116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7DFE5"/>
    <a:srgbClr val="FFFFFF"/>
    <a:srgbClr val="E9EBF5"/>
    <a:srgbClr val="CFD5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35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7" Type="http://schemas.openxmlformats.org/officeDocument/2006/relationships/tags" Target="tags/tag52.xml"/><Relationship Id="rId66" Type="http://schemas.openxmlformats.org/officeDocument/2006/relationships/tableStyles" Target="tableStyles.xml"/><Relationship Id="rId65" Type="http://schemas.openxmlformats.org/officeDocument/2006/relationships/viewProps" Target="viewProps.xml"/><Relationship Id="rId64" Type="http://schemas.openxmlformats.org/officeDocument/2006/relationships/presProps" Target="presProps.xml"/><Relationship Id="rId63" Type="http://schemas.openxmlformats.org/officeDocument/2006/relationships/handoutMaster" Target="handoutMasters/handoutMaster1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EA424B-F2C7-4EC9-8DA2-5CFAACF65E1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860B0A-E707-4489-B72C-209A0C1058F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pPr marL="0" indent="0"/>
            <a:r>
              <a:rPr lang="zh-CN" altLang="en-US" dirty="0">
                <a:sym typeface="+mn-ea"/>
              </a:rPr>
              <a:t>许多大数据都是以大规模图或网络的形式呈现，如社交网络、传染病传播途径、交通事故对路网的影响</a:t>
            </a:r>
            <a:endParaRPr lang="en-US" altLang="zh-CN" dirty="0"/>
          </a:p>
          <a:p>
            <a:pPr marL="0" indent="0"/>
            <a:r>
              <a:rPr lang="zh-CN" altLang="en-US" dirty="0">
                <a:sym typeface="+mn-ea"/>
              </a:rPr>
              <a:t>许多非图结构的大数据，也常常会被转换为图模型后进行分析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pPr lvl="1" indent="0" defTabSz="914400" eaLnBrk="1" hangingPunct="1">
              <a:buNone/>
              <a:tabLst>
                <a:tab pos="533400" algn="l"/>
              </a:tabLst>
            </a:pPr>
            <a:r>
              <a:rPr lang="zh-CN" altLang="en-US" dirty="0">
                <a:latin typeface="Arial" panose="020B0604020202020204" pitchFamily="34" charset="0"/>
                <a:sym typeface="+mn-ea"/>
              </a:rPr>
              <a:t>现有的并行计算框架像</a:t>
            </a:r>
            <a:r>
              <a:rPr lang="en-US" altLang="zh-CN" dirty="0">
                <a:latin typeface="Arial" panose="020B0604020202020204" pitchFamily="34" charset="0"/>
                <a:sym typeface="+mn-ea"/>
              </a:rPr>
              <a:t>MapReduce</a:t>
            </a:r>
            <a:r>
              <a:rPr lang="zh-CN" altLang="en-US" dirty="0">
                <a:latin typeface="Arial" panose="020B0604020202020204" pitchFamily="34" charset="0"/>
                <a:sym typeface="+mn-ea"/>
              </a:rPr>
              <a:t>还无法满足复杂的关联性计算</a:t>
            </a:r>
            <a:endParaRPr lang="en-US" altLang="zh-CN" dirty="0">
              <a:latin typeface="Arial" panose="020B0604020202020204" pitchFamily="34" charset="0"/>
            </a:endParaRPr>
          </a:p>
          <a:p>
            <a:pPr lvl="1" indent="0" defTabSz="914400" eaLnBrk="1" hangingPunct="1">
              <a:buNone/>
              <a:tabLst>
                <a:tab pos="533400" algn="l"/>
              </a:tabLst>
            </a:pPr>
            <a:r>
              <a:rPr lang="en-US" altLang="zh-CN" dirty="0">
                <a:latin typeface="Arial" panose="020B0604020202020204" pitchFamily="34" charset="0"/>
                <a:sym typeface="+mn-ea"/>
              </a:rPr>
              <a:t>MapReduce</a:t>
            </a:r>
            <a:r>
              <a:rPr lang="zh-CN" altLang="en-US" dirty="0">
                <a:latin typeface="Arial" panose="020B0604020202020204" pitchFamily="34" charset="0"/>
                <a:sym typeface="+mn-ea"/>
              </a:rPr>
              <a:t>作为单输入、两阶段、粗粒度数据并行的分布式计算框架，在表达多迭代、稀疏结构和细粒度数据时，力不从心</a:t>
            </a:r>
            <a:endParaRPr lang="en-US" altLang="zh-CN" dirty="0">
              <a:latin typeface="Arial" panose="020B0604020202020204" pitchFamily="34" charset="0"/>
            </a:endParaRPr>
          </a:p>
          <a:p>
            <a:pPr lvl="1" indent="0" defTabSz="914400" eaLnBrk="1" hangingPunct="1">
              <a:buNone/>
              <a:tabLst>
                <a:tab pos="533400" algn="l"/>
              </a:tabLst>
            </a:pPr>
            <a:r>
              <a:rPr lang="zh-CN" altLang="en-US" dirty="0">
                <a:latin typeface="Arial" panose="020B0604020202020204" pitchFamily="34" charset="0"/>
                <a:sym typeface="+mn-ea"/>
              </a:rPr>
              <a:t>比如，有公司利用</a:t>
            </a:r>
            <a:r>
              <a:rPr lang="en-US" altLang="zh-CN" dirty="0">
                <a:latin typeface="Arial" panose="020B0604020202020204" pitchFamily="34" charset="0"/>
                <a:sym typeface="+mn-ea"/>
              </a:rPr>
              <a:t>MapReduce</a:t>
            </a:r>
            <a:r>
              <a:rPr lang="zh-CN" altLang="en-US" dirty="0">
                <a:latin typeface="Arial" panose="020B0604020202020204" pitchFamily="34" charset="0"/>
                <a:sym typeface="+mn-ea"/>
              </a:rPr>
              <a:t>进行社交用户推荐，对于</a:t>
            </a:r>
            <a:r>
              <a:rPr lang="en-US" altLang="zh-CN" dirty="0">
                <a:latin typeface="Arial" panose="020B0604020202020204" pitchFamily="34" charset="0"/>
                <a:sym typeface="+mn-ea"/>
              </a:rPr>
              <a:t>5000</a:t>
            </a:r>
            <a:r>
              <a:rPr lang="zh-CN" altLang="en-US" dirty="0">
                <a:latin typeface="Arial" panose="020B0604020202020204" pitchFamily="34" charset="0"/>
                <a:sym typeface="+mn-ea"/>
              </a:rPr>
              <a:t>万注册用户，</a:t>
            </a:r>
            <a:r>
              <a:rPr lang="en-US" altLang="zh-CN" dirty="0">
                <a:latin typeface="Arial" panose="020B0604020202020204" pitchFamily="34" charset="0"/>
                <a:sym typeface="+mn-ea"/>
              </a:rPr>
              <a:t>50</a:t>
            </a:r>
            <a:r>
              <a:rPr lang="zh-CN" altLang="en-US" dirty="0">
                <a:latin typeface="Arial" panose="020B0604020202020204" pitchFamily="34" charset="0"/>
                <a:sym typeface="+mn-ea"/>
              </a:rPr>
              <a:t>亿关系对，利用</a:t>
            </a:r>
            <a:r>
              <a:rPr lang="en-US" altLang="zh-CN" dirty="0">
                <a:latin typeface="Arial" panose="020B0604020202020204" pitchFamily="34" charset="0"/>
                <a:sym typeface="+mn-ea"/>
              </a:rPr>
              <a:t>10</a:t>
            </a:r>
            <a:r>
              <a:rPr lang="zh-CN" altLang="en-US" dirty="0">
                <a:latin typeface="Arial" panose="020B0604020202020204" pitchFamily="34" charset="0"/>
                <a:sym typeface="+mn-ea"/>
              </a:rPr>
              <a:t>台机器的集群，需要超过</a:t>
            </a:r>
            <a:r>
              <a:rPr lang="en-US" altLang="zh-CN" dirty="0">
                <a:latin typeface="Arial" panose="020B0604020202020204" pitchFamily="34" charset="0"/>
                <a:sym typeface="+mn-ea"/>
              </a:rPr>
              <a:t>10</a:t>
            </a:r>
            <a:r>
              <a:rPr lang="zh-CN" altLang="en-US" dirty="0">
                <a:latin typeface="Arial" panose="020B0604020202020204" pitchFamily="34" charset="0"/>
                <a:sym typeface="+mn-ea"/>
              </a:rPr>
              <a:t>个小时的计算</a:t>
            </a:r>
            <a:endParaRPr lang="zh-CN" altLang="en-US" dirty="0">
              <a:latin typeface="Arial" panose="020B0604020202020204" pitchFamily="34" charset="0"/>
            </a:endParaRPr>
          </a:p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D01BD-4741-4184-BE56-DAF04E336C97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CF920-1DC5-4C71-8718-0D3D51DA5754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FB8C7-156C-4269-A9D3-236C9122148A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235BB-B880-4407-ACFF-512D8BC24B90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9A4FC-A20D-40C9-ABAC-C696099A86F2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C5C66-F7B6-4A16-8359-13B29DD706AB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552A2-5CC8-435E-A513-EF450F74AF85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593F0-41FC-4EC0-B9B0-30C4E0373CF4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DD0A6-25F9-45E6-B1AB-8802F7FB4BFD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5DAC9-C380-4E94-9EDF-CE70C1A17B94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B58E9-DE7D-4AC4-86BB-A1A3764A53E4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1524000" y="76200"/>
            <a:ext cx="10668000" cy="9144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lvl="0"/>
            <a:r>
              <a:rPr lang="zh-CN" noProof="1"/>
              <a:t>单击此处编辑母版标题样式</a:t>
            </a:r>
            <a:endParaRPr lang="zh-CN" noProof="1"/>
          </a:p>
        </p:txBody>
      </p:sp>
    </p:spTree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1524000" y="76200"/>
            <a:ext cx="10668000" cy="9144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lvl="0"/>
            <a:r>
              <a:rPr lang="zh-CN" noProof="1"/>
              <a:t>单击此处编辑母版标题样式</a:t>
            </a:r>
            <a:endParaRPr lang="zh-CN" noProof="1"/>
          </a:p>
        </p:txBody>
      </p:sp>
    </p:spTree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1524000" y="76200"/>
            <a:ext cx="10668000" cy="9144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lvl="0"/>
            <a:r>
              <a:rPr lang="zh-CN" noProof="1"/>
              <a:t>单击此处编辑母版标题样式</a:t>
            </a:r>
            <a:endParaRPr lang="zh-CN" noProof="1"/>
          </a:p>
        </p:txBody>
      </p:sp>
    </p:spTree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1524000" y="76200"/>
            <a:ext cx="10668000" cy="9144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lvl="0"/>
            <a:r>
              <a:rPr lang="zh-CN" noProof="1"/>
              <a:t>单击此处编辑母版标题样式</a:t>
            </a:r>
            <a:endParaRPr lang="zh-CN" noProof="1"/>
          </a:p>
        </p:txBody>
      </p:sp>
    </p:spTree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1524000" y="76200"/>
            <a:ext cx="10668000" cy="9144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lvl="0"/>
            <a:r>
              <a:rPr lang="zh-CN" noProof="1"/>
              <a:t>单击此处编辑母版标题样式</a:t>
            </a:r>
            <a:endParaRPr lang="zh-CN" noProof="1"/>
          </a:p>
        </p:txBody>
      </p:sp>
    </p:spTree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1524000" y="76200"/>
            <a:ext cx="10668000" cy="9144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lvl="0"/>
            <a:r>
              <a:rPr lang="zh-CN" noProof="1"/>
              <a:t>单击此处编辑母版标题样式</a:t>
            </a:r>
            <a:endParaRPr lang="zh-CN" noProof="1"/>
          </a:p>
        </p:txBody>
      </p:sp>
    </p:spTree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1524000" y="76200"/>
            <a:ext cx="10668000" cy="9144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lvl="0"/>
            <a:r>
              <a:rPr lang="zh-CN" noProof="1"/>
              <a:t>单击此处编辑母版标题样式</a:t>
            </a:r>
            <a:endParaRPr lang="zh-CN" noProof="1"/>
          </a:p>
        </p:txBody>
      </p:sp>
    </p:spTree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1524000" y="76200"/>
            <a:ext cx="10668000" cy="9144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lvl="0"/>
            <a:r>
              <a:rPr lang="zh-CN" noProof="1"/>
              <a:t>单击此处编辑母版标题样式</a:t>
            </a:r>
            <a:endParaRPr lang="zh-CN" noProof="1"/>
          </a:p>
        </p:txBody>
      </p:sp>
    </p:spTree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1524000" y="76200"/>
            <a:ext cx="10668000" cy="9144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lvl="0"/>
            <a:r>
              <a:rPr lang="zh-CN" noProof="1"/>
              <a:t>单击此处编辑母版标题样式</a:t>
            </a:r>
            <a:endParaRPr lang="zh-CN" noProof="1"/>
          </a:p>
        </p:txBody>
      </p:sp>
    </p:spTree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1524000" y="76200"/>
            <a:ext cx="10668000" cy="9144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lvl="0"/>
            <a:r>
              <a:rPr lang="zh-CN" noProof="1"/>
              <a:t>单击此处编辑母版标题样式</a:t>
            </a:r>
            <a:endParaRPr lang="zh-CN" noProof="1"/>
          </a:p>
        </p:txBody>
      </p:sp>
    </p:spTree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1524000" y="76200"/>
            <a:ext cx="10668000" cy="9144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lvl="0"/>
            <a:r>
              <a:rPr lang="zh-CN" noProof="1"/>
              <a:t>单击此处编辑母版标题样式</a:t>
            </a:r>
            <a:endParaRPr lang="zh-CN" noProof="1"/>
          </a:p>
        </p:txBody>
      </p:sp>
    </p:spTree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1524000" y="76200"/>
            <a:ext cx="10668000" cy="9144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lvl="0"/>
            <a:r>
              <a:rPr lang="zh-CN" noProof="1"/>
              <a:t>单击此处编辑母版标题样式</a:t>
            </a:r>
            <a:endParaRPr lang="zh-CN" noProof="1"/>
          </a:p>
        </p:txBody>
      </p:sp>
    </p:spTree>
  </p:cSld>
  <p:clrMapOvr>
    <a:masterClrMapping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1524000" y="76200"/>
            <a:ext cx="10668000" cy="9144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lvl="0"/>
            <a:r>
              <a:rPr lang="zh-CN" noProof="1"/>
              <a:t>单击此处编辑母版标题样式</a:t>
            </a:r>
            <a:endParaRPr lang="zh-CN" noProof="1"/>
          </a:p>
        </p:txBody>
      </p:sp>
    </p:spTree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1524000" y="76200"/>
            <a:ext cx="10668000" cy="9144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lvl="0"/>
            <a:r>
              <a:rPr lang="zh-CN" noProof="1"/>
              <a:t>单击此处编辑母版标题样式</a:t>
            </a:r>
            <a:endParaRPr lang="zh-CN" noProof="1"/>
          </a:p>
        </p:txBody>
      </p:sp>
    </p:spTree>
  </p:cSld>
  <p:clrMapOvr>
    <a:masterClrMapping/>
  </p:clrMapOvr>
  <p:hf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1524000" y="76200"/>
            <a:ext cx="10668000" cy="9144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lvl="0"/>
            <a:r>
              <a:rPr lang="zh-CN" noProof="1"/>
              <a:t>单击此处编辑母版标题样式</a:t>
            </a:r>
            <a:endParaRPr lang="zh-CN" noProof="1"/>
          </a:p>
        </p:txBody>
      </p:sp>
    </p:spTree>
  </p:cSld>
  <p:clrMapOvr>
    <a:masterClrMapping/>
  </p:clrMapOvr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1524000" y="76200"/>
            <a:ext cx="10668000" cy="9144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lvl="0"/>
            <a:r>
              <a:rPr lang="zh-CN" noProof="1"/>
              <a:t>单击此处编辑母版标题样式</a:t>
            </a:r>
            <a:endParaRPr lang="zh-CN" noProof="1"/>
          </a:p>
        </p:txBody>
      </p:sp>
    </p:spTree>
  </p:cSld>
  <p:clrMapOvr>
    <a:masterClrMapping/>
  </p:clrMapOvr>
  <p:hf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1524000" y="76200"/>
            <a:ext cx="10668000" cy="9144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lvl="0"/>
            <a:r>
              <a:rPr lang="zh-CN" noProof="1"/>
              <a:t>单击此处编辑母版标题样式</a:t>
            </a:r>
            <a:endParaRPr lang="zh-CN" noProof="1"/>
          </a:p>
        </p:txBody>
      </p:sp>
    </p:spTree>
  </p:cSld>
  <p:clrMapOvr>
    <a:masterClrMapping/>
  </p:clrMapOvr>
  <p:hf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1524000" y="76200"/>
            <a:ext cx="10668000" cy="9144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lvl="0"/>
            <a:r>
              <a:rPr lang="zh-CN" noProof="1"/>
              <a:t>单击此处编辑母版标题样式</a:t>
            </a:r>
            <a:endParaRPr lang="zh-CN" noProof="1"/>
          </a:p>
        </p:txBody>
      </p:sp>
    </p:spTree>
  </p:cSld>
  <p:clrMapOvr>
    <a:masterClrMapping/>
  </p:clrMapOvr>
  <p:hf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1524000" y="76200"/>
            <a:ext cx="10668000" cy="9144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lvl="0"/>
            <a:r>
              <a:rPr lang="zh-CN" noProof="1"/>
              <a:t>单击此处编辑母版标题样式</a:t>
            </a:r>
            <a:endParaRPr lang="zh-CN" noProof="1"/>
          </a:p>
        </p:txBody>
      </p:sp>
    </p:spTree>
  </p:cSld>
  <p:clrMapOvr>
    <a:masterClrMapping/>
  </p:clrMapOvr>
  <p:hf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1524000" y="76200"/>
            <a:ext cx="10668000" cy="9144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lvl="0"/>
            <a:r>
              <a:rPr lang="zh-CN" noProof="1"/>
              <a:t>单击此处编辑母版标题样式</a:t>
            </a:r>
            <a:endParaRPr lang="zh-CN" noProof="1"/>
          </a:p>
        </p:txBody>
      </p:sp>
    </p:spTree>
  </p:cSld>
  <p:clrMapOvr>
    <a:masterClrMapping/>
  </p:clrMapOvr>
  <p:hf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24000" y="76200"/>
            <a:ext cx="10668000" cy="9144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4" Type="http://schemas.openxmlformats.org/officeDocument/2006/relationships/theme" Target="../theme/theme1.xml"/><Relationship Id="rId33" Type="http://schemas.openxmlformats.org/officeDocument/2006/relationships/image" Target="../media/image1.png"/><Relationship Id="rId32" Type="http://schemas.openxmlformats.org/officeDocument/2006/relationships/slideLayout" Target="../slideLayouts/slideLayout32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.xml"/><Relationship Id="rId29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50D025-EB81-4291-9E40-972558CDBCB9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2.jpeg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4.xml"/><Relationship Id="rId2" Type="http://schemas.openxmlformats.org/officeDocument/2006/relationships/image" Target="../media/image4.emf"/><Relationship Id="rId1" Type="http://schemas.openxmlformats.org/officeDocument/2006/relationships/tags" Target="../tags/tag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e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emf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em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em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jpe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emf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jpe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6.emf"/><Relationship Id="rId2" Type="http://schemas.openxmlformats.org/officeDocument/2006/relationships/tags" Target="../tags/tag7.xml"/><Relationship Id="rId1" Type="http://schemas.openxmlformats.org/officeDocument/2006/relationships/image" Target="../media/image15.jpeg"/></Relationships>
</file>

<file path=ppt/slides/_rels/slide4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image" Target="../media/image15.jpeg"/></Relationships>
</file>

<file path=ppt/slides/_rels/slide4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.png"/><Relationship Id="rId8" Type="http://schemas.openxmlformats.org/officeDocument/2006/relationships/tags" Target="../tags/tag18.xml"/><Relationship Id="rId7" Type="http://schemas.openxmlformats.org/officeDocument/2006/relationships/tags" Target="../tags/tag17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1" Type="http://schemas.openxmlformats.org/officeDocument/2006/relationships/slideLayout" Target="../slideLayouts/slideLayout7.xml"/><Relationship Id="rId10" Type="http://schemas.openxmlformats.org/officeDocument/2006/relationships/tags" Target="../tags/tag19.xml"/><Relationship Id="rId1" Type="http://schemas.openxmlformats.org/officeDocument/2006/relationships/tags" Target="../tags/tag11.xml"/></Relationships>
</file>

<file path=ppt/slides/_rels/slide43.xml.rels><?xml version="1.0" encoding="UTF-8" standalone="yes"?>
<Relationships xmlns="http://schemas.openxmlformats.org/package/2006/relationships"><Relationship Id="rId9" Type="http://schemas.openxmlformats.org/officeDocument/2006/relationships/tags" Target="../tags/tag28.xml"/><Relationship Id="rId8" Type="http://schemas.openxmlformats.org/officeDocument/2006/relationships/tags" Target="../tags/tag27.xml"/><Relationship Id="rId7" Type="http://schemas.openxmlformats.org/officeDocument/2006/relationships/tags" Target="../tags/tag26.xml"/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tags" Target="../tags/tag23.xml"/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36.xml"/><Relationship Id="rId17" Type="http://schemas.openxmlformats.org/officeDocument/2006/relationships/image" Target="../media/image17.png"/><Relationship Id="rId16" Type="http://schemas.openxmlformats.org/officeDocument/2006/relationships/tags" Target="../tags/tag35.xml"/><Relationship Id="rId15" Type="http://schemas.openxmlformats.org/officeDocument/2006/relationships/tags" Target="../tags/tag34.xml"/><Relationship Id="rId14" Type="http://schemas.openxmlformats.org/officeDocument/2006/relationships/tags" Target="../tags/tag33.xml"/><Relationship Id="rId13" Type="http://schemas.openxmlformats.org/officeDocument/2006/relationships/tags" Target="../tags/tag32.xml"/><Relationship Id="rId12" Type="http://schemas.openxmlformats.org/officeDocument/2006/relationships/tags" Target="../tags/tag31.xml"/><Relationship Id="rId11" Type="http://schemas.openxmlformats.org/officeDocument/2006/relationships/tags" Target="../tags/tag30.xml"/><Relationship Id="rId10" Type="http://schemas.openxmlformats.org/officeDocument/2006/relationships/tags" Target="../tags/tag29.xml"/><Relationship Id="rId1" Type="http://schemas.openxmlformats.org/officeDocument/2006/relationships/tags" Target="../tags/tag20.xml"/></Relationships>
</file>

<file path=ppt/slides/_rels/slide44.xml.rels><?xml version="1.0" encoding="UTF-8" standalone="yes"?>
<Relationships xmlns="http://schemas.openxmlformats.org/package/2006/relationships"><Relationship Id="rId9" Type="http://schemas.openxmlformats.org/officeDocument/2006/relationships/tags" Target="../tags/tag45.xml"/><Relationship Id="rId8" Type="http://schemas.openxmlformats.org/officeDocument/2006/relationships/tags" Target="../tags/tag44.xml"/><Relationship Id="rId7" Type="http://schemas.openxmlformats.org/officeDocument/2006/relationships/tags" Target="../tags/tag43.xml"/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0" Type="http://schemas.openxmlformats.org/officeDocument/2006/relationships/slideLayout" Target="../slideLayouts/slideLayout2.xml"/><Relationship Id="rId2" Type="http://schemas.openxmlformats.org/officeDocument/2006/relationships/tags" Target="../tags/tag38.xml"/><Relationship Id="rId19" Type="http://schemas.openxmlformats.org/officeDocument/2006/relationships/image" Target="../media/image22.png"/><Relationship Id="rId18" Type="http://schemas.openxmlformats.org/officeDocument/2006/relationships/image" Target="../media/image21.png"/><Relationship Id="rId17" Type="http://schemas.openxmlformats.org/officeDocument/2006/relationships/image" Target="../media/image20.png"/><Relationship Id="rId16" Type="http://schemas.openxmlformats.org/officeDocument/2006/relationships/image" Target="../media/image19.png"/><Relationship Id="rId15" Type="http://schemas.openxmlformats.org/officeDocument/2006/relationships/image" Target="../media/image18.png"/><Relationship Id="rId14" Type="http://schemas.openxmlformats.org/officeDocument/2006/relationships/tags" Target="../tags/tag50.xml"/><Relationship Id="rId13" Type="http://schemas.openxmlformats.org/officeDocument/2006/relationships/tags" Target="../tags/tag49.xml"/><Relationship Id="rId12" Type="http://schemas.openxmlformats.org/officeDocument/2006/relationships/tags" Target="../tags/tag48.xml"/><Relationship Id="rId11" Type="http://schemas.openxmlformats.org/officeDocument/2006/relationships/tags" Target="../tags/tag47.xml"/><Relationship Id="rId10" Type="http://schemas.openxmlformats.org/officeDocument/2006/relationships/tags" Target="../tags/tag46.xml"/><Relationship Id="rId1" Type="http://schemas.openxmlformats.org/officeDocument/2006/relationships/tags" Target="../tags/tag3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jpe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emf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emf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第</a:t>
            </a:r>
            <a:r>
              <a:rPr lang="en-US" altLang="zh-CN" b="1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13</a:t>
            </a:r>
            <a:r>
              <a:rPr lang="zh-CN" altLang="en-US" b="1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章	图</a:t>
            </a:r>
            <a:r>
              <a:rPr lang="zh-CN" altLang="en-US" b="1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计算</a:t>
            </a:r>
            <a:endParaRPr lang="zh-CN" altLang="en-US" b="1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800" b="1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第</a:t>
            </a:r>
            <a:r>
              <a:rPr lang="en-US" altLang="zh-CN" sz="4800" b="1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13</a:t>
            </a:r>
            <a:r>
              <a:rPr lang="zh-CN" altLang="en-US" sz="4800" b="1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章	图计算</a:t>
            </a:r>
            <a:endParaRPr lang="en-US" altLang="zh-CN" sz="4800" b="1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  <p:sp>
        <p:nvSpPr>
          <p:cNvPr id="5" name="圆角矩形 4"/>
          <p:cNvSpPr/>
          <p:nvPr/>
        </p:nvSpPr>
        <p:spPr>
          <a:xfrm>
            <a:off x="351790" y="2572385"/>
            <a:ext cx="2997200" cy="59055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457200" indent="-457200"/>
            <a:r>
              <a:rPr sz="2800" b="1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sym typeface="+mn-ea"/>
              </a:rPr>
              <a:t>13.1	图计算简介</a:t>
            </a:r>
            <a:endParaRPr sz="2800" b="1" dirty="0">
              <a:solidFill>
                <a:srgbClr val="000000"/>
              </a:solidFill>
              <a:latin typeface="Arial" panose="020B0604020202020204" pitchFamily="34" charset="0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4309745" y="1691005"/>
            <a:ext cx="3063240" cy="55245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2800" b="1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sym typeface="+mn-ea"/>
              </a:rPr>
              <a:t>13.2	Pregel简介</a:t>
            </a:r>
            <a:endParaRPr sz="2800" b="1" dirty="0">
              <a:solidFill>
                <a:srgbClr val="000000"/>
              </a:solidFill>
              <a:latin typeface="Arial" panose="020B0604020202020204" pitchFamily="34" charset="0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8431530" y="2428240"/>
            <a:ext cx="2798445" cy="781050"/>
          </a:xfrm>
          <a:prstGeom prst="roundRect">
            <a:avLst/>
          </a:prstGeom>
          <a:solidFill>
            <a:srgbClr val="FFFF00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2800" b="1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sym typeface="+mn-ea"/>
              </a:rPr>
              <a:t>13.3	Pregel</a:t>
            </a:r>
            <a:endParaRPr sz="2800" b="1" dirty="0">
              <a:solidFill>
                <a:srgbClr val="000000"/>
              </a:solidFill>
              <a:latin typeface="Arial" panose="020B0604020202020204" pitchFamily="34" charset="0"/>
              <a:ea typeface="黑体" panose="02010609060101010101" pitchFamily="49" charset="-122"/>
              <a:sym typeface="+mn-ea"/>
            </a:endParaRPr>
          </a:p>
          <a:p>
            <a:pPr algn="ctr"/>
            <a:r>
              <a:rPr sz="2800" b="1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sym typeface="+mn-ea"/>
              </a:rPr>
              <a:t>图计算模型</a:t>
            </a:r>
            <a:endParaRPr sz="2800" b="1" dirty="0">
              <a:solidFill>
                <a:srgbClr val="000000"/>
              </a:solidFill>
              <a:latin typeface="Arial" panose="020B0604020202020204" pitchFamily="34" charset="0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8431530" y="3773805"/>
            <a:ext cx="2797175" cy="821055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457200" indent="-457200" algn="ctr"/>
            <a:r>
              <a:rPr sz="2800" b="1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sym typeface="+mn-ea"/>
              </a:rPr>
              <a:t>13.4	Pregel</a:t>
            </a:r>
            <a:endParaRPr sz="2800" b="1" dirty="0">
              <a:solidFill>
                <a:srgbClr val="000000"/>
              </a:solidFill>
              <a:latin typeface="Arial" panose="020B0604020202020204" pitchFamily="34" charset="0"/>
              <a:ea typeface="黑体" panose="02010609060101010101" pitchFamily="49" charset="-122"/>
              <a:sym typeface="+mn-ea"/>
            </a:endParaRPr>
          </a:p>
          <a:p>
            <a:pPr marL="457200" indent="-457200" algn="ctr"/>
            <a:r>
              <a:rPr sz="2800" b="1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sym typeface="+mn-ea"/>
              </a:rPr>
              <a:t>的C++ API</a:t>
            </a:r>
            <a:endParaRPr sz="2800" b="1" dirty="0">
              <a:solidFill>
                <a:srgbClr val="000000"/>
              </a:solidFill>
              <a:latin typeface="Arial" panose="020B0604020202020204" pitchFamily="34" charset="0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8431530" y="5423535"/>
            <a:ext cx="2797810" cy="87249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457200" indent="-457200" algn="ctr"/>
            <a:r>
              <a:rPr sz="2800" b="1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sym typeface="+mn-ea"/>
              </a:rPr>
              <a:t>13.5	Pregel</a:t>
            </a:r>
            <a:endParaRPr sz="2800" b="1" dirty="0">
              <a:solidFill>
                <a:srgbClr val="000000"/>
              </a:solidFill>
              <a:latin typeface="Arial" panose="020B0604020202020204" pitchFamily="34" charset="0"/>
              <a:ea typeface="黑体" panose="02010609060101010101" pitchFamily="49" charset="-122"/>
              <a:sym typeface="+mn-ea"/>
            </a:endParaRPr>
          </a:p>
          <a:p>
            <a:pPr marL="457200" indent="-457200" algn="ctr"/>
            <a:r>
              <a:rPr sz="2800" b="1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sym typeface="+mn-ea"/>
              </a:rPr>
              <a:t>的体系结构</a:t>
            </a:r>
            <a:endParaRPr sz="2800" b="1" dirty="0">
              <a:solidFill>
                <a:srgbClr val="000000"/>
              </a:solidFill>
              <a:latin typeface="Arial" panose="020B0604020202020204" pitchFamily="34" charset="0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9" name="圆角矩形 8"/>
          <p:cNvSpPr/>
          <p:nvPr>
            <p:custDataLst>
              <p:tags r:id="rId1"/>
            </p:custDataLst>
          </p:nvPr>
        </p:nvSpPr>
        <p:spPr>
          <a:xfrm>
            <a:off x="339725" y="5484495"/>
            <a:ext cx="3009265" cy="87249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marL="457200" indent="-457200" algn="ctr"/>
            <a:r>
              <a:rPr sz="2800" b="1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sym typeface="+mn-ea"/>
              </a:rPr>
              <a:t>13.6	Pregel</a:t>
            </a:r>
            <a:endParaRPr sz="2800" b="1" dirty="0">
              <a:solidFill>
                <a:srgbClr val="000000"/>
              </a:solidFill>
              <a:latin typeface="Arial" panose="020B0604020202020204" pitchFamily="34" charset="0"/>
              <a:ea typeface="黑体" panose="02010609060101010101" pitchFamily="49" charset="-122"/>
              <a:sym typeface="+mn-ea"/>
            </a:endParaRPr>
          </a:p>
          <a:p>
            <a:pPr marL="457200" indent="-457200" algn="ctr"/>
            <a:r>
              <a:rPr sz="2800" b="1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sym typeface="+mn-ea"/>
              </a:rPr>
              <a:t>的应用实例</a:t>
            </a:r>
            <a:endParaRPr sz="2800" b="1" dirty="0">
              <a:solidFill>
                <a:srgbClr val="000000"/>
              </a:solidFill>
              <a:latin typeface="Arial" panose="020B0604020202020204" pitchFamily="34" charset="0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11" name="圆角矩形 10"/>
          <p:cNvSpPr/>
          <p:nvPr>
            <p:custDataLst>
              <p:tags r:id="rId2"/>
            </p:custDataLst>
          </p:nvPr>
        </p:nvSpPr>
        <p:spPr>
          <a:xfrm>
            <a:off x="351790" y="4044315"/>
            <a:ext cx="2997200" cy="672465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marL="457200" indent="-457200"/>
            <a:r>
              <a:rPr sz="2800" b="1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sym typeface="+mn-ea"/>
              </a:rPr>
              <a:t>13.7 PageRank</a:t>
            </a:r>
            <a:endParaRPr sz="2800" b="1" dirty="0">
              <a:solidFill>
                <a:srgbClr val="000000"/>
              </a:solidFill>
              <a:latin typeface="Arial" panose="020B0604020202020204" pitchFamily="34" charset="0"/>
              <a:ea typeface="黑体" panose="02010609060101010101" pitchFamily="49" charset="-122"/>
              <a:sym typeface="+mn-ea"/>
            </a:endParaRPr>
          </a:p>
        </p:txBody>
      </p:sp>
      <p:pic>
        <p:nvPicPr>
          <p:cNvPr id="100" name="图片 99"/>
          <p:cNvPicPr/>
          <p:nvPr/>
        </p:nvPicPr>
        <p:blipFill>
          <a:blip r:embed="rId3"/>
          <a:srcRect l="6736" t="18628" r="6794" b="7795"/>
          <a:stretch>
            <a:fillRect/>
          </a:stretch>
        </p:blipFill>
        <p:spPr>
          <a:xfrm>
            <a:off x="3604260" y="2964180"/>
            <a:ext cx="4572000" cy="29337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5" grpId="1" animBg="1"/>
      <p:bldP spid="6" grpId="0" bldLvl="0" animBg="1"/>
      <p:bldP spid="6" grpId="1" animBg="1"/>
      <p:bldP spid="7" grpId="0" bldLvl="0" animBg="1"/>
      <p:bldP spid="7" grpId="1" animBg="1"/>
      <p:bldP spid="8" grpId="0" bldLvl="0" animBg="1"/>
      <p:bldP spid="8" grpId="1" animBg="1"/>
      <p:bldP spid="10" grpId="0" bldLvl="0" animBg="1"/>
      <p:bldP spid="10" grpId="1" animBg="1"/>
      <p:bldP spid="9" grpId="0" bldLvl="0" animBg="1"/>
      <p:bldP spid="9" grpId="1" animBg="1"/>
      <p:bldP spid="11" grpId="0" bldLvl="0" animBg="1"/>
      <p:bldP spid="11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en-US" altLang="zh-CN" b="1" dirty="0"/>
              <a:t>13.1	</a:t>
            </a:r>
            <a:r>
              <a:rPr lang="zh-CN" altLang="en-US" b="1" dirty="0"/>
              <a:t>图计算简介</a:t>
            </a:r>
            <a:endParaRPr lang="zh-CN" altLang="en-US" b="1" dirty="0"/>
          </a:p>
        </p:txBody>
      </p:sp>
      <p:sp>
        <p:nvSpPr>
          <p:cNvPr id="5123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>
            <a:normAutofit/>
          </a:bodyPr>
          <a:p>
            <a:pPr marL="0" indent="0">
              <a:lnSpc>
                <a:spcPct val="200000"/>
              </a:lnSpc>
              <a:buNone/>
            </a:pPr>
            <a:r>
              <a:rPr lang="zh-CN" altLang="en-US" dirty="0">
                <a:sym typeface="+mn-ea"/>
              </a:rPr>
              <a:t>图数据结构很好地表达了数据之间的关联性</a:t>
            </a:r>
            <a:endParaRPr lang="zh-CN" altLang="en-US" dirty="0">
              <a:sym typeface="+mn-ea"/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zh-CN" altLang="en-US" dirty="0">
                <a:sym typeface="+mn-ea"/>
              </a:rPr>
              <a:t>实际应用：最短路径、集群、网页排名、最小切割、连通分支等</a:t>
            </a:r>
            <a:endParaRPr lang="en-US" altLang="zh-CN" dirty="0"/>
          </a:p>
          <a:p>
            <a:pPr marL="0" indent="0">
              <a:lnSpc>
                <a:spcPct val="200000"/>
              </a:lnSpc>
              <a:buNone/>
            </a:pPr>
            <a:r>
              <a:rPr lang="en-US" altLang="zh-CN" b="1" dirty="0"/>
              <a:t>13.1.1  </a:t>
            </a:r>
            <a:r>
              <a:rPr lang="zh-CN" altLang="en-US" b="1" dirty="0"/>
              <a:t>传统图计算解决方案的不足之处</a:t>
            </a:r>
            <a:endParaRPr lang="zh-CN" altLang="en-US" b="1" dirty="0"/>
          </a:p>
          <a:p>
            <a:pPr marL="0" indent="0">
              <a:lnSpc>
                <a:spcPct val="200000"/>
              </a:lnSpc>
              <a:buNone/>
            </a:pPr>
            <a:r>
              <a:rPr lang="en-US" altLang="zh-CN" b="1" dirty="0"/>
              <a:t>13.1.2  </a:t>
            </a:r>
            <a:r>
              <a:rPr lang="zh-CN" altLang="en-US" b="1" dirty="0"/>
              <a:t>图计算通用软件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标题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en-US" altLang="zh-CN" b="1" dirty="0"/>
              <a:t>13.1.1	</a:t>
            </a:r>
            <a:r>
              <a:rPr lang="zh-CN" altLang="en-US" b="1" dirty="0"/>
              <a:t>传统图计算解决方案的不足之处</a:t>
            </a:r>
            <a:endParaRPr lang="zh-CN" altLang="en-US" b="1" dirty="0"/>
          </a:p>
        </p:txBody>
      </p:sp>
      <p:sp>
        <p:nvSpPr>
          <p:cNvPr id="7171" name="Rectangle 6"/>
          <p:cNvSpPr/>
          <p:nvPr/>
        </p:nvSpPr>
        <p:spPr>
          <a:xfrm>
            <a:off x="949325" y="1460183"/>
            <a:ext cx="9447530" cy="378460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>
              <a:lnSpc>
                <a:spcPct val="200000"/>
              </a:lnSpc>
            </a:pPr>
            <a:r>
              <a:rPr lang="zh-CN" altLang="en-US" sz="2400" dirty="0">
                <a:latin typeface="Arial" panose="020B0604020202020204" pitchFamily="34" charset="0"/>
              </a:rPr>
              <a:t>一直缺少一个可扩展的通用系统来解决大型图的计算</a:t>
            </a:r>
            <a:r>
              <a:rPr lang="zh-CN" altLang="en-US" sz="2400" dirty="0">
                <a:latin typeface="Arial" panose="020B0604020202020204" pitchFamily="34" charset="0"/>
              </a:rPr>
              <a:t>问题</a:t>
            </a:r>
            <a:endParaRPr lang="zh-CN" altLang="en-US" sz="2400" dirty="0">
              <a:latin typeface="Arial" panose="020B0604020202020204" pitchFamily="34" charset="0"/>
            </a:endParaRPr>
          </a:p>
          <a:p>
            <a:pPr>
              <a:lnSpc>
                <a:spcPct val="200000"/>
              </a:lnSpc>
            </a:pPr>
            <a:r>
              <a:rPr lang="zh-CN" altLang="en-US" sz="2400" dirty="0">
                <a:latin typeface="Arial" panose="020B0604020202020204" pitchFamily="34" charset="0"/>
              </a:rPr>
              <a:t>很多传统的图计算算法都存在以下几个典型问题：</a:t>
            </a:r>
            <a:endParaRPr lang="zh-CN" altLang="en-US" sz="2400" dirty="0">
              <a:latin typeface="Arial" panose="020B0604020202020204" pitchFamily="34" charset="0"/>
            </a:endParaRPr>
          </a:p>
          <a:p>
            <a:pPr>
              <a:lnSpc>
                <a:spcPct val="200000"/>
              </a:lnSpc>
            </a:pPr>
            <a:r>
              <a:rPr lang="zh-CN" altLang="en-US" sz="2400" dirty="0">
                <a:latin typeface="Arial" panose="020B0604020202020204" pitchFamily="34" charset="0"/>
              </a:rPr>
              <a:t>（</a:t>
            </a:r>
            <a:r>
              <a:rPr lang="en-US" altLang="zh-CN" sz="2400" dirty="0">
                <a:latin typeface="Arial" panose="020B0604020202020204" pitchFamily="34" charset="0"/>
              </a:rPr>
              <a:t>1</a:t>
            </a:r>
            <a:r>
              <a:rPr lang="zh-CN" altLang="en-US" sz="2400" dirty="0">
                <a:latin typeface="Arial" panose="020B0604020202020204" pitchFamily="34" charset="0"/>
              </a:rPr>
              <a:t>）常常表现出比较差的内存访问局部性</a:t>
            </a:r>
            <a:endParaRPr lang="zh-CN" altLang="en-US" sz="2400" dirty="0">
              <a:latin typeface="Arial" panose="020B0604020202020204" pitchFamily="34" charset="0"/>
            </a:endParaRPr>
          </a:p>
          <a:p>
            <a:pPr>
              <a:lnSpc>
                <a:spcPct val="200000"/>
              </a:lnSpc>
            </a:pPr>
            <a:r>
              <a:rPr lang="zh-CN" altLang="en-US" sz="2400" dirty="0">
                <a:latin typeface="Arial" panose="020B0604020202020204" pitchFamily="34" charset="0"/>
              </a:rPr>
              <a:t>（</a:t>
            </a:r>
            <a:r>
              <a:rPr lang="en-US" altLang="zh-CN" sz="2400" dirty="0">
                <a:latin typeface="Arial" panose="020B0604020202020204" pitchFamily="34" charset="0"/>
              </a:rPr>
              <a:t>2</a:t>
            </a:r>
            <a:r>
              <a:rPr lang="zh-CN" altLang="en-US" sz="2400" dirty="0">
                <a:latin typeface="Arial" panose="020B0604020202020204" pitchFamily="34" charset="0"/>
              </a:rPr>
              <a:t>）针对单个顶点的处理工作过少</a:t>
            </a:r>
            <a:endParaRPr lang="zh-CN" altLang="en-US" sz="2400" dirty="0">
              <a:latin typeface="Arial" panose="020B0604020202020204" pitchFamily="34" charset="0"/>
            </a:endParaRPr>
          </a:p>
          <a:p>
            <a:pPr>
              <a:lnSpc>
                <a:spcPct val="200000"/>
              </a:lnSpc>
            </a:pPr>
            <a:r>
              <a:rPr lang="zh-CN" altLang="en-US" sz="2400" dirty="0">
                <a:latin typeface="Arial" panose="020B0604020202020204" pitchFamily="34" charset="0"/>
              </a:rPr>
              <a:t>（</a:t>
            </a:r>
            <a:r>
              <a:rPr lang="en-US" altLang="zh-CN" sz="2400" dirty="0">
                <a:latin typeface="Arial" panose="020B0604020202020204" pitchFamily="34" charset="0"/>
              </a:rPr>
              <a:t>3</a:t>
            </a:r>
            <a:r>
              <a:rPr lang="zh-CN" altLang="en-US" sz="2400" dirty="0">
                <a:latin typeface="Arial" panose="020B0604020202020204" pitchFamily="34" charset="0"/>
              </a:rPr>
              <a:t>）计算过程中伴随着并行度的改变（例如</a:t>
            </a:r>
            <a:r>
              <a:rPr lang="en-US" altLang="zh-CN" sz="2400" dirty="0">
                <a:latin typeface="Arial" panose="020B0604020202020204" pitchFamily="34" charset="0"/>
              </a:rPr>
              <a:t>BFS</a:t>
            </a:r>
            <a:r>
              <a:rPr lang="zh-CN" altLang="en-US" sz="2400" dirty="0">
                <a:latin typeface="Arial" panose="020B0604020202020204" pitchFamily="34" charset="0"/>
              </a:rPr>
              <a:t>）</a:t>
            </a:r>
            <a:endParaRPr lang="zh-CN" altLang="en-US" sz="24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标题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en-US" altLang="zh-CN" b="1" dirty="0"/>
              <a:t>13.1.1	</a:t>
            </a:r>
            <a:r>
              <a:rPr lang="zh-CN" altLang="en-US" b="1" dirty="0"/>
              <a:t>传统图计算解决方案的不足之处</a:t>
            </a:r>
            <a:endParaRPr lang="zh-CN" altLang="en-US" b="1" dirty="0"/>
          </a:p>
        </p:txBody>
      </p:sp>
      <p:sp>
        <p:nvSpPr>
          <p:cNvPr id="8195" name="Rectangle 7"/>
          <p:cNvSpPr/>
          <p:nvPr/>
        </p:nvSpPr>
        <p:spPr>
          <a:xfrm>
            <a:off x="984885" y="1362393"/>
            <a:ext cx="9424670" cy="50774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defTabSz="914400" eaLnBrk="1" hangingPunct="1">
              <a:lnSpc>
                <a:spcPct val="150000"/>
              </a:lnSpc>
              <a:tabLst>
                <a:tab pos="533400" algn="l"/>
              </a:tabLst>
            </a:pPr>
            <a:r>
              <a:rPr lang="zh-CN" altLang="en-US" sz="2400" dirty="0">
                <a:latin typeface="Arial" panose="020B0604020202020204" pitchFamily="34" charset="0"/>
              </a:rPr>
              <a:t>针对大型图的计算问题，可能的解决方案及其不足之处具体如下：</a:t>
            </a:r>
            <a:endParaRPr lang="zh-CN" altLang="en-US" sz="2400" dirty="0">
              <a:latin typeface="Arial" panose="020B0604020202020204" pitchFamily="34" charset="0"/>
            </a:endParaRPr>
          </a:p>
          <a:p>
            <a:pPr indent="0" defTabSz="914400" eaLnBrk="1" hangingPunct="1">
              <a:lnSpc>
                <a:spcPct val="150000"/>
              </a:lnSpc>
              <a:buNone/>
              <a:tabLst>
                <a:tab pos="533400" algn="l"/>
              </a:tabLst>
            </a:pPr>
            <a:r>
              <a:rPr lang="zh-CN" altLang="en-US" sz="2400" b="1" dirty="0">
                <a:latin typeface="Arial" panose="020B0604020202020204" pitchFamily="34" charset="0"/>
              </a:rPr>
              <a:t>（</a:t>
            </a:r>
            <a:r>
              <a:rPr lang="en-US" altLang="zh-CN" sz="2400" b="1" dirty="0">
                <a:latin typeface="Arial" panose="020B0604020202020204" pitchFamily="34" charset="0"/>
              </a:rPr>
              <a:t>1</a:t>
            </a:r>
            <a:r>
              <a:rPr lang="zh-CN" altLang="en-US" sz="2400" b="1" dirty="0">
                <a:latin typeface="Arial" panose="020B0604020202020204" pitchFamily="34" charset="0"/>
              </a:rPr>
              <a:t>）为特定的图应用定制相应的分布式实现</a:t>
            </a:r>
            <a:r>
              <a:rPr lang="zh-CN" altLang="en-US" sz="2400" dirty="0">
                <a:latin typeface="Arial" panose="020B0604020202020204" pitchFamily="34" charset="0"/>
              </a:rPr>
              <a:t>：</a:t>
            </a:r>
            <a:r>
              <a:rPr lang="zh-CN" altLang="en-US" sz="2400" dirty="0">
                <a:latin typeface="Arial" panose="020B0604020202020204" pitchFamily="34" charset="0"/>
              </a:rPr>
              <a:t>但通用性不好</a:t>
            </a:r>
            <a:endParaRPr lang="zh-CN" altLang="en-US" sz="2400" dirty="0">
              <a:latin typeface="Arial" panose="020B0604020202020204" pitchFamily="34" charset="0"/>
            </a:endParaRPr>
          </a:p>
          <a:p>
            <a:pPr indent="0" defTabSz="914400" eaLnBrk="1" hangingPunct="1">
              <a:lnSpc>
                <a:spcPct val="150000"/>
              </a:lnSpc>
              <a:buNone/>
              <a:tabLst>
                <a:tab pos="533400" algn="l"/>
              </a:tabLst>
            </a:pPr>
            <a:r>
              <a:rPr lang="zh-CN" altLang="en-US" sz="2400" b="1" dirty="0">
                <a:latin typeface="Arial" panose="020B0604020202020204" pitchFamily="34" charset="0"/>
              </a:rPr>
              <a:t>（</a:t>
            </a:r>
            <a:r>
              <a:rPr lang="en-US" altLang="zh-CN" sz="2400" b="1" dirty="0">
                <a:latin typeface="Arial" panose="020B0604020202020204" pitchFamily="34" charset="0"/>
              </a:rPr>
              <a:t>2</a:t>
            </a:r>
            <a:r>
              <a:rPr lang="zh-CN" altLang="en-US" sz="2400" b="1" dirty="0">
                <a:latin typeface="Arial" panose="020B0604020202020204" pitchFamily="34" charset="0"/>
              </a:rPr>
              <a:t>）基于现有的分布式计算平台进行图计算</a:t>
            </a:r>
            <a:r>
              <a:rPr lang="zh-CN" altLang="en-US" sz="2400" dirty="0">
                <a:latin typeface="Arial" panose="020B0604020202020204" pitchFamily="34" charset="0"/>
              </a:rPr>
              <a:t>：在性能和易用性方面往往无法达到最优</a:t>
            </a:r>
            <a:endParaRPr lang="zh-CN" altLang="en-US" sz="2400" dirty="0">
              <a:latin typeface="Arial" panose="020B0604020202020204" pitchFamily="34" charset="0"/>
            </a:endParaRPr>
          </a:p>
          <a:p>
            <a:pPr indent="0" defTabSz="914400" eaLnBrk="1" hangingPunct="1">
              <a:lnSpc>
                <a:spcPct val="150000"/>
              </a:lnSpc>
              <a:buNone/>
              <a:tabLst>
                <a:tab pos="533400" algn="l"/>
              </a:tabLst>
            </a:pPr>
            <a:endParaRPr lang="en-US" altLang="zh-CN" sz="2400" dirty="0">
              <a:latin typeface="Arial" panose="020B0604020202020204" pitchFamily="34" charset="0"/>
            </a:endParaRPr>
          </a:p>
          <a:p>
            <a:pPr indent="0" defTabSz="914400" eaLnBrk="1" hangingPunct="1">
              <a:lnSpc>
                <a:spcPct val="150000"/>
              </a:lnSpc>
              <a:buNone/>
              <a:tabLst>
                <a:tab pos="533400" algn="l"/>
              </a:tabLst>
            </a:pPr>
            <a:r>
              <a:rPr lang="zh-CN" altLang="en-US" sz="2400" b="1" dirty="0">
                <a:latin typeface="Arial" panose="020B0604020202020204" pitchFamily="34" charset="0"/>
              </a:rPr>
              <a:t>（</a:t>
            </a:r>
            <a:r>
              <a:rPr lang="en-US" altLang="zh-CN" sz="2400" b="1" dirty="0">
                <a:latin typeface="Arial" panose="020B0604020202020204" pitchFamily="34" charset="0"/>
              </a:rPr>
              <a:t>3</a:t>
            </a:r>
            <a:r>
              <a:rPr lang="zh-CN" altLang="en-US" sz="2400" b="1" dirty="0">
                <a:latin typeface="Arial" panose="020B0604020202020204" pitchFamily="34" charset="0"/>
              </a:rPr>
              <a:t>）使用单机的图算法库</a:t>
            </a:r>
            <a:r>
              <a:rPr lang="zh-CN" altLang="en-US" sz="2400" dirty="0">
                <a:latin typeface="Arial" panose="020B0604020202020204" pitchFamily="34" charset="0"/>
              </a:rPr>
              <a:t>：但可解决问题的规模具有很大局限性</a:t>
            </a:r>
            <a:endParaRPr lang="zh-CN" altLang="en-US" sz="2400" dirty="0">
              <a:latin typeface="Arial" panose="020B0604020202020204" pitchFamily="34" charset="0"/>
            </a:endParaRPr>
          </a:p>
          <a:p>
            <a:pPr indent="0" defTabSz="914400" eaLnBrk="1" hangingPunct="1">
              <a:lnSpc>
                <a:spcPct val="150000"/>
              </a:lnSpc>
              <a:buNone/>
              <a:tabLst>
                <a:tab pos="533400" algn="l"/>
              </a:tabLst>
            </a:pPr>
            <a:endParaRPr lang="zh-CN" altLang="en-US" sz="2400" dirty="0">
              <a:latin typeface="Arial" panose="020B0604020202020204" pitchFamily="34" charset="0"/>
            </a:endParaRPr>
          </a:p>
          <a:p>
            <a:pPr indent="0" defTabSz="914400" eaLnBrk="1" hangingPunct="1">
              <a:lnSpc>
                <a:spcPct val="150000"/>
              </a:lnSpc>
              <a:buNone/>
              <a:tabLst>
                <a:tab pos="533400" algn="l"/>
              </a:tabLst>
            </a:pPr>
            <a:r>
              <a:rPr lang="zh-CN" altLang="en-US" sz="2400" b="1" dirty="0">
                <a:latin typeface="Arial" panose="020B0604020202020204" pitchFamily="34" charset="0"/>
              </a:rPr>
              <a:t>（</a:t>
            </a:r>
            <a:r>
              <a:rPr lang="en-US" altLang="zh-CN" sz="2400" b="1" dirty="0">
                <a:latin typeface="Arial" panose="020B0604020202020204" pitchFamily="34" charset="0"/>
              </a:rPr>
              <a:t>4</a:t>
            </a:r>
            <a:r>
              <a:rPr lang="zh-CN" altLang="en-US" sz="2400" b="1" dirty="0">
                <a:latin typeface="Arial" panose="020B0604020202020204" pitchFamily="34" charset="0"/>
              </a:rPr>
              <a:t>）使用已有的并行图计算系统</a:t>
            </a:r>
            <a:r>
              <a:rPr lang="zh-CN" altLang="en-US" sz="2400" dirty="0">
                <a:latin typeface="Arial" panose="020B0604020202020204" pitchFamily="34" charset="0"/>
              </a:rPr>
              <a:t>：但对大规模分布式系统非常重要的一些方面（比如容错），无法提供较好的支持</a:t>
            </a:r>
            <a:endParaRPr lang="zh-CN" altLang="en-US" sz="24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针对大型图的计算，目前通用的图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计算</a:t>
            </a:r>
            <a:r>
              <a:rPr kumimoji="0" lang="zh-CN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软件主要包括两种：</a:t>
            </a:r>
            <a:endParaRPr kumimoji="0" lang="zh-CN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第一种主要是</a:t>
            </a:r>
            <a:r>
              <a:rPr kumimoji="0" lang="zh-CN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基于遍历算法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的、</a:t>
            </a:r>
            <a:r>
              <a:rPr kumimoji="0" lang="zh-CN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实时的图数据库</a:t>
            </a:r>
            <a:r>
              <a:rPr kumimoji="0" lang="zh-CN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，如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Neo4j</a:t>
            </a:r>
            <a:r>
              <a:rPr kumimoji="0" lang="zh-CN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OrientDB</a:t>
            </a:r>
            <a:r>
              <a:rPr kumimoji="0" lang="zh-CN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DEX</a:t>
            </a:r>
            <a:r>
              <a:rPr kumimoji="0" lang="zh-CN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和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Infinite Graph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第二种则是</a:t>
            </a:r>
            <a:r>
              <a:rPr kumimoji="0" lang="zh-CN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以图顶点为中心的、基于消息传递批处理的并行引擎</a:t>
            </a:r>
            <a:r>
              <a:rPr kumimoji="0" lang="zh-CN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，如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GoldenOrb</a:t>
            </a:r>
            <a:r>
              <a:rPr kumimoji="0" lang="zh-CN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Giraph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Pregel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和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Hama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，这些</a:t>
            </a:r>
            <a:r>
              <a:rPr kumimoji="0" lang="zh-CN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图处理软件主要是基于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BSP</a:t>
            </a:r>
            <a:r>
              <a:rPr kumimoji="0" lang="zh-CN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模型实现的并行图处理系统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</p:txBody>
      </p:sp>
      <p:sp>
        <p:nvSpPr>
          <p:cNvPr id="9219" name="标题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en-US" altLang="zh-CN" b="1" dirty="0"/>
              <a:t>13.1.2  </a:t>
            </a:r>
            <a:r>
              <a:rPr lang="zh-CN" altLang="en-US" b="1" dirty="0"/>
              <a:t>图计算通用软件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标题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en-US" altLang="en-US" b="1" dirty="0"/>
              <a:t>13.1.2	图计算通用软件</a:t>
            </a:r>
            <a:endParaRPr lang="zh-CN" altLang="en-US" b="1" dirty="0"/>
          </a:p>
        </p:txBody>
      </p:sp>
      <p:sp>
        <p:nvSpPr>
          <p:cNvPr id="10243" name="Rectangle 4"/>
          <p:cNvSpPr/>
          <p:nvPr/>
        </p:nvSpPr>
        <p:spPr>
          <a:xfrm>
            <a:off x="960755" y="1784033"/>
            <a:ext cx="10393045" cy="97726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defTabSz="914400" eaLnBrk="1" hangingPunct="1">
              <a:lnSpc>
                <a:spcPct val="120000"/>
              </a:lnSpc>
              <a:tabLst>
                <a:tab pos="533400" algn="l"/>
              </a:tabLst>
            </a:pPr>
            <a:r>
              <a:rPr lang="en-US" altLang="zh-CN" sz="2400" dirty="0">
                <a:latin typeface="Arial" panose="020B0604020202020204" pitchFamily="34" charset="0"/>
              </a:rPr>
              <a:t>BSP</a:t>
            </a:r>
            <a:r>
              <a:rPr lang="zh-CN" altLang="en-US" sz="2400" dirty="0">
                <a:latin typeface="Arial" panose="020B0604020202020204" pitchFamily="34" charset="0"/>
              </a:rPr>
              <a:t>模型</a:t>
            </a:r>
            <a:r>
              <a:rPr lang="en-US" altLang="zh-CN" sz="2400" dirty="0">
                <a:latin typeface="Arial" panose="020B0604020202020204" pitchFamily="34" charset="0"/>
              </a:rPr>
              <a:t>(Bulk Synchronous Parallel Computing Model)</a:t>
            </a:r>
            <a:r>
              <a:rPr lang="zh-CN" altLang="en-US" sz="2400" dirty="0">
                <a:latin typeface="Arial" panose="020B0604020202020204" pitchFamily="34" charset="0"/>
              </a:rPr>
              <a:t>，</a:t>
            </a:r>
            <a:endParaRPr lang="zh-CN" altLang="en-US" sz="2400" dirty="0">
              <a:latin typeface="Arial" panose="020B0604020202020204" pitchFamily="34" charset="0"/>
            </a:endParaRPr>
          </a:p>
          <a:p>
            <a:pPr defTabSz="914400" eaLnBrk="1" hangingPunct="1">
              <a:lnSpc>
                <a:spcPct val="120000"/>
              </a:lnSpc>
              <a:tabLst>
                <a:tab pos="533400" algn="l"/>
              </a:tabLst>
            </a:pPr>
            <a:r>
              <a:rPr lang="zh-CN" altLang="en-US" sz="2400" dirty="0">
                <a:latin typeface="Arial" panose="020B0604020202020204" pitchFamily="34" charset="0"/>
              </a:rPr>
              <a:t>全称</a:t>
            </a:r>
            <a:r>
              <a:rPr lang="en-US" altLang="zh-CN" sz="2400" dirty="0">
                <a:latin typeface="Arial" panose="020B0604020202020204" pitchFamily="34" charset="0"/>
              </a:rPr>
              <a:t>“</a:t>
            </a:r>
            <a:r>
              <a:rPr lang="zh-CN" altLang="en-US" sz="2400" dirty="0">
                <a:latin typeface="Arial" panose="020B0604020202020204" pitchFamily="34" charset="0"/>
              </a:rPr>
              <a:t>整体同步并行计算模型</a:t>
            </a:r>
            <a:r>
              <a:rPr lang="en-US" altLang="zh-CN" sz="2400" dirty="0">
                <a:latin typeface="Arial" panose="020B0604020202020204" pitchFamily="34" charset="0"/>
              </a:rPr>
              <a:t>”</a:t>
            </a:r>
            <a:r>
              <a:rPr lang="zh-CN" altLang="en-US" sz="2400" dirty="0">
                <a:latin typeface="Arial" panose="020B0604020202020204" pitchFamily="34" charset="0"/>
              </a:rPr>
              <a:t>，又称“大同步模型</a:t>
            </a:r>
            <a:r>
              <a:rPr lang="en-US" altLang="zh-CN" sz="2400" dirty="0">
                <a:latin typeface="Arial" panose="020B0604020202020204" pitchFamily="34" charset="0"/>
              </a:rPr>
              <a:t>”</a:t>
            </a:r>
            <a:r>
              <a:rPr lang="zh-CN" altLang="en-US" sz="2400" dirty="0">
                <a:latin typeface="Arial" panose="020B0604020202020204" pitchFamily="34" charset="0"/>
              </a:rPr>
              <a:t>，</a:t>
            </a:r>
            <a:r>
              <a:rPr lang="en-US" altLang="zh-CN" sz="2400" dirty="0">
                <a:latin typeface="Arial" panose="020B0604020202020204" pitchFamily="34" charset="0"/>
              </a:rPr>
              <a:t>“</a:t>
            </a:r>
            <a:r>
              <a:rPr lang="zh-CN" altLang="en-US" sz="2400" dirty="0">
                <a:latin typeface="Arial" panose="020B0604020202020204" pitchFamily="34" charset="0"/>
              </a:rPr>
              <a:t>桥模型</a:t>
            </a:r>
            <a:r>
              <a:rPr lang="en-US" altLang="zh-CN" sz="2400" dirty="0">
                <a:latin typeface="Arial" panose="020B0604020202020204" pitchFamily="34" charset="0"/>
              </a:rPr>
              <a:t>”</a:t>
            </a:r>
            <a:endParaRPr lang="zh-CN" altLang="en-US" sz="2400" dirty="0">
              <a:latin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60755" y="3326130"/>
            <a:ext cx="513524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defTabSz="914400" eaLnBrk="1" hangingPunct="1">
              <a:tabLst>
                <a:tab pos="533400" algn="l"/>
              </a:tabLst>
            </a:pPr>
            <a:r>
              <a:rPr lang="zh-CN" altLang="en-US" sz="2400" dirty="0">
                <a:latin typeface="Arial" panose="020B0604020202020204" pitchFamily="34" charset="0"/>
                <a:sym typeface="+mn-ea"/>
              </a:rPr>
              <a:t>一个</a:t>
            </a:r>
            <a:r>
              <a:rPr lang="en-US" altLang="zh-CN" sz="2400" dirty="0">
                <a:latin typeface="Arial" panose="020B0604020202020204" pitchFamily="34" charset="0"/>
                <a:sym typeface="+mn-ea"/>
              </a:rPr>
              <a:t>BSP</a:t>
            </a:r>
            <a:r>
              <a:rPr lang="zh-CN" altLang="en-US" sz="2400" dirty="0">
                <a:latin typeface="Arial" panose="020B0604020202020204" pitchFamily="34" charset="0"/>
                <a:sym typeface="+mn-ea"/>
              </a:rPr>
              <a:t>模型由大量通过网络相互连接的处理器组成，每个处理器都有快速的本地内存和不同的计算线程。</a:t>
            </a:r>
            <a:endParaRPr lang="zh-CN" altLang="en-US" sz="2400" dirty="0">
              <a:latin typeface="Arial" panose="020B0604020202020204" pitchFamily="34" charset="0"/>
              <a:sym typeface="+mn-ea"/>
            </a:endParaRPr>
          </a:p>
        </p:txBody>
      </p:sp>
      <p:pic>
        <p:nvPicPr>
          <p:cNvPr id="4" name="Picture 2" descr="http://img.blog.csdn.net/20141025085314265?watermark/2/text/aHR0cDovL2Jsb2cuY3Nkbi5uZXQvbWFsZWZhY3Rvcg==/font/5a6L5L2T/fontsize/400/fill/I0JBQkFCMA==/dissolve/70/gravity/SouthEast"/>
          <p:cNvPicPr>
            <a:picLocks noChangeAspect="1"/>
          </p:cNvPicPr>
          <p:nvPr/>
        </p:nvPicPr>
        <p:blipFill>
          <a:blip r:embed="rId1"/>
          <a:srcRect l="11679" r="5109" b="13589"/>
          <a:stretch>
            <a:fillRect/>
          </a:stretch>
        </p:blipFill>
        <p:spPr>
          <a:xfrm>
            <a:off x="7107555" y="2987040"/>
            <a:ext cx="3422650" cy="372364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1011555" y="5166995"/>
            <a:ext cx="534098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defTabSz="914400" eaLnBrk="1" hangingPunct="1">
              <a:tabLst>
                <a:tab pos="533400" algn="l"/>
              </a:tabLst>
            </a:pPr>
            <a:r>
              <a:rPr lang="zh-CN" altLang="en-US" sz="2400" dirty="0">
                <a:latin typeface="Arial" panose="020B0604020202020204" pitchFamily="34" charset="0"/>
                <a:sym typeface="+mn-ea"/>
              </a:rPr>
              <a:t>一次</a:t>
            </a:r>
            <a:r>
              <a:rPr lang="en-US" altLang="zh-CN" sz="2400" dirty="0">
                <a:latin typeface="Arial" panose="020B0604020202020204" pitchFamily="34" charset="0"/>
                <a:sym typeface="+mn-ea"/>
              </a:rPr>
              <a:t>BSP</a:t>
            </a:r>
            <a:r>
              <a:rPr lang="zh-CN" altLang="en-US" sz="2400" dirty="0">
                <a:latin typeface="Arial" panose="020B0604020202020204" pitchFamily="34" charset="0"/>
                <a:sym typeface="+mn-ea"/>
              </a:rPr>
              <a:t>计算过程包含一系列全局超步（计算中的一次迭代），每个超步主要包括</a:t>
            </a:r>
            <a:r>
              <a:rPr lang="en-US" altLang="zh-CN" sz="2400" dirty="0">
                <a:latin typeface="Arial" panose="020B0604020202020204" pitchFamily="34" charset="0"/>
                <a:sym typeface="+mn-ea"/>
              </a:rPr>
              <a:t>3</a:t>
            </a:r>
            <a:r>
              <a:rPr lang="zh-CN" altLang="en-US" sz="2400" dirty="0">
                <a:latin typeface="Arial" panose="020B0604020202020204" pitchFamily="34" charset="0"/>
                <a:sym typeface="+mn-ea"/>
              </a:rPr>
              <a:t>个组件。</a:t>
            </a:r>
            <a:endParaRPr lang="zh-CN" altLang="en-US" sz="2400" dirty="0">
              <a:latin typeface="Arial" panose="020B0604020202020204" pitchFamily="34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2" grpId="0"/>
      <p:bldP spid="2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标题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en-US" altLang="en-US" b="1" dirty="0"/>
              <a:t>13.1.2	图计算通用软件</a:t>
            </a:r>
            <a:endParaRPr lang="zh-CN" altLang="en-US" b="1" dirty="0"/>
          </a:p>
        </p:txBody>
      </p:sp>
      <p:sp>
        <p:nvSpPr>
          <p:cNvPr id="10243" name="Rectangle 4"/>
          <p:cNvSpPr/>
          <p:nvPr/>
        </p:nvSpPr>
        <p:spPr>
          <a:xfrm>
            <a:off x="718185" y="1659255"/>
            <a:ext cx="6358890" cy="452310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indent="0" defTabSz="914400" eaLnBrk="1" hangingPunct="1">
              <a:buNone/>
              <a:tabLst>
                <a:tab pos="533400" algn="l"/>
              </a:tabLst>
            </a:pPr>
            <a:r>
              <a:rPr lang="zh-CN" altLang="en-US" sz="2400" b="1" dirty="0">
                <a:latin typeface="Arial" panose="020B0604020202020204" pitchFamily="34" charset="0"/>
              </a:rPr>
              <a:t>超步三组件：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indent="0" defTabSz="914400" eaLnBrk="1" hangingPunct="1">
              <a:buNone/>
              <a:tabLst>
                <a:tab pos="533400" algn="l"/>
              </a:tabLst>
            </a:pPr>
            <a:r>
              <a:rPr lang="en-US" altLang="zh-CN" sz="2400" b="1" dirty="0">
                <a:latin typeface="Arial" panose="020B0604020202020204" pitchFamily="34" charset="0"/>
              </a:rPr>
              <a:t>1. </a:t>
            </a:r>
            <a:r>
              <a:rPr lang="zh-CN" altLang="en-US" sz="2400" b="1" dirty="0">
                <a:latin typeface="Arial" panose="020B0604020202020204" pitchFamily="34" charset="0"/>
              </a:rPr>
              <a:t>局部计算</a:t>
            </a:r>
            <a:r>
              <a:rPr lang="zh-CN" altLang="en-US" sz="2400" dirty="0">
                <a:latin typeface="Arial" panose="020B0604020202020204" pitchFamily="34" charset="0"/>
              </a:rPr>
              <a:t>：每个参与的</a:t>
            </a:r>
            <a:r>
              <a:rPr lang="zh-CN" altLang="en-US" sz="2400" b="1" u="sng" dirty="0">
                <a:latin typeface="Arial" panose="020B0604020202020204" pitchFamily="34" charset="0"/>
              </a:rPr>
              <a:t>处理器</a:t>
            </a:r>
            <a:r>
              <a:rPr lang="zh-CN" altLang="en-US" sz="2400" dirty="0">
                <a:latin typeface="Arial" panose="020B0604020202020204" pitchFamily="34" charset="0"/>
              </a:rPr>
              <a:t>都有自身的计算任务，它们只读取存储在本地内存中的值，不同处理器的计算任务都是</a:t>
            </a:r>
            <a:r>
              <a:rPr lang="zh-CN" altLang="en-US" sz="2400" dirty="0">
                <a:highlight>
                  <a:srgbClr val="FFFF00"/>
                </a:highlight>
                <a:latin typeface="Arial" panose="020B0604020202020204" pitchFamily="34" charset="0"/>
              </a:rPr>
              <a:t>独立</a:t>
            </a:r>
            <a:r>
              <a:rPr lang="zh-CN" altLang="en-US" sz="2400" dirty="0">
                <a:highlight>
                  <a:srgbClr val="FFFF00"/>
                </a:highlight>
                <a:latin typeface="Arial" panose="020B0604020202020204" pitchFamily="34" charset="0"/>
                <a:sym typeface="+mn-ea"/>
              </a:rPr>
              <a:t>并且异步</a:t>
            </a:r>
            <a:r>
              <a:rPr lang="zh-CN" altLang="en-US" sz="2400" dirty="0">
                <a:latin typeface="Arial" panose="020B0604020202020204" pitchFamily="34" charset="0"/>
              </a:rPr>
              <a:t>的</a:t>
            </a:r>
            <a:endParaRPr lang="zh-CN" altLang="en-US" sz="2400" dirty="0">
              <a:latin typeface="Arial" panose="020B0604020202020204" pitchFamily="34" charset="0"/>
            </a:endParaRPr>
          </a:p>
          <a:p>
            <a:pPr defTabSz="914400" eaLnBrk="1" hangingPunct="1">
              <a:buChar char="•"/>
              <a:tabLst>
                <a:tab pos="533400" algn="l"/>
              </a:tabLst>
            </a:pPr>
            <a:endParaRPr lang="zh-CN" altLang="en-US" sz="2400" dirty="0">
              <a:latin typeface="Arial" panose="020B0604020202020204" pitchFamily="34" charset="0"/>
            </a:endParaRPr>
          </a:p>
          <a:p>
            <a:pPr indent="0" defTabSz="914400" eaLnBrk="1" hangingPunct="1">
              <a:buNone/>
              <a:tabLst>
                <a:tab pos="533400" algn="l"/>
              </a:tabLst>
            </a:pPr>
            <a:r>
              <a:rPr lang="en-US" altLang="zh-CN" sz="2400" b="1" dirty="0">
                <a:latin typeface="Arial" panose="020B0604020202020204" pitchFamily="34" charset="0"/>
              </a:rPr>
              <a:t>2. </a:t>
            </a:r>
            <a:r>
              <a:rPr lang="zh-CN" altLang="en-US" sz="2400" b="1" dirty="0">
                <a:latin typeface="Arial" panose="020B0604020202020204" pitchFamily="34" charset="0"/>
              </a:rPr>
              <a:t>通信</a:t>
            </a:r>
            <a:r>
              <a:rPr lang="zh-CN" altLang="en-US" sz="2400" dirty="0">
                <a:latin typeface="Arial" panose="020B0604020202020204" pitchFamily="34" charset="0"/>
              </a:rPr>
              <a:t>：处理器群相互交换数据，交换的形式是，由一方发起推送</a:t>
            </a:r>
            <a:r>
              <a:rPr lang="en-US" altLang="zh-CN" sz="2400" dirty="0">
                <a:latin typeface="Arial" panose="020B0604020202020204" pitchFamily="34" charset="0"/>
              </a:rPr>
              <a:t>(Put)</a:t>
            </a:r>
            <a:r>
              <a:rPr lang="zh-CN" altLang="en-US" sz="2400" dirty="0">
                <a:latin typeface="Arial" panose="020B0604020202020204" pitchFamily="34" charset="0"/>
              </a:rPr>
              <a:t>和获取</a:t>
            </a:r>
            <a:r>
              <a:rPr lang="en-US" altLang="zh-CN" sz="2400" dirty="0">
                <a:latin typeface="Arial" panose="020B0604020202020204" pitchFamily="34" charset="0"/>
              </a:rPr>
              <a:t>(Get)</a:t>
            </a:r>
            <a:r>
              <a:rPr lang="zh-CN" altLang="en-US" sz="2400" dirty="0">
                <a:latin typeface="Arial" panose="020B0604020202020204" pitchFamily="34" charset="0"/>
              </a:rPr>
              <a:t>操作</a:t>
            </a:r>
            <a:endParaRPr lang="zh-CN" altLang="en-US" sz="2400" dirty="0">
              <a:latin typeface="Arial" panose="020B0604020202020204" pitchFamily="34" charset="0"/>
            </a:endParaRPr>
          </a:p>
          <a:p>
            <a:pPr defTabSz="914400" eaLnBrk="1" hangingPunct="1">
              <a:buChar char="•"/>
              <a:tabLst>
                <a:tab pos="533400" algn="l"/>
              </a:tabLst>
            </a:pPr>
            <a:endParaRPr lang="zh-CN" altLang="en-US" sz="2400" b="1" dirty="0">
              <a:latin typeface="Arial" panose="020B0604020202020204" pitchFamily="34" charset="0"/>
            </a:endParaRPr>
          </a:p>
          <a:p>
            <a:pPr indent="0" defTabSz="914400" eaLnBrk="1" hangingPunct="1">
              <a:buNone/>
              <a:tabLst>
                <a:tab pos="533400" algn="l"/>
              </a:tabLst>
            </a:pPr>
            <a:r>
              <a:rPr lang="en-US" altLang="zh-CN" sz="2400" b="1" dirty="0">
                <a:latin typeface="Arial" panose="020B0604020202020204" pitchFamily="34" charset="0"/>
              </a:rPr>
              <a:t>3. </a:t>
            </a:r>
            <a:r>
              <a:rPr lang="zh-CN" altLang="en-US" sz="2400" b="1" dirty="0">
                <a:latin typeface="Arial" panose="020B0604020202020204" pitchFamily="34" charset="0"/>
              </a:rPr>
              <a:t>栅栏同步</a:t>
            </a:r>
            <a:r>
              <a:rPr lang="en-US" altLang="zh-CN" sz="2400" dirty="0">
                <a:latin typeface="Arial" panose="020B0604020202020204" pitchFamily="34" charset="0"/>
              </a:rPr>
              <a:t>(Barrier Synchronization)</a:t>
            </a:r>
            <a:r>
              <a:rPr lang="zh-CN" altLang="en-US" sz="2400" dirty="0">
                <a:latin typeface="Arial" panose="020B0604020202020204" pitchFamily="34" charset="0"/>
              </a:rPr>
              <a:t>：当一个处理器遇到“路障”（或栅栏），会等到其他所有处理器完成它们的计算步骤；每一次同步也是一个超步的完成和下一个超步的开始</a:t>
            </a:r>
            <a:endParaRPr lang="zh-CN" altLang="en-US" sz="2400" dirty="0">
              <a:latin typeface="Arial" panose="020B0604020202020204" pitchFamily="34" charset="0"/>
            </a:endParaRPr>
          </a:p>
        </p:txBody>
      </p:sp>
      <p:pic>
        <p:nvPicPr>
          <p:cNvPr id="2" name="Picture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14908"/>
          <a:stretch>
            <a:fillRect/>
          </a:stretch>
        </p:blipFill>
        <p:spPr>
          <a:xfrm>
            <a:off x="8003540" y="977900"/>
            <a:ext cx="3671570" cy="473138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Rectangle 6"/>
          <p:cNvSpPr/>
          <p:nvPr>
            <p:custDataLst>
              <p:tags r:id="rId3"/>
            </p:custDataLst>
          </p:nvPr>
        </p:nvSpPr>
        <p:spPr>
          <a:xfrm>
            <a:off x="8199755" y="5709444"/>
            <a:ext cx="3315335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r>
              <a:rPr lang="zh-CN" altLang="en-US" sz="2400" dirty="0">
                <a:latin typeface="Arial" panose="020B0604020202020204" pitchFamily="34" charset="0"/>
              </a:rPr>
              <a:t>一个超步的垂直结构图 </a:t>
            </a:r>
            <a:endParaRPr lang="zh-CN" altLang="en-US" sz="24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 dirty="0">
                <a:sym typeface="+mn-ea"/>
              </a:rPr>
              <a:t>13.2	Pregel简介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569085" y="2355850"/>
            <a:ext cx="2125980" cy="646749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p>
            <a:pPr algn="ctr"/>
            <a:r>
              <a:rPr lang="en-US" altLang="zh-CN" sz="3200" dirty="0">
                <a:latin typeface="Arial" panose="020B0604020202020204" pitchFamily="34" charset="0"/>
                <a:sym typeface="+mn-ea"/>
              </a:rPr>
              <a:t>Caffeine</a:t>
            </a:r>
            <a:endParaRPr lang="en-US" altLang="zh-CN" sz="3200" dirty="0">
              <a:latin typeface="Arial" panose="020B0604020202020204" pitchFamily="34" charset="0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569085" y="3376295"/>
            <a:ext cx="2125980" cy="634675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p>
            <a:pPr algn="ctr"/>
            <a:r>
              <a:rPr lang="en-US" altLang="zh-CN" sz="3200" dirty="0">
                <a:latin typeface="Arial" panose="020B0604020202020204" pitchFamily="34" charset="0"/>
                <a:sym typeface="+mn-ea"/>
              </a:rPr>
              <a:t>Dremel</a:t>
            </a:r>
            <a:endParaRPr lang="en-US" altLang="zh-CN" sz="3200" dirty="0">
              <a:latin typeface="Arial" panose="020B0604020202020204" pitchFamily="34" charset="0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569085" y="4447540"/>
            <a:ext cx="2125980" cy="634675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p>
            <a:pPr algn="ctr"/>
            <a:r>
              <a:rPr lang="en-US" altLang="zh-CN" sz="3200" dirty="0">
                <a:latin typeface="Arial" panose="020B0604020202020204" pitchFamily="34" charset="0"/>
                <a:sym typeface="+mn-ea"/>
              </a:rPr>
              <a:t>Pregel</a:t>
            </a:r>
            <a:endParaRPr lang="en-US" altLang="zh-CN" sz="3200" dirty="0">
              <a:latin typeface="Arial" panose="020B0604020202020204" pitchFamily="34" charset="0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944495" y="1691005"/>
            <a:ext cx="498411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 dirty="0">
                <a:latin typeface="Arial" panose="020B0604020202020204" pitchFamily="34" charset="0"/>
                <a:sym typeface="+mn-ea"/>
              </a:rPr>
              <a:t>后</a:t>
            </a:r>
            <a:r>
              <a:rPr lang="en-US" altLang="zh-CN" sz="2800" dirty="0">
                <a:latin typeface="Arial" panose="020B0604020202020204" pitchFamily="34" charset="0"/>
                <a:sym typeface="+mn-ea"/>
              </a:rPr>
              <a:t>Hadoop</a:t>
            </a:r>
            <a:r>
              <a:rPr lang="zh-CN" altLang="en-US" sz="2800" dirty="0">
                <a:latin typeface="Arial" panose="020B0604020202020204" pitchFamily="34" charset="0"/>
                <a:sym typeface="+mn-ea"/>
              </a:rPr>
              <a:t>时代的新“三驾马车”</a:t>
            </a:r>
            <a:endParaRPr lang="zh-CN" altLang="en-US" sz="2800" dirty="0">
              <a:latin typeface="Arial" panose="020B0604020202020204" pitchFamily="34" charset="0"/>
              <a:sym typeface="+mn-ea"/>
            </a:endParaRPr>
          </a:p>
        </p:txBody>
      </p:sp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4133850" y="2447925"/>
            <a:ext cx="5009515" cy="6477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400" dirty="0">
                <a:latin typeface="Arial" panose="020B0604020202020204" pitchFamily="34" charset="0"/>
                <a:sym typeface="+mn-ea"/>
              </a:rPr>
              <a:t>为谷歌网络</a:t>
            </a:r>
            <a:r>
              <a:rPr lang="zh-CN" altLang="en-US" sz="2400" dirty="0">
                <a:highlight>
                  <a:srgbClr val="FFFF00"/>
                </a:highlight>
                <a:latin typeface="Arial" panose="020B0604020202020204" pitchFamily="34" charset="0"/>
                <a:sym typeface="+mn-ea"/>
              </a:rPr>
              <a:t>搜索</a:t>
            </a:r>
            <a:r>
              <a:rPr lang="zh-CN" altLang="en-US" sz="2400" dirty="0">
                <a:latin typeface="Arial" panose="020B0604020202020204" pitchFamily="34" charset="0"/>
                <a:sym typeface="+mn-ea"/>
              </a:rPr>
              <a:t>引擎提供支持</a:t>
            </a:r>
            <a:endParaRPr lang="zh-CN" altLang="en-US" sz="2400" dirty="0">
              <a:latin typeface="Arial" panose="020B0604020202020204" pitchFamily="34" charset="0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133850" y="3489960"/>
            <a:ext cx="5009515" cy="6477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400" dirty="0">
                <a:highlight>
                  <a:srgbClr val="FFFF00"/>
                </a:highlight>
                <a:latin typeface="Arial" panose="020B0604020202020204" pitchFamily="34" charset="0"/>
                <a:sym typeface="+mn-ea"/>
              </a:rPr>
              <a:t>交互</a:t>
            </a:r>
            <a:r>
              <a:rPr lang="zh-CN" altLang="en-US" sz="2400" dirty="0">
                <a:latin typeface="Arial" panose="020B0604020202020204" pitchFamily="34" charset="0"/>
                <a:sym typeface="+mn-ea"/>
              </a:rPr>
              <a:t>式数据分析</a:t>
            </a:r>
            <a:r>
              <a:rPr lang="zh-CN" altLang="en-US" sz="2400" dirty="0">
                <a:latin typeface="Arial" panose="020B0604020202020204" pitchFamily="34" charset="0"/>
                <a:sym typeface="+mn-ea"/>
              </a:rPr>
              <a:t>系统</a:t>
            </a:r>
            <a:endParaRPr lang="zh-CN" altLang="en-US" sz="2400" dirty="0">
              <a:latin typeface="Arial" panose="020B0604020202020204" pitchFamily="34" charset="0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133850" y="4532630"/>
            <a:ext cx="6208395" cy="6477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400" dirty="0">
                <a:latin typeface="Arial" panose="020B0604020202020204" pitchFamily="34" charset="0"/>
                <a:sym typeface="+mn-ea"/>
              </a:rPr>
              <a:t>基于</a:t>
            </a:r>
            <a:r>
              <a:rPr lang="en-US" altLang="zh-CN" sz="2400" dirty="0">
                <a:latin typeface="Arial" panose="020B0604020202020204" pitchFamily="34" charset="0"/>
                <a:sym typeface="+mn-ea"/>
              </a:rPr>
              <a:t>BSP</a:t>
            </a:r>
            <a:r>
              <a:rPr lang="zh-CN" altLang="en-US" sz="2400" dirty="0">
                <a:latin typeface="Arial" panose="020B0604020202020204" pitchFamily="34" charset="0"/>
                <a:sym typeface="+mn-ea"/>
              </a:rPr>
              <a:t>模型实现的并行</a:t>
            </a:r>
            <a:r>
              <a:rPr lang="zh-CN" altLang="en-US" sz="2400" dirty="0">
                <a:highlight>
                  <a:srgbClr val="FFFF00"/>
                </a:highlight>
                <a:latin typeface="Arial" panose="020B0604020202020204" pitchFamily="34" charset="0"/>
                <a:sym typeface="+mn-ea"/>
              </a:rPr>
              <a:t>图处理</a:t>
            </a:r>
            <a:r>
              <a:rPr lang="zh-CN" altLang="en-US" sz="2400" dirty="0">
                <a:latin typeface="Arial" panose="020B0604020202020204" pitchFamily="34" charset="0"/>
                <a:sym typeface="+mn-ea"/>
              </a:rPr>
              <a:t>系统</a:t>
            </a:r>
            <a:endParaRPr lang="zh-CN" altLang="en-US" sz="2400" dirty="0">
              <a:latin typeface="Arial" panose="020B0604020202020204" pitchFamily="34" charset="0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133850" y="5081270"/>
            <a:ext cx="7388860" cy="10502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>
              <a:lnSpc>
                <a:spcPct val="130000"/>
              </a:lnSpc>
              <a:buNone/>
            </a:pPr>
            <a:r>
              <a:rPr lang="zh-CN" altLang="en-US" sz="2400" dirty="0">
                <a:latin typeface="Arial" panose="020B0604020202020204" pitchFamily="34" charset="0"/>
                <a:sym typeface="+mn-ea"/>
              </a:rPr>
              <a:t>搭建了一套可扩展的、有容错机制的平台，</a:t>
            </a:r>
            <a:endParaRPr lang="zh-CN" altLang="en-US" sz="2400" dirty="0">
              <a:latin typeface="Arial" panose="020B0604020202020204" pitchFamily="34" charset="0"/>
              <a:sym typeface="+mn-ea"/>
            </a:endParaRPr>
          </a:p>
          <a:p>
            <a:pPr indent="0">
              <a:lnSpc>
                <a:spcPct val="130000"/>
              </a:lnSpc>
              <a:buNone/>
            </a:pPr>
            <a:r>
              <a:rPr lang="zh-CN" altLang="en-US" sz="2400" dirty="0">
                <a:latin typeface="Arial" panose="020B0604020202020204" pitchFamily="34" charset="0"/>
                <a:sym typeface="+mn-ea"/>
              </a:rPr>
              <a:t>提供了一套非常灵活的</a:t>
            </a:r>
            <a:r>
              <a:rPr lang="en-US" altLang="zh-CN" sz="2400" dirty="0">
                <a:latin typeface="Arial" panose="020B0604020202020204" pitchFamily="34" charset="0"/>
                <a:sym typeface="+mn-ea"/>
              </a:rPr>
              <a:t>API</a:t>
            </a:r>
            <a:r>
              <a:rPr lang="zh-CN" altLang="en-US" sz="2400" dirty="0">
                <a:latin typeface="Arial" panose="020B0604020202020204" pitchFamily="34" charset="0"/>
                <a:sym typeface="+mn-ea"/>
              </a:rPr>
              <a:t>，可描述各种各样的图计算</a:t>
            </a:r>
            <a:endParaRPr lang="zh-CN" altLang="en-US" sz="2400" dirty="0">
              <a:latin typeface="Arial" panose="020B0604020202020204" pitchFamily="34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/>
      <p:bldP spid="6" grpId="1" animBg="1"/>
      <p:bldP spid="10" grpId="1"/>
      <p:bldP spid="7" grpId="0" animBg="1"/>
      <p:bldP spid="11" grpId="0"/>
      <p:bldP spid="12" grpId="0"/>
      <p:bldP spid="7" grpId="1" animBg="1"/>
      <p:bldP spid="11" grpId="1"/>
      <p:bldP spid="12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en-US" altLang="zh-CN" b="1" dirty="0"/>
              <a:t>13.3	Pregel</a:t>
            </a:r>
            <a:r>
              <a:rPr lang="zh-CN" altLang="en-US" b="1" dirty="0"/>
              <a:t>图计算模型</a:t>
            </a:r>
            <a:endParaRPr lang="zh-CN" altLang="en-US" b="1" dirty="0"/>
          </a:p>
        </p:txBody>
      </p:sp>
      <p:sp>
        <p:nvSpPr>
          <p:cNvPr id="12291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marL="0" indent="0">
              <a:lnSpc>
                <a:spcPct val="200000"/>
              </a:lnSpc>
              <a:buNone/>
            </a:pPr>
            <a:r>
              <a:rPr lang="en-US" altLang="zh-CN" b="1" dirty="0"/>
              <a:t>13.3.1	</a:t>
            </a:r>
            <a:r>
              <a:rPr lang="zh-CN" altLang="en-US" b="1" dirty="0"/>
              <a:t>有向图和顶点</a:t>
            </a:r>
            <a:endParaRPr lang="zh-CN" altLang="en-US" b="1" dirty="0"/>
          </a:p>
          <a:p>
            <a:pPr marL="0" indent="0">
              <a:lnSpc>
                <a:spcPct val="200000"/>
              </a:lnSpc>
              <a:buNone/>
            </a:pPr>
            <a:r>
              <a:rPr lang="en-US" altLang="zh-CN" b="1" dirty="0"/>
              <a:t>13.3.2	</a:t>
            </a:r>
            <a:r>
              <a:rPr lang="zh-CN" altLang="en-US" b="1" dirty="0"/>
              <a:t>顶点之间的消息传递</a:t>
            </a:r>
            <a:endParaRPr lang="zh-CN" altLang="en-US" b="1" dirty="0"/>
          </a:p>
          <a:p>
            <a:pPr marL="0" indent="0">
              <a:lnSpc>
                <a:spcPct val="200000"/>
              </a:lnSpc>
              <a:buNone/>
            </a:pPr>
            <a:r>
              <a:rPr lang="en-US" altLang="zh-CN" b="1" dirty="0"/>
              <a:t>13.3.3	Pregel</a:t>
            </a:r>
            <a:r>
              <a:rPr lang="zh-CN" altLang="en-US" b="1" dirty="0"/>
              <a:t>的计算过程</a:t>
            </a:r>
            <a:endParaRPr lang="zh-CN" altLang="en-US" b="1" dirty="0"/>
          </a:p>
          <a:p>
            <a:pPr marL="0" indent="0">
              <a:lnSpc>
                <a:spcPct val="200000"/>
              </a:lnSpc>
              <a:buNone/>
            </a:pPr>
            <a:r>
              <a:rPr lang="en-US" altLang="zh-CN" b="1" dirty="0"/>
              <a:t>13.3.4	</a:t>
            </a:r>
            <a:r>
              <a:rPr lang="en-US" altLang="zh-CN" b="1" dirty="0">
                <a:sym typeface="+mn-ea"/>
              </a:rPr>
              <a:t>Pregel</a:t>
            </a:r>
            <a:r>
              <a:rPr lang="zh-CN" altLang="en-US" b="1" dirty="0">
                <a:sym typeface="+mn-ea"/>
              </a:rPr>
              <a:t>的计算过程的</a:t>
            </a:r>
            <a:r>
              <a:rPr lang="zh-CN" altLang="en-US" b="1" dirty="0"/>
              <a:t>实例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en-US" altLang="zh-CN" b="1" dirty="0"/>
              <a:t>13.3.1	</a:t>
            </a:r>
            <a:r>
              <a:rPr lang="zh-CN" altLang="en-US" b="1" dirty="0"/>
              <a:t>有向图和顶点</a:t>
            </a:r>
            <a:endParaRPr lang="zh-CN" altLang="en-US" b="1" dirty="0"/>
          </a:p>
        </p:txBody>
      </p:sp>
      <p:pic>
        <p:nvPicPr>
          <p:cNvPr id="13316" name="Picture 5" descr="http://d.hiphotos.baidu.com/zhidao/wh%3D450%2C600/sign=c2ca00e63bc79f3d8fb4ec348f91e127/a2cc7cd98d1001e932f65116b80e7bec55e797e4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17035" y="1691005"/>
            <a:ext cx="3695700" cy="27527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317" name="TextBox 4"/>
          <p:cNvSpPr txBox="1"/>
          <p:nvPr/>
        </p:nvSpPr>
        <p:spPr>
          <a:xfrm>
            <a:off x="2064385" y="2102485"/>
            <a:ext cx="2006600" cy="156845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r>
              <a:rPr lang="en-US" altLang="zh-CN" sz="2400" dirty="0">
                <a:latin typeface="Arial" panose="020B0604020202020204" pitchFamily="34" charset="0"/>
              </a:rPr>
              <a:t>String</a:t>
            </a:r>
            <a:r>
              <a:rPr lang="zh-CN" altLang="en-US" sz="2400" dirty="0">
                <a:latin typeface="Arial" panose="020B0604020202020204" pitchFamily="34" charset="0"/>
              </a:rPr>
              <a:t>类型的顶点</a:t>
            </a:r>
            <a:r>
              <a:rPr lang="en-US" altLang="zh-CN" sz="2400" dirty="0">
                <a:latin typeface="Arial" panose="020B0604020202020204" pitchFamily="34" charset="0"/>
              </a:rPr>
              <a:t>ID</a:t>
            </a:r>
            <a:r>
              <a:rPr lang="zh-CN" altLang="en-US" sz="2400" dirty="0">
                <a:latin typeface="Arial" panose="020B0604020202020204" pitchFamily="34" charset="0"/>
              </a:rPr>
              <a:t>；</a:t>
            </a:r>
            <a:endParaRPr lang="en-US" altLang="zh-CN" sz="2400" dirty="0">
              <a:latin typeface="Arial" panose="020B0604020202020204" pitchFamily="34" charset="0"/>
            </a:endParaRPr>
          </a:p>
          <a:p>
            <a:r>
              <a:rPr lang="zh-CN" altLang="en-US" sz="2400" dirty="0">
                <a:latin typeface="Arial" panose="020B0604020202020204" pitchFamily="34" charset="0"/>
              </a:rPr>
              <a:t>可修改的用户自定义值</a:t>
            </a:r>
            <a:endParaRPr lang="zh-CN" altLang="en-US" sz="2400" dirty="0">
              <a:latin typeface="Arial" panose="020B0604020202020204" pitchFamily="34" charset="0"/>
            </a:endParaRPr>
          </a:p>
        </p:txBody>
      </p:sp>
      <p:sp>
        <p:nvSpPr>
          <p:cNvPr id="13318" name="TextBox 5"/>
          <p:cNvSpPr txBox="1"/>
          <p:nvPr/>
        </p:nvSpPr>
        <p:spPr>
          <a:xfrm>
            <a:off x="8533765" y="2540635"/>
            <a:ext cx="1938655" cy="11988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r>
              <a:rPr lang="zh-CN" altLang="en-US" sz="2400" dirty="0">
                <a:latin typeface="Arial" panose="020B0604020202020204" pitchFamily="34" charset="0"/>
              </a:rPr>
              <a:t>边上有一个可修改的用户自定义值</a:t>
            </a:r>
            <a:endParaRPr lang="zh-CN" altLang="en-US" sz="2400" dirty="0">
              <a:latin typeface="Arial" panose="020B0604020202020204" pitchFamily="34" charset="0"/>
            </a:endParaRPr>
          </a:p>
        </p:txBody>
      </p:sp>
      <p:sp>
        <p:nvSpPr>
          <p:cNvPr id="13319" name="TextBox 6"/>
          <p:cNvSpPr txBox="1"/>
          <p:nvPr/>
        </p:nvSpPr>
        <p:spPr>
          <a:xfrm>
            <a:off x="7706995" y="2910205"/>
            <a:ext cx="82677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400" dirty="0">
                <a:latin typeface="Arial" panose="020B0604020202020204" pitchFamily="34" charset="0"/>
              </a:rPr>
              <a:t>边</a:t>
            </a:r>
            <a:r>
              <a:rPr lang="en-US" altLang="zh-CN" sz="2400" dirty="0">
                <a:latin typeface="Arial" panose="020B0604020202020204" pitchFamily="34" charset="0"/>
              </a:rPr>
              <a:t>e1</a:t>
            </a:r>
            <a:endParaRPr lang="en-US" altLang="zh-CN" sz="2400" dirty="0">
              <a:latin typeface="Arial" panose="020B0604020202020204" pitchFamily="34" charset="0"/>
            </a:endParaRPr>
          </a:p>
        </p:txBody>
      </p:sp>
      <p:sp>
        <p:nvSpPr>
          <p:cNvPr id="13320" name="TextBox 7"/>
          <p:cNvSpPr txBox="1"/>
          <p:nvPr/>
        </p:nvSpPr>
        <p:spPr>
          <a:xfrm>
            <a:off x="3424555" y="1485900"/>
            <a:ext cx="7924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400" dirty="0">
                <a:latin typeface="Arial" panose="020B0604020202020204" pitchFamily="34" charset="0"/>
              </a:rPr>
              <a:t>顶点</a:t>
            </a:r>
            <a:endParaRPr lang="zh-CN" altLang="en-US" sz="2400" dirty="0">
              <a:latin typeface="Arial" panose="020B0604020202020204" pitchFamily="34" charset="0"/>
            </a:endParaRPr>
          </a:p>
        </p:txBody>
      </p:sp>
      <p:sp>
        <p:nvSpPr>
          <p:cNvPr id="14339" name="Rectangle 4"/>
          <p:cNvSpPr/>
          <p:nvPr/>
        </p:nvSpPr>
        <p:spPr>
          <a:xfrm>
            <a:off x="1078865" y="4589145"/>
            <a:ext cx="10036810" cy="1938020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 wrap="square" anchor="ctr" anchorCtr="0">
            <a:spAutoFit/>
          </a:bodyPr>
          <a:p>
            <a:pPr eaLnBrk="1" hangingPunct="1">
              <a:buChar char="•"/>
            </a:pPr>
            <a:r>
              <a:rPr lang="zh-CN" altLang="en-US" sz="2400" dirty="0">
                <a:latin typeface="Arial" panose="020B0604020202020204" pitchFamily="34" charset="0"/>
              </a:rPr>
              <a:t>在每个超步</a:t>
            </a:r>
            <a:r>
              <a:rPr lang="en-US" altLang="zh-CN" sz="2400" i="1" dirty="0">
                <a:latin typeface="Arial" panose="020B0604020202020204" pitchFamily="34" charset="0"/>
              </a:rPr>
              <a:t>S</a:t>
            </a:r>
            <a:r>
              <a:rPr lang="zh-CN" altLang="en-US" sz="2400" dirty="0">
                <a:latin typeface="Arial" panose="020B0604020202020204" pitchFamily="34" charset="0"/>
              </a:rPr>
              <a:t>中，图中的所有顶点都会并行执行相同的用户自定义函数</a:t>
            </a:r>
            <a:endParaRPr lang="en-US" altLang="zh-CN" sz="2400" dirty="0">
              <a:latin typeface="Arial" panose="020B0604020202020204" pitchFamily="34" charset="0"/>
            </a:endParaRPr>
          </a:p>
          <a:p>
            <a:pPr eaLnBrk="1" hangingPunct="1">
              <a:buChar char="•"/>
            </a:pPr>
            <a:r>
              <a:rPr lang="zh-CN" altLang="en-US" sz="2400" dirty="0">
                <a:latin typeface="Arial" panose="020B0604020202020204" pitchFamily="34" charset="0"/>
              </a:rPr>
              <a:t>每个顶点可以接收前一个超步</a:t>
            </a:r>
            <a:r>
              <a:rPr lang="en-US" altLang="zh-CN" sz="2400" dirty="0">
                <a:latin typeface="Arial" panose="020B0604020202020204" pitchFamily="34" charset="0"/>
              </a:rPr>
              <a:t>(</a:t>
            </a:r>
            <a:r>
              <a:rPr lang="en-US" altLang="zh-CN" sz="2400" i="1" dirty="0">
                <a:latin typeface="Arial" panose="020B0604020202020204" pitchFamily="34" charset="0"/>
              </a:rPr>
              <a:t>S</a:t>
            </a:r>
            <a:r>
              <a:rPr lang="en-US" altLang="zh-CN" sz="2400" dirty="0">
                <a:latin typeface="Arial" panose="020B0604020202020204" pitchFamily="34" charset="0"/>
              </a:rPr>
              <a:t>-1)</a:t>
            </a:r>
            <a:r>
              <a:rPr lang="zh-CN" altLang="en-US" sz="2400" dirty="0">
                <a:latin typeface="Arial" panose="020B0604020202020204" pitchFamily="34" charset="0"/>
              </a:rPr>
              <a:t>中发送给它的消息，修改其自身及其出射边的状态，并发送消息给其他顶点，甚至是修改整个图的拓扑结构</a:t>
            </a:r>
            <a:endParaRPr lang="en-US" altLang="zh-CN" sz="2400" dirty="0">
              <a:latin typeface="Arial" panose="020B0604020202020204" pitchFamily="34" charset="0"/>
            </a:endParaRPr>
          </a:p>
          <a:p>
            <a:pPr eaLnBrk="1" hangingPunct="1">
              <a:buChar char="•"/>
            </a:pPr>
            <a:r>
              <a:rPr lang="zh-CN" altLang="en-US" sz="2400" dirty="0">
                <a:latin typeface="Arial" panose="020B0604020202020204" pitchFamily="34" charset="0"/>
              </a:rPr>
              <a:t>在这种计算模式中，“边”并不是核心对象，在边上面不会运行相应的计算，只有顶点才会执行用户自定义函数进行相应计算</a:t>
            </a:r>
            <a:endParaRPr lang="zh-CN" altLang="en-US" sz="24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7" grpId="0"/>
      <p:bldP spid="13320" grpId="0"/>
      <p:bldP spid="13317" grpId="1"/>
      <p:bldP spid="13320" grpId="1"/>
      <p:bldP spid="13319" grpId="0"/>
      <p:bldP spid="13318" grpId="0"/>
      <p:bldP spid="13319" grpId="1"/>
      <p:bldP spid="13318" grpId="1"/>
      <p:bldP spid="14339" grpId="0" animBg="1"/>
      <p:bldP spid="14339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en-US" altLang="zh-CN" b="1" dirty="0"/>
              <a:t>13.3.2	</a:t>
            </a:r>
            <a:r>
              <a:rPr lang="zh-CN" altLang="en-US" b="1" dirty="0"/>
              <a:t>顶点之间的消息传递</a:t>
            </a:r>
            <a:endParaRPr lang="zh-CN" altLang="en-US" b="1" dirty="0"/>
          </a:p>
        </p:txBody>
      </p:sp>
      <p:pic>
        <p:nvPicPr>
          <p:cNvPr id="15363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31000" y="1449705"/>
            <a:ext cx="4117975" cy="46577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5364" name="Rectangle 5"/>
          <p:cNvSpPr/>
          <p:nvPr/>
        </p:nvSpPr>
        <p:spPr>
          <a:xfrm>
            <a:off x="7516495" y="6107589"/>
            <a:ext cx="2705735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r>
              <a:rPr lang="zh-CN" altLang="en-US" sz="2400" dirty="0">
                <a:latin typeface="Arial" panose="020B0604020202020204" pitchFamily="34" charset="0"/>
              </a:rPr>
              <a:t>纯消息传递模型图 </a:t>
            </a:r>
            <a:endParaRPr lang="zh-CN" altLang="en-US" sz="2400" dirty="0">
              <a:latin typeface="Arial" panose="020B0604020202020204" pitchFamily="34" charset="0"/>
            </a:endParaRPr>
          </a:p>
        </p:txBody>
      </p:sp>
      <p:sp>
        <p:nvSpPr>
          <p:cNvPr id="15365" name="Rectangle 6"/>
          <p:cNvSpPr/>
          <p:nvPr/>
        </p:nvSpPr>
        <p:spPr>
          <a:xfrm>
            <a:off x="989330" y="1471613"/>
            <a:ext cx="4848860" cy="496189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eaLnBrk="1" hangingPunct="1">
              <a:lnSpc>
                <a:spcPct val="110000"/>
              </a:lnSpc>
            </a:pPr>
            <a:r>
              <a:rPr lang="zh-CN" altLang="en-US" sz="2400" dirty="0">
                <a:latin typeface="Arial" panose="020B0604020202020204" pitchFamily="34" charset="0"/>
              </a:rPr>
              <a:t>采用</a:t>
            </a:r>
            <a:r>
              <a:rPr lang="zh-CN" altLang="en-US" sz="2400" dirty="0">
                <a:latin typeface="Arial" panose="020B0604020202020204" pitchFamily="34" charset="0"/>
              </a:rPr>
              <a:t>纯消息传递模型主要基于以下两个原因：</a:t>
            </a:r>
            <a:endParaRPr lang="zh-CN" altLang="en-US" sz="2400" dirty="0">
              <a:latin typeface="Arial" panose="020B0604020202020204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zh-CN" altLang="en-US" sz="2400" dirty="0">
                <a:latin typeface="Arial" panose="020B0604020202020204" pitchFamily="34" charset="0"/>
              </a:rPr>
              <a:t>（</a:t>
            </a:r>
            <a:r>
              <a:rPr lang="en-US" altLang="zh-CN" sz="2400" dirty="0">
                <a:latin typeface="Arial" panose="020B0604020202020204" pitchFamily="34" charset="0"/>
              </a:rPr>
              <a:t>1</a:t>
            </a:r>
            <a:r>
              <a:rPr lang="zh-CN" altLang="en-US" sz="2400" dirty="0">
                <a:latin typeface="Arial" panose="020B0604020202020204" pitchFamily="34" charset="0"/>
              </a:rPr>
              <a:t>）消息传递具有足够的表达能力，没有必要使用远程读取或共享内存的方式</a:t>
            </a:r>
            <a:endParaRPr lang="zh-CN" altLang="en-US" sz="2400" dirty="0">
              <a:latin typeface="Arial" panose="020B0604020202020204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zh-CN" altLang="en-US" sz="2400" dirty="0">
                <a:latin typeface="Arial" panose="020B0604020202020204" pitchFamily="34" charset="0"/>
              </a:rPr>
              <a:t>（</a:t>
            </a:r>
            <a:r>
              <a:rPr lang="en-US" altLang="zh-CN" sz="2400" dirty="0">
                <a:latin typeface="Arial" panose="020B0604020202020204" pitchFamily="34" charset="0"/>
              </a:rPr>
              <a:t>2</a:t>
            </a:r>
            <a:r>
              <a:rPr lang="zh-CN" altLang="en-US" sz="2400" dirty="0">
                <a:latin typeface="Arial" panose="020B0604020202020204" pitchFamily="34" charset="0"/>
              </a:rPr>
              <a:t>）有助于提升系统整体性能。</a:t>
            </a:r>
            <a:endParaRPr lang="zh-CN" altLang="en-US" sz="2400" dirty="0">
              <a:latin typeface="Arial" panose="020B0604020202020204" pitchFamily="34" charset="0"/>
            </a:endParaRPr>
          </a:p>
          <a:p>
            <a:pPr indent="0" eaLnBrk="1" hangingPunct="1">
              <a:lnSpc>
                <a:spcPct val="110000"/>
              </a:lnSpc>
              <a:buNone/>
            </a:pPr>
            <a:r>
              <a:rPr lang="zh-CN" altLang="en-US" sz="2400" dirty="0">
                <a:latin typeface="Arial" panose="020B0604020202020204" pitchFamily="34" charset="0"/>
              </a:rPr>
              <a:t>大型图计算通常是由一个集群完成的，集群环境中执行远程数据读取会有较高的延迟；</a:t>
            </a:r>
            <a:endParaRPr lang="zh-CN" altLang="en-US" sz="2400" dirty="0">
              <a:latin typeface="Arial" panose="020B0604020202020204" pitchFamily="34" charset="0"/>
            </a:endParaRPr>
          </a:p>
          <a:p>
            <a:pPr indent="0" eaLnBrk="1" hangingPunct="1">
              <a:lnSpc>
                <a:spcPct val="110000"/>
              </a:lnSpc>
              <a:buNone/>
            </a:pPr>
            <a:r>
              <a:rPr lang="en-US" altLang="zh-CN" sz="2400" dirty="0">
                <a:latin typeface="Arial" panose="020B0604020202020204" pitchFamily="34" charset="0"/>
              </a:rPr>
              <a:t>Pregel</a:t>
            </a:r>
            <a:r>
              <a:rPr lang="zh-CN" altLang="en-US" sz="2400" dirty="0">
                <a:latin typeface="Arial" panose="020B0604020202020204" pitchFamily="34" charset="0"/>
              </a:rPr>
              <a:t>的消息模式采用异步和批量的方式传递消息，因此可以缓解远程读取的延迟 </a:t>
            </a:r>
            <a:endParaRPr lang="zh-CN" altLang="en-US" sz="24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en-US" altLang="zh-CN" b="1" dirty="0"/>
              <a:t>13.3.3	Pregel</a:t>
            </a:r>
            <a:r>
              <a:rPr lang="zh-CN" altLang="en-US" b="1" dirty="0"/>
              <a:t>的计算过程</a:t>
            </a:r>
            <a:endParaRPr lang="zh-CN" altLang="en-US" b="1" dirty="0"/>
          </a:p>
        </p:txBody>
      </p:sp>
      <p:sp>
        <p:nvSpPr>
          <p:cNvPr id="16387" name="Rectangle 6"/>
          <p:cNvSpPr/>
          <p:nvPr/>
        </p:nvSpPr>
        <p:spPr>
          <a:xfrm>
            <a:off x="626745" y="1912938"/>
            <a:ext cx="7750810" cy="4154170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 wrap="square" anchor="ctr" anchorCtr="0">
            <a:spAutoFit/>
          </a:bodyPr>
          <a:p>
            <a:pPr indent="0" eaLnBrk="1" hangingPunct="1">
              <a:buNone/>
            </a:pPr>
            <a:r>
              <a:rPr lang="zh-CN" altLang="en-US" sz="2400" dirty="0">
                <a:latin typeface="Arial" panose="020B0604020202020204" pitchFamily="34" charset="0"/>
              </a:rPr>
              <a:t>计算过程是由一系列被称为“超步”的迭代组成的</a:t>
            </a:r>
            <a:endParaRPr lang="zh-CN" altLang="en-US" sz="2400" dirty="0">
              <a:latin typeface="Arial" panose="020B0604020202020204" pitchFamily="34" charset="0"/>
            </a:endParaRPr>
          </a:p>
          <a:p>
            <a:pPr indent="0" eaLnBrk="1" hangingPunct="1">
              <a:buNone/>
            </a:pPr>
            <a:endParaRPr lang="en-US" altLang="zh-CN" sz="2400" dirty="0">
              <a:latin typeface="Arial" panose="020B0604020202020204" pitchFamily="34" charset="0"/>
            </a:endParaRPr>
          </a:p>
          <a:p>
            <a:pPr indent="0" eaLnBrk="1" hangingPunct="1">
              <a:buNone/>
            </a:pPr>
            <a:r>
              <a:rPr lang="zh-CN" altLang="en-US" sz="2400" dirty="0">
                <a:latin typeface="Arial" panose="020B0604020202020204" pitchFamily="34" charset="0"/>
              </a:rPr>
              <a:t>每个超步中，每个顶点上都会并行执行用户自定义的函数，它描述了一个顶点</a:t>
            </a:r>
            <a:r>
              <a:rPr lang="en-US" altLang="zh-CN" sz="2400" i="1" dirty="0">
                <a:latin typeface="Arial" panose="020B0604020202020204" pitchFamily="34" charset="0"/>
              </a:rPr>
              <a:t>V</a:t>
            </a:r>
            <a:r>
              <a:rPr lang="zh-CN" altLang="en-US" sz="2400" dirty="0">
                <a:latin typeface="Arial" panose="020B0604020202020204" pitchFamily="34" charset="0"/>
              </a:rPr>
              <a:t>在一个超步</a:t>
            </a:r>
            <a:r>
              <a:rPr lang="en-US" altLang="zh-CN" sz="2400" i="1" dirty="0">
                <a:latin typeface="Arial" panose="020B0604020202020204" pitchFamily="34" charset="0"/>
              </a:rPr>
              <a:t>S</a:t>
            </a:r>
            <a:r>
              <a:rPr lang="zh-CN" altLang="en-US" sz="2400" dirty="0">
                <a:latin typeface="Arial" panose="020B0604020202020204" pitchFamily="34" charset="0"/>
              </a:rPr>
              <a:t>中需要执行的操作</a:t>
            </a:r>
            <a:endParaRPr lang="zh-CN" altLang="en-US" sz="2400" dirty="0">
              <a:latin typeface="Arial" panose="020B0604020202020204" pitchFamily="34" charset="0"/>
            </a:endParaRPr>
          </a:p>
          <a:p>
            <a:pPr indent="0" eaLnBrk="1" hangingPunct="1">
              <a:buNone/>
            </a:pPr>
            <a:endParaRPr lang="en-US" altLang="zh-CN" sz="2400" dirty="0">
              <a:latin typeface="Arial" panose="020B0604020202020204" pitchFamily="34" charset="0"/>
            </a:endParaRPr>
          </a:p>
          <a:p>
            <a:pPr indent="0" eaLnBrk="1" hangingPunct="1">
              <a:buNone/>
            </a:pPr>
            <a:r>
              <a:rPr lang="zh-CN" altLang="en-US" sz="2400" dirty="0">
                <a:latin typeface="Arial" panose="020B0604020202020204" pitchFamily="34" charset="0"/>
              </a:rPr>
              <a:t>该函数可读取前一个超步</a:t>
            </a:r>
            <a:r>
              <a:rPr lang="en-US" altLang="zh-CN" sz="2400" dirty="0">
                <a:latin typeface="Arial" panose="020B0604020202020204" pitchFamily="34" charset="0"/>
              </a:rPr>
              <a:t>(</a:t>
            </a:r>
            <a:r>
              <a:rPr lang="en-US" altLang="zh-CN" sz="2400" i="1" dirty="0">
                <a:latin typeface="Arial" panose="020B0604020202020204" pitchFamily="34" charset="0"/>
              </a:rPr>
              <a:t>S</a:t>
            </a:r>
            <a:r>
              <a:rPr lang="en-US" altLang="zh-CN" sz="2400" dirty="0">
                <a:latin typeface="Arial" panose="020B0604020202020204" pitchFamily="34" charset="0"/>
              </a:rPr>
              <a:t>-1)</a:t>
            </a:r>
            <a:r>
              <a:rPr lang="zh-CN" altLang="en-US" sz="2400" dirty="0">
                <a:latin typeface="Arial" panose="020B0604020202020204" pitchFamily="34" charset="0"/>
              </a:rPr>
              <a:t>中其他顶点发送给顶点</a:t>
            </a:r>
            <a:r>
              <a:rPr lang="en-US" altLang="zh-CN" sz="2400" i="1" dirty="0">
                <a:latin typeface="Arial" panose="020B0604020202020204" pitchFamily="34" charset="0"/>
              </a:rPr>
              <a:t>V</a:t>
            </a:r>
            <a:r>
              <a:rPr lang="zh-CN" altLang="en-US" sz="2400" dirty="0">
                <a:latin typeface="Arial" panose="020B0604020202020204" pitchFamily="34" charset="0"/>
              </a:rPr>
              <a:t>的消息，执行相应计算后，修改顶点</a:t>
            </a:r>
            <a:r>
              <a:rPr lang="en-US" altLang="zh-CN" sz="2400" i="1" dirty="0">
                <a:latin typeface="Arial" panose="020B0604020202020204" pitchFamily="34" charset="0"/>
              </a:rPr>
              <a:t>V</a:t>
            </a:r>
            <a:r>
              <a:rPr lang="zh-CN" altLang="en-US" sz="2400" dirty="0">
                <a:latin typeface="Arial" panose="020B0604020202020204" pitchFamily="34" charset="0"/>
              </a:rPr>
              <a:t>及其出射边的状态，然后沿着顶点</a:t>
            </a:r>
            <a:r>
              <a:rPr lang="en-US" altLang="zh-CN" sz="2400" i="1" dirty="0">
                <a:latin typeface="Arial" panose="020B0604020202020204" pitchFamily="34" charset="0"/>
              </a:rPr>
              <a:t>V</a:t>
            </a:r>
            <a:r>
              <a:rPr lang="zh-CN" altLang="en-US" sz="2400" dirty="0">
                <a:latin typeface="Arial" panose="020B0604020202020204" pitchFamily="34" charset="0"/>
              </a:rPr>
              <a:t>的出射边发送消息给其他顶点</a:t>
            </a:r>
            <a:endParaRPr lang="zh-CN" altLang="en-US" sz="2400" dirty="0">
              <a:latin typeface="Arial" panose="020B0604020202020204" pitchFamily="34" charset="0"/>
            </a:endParaRPr>
          </a:p>
          <a:p>
            <a:pPr indent="0" eaLnBrk="1" hangingPunct="1">
              <a:buNone/>
            </a:pPr>
            <a:endParaRPr lang="en-US" altLang="zh-CN" sz="2400" dirty="0">
              <a:latin typeface="Arial" panose="020B0604020202020204" pitchFamily="34" charset="0"/>
            </a:endParaRPr>
          </a:p>
          <a:p>
            <a:pPr indent="0" eaLnBrk="1" hangingPunct="1">
              <a:buNone/>
            </a:pPr>
            <a:r>
              <a:rPr lang="zh-CN" altLang="en-US" sz="2400" dirty="0">
                <a:latin typeface="Arial" panose="020B0604020202020204" pitchFamily="34" charset="0"/>
              </a:rPr>
              <a:t>这些消息将会在下一个超步</a:t>
            </a:r>
            <a:r>
              <a:rPr lang="en-US" altLang="zh-CN" sz="2400" dirty="0">
                <a:latin typeface="Arial" panose="020B0604020202020204" pitchFamily="34" charset="0"/>
              </a:rPr>
              <a:t>(</a:t>
            </a:r>
            <a:r>
              <a:rPr lang="en-US" altLang="zh-CN" sz="2400" i="1" dirty="0">
                <a:latin typeface="Arial" panose="020B0604020202020204" pitchFamily="34" charset="0"/>
              </a:rPr>
              <a:t>S</a:t>
            </a:r>
            <a:r>
              <a:rPr lang="en-US" altLang="zh-CN" sz="2400" dirty="0">
                <a:latin typeface="Arial" panose="020B0604020202020204" pitchFamily="34" charset="0"/>
              </a:rPr>
              <a:t>+1)</a:t>
            </a:r>
            <a:r>
              <a:rPr lang="zh-CN" altLang="en-US" sz="2400" dirty="0">
                <a:latin typeface="Arial" panose="020B0604020202020204" pitchFamily="34" charset="0"/>
              </a:rPr>
              <a:t>中被目标顶点接收，</a:t>
            </a:r>
            <a:endParaRPr lang="zh-CN" altLang="en-US" sz="2400" dirty="0">
              <a:latin typeface="Arial" panose="020B0604020202020204" pitchFamily="34" charset="0"/>
            </a:endParaRPr>
          </a:p>
          <a:p>
            <a:pPr indent="0" eaLnBrk="1" hangingPunct="1">
              <a:buNone/>
            </a:pPr>
            <a:r>
              <a:rPr lang="zh-CN" altLang="en-US" sz="2400" dirty="0">
                <a:latin typeface="Arial" panose="020B0604020202020204" pitchFamily="34" charset="0"/>
              </a:rPr>
              <a:t>然后开始下一个超步</a:t>
            </a:r>
            <a:r>
              <a:rPr lang="en-US" altLang="zh-CN" sz="2400" dirty="0">
                <a:latin typeface="Arial" panose="020B0604020202020204" pitchFamily="34" charset="0"/>
              </a:rPr>
              <a:t>(</a:t>
            </a:r>
            <a:r>
              <a:rPr lang="en-US" altLang="zh-CN" sz="2400" i="1" dirty="0">
                <a:latin typeface="Arial" panose="020B0604020202020204" pitchFamily="34" charset="0"/>
              </a:rPr>
              <a:t>S</a:t>
            </a:r>
            <a:r>
              <a:rPr lang="en-US" altLang="zh-CN" sz="2400" dirty="0">
                <a:latin typeface="Arial" panose="020B0604020202020204" pitchFamily="34" charset="0"/>
              </a:rPr>
              <a:t>+1)</a:t>
            </a:r>
            <a:r>
              <a:rPr lang="zh-CN" altLang="en-US" sz="2400" dirty="0">
                <a:latin typeface="Arial" panose="020B0604020202020204" pitchFamily="34" charset="0"/>
              </a:rPr>
              <a:t>的迭代过程</a:t>
            </a:r>
            <a:endParaRPr lang="zh-CN" altLang="en-US" sz="2400" dirty="0">
              <a:latin typeface="Arial" panose="020B0604020202020204" pitchFamily="34" charset="0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9369425" y="5425758"/>
            <a:ext cx="228600" cy="228600"/>
          </a:xfrm>
          <a:prstGeom prst="ellipse">
            <a:avLst/>
          </a:prstGeom>
          <a:solidFill>
            <a:srgbClr val="B7DFE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389" name="TextBox 5"/>
          <p:cNvSpPr txBox="1"/>
          <p:nvPr/>
        </p:nvSpPr>
        <p:spPr>
          <a:xfrm>
            <a:off x="9674225" y="5360670"/>
            <a:ext cx="1097280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dirty="0">
                <a:latin typeface="Arial" panose="020B0604020202020204" pitchFamily="34" charset="0"/>
              </a:rPr>
              <a:t>表示顶点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cxnSp>
        <p:nvCxnSpPr>
          <p:cNvPr id="7" name="直接箭头连接符 6"/>
          <p:cNvCxnSpPr/>
          <p:nvPr/>
        </p:nvCxnSpPr>
        <p:spPr>
          <a:xfrm>
            <a:off x="9369425" y="6111558"/>
            <a:ext cx="5334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91" name="TextBox 7"/>
          <p:cNvSpPr txBox="1"/>
          <p:nvPr/>
        </p:nvSpPr>
        <p:spPr>
          <a:xfrm>
            <a:off x="9861550" y="5882958"/>
            <a:ext cx="1554480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dirty="0">
                <a:latin typeface="Arial" panose="020B0604020202020204" pitchFamily="34" charset="0"/>
              </a:rPr>
              <a:t>表示发送消息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16392" name="组合 29"/>
          <p:cNvGrpSpPr/>
          <p:nvPr/>
        </p:nvGrpSpPr>
        <p:grpSpPr>
          <a:xfrm>
            <a:off x="8455025" y="1550670"/>
            <a:ext cx="3276600" cy="3565525"/>
            <a:chOff x="5638800" y="1600200"/>
            <a:chExt cx="3276600" cy="3565525"/>
          </a:xfrm>
        </p:grpSpPr>
        <p:pic>
          <p:nvPicPr>
            <p:cNvPr id="16393" name="Picture 2" descr="http://img.blog.csdn.net/20141025085314265?watermark/2/text/aHR0cDovL2Jsb2cuY3Nkbi5uZXQvbWFsZWZhY3Rvcg==/font/5a6L5L2T/fontsize/400/fill/I0JBQkFCMA==/dissolve/70/gravity/SouthEast"/>
            <p:cNvPicPr>
              <a:picLocks noChangeAspect="1"/>
            </p:cNvPicPr>
            <p:nvPr/>
          </p:nvPicPr>
          <p:blipFill>
            <a:blip r:embed="rId1"/>
            <a:srcRect l="11679" r="5109" b="13589"/>
            <a:stretch>
              <a:fillRect/>
            </a:stretch>
          </p:blipFill>
          <p:spPr>
            <a:xfrm>
              <a:off x="5638800" y="1600200"/>
              <a:ext cx="3276600" cy="3565525"/>
            </a:xfrm>
            <a:prstGeom prst="rect">
              <a:avLst/>
            </a:prstGeom>
            <a:noFill/>
            <a:ln w="9525">
              <a:noFill/>
            </a:ln>
          </p:spPr>
        </p:pic>
        <p:grpSp>
          <p:nvGrpSpPr>
            <p:cNvPr id="16394" name="组合 14"/>
            <p:cNvGrpSpPr/>
            <p:nvPr/>
          </p:nvGrpSpPr>
          <p:grpSpPr>
            <a:xfrm>
              <a:off x="5979112" y="2253278"/>
              <a:ext cx="323934" cy="2487846"/>
              <a:chOff x="5979112" y="2253278"/>
              <a:chExt cx="323934" cy="2487846"/>
            </a:xfrm>
          </p:grpSpPr>
          <p:sp>
            <p:nvSpPr>
              <p:cNvPr id="16409" name="TextBox 8"/>
              <p:cNvSpPr txBox="1"/>
              <p:nvPr/>
            </p:nvSpPr>
            <p:spPr>
              <a:xfrm>
                <a:off x="5985060" y="2253278"/>
                <a:ext cx="309880" cy="36830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dirty="0">
                    <a:latin typeface="Arial" panose="020B0604020202020204" pitchFamily="34" charset="0"/>
                  </a:rPr>
                  <a:t>1</a:t>
                </a:r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6410" name="TextBox 9"/>
              <p:cNvSpPr txBox="1"/>
              <p:nvPr/>
            </p:nvSpPr>
            <p:spPr>
              <a:xfrm>
                <a:off x="5985060" y="2667000"/>
                <a:ext cx="309880" cy="36830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dirty="0">
                    <a:latin typeface="Arial" panose="020B0604020202020204" pitchFamily="34" charset="0"/>
                  </a:rPr>
                  <a:t>2</a:t>
                </a:r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6411" name="TextBox 10"/>
              <p:cNvSpPr txBox="1"/>
              <p:nvPr/>
            </p:nvSpPr>
            <p:spPr>
              <a:xfrm>
                <a:off x="5984288" y="3115322"/>
                <a:ext cx="309880" cy="36830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dirty="0">
                    <a:latin typeface="Arial" panose="020B0604020202020204" pitchFamily="34" charset="0"/>
                  </a:rPr>
                  <a:t>3</a:t>
                </a:r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6412" name="TextBox 11"/>
              <p:cNvSpPr txBox="1"/>
              <p:nvPr/>
            </p:nvSpPr>
            <p:spPr>
              <a:xfrm>
                <a:off x="5979112" y="3528132"/>
                <a:ext cx="309880" cy="36830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dirty="0">
                    <a:latin typeface="Arial" panose="020B0604020202020204" pitchFamily="34" charset="0"/>
                  </a:rPr>
                  <a:t>4</a:t>
                </a:r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6413" name="TextBox 12"/>
              <p:cNvSpPr txBox="1"/>
              <p:nvPr/>
            </p:nvSpPr>
            <p:spPr>
              <a:xfrm>
                <a:off x="5993166" y="3971278"/>
                <a:ext cx="309880" cy="36830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dirty="0">
                    <a:latin typeface="Arial" panose="020B0604020202020204" pitchFamily="34" charset="0"/>
                  </a:rPr>
                  <a:t>5</a:t>
                </a:r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6414" name="TextBox 13"/>
              <p:cNvSpPr txBox="1"/>
              <p:nvPr/>
            </p:nvSpPr>
            <p:spPr>
              <a:xfrm>
                <a:off x="5979112" y="4372824"/>
                <a:ext cx="307012" cy="36830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dirty="0">
                    <a:latin typeface="Arial" panose="020B0604020202020204" pitchFamily="34" charset="0"/>
                  </a:rPr>
                  <a:t>6</a:t>
                </a:r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6395" name="组合 15"/>
            <p:cNvGrpSpPr/>
            <p:nvPr/>
          </p:nvGrpSpPr>
          <p:grpSpPr>
            <a:xfrm>
              <a:off x="7153922" y="2241610"/>
              <a:ext cx="323934" cy="2487846"/>
              <a:chOff x="5979112" y="2253278"/>
              <a:chExt cx="323934" cy="2487846"/>
            </a:xfrm>
          </p:grpSpPr>
          <p:sp>
            <p:nvSpPr>
              <p:cNvPr id="16403" name="TextBox 16"/>
              <p:cNvSpPr txBox="1"/>
              <p:nvPr/>
            </p:nvSpPr>
            <p:spPr>
              <a:xfrm>
                <a:off x="5985060" y="2253278"/>
                <a:ext cx="309880" cy="36830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dirty="0">
                    <a:latin typeface="Arial" panose="020B0604020202020204" pitchFamily="34" charset="0"/>
                  </a:rPr>
                  <a:t>1</a:t>
                </a:r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6404" name="TextBox 17"/>
              <p:cNvSpPr txBox="1"/>
              <p:nvPr/>
            </p:nvSpPr>
            <p:spPr>
              <a:xfrm>
                <a:off x="5985060" y="2667000"/>
                <a:ext cx="309880" cy="36830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dirty="0">
                    <a:latin typeface="Arial" panose="020B0604020202020204" pitchFamily="34" charset="0"/>
                  </a:rPr>
                  <a:t>2</a:t>
                </a:r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6405" name="TextBox 18"/>
              <p:cNvSpPr txBox="1"/>
              <p:nvPr/>
            </p:nvSpPr>
            <p:spPr>
              <a:xfrm>
                <a:off x="5984288" y="3115322"/>
                <a:ext cx="309880" cy="36830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dirty="0">
                    <a:latin typeface="Arial" panose="020B0604020202020204" pitchFamily="34" charset="0"/>
                  </a:rPr>
                  <a:t>3</a:t>
                </a:r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6406" name="TextBox 19"/>
              <p:cNvSpPr txBox="1"/>
              <p:nvPr/>
            </p:nvSpPr>
            <p:spPr>
              <a:xfrm>
                <a:off x="5979112" y="3528132"/>
                <a:ext cx="309880" cy="36830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dirty="0">
                    <a:latin typeface="Arial" panose="020B0604020202020204" pitchFamily="34" charset="0"/>
                  </a:rPr>
                  <a:t>4</a:t>
                </a:r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6407" name="TextBox 20"/>
              <p:cNvSpPr txBox="1"/>
              <p:nvPr/>
            </p:nvSpPr>
            <p:spPr>
              <a:xfrm>
                <a:off x="5993166" y="3971278"/>
                <a:ext cx="309880" cy="36830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dirty="0">
                    <a:latin typeface="Arial" panose="020B0604020202020204" pitchFamily="34" charset="0"/>
                  </a:rPr>
                  <a:t>5</a:t>
                </a:r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6408" name="TextBox 21"/>
              <p:cNvSpPr txBox="1"/>
              <p:nvPr/>
            </p:nvSpPr>
            <p:spPr>
              <a:xfrm>
                <a:off x="5979112" y="4372824"/>
                <a:ext cx="307012" cy="36830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dirty="0">
                    <a:latin typeface="Arial" panose="020B0604020202020204" pitchFamily="34" charset="0"/>
                  </a:rPr>
                  <a:t>6</a:t>
                </a:r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6396" name="组合 22"/>
            <p:cNvGrpSpPr/>
            <p:nvPr/>
          </p:nvGrpSpPr>
          <p:grpSpPr>
            <a:xfrm>
              <a:off x="8229600" y="2227556"/>
              <a:ext cx="323934" cy="2487846"/>
              <a:chOff x="5979112" y="2253278"/>
              <a:chExt cx="323934" cy="2487846"/>
            </a:xfrm>
          </p:grpSpPr>
          <p:sp>
            <p:nvSpPr>
              <p:cNvPr id="16397" name="TextBox 23"/>
              <p:cNvSpPr txBox="1"/>
              <p:nvPr/>
            </p:nvSpPr>
            <p:spPr>
              <a:xfrm>
                <a:off x="5985060" y="2253278"/>
                <a:ext cx="309880" cy="36830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dirty="0">
                    <a:latin typeface="Arial" panose="020B0604020202020204" pitchFamily="34" charset="0"/>
                  </a:rPr>
                  <a:t>1</a:t>
                </a:r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6398" name="TextBox 24"/>
              <p:cNvSpPr txBox="1"/>
              <p:nvPr/>
            </p:nvSpPr>
            <p:spPr>
              <a:xfrm>
                <a:off x="5985060" y="2667000"/>
                <a:ext cx="309880" cy="36830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dirty="0">
                    <a:latin typeface="Arial" panose="020B0604020202020204" pitchFamily="34" charset="0"/>
                  </a:rPr>
                  <a:t>2</a:t>
                </a:r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6399" name="TextBox 25"/>
              <p:cNvSpPr txBox="1"/>
              <p:nvPr/>
            </p:nvSpPr>
            <p:spPr>
              <a:xfrm>
                <a:off x="5984288" y="3115322"/>
                <a:ext cx="309880" cy="36830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dirty="0">
                    <a:latin typeface="Arial" panose="020B0604020202020204" pitchFamily="34" charset="0"/>
                  </a:rPr>
                  <a:t>3</a:t>
                </a:r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6400" name="TextBox 26"/>
              <p:cNvSpPr txBox="1"/>
              <p:nvPr/>
            </p:nvSpPr>
            <p:spPr>
              <a:xfrm>
                <a:off x="5979112" y="3528132"/>
                <a:ext cx="309880" cy="36830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dirty="0">
                    <a:latin typeface="Arial" panose="020B0604020202020204" pitchFamily="34" charset="0"/>
                  </a:rPr>
                  <a:t>4</a:t>
                </a:r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6401" name="TextBox 27"/>
              <p:cNvSpPr txBox="1"/>
              <p:nvPr/>
            </p:nvSpPr>
            <p:spPr>
              <a:xfrm>
                <a:off x="5993166" y="3971278"/>
                <a:ext cx="309880" cy="36830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dirty="0">
                    <a:latin typeface="Arial" panose="020B0604020202020204" pitchFamily="34" charset="0"/>
                  </a:rPr>
                  <a:t>5</a:t>
                </a:r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6402" name="TextBox 28"/>
              <p:cNvSpPr txBox="1"/>
              <p:nvPr/>
            </p:nvSpPr>
            <p:spPr>
              <a:xfrm>
                <a:off x="5979112" y="4372824"/>
                <a:ext cx="307012" cy="36830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dirty="0">
                    <a:latin typeface="Arial" panose="020B0604020202020204" pitchFamily="34" charset="0"/>
                  </a:rPr>
                  <a:t>6</a:t>
                </a:r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en-US" altLang="zh-CN" b="1" dirty="0"/>
              <a:t>13.3.3	Pregel</a:t>
            </a:r>
            <a:r>
              <a:rPr lang="zh-CN" altLang="en-US" b="1" dirty="0"/>
              <a:t>的计算过程</a:t>
            </a:r>
            <a:endParaRPr lang="zh-CN" altLang="en-US" b="1" dirty="0"/>
          </a:p>
        </p:txBody>
      </p:sp>
      <p:sp>
        <p:nvSpPr>
          <p:cNvPr id="17413" name="Rectangle 6"/>
          <p:cNvSpPr/>
          <p:nvPr/>
        </p:nvSpPr>
        <p:spPr>
          <a:xfrm>
            <a:off x="1029335" y="1691005"/>
            <a:ext cx="9837420" cy="460375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 wrap="square" anchor="ctr" anchorCtr="0">
            <a:spAutoFit/>
          </a:bodyPr>
          <a:p>
            <a:pPr indent="0" eaLnBrk="1" hangingPunct="1">
              <a:buNone/>
            </a:pPr>
            <a:r>
              <a:rPr lang="zh-CN" altLang="en-US" sz="2400" dirty="0">
                <a:latin typeface="Arial" panose="020B0604020202020204" pitchFamily="34" charset="0"/>
              </a:rPr>
              <a:t>在第</a:t>
            </a:r>
            <a:r>
              <a:rPr lang="en-US" altLang="zh-CN" sz="2400" dirty="0">
                <a:latin typeface="Arial" panose="020B0604020202020204" pitchFamily="34" charset="0"/>
              </a:rPr>
              <a:t>0</a:t>
            </a:r>
            <a:r>
              <a:rPr lang="zh-CN" altLang="en-US" sz="2400" dirty="0">
                <a:latin typeface="Arial" panose="020B0604020202020204" pitchFamily="34" charset="0"/>
              </a:rPr>
              <a:t>个超步，所有顶点处于活跃状态，都会参与该超步的计算过程</a:t>
            </a:r>
            <a:endParaRPr lang="zh-CN" altLang="en-US" sz="2400" dirty="0">
              <a:latin typeface="Arial" panose="020B0604020202020204" pitchFamily="34" charset="0"/>
            </a:endParaRPr>
          </a:p>
        </p:txBody>
      </p:sp>
      <p:pic>
        <p:nvPicPr>
          <p:cNvPr id="17411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3460" y="2632710"/>
            <a:ext cx="4620260" cy="234061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1029335" y="5362575"/>
            <a:ext cx="918718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eaLnBrk="1" hangingPunct="1">
              <a:buNone/>
            </a:pPr>
            <a:r>
              <a:rPr lang="zh-CN" altLang="en-US" sz="2400" dirty="0">
                <a:latin typeface="Arial" panose="020B0604020202020204" pitchFamily="34" charset="0"/>
                <a:sym typeface="+mn-ea"/>
              </a:rPr>
              <a:t>当图中所有的顶点都已经标识其自身达到“非活跃（</a:t>
            </a:r>
            <a:r>
              <a:rPr lang="en-US" altLang="zh-CN" sz="2400" dirty="0">
                <a:latin typeface="Arial" panose="020B0604020202020204" pitchFamily="34" charset="0"/>
                <a:sym typeface="+mn-ea"/>
              </a:rPr>
              <a:t>inactive</a:t>
            </a:r>
            <a:r>
              <a:rPr lang="zh-CN" altLang="en-US" sz="2400" dirty="0">
                <a:latin typeface="Arial" panose="020B0604020202020204" pitchFamily="34" charset="0"/>
                <a:sym typeface="+mn-ea"/>
              </a:rPr>
              <a:t>）”状态，并且没有消息在传送的时候，算法就可以停止运行</a:t>
            </a:r>
            <a:endParaRPr lang="zh-CN" altLang="en-US" sz="2400" dirty="0">
              <a:latin typeface="Arial" panose="020B0604020202020204" pitchFamily="34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Rectangle 2"/>
          <p:cNvSpPr>
            <a:spLocks noGrp="1"/>
          </p:cNvSpPr>
          <p:nvPr>
            <p:ph type="title"/>
          </p:nvPr>
        </p:nvSpPr>
        <p:spPr>
          <a:xfrm>
            <a:off x="838200" y="286385"/>
            <a:ext cx="10515600" cy="1325563"/>
          </a:xfrm>
        </p:spPr>
        <p:txBody>
          <a:bodyPr vert="horz" wrap="square" lIns="91440" tIns="45720" rIns="91440" bIns="45720" anchor="ctr" anchorCtr="0"/>
          <a:p>
            <a:r>
              <a:rPr lang="en-US" altLang="zh-CN" b="1" dirty="0"/>
              <a:t>13.3.4	Pregel</a:t>
            </a:r>
            <a:r>
              <a:rPr lang="zh-CN" altLang="en-US" b="1" dirty="0"/>
              <a:t>计算过程实例</a:t>
            </a:r>
            <a:endParaRPr lang="zh-CN" altLang="en-US" b="1" dirty="0"/>
          </a:p>
        </p:txBody>
      </p:sp>
      <p:sp>
        <p:nvSpPr>
          <p:cNvPr id="18435" name="Rectangle 5"/>
          <p:cNvSpPr/>
          <p:nvPr/>
        </p:nvSpPr>
        <p:spPr>
          <a:xfrm>
            <a:off x="5515610" y="6204427"/>
            <a:ext cx="4806315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r>
              <a:rPr lang="zh-CN" altLang="en-US" sz="2400" dirty="0">
                <a:latin typeface="Arial" panose="020B0604020202020204" pitchFamily="34" charset="0"/>
              </a:rPr>
              <a:t>求顶点最大值的</a:t>
            </a:r>
            <a:r>
              <a:rPr lang="en-US" altLang="zh-CN" sz="2400" dirty="0">
                <a:latin typeface="Arial" panose="020B0604020202020204" pitchFamily="34" charset="0"/>
              </a:rPr>
              <a:t>Pregel</a:t>
            </a:r>
            <a:r>
              <a:rPr lang="zh-CN" altLang="en-US" sz="2400" dirty="0">
                <a:latin typeface="Arial" panose="020B0604020202020204" pitchFamily="34" charset="0"/>
              </a:rPr>
              <a:t>计算过程图 </a:t>
            </a:r>
            <a:endParaRPr lang="zh-CN" altLang="en-US" sz="2400" dirty="0">
              <a:latin typeface="Arial" panose="020B0604020202020204" pitchFamily="34" charset="0"/>
            </a:endParaRPr>
          </a:p>
        </p:txBody>
      </p:sp>
      <p:grpSp>
        <p:nvGrpSpPr>
          <p:cNvPr id="18436" name="组合 44"/>
          <p:cNvGrpSpPr/>
          <p:nvPr/>
        </p:nvGrpSpPr>
        <p:grpSpPr>
          <a:xfrm>
            <a:off x="3882390" y="1304925"/>
            <a:ext cx="6698615" cy="4789348"/>
            <a:chOff x="494437" y="1295400"/>
            <a:chExt cx="6577876" cy="4844497"/>
          </a:xfrm>
        </p:grpSpPr>
        <p:pic>
          <p:nvPicPr>
            <p:cNvPr id="18437" name="Picture 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286000" y="1371600"/>
              <a:ext cx="4786313" cy="449580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" name="椭圆 4"/>
            <p:cNvSpPr/>
            <p:nvPr/>
          </p:nvSpPr>
          <p:spPr>
            <a:xfrm>
              <a:off x="494437" y="2285880"/>
              <a:ext cx="380958" cy="380954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494437" y="1676354"/>
              <a:ext cx="380958" cy="380954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440" name="TextBox 6"/>
            <p:cNvSpPr txBox="1"/>
            <p:nvPr/>
          </p:nvSpPr>
          <p:spPr>
            <a:xfrm>
              <a:off x="951637" y="1676400"/>
              <a:ext cx="640010" cy="37254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r>
                <a:rPr lang="zh-CN" altLang="en-US" dirty="0">
                  <a:latin typeface="Arial" panose="020B0604020202020204" pitchFamily="34" charset="0"/>
                </a:rPr>
                <a:t>活跃</a:t>
              </a:r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8441" name="TextBox 7"/>
            <p:cNvSpPr txBox="1"/>
            <p:nvPr/>
          </p:nvSpPr>
          <p:spPr>
            <a:xfrm>
              <a:off x="875437" y="2286000"/>
              <a:ext cx="868584" cy="37254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r>
                <a:rPr lang="zh-CN" altLang="en-US" dirty="0">
                  <a:latin typeface="Arial" panose="020B0604020202020204" pitchFamily="34" charset="0"/>
                </a:rPr>
                <a:t>非活跃</a:t>
              </a:r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9" name="圆角矩形 8"/>
            <p:cNvSpPr/>
            <p:nvPr/>
          </p:nvSpPr>
          <p:spPr>
            <a:xfrm>
              <a:off x="1905569" y="1295400"/>
              <a:ext cx="5104838" cy="121905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圆角矩形 9"/>
            <p:cNvSpPr/>
            <p:nvPr/>
          </p:nvSpPr>
          <p:spPr>
            <a:xfrm>
              <a:off x="1896045" y="2631913"/>
              <a:ext cx="5104838" cy="1025401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圆角矩形 10"/>
            <p:cNvSpPr/>
            <p:nvPr/>
          </p:nvSpPr>
          <p:spPr>
            <a:xfrm>
              <a:off x="1905569" y="3809695"/>
              <a:ext cx="5104838" cy="102698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圆角矩形 11"/>
            <p:cNvSpPr/>
            <p:nvPr/>
          </p:nvSpPr>
          <p:spPr>
            <a:xfrm>
              <a:off x="1905569" y="5028747"/>
              <a:ext cx="5104838" cy="102698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18446" name="组合 17"/>
            <p:cNvGrpSpPr/>
            <p:nvPr/>
          </p:nvGrpSpPr>
          <p:grpSpPr>
            <a:xfrm>
              <a:off x="2438400" y="3352800"/>
              <a:ext cx="3091142" cy="407925"/>
              <a:chOff x="2438400" y="3352800"/>
              <a:chExt cx="3091142" cy="407925"/>
            </a:xfrm>
          </p:grpSpPr>
          <p:sp>
            <p:nvSpPr>
              <p:cNvPr id="18467" name="TextBox 12"/>
              <p:cNvSpPr txBox="1"/>
              <p:nvPr/>
            </p:nvSpPr>
            <p:spPr>
              <a:xfrm>
                <a:off x="2438400" y="3352800"/>
                <a:ext cx="335243" cy="37254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>
                <a:spAutoFit/>
              </a:bodyPr>
              <a:p>
                <a:r>
                  <a:rPr lang="en-US" altLang="zh-CN" dirty="0">
                    <a:latin typeface="Arial" panose="020B0604020202020204" pitchFamily="34" charset="0"/>
                  </a:rPr>
                  <a:t>A</a:t>
                </a:r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8468" name="TextBox 13"/>
              <p:cNvSpPr txBox="1"/>
              <p:nvPr/>
            </p:nvSpPr>
            <p:spPr>
              <a:xfrm>
                <a:off x="3276600" y="3352800"/>
                <a:ext cx="335243" cy="3839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>
                <a:spAutoFit/>
              </a:bodyPr>
              <a:p>
                <a:r>
                  <a:rPr lang="en-US" altLang="zh-CN" dirty="0">
                    <a:latin typeface="Arial" panose="020B0604020202020204" pitchFamily="34" charset="0"/>
                  </a:rPr>
                  <a:t>B</a:t>
                </a:r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8469" name="TextBox 14"/>
              <p:cNvSpPr txBox="1"/>
              <p:nvPr/>
            </p:nvSpPr>
            <p:spPr>
              <a:xfrm>
                <a:off x="4267200" y="3352800"/>
                <a:ext cx="347942" cy="39577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>
                <a:spAutoFit/>
              </a:bodyPr>
              <a:p>
                <a:r>
                  <a:rPr lang="en-US" altLang="zh-CN" dirty="0">
                    <a:latin typeface="Arial" panose="020B0604020202020204" pitchFamily="34" charset="0"/>
                  </a:rPr>
                  <a:t>C</a:t>
                </a:r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8470" name="TextBox 15"/>
              <p:cNvSpPr txBox="1"/>
              <p:nvPr/>
            </p:nvSpPr>
            <p:spPr>
              <a:xfrm>
                <a:off x="5181600" y="3352800"/>
                <a:ext cx="347942" cy="40792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>
                <a:spAutoFit/>
              </a:bodyPr>
              <a:p>
                <a:r>
                  <a:rPr lang="en-US" altLang="zh-CN" dirty="0">
                    <a:latin typeface="Arial" panose="020B0604020202020204" pitchFamily="34" charset="0"/>
                  </a:rPr>
                  <a:t>D</a:t>
                </a:r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8447" name="组合 18"/>
            <p:cNvGrpSpPr/>
            <p:nvPr/>
          </p:nvGrpSpPr>
          <p:grpSpPr>
            <a:xfrm>
              <a:off x="2429522" y="4548156"/>
              <a:ext cx="3091142" cy="407925"/>
              <a:chOff x="2438400" y="3352800"/>
              <a:chExt cx="3091142" cy="407925"/>
            </a:xfrm>
          </p:grpSpPr>
          <p:sp>
            <p:nvSpPr>
              <p:cNvPr id="18463" name="TextBox 19"/>
              <p:cNvSpPr txBox="1"/>
              <p:nvPr/>
            </p:nvSpPr>
            <p:spPr>
              <a:xfrm>
                <a:off x="2438400" y="3352800"/>
                <a:ext cx="335243" cy="37254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>
                <a:spAutoFit/>
              </a:bodyPr>
              <a:p>
                <a:r>
                  <a:rPr lang="en-US" altLang="zh-CN" dirty="0">
                    <a:latin typeface="Arial" panose="020B0604020202020204" pitchFamily="34" charset="0"/>
                  </a:rPr>
                  <a:t>A</a:t>
                </a:r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8464" name="TextBox 20"/>
              <p:cNvSpPr txBox="1"/>
              <p:nvPr/>
            </p:nvSpPr>
            <p:spPr>
              <a:xfrm>
                <a:off x="3276600" y="3352800"/>
                <a:ext cx="335243" cy="3839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>
                <a:spAutoFit/>
              </a:bodyPr>
              <a:p>
                <a:r>
                  <a:rPr lang="en-US" altLang="zh-CN" dirty="0">
                    <a:latin typeface="Arial" panose="020B0604020202020204" pitchFamily="34" charset="0"/>
                  </a:rPr>
                  <a:t>B</a:t>
                </a:r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8465" name="TextBox 21"/>
              <p:cNvSpPr txBox="1"/>
              <p:nvPr/>
            </p:nvSpPr>
            <p:spPr>
              <a:xfrm>
                <a:off x="4267200" y="3352800"/>
                <a:ext cx="347942" cy="39577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>
                <a:spAutoFit/>
              </a:bodyPr>
              <a:p>
                <a:r>
                  <a:rPr lang="en-US" altLang="zh-CN" dirty="0">
                    <a:latin typeface="Arial" panose="020B0604020202020204" pitchFamily="34" charset="0"/>
                  </a:rPr>
                  <a:t>C</a:t>
                </a:r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8466" name="TextBox 22"/>
              <p:cNvSpPr txBox="1"/>
              <p:nvPr/>
            </p:nvSpPr>
            <p:spPr>
              <a:xfrm>
                <a:off x="5181600" y="3352800"/>
                <a:ext cx="347942" cy="40792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>
                <a:spAutoFit/>
              </a:bodyPr>
              <a:p>
                <a:r>
                  <a:rPr lang="en-US" altLang="zh-CN" dirty="0">
                    <a:latin typeface="Arial" panose="020B0604020202020204" pitchFamily="34" charset="0"/>
                  </a:rPr>
                  <a:t>D</a:t>
                </a:r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8448" name="组合 23"/>
            <p:cNvGrpSpPr/>
            <p:nvPr/>
          </p:nvGrpSpPr>
          <p:grpSpPr>
            <a:xfrm>
              <a:off x="2424346" y="5767356"/>
              <a:ext cx="3091142" cy="372541"/>
              <a:chOff x="2438400" y="3352800"/>
              <a:chExt cx="3091142" cy="372541"/>
            </a:xfrm>
          </p:grpSpPr>
          <p:sp>
            <p:nvSpPr>
              <p:cNvPr id="18459" name="TextBox 24"/>
              <p:cNvSpPr txBox="1"/>
              <p:nvPr/>
            </p:nvSpPr>
            <p:spPr>
              <a:xfrm>
                <a:off x="2438400" y="3352800"/>
                <a:ext cx="335243" cy="37254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>
                <a:spAutoFit/>
              </a:bodyPr>
              <a:p>
                <a:r>
                  <a:rPr lang="en-US" altLang="zh-CN" dirty="0">
                    <a:latin typeface="Arial" panose="020B0604020202020204" pitchFamily="34" charset="0"/>
                  </a:rPr>
                  <a:t>A</a:t>
                </a:r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8460" name="TextBox 25"/>
              <p:cNvSpPr txBox="1"/>
              <p:nvPr/>
            </p:nvSpPr>
            <p:spPr>
              <a:xfrm>
                <a:off x="3276600" y="3352800"/>
                <a:ext cx="335243" cy="37254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>
                <a:spAutoFit/>
              </a:bodyPr>
              <a:p>
                <a:r>
                  <a:rPr lang="en-US" altLang="zh-CN" dirty="0">
                    <a:latin typeface="Arial" panose="020B0604020202020204" pitchFamily="34" charset="0"/>
                  </a:rPr>
                  <a:t>B</a:t>
                </a:r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8461" name="TextBox 26"/>
              <p:cNvSpPr txBox="1"/>
              <p:nvPr/>
            </p:nvSpPr>
            <p:spPr>
              <a:xfrm>
                <a:off x="4267200" y="3352800"/>
                <a:ext cx="347942" cy="37254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>
                <a:spAutoFit/>
              </a:bodyPr>
              <a:p>
                <a:r>
                  <a:rPr lang="en-US" altLang="zh-CN" dirty="0">
                    <a:latin typeface="Arial" panose="020B0604020202020204" pitchFamily="34" charset="0"/>
                  </a:rPr>
                  <a:t>C</a:t>
                </a:r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8462" name="TextBox 27"/>
              <p:cNvSpPr txBox="1"/>
              <p:nvPr/>
            </p:nvSpPr>
            <p:spPr>
              <a:xfrm>
                <a:off x="5181600" y="3352800"/>
                <a:ext cx="347942" cy="37254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>
                <a:spAutoFit/>
              </a:bodyPr>
              <a:p>
                <a:r>
                  <a:rPr lang="en-US" altLang="zh-CN" dirty="0">
                    <a:latin typeface="Arial" panose="020B0604020202020204" pitchFamily="34" charset="0"/>
                  </a:rPr>
                  <a:t>D</a:t>
                </a:r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8449" name="TextBox 28"/>
            <p:cNvSpPr txBox="1"/>
            <p:nvPr/>
          </p:nvSpPr>
          <p:spPr>
            <a:xfrm>
              <a:off x="2667000" y="2297668"/>
              <a:ext cx="309846" cy="37254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r>
                <a:rPr lang="en-US" altLang="zh-CN" dirty="0">
                  <a:latin typeface="Arial" panose="020B0604020202020204" pitchFamily="34" charset="0"/>
                </a:rPr>
                <a:t>3</a:t>
              </a:r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8450" name="TextBox 34"/>
            <p:cNvSpPr txBox="1"/>
            <p:nvPr/>
          </p:nvSpPr>
          <p:spPr>
            <a:xfrm>
              <a:off x="3124200" y="2286000"/>
              <a:ext cx="309846" cy="37254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r>
                <a:rPr lang="en-US" altLang="zh-CN" dirty="0">
                  <a:latin typeface="Arial" panose="020B0604020202020204" pitchFamily="34" charset="0"/>
                </a:rPr>
                <a:t>6</a:t>
              </a:r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8451" name="TextBox 35"/>
            <p:cNvSpPr txBox="1"/>
            <p:nvPr/>
          </p:nvSpPr>
          <p:spPr>
            <a:xfrm>
              <a:off x="3581400" y="2209800"/>
              <a:ext cx="309846" cy="37254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r>
                <a:rPr lang="en-US" altLang="zh-CN" dirty="0">
                  <a:latin typeface="Arial" panose="020B0604020202020204" pitchFamily="34" charset="0"/>
                </a:rPr>
                <a:t>6</a:t>
              </a:r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8452" name="TextBox 36"/>
            <p:cNvSpPr txBox="1"/>
            <p:nvPr/>
          </p:nvSpPr>
          <p:spPr>
            <a:xfrm>
              <a:off x="4030494" y="2209800"/>
              <a:ext cx="309846" cy="37254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r>
                <a:rPr lang="en-US" altLang="zh-CN" dirty="0">
                  <a:latin typeface="Arial" panose="020B0604020202020204" pitchFamily="34" charset="0"/>
                </a:rPr>
                <a:t>2</a:t>
              </a:r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8453" name="TextBox 37"/>
            <p:cNvSpPr txBox="1"/>
            <p:nvPr/>
          </p:nvSpPr>
          <p:spPr>
            <a:xfrm>
              <a:off x="4572000" y="2286000"/>
              <a:ext cx="309846" cy="37254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r>
                <a:rPr lang="en-US" altLang="zh-CN" dirty="0">
                  <a:latin typeface="Arial" panose="020B0604020202020204" pitchFamily="34" charset="0"/>
                </a:rPr>
                <a:t>2</a:t>
              </a:r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8454" name="TextBox 38"/>
            <p:cNvSpPr txBox="1"/>
            <p:nvPr/>
          </p:nvSpPr>
          <p:spPr>
            <a:xfrm>
              <a:off x="4994460" y="2262156"/>
              <a:ext cx="312906" cy="37254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dirty="0">
                  <a:latin typeface="Arial" panose="020B0604020202020204" pitchFamily="34" charset="0"/>
                </a:rPr>
                <a:t>1</a:t>
              </a:r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8455" name="TextBox 39"/>
            <p:cNvSpPr txBox="1"/>
            <p:nvPr/>
          </p:nvSpPr>
          <p:spPr>
            <a:xfrm>
              <a:off x="2887494" y="3581400"/>
              <a:ext cx="309846" cy="37254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r>
                <a:rPr lang="en-US" altLang="zh-CN" dirty="0">
                  <a:latin typeface="Arial" panose="020B0604020202020204" pitchFamily="34" charset="0"/>
                </a:rPr>
                <a:t>6</a:t>
              </a:r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8456" name="TextBox 40"/>
            <p:cNvSpPr txBox="1"/>
            <p:nvPr/>
          </p:nvSpPr>
          <p:spPr>
            <a:xfrm>
              <a:off x="4724400" y="3581400"/>
              <a:ext cx="309846" cy="37254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r>
                <a:rPr lang="en-US" altLang="zh-CN" dirty="0">
                  <a:latin typeface="Arial" panose="020B0604020202020204" pitchFamily="34" charset="0"/>
                </a:rPr>
                <a:t>6</a:t>
              </a:r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8457" name="TextBox 41"/>
            <p:cNvSpPr txBox="1"/>
            <p:nvPr/>
          </p:nvSpPr>
          <p:spPr>
            <a:xfrm>
              <a:off x="3801894" y="4736068"/>
              <a:ext cx="309846" cy="37254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r>
                <a:rPr lang="en-US" altLang="zh-CN" dirty="0">
                  <a:latin typeface="Arial" panose="020B0604020202020204" pitchFamily="34" charset="0"/>
                </a:rPr>
                <a:t>6</a:t>
              </a:r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8458" name="TextBox 42"/>
            <p:cNvSpPr txBox="1"/>
            <p:nvPr/>
          </p:nvSpPr>
          <p:spPr>
            <a:xfrm>
              <a:off x="4792494" y="4751034"/>
              <a:ext cx="309846" cy="37254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r>
                <a:rPr lang="en-US" altLang="zh-CN" dirty="0">
                  <a:latin typeface="Arial" panose="020B0604020202020204" pitchFamily="34" charset="0"/>
                </a:rPr>
                <a:t>6</a:t>
              </a:r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382270" y="1843405"/>
            <a:ext cx="307657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 dirty="0">
                <a:latin typeface="Arial" panose="020B0604020202020204" pitchFamily="34" charset="0"/>
                <a:sym typeface="+mn-ea"/>
              </a:rPr>
              <a:t>用户自定义的函数：</a:t>
            </a:r>
            <a:endParaRPr lang="en-US" altLang="zh-CN" sz="2400" dirty="0">
              <a:latin typeface="Arial" panose="020B0604020202020204" pitchFamily="34" charset="0"/>
              <a:sym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487680" y="4911725"/>
                <a:ext cx="3456305" cy="119888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pPr marL="0" lvl="0" indent="0">
                  <a:buNone/>
                </a:pPr>
                <a:r>
                  <a:rPr lang="zh-CN" altLang="en-US" sz="2400" dirty="0">
                    <a:latin typeface="Arial" panose="020B0604020202020204" pitchFamily="34" charset="0"/>
                    <a:sym typeface="+mn-ea"/>
                  </a:rPr>
                  <a:t>若</a:t>
                </a:r>
                <a:r>
                  <a:rPr lang="en-US" altLang="zh-CN" sz="2400" dirty="0">
                    <a:latin typeface="Arial" panose="020B0604020202020204" pitchFamily="34" charset="0"/>
                    <a:sym typeface="+mn-ea"/>
                  </a:rPr>
                  <a:t>u</a:t>
                </a:r>
                <a:r>
                  <a:rPr lang="zh-CN" altLang="en-US" sz="2400" dirty="0">
                    <a:latin typeface="Arial" panose="020B0604020202020204" pitchFamily="34" charset="0"/>
                    <a:sym typeface="+mn-ea"/>
                  </a:rPr>
                  <a:t>活跃，</a:t>
                </a:r>
                <a:r>
                  <a:rPr lang="zh-CN" altLang="en-US" sz="2400" dirty="0">
                    <a:latin typeface="Arial" panose="020B0604020202020204" pitchFamily="34" charset="0"/>
                    <a:sym typeface="+mn-ea"/>
                  </a:rPr>
                  <a:t>则：</a:t>
                </a:r>
                <a:endParaRPr lang="zh-CN" altLang="en-US" sz="2400" dirty="0">
                  <a:latin typeface="Arial" panose="020B0604020202020204" pitchFamily="34" charset="0"/>
                  <a:sym typeface="+mn-ea"/>
                </a:endParaRPr>
              </a:p>
              <a:p>
                <a:pPr marL="0" lvl="0" indent="0">
                  <a:buNone/>
                </a:pPr>
                <a:r>
                  <a:rPr lang="zh-CN" altLang="en-US" sz="2400" dirty="0">
                    <a:latin typeface="Arial" panose="020B0604020202020204" pitchFamily="34" charset="0"/>
                    <a:sym typeface="+mn-ea"/>
                  </a:rPr>
                  <a:t>对</a:t>
                </a:r>
                <a:r>
                  <a:rPr lang="en-US" altLang="zh-CN" sz="2400" dirty="0">
                    <a:latin typeface="Arial" panose="020B0604020202020204" pitchFamily="34" charset="0"/>
                    <a:sym typeface="+mn-ea"/>
                  </a:rPr>
                  <a:t>u</a:t>
                </a:r>
                <a:r>
                  <a:rPr lang="zh-CN" altLang="en-US" sz="2400" dirty="0">
                    <a:latin typeface="Arial" panose="020B0604020202020204" pitchFamily="34" charset="0"/>
                    <a:sym typeface="+mn-ea"/>
                  </a:rPr>
                  <a:t>的每条出边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𝑢</m:t>
                    </m:r>
                    <m:r>
                      <a:rPr lang="en-US" altLang="zh-CN" sz="2400" i="1" dirty="0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→</m:t>
                    </m:r>
                    <m:r>
                      <a:rPr lang="en-US" altLang="zh-CN" sz="2400" i="1" dirty="0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𝑣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sym typeface="+mn-ea"/>
                  </a:rPr>
                  <a:t>,</a:t>
                </a:r>
                <a:endParaRPr lang="en-US" altLang="zh-CN" sz="2400" dirty="0">
                  <a:latin typeface="Arial" panose="020B0604020202020204" pitchFamily="34" charset="0"/>
                  <a:sym typeface="+mn-ea"/>
                </a:endParaRPr>
              </a:p>
              <a:p>
                <a:r>
                  <a:rPr lang="zh-CN" altLang="en-US" sz="2400" dirty="0">
                    <a:latin typeface="Arial" panose="020B0604020202020204" pitchFamily="34" charset="0"/>
                    <a:sym typeface="+mn-ea"/>
                  </a:rPr>
                  <a:t>从</a:t>
                </a:r>
                <a:r>
                  <a:rPr lang="en-US" altLang="zh-CN" sz="2400" dirty="0">
                    <a:latin typeface="Arial" panose="020B0604020202020204" pitchFamily="34" charset="0"/>
                    <a:sym typeface="+mn-ea"/>
                  </a:rPr>
                  <a:t>u</a:t>
                </a:r>
                <a:r>
                  <a:rPr lang="zh-CN" altLang="en-US" sz="2400" dirty="0">
                    <a:latin typeface="Arial" panose="020B0604020202020204" pitchFamily="34" charset="0"/>
                    <a:sym typeface="+mn-ea"/>
                  </a:rPr>
                  <a:t>发送消息</a:t>
                </a:r>
                <a:r>
                  <a:rPr lang="en-US" altLang="zh-CN" sz="2400" dirty="0">
                    <a:latin typeface="Arial" panose="020B0604020202020204" pitchFamily="34" charset="0"/>
                    <a:sym typeface="+mn-ea"/>
                  </a:rPr>
                  <a:t>u</a:t>
                </a:r>
                <a:r>
                  <a:rPr lang="zh-CN" altLang="en-US" sz="2400" dirty="0">
                    <a:latin typeface="Arial" panose="020B0604020202020204" pitchFamily="34" charset="0"/>
                    <a:sym typeface="+mn-ea"/>
                  </a:rPr>
                  <a:t>到</a:t>
                </a:r>
                <a:r>
                  <a:rPr lang="en-US" altLang="zh-CN" sz="2400" dirty="0">
                    <a:latin typeface="Arial" panose="020B0604020202020204" pitchFamily="34" charset="0"/>
                    <a:sym typeface="+mn-ea"/>
                  </a:rPr>
                  <a:t>v</a:t>
                </a:r>
                <a:r>
                  <a:rPr lang="zh-CN" altLang="en-US" sz="2400" dirty="0">
                    <a:latin typeface="Arial" panose="020B0604020202020204" pitchFamily="34" charset="0"/>
                    <a:sym typeface="+mn-ea"/>
                  </a:rPr>
                  <a:t>。</a:t>
                </a:r>
                <a:endParaRPr lang="en-US" altLang="zh-CN" sz="2400" dirty="0">
                  <a:latin typeface="Arial" panose="020B0604020202020204" pitchFamily="34" charset="0"/>
                  <a:sym typeface="+mn-ea"/>
                </a:endParaRPr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680" y="4911725"/>
                <a:ext cx="3456305" cy="119888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487680" y="2823845"/>
                <a:ext cx="4005580" cy="156845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pPr algn="l"/>
                <a:r>
                  <a:rPr lang="zh-CN" altLang="en-US" sz="2400" dirty="0">
                    <a:latin typeface="Arial" panose="020B0604020202020204" pitchFamily="34" charset="0"/>
                    <a:sym typeface="+mn-ea"/>
                  </a:rPr>
                  <a:t>对</a:t>
                </a:r>
                <a:r>
                  <a:rPr lang="en-US" altLang="zh-CN" sz="2400" dirty="0">
                    <a:latin typeface="Arial" panose="020B0604020202020204" pitchFamily="34" charset="0"/>
                    <a:sym typeface="+mn-ea"/>
                  </a:rPr>
                  <a:t>u</a:t>
                </a:r>
                <a:r>
                  <a:rPr lang="zh-CN" altLang="en-US" sz="2400" dirty="0">
                    <a:latin typeface="Arial" panose="020B0604020202020204" pitchFamily="34" charset="0"/>
                    <a:sym typeface="+mn-ea"/>
                  </a:rPr>
                  <a:t>收到的所有消息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𝑣</m:t>
                        </m:r>
                      </m:e>
                      <m:sub>
                        <m:r>
                          <a:rPr lang="en-US" altLang="zh-CN" sz="2400" i="1" dirty="0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1</m:t>
                        </m:r>
                      </m:sub>
                    </m:sSub>
                    <m:r>
                      <a:rPr lang="en-US" altLang="zh-CN" sz="2400" i="1" dirty="0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,</m:t>
                    </m:r>
                    <m:sSub>
                      <m:sSubPr>
                        <m:ctrlPr>
                          <a:rPr lang="en-US" altLang="zh-CN" sz="2400" i="1" dirty="0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𝑣</m:t>
                        </m:r>
                      </m:e>
                      <m:sub>
                        <m:r>
                          <a:rPr lang="en-US" altLang="zh-CN" sz="2400" i="1" dirty="0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2</m:t>
                        </m:r>
                      </m:sub>
                    </m:sSub>
                    <m:r>
                      <a:rPr lang="en-US" altLang="zh-CN" sz="2400" i="1" dirty="0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,⋯</m:t>
                    </m:r>
                  </m:oMath>
                </a14:m>
                <a:endParaRPr lang="en-US" altLang="zh-CN" sz="2400" i="1" dirty="0"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  <a:p>
                <a:pPr algn="l"/>
                <a:r>
                  <a:rPr lang="zh-CN" altLang="en-US" sz="2400" dirty="0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记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𝑚</m:t>
                    </m:r>
                    <m:r>
                      <a:rPr lang="en-US" altLang="zh-CN" sz="2400" i="1" dirty="0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=</m:t>
                    </m:r>
                    <m:r>
                      <a:rPr lang="en-US" altLang="zh-CN" sz="2400" i="1" dirty="0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𝑚𝑎𝑥</m:t>
                    </m:r>
                    <m:r>
                      <a:rPr lang="en-US" altLang="zh-CN" sz="2400" i="1" dirty="0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(</m:t>
                    </m:r>
                    <m:sSub>
                      <m:sSubPr>
                        <m:ctrlPr>
                          <a:rPr lang="en-US" altLang="zh-CN" sz="2400" i="1" dirty="0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𝑣</m:t>
                        </m:r>
                      </m:e>
                      <m:sub>
                        <m:r>
                          <a:rPr lang="en-US" altLang="zh-CN" sz="2400" i="1" dirty="0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1</m:t>
                        </m:r>
                      </m:sub>
                    </m:sSub>
                    <m:r>
                      <a:rPr lang="en-US" altLang="zh-CN" sz="2400" i="1" dirty="0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,</m:t>
                    </m:r>
                    <m:sSub>
                      <m:sSubPr>
                        <m:ctrlPr>
                          <a:rPr lang="en-US" altLang="zh-CN" sz="2400" i="1" dirty="0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𝑣</m:t>
                        </m:r>
                      </m:e>
                      <m:sub>
                        <m:r>
                          <a:rPr lang="en-US" altLang="zh-CN" sz="2400" i="1" dirty="0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2</m:t>
                        </m:r>
                      </m:sub>
                    </m:sSub>
                    <m:r>
                      <a:rPr lang="en-US" altLang="zh-CN" sz="2400" i="1" dirty="0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,⋯)</m:t>
                    </m:r>
                  </m:oMath>
                </a14:m>
                <a:r>
                  <a:rPr lang="zh-CN" altLang="en-US" sz="2400" dirty="0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，</a:t>
                </a:r>
                <a:endParaRPr lang="zh-CN" altLang="en-US" sz="2400" dirty="0"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  <a:p>
                <a:pPr algn="l"/>
                <a:r>
                  <a:rPr lang="zh-CN" altLang="en-US" sz="2400" dirty="0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若</a:t>
                </a:r>
                <a:r>
                  <a:rPr lang="en-US" altLang="zh-CN" sz="2400" dirty="0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u&lt;m</a:t>
                </a:r>
                <a:r>
                  <a:rPr lang="zh-CN" altLang="en-US" sz="2400" dirty="0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，则</a:t>
                </a:r>
                <a:r>
                  <a:rPr lang="en-US" altLang="zh-CN" sz="2400" dirty="0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u=m</a:t>
                </a:r>
                <a:r>
                  <a:rPr lang="zh-CN" altLang="en-US" sz="2400" dirty="0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并激活</a:t>
                </a:r>
                <a:endParaRPr lang="en-US" altLang="zh-CN" sz="2400" dirty="0"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  <a:p>
                <a:pPr algn="l"/>
                <a:r>
                  <a:rPr lang="zh-CN" altLang="en-US" sz="2400" dirty="0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否则，</a:t>
                </a:r>
                <a:r>
                  <a:rPr lang="en-US" altLang="zh-CN" sz="2400" dirty="0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u</a:t>
                </a:r>
                <a:r>
                  <a:rPr lang="zh-CN" altLang="en-US" sz="2400" dirty="0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置为非活跃</a:t>
                </a:r>
                <a:endParaRPr lang="zh-CN" altLang="en-US" sz="2400" dirty="0"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680" y="2823845"/>
                <a:ext cx="4005580" cy="156845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nb-NO" altLang="zh-CN" b="1" dirty="0"/>
              <a:t>13.4	Pregel</a:t>
            </a:r>
            <a:r>
              <a:rPr lang="zh-CN" altLang="nb-NO" b="1" dirty="0"/>
              <a:t>的</a:t>
            </a:r>
            <a:r>
              <a:rPr lang="nb-NO" altLang="zh-CN" b="1" dirty="0"/>
              <a:t>C++ API</a:t>
            </a:r>
            <a:endParaRPr lang="zh-CN" altLang="en-US" b="1" dirty="0"/>
          </a:p>
        </p:txBody>
      </p:sp>
      <p:graphicFrame>
        <p:nvGraphicFramePr>
          <p:cNvPr id="18450" name="Group 18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671830" y="1506855"/>
          <a:ext cx="10779760" cy="4846320"/>
        </p:xfrm>
        <a:graphic>
          <a:graphicData uri="http://schemas.openxmlformats.org/drawingml/2006/table">
            <a:tbl>
              <a:tblPr/>
              <a:tblGrid>
                <a:gridCol w="10779760"/>
              </a:tblGrid>
              <a:tr h="4846320">
                <a:tc>
                  <a:txBody>
                    <a:bodyPr/>
                    <a:lstStyle/>
                    <a:p>
                      <a:pPr marL="0" marR="0" lvl="0" indent="266700" algn="l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template &lt;typename VertexValue, typename EdgeValue, typename MessageValue&gt;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266700" algn="l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class Vertex {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266700" algn="l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public: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266700" algn="l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	virtual void Compute(MessageIterator* msgs) = 0;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266700" algn="l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	const string&amp; vertex_id() const;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266700" algn="l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	int64 superstep() const;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266700" algn="l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	const VertexValue&amp; GetValue();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266700" algn="l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	VertexValue* MutableValue();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266700" algn="l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	OutEdgeIterator GetOutEdgeIterator();	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266700" algn="l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	void SendMessageTo(const string&amp; dest_vertex,	const MessageValue&amp; message);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266700" algn="l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	void VoteToHalt();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266700" algn="l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};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02" marB="4570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" name="圆角矩形标注 2"/>
          <p:cNvSpPr/>
          <p:nvPr/>
        </p:nvSpPr>
        <p:spPr>
          <a:xfrm>
            <a:off x="2717165" y="1918335"/>
            <a:ext cx="5178425" cy="785495"/>
          </a:xfrm>
          <a:prstGeom prst="wedgeRoundRectCallout">
            <a:avLst>
              <a:gd name="adj1" fmla="val -31446"/>
              <a:gd name="adj2" fmla="val 79991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000"/>
              <a:t>Pregel执行计算过程时，在每个超步中都会并行调用每个顶点上定义的Compute()</a:t>
            </a:r>
            <a:endParaRPr lang="zh-CN" altLang="en-US" sz="2000"/>
          </a:p>
        </p:txBody>
      </p:sp>
      <p:sp>
        <p:nvSpPr>
          <p:cNvPr id="4" name="文本框 3"/>
          <p:cNvSpPr txBox="1"/>
          <p:nvPr/>
        </p:nvSpPr>
        <p:spPr>
          <a:xfrm>
            <a:off x="5152390" y="4004945"/>
            <a:ext cx="253365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 dirty="0">
                <a:solidFill>
                  <a:srgbClr val="00B050"/>
                </a:solidFill>
                <a:sym typeface="+mn-ea"/>
              </a:rPr>
              <a:t>//</a:t>
            </a:r>
            <a:r>
              <a:rPr lang="zh-CN" altLang="en-US" sz="2000" dirty="0">
                <a:solidFill>
                  <a:srgbClr val="00B050"/>
                </a:solidFill>
                <a:sym typeface="+mn-ea"/>
              </a:rPr>
              <a:t>获取当前顶点的值</a:t>
            </a:r>
            <a:endParaRPr lang="zh-CN" altLang="en-US" sz="2000" dirty="0">
              <a:solidFill>
                <a:srgbClr val="00B050"/>
              </a:solidFill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078095" y="4403725"/>
            <a:ext cx="253365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 dirty="0">
                <a:solidFill>
                  <a:srgbClr val="00B050"/>
                </a:solidFill>
                <a:sym typeface="+mn-ea"/>
              </a:rPr>
              <a:t>//</a:t>
            </a:r>
            <a:r>
              <a:rPr lang="zh-CN" altLang="en-US" sz="2000" dirty="0">
                <a:solidFill>
                  <a:srgbClr val="00B050"/>
                </a:solidFill>
                <a:sym typeface="+mn-ea"/>
              </a:rPr>
              <a:t>修改</a:t>
            </a:r>
            <a:r>
              <a:rPr lang="zh-CN" altLang="en-US" sz="2000" dirty="0">
                <a:solidFill>
                  <a:srgbClr val="00B050"/>
                </a:solidFill>
                <a:sym typeface="+mn-ea"/>
              </a:rPr>
              <a:t>当前顶点的值</a:t>
            </a:r>
            <a:endParaRPr lang="zh-CN" altLang="en-US" sz="2000" dirty="0">
              <a:solidFill>
                <a:srgbClr val="00B050"/>
              </a:solidFill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263765" y="2812415"/>
            <a:ext cx="253365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 dirty="0">
                <a:solidFill>
                  <a:srgbClr val="00B050"/>
                </a:solidFill>
                <a:sym typeface="+mn-ea"/>
              </a:rPr>
              <a:t>//</a:t>
            </a:r>
            <a:r>
              <a:rPr lang="zh-CN" altLang="en-US" sz="2000" dirty="0">
                <a:solidFill>
                  <a:srgbClr val="00B050"/>
                </a:solidFill>
                <a:sym typeface="+mn-ea"/>
              </a:rPr>
              <a:t>必须被</a:t>
            </a:r>
            <a:r>
              <a:rPr lang="zh-CN" altLang="en-US" sz="2000" dirty="0">
                <a:solidFill>
                  <a:srgbClr val="00B050"/>
                </a:solidFill>
                <a:sym typeface="+mn-ea"/>
              </a:rPr>
              <a:t>重载</a:t>
            </a:r>
            <a:endParaRPr lang="zh-CN" altLang="en-US" sz="2000" dirty="0">
              <a:solidFill>
                <a:srgbClr val="00B050"/>
              </a:solidFill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848985" y="4794885"/>
            <a:ext cx="586422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 dirty="0">
                <a:solidFill>
                  <a:srgbClr val="00B050"/>
                </a:solidFill>
                <a:sym typeface="+mn-ea"/>
              </a:rPr>
              <a:t>//</a:t>
            </a:r>
            <a:r>
              <a:rPr lang="zh-CN" altLang="en-US" sz="2000" dirty="0">
                <a:solidFill>
                  <a:srgbClr val="00B050"/>
                </a:solidFill>
                <a:sym typeface="+mn-ea"/>
              </a:rPr>
              <a:t>出射边迭代器，可查看、修改出射边对应的</a:t>
            </a:r>
            <a:r>
              <a:rPr lang="zh-CN" altLang="en-US" sz="2000" dirty="0">
                <a:solidFill>
                  <a:srgbClr val="00B050"/>
                </a:solidFill>
                <a:sym typeface="+mn-ea"/>
              </a:rPr>
              <a:t>值</a:t>
            </a:r>
            <a:endParaRPr lang="zh-CN" altLang="en-US" sz="2000" dirty="0">
              <a:solidFill>
                <a:srgbClr val="00B050"/>
              </a:solidFill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890010" y="5551805"/>
            <a:ext cx="434276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 dirty="0">
                <a:solidFill>
                  <a:srgbClr val="00B050"/>
                </a:solidFill>
                <a:sym typeface="+mn-ea"/>
              </a:rPr>
              <a:t>//</a:t>
            </a:r>
            <a:r>
              <a:rPr lang="zh-CN" altLang="en-US" sz="2000" dirty="0">
                <a:solidFill>
                  <a:srgbClr val="00B050"/>
                </a:solidFill>
                <a:sym typeface="+mn-ea"/>
              </a:rPr>
              <a:t>对状态的修改，只对当前顶点</a:t>
            </a:r>
            <a:r>
              <a:rPr lang="zh-CN" altLang="en-US" sz="2000" dirty="0">
                <a:solidFill>
                  <a:srgbClr val="00B050"/>
                </a:solidFill>
                <a:sym typeface="+mn-ea"/>
              </a:rPr>
              <a:t>可见</a:t>
            </a:r>
            <a:endParaRPr lang="zh-CN" altLang="en-US" sz="2000" dirty="0">
              <a:solidFill>
                <a:srgbClr val="00B050"/>
              </a:solidFill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6" grpId="0"/>
      <p:bldP spid="6" grpId="1"/>
      <p:bldP spid="4" grpId="0"/>
      <p:bldP spid="5" grpId="0"/>
      <p:bldP spid="4" grpId="1"/>
      <p:bldP spid="5" grpId="1"/>
      <p:bldP spid="7" grpId="0"/>
      <p:bldP spid="7" grpId="1"/>
      <p:bldP spid="8" grpId="0"/>
      <p:bldP spid="8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nb-NO" altLang="zh-CN" b="1" dirty="0"/>
              <a:t>13.4	Pregel</a:t>
            </a:r>
            <a:r>
              <a:rPr lang="zh-CN" altLang="nb-NO" b="1" dirty="0"/>
              <a:t>的</a:t>
            </a:r>
            <a:r>
              <a:rPr lang="nb-NO" altLang="zh-CN" b="1" dirty="0"/>
              <a:t>C++ API</a:t>
            </a:r>
            <a:endParaRPr lang="zh-CN" altLang="en-US" b="1" dirty="0"/>
          </a:p>
        </p:txBody>
      </p:sp>
      <p:sp>
        <p:nvSpPr>
          <p:cNvPr id="21507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>
            <a:noAutofit/>
          </a:bodyPr>
          <a:p>
            <a:pPr marL="0" indent="0">
              <a:lnSpc>
                <a:spcPct val="150000"/>
              </a:lnSpc>
              <a:buNone/>
            </a:pPr>
            <a:r>
              <a:rPr lang="en-US" altLang="zh-CN" b="1" dirty="0"/>
              <a:t>13.4.1	 </a:t>
            </a:r>
            <a:r>
              <a:rPr lang="zh-CN" altLang="en-US" b="1" dirty="0"/>
              <a:t>消息传递机制</a:t>
            </a:r>
            <a:endParaRPr lang="zh-CN" altLang="en-US" b="1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b="1" dirty="0"/>
              <a:t>13.4.2	 Combiner</a:t>
            </a:r>
            <a:endParaRPr lang="en-US" altLang="zh-CN" b="1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b="1" dirty="0"/>
              <a:t>13.4.3	 Aggregator</a:t>
            </a:r>
            <a:endParaRPr lang="en-US" altLang="zh-CN" b="1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b="1" dirty="0"/>
              <a:t>13.4.4	 </a:t>
            </a:r>
            <a:r>
              <a:rPr lang="zh-CN" altLang="en-US" b="1" dirty="0"/>
              <a:t>拓扑改变</a:t>
            </a:r>
            <a:endParaRPr lang="zh-CN" altLang="en-US" b="1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b="1" dirty="0"/>
              <a:t>13.4.5 	 </a:t>
            </a:r>
            <a:r>
              <a:rPr lang="zh-CN" altLang="en-US" b="1" dirty="0"/>
              <a:t>输入和输出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en-US" altLang="zh-CN" b="1" dirty="0"/>
              <a:t>13.4.1	</a:t>
            </a:r>
            <a:r>
              <a:rPr lang="zh-CN" altLang="en-US" b="1" dirty="0"/>
              <a:t>消息传递机制</a:t>
            </a:r>
            <a:endParaRPr lang="zh-CN" altLang="en-US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531" name="Rectangle 3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1005"/>
                <a:ext cx="10515600" cy="4351338"/>
              </a:xfrm>
            </p:spPr>
            <p:txBody>
              <a:bodyPr vert="horz" wrap="square" lIns="91440" tIns="45720" rIns="91440" bIns="45720" anchor="t" anchorCtr="0">
                <a:noAutofit/>
              </a:bodyPr>
              <a:p>
                <a:pPr marL="0" indent="0">
                  <a:lnSpc>
                    <a:spcPct val="80000"/>
                  </a:lnSpc>
                  <a:buNone/>
                </a:pPr>
                <a:r>
                  <a:rPr lang="en-US" altLang="zh-CN" sz="2400" smtClean="0">
                    <a:ln>
                      <a:noFill/>
                    </a:ln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  <a:sym typeface="+mn-ea"/>
                  </a:rPr>
                  <a:t>void SendMessageTo(const string&amp; dest_vertex,	const MessageValue&amp; message);</a:t>
                </a:r>
                <a:endParaRPr lang="en-US" altLang="zh-CN" sz="2400" smtClean="0">
                  <a:ln>
                    <a:noFill/>
                  </a:ln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+mn-ea"/>
                </a:endParaRPr>
              </a:p>
              <a:p>
                <a:pPr>
                  <a:lnSpc>
                    <a:spcPct val="80000"/>
                  </a:lnSpc>
                </a:pPr>
                <a:r>
                  <a:rPr lang="zh-CN" altLang="en-US" sz="2400" dirty="0">
                    <a:sym typeface="+mn-ea"/>
                  </a:rPr>
                  <a:t>顶点之间的通讯是借助于消息传递机制来实现的</a:t>
                </a:r>
                <a:endParaRPr lang="zh-CN" altLang="en-US" sz="2400" dirty="0"/>
              </a:p>
              <a:p>
                <a:pPr marL="0" indent="0">
                  <a:lnSpc>
                    <a:spcPct val="80000"/>
                  </a:lnSpc>
                  <a:buNone/>
                </a:pPr>
                <a:endParaRPr lang="zh-CN" altLang="en-US" sz="2400" dirty="0"/>
              </a:p>
              <a:p>
                <a:pPr>
                  <a:lnSpc>
                    <a:spcPct val="80000"/>
                  </a:lnSpc>
                </a:pPr>
                <a:r>
                  <a:rPr lang="zh-CN" altLang="en-US" sz="2400" dirty="0"/>
                  <a:t>顶点可以发送任意数量的消息，这些消息将在下一个超步中被其他顶点接收</a:t>
                </a:r>
                <a:endParaRPr lang="zh-CN" altLang="en-US" sz="2400" dirty="0"/>
              </a:p>
              <a:p>
                <a:pPr>
                  <a:lnSpc>
                    <a:spcPct val="80000"/>
                  </a:lnSpc>
                </a:pPr>
                <a:endParaRPr lang="en-US" altLang="zh-CN" sz="2400" dirty="0"/>
              </a:p>
              <a:p>
                <a:pPr>
                  <a:lnSpc>
                    <a:spcPct val="80000"/>
                  </a:lnSpc>
                </a:pPr>
                <a:r>
                  <a:rPr lang="zh-CN" altLang="en-US" sz="2400" dirty="0"/>
                  <a:t>在前一个超步中发送给顶点</a:t>
                </a:r>
                <a:r>
                  <a:rPr lang="en-US" altLang="zh-CN" sz="2400" dirty="0"/>
                  <a:t>V</a:t>
                </a:r>
                <a:r>
                  <a:rPr lang="zh-CN" altLang="en-US" sz="2400" dirty="0"/>
                  <a:t>的消息，可通过一迭代器来访问</a:t>
                </a:r>
                <a:endParaRPr lang="zh-CN" altLang="en-US" sz="2400" dirty="0"/>
              </a:p>
              <a:p>
                <a:pPr marL="0" indent="0">
                  <a:lnSpc>
                    <a:spcPct val="80000"/>
                  </a:lnSpc>
                  <a:buNone/>
                </a:pPr>
                <a:r>
                  <a:rPr lang="zh-CN" altLang="en-US" sz="2400" dirty="0"/>
                  <a:t>但迭代器不能保证消息的顺序，但可保证精确</a:t>
                </a:r>
                <a:r>
                  <a:rPr lang="zh-CN" altLang="en-US" sz="2400" dirty="0"/>
                  <a:t>一次</a:t>
                </a:r>
                <a:endParaRPr lang="zh-CN" altLang="en-US" sz="2400" dirty="0"/>
              </a:p>
              <a:p>
                <a:pPr>
                  <a:lnSpc>
                    <a:spcPct val="80000"/>
                  </a:lnSpc>
                </a:pPr>
                <a:endParaRPr lang="zh-CN" altLang="en-US" sz="2400" dirty="0"/>
              </a:p>
              <a:p>
                <a:pPr>
                  <a:lnSpc>
                    <a:spcPct val="80000"/>
                  </a:lnSpc>
                </a:pPr>
                <a:r>
                  <a:rPr lang="zh-CN" altLang="en-US" sz="2400" dirty="0"/>
                  <a:t>若顶点</a:t>
                </a:r>
                <a:r>
                  <a:rPr lang="en-US" altLang="zh-CN" sz="2400" dirty="0"/>
                  <a:t>V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latin typeface="Cambria Math" panose="02040503050406030204" charset="0"/>
                        <a:cs typeface="Cambria Math" panose="02040503050406030204" charset="0"/>
                      </a:rPr>
                      <m:t>→⋯→</m:t>
                    </m:r>
                  </m:oMath>
                </a14:m>
                <a:r>
                  <a:rPr lang="zh-CN" altLang="en-US" sz="2400" dirty="0"/>
                  <a:t>顶点</a:t>
                </a:r>
                <a:r>
                  <a:rPr lang="en-US" altLang="zh-CN" sz="2400" dirty="0"/>
                  <a:t>U</a:t>
                </a:r>
                <a:r>
                  <a:rPr lang="zh-CN" altLang="en-US" sz="2400" dirty="0"/>
                  <a:t>，则</a:t>
                </a:r>
                <a:r>
                  <a:rPr lang="en-US" altLang="zh-CN" sz="2400" dirty="0"/>
                  <a:t>V</a:t>
                </a:r>
                <a:r>
                  <a:rPr lang="zh-CN" altLang="en-US" sz="2400" dirty="0"/>
                  <a:t>可向</a:t>
                </a:r>
                <a:r>
                  <a:rPr lang="en-US" altLang="zh-CN" sz="2400" dirty="0"/>
                  <a:t>U</a:t>
                </a:r>
                <a:r>
                  <a:rPr lang="zh-CN" altLang="en-US" sz="2400" dirty="0"/>
                  <a:t>发送消息</a:t>
                </a:r>
                <a:endParaRPr lang="zh-CN" altLang="en-US" sz="2400" dirty="0"/>
              </a:p>
              <a:p>
                <a:pPr marL="0" indent="0">
                  <a:lnSpc>
                    <a:spcPct val="80000"/>
                  </a:lnSpc>
                  <a:buNone/>
                </a:pPr>
                <a:r>
                  <a:rPr lang="en-US" altLang="zh-CN" sz="2400" dirty="0"/>
                  <a:t>U</a:t>
                </a:r>
                <a:r>
                  <a:rPr lang="zh-CN" altLang="en-US" sz="2400" dirty="0"/>
                  <a:t>也可从接收的消息中获取到与其不相邻的顶点</a:t>
                </a:r>
                <a:r>
                  <a:rPr lang="en-US" altLang="zh-CN" sz="2400" dirty="0"/>
                  <a:t>V</a:t>
                </a:r>
                <a:r>
                  <a:rPr lang="zh-CN" altLang="en-US" sz="2400" dirty="0"/>
                  <a:t>的</a:t>
                </a:r>
                <a:r>
                  <a:rPr lang="en-US" altLang="zh-CN" sz="2400" dirty="0"/>
                  <a:t>ID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2531" name="Rectangle 3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1005"/>
                <a:ext cx="10515600" cy="4351338"/>
              </a:xfrm>
              <a:blipFill rotWithShape="1">
                <a:blip r:embed="rId1"/>
                <a:stretch>
                  <a:fillRect t="-58"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en-US" altLang="zh-CN" b="1" dirty="0"/>
              <a:t>13.4.2	Combiner</a:t>
            </a:r>
            <a:endParaRPr lang="zh-CN" altLang="en-US" b="1" dirty="0"/>
          </a:p>
        </p:txBody>
      </p:sp>
      <p:sp>
        <p:nvSpPr>
          <p:cNvPr id="23555" name="Rectangle 3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856615"/>
          </a:xfrm>
        </p:spPr>
        <p:txBody>
          <a:bodyPr vert="horz" wrap="square" lIns="91440" tIns="45720" rIns="91440" bIns="45720" anchor="t" anchorCtr="0"/>
          <a:p>
            <a:pPr>
              <a:lnSpc>
                <a:spcPct val="80000"/>
              </a:lnSpc>
            </a:pPr>
            <a:r>
              <a:rPr lang="zh-CN" altLang="en-US" sz="2400" dirty="0"/>
              <a:t>大图分布式存储，消息发送者和接收者可能不在同一机器上</a:t>
            </a:r>
            <a:endParaRPr lang="zh-CN" altLang="en-US" sz="2400" dirty="0"/>
          </a:p>
          <a:p>
            <a:pPr>
              <a:lnSpc>
                <a:spcPct val="80000"/>
              </a:lnSpc>
            </a:pPr>
            <a:r>
              <a:rPr lang="zh-CN" altLang="en-US" sz="2400" dirty="0"/>
              <a:t>有可能能用</a:t>
            </a:r>
            <a:r>
              <a:rPr lang="en-US" altLang="zh-CN" sz="2400" dirty="0"/>
              <a:t>Combiner</a:t>
            </a:r>
            <a:r>
              <a:rPr lang="zh-CN" altLang="en-US" sz="2400" dirty="0"/>
              <a:t>功能，合并消息，减少传输和缓存的开销</a:t>
            </a:r>
            <a:endParaRPr lang="zh-CN" altLang="en-US" sz="2400" dirty="0"/>
          </a:p>
          <a:p>
            <a:pPr>
              <a:lnSpc>
                <a:spcPct val="80000"/>
              </a:lnSpc>
            </a:pPr>
            <a:endParaRPr lang="en-US" altLang="zh-CN" sz="2400" dirty="0"/>
          </a:p>
        </p:txBody>
      </p:sp>
      <p:pic>
        <p:nvPicPr>
          <p:cNvPr id="23556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5165" y="2602865"/>
            <a:ext cx="7414895" cy="30429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952500" y="5887720"/>
            <a:ext cx="10168890" cy="808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28600" indent="-228600" algn="l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ym typeface="+mn-ea"/>
              </a:rPr>
              <a:t>默认不开启该功能，很难有对所有顶点的</a:t>
            </a:r>
            <a:r>
              <a:rPr lang="en-US" altLang="zh-CN" sz="2400" dirty="0">
                <a:sym typeface="+mn-ea"/>
              </a:rPr>
              <a:t>Compute()</a:t>
            </a:r>
            <a:r>
              <a:rPr lang="zh-CN" altLang="en-US" sz="2400" dirty="0">
                <a:sym typeface="+mn-ea"/>
              </a:rPr>
              <a:t>都合适的</a:t>
            </a:r>
            <a:r>
              <a:rPr lang="en-US" altLang="zh-CN" sz="2400" dirty="0">
                <a:sym typeface="+mn-ea"/>
              </a:rPr>
              <a:t>Combiner</a:t>
            </a:r>
            <a:endParaRPr lang="zh-CN" altLang="en-US" sz="2400" dirty="0"/>
          </a:p>
          <a:p>
            <a:pPr marL="228600" indent="-228600" algn="l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ym typeface="+mn-ea"/>
              </a:rPr>
              <a:t>打算开启该功能时，可继承</a:t>
            </a:r>
            <a:r>
              <a:rPr lang="en-US" altLang="zh-CN" sz="2400" dirty="0">
                <a:sym typeface="+mn-ea"/>
              </a:rPr>
              <a:t>Combiner</a:t>
            </a:r>
            <a:r>
              <a:rPr lang="zh-CN" altLang="en-US" sz="2400" dirty="0">
                <a:sym typeface="+mn-ea"/>
              </a:rPr>
              <a:t>类并覆写虚函数</a:t>
            </a:r>
            <a:r>
              <a:rPr lang="en-US" altLang="zh-CN" sz="2400" dirty="0">
                <a:sym typeface="+mn-ea"/>
              </a:rPr>
              <a:t>Combine()</a:t>
            </a:r>
            <a:endParaRPr lang="en-US" altLang="zh-CN" sz="2400" dirty="0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en-US" altLang="zh-CN" b="1" dirty="0"/>
              <a:t>13.4.3	Aggregator</a:t>
            </a:r>
            <a:endParaRPr lang="zh-CN" altLang="en-US" b="1" dirty="0"/>
          </a:p>
        </p:txBody>
      </p:sp>
      <p:sp>
        <p:nvSpPr>
          <p:cNvPr id="24579" name="Rectangle 3"/>
          <p:cNvSpPr>
            <a:spLocks noGrp="1"/>
          </p:cNvSpPr>
          <p:nvPr>
            <p:ph idx="1"/>
          </p:nvPr>
        </p:nvSpPr>
        <p:spPr>
          <a:xfrm>
            <a:off x="838200" y="1691005"/>
            <a:ext cx="10515600" cy="4684395"/>
          </a:xfrm>
        </p:spPr>
        <p:txBody>
          <a:bodyPr vert="horz" wrap="square" lIns="91440" tIns="45720" rIns="91440" bIns="45720" anchor="t" anchorCtr="0">
            <a:noAutofit/>
          </a:bodyPr>
          <a:p>
            <a:pPr marL="0" indent="0">
              <a:lnSpc>
                <a:spcPct val="90000"/>
              </a:lnSpc>
              <a:buNone/>
            </a:pPr>
            <a:r>
              <a:rPr lang="en-US" altLang="zh-CN" sz="2400" dirty="0"/>
              <a:t>Aggregator</a:t>
            </a:r>
            <a:r>
              <a:rPr lang="zh-CN" altLang="en-US" sz="2400" dirty="0"/>
              <a:t>提供了一种</a:t>
            </a:r>
            <a:r>
              <a:rPr lang="zh-CN" altLang="en-US" sz="2400" dirty="0">
                <a:highlight>
                  <a:srgbClr val="FFFF00"/>
                </a:highlight>
              </a:rPr>
              <a:t>全局</a:t>
            </a:r>
            <a:r>
              <a:rPr lang="zh-CN" altLang="en-US" sz="2400" dirty="0"/>
              <a:t>通信、监控和数据查看的机制</a:t>
            </a:r>
            <a:endParaRPr lang="zh-CN" altLang="en-US" sz="2400" dirty="0"/>
          </a:p>
          <a:p>
            <a:pPr>
              <a:lnSpc>
                <a:spcPct val="90000"/>
              </a:lnSpc>
            </a:pPr>
            <a:r>
              <a:rPr lang="zh-CN" altLang="en-US" sz="2400" dirty="0"/>
              <a:t>在一个超步</a:t>
            </a:r>
            <a:r>
              <a:rPr lang="en-US" altLang="zh-CN" sz="2400" dirty="0"/>
              <a:t>S</a:t>
            </a:r>
            <a:r>
              <a:rPr lang="zh-CN" altLang="en-US" sz="2400" dirty="0"/>
              <a:t>中，每一个顶点都可以向一个</a:t>
            </a:r>
            <a:r>
              <a:rPr lang="en-US" altLang="zh-CN" sz="2400" dirty="0"/>
              <a:t>Aggregator</a:t>
            </a:r>
            <a:r>
              <a:rPr lang="zh-CN" altLang="en-US" sz="2400" dirty="0"/>
              <a:t>提供一个数据，</a:t>
            </a:r>
            <a:r>
              <a:rPr lang="en-US" altLang="zh-CN" sz="2400" dirty="0"/>
              <a:t>Pregel</a:t>
            </a:r>
            <a:r>
              <a:rPr lang="zh-CN" altLang="en-US" sz="2400" dirty="0"/>
              <a:t>计算框架会对这些值进行聚合操作产生一个值，在下一个超步（</a:t>
            </a:r>
            <a:r>
              <a:rPr lang="en-US" altLang="zh-CN" sz="2400" dirty="0"/>
              <a:t>S+1</a:t>
            </a:r>
            <a:r>
              <a:rPr lang="zh-CN" altLang="en-US" sz="2400" dirty="0"/>
              <a:t>）中，图中的所有顶点都可以看见这个值</a:t>
            </a:r>
            <a:endParaRPr lang="zh-CN" altLang="en-US" sz="2400" dirty="0"/>
          </a:p>
          <a:p>
            <a:pPr>
              <a:lnSpc>
                <a:spcPct val="90000"/>
              </a:lnSpc>
            </a:pPr>
            <a:endParaRPr lang="zh-CN" altLang="en-US" sz="2400" dirty="0"/>
          </a:p>
          <a:p>
            <a:pPr>
              <a:lnSpc>
                <a:spcPct val="90000"/>
              </a:lnSpc>
            </a:pPr>
            <a:r>
              <a:rPr lang="en-US" altLang="zh-CN" sz="2400" dirty="0"/>
              <a:t>Aggregator</a:t>
            </a:r>
            <a:r>
              <a:rPr lang="zh-CN" altLang="en-US" sz="2400" dirty="0"/>
              <a:t>的聚合功能，允许在整型和字符串类型上执行最大值、</a:t>
            </a:r>
            <a:r>
              <a:rPr lang="en-US" altLang="zh-CN" sz="2400" dirty="0"/>
              <a:t> </a:t>
            </a:r>
            <a:r>
              <a:rPr lang="zh-CN" altLang="en-US" sz="2400" dirty="0"/>
              <a:t>最小值、求和操作，</a:t>
            </a:r>
            <a:r>
              <a:rPr lang="en-US" altLang="zh-CN" sz="2400" dirty="0"/>
              <a:t>Aggregator</a:t>
            </a:r>
            <a:r>
              <a:rPr lang="zh-CN" altLang="en-US" sz="2400" dirty="0"/>
              <a:t>操作必须满足交换律和结合律，比如“</a:t>
            </a:r>
            <a:r>
              <a:rPr lang="en-US" altLang="zh-CN" sz="2400" dirty="0"/>
              <a:t>Sum”</a:t>
            </a:r>
            <a:endParaRPr lang="en-US" altLang="zh-CN" sz="2400" dirty="0"/>
          </a:p>
          <a:p>
            <a:pPr>
              <a:lnSpc>
                <a:spcPct val="90000"/>
              </a:lnSpc>
            </a:pPr>
            <a:endParaRPr lang="en-US" altLang="zh-CN" sz="2400" dirty="0"/>
          </a:p>
          <a:p>
            <a:pPr>
              <a:lnSpc>
                <a:spcPct val="90000"/>
              </a:lnSpc>
            </a:pPr>
            <a:r>
              <a:rPr lang="en-US" altLang="zh-CN" sz="2400" dirty="0"/>
              <a:t>Aggregator</a:t>
            </a:r>
            <a:r>
              <a:rPr lang="zh-CN" altLang="en-US" sz="2400" dirty="0"/>
              <a:t>还可以实现全局协同的功能，比如可设计“</a:t>
            </a:r>
            <a:r>
              <a:rPr lang="en-US" altLang="zh-CN" sz="2400" dirty="0"/>
              <a:t>and” Aggregator</a:t>
            </a:r>
            <a:endParaRPr lang="en-US" altLang="zh-CN" sz="2400" dirty="0"/>
          </a:p>
          <a:p>
            <a:pPr>
              <a:lnSpc>
                <a:spcPct val="90000"/>
              </a:lnSpc>
            </a:pPr>
            <a:endParaRPr lang="zh-CN" altLang="en-US" sz="2400" dirty="0"/>
          </a:p>
          <a:p>
            <a:pPr>
              <a:lnSpc>
                <a:spcPct val="90000"/>
              </a:lnSpc>
            </a:pPr>
            <a:r>
              <a:rPr lang="en-US" altLang="zh-CN" sz="2400" dirty="0"/>
              <a:t>Pregel</a:t>
            </a:r>
            <a:r>
              <a:rPr lang="zh-CN" altLang="en-US" sz="2400" dirty="0"/>
              <a:t>计算框架预定义了</a:t>
            </a:r>
            <a:r>
              <a:rPr lang="en-US" altLang="zh-CN" sz="2400" dirty="0"/>
              <a:t>Aggregator</a:t>
            </a:r>
            <a:r>
              <a:rPr lang="zh-CN" altLang="en-US" sz="2400" dirty="0"/>
              <a:t>类，默认只对同一个超步的输入聚合</a:t>
            </a:r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en-US" altLang="zh-CN" b="1" dirty="0"/>
              <a:t>13.4.4	</a:t>
            </a:r>
            <a:r>
              <a:rPr lang="zh-CN" altLang="en-US" b="1" dirty="0"/>
              <a:t>拓扑改变</a:t>
            </a:r>
            <a:endParaRPr lang="zh-CN" altLang="en-US" b="1" dirty="0"/>
          </a:p>
        </p:txBody>
      </p:sp>
      <p:sp>
        <p:nvSpPr>
          <p:cNvPr id="25603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>
            <a:normAutofit fontScale="90000"/>
          </a:bodyPr>
          <a:p>
            <a:pPr marL="0" indent="0">
              <a:lnSpc>
                <a:spcPct val="150000"/>
              </a:lnSpc>
              <a:buNone/>
            </a:pPr>
            <a:r>
              <a:rPr lang="en-US" altLang="zh-CN" sz="2400" dirty="0"/>
              <a:t>Pregel</a:t>
            </a:r>
            <a:r>
              <a:rPr lang="zh-CN" altLang="en-US" sz="2400" dirty="0"/>
              <a:t>计算框架允许用户在自定义函数</a:t>
            </a:r>
            <a:r>
              <a:rPr lang="en-US" altLang="zh-CN" sz="2400" dirty="0"/>
              <a:t>Compute()</a:t>
            </a:r>
            <a:r>
              <a:rPr lang="zh-CN" altLang="en-US" sz="2400" dirty="0"/>
              <a:t>中定义操作，修改图的拓扑结构，</a:t>
            </a:r>
            <a:endParaRPr lang="zh-CN" altLang="en-US" sz="2400" dirty="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400" dirty="0"/>
              <a:t>比如在图中增加（或删除）边或顶点</a:t>
            </a:r>
            <a:endParaRPr lang="zh-CN" altLang="en-US" sz="2400" dirty="0"/>
          </a:p>
          <a:p>
            <a:pPr>
              <a:lnSpc>
                <a:spcPct val="150000"/>
              </a:lnSpc>
            </a:pPr>
            <a:endParaRPr lang="zh-CN" altLang="en-US" sz="2400" dirty="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400" dirty="0"/>
              <a:t>两种机制解决冲突</a:t>
            </a:r>
            <a:endParaRPr lang="zh-CN" altLang="en-US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局部有序：</a:t>
            </a:r>
            <a:r>
              <a:rPr lang="en-US" altLang="zh-CN" sz="2400" dirty="0"/>
              <a:t>1.</a:t>
            </a:r>
            <a:r>
              <a:rPr lang="zh-CN" altLang="en-US" sz="2400" dirty="0"/>
              <a:t>删边，</a:t>
            </a:r>
            <a:r>
              <a:rPr lang="en-US" altLang="zh-CN" sz="2400" dirty="0"/>
              <a:t>2.</a:t>
            </a:r>
            <a:r>
              <a:rPr lang="zh-CN" altLang="en-US" sz="2400" dirty="0"/>
              <a:t>删点，</a:t>
            </a:r>
            <a:r>
              <a:rPr lang="en-US" altLang="zh-CN" sz="2400" dirty="0"/>
              <a:t>3.</a:t>
            </a:r>
            <a:r>
              <a:rPr lang="zh-CN" altLang="en-US" sz="2400" dirty="0"/>
              <a:t>增点，</a:t>
            </a:r>
            <a:r>
              <a:rPr lang="en-US" altLang="zh-CN" sz="2400" dirty="0"/>
              <a:t>4.</a:t>
            </a:r>
            <a:r>
              <a:rPr lang="zh-CN" altLang="en-US" sz="2400" dirty="0"/>
              <a:t>增边</a:t>
            </a:r>
            <a:endParaRPr lang="zh-CN" altLang="en-US" sz="2400" dirty="0"/>
          </a:p>
          <a:p>
            <a:pPr>
              <a:lnSpc>
                <a:spcPct val="150000"/>
              </a:lnSpc>
            </a:pPr>
            <a:r>
              <a:rPr lang="en-US" altLang="zh-CN" sz="2400" dirty="0"/>
              <a:t>Handler</a:t>
            </a:r>
            <a:r>
              <a:rPr lang="zh-CN" altLang="en-US" sz="2400" dirty="0"/>
              <a:t>：用户自定义冲突处理方式，解决局部有序不能解决的冲突；未定义则随机处理</a:t>
            </a:r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en-US" altLang="zh-CN" b="1" dirty="0"/>
              <a:t>13.4.4	</a:t>
            </a:r>
            <a:r>
              <a:rPr lang="zh-CN" altLang="en-US" b="1" dirty="0"/>
              <a:t>拓扑改变</a:t>
            </a:r>
            <a:endParaRPr lang="zh-CN" altLang="en-US" b="1" dirty="0"/>
          </a:p>
        </p:txBody>
      </p:sp>
      <p:sp>
        <p:nvSpPr>
          <p:cNvPr id="25603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>
            <a:normAutofit/>
          </a:bodyPr>
          <a:p>
            <a:pPr>
              <a:lnSpc>
                <a:spcPct val="150000"/>
              </a:lnSpc>
            </a:pPr>
            <a:r>
              <a:rPr lang="zh-CN" altLang="en-US" sz="2400" dirty="0"/>
              <a:t>对于全局拓扑改变，</a:t>
            </a:r>
            <a:r>
              <a:rPr lang="en-US" altLang="zh-CN" sz="2400" dirty="0"/>
              <a:t>Pregel</a:t>
            </a:r>
            <a:r>
              <a:rPr lang="zh-CN" altLang="en-US" sz="2400" dirty="0"/>
              <a:t>采用了惰性协调机制：</a:t>
            </a:r>
            <a:endParaRPr lang="zh-CN" altLang="en-US" sz="2400" dirty="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400" dirty="0"/>
              <a:t>在改变请求发出时，</a:t>
            </a:r>
            <a:r>
              <a:rPr lang="en-US" altLang="zh-CN" sz="2400" dirty="0"/>
              <a:t>Pregel</a:t>
            </a:r>
            <a:r>
              <a:rPr lang="zh-CN" altLang="en-US" sz="2400" dirty="0"/>
              <a:t>不会对这些操作进行协调，只有当这些改变请求的消息到达目标顶点并被执行时，</a:t>
            </a:r>
            <a:r>
              <a:rPr lang="en-US" altLang="zh-CN" sz="2400" dirty="0"/>
              <a:t>Pregel</a:t>
            </a:r>
            <a:r>
              <a:rPr lang="zh-CN" altLang="en-US" sz="2400" dirty="0"/>
              <a:t>才会对这些操作进行协调，这样，所有针对某个顶点</a:t>
            </a:r>
            <a:r>
              <a:rPr lang="en-US" altLang="zh-CN" sz="2400" dirty="0"/>
              <a:t>V</a:t>
            </a:r>
            <a:r>
              <a:rPr lang="zh-CN" altLang="en-US" sz="2400" dirty="0"/>
              <a:t>的拓扑修改操作所引发的冲突，都会由</a:t>
            </a:r>
            <a:r>
              <a:rPr lang="en-US" altLang="zh-CN" sz="2400" dirty="0"/>
              <a:t>V</a:t>
            </a:r>
            <a:r>
              <a:rPr lang="zh-CN" altLang="en-US" sz="2400" dirty="0"/>
              <a:t>自己来处理</a:t>
            </a:r>
            <a:endParaRPr lang="zh-CN" altLang="en-US" sz="2400" dirty="0"/>
          </a:p>
          <a:p>
            <a:pPr>
              <a:lnSpc>
                <a:spcPct val="150000"/>
              </a:lnSpc>
            </a:pPr>
            <a:endParaRPr lang="zh-CN" altLang="en-US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对于本地的局部拓扑改变，是不会引发冲突的，顶点或边的本地增减能够立即生效，很大程度上简化了分布式编程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en-US" altLang="zh-CN" b="1" dirty="0"/>
              <a:t>13.4.5	</a:t>
            </a:r>
            <a:r>
              <a:rPr lang="zh-CN" altLang="en-US" b="1" dirty="0"/>
              <a:t>输入和输出</a:t>
            </a:r>
            <a:endParaRPr lang="zh-CN" altLang="en-US" b="1" dirty="0"/>
          </a:p>
        </p:txBody>
      </p:sp>
      <p:sp>
        <p:nvSpPr>
          <p:cNvPr id="26627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>
              <a:lnSpc>
                <a:spcPct val="200000"/>
              </a:lnSpc>
            </a:pPr>
            <a:r>
              <a:rPr lang="zh-CN" altLang="en-US" sz="2400" dirty="0"/>
              <a:t>在</a:t>
            </a:r>
            <a:r>
              <a:rPr lang="en-US" altLang="zh-CN" sz="2400" dirty="0"/>
              <a:t>Pregel</a:t>
            </a:r>
            <a:r>
              <a:rPr lang="zh-CN" altLang="en-US" sz="2400" dirty="0"/>
              <a:t>计算框架中，图的保存格式多种多样，包括文本文件、关系数据库或键值数据库等</a:t>
            </a:r>
            <a:endParaRPr lang="zh-CN" altLang="en-US" sz="2400" dirty="0"/>
          </a:p>
          <a:p>
            <a:pPr>
              <a:lnSpc>
                <a:spcPct val="200000"/>
              </a:lnSpc>
            </a:pPr>
            <a:r>
              <a:rPr lang="zh-CN" altLang="en-US" sz="2400" dirty="0"/>
              <a:t>在</a:t>
            </a:r>
            <a:r>
              <a:rPr lang="en-US" altLang="zh-CN" sz="2400" dirty="0"/>
              <a:t>Pregel</a:t>
            </a:r>
            <a:r>
              <a:rPr lang="zh-CN" altLang="en-US" sz="2400" dirty="0"/>
              <a:t>中，“从输入文件生成得到图结构”和“执行图计算”这两个过程是分离的，从而不会限制输入文件的格式</a:t>
            </a:r>
            <a:endParaRPr lang="zh-CN" altLang="en-US" sz="2400" dirty="0"/>
          </a:p>
          <a:p>
            <a:pPr>
              <a:lnSpc>
                <a:spcPct val="200000"/>
              </a:lnSpc>
            </a:pPr>
            <a:r>
              <a:rPr lang="zh-CN" altLang="en-US" sz="2400" dirty="0"/>
              <a:t>对于输出，</a:t>
            </a:r>
            <a:r>
              <a:rPr lang="en-US" altLang="zh-CN" sz="2400" dirty="0"/>
              <a:t>Pregel</a:t>
            </a:r>
            <a:r>
              <a:rPr lang="zh-CN" altLang="en-US" sz="2400" dirty="0"/>
              <a:t>也采用了灵活的方式，可以以多种方式进行输出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en-US" altLang="zh-CN" b="1" dirty="0"/>
              <a:t>13.5	Pregel</a:t>
            </a:r>
            <a:r>
              <a:rPr lang="zh-CN" altLang="en-US" b="1" dirty="0"/>
              <a:t>的体系结构</a:t>
            </a:r>
            <a:endParaRPr lang="zh-CN" altLang="en-US" b="1" dirty="0"/>
          </a:p>
        </p:txBody>
      </p:sp>
      <p:sp>
        <p:nvSpPr>
          <p:cNvPr id="27651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marL="0" indent="0">
              <a:lnSpc>
                <a:spcPct val="150000"/>
              </a:lnSpc>
              <a:buNone/>
            </a:pPr>
            <a:r>
              <a:rPr lang="en-US" altLang="zh-CN" b="1" dirty="0"/>
              <a:t>13.5.1 Pregel</a:t>
            </a:r>
            <a:r>
              <a:rPr lang="zh-CN" altLang="en-US" b="1" dirty="0"/>
              <a:t>的执行过程</a:t>
            </a:r>
            <a:endParaRPr lang="zh-CN" altLang="en-US" b="1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b="1" dirty="0"/>
              <a:t>13.5.2 </a:t>
            </a:r>
            <a:r>
              <a:rPr lang="zh-CN" altLang="en-US" b="1" dirty="0"/>
              <a:t>容错性</a:t>
            </a:r>
            <a:endParaRPr lang="zh-CN" altLang="en-US" b="1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b="1" dirty="0"/>
              <a:t>13.5.3 Worker</a:t>
            </a:r>
            <a:endParaRPr lang="en-US" altLang="zh-CN" b="1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b="1" dirty="0"/>
              <a:t>13.5.4 Master</a:t>
            </a:r>
            <a:endParaRPr lang="en-US" altLang="zh-CN" b="1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b="1" dirty="0"/>
              <a:t>13.5.5 Aggregator</a:t>
            </a:r>
            <a:endParaRPr lang="en-US" altLang="zh-CN" b="1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en-US" altLang="zh-CN" b="1" dirty="0"/>
              <a:t>13.5.1	Pregel</a:t>
            </a:r>
            <a:r>
              <a:rPr lang="zh-CN" altLang="en-US" b="1" dirty="0"/>
              <a:t>的执行过程</a:t>
            </a:r>
            <a:endParaRPr lang="zh-CN" altLang="en-US" b="1" dirty="0"/>
          </a:p>
        </p:txBody>
      </p:sp>
      <p:sp>
        <p:nvSpPr>
          <p:cNvPr id="28675" name="Rectangle 5"/>
          <p:cNvSpPr/>
          <p:nvPr/>
        </p:nvSpPr>
        <p:spPr>
          <a:xfrm>
            <a:off x="8764270" y="5718810"/>
            <a:ext cx="17068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400" dirty="0">
                <a:latin typeface="Arial" panose="020B0604020202020204" pitchFamily="34" charset="0"/>
              </a:rPr>
              <a:t>图的划分图</a:t>
            </a:r>
            <a:endParaRPr lang="zh-CN" altLang="en-US" sz="2400" dirty="0">
              <a:latin typeface="Arial" panose="020B0604020202020204" pitchFamily="34" charset="0"/>
            </a:endParaRPr>
          </a:p>
        </p:txBody>
      </p:sp>
      <p:sp>
        <p:nvSpPr>
          <p:cNvPr id="28676" name="Rectangle 6"/>
          <p:cNvSpPr/>
          <p:nvPr/>
        </p:nvSpPr>
        <p:spPr>
          <a:xfrm>
            <a:off x="1033780" y="4173855"/>
            <a:ext cx="5799455" cy="200977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indent="0">
              <a:lnSpc>
                <a:spcPct val="130000"/>
              </a:lnSpc>
              <a:buNone/>
            </a:pPr>
            <a:r>
              <a:rPr lang="zh-CN" altLang="en-US" sz="2400" dirty="0">
                <a:latin typeface="Arial" panose="020B0604020202020204" pitchFamily="34" charset="0"/>
              </a:rPr>
              <a:t>顶点如何分配分区：由一个函数决定的</a:t>
            </a:r>
            <a:endParaRPr lang="zh-CN" altLang="en-US" sz="2400" dirty="0">
              <a:latin typeface="Arial" panose="020B0604020202020204" pitchFamily="34" charset="0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Arial" panose="020B0604020202020204" pitchFamily="34" charset="0"/>
              </a:rPr>
              <a:t>系统默认函数为</a:t>
            </a:r>
            <a:r>
              <a:rPr lang="en-US" altLang="zh-CN" sz="2400" dirty="0">
                <a:latin typeface="Arial" panose="020B0604020202020204" pitchFamily="34" charset="0"/>
              </a:rPr>
              <a:t>hash(</a:t>
            </a:r>
            <a:r>
              <a:rPr lang="zh-CN" altLang="en-US" sz="2400" dirty="0">
                <a:latin typeface="Arial" panose="020B0604020202020204" pitchFamily="34" charset="0"/>
              </a:rPr>
              <a:t>顶点</a:t>
            </a:r>
            <a:r>
              <a:rPr lang="en-US" altLang="zh-CN" sz="2400" dirty="0">
                <a:latin typeface="Arial" panose="020B0604020202020204" pitchFamily="34" charset="0"/>
              </a:rPr>
              <a:t>ID) mod </a:t>
            </a:r>
            <a:r>
              <a:rPr lang="en-US" altLang="zh-CN" sz="2400" i="1" dirty="0">
                <a:latin typeface="Arial" panose="020B0604020202020204" pitchFamily="34" charset="0"/>
              </a:rPr>
              <a:t>N</a:t>
            </a:r>
            <a:r>
              <a:rPr lang="zh-CN" altLang="en-US" sz="2400" dirty="0">
                <a:latin typeface="Arial" panose="020B0604020202020204" pitchFamily="34" charset="0"/>
              </a:rPr>
              <a:t>，</a:t>
            </a:r>
            <a:endParaRPr lang="zh-CN" altLang="en-US" sz="2400" dirty="0">
              <a:latin typeface="Arial" panose="020B0604020202020204" pitchFamily="34" charset="0"/>
            </a:endParaRPr>
          </a:p>
          <a:p>
            <a:pPr indent="0">
              <a:lnSpc>
                <a:spcPct val="130000"/>
              </a:lnSpc>
              <a:buNone/>
            </a:pPr>
            <a:r>
              <a:rPr lang="zh-CN" altLang="en-US" sz="2400" dirty="0">
                <a:latin typeface="Arial" panose="020B0604020202020204" pitchFamily="34" charset="0"/>
              </a:rPr>
              <a:t>其中，</a:t>
            </a:r>
            <a:r>
              <a:rPr lang="en-US" altLang="zh-CN" sz="2400" i="1" dirty="0">
                <a:latin typeface="Arial" panose="020B0604020202020204" pitchFamily="34" charset="0"/>
              </a:rPr>
              <a:t>N</a:t>
            </a:r>
            <a:r>
              <a:rPr lang="zh-CN" altLang="en-US" sz="2400" dirty="0">
                <a:latin typeface="Arial" panose="020B0604020202020204" pitchFamily="34" charset="0"/>
              </a:rPr>
              <a:t>为所有分区总数</a:t>
            </a:r>
            <a:endParaRPr lang="zh-CN" altLang="en-US" sz="2400" dirty="0">
              <a:latin typeface="Arial" panose="020B0604020202020204" pitchFamily="34" charset="0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Arial" panose="020B0604020202020204" pitchFamily="34" charset="0"/>
              </a:rPr>
              <a:t>用户也可以自己定义这个函数</a:t>
            </a:r>
            <a:endParaRPr lang="zh-CN" altLang="en-US" sz="2400" dirty="0">
              <a:latin typeface="Arial" panose="020B0604020202020204" pitchFamily="34" charset="0"/>
            </a:endParaRPr>
          </a:p>
        </p:txBody>
      </p:sp>
      <p:pic>
        <p:nvPicPr>
          <p:cNvPr id="28677" name="Picture 7" descr="http://img.blog.csdn.net/20141025085332641?watermark/2/text/aHR0cDovL2Jsb2cuY3Nkbi5uZXQvbWFsZWZhY3Rvcg==/font/5a6L5L2T/fontsize/400/fill/I0JBQkFCMA==/dissolve/70/gravity/SouthEast"/>
          <p:cNvPicPr>
            <a:picLocks noChangeAspect="1"/>
          </p:cNvPicPr>
          <p:nvPr/>
        </p:nvPicPr>
        <p:blipFill>
          <a:blip r:embed="rId1"/>
          <a:srcRect b="14018"/>
          <a:stretch>
            <a:fillRect/>
          </a:stretch>
        </p:blipFill>
        <p:spPr>
          <a:xfrm>
            <a:off x="7087870" y="1762125"/>
            <a:ext cx="4695825" cy="3886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991870" y="1757680"/>
            <a:ext cx="6096000" cy="14204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>
              <a:lnSpc>
                <a:spcPct val="120000"/>
              </a:lnSpc>
              <a:buNone/>
            </a:pPr>
            <a:r>
              <a:rPr lang="zh-CN" altLang="en-US" sz="2400" dirty="0">
                <a:latin typeface="Arial" panose="020B0604020202020204" pitchFamily="34" charset="0"/>
                <a:sym typeface="+mn-ea"/>
              </a:rPr>
              <a:t>在</a:t>
            </a:r>
            <a:r>
              <a:rPr lang="en-US" altLang="zh-CN" sz="2400" dirty="0">
                <a:latin typeface="Arial" panose="020B0604020202020204" pitchFamily="34" charset="0"/>
                <a:sym typeface="+mn-ea"/>
              </a:rPr>
              <a:t>Pregel</a:t>
            </a:r>
            <a:r>
              <a:rPr lang="zh-CN" altLang="en-US" sz="2400" dirty="0">
                <a:latin typeface="Arial" panose="020B0604020202020204" pitchFamily="34" charset="0"/>
                <a:sym typeface="+mn-ea"/>
              </a:rPr>
              <a:t>计算框架中，一个大型图会被划分成许多个分区，每个分区都包含了一部分顶点以及以其为起点的边</a:t>
            </a:r>
            <a:endParaRPr lang="zh-CN" altLang="en-US" sz="2400" dirty="0">
              <a:latin typeface="Arial" panose="020B0604020202020204" pitchFamily="34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6" grpId="0"/>
      <p:bldP spid="28676" grpId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en-US" altLang="zh-CN" b="1" dirty="0"/>
              <a:t>13.5.1	Pregel</a:t>
            </a:r>
            <a:r>
              <a:rPr lang="zh-CN" altLang="en-US" b="1" dirty="0"/>
              <a:t>的执行过程</a:t>
            </a:r>
            <a:endParaRPr lang="zh-CN" altLang="en-US" b="1" dirty="0"/>
          </a:p>
        </p:txBody>
      </p:sp>
      <p:sp>
        <p:nvSpPr>
          <p:cNvPr id="29701" name="Rectangle 6"/>
          <p:cNvSpPr/>
          <p:nvPr/>
        </p:nvSpPr>
        <p:spPr>
          <a:xfrm>
            <a:off x="1033780" y="1546225"/>
            <a:ext cx="957453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r>
              <a:rPr lang="zh-CN" altLang="en-US" sz="2400" dirty="0">
                <a:latin typeface="Arial" panose="020B0604020202020204" pitchFamily="34" charset="0"/>
              </a:rPr>
              <a:t>理想的情况下（不发生任何错误），</a:t>
            </a:r>
            <a:r>
              <a:rPr lang="en-US" altLang="zh-CN" sz="2400" dirty="0">
                <a:latin typeface="Arial" panose="020B0604020202020204" pitchFamily="34" charset="0"/>
              </a:rPr>
              <a:t>Pregel</a:t>
            </a:r>
            <a:r>
              <a:rPr lang="zh-CN" altLang="en-US" sz="2400" dirty="0">
                <a:latin typeface="Arial" panose="020B0604020202020204" pitchFamily="34" charset="0"/>
              </a:rPr>
              <a:t>用户程序的执行过程如下：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33780" y="2239010"/>
            <a:ext cx="938085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 dirty="0">
                <a:latin typeface="Arial" panose="020B0604020202020204" pitchFamily="34" charset="0"/>
                <a:sym typeface="+mn-ea"/>
              </a:rPr>
              <a:t>（</a:t>
            </a:r>
            <a:r>
              <a:rPr lang="en-US" altLang="zh-CN" sz="2400" dirty="0">
                <a:latin typeface="Arial" panose="020B0604020202020204" pitchFamily="34" charset="0"/>
                <a:sym typeface="+mn-ea"/>
              </a:rPr>
              <a:t>1-2</a:t>
            </a:r>
            <a:r>
              <a:rPr lang="zh-CN" altLang="en-US" sz="2400" dirty="0">
                <a:latin typeface="Arial" panose="020B0604020202020204" pitchFamily="34" charset="0"/>
                <a:sym typeface="+mn-ea"/>
              </a:rPr>
              <a:t>）</a:t>
            </a:r>
            <a:r>
              <a:rPr lang="zh-CN" altLang="en-US" sz="2400" dirty="0">
                <a:latin typeface="Arial" panose="020B0604020202020204" pitchFamily="34" charset="0"/>
                <a:sym typeface="+mn-ea"/>
              </a:rPr>
              <a:t>创造执行</a:t>
            </a:r>
            <a:r>
              <a:rPr lang="zh-CN" altLang="en-US" sz="2400" dirty="0">
                <a:latin typeface="Arial" panose="020B0604020202020204" pitchFamily="34" charset="0"/>
                <a:sym typeface="+mn-ea"/>
              </a:rPr>
              <a:t>环境</a:t>
            </a:r>
            <a:endParaRPr lang="zh-CN" altLang="en-US" sz="2400" dirty="0">
              <a:latin typeface="Arial" panose="020B0604020202020204" pitchFamily="34" charset="0"/>
              <a:sym typeface="+mn-ea"/>
            </a:endParaRPr>
          </a:p>
          <a:p>
            <a:r>
              <a:rPr lang="zh-CN" altLang="en-US" sz="2400" dirty="0">
                <a:latin typeface="Arial" panose="020B0604020202020204" pitchFamily="34" charset="0"/>
                <a:sym typeface="+mn-ea"/>
              </a:rPr>
              <a:t>选择集群中的多台机器执行图计算任务，每台机器上运行用户程序的一个副本，其中一台选为</a:t>
            </a:r>
            <a:r>
              <a:rPr lang="en-US" altLang="zh-CN" sz="2400" dirty="0">
                <a:latin typeface="Arial" panose="020B0604020202020204" pitchFamily="34" charset="0"/>
                <a:sym typeface="+mn-ea"/>
              </a:rPr>
              <a:t>Master</a:t>
            </a:r>
            <a:r>
              <a:rPr lang="zh-CN" altLang="en-US" sz="2400" dirty="0">
                <a:latin typeface="Arial" panose="020B0604020202020204" pitchFamily="34" charset="0"/>
                <a:sym typeface="+mn-ea"/>
              </a:rPr>
              <a:t>，其余为</a:t>
            </a:r>
            <a:r>
              <a:rPr lang="en-US" altLang="zh-CN" sz="2400" dirty="0">
                <a:latin typeface="Arial" panose="020B0604020202020204" pitchFamily="34" charset="0"/>
                <a:sym typeface="+mn-ea"/>
              </a:rPr>
              <a:t>Worker</a:t>
            </a:r>
            <a:endParaRPr lang="zh-CN" altLang="en-US" sz="2400" dirty="0">
              <a:latin typeface="Arial" panose="020B0604020202020204" pitchFamily="34" charset="0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37285" y="4260215"/>
            <a:ext cx="9221470" cy="1938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400" dirty="0">
                <a:latin typeface="Arial" panose="020B0604020202020204" pitchFamily="34" charset="0"/>
                <a:sym typeface="+mn-ea"/>
              </a:rPr>
              <a:t>Worker</a:t>
            </a:r>
            <a:r>
              <a:rPr lang="zh-CN" altLang="en-US" sz="2400" dirty="0">
                <a:latin typeface="Arial" panose="020B0604020202020204" pitchFamily="34" charset="0"/>
                <a:sym typeface="+mn-ea"/>
              </a:rPr>
              <a:t>：</a:t>
            </a:r>
            <a:endParaRPr lang="zh-CN" altLang="en-US" sz="2400" dirty="0">
              <a:latin typeface="Arial" panose="020B0604020202020204" pitchFamily="34" charset="0"/>
              <a:sym typeface="+mn-ea"/>
            </a:endParaRPr>
          </a:p>
          <a:p>
            <a:r>
              <a:rPr lang="zh-CN" altLang="en-US" sz="2400" dirty="0">
                <a:latin typeface="Arial" panose="020B0604020202020204" pitchFamily="34" charset="0"/>
                <a:sym typeface="+mn-ea"/>
              </a:rPr>
              <a:t>借助名称服务系统可定位到</a:t>
            </a:r>
            <a:r>
              <a:rPr lang="en-US" altLang="zh-CN" sz="2400" dirty="0">
                <a:latin typeface="Arial" panose="020B0604020202020204" pitchFamily="34" charset="0"/>
                <a:sym typeface="+mn-ea"/>
              </a:rPr>
              <a:t>Master</a:t>
            </a:r>
            <a:r>
              <a:rPr lang="zh-CN" altLang="en-US" sz="2400" dirty="0">
                <a:latin typeface="Arial" panose="020B0604020202020204" pitchFamily="34" charset="0"/>
                <a:sym typeface="+mn-ea"/>
              </a:rPr>
              <a:t>位置，向</a:t>
            </a:r>
            <a:r>
              <a:rPr lang="zh-CN" altLang="en-US" sz="2400" dirty="0">
                <a:latin typeface="Arial" panose="020B0604020202020204" pitchFamily="34" charset="0"/>
                <a:sym typeface="+mn-ea"/>
              </a:rPr>
              <a:t>其发送自己的注册信息；</a:t>
            </a:r>
            <a:endParaRPr lang="zh-CN" altLang="en-US" sz="2400" dirty="0">
              <a:latin typeface="Arial" panose="020B0604020202020204" pitchFamily="34" charset="0"/>
              <a:sym typeface="+mn-ea"/>
            </a:endParaRPr>
          </a:p>
          <a:p>
            <a:r>
              <a:rPr lang="zh-CN" altLang="en-US" sz="2400" dirty="0">
                <a:latin typeface="Arial" panose="020B0604020202020204" pitchFamily="34" charset="0"/>
                <a:sym typeface="+mn-ea"/>
              </a:rPr>
              <a:t>负责</a:t>
            </a:r>
            <a:r>
              <a:rPr lang="zh-CN" altLang="en-US" sz="2400" dirty="0">
                <a:solidFill>
                  <a:srgbClr val="FF0000"/>
                </a:solidFill>
                <a:latin typeface="Arial" panose="020B0604020202020204" pitchFamily="34" charset="0"/>
                <a:sym typeface="+mn-ea"/>
              </a:rPr>
              <a:t>若干</a:t>
            </a:r>
            <a:r>
              <a:rPr lang="zh-CN" altLang="en-US" sz="2400" dirty="0">
                <a:latin typeface="Arial" panose="020B0604020202020204" pitchFamily="34" charset="0"/>
                <a:sym typeface="+mn-ea"/>
              </a:rPr>
              <a:t>分区，知道其它</a:t>
            </a:r>
            <a:r>
              <a:rPr lang="en-US" altLang="zh-CN" sz="2400" dirty="0">
                <a:latin typeface="Arial" panose="020B0604020202020204" pitchFamily="34" charset="0"/>
                <a:sym typeface="+mn-ea"/>
              </a:rPr>
              <a:t>Worker</a:t>
            </a:r>
            <a:r>
              <a:rPr lang="zh-CN" altLang="en-US" sz="2400" dirty="0">
                <a:latin typeface="Arial" panose="020B0604020202020204" pitchFamily="34" charset="0"/>
                <a:sym typeface="+mn-ea"/>
              </a:rPr>
              <a:t>分区情况；</a:t>
            </a:r>
            <a:endParaRPr lang="zh-CN" altLang="en-US" sz="2400" dirty="0">
              <a:latin typeface="Arial" panose="020B0604020202020204" pitchFamily="34" charset="0"/>
              <a:sym typeface="+mn-ea"/>
            </a:endParaRPr>
          </a:p>
          <a:p>
            <a:r>
              <a:rPr lang="zh-CN" altLang="en-US" sz="2400" dirty="0">
                <a:latin typeface="Arial" panose="020B0604020202020204" pitchFamily="34" charset="0"/>
                <a:sym typeface="+mn-ea"/>
              </a:rPr>
              <a:t>维护</a:t>
            </a:r>
            <a:r>
              <a:rPr lang="zh-CN" altLang="en-US" sz="2400" dirty="0">
                <a:latin typeface="Arial" panose="020B0604020202020204" pitchFamily="34" charset="0"/>
                <a:sym typeface="+mn-ea"/>
              </a:rPr>
              <a:t>自己分区的状态</a:t>
            </a:r>
            <a:r>
              <a:rPr lang="en-US" altLang="zh-CN" sz="2400" dirty="0">
                <a:latin typeface="Arial" panose="020B0604020202020204" pitchFamily="34" charset="0"/>
                <a:sym typeface="+mn-ea"/>
              </a:rPr>
              <a:t>(</a:t>
            </a:r>
            <a:r>
              <a:rPr lang="zh-CN" altLang="en-US" sz="2400" dirty="0">
                <a:latin typeface="Arial" panose="020B0604020202020204" pitchFamily="34" charset="0"/>
                <a:sym typeface="+mn-ea"/>
              </a:rPr>
              <a:t>顶点及边的增删</a:t>
            </a:r>
            <a:r>
              <a:rPr lang="en-US" altLang="zh-CN" sz="2400" dirty="0">
                <a:latin typeface="Arial" panose="020B0604020202020204" pitchFamily="34" charset="0"/>
                <a:sym typeface="+mn-ea"/>
              </a:rPr>
              <a:t>)</a:t>
            </a:r>
            <a:r>
              <a:rPr lang="zh-CN" altLang="en-US" sz="2400" dirty="0">
                <a:latin typeface="Arial" panose="020B0604020202020204" pitchFamily="34" charset="0"/>
                <a:sym typeface="+mn-ea"/>
              </a:rPr>
              <a:t>，对自己的分区中的顶点执行</a:t>
            </a:r>
            <a:r>
              <a:rPr lang="en-US" altLang="zh-CN" sz="2400" dirty="0">
                <a:latin typeface="Arial" panose="020B0604020202020204" pitchFamily="34" charset="0"/>
                <a:sym typeface="+mn-ea"/>
              </a:rPr>
              <a:t>Compute()</a:t>
            </a:r>
            <a:r>
              <a:rPr lang="zh-CN" altLang="en-US" sz="2400" dirty="0">
                <a:latin typeface="Arial" panose="020B0604020202020204" pitchFamily="34" charset="0"/>
                <a:sym typeface="+mn-ea"/>
              </a:rPr>
              <a:t>，向外发送消息，并管理接收到的消息。</a:t>
            </a:r>
            <a:endParaRPr lang="zh-CN" altLang="en-US" sz="2400" dirty="0">
              <a:latin typeface="Arial" panose="020B0604020202020204" pitchFamily="34" charset="0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137285" y="3549015"/>
            <a:ext cx="927735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400" dirty="0">
                <a:latin typeface="Arial" panose="020B0604020202020204" pitchFamily="34" charset="0"/>
                <a:sym typeface="+mn-ea"/>
              </a:rPr>
              <a:t>Master</a:t>
            </a:r>
            <a:r>
              <a:rPr lang="zh-CN" altLang="en-US" sz="2400" dirty="0">
                <a:latin typeface="Arial" panose="020B0604020202020204" pitchFamily="34" charset="0"/>
                <a:sym typeface="+mn-ea"/>
              </a:rPr>
              <a:t>：负责协调多个</a:t>
            </a:r>
            <a:r>
              <a:rPr lang="en-US" altLang="zh-CN" sz="2400" dirty="0">
                <a:latin typeface="Arial" panose="020B0604020202020204" pitchFamily="34" charset="0"/>
                <a:sym typeface="+mn-ea"/>
              </a:rPr>
              <a:t>Worker</a:t>
            </a:r>
            <a:r>
              <a:rPr lang="zh-CN" altLang="en-US" sz="2400" dirty="0">
                <a:latin typeface="Arial" panose="020B0604020202020204" pitchFamily="34" charset="0"/>
                <a:sym typeface="+mn-ea"/>
              </a:rPr>
              <a:t>执行任务</a:t>
            </a:r>
            <a:r>
              <a:rPr lang="en-US" altLang="zh-CN" sz="2400" dirty="0">
                <a:latin typeface="Arial" panose="020B0604020202020204" pitchFamily="34" charset="0"/>
                <a:sym typeface="+mn-ea"/>
              </a:rPr>
              <a:t>+</a:t>
            </a:r>
            <a:r>
              <a:rPr lang="zh-CN" altLang="en-US" sz="2400" dirty="0">
                <a:latin typeface="Arial" panose="020B0604020202020204" pitchFamily="34" charset="0"/>
                <a:sym typeface="+mn-ea"/>
              </a:rPr>
              <a:t>分区</a:t>
            </a:r>
            <a:endParaRPr lang="zh-CN" altLang="en-US" sz="2400" dirty="0">
              <a:latin typeface="Arial" panose="020B0604020202020204" pitchFamily="34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2" grpId="0"/>
      <p:bldP spid="2" grpId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en-US" altLang="zh-CN" b="1" dirty="0"/>
              <a:t>13.5.1	Pregel</a:t>
            </a:r>
            <a:r>
              <a:rPr lang="zh-CN" altLang="en-US" b="1" dirty="0"/>
              <a:t>的执行过程</a:t>
            </a:r>
            <a:endParaRPr lang="zh-CN" altLang="en-US" b="1" dirty="0"/>
          </a:p>
        </p:txBody>
      </p:sp>
      <p:sp>
        <p:nvSpPr>
          <p:cNvPr id="30725" name="矩形 6"/>
          <p:cNvSpPr/>
          <p:nvPr/>
        </p:nvSpPr>
        <p:spPr>
          <a:xfrm>
            <a:off x="923290" y="1494155"/>
            <a:ext cx="9639935" cy="20097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>
              <a:lnSpc>
                <a:spcPct val="130000"/>
              </a:lnSpc>
            </a:pPr>
            <a:r>
              <a:rPr lang="zh-CN" altLang="en-US" sz="2400" dirty="0">
                <a:latin typeface="Arial" panose="020B0604020202020204" pitchFamily="34" charset="0"/>
              </a:rPr>
              <a:t>（</a:t>
            </a:r>
            <a:r>
              <a:rPr lang="en-US" altLang="zh-CN" sz="2400" dirty="0">
                <a:latin typeface="Arial" panose="020B0604020202020204" pitchFamily="34" charset="0"/>
              </a:rPr>
              <a:t>3</a:t>
            </a:r>
            <a:r>
              <a:rPr lang="zh-CN" altLang="en-US" sz="2400" dirty="0">
                <a:latin typeface="Arial" panose="020B0604020202020204" pitchFamily="34" charset="0"/>
              </a:rPr>
              <a:t>）图划分操作</a:t>
            </a:r>
            <a:endParaRPr lang="zh-CN" altLang="en-US" sz="2400" dirty="0">
              <a:latin typeface="Arial" panose="020B0604020202020204" pitchFamily="34" charset="0"/>
            </a:endParaRPr>
          </a:p>
          <a:p>
            <a:pPr marL="457200" indent="-457200">
              <a:lnSpc>
                <a:spcPct val="130000"/>
              </a:lnSpc>
              <a:buFont typeface="Arial" panose="020B0604020202020204" pitchFamily="34" charset="0"/>
              <a:buAutoNum type="arabicPeriod"/>
            </a:pPr>
            <a:r>
              <a:rPr lang="en-US" altLang="zh-CN" sz="2400" dirty="0">
                <a:latin typeface="Arial" panose="020B0604020202020204" pitchFamily="34" charset="0"/>
              </a:rPr>
              <a:t>Master</a:t>
            </a:r>
            <a:r>
              <a:rPr lang="zh-CN" altLang="en-US" sz="2400" dirty="0">
                <a:latin typeface="Arial" panose="020B0604020202020204" pitchFamily="34" charset="0"/>
              </a:rPr>
              <a:t>会把大图文件按文件边界划分，输送到各个</a:t>
            </a:r>
            <a:r>
              <a:rPr lang="en-US" altLang="zh-CN" sz="2400" dirty="0">
                <a:latin typeface="Arial" panose="020B0604020202020204" pitchFamily="34" charset="0"/>
              </a:rPr>
              <a:t>Worker</a:t>
            </a:r>
            <a:r>
              <a:rPr lang="zh-CN" altLang="en-US" sz="2400" dirty="0">
                <a:latin typeface="Arial" panose="020B0604020202020204" pitchFamily="34" charset="0"/>
              </a:rPr>
              <a:t>；</a:t>
            </a:r>
            <a:endParaRPr lang="zh-CN" altLang="en-US" sz="2400" dirty="0">
              <a:latin typeface="Arial" panose="020B0604020202020204" pitchFamily="34" charset="0"/>
            </a:endParaRPr>
          </a:p>
          <a:p>
            <a:pPr marL="457200" indent="-457200">
              <a:lnSpc>
                <a:spcPct val="130000"/>
              </a:lnSpc>
              <a:buFont typeface="Arial" panose="020B0604020202020204" pitchFamily="34" charset="0"/>
              <a:buAutoNum type="arabicPeriod"/>
            </a:pPr>
            <a:r>
              <a:rPr lang="en-US" altLang="zh-CN" sz="2400" dirty="0">
                <a:latin typeface="Arial" panose="020B0604020202020204" pitchFamily="34" charset="0"/>
              </a:rPr>
              <a:t>Worker</a:t>
            </a:r>
            <a:r>
              <a:rPr lang="zh-CN" altLang="en-US" sz="2400" dirty="0">
                <a:latin typeface="Arial" panose="020B0604020202020204" pitchFamily="34" charset="0"/>
              </a:rPr>
              <a:t>从输入内容中加载顶点，输送到顶点相应的</a:t>
            </a:r>
            <a:r>
              <a:rPr lang="en-US" altLang="zh-CN" sz="2400" dirty="0">
                <a:latin typeface="Arial" panose="020B0604020202020204" pitchFamily="34" charset="0"/>
              </a:rPr>
              <a:t>Worker</a:t>
            </a:r>
            <a:r>
              <a:rPr lang="zh-CN" altLang="en-US" sz="2400" dirty="0">
                <a:latin typeface="Arial" panose="020B0604020202020204" pitchFamily="34" charset="0"/>
              </a:rPr>
              <a:t>；</a:t>
            </a:r>
            <a:endParaRPr lang="zh-CN" altLang="en-US" sz="2400" dirty="0">
              <a:latin typeface="Arial" panose="020B0604020202020204" pitchFamily="34" charset="0"/>
            </a:endParaRPr>
          </a:p>
          <a:p>
            <a:pPr marL="457200" indent="-457200">
              <a:lnSpc>
                <a:spcPct val="130000"/>
              </a:lnSpc>
              <a:buFont typeface="Arial" panose="020B0604020202020204" pitchFamily="34" charset="0"/>
              <a:buAutoNum type="arabicPeriod"/>
            </a:pPr>
            <a:r>
              <a:rPr lang="zh-CN" altLang="en-US" sz="2400" dirty="0">
                <a:latin typeface="Arial" panose="020B0604020202020204" pitchFamily="34" charset="0"/>
              </a:rPr>
              <a:t>所有输入都加载后，所有顶点都被标记为“活跃”状态。</a:t>
            </a:r>
            <a:endParaRPr lang="zh-CN" altLang="en-US" sz="2400" dirty="0">
              <a:latin typeface="Arial" panose="020B0604020202020204" pitchFamily="34" charset="0"/>
            </a:endParaRPr>
          </a:p>
        </p:txBody>
      </p:sp>
      <p:sp>
        <p:nvSpPr>
          <p:cNvPr id="31749" name="矩形 5"/>
          <p:cNvSpPr/>
          <p:nvPr/>
        </p:nvSpPr>
        <p:spPr>
          <a:xfrm>
            <a:off x="923290" y="3754755"/>
            <a:ext cx="10364470" cy="296862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>
              <a:lnSpc>
                <a:spcPct val="130000"/>
              </a:lnSpc>
            </a:pPr>
            <a:r>
              <a:rPr lang="zh-CN" altLang="en-US" sz="2400" dirty="0">
                <a:latin typeface="Arial" panose="020B0604020202020204" pitchFamily="34" charset="0"/>
              </a:rPr>
              <a:t>（</a:t>
            </a:r>
            <a:r>
              <a:rPr lang="en-US" altLang="zh-CN" sz="2400" dirty="0">
                <a:latin typeface="Arial" panose="020B0604020202020204" pitchFamily="34" charset="0"/>
              </a:rPr>
              <a:t>4</a:t>
            </a:r>
            <a:r>
              <a:rPr lang="zh-CN" altLang="en-US" sz="2400" dirty="0">
                <a:latin typeface="Arial" panose="020B0604020202020204" pitchFamily="34" charset="0"/>
              </a:rPr>
              <a:t>）</a:t>
            </a:r>
            <a:r>
              <a:rPr lang="en-US" altLang="zh-CN" sz="2400" dirty="0">
                <a:latin typeface="Arial" panose="020B0604020202020204" pitchFamily="34" charset="0"/>
              </a:rPr>
              <a:t>Master</a:t>
            </a:r>
            <a:r>
              <a:rPr lang="zh-CN" altLang="en-US" sz="2400" dirty="0">
                <a:latin typeface="Arial" panose="020B0604020202020204" pitchFamily="34" charset="0"/>
                <a:sym typeface="+mn-ea"/>
              </a:rPr>
              <a:t>协调多个</a:t>
            </a:r>
            <a:r>
              <a:rPr lang="en-US" altLang="zh-CN" sz="2400" dirty="0">
                <a:latin typeface="Arial" panose="020B0604020202020204" pitchFamily="34" charset="0"/>
                <a:sym typeface="+mn-ea"/>
              </a:rPr>
              <a:t>Worker</a:t>
            </a:r>
            <a:r>
              <a:rPr lang="zh-CN" altLang="en-US" sz="2400" dirty="0">
                <a:latin typeface="Arial" panose="020B0604020202020204" pitchFamily="34" charset="0"/>
                <a:sym typeface="+mn-ea"/>
              </a:rPr>
              <a:t>执行任务</a:t>
            </a:r>
            <a:endParaRPr lang="en-US" altLang="zh-CN" sz="2400" dirty="0">
              <a:latin typeface="Arial" panose="020B0604020202020204" pitchFamily="34" charset="0"/>
              <a:sym typeface="+mn-ea"/>
            </a:endParaRPr>
          </a:p>
          <a:p>
            <a:pPr marL="457200" indent="-457200">
              <a:lnSpc>
                <a:spcPct val="130000"/>
              </a:lnSpc>
              <a:buFont typeface="+mj-lt"/>
              <a:buAutoNum type="arabicPeriod"/>
            </a:pPr>
            <a:r>
              <a:rPr lang="en-US" altLang="zh-CN" sz="2400" dirty="0">
                <a:latin typeface="Arial" panose="020B0604020202020204" pitchFamily="34" charset="0"/>
                <a:sym typeface="+mn-ea"/>
              </a:rPr>
              <a:t>Master</a:t>
            </a:r>
            <a:r>
              <a:rPr lang="zh-CN" altLang="en-US" sz="2400" dirty="0">
                <a:latin typeface="Arial" panose="020B0604020202020204" pitchFamily="34" charset="0"/>
              </a:rPr>
              <a:t>向每个</a:t>
            </a:r>
            <a:r>
              <a:rPr lang="en-US" altLang="zh-CN" sz="2400" dirty="0">
                <a:latin typeface="Arial" panose="020B0604020202020204" pitchFamily="34" charset="0"/>
              </a:rPr>
              <a:t>Worker</a:t>
            </a:r>
            <a:r>
              <a:rPr lang="zh-CN" altLang="en-US" sz="2400" dirty="0">
                <a:latin typeface="Arial" panose="020B0604020202020204" pitchFamily="34" charset="0"/>
              </a:rPr>
              <a:t>发送指令，</a:t>
            </a:r>
            <a:r>
              <a:rPr lang="en-US" altLang="zh-CN" sz="2400" dirty="0">
                <a:latin typeface="Arial" panose="020B0604020202020204" pitchFamily="34" charset="0"/>
              </a:rPr>
              <a:t>Worker</a:t>
            </a:r>
            <a:r>
              <a:rPr lang="zh-CN" altLang="en-US" sz="2400" dirty="0">
                <a:latin typeface="Arial" panose="020B0604020202020204" pitchFamily="34" charset="0"/>
              </a:rPr>
              <a:t>收到指令后，开始运行一个超步；</a:t>
            </a:r>
            <a:endParaRPr lang="zh-CN" altLang="en-US" sz="2400" dirty="0">
              <a:latin typeface="Arial" panose="020B0604020202020204" pitchFamily="34" charset="0"/>
            </a:endParaRPr>
          </a:p>
          <a:p>
            <a:pPr marL="457200" indent="-457200">
              <a:lnSpc>
                <a:spcPct val="130000"/>
              </a:lnSpc>
              <a:buFont typeface="+mj-lt"/>
              <a:buAutoNum type="arabicPeriod"/>
            </a:pPr>
            <a:r>
              <a:rPr lang="en-US" altLang="zh-CN" sz="2400" dirty="0">
                <a:latin typeface="Arial" panose="020B0604020202020204" pitchFamily="34" charset="0"/>
              </a:rPr>
              <a:t>Worker</a:t>
            </a:r>
            <a:r>
              <a:rPr lang="zh-CN" altLang="en-US" sz="2400" dirty="0">
                <a:latin typeface="Arial" panose="020B0604020202020204" pitchFamily="34" charset="0"/>
              </a:rPr>
              <a:t>采用多线程，一分区一线程；</a:t>
            </a:r>
            <a:endParaRPr lang="zh-CN" altLang="en-US" sz="2400" dirty="0">
              <a:latin typeface="Arial" panose="020B0604020202020204" pitchFamily="34" charset="0"/>
            </a:endParaRPr>
          </a:p>
          <a:p>
            <a:pPr marL="457200" indent="-457200">
              <a:lnSpc>
                <a:spcPct val="130000"/>
              </a:lnSpc>
              <a:buFont typeface="+mj-lt"/>
              <a:buAutoNum type="arabicPeriod"/>
            </a:pPr>
            <a:r>
              <a:rPr lang="zh-CN" altLang="en-US" sz="2400" dirty="0">
                <a:latin typeface="Arial" panose="020B0604020202020204" pitchFamily="34" charset="0"/>
              </a:rPr>
              <a:t>所有顶点：收消息</a:t>
            </a:r>
            <a:r>
              <a:rPr lang="en-US" altLang="zh-CN" sz="2400" dirty="0">
                <a:latin typeface="Arial" panose="020B0604020202020204" pitchFamily="34" charset="0"/>
              </a:rPr>
              <a:t>+Compute+</a:t>
            </a:r>
            <a:r>
              <a:rPr lang="zh-CN" altLang="en-US" sz="2400" dirty="0">
                <a:latin typeface="Arial" panose="020B0604020202020204" pitchFamily="34" charset="0"/>
              </a:rPr>
              <a:t>发消息；</a:t>
            </a:r>
            <a:endParaRPr lang="zh-CN" altLang="en-US" sz="2400" dirty="0">
              <a:latin typeface="Arial" panose="020B0604020202020204" pitchFamily="34" charset="0"/>
            </a:endParaRPr>
          </a:p>
          <a:p>
            <a:pPr marL="457200" indent="-457200">
              <a:lnSpc>
                <a:spcPct val="130000"/>
              </a:lnSpc>
              <a:buFont typeface="+mj-lt"/>
              <a:buAutoNum type="arabicPeriod"/>
            </a:pPr>
            <a:r>
              <a:rPr lang="en-US" altLang="zh-CN" sz="2400" dirty="0">
                <a:latin typeface="Arial" panose="020B0604020202020204" pitchFamily="34" charset="0"/>
              </a:rPr>
              <a:t>Worker</a:t>
            </a:r>
            <a:r>
              <a:rPr lang="zh-CN" altLang="en-US" sz="2400" dirty="0">
                <a:latin typeface="Arial" panose="020B0604020202020204" pitchFamily="34" charset="0"/>
              </a:rPr>
              <a:t>会通知</a:t>
            </a:r>
            <a:r>
              <a:rPr lang="en-US" altLang="zh-CN" sz="2400" dirty="0">
                <a:latin typeface="Arial" panose="020B0604020202020204" pitchFamily="34" charset="0"/>
              </a:rPr>
              <a:t>Master</a:t>
            </a:r>
            <a:r>
              <a:rPr lang="zh-CN" altLang="en-US" sz="2400" dirty="0">
                <a:latin typeface="Arial" panose="020B0604020202020204" pitchFamily="34" charset="0"/>
              </a:rPr>
              <a:t>，汇报</a:t>
            </a:r>
            <a:r>
              <a:rPr lang="en-US" altLang="zh-CN" sz="2400" dirty="0">
                <a:latin typeface="Arial" panose="020B0604020202020204" pitchFamily="34" charset="0"/>
              </a:rPr>
              <a:t>“</a:t>
            </a:r>
            <a:r>
              <a:rPr lang="zh-CN" altLang="en-US" sz="2400" dirty="0">
                <a:latin typeface="Arial" panose="020B0604020202020204" pitchFamily="34" charset="0"/>
              </a:rPr>
              <a:t>活跃</a:t>
            </a:r>
            <a:r>
              <a:rPr lang="en-US" altLang="zh-CN" sz="2400" dirty="0">
                <a:latin typeface="Arial" panose="020B0604020202020204" pitchFamily="34" charset="0"/>
              </a:rPr>
              <a:t>”</a:t>
            </a:r>
            <a:r>
              <a:rPr lang="zh-CN" altLang="en-US" sz="2400" dirty="0">
                <a:latin typeface="Arial" panose="020B0604020202020204" pitchFamily="34" charset="0"/>
              </a:rPr>
              <a:t>数量；</a:t>
            </a:r>
            <a:endParaRPr lang="zh-CN" altLang="en-US" sz="2400" dirty="0">
              <a:latin typeface="Arial" panose="020B0604020202020204" pitchFamily="34" charset="0"/>
            </a:endParaRPr>
          </a:p>
          <a:p>
            <a:pPr marL="457200" indent="-457200">
              <a:lnSpc>
                <a:spcPct val="130000"/>
              </a:lnSpc>
              <a:buFont typeface="+mj-lt"/>
              <a:buAutoNum type="arabicPeriod"/>
            </a:pPr>
            <a:r>
              <a:rPr lang="zh-CN" altLang="en-US" sz="2400" dirty="0">
                <a:latin typeface="Arial" panose="020B0604020202020204" pitchFamily="34" charset="0"/>
              </a:rPr>
              <a:t>重复，直到所有顶点都不再活跃并且系统中不会有任何消息在传输</a:t>
            </a:r>
            <a:endParaRPr lang="zh-CN" altLang="en-US" sz="24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9" grpId="0"/>
      <p:bldP spid="31749" grpId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en-US" altLang="zh-CN" b="1" dirty="0"/>
              <a:t>13.5.1	Pregel</a:t>
            </a:r>
            <a:r>
              <a:rPr lang="zh-CN" altLang="en-US" b="1" dirty="0"/>
              <a:t>的执行过程</a:t>
            </a:r>
            <a:endParaRPr lang="zh-CN" altLang="en-US" b="1" dirty="0"/>
          </a:p>
        </p:txBody>
      </p:sp>
      <p:pic>
        <p:nvPicPr>
          <p:cNvPr id="31747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74315" y="2426970"/>
            <a:ext cx="6936105" cy="433768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1750" name="矩形 7"/>
          <p:cNvSpPr/>
          <p:nvPr/>
        </p:nvSpPr>
        <p:spPr>
          <a:xfrm>
            <a:off x="977900" y="1541780"/>
            <a:ext cx="9465945" cy="829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r>
              <a:rPr lang="zh-CN" altLang="en-US" sz="2400" dirty="0">
                <a:latin typeface="Arial" panose="020B0604020202020204" pitchFamily="34" charset="0"/>
              </a:rPr>
              <a:t>（</a:t>
            </a:r>
            <a:r>
              <a:rPr lang="en-US" altLang="zh-CN" sz="2400" dirty="0">
                <a:latin typeface="Arial" panose="020B0604020202020204" pitchFamily="34" charset="0"/>
              </a:rPr>
              <a:t>5</a:t>
            </a:r>
            <a:r>
              <a:rPr lang="zh-CN" altLang="en-US" sz="2400" dirty="0">
                <a:latin typeface="Arial" panose="020B0604020202020204" pitchFamily="34" charset="0"/>
              </a:rPr>
              <a:t>）计算过程结束后，</a:t>
            </a:r>
            <a:r>
              <a:rPr lang="en-US" altLang="zh-CN" sz="2400" dirty="0">
                <a:latin typeface="Arial" panose="020B0604020202020204" pitchFamily="34" charset="0"/>
              </a:rPr>
              <a:t>Master</a:t>
            </a:r>
            <a:r>
              <a:rPr lang="zh-CN" altLang="en-US" sz="2400" dirty="0">
                <a:latin typeface="Arial" panose="020B0604020202020204" pitchFamily="34" charset="0"/>
              </a:rPr>
              <a:t>会给所有的</a:t>
            </a:r>
            <a:r>
              <a:rPr lang="en-US" altLang="zh-CN" sz="2400" dirty="0">
                <a:latin typeface="Arial" panose="020B0604020202020204" pitchFamily="34" charset="0"/>
              </a:rPr>
              <a:t>Worker</a:t>
            </a:r>
            <a:r>
              <a:rPr lang="zh-CN" altLang="en-US" sz="2400" dirty="0">
                <a:latin typeface="Arial" panose="020B0604020202020204" pitchFamily="34" charset="0"/>
              </a:rPr>
              <a:t>发送指令，通知每个</a:t>
            </a:r>
            <a:r>
              <a:rPr lang="en-US" altLang="zh-CN" sz="2400" dirty="0">
                <a:latin typeface="Arial" panose="020B0604020202020204" pitchFamily="34" charset="0"/>
              </a:rPr>
              <a:t>Worker</a:t>
            </a:r>
            <a:r>
              <a:rPr lang="zh-CN" altLang="en-US" sz="2400" dirty="0">
                <a:latin typeface="Arial" panose="020B0604020202020204" pitchFamily="34" charset="0"/>
              </a:rPr>
              <a:t>对自己的计算结果进行持久化存储。</a:t>
            </a:r>
            <a:endParaRPr lang="zh-CN" altLang="en-US" sz="24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en-US" altLang="zh-CN" b="1" dirty="0"/>
              <a:t>13.5.2	</a:t>
            </a:r>
            <a:r>
              <a:rPr lang="zh-CN" altLang="en-US" b="1" dirty="0"/>
              <a:t>容错性</a:t>
            </a:r>
            <a:endParaRPr lang="zh-CN" altLang="en-US" b="1" dirty="0"/>
          </a:p>
        </p:txBody>
      </p:sp>
      <p:sp>
        <p:nvSpPr>
          <p:cNvPr id="32771" name="Rectangle 3"/>
          <p:cNvSpPr>
            <a:spLocks noGrp="1"/>
          </p:cNvSpPr>
          <p:nvPr>
            <p:ph idx="1"/>
          </p:nvPr>
        </p:nvSpPr>
        <p:spPr>
          <a:xfrm>
            <a:off x="838200" y="1570990"/>
            <a:ext cx="10515600" cy="4606290"/>
          </a:xfrm>
        </p:spPr>
        <p:txBody>
          <a:bodyPr vert="horz" wrap="square" lIns="91440" tIns="45720" rIns="91440" bIns="45720" anchor="t" anchorCtr="0">
            <a:normAutofit lnSpcReduction="20000"/>
          </a:bodyPr>
          <a:p>
            <a:pPr marL="0" indent="0">
              <a:lnSpc>
                <a:spcPct val="120000"/>
              </a:lnSpc>
              <a:buNone/>
            </a:pPr>
            <a:r>
              <a:rPr lang="en-US" altLang="zh-CN" sz="2400" dirty="0"/>
              <a:t>Pregel</a:t>
            </a:r>
            <a:r>
              <a:rPr lang="zh-CN" altLang="en-US" sz="2400" dirty="0"/>
              <a:t>采用检查点机制来实现容错。</a:t>
            </a:r>
            <a:endParaRPr lang="zh-CN" altLang="en-US" sz="2400" dirty="0"/>
          </a:p>
          <a:p>
            <a:pPr>
              <a:lnSpc>
                <a:spcPct val="120000"/>
              </a:lnSpc>
            </a:pPr>
            <a:r>
              <a:rPr lang="zh-CN" altLang="en-US" sz="2400" dirty="0"/>
              <a:t>在每个超步的开始，</a:t>
            </a:r>
            <a:r>
              <a:rPr lang="en-US" altLang="zh-CN" sz="2400" dirty="0"/>
              <a:t>Master</a:t>
            </a:r>
            <a:r>
              <a:rPr lang="zh-CN" altLang="en-US" sz="2400" dirty="0"/>
              <a:t>会通知所有的</a:t>
            </a:r>
            <a:r>
              <a:rPr lang="en-US" altLang="zh-CN" sz="2400" dirty="0"/>
              <a:t>Worker</a:t>
            </a:r>
            <a:r>
              <a:rPr lang="zh-CN" altLang="en-US" sz="2400" dirty="0"/>
              <a:t>把自己管辖的分区的状态（包括顶点值、边值以及接收到的消息），写入到</a:t>
            </a:r>
            <a:r>
              <a:rPr lang="zh-CN" altLang="en-US" sz="2400" dirty="0">
                <a:highlight>
                  <a:srgbClr val="FFFF00"/>
                </a:highlight>
              </a:rPr>
              <a:t>持久化</a:t>
            </a:r>
            <a:r>
              <a:rPr lang="zh-CN" altLang="en-US" sz="2400" dirty="0"/>
              <a:t>存储设备</a:t>
            </a:r>
            <a:endParaRPr lang="zh-CN" altLang="en-US" sz="2400" dirty="0"/>
          </a:p>
          <a:p>
            <a:pPr>
              <a:lnSpc>
                <a:spcPct val="120000"/>
              </a:lnSpc>
            </a:pPr>
            <a:endParaRPr lang="zh-CN" altLang="en-US" sz="2400" dirty="0"/>
          </a:p>
          <a:p>
            <a:pPr>
              <a:lnSpc>
                <a:spcPct val="120000"/>
              </a:lnSpc>
            </a:pPr>
            <a:r>
              <a:rPr lang="en-US" altLang="zh-CN" sz="2400" dirty="0"/>
              <a:t>Master</a:t>
            </a:r>
            <a:r>
              <a:rPr lang="zh-CN" altLang="en-US" sz="2400" dirty="0"/>
              <a:t>会</a:t>
            </a:r>
            <a:r>
              <a:rPr lang="zh-CN" altLang="en-US" sz="2400" dirty="0">
                <a:highlight>
                  <a:srgbClr val="FFFF00"/>
                </a:highlight>
              </a:rPr>
              <a:t>周期性</a:t>
            </a:r>
            <a:r>
              <a:rPr lang="zh-CN" altLang="en-US" sz="2400" dirty="0"/>
              <a:t>地向每个</a:t>
            </a:r>
            <a:r>
              <a:rPr lang="en-US" altLang="zh-CN" sz="2400" dirty="0"/>
              <a:t>Worker</a:t>
            </a:r>
            <a:r>
              <a:rPr lang="zh-CN" altLang="en-US" sz="2400" dirty="0"/>
              <a:t>发送</a:t>
            </a:r>
            <a:r>
              <a:rPr lang="en-US" altLang="zh-CN" sz="2400" dirty="0"/>
              <a:t>ping</a:t>
            </a:r>
            <a:r>
              <a:rPr lang="zh-CN" altLang="en-US" sz="2400" dirty="0"/>
              <a:t>消息，</a:t>
            </a:r>
            <a:r>
              <a:rPr lang="en-US" altLang="zh-CN" sz="2400" dirty="0"/>
              <a:t>Worker</a:t>
            </a:r>
            <a:r>
              <a:rPr lang="zh-CN" altLang="en-US" sz="2400" dirty="0"/>
              <a:t>收到</a:t>
            </a:r>
            <a:r>
              <a:rPr lang="en-US" altLang="zh-CN" sz="2400" dirty="0"/>
              <a:t>ping</a:t>
            </a:r>
            <a:r>
              <a:rPr lang="zh-CN" altLang="en-US" sz="2400" dirty="0"/>
              <a:t>消息后会给</a:t>
            </a:r>
            <a:r>
              <a:rPr lang="en-US" altLang="zh-CN" sz="2400" dirty="0"/>
              <a:t>Master</a:t>
            </a:r>
            <a:r>
              <a:rPr lang="zh-CN" altLang="en-US" sz="2400" dirty="0"/>
              <a:t>发送反馈消息。</a:t>
            </a:r>
            <a:endParaRPr lang="zh-CN" altLang="en-US" sz="2400" dirty="0"/>
          </a:p>
          <a:p>
            <a:pPr>
              <a:lnSpc>
                <a:spcPct val="120000"/>
              </a:lnSpc>
            </a:pPr>
            <a:endParaRPr lang="zh-CN" altLang="en-US" sz="2400" dirty="0"/>
          </a:p>
          <a:p>
            <a:pPr>
              <a:lnSpc>
                <a:spcPct val="120000"/>
              </a:lnSpc>
            </a:pPr>
            <a:r>
              <a:rPr lang="en-US" altLang="zh-CN" sz="2400" dirty="0"/>
              <a:t>Master</a:t>
            </a:r>
            <a:r>
              <a:rPr lang="zh-CN" altLang="en-US" sz="2400" dirty="0"/>
              <a:t>监测到一个</a:t>
            </a:r>
            <a:r>
              <a:rPr lang="en-US" altLang="zh-CN" sz="2400" dirty="0"/>
              <a:t>Worker</a:t>
            </a:r>
            <a:r>
              <a:rPr lang="zh-CN" altLang="en-US" sz="2400" dirty="0"/>
              <a:t>发生故障“失效”后，会把失效</a:t>
            </a:r>
            <a:r>
              <a:rPr lang="en-US" altLang="zh-CN" sz="2400" dirty="0"/>
              <a:t>Worker</a:t>
            </a:r>
            <a:r>
              <a:rPr lang="zh-CN" altLang="en-US" sz="2400" dirty="0"/>
              <a:t>所分配到的分区，</a:t>
            </a:r>
            <a:r>
              <a:rPr lang="zh-CN" altLang="en-US" sz="2400" dirty="0">
                <a:highlight>
                  <a:srgbClr val="FFFF00"/>
                </a:highlight>
              </a:rPr>
              <a:t>重新分配</a:t>
            </a:r>
            <a:r>
              <a:rPr lang="zh-CN" altLang="en-US" sz="2400" dirty="0"/>
              <a:t>到其他处于正常工作状态的</a:t>
            </a:r>
            <a:r>
              <a:rPr lang="en-US" altLang="zh-CN" sz="2400" dirty="0"/>
              <a:t>Worker</a:t>
            </a:r>
            <a:r>
              <a:rPr lang="zh-CN" altLang="en-US" sz="2400" dirty="0"/>
              <a:t>集合上，然后，所有这些分区会从最近的某超步</a:t>
            </a:r>
            <a:r>
              <a:rPr lang="en-US" altLang="zh-CN" sz="2400" dirty="0"/>
              <a:t>S</a:t>
            </a:r>
            <a:r>
              <a:rPr lang="zh-CN" altLang="en-US" sz="2400" dirty="0"/>
              <a:t>开始时写出的检查点中，</a:t>
            </a:r>
            <a:r>
              <a:rPr lang="zh-CN" altLang="en-US" sz="2400" dirty="0">
                <a:highlight>
                  <a:srgbClr val="FFFF00"/>
                </a:highlight>
              </a:rPr>
              <a:t>重新加载</a:t>
            </a:r>
            <a:r>
              <a:rPr lang="zh-CN" altLang="en-US" sz="2400" dirty="0"/>
              <a:t>状态信息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en-US" altLang="zh-CN" b="1" dirty="0"/>
              <a:t>13.5.3	Worker</a:t>
            </a:r>
            <a:endParaRPr lang="zh-CN" altLang="en-US" b="1" dirty="0"/>
          </a:p>
        </p:txBody>
      </p:sp>
      <p:sp>
        <p:nvSpPr>
          <p:cNvPr id="33795" name="Rectangle 4"/>
          <p:cNvSpPr/>
          <p:nvPr/>
        </p:nvSpPr>
        <p:spPr>
          <a:xfrm>
            <a:off x="937260" y="1483043"/>
            <a:ext cx="10106660" cy="230695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defTabSz="914400" eaLnBrk="1" hangingPunct="1">
              <a:tabLst>
                <a:tab pos="723900" algn="l"/>
              </a:tabLst>
            </a:pPr>
            <a:r>
              <a:rPr lang="zh-CN" altLang="en-US" sz="2400" dirty="0">
                <a:latin typeface="Arial" panose="020B0604020202020204" pitchFamily="34" charset="0"/>
              </a:rPr>
              <a:t>在一个</a:t>
            </a:r>
            <a:r>
              <a:rPr lang="en-US" altLang="zh-CN" sz="2400" dirty="0">
                <a:latin typeface="Arial" panose="020B0604020202020204" pitchFamily="34" charset="0"/>
              </a:rPr>
              <a:t>Worker</a:t>
            </a:r>
            <a:r>
              <a:rPr lang="zh-CN" altLang="en-US" sz="2400" dirty="0">
                <a:latin typeface="Arial" panose="020B0604020202020204" pitchFamily="34" charset="0"/>
              </a:rPr>
              <a:t>中，它所管辖的</a:t>
            </a:r>
            <a:r>
              <a:rPr lang="zh-CN" altLang="en-US" sz="2400" dirty="0">
                <a:highlight>
                  <a:srgbClr val="FFFF00"/>
                </a:highlight>
                <a:latin typeface="Arial" panose="020B0604020202020204" pitchFamily="34" charset="0"/>
              </a:rPr>
              <a:t>分区的状态信息</a:t>
            </a:r>
            <a:r>
              <a:rPr lang="zh-CN" altLang="en-US" sz="2400" dirty="0">
                <a:latin typeface="Arial" panose="020B0604020202020204" pitchFamily="34" charset="0"/>
              </a:rPr>
              <a:t>是保存在内存中的。</a:t>
            </a:r>
            <a:endParaRPr lang="zh-CN" altLang="en-US" sz="2400" dirty="0">
              <a:latin typeface="Arial" panose="020B0604020202020204" pitchFamily="34" charset="0"/>
            </a:endParaRPr>
          </a:p>
          <a:p>
            <a:pPr defTabSz="914400" eaLnBrk="1" hangingPunct="1">
              <a:tabLst>
                <a:tab pos="723900" algn="l"/>
              </a:tabLst>
            </a:pPr>
            <a:r>
              <a:rPr lang="zh-CN" altLang="en-US" sz="2400" dirty="0">
                <a:latin typeface="Arial" panose="020B0604020202020204" pitchFamily="34" charset="0"/>
              </a:rPr>
              <a:t>分区中的顶点的状态信息包括：</a:t>
            </a:r>
            <a:endParaRPr lang="zh-CN" altLang="en-US" sz="2400" dirty="0">
              <a:latin typeface="Arial" panose="020B0604020202020204" pitchFamily="34" charset="0"/>
            </a:endParaRPr>
          </a:p>
          <a:p>
            <a:pPr marL="457200" indent="-457200" defTabSz="914400" eaLnBrk="1" hangingPunct="1">
              <a:buFont typeface="+mj-ea"/>
              <a:buAutoNum type="circleNumDbPlain"/>
              <a:tabLst>
                <a:tab pos="723900" algn="l"/>
              </a:tabLst>
            </a:pPr>
            <a:r>
              <a:rPr lang="zh-CN" altLang="en-US" sz="2400" dirty="0">
                <a:latin typeface="Arial" panose="020B0604020202020204" pitchFamily="34" charset="0"/>
              </a:rPr>
              <a:t>顶点的当前值</a:t>
            </a:r>
            <a:endParaRPr lang="zh-CN" altLang="en-US" sz="2400" dirty="0">
              <a:latin typeface="Arial" panose="020B0604020202020204" pitchFamily="34" charset="0"/>
            </a:endParaRPr>
          </a:p>
          <a:p>
            <a:pPr marL="457200" indent="-457200" defTabSz="914400" eaLnBrk="1" hangingPunct="1">
              <a:buFont typeface="+mj-ea"/>
              <a:buAutoNum type="circleNumDbPlain"/>
              <a:tabLst>
                <a:tab pos="723900" algn="l"/>
              </a:tabLst>
            </a:pPr>
            <a:r>
              <a:rPr lang="zh-CN" altLang="en-US" sz="2400" dirty="0">
                <a:latin typeface="Arial" panose="020B0604020202020204" pitchFamily="34" charset="0"/>
              </a:rPr>
              <a:t>以该顶点为起点的出射边列表，每条出射边包含了目标顶点</a:t>
            </a:r>
            <a:r>
              <a:rPr lang="en-US" altLang="zh-CN" sz="2400" dirty="0">
                <a:latin typeface="Arial" panose="020B0604020202020204" pitchFamily="34" charset="0"/>
              </a:rPr>
              <a:t>ID</a:t>
            </a:r>
            <a:r>
              <a:rPr lang="zh-CN" altLang="en-US" sz="2400" dirty="0">
                <a:latin typeface="Arial" panose="020B0604020202020204" pitchFamily="34" charset="0"/>
              </a:rPr>
              <a:t>和边的值</a:t>
            </a:r>
            <a:endParaRPr lang="zh-CN" altLang="en-US" sz="2400" dirty="0">
              <a:latin typeface="Arial" panose="020B0604020202020204" pitchFamily="34" charset="0"/>
            </a:endParaRPr>
          </a:p>
          <a:p>
            <a:pPr marL="457200" indent="-457200" defTabSz="914400" eaLnBrk="1" hangingPunct="1">
              <a:buFont typeface="+mj-ea"/>
              <a:buAutoNum type="circleNumDbPlain"/>
              <a:tabLst>
                <a:tab pos="723900" algn="l"/>
              </a:tabLst>
            </a:pPr>
            <a:r>
              <a:rPr lang="zh-CN" altLang="en-US" sz="2400" dirty="0">
                <a:latin typeface="Arial" panose="020B0604020202020204" pitchFamily="34" charset="0"/>
              </a:rPr>
              <a:t>消息队列，包含了所有接收到的、发送给该顶点的消息</a:t>
            </a:r>
            <a:endParaRPr lang="zh-CN" altLang="en-US" sz="2400" dirty="0">
              <a:latin typeface="Arial" panose="020B0604020202020204" pitchFamily="34" charset="0"/>
            </a:endParaRPr>
          </a:p>
          <a:p>
            <a:pPr marL="457200" indent="-457200" defTabSz="914400" eaLnBrk="1" hangingPunct="1">
              <a:buFont typeface="+mj-ea"/>
              <a:buAutoNum type="circleNumDbPlain"/>
              <a:tabLst>
                <a:tab pos="723900" algn="l"/>
              </a:tabLst>
            </a:pPr>
            <a:r>
              <a:rPr lang="zh-CN" altLang="en-US" sz="2400" dirty="0">
                <a:latin typeface="Arial" panose="020B0604020202020204" pitchFamily="34" charset="0"/>
              </a:rPr>
              <a:t>标志位，用来标记顶点是否处于活跃状态</a:t>
            </a:r>
            <a:endParaRPr lang="zh-CN" altLang="en-US" sz="2400" dirty="0">
              <a:latin typeface="Arial" panose="020B0604020202020204" pitchFamily="34" charset="0"/>
            </a:endParaRPr>
          </a:p>
        </p:txBody>
      </p:sp>
      <p:sp>
        <p:nvSpPr>
          <p:cNvPr id="33796" name="Rectangle 5"/>
          <p:cNvSpPr/>
          <p:nvPr/>
        </p:nvSpPr>
        <p:spPr>
          <a:xfrm>
            <a:off x="937260" y="4333240"/>
            <a:ext cx="10339070" cy="193802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defTabSz="914400" eaLnBrk="1" hangingPunct="1">
              <a:tabLst>
                <a:tab pos="723900" algn="l"/>
              </a:tabLst>
            </a:pPr>
            <a:r>
              <a:rPr lang="zh-CN" altLang="en-US" sz="2400" dirty="0">
                <a:latin typeface="Arial" panose="020B0604020202020204" pitchFamily="34" charset="0"/>
              </a:rPr>
              <a:t>在每个超步中，</a:t>
            </a:r>
            <a:r>
              <a:rPr lang="en-US" altLang="zh-CN" sz="2400" dirty="0">
                <a:latin typeface="Arial" panose="020B0604020202020204" pitchFamily="34" charset="0"/>
              </a:rPr>
              <a:t>Worker</a:t>
            </a:r>
            <a:r>
              <a:rPr lang="zh-CN" altLang="en-US" sz="2400" dirty="0">
                <a:latin typeface="Arial" panose="020B0604020202020204" pitchFamily="34" charset="0"/>
              </a:rPr>
              <a:t>会对自己所管辖的分区中的每个顶点进行遍历，</a:t>
            </a:r>
            <a:endParaRPr lang="zh-CN" altLang="en-US" sz="2400" dirty="0">
              <a:latin typeface="Arial" panose="020B0604020202020204" pitchFamily="34" charset="0"/>
            </a:endParaRPr>
          </a:p>
          <a:p>
            <a:pPr defTabSz="914400" eaLnBrk="1" hangingPunct="1">
              <a:tabLst>
                <a:tab pos="723900" algn="l"/>
              </a:tabLst>
            </a:pPr>
            <a:r>
              <a:rPr lang="zh-CN" altLang="en-US" sz="2400" dirty="0">
                <a:latin typeface="Arial" panose="020B0604020202020204" pitchFamily="34" charset="0"/>
              </a:rPr>
              <a:t>并调用顶点上的</a:t>
            </a:r>
            <a:r>
              <a:rPr lang="en-US" altLang="zh-CN" sz="2400" dirty="0">
                <a:highlight>
                  <a:srgbClr val="FFFF00"/>
                </a:highlight>
                <a:latin typeface="Arial" panose="020B0604020202020204" pitchFamily="34" charset="0"/>
              </a:rPr>
              <a:t>Compute()</a:t>
            </a:r>
            <a:r>
              <a:rPr lang="zh-CN" altLang="en-US" sz="2400" dirty="0">
                <a:highlight>
                  <a:srgbClr val="FFFF00"/>
                </a:highlight>
                <a:latin typeface="Arial" panose="020B0604020202020204" pitchFamily="34" charset="0"/>
              </a:rPr>
              <a:t>函数</a:t>
            </a:r>
            <a:r>
              <a:rPr lang="zh-CN" altLang="en-US" sz="2400" dirty="0">
                <a:latin typeface="Arial" panose="020B0604020202020204" pitchFamily="34" charset="0"/>
              </a:rPr>
              <a:t>，在调用时，会把以下三个参数传递进去：</a:t>
            </a:r>
            <a:endParaRPr lang="zh-CN" altLang="en-US" sz="2400" dirty="0">
              <a:latin typeface="Arial" panose="020B0604020202020204" pitchFamily="34" charset="0"/>
            </a:endParaRPr>
          </a:p>
          <a:p>
            <a:pPr defTabSz="914400" eaLnBrk="1" hangingPunct="1">
              <a:buChar char="•"/>
              <a:tabLst>
                <a:tab pos="723900" algn="l"/>
              </a:tabLst>
            </a:pPr>
            <a:r>
              <a:rPr lang="zh-CN" altLang="en-US" sz="2400" dirty="0">
                <a:latin typeface="Arial" panose="020B0604020202020204" pitchFamily="34" charset="0"/>
              </a:rPr>
              <a:t>该顶点的当前值</a:t>
            </a:r>
            <a:endParaRPr lang="zh-CN" altLang="en-US" sz="2400" dirty="0">
              <a:latin typeface="Arial" panose="020B0604020202020204" pitchFamily="34" charset="0"/>
            </a:endParaRPr>
          </a:p>
          <a:p>
            <a:pPr defTabSz="914400" eaLnBrk="1" hangingPunct="1">
              <a:buChar char="•"/>
              <a:tabLst>
                <a:tab pos="723900" algn="l"/>
              </a:tabLst>
            </a:pPr>
            <a:r>
              <a:rPr lang="zh-CN" altLang="en-US" sz="2400" dirty="0">
                <a:latin typeface="Arial" panose="020B0604020202020204" pitchFamily="34" charset="0"/>
              </a:rPr>
              <a:t>一个接收到的消息的迭代器</a:t>
            </a:r>
            <a:endParaRPr lang="zh-CN" altLang="en-US" sz="2400" dirty="0">
              <a:latin typeface="Arial" panose="020B0604020202020204" pitchFamily="34" charset="0"/>
            </a:endParaRPr>
          </a:p>
          <a:p>
            <a:pPr defTabSz="914400" eaLnBrk="1" hangingPunct="1">
              <a:buChar char="•"/>
              <a:tabLst>
                <a:tab pos="723900" algn="l"/>
              </a:tabLst>
            </a:pPr>
            <a:r>
              <a:rPr lang="zh-CN" altLang="en-US" sz="2400" dirty="0">
                <a:latin typeface="Arial" panose="020B0604020202020204" pitchFamily="34" charset="0"/>
              </a:rPr>
              <a:t>一个出射边的迭代器 </a:t>
            </a:r>
            <a:endParaRPr lang="zh-CN" altLang="en-US" sz="24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6" grpId="0"/>
      <p:bldP spid="33796" grpId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8" name="内容占位符 1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>
            <a:normAutofit lnSpcReduction="10000"/>
          </a:bodyPr>
          <a:p>
            <a:pPr marL="0" indent="457200">
              <a:lnSpc>
                <a:spcPct val="120000"/>
              </a:lnSpc>
              <a:buNone/>
            </a:pPr>
            <a:r>
              <a:rPr lang="zh-CN" altLang="en-US" sz="2400" dirty="0"/>
              <a:t>为了获得更好的性能，对每个顶点，会</a:t>
            </a:r>
            <a:r>
              <a:rPr lang="zh-CN" altLang="en-US" sz="2400" dirty="0">
                <a:highlight>
                  <a:srgbClr val="FFFF00"/>
                </a:highlight>
              </a:rPr>
              <a:t>保存两份输入消息队列</a:t>
            </a:r>
            <a:r>
              <a:rPr lang="zh-CN" altLang="en-US" sz="2400" dirty="0">
                <a:highlight>
                  <a:srgbClr val="FFFF00"/>
                </a:highlight>
                <a:sym typeface="+mn-ea"/>
              </a:rPr>
              <a:t>和</a:t>
            </a:r>
            <a:r>
              <a:rPr lang="zh-CN" altLang="en-US" sz="2400" dirty="0">
                <a:highlight>
                  <a:srgbClr val="FFFF00"/>
                </a:highlight>
                <a:sym typeface="+mn-ea"/>
              </a:rPr>
              <a:t>“标志位”</a:t>
            </a:r>
            <a:r>
              <a:rPr lang="zh-CN" altLang="en-US" sz="2400" dirty="0"/>
              <a:t>，分别用于当前超步和下一个超步，理由：</a:t>
            </a:r>
            <a:endParaRPr lang="en-US" altLang="zh-CN" sz="2400" dirty="0"/>
          </a:p>
          <a:p>
            <a:pPr marL="0" indent="0">
              <a:lnSpc>
                <a:spcPct val="120000"/>
              </a:lnSpc>
            </a:pPr>
            <a:r>
              <a:rPr lang="zh-CN" altLang="en-US" sz="2400" dirty="0"/>
              <a:t>在超步</a:t>
            </a:r>
            <a:r>
              <a:rPr lang="en-US" altLang="zh-CN" sz="2400" dirty="0"/>
              <a:t>S</a:t>
            </a:r>
            <a:r>
              <a:rPr lang="zh-CN" altLang="en-US" sz="2400" dirty="0"/>
              <a:t>中，当</a:t>
            </a:r>
            <a:r>
              <a:rPr lang="en-US" altLang="zh-CN" sz="2400" dirty="0"/>
              <a:t>Worker</a:t>
            </a:r>
            <a:r>
              <a:rPr lang="zh-CN" altLang="en-US" sz="2400" dirty="0"/>
              <a:t>在进行顶点处理时，用于当前超步的消息会被处理</a:t>
            </a:r>
            <a:endParaRPr lang="zh-CN" altLang="en-US" sz="2400" dirty="0"/>
          </a:p>
          <a:p>
            <a:pPr marL="0" indent="0">
              <a:lnSpc>
                <a:spcPct val="120000"/>
              </a:lnSpc>
            </a:pPr>
            <a:r>
              <a:rPr lang="zh-CN" altLang="en-US" sz="2400" dirty="0"/>
              <a:t>在超步</a:t>
            </a:r>
            <a:r>
              <a:rPr lang="en-US" altLang="zh-CN" sz="2400" dirty="0"/>
              <a:t>S</a:t>
            </a:r>
            <a:r>
              <a:rPr lang="zh-CN" altLang="en-US" sz="2400" dirty="0"/>
              <a:t>中，</a:t>
            </a:r>
            <a:r>
              <a:rPr lang="zh-CN" altLang="en-US" sz="2400" dirty="0"/>
              <a:t>还会接收到来自其他</a:t>
            </a:r>
            <a:r>
              <a:rPr lang="en-US" altLang="zh-CN" sz="2400" dirty="0"/>
              <a:t>Worker</a:t>
            </a:r>
            <a:r>
              <a:rPr lang="zh-CN" altLang="en-US" sz="2400" dirty="0"/>
              <a:t>的消息，这些消息会在下一个超步</a:t>
            </a:r>
            <a:r>
              <a:rPr lang="en-US" altLang="zh-CN" sz="2400" dirty="0"/>
              <a:t>S+1</a:t>
            </a:r>
            <a:r>
              <a:rPr lang="zh-CN" altLang="en-US" sz="2400" dirty="0"/>
              <a:t>中被处理</a:t>
            </a:r>
            <a:endParaRPr lang="zh-CN" altLang="en-US" sz="2400" dirty="0"/>
          </a:p>
          <a:p>
            <a:pPr marL="0" indent="0">
              <a:lnSpc>
                <a:spcPct val="120000"/>
              </a:lnSpc>
            </a:pPr>
            <a:endParaRPr lang="zh-CN" altLang="en-US" sz="2400" dirty="0"/>
          </a:p>
          <a:p>
            <a:pPr marL="0" indent="0">
              <a:lnSpc>
                <a:spcPct val="120000"/>
              </a:lnSpc>
            </a:pPr>
            <a:r>
              <a:rPr lang="zh-CN" altLang="en-US" sz="2400" dirty="0"/>
              <a:t>如果一个顶点</a:t>
            </a:r>
            <a:r>
              <a:rPr lang="en-US" altLang="zh-CN" sz="2400" dirty="0"/>
              <a:t>V</a:t>
            </a:r>
            <a:r>
              <a:rPr lang="zh-CN" altLang="en-US" sz="2400" dirty="0"/>
              <a:t>在超步</a:t>
            </a:r>
            <a:r>
              <a:rPr lang="en-US" altLang="zh-CN" sz="2400" dirty="0"/>
              <a:t>S</a:t>
            </a:r>
            <a:r>
              <a:rPr lang="zh-CN" altLang="en-US" sz="2400" dirty="0"/>
              <a:t>接收到消息，那么，它表示</a:t>
            </a:r>
            <a:r>
              <a:rPr lang="en-US" altLang="zh-CN" sz="2400" dirty="0"/>
              <a:t>V</a:t>
            </a:r>
            <a:r>
              <a:rPr lang="zh-CN" altLang="en-US" sz="2400" dirty="0"/>
              <a:t>将会在下一个超步</a:t>
            </a:r>
            <a:r>
              <a:rPr lang="en-US" altLang="zh-CN" sz="2400" dirty="0"/>
              <a:t>S+1</a:t>
            </a:r>
            <a:r>
              <a:rPr lang="zh-CN" altLang="en-US" sz="2400" dirty="0"/>
              <a:t>中（而不是当前超步</a:t>
            </a:r>
            <a:r>
              <a:rPr lang="en-US" altLang="zh-CN" sz="2400" dirty="0"/>
              <a:t>S</a:t>
            </a:r>
            <a:r>
              <a:rPr lang="zh-CN" altLang="en-US" sz="2400" dirty="0"/>
              <a:t>中）处于“活跃”状态</a:t>
            </a:r>
            <a:endParaRPr lang="zh-CN" altLang="en-US" sz="2400" dirty="0"/>
          </a:p>
        </p:txBody>
      </p:sp>
      <p:sp>
        <p:nvSpPr>
          <p:cNvPr id="34819" name="标题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en-US" altLang="zh-CN" b="1" dirty="0"/>
              <a:t>13.5.3	Worker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2" name="内容占位符 1"/>
          <p:cNvSpPr>
            <a:spLocks noGrp="1"/>
          </p:cNvSpPr>
          <p:nvPr>
            <p:ph idx="1"/>
          </p:nvPr>
        </p:nvSpPr>
        <p:spPr>
          <a:xfrm>
            <a:off x="664845" y="1691640"/>
            <a:ext cx="10791190" cy="4485640"/>
          </a:xfrm>
        </p:spPr>
        <p:txBody>
          <a:bodyPr vert="horz" wrap="square" lIns="91440" tIns="45720" rIns="91440" bIns="45720" anchor="t" anchorCtr="0">
            <a:normAutofit lnSpcReduction="20000"/>
          </a:bodyPr>
          <a:p>
            <a:pPr marL="0" indent="0">
              <a:lnSpc>
                <a:spcPct val="110000"/>
              </a:lnSpc>
              <a:buNone/>
            </a:pPr>
            <a:r>
              <a:rPr lang="zh-CN" altLang="en-US" sz="2400" dirty="0">
                <a:highlight>
                  <a:srgbClr val="FFFF00"/>
                </a:highlight>
              </a:rPr>
              <a:t>消息传递的处理</a:t>
            </a:r>
            <a:r>
              <a:rPr lang="zh-CN" altLang="en-US" sz="2400" dirty="0"/>
              <a:t>：</a:t>
            </a:r>
            <a:endParaRPr lang="zh-CN" altLang="en-US" sz="2400" dirty="0"/>
          </a:p>
          <a:p>
            <a:pPr marL="0" indent="0">
              <a:lnSpc>
                <a:spcPct val="110000"/>
              </a:lnSpc>
            </a:pPr>
            <a:r>
              <a:rPr lang="zh-CN" altLang="en-US" sz="2400" dirty="0"/>
              <a:t>当</a:t>
            </a:r>
            <a:r>
              <a:rPr lang="en-US" altLang="zh-CN" sz="2400" dirty="0"/>
              <a:t>Worker</a:t>
            </a:r>
            <a:r>
              <a:rPr lang="zh-CN" altLang="en-US" sz="2400" dirty="0"/>
              <a:t>上的顶点</a:t>
            </a:r>
            <a:r>
              <a:rPr lang="en-US" altLang="zh-CN" sz="2400" dirty="0"/>
              <a:t>V</a:t>
            </a:r>
            <a:r>
              <a:rPr lang="zh-CN" altLang="en-US" sz="2400" dirty="0"/>
              <a:t>需要发送消息到其他顶点</a:t>
            </a:r>
            <a:r>
              <a:rPr lang="en-US" altLang="zh-CN" sz="2400" dirty="0"/>
              <a:t>U</a:t>
            </a:r>
            <a:r>
              <a:rPr lang="zh-CN" altLang="en-US" sz="2400" dirty="0"/>
              <a:t>时，会先判断</a:t>
            </a:r>
            <a:r>
              <a:rPr lang="en-US" altLang="zh-CN" sz="2400" dirty="0"/>
              <a:t>U</a:t>
            </a:r>
            <a:r>
              <a:rPr lang="zh-CN" altLang="en-US" sz="2400" dirty="0"/>
              <a:t>是否位于</a:t>
            </a:r>
            <a:r>
              <a:rPr lang="zh-CN" sz="2400" dirty="0"/>
              <a:t>本地：</a:t>
            </a:r>
            <a:endParaRPr lang="zh-CN" sz="2400" dirty="0"/>
          </a:p>
          <a:p>
            <a:pPr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zh-CN" altLang="en-US" sz="2400" dirty="0"/>
              <a:t>U在本地，直接把消息放入到与U对应的输入消息队列中</a:t>
            </a:r>
            <a:endParaRPr lang="zh-CN" altLang="en-US" sz="2400" dirty="0"/>
          </a:p>
          <a:p>
            <a:pPr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zh-CN" altLang="en-US" sz="2400" dirty="0"/>
              <a:t>U非本地，消息会被暂时缓存到本地，当缓存中的消息数目达到事先设定的阈值时，这些缓存消息会被批量异步发送出去，传输到目标顶点所在的Worker上</a:t>
            </a:r>
            <a:endParaRPr lang="zh-CN" altLang="en-US" sz="2400" dirty="0"/>
          </a:p>
          <a:p>
            <a:pPr marL="0" indent="0">
              <a:lnSpc>
                <a:spcPct val="110000"/>
              </a:lnSpc>
            </a:pPr>
            <a:endParaRPr lang="zh-CN" altLang="en-US" sz="2400" dirty="0"/>
          </a:p>
          <a:p>
            <a:pPr marL="0" indent="0">
              <a:lnSpc>
                <a:spcPct val="110000"/>
              </a:lnSpc>
            </a:pPr>
            <a:r>
              <a:rPr lang="zh-CN" altLang="en-US" sz="2400" dirty="0"/>
              <a:t>如果存在用户自定义的</a:t>
            </a:r>
            <a:r>
              <a:rPr lang="en-US" altLang="zh-CN" sz="2400" dirty="0"/>
              <a:t>Combiner</a:t>
            </a:r>
            <a:r>
              <a:rPr lang="zh-CN" altLang="en-US" sz="2400" dirty="0"/>
              <a:t>操作，那么，当消息被加入到输出队列或者到达输入队列时，就可以对消息执行合并操作，这样可以节省存储空间和网络传输开销</a:t>
            </a:r>
            <a:endParaRPr lang="zh-CN" altLang="en-US" sz="2400" dirty="0"/>
          </a:p>
        </p:txBody>
      </p:sp>
      <p:sp>
        <p:nvSpPr>
          <p:cNvPr id="35843" name="标题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en-US" altLang="zh-CN" b="1" dirty="0"/>
              <a:t>13.5.3	Worker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en-US" altLang="zh-CN" b="1" dirty="0"/>
              <a:t>13.5.4	Master</a:t>
            </a:r>
            <a:endParaRPr lang="zh-CN" altLang="en-US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939800" y="1691005"/>
            <a:ext cx="9841865" cy="45218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  <a:buChar char="•"/>
            </a:pPr>
            <a:r>
              <a:rPr lang="en-US" altLang="zh-CN" sz="2400" dirty="0">
                <a:latin typeface="Arial" panose="020B0604020202020204" pitchFamily="34" charset="0"/>
                <a:sym typeface="+mn-ea"/>
              </a:rPr>
              <a:t>Master</a:t>
            </a:r>
            <a:r>
              <a:rPr lang="zh-CN" altLang="en-US" sz="2400" dirty="0">
                <a:latin typeface="Arial" panose="020B0604020202020204" pitchFamily="34" charset="0"/>
                <a:sym typeface="+mn-ea"/>
              </a:rPr>
              <a:t>主要负责协调各个</a:t>
            </a:r>
            <a:r>
              <a:rPr lang="en-US" altLang="zh-CN" sz="2400" dirty="0">
                <a:latin typeface="Arial" panose="020B0604020202020204" pitchFamily="34" charset="0"/>
                <a:sym typeface="+mn-ea"/>
              </a:rPr>
              <a:t>Worker</a:t>
            </a:r>
            <a:r>
              <a:rPr lang="zh-CN" altLang="en-US" sz="2400" dirty="0">
                <a:latin typeface="Arial" panose="020B0604020202020204" pitchFamily="34" charset="0"/>
                <a:sym typeface="+mn-ea"/>
              </a:rPr>
              <a:t>执行任务，每个</a:t>
            </a:r>
            <a:r>
              <a:rPr lang="en-US" altLang="zh-CN" sz="2400" dirty="0">
                <a:latin typeface="Arial" panose="020B0604020202020204" pitchFamily="34" charset="0"/>
                <a:sym typeface="+mn-ea"/>
              </a:rPr>
              <a:t>Worker</a:t>
            </a:r>
            <a:r>
              <a:rPr lang="zh-CN" altLang="en-US" sz="2400" dirty="0">
                <a:latin typeface="Arial" panose="020B0604020202020204" pitchFamily="34" charset="0"/>
                <a:sym typeface="+mn-ea"/>
              </a:rPr>
              <a:t>会借助于名称服务系统定位到</a:t>
            </a:r>
            <a:r>
              <a:rPr lang="en-US" altLang="zh-CN" sz="2400" dirty="0">
                <a:latin typeface="Arial" panose="020B0604020202020204" pitchFamily="34" charset="0"/>
                <a:sym typeface="+mn-ea"/>
              </a:rPr>
              <a:t>Master</a:t>
            </a:r>
            <a:r>
              <a:rPr lang="zh-CN" altLang="en-US" sz="2400" dirty="0">
                <a:latin typeface="Arial" panose="020B0604020202020204" pitchFamily="34" charset="0"/>
                <a:sym typeface="+mn-ea"/>
              </a:rPr>
              <a:t>的位置，并向</a:t>
            </a:r>
            <a:r>
              <a:rPr lang="en-US" altLang="zh-CN" sz="2400" dirty="0">
                <a:latin typeface="Arial" panose="020B0604020202020204" pitchFamily="34" charset="0"/>
                <a:sym typeface="+mn-ea"/>
              </a:rPr>
              <a:t>Master</a:t>
            </a:r>
            <a:r>
              <a:rPr lang="zh-CN" altLang="en-US" sz="2400" dirty="0">
                <a:latin typeface="Arial" panose="020B0604020202020204" pitchFamily="34" charset="0"/>
                <a:sym typeface="+mn-ea"/>
              </a:rPr>
              <a:t>发送自己的注册信息，</a:t>
            </a:r>
            <a:r>
              <a:rPr lang="en-US" altLang="zh-CN" sz="2400" dirty="0">
                <a:latin typeface="Arial" panose="020B0604020202020204" pitchFamily="34" charset="0"/>
                <a:sym typeface="+mn-ea"/>
              </a:rPr>
              <a:t>Master</a:t>
            </a:r>
            <a:r>
              <a:rPr lang="zh-CN" altLang="en-US" sz="2400" dirty="0">
                <a:latin typeface="Arial" panose="020B0604020202020204" pitchFamily="34" charset="0"/>
                <a:sym typeface="+mn-ea"/>
              </a:rPr>
              <a:t>会为每个</a:t>
            </a:r>
            <a:r>
              <a:rPr lang="en-US" altLang="zh-CN" sz="2400" dirty="0">
                <a:latin typeface="Arial" panose="020B0604020202020204" pitchFamily="34" charset="0"/>
                <a:sym typeface="+mn-ea"/>
              </a:rPr>
              <a:t>Worker</a:t>
            </a:r>
            <a:r>
              <a:rPr lang="zh-CN" altLang="en-US" sz="2400" dirty="0">
                <a:latin typeface="Arial" panose="020B0604020202020204" pitchFamily="34" charset="0"/>
                <a:sym typeface="+mn-ea"/>
              </a:rPr>
              <a:t>分配一个唯一的</a:t>
            </a:r>
            <a:r>
              <a:rPr lang="en-US" altLang="zh-CN" sz="2400" dirty="0">
                <a:latin typeface="Arial" panose="020B0604020202020204" pitchFamily="34" charset="0"/>
                <a:sym typeface="+mn-ea"/>
              </a:rPr>
              <a:t>ID</a:t>
            </a:r>
            <a:endParaRPr lang="en-US" altLang="zh-CN" sz="2400" dirty="0">
              <a:latin typeface="Arial" panose="020B0604020202020204" pitchFamily="34" charset="0"/>
              <a:sym typeface="+mn-ea"/>
            </a:endParaRPr>
          </a:p>
          <a:p>
            <a:pPr>
              <a:lnSpc>
                <a:spcPct val="120000"/>
              </a:lnSpc>
              <a:buChar char="•"/>
            </a:pPr>
            <a:endParaRPr lang="en-US" altLang="zh-CN" sz="2400" dirty="0">
              <a:latin typeface="Arial" panose="020B0604020202020204" pitchFamily="34" charset="0"/>
            </a:endParaRPr>
          </a:p>
          <a:p>
            <a:pPr>
              <a:lnSpc>
                <a:spcPct val="120000"/>
              </a:lnSpc>
              <a:buChar char="•"/>
            </a:pPr>
            <a:r>
              <a:rPr lang="en-US" altLang="zh-CN" sz="2400" dirty="0">
                <a:latin typeface="Arial" panose="020B0604020202020204" pitchFamily="34" charset="0"/>
                <a:sym typeface="+mn-ea"/>
              </a:rPr>
              <a:t>Master</a:t>
            </a:r>
            <a:r>
              <a:rPr lang="zh-CN" altLang="en-US" sz="2400" dirty="0">
                <a:latin typeface="Arial" panose="020B0604020202020204" pitchFamily="34" charset="0"/>
                <a:sym typeface="+mn-ea"/>
              </a:rPr>
              <a:t>维护着关于当前处于“有效”状态的所有</a:t>
            </a:r>
            <a:r>
              <a:rPr lang="en-US" altLang="zh-CN" sz="2400" dirty="0">
                <a:latin typeface="Arial" panose="020B0604020202020204" pitchFamily="34" charset="0"/>
                <a:sym typeface="+mn-ea"/>
              </a:rPr>
              <a:t>Worker</a:t>
            </a:r>
            <a:r>
              <a:rPr lang="zh-CN" altLang="en-US" sz="2400" dirty="0">
                <a:latin typeface="Arial" panose="020B0604020202020204" pitchFamily="34" charset="0"/>
                <a:sym typeface="+mn-ea"/>
              </a:rPr>
              <a:t>的各种信息，包括每个</a:t>
            </a:r>
            <a:r>
              <a:rPr lang="en-US" altLang="zh-CN" sz="2400" dirty="0">
                <a:latin typeface="Arial" panose="020B0604020202020204" pitchFamily="34" charset="0"/>
                <a:sym typeface="+mn-ea"/>
              </a:rPr>
              <a:t>Worker</a:t>
            </a:r>
            <a:r>
              <a:rPr lang="zh-CN" altLang="en-US" sz="2400" dirty="0">
                <a:latin typeface="Arial" panose="020B0604020202020204" pitchFamily="34" charset="0"/>
                <a:sym typeface="+mn-ea"/>
              </a:rPr>
              <a:t>的</a:t>
            </a:r>
            <a:r>
              <a:rPr lang="en-US" altLang="zh-CN" sz="2400" dirty="0">
                <a:latin typeface="Arial" panose="020B0604020202020204" pitchFamily="34" charset="0"/>
                <a:sym typeface="+mn-ea"/>
              </a:rPr>
              <a:t>ID</a:t>
            </a:r>
            <a:r>
              <a:rPr lang="zh-CN" altLang="en-US" sz="2400" dirty="0">
                <a:latin typeface="Arial" panose="020B0604020202020204" pitchFamily="34" charset="0"/>
                <a:sym typeface="+mn-ea"/>
              </a:rPr>
              <a:t>和地址信息，以及每个</a:t>
            </a:r>
            <a:r>
              <a:rPr lang="en-US" altLang="zh-CN" sz="2400" dirty="0">
                <a:latin typeface="Arial" panose="020B0604020202020204" pitchFamily="34" charset="0"/>
                <a:sym typeface="+mn-ea"/>
              </a:rPr>
              <a:t>Worker</a:t>
            </a:r>
            <a:r>
              <a:rPr lang="zh-CN" altLang="en-US" sz="2400" dirty="0">
                <a:latin typeface="Arial" panose="020B0604020202020204" pitchFamily="34" charset="0"/>
                <a:sym typeface="+mn-ea"/>
              </a:rPr>
              <a:t>被分配到的分区信息</a:t>
            </a:r>
            <a:endParaRPr lang="zh-CN" altLang="en-US" sz="2400" dirty="0">
              <a:latin typeface="Arial" panose="020B0604020202020204" pitchFamily="34" charset="0"/>
              <a:sym typeface="+mn-ea"/>
            </a:endParaRPr>
          </a:p>
          <a:p>
            <a:pPr>
              <a:lnSpc>
                <a:spcPct val="120000"/>
              </a:lnSpc>
              <a:buChar char="•"/>
            </a:pPr>
            <a:endParaRPr lang="en-US" altLang="zh-CN" sz="2400" dirty="0">
              <a:latin typeface="Arial" panose="020B0604020202020204" pitchFamily="34" charset="0"/>
            </a:endParaRPr>
          </a:p>
          <a:p>
            <a:pPr>
              <a:lnSpc>
                <a:spcPct val="120000"/>
              </a:lnSpc>
              <a:buChar char="•"/>
            </a:pPr>
            <a:r>
              <a:rPr lang="zh-CN" altLang="en-US" sz="2400" dirty="0">
                <a:latin typeface="Arial" panose="020B0604020202020204" pitchFamily="34" charset="0"/>
                <a:sym typeface="+mn-ea"/>
              </a:rPr>
              <a:t>虽然在集群中只有一个</a:t>
            </a:r>
            <a:r>
              <a:rPr lang="en-US" altLang="zh-CN" sz="2400" dirty="0">
                <a:latin typeface="Arial" panose="020B0604020202020204" pitchFamily="34" charset="0"/>
                <a:sym typeface="+mn-ea"/>
              </a:rPr>
              <a:t>Master</a:t>
            </a:r>
            <a:r>
              <a:rPr lang="zh-CN" altLang="en-US" sz="2400" dirty="0">
                <a:latin typeface="Arial" panose="020B0604020202020204" pitchFamily="34" charset="0"/>
                <a:sym typeface="+mn-ea"/>
              </a:rPr>
              <a:t>，但是，它仍然能够承担起一个大规模图计算的协调任务，这是因为</a:t>
            </a:r>
            <a:r>
              <a:rPr lang="en-US" altLang="zh-CN" sz="2400" dirty="0">
                <a:latin typeface="Arial" panose="020B0604020202020204" pitchFamily="34" charset="0"/>
                <a:sym typeface="+mn-ea"/>
              </a:rPr>
              <a:t>Master</a:t>
            </a:r>
            <a:r>
              <a:rPr lang="zh-CN" altLang="en-US" sz="2400" dirty="0">
                <a:latin typeface="Arial" panose="020B0604020202020204" pitchFamily="34" charset="0"/>
                <a:sym typeface="+mn-ea"/>
              </a:rPr>
              <a:t>中保存这些信息的数据结构的大小，</a:t>
            </a:r>
            <a:r>
              <a:rPr lang="zh-CN" altLang="en-US" sz="2400" dirty="0">
                <a:highlight>
                  <a:srgbClr val="FFFF00"/>
                </a:highlight>
                <a:latin typeface="Arial" panose="020B0604020202020204" pitchFamily="34" charset="0"/>
                <a:sym typeface="+mn-ea"/>
              </a:rPr>
              <a:t>只与分区的数量有关</a:t>
            </a:r>
            <a:r>
              <a:rPr lang="zh-CN" altLang="en-US" sz="2400" dirty="0">
                <a:latin typeface="Arial" panose="020B0604020202020204" pitchFamily="34" charset="0"/>
                <a:sym typeface="+mn-ea"/>
              </a:rPr>
              <a:t>，而与顶点和边的数量无关</a:t>
            </a:r>
            <a:endParaRPr lang="zh-CN" altLang="en-US" sz="2400" dirty="0">
              <a:latin typeface="Arial" panose="020B0604020202020204" pitchFamily="34" charset="0"/>
              <a:sym typeface="+mn-e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90" name="内容占位符 1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>
            <a:normAutofit lnSpcReduction="10000"/>
          </a:bodyPr>
          <a:p>
            <a:pPr marL="0" indent="0">
              <a:lnSpc>
                <a:spcPct val="100000"/>
              </a:lnSpc>
              <a:buNone/>
            </a:pPr>
            <a:r>
              <a:rPr lang="en-US" altLang="zh-CN" sz="2400" dirty="0"/>
              <a:t>Master</a:t>
            </a:r>
            <a:r>
              <a:rPr lang="zh-CN" altLang="en-US" sz="2400" dirty="0"/>
              <a:t>的控制过程：</a:t>
            </a:r>
            <a:endParaRPr lang="zh-CN" altLang="en-US" sz="2400" dirty="0"/>
          </a:p>
          <a:p>
            <a:pPr marL="0" indent="0">
              <a:lnSpc>
                <a:spcPct val="100000"/>
              </a:lnSpc>
            </a:pPr>
            <a:r>
              <a:rPr lang="zh-CN" altLang="en-US" sz="2400" dirty="0"/>
              <a:t>任务分解：将大规模图计算任务分解到多个</a:t>
            </a:r>
            <a:r>
              <a:rPr lang="en-US" altLang="zh-CN" sz="2400" dirty="0"/>
              <a:t>Worker</a:t>
            </a:r>
            <a:r>
              <a:rPr lang="zh-CN" altLang="en-US" sz="2400" dirty="0"/>
              <a:t>去执行</a:t>
            </a:r>
            <a:endParaRPr lang="zh-CN" altLang="en-US" sz="2400" dirty="0"/>
          </a:p>
          <a:p>
            <a:pPr marL="0" indent="0">
              <a:lnSpc>
                <a:spcPct val="100000"/>
              </a:lnSpc>
            </a:pPr>
            <a:endParaRPr lang="zh-CN" altLang="en-US" sz="2400" dirty="0"/>
          </a:p>
          <a:p>
            <a:pPr marL="0" indent="0">
              <a:lnSpc>
                <a:spcPct val="100000"/>
              </a:lnSpc>
            </a:pPr>
            <a:r>
              <a:rPr lang="zh-CN" altLang="en-US" sz="2400" dirty="0"/>
              <a:t>状态确认：超步开始时，向所有处于“有效”状态的</a:t>
            </a:r>
            <a:r>
              <a:rPr lang="en-US" altLang="zh-CN" sz="2400" dirty="0"/>
              <a:t>Worker</a:t>
            </a:r>
            <a:r>
              <a:rPr lang="zh-CN" altLang="en-US" sz="2400" dirty="0"/>
              <a:t>发送相同的指令，然后等待</a:t>
            </a:r>
            <a:r>
              <a:rPr lang="en-US" altLang="zh-CN" sz="2400" dirty="0"/>
              <a:t>Worker</a:t>
            </a:r>
            <a:r>
              <a:rPr lang="zh-CN" altLang="en-US" sz="2400" dirty="0"/>
              <a:t>回应，得不到回应（故障失效）则进入恢复模式</a:t>
            </a:r>
            <a:endParaRPr lang="zh-CN" altLang="en-US" sz="2400" dirty="0"/>
          </a:p>
          <a:p>
            <a:pPr marL="0" indent="0">
              <a:lnSpc>
                <a:spcPct val="100000"/>
              </a:lnSpc>
            </a:pPr>
            <a:endParaRPr lang="en-US" altLang="zh-CN" sz="2400" dirty="0"/>
          </a:p>
          <a:p>
            <a:pPr marL="0" indent="0">
              <a:lnSpc>
                <a:spcPct val="100000"/>
              </a:lnSpc>
            </a:pPr>
            <a:r>
              <a:rPr lang="zh-CN" altLang="en-US" sz="2400" dirty="0"/>
              <a:t>监控执行：每个超步中，图计算的各种工作，比如输入、输出、计算、保存和从检查点中恢复，都会在“路障（</a:t>
            </a:r>
            <a:r>
              <a:rPr lang="en-US" altLang="zh-CN" sz="2400" dirty="0"/>
              <a:t>barrier</a:t>
            </a:r>
            <a:r>
              <a:rPr lang="zh-CN" altLang="en-US" sz="2400" dirty="0"/>
              <a:t>）”之前结束。如果路障同步成功，说明一个超步顺利结束，</a:t>
            </a:r>
            <a:r>
              <a:rPr lang="en-US" altLang="zh-CN" sz="2400" dirty="0"/>
              <a:t>Master</a:t>
            </a:r>
            <a:r>
              <a:rPr lang="zh-CN" altLang="en-US" sz="2400" dirty="0"/>
              <a:t>就会进入下一个处理阶段，图计算进入下一个超步的执行。</a:t>
            </a:r>
            <a:endParaRPr lang="zh-CN" altLang="en-US" sz="2400" dirty="0"/>
          </a:p>
        </p:txBody>
      </p:sp>
      <p:sp>
        <p:nvSpPr>
          <p:cNvPr id="37891" name="标题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en-US" altLang="zh-CN" b="1" dirty="0"/>
              <a:t>13.5.4	Master</a:t>
            </a:r>
            <a:endParaRPr lang="zh-CN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4" name="标题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en-US" altLang="zh-CN" b="1" dirty="0"/>
              <a:t>13.5.4	Master</a:t>
            </a:r>
            <a:endParaRPr lang="zh-CN" altLang="en-US" b="1" dirty="0"/>
          </a:p>
        </p:txBody>
      </p:sp>
      <p:sp>
        <p:nvSpPr>
          <p:cNvPr id="38915" name="矩形 3"/>
          <p:cNvSpPr/>
          <p:nvPr/>
        </p:nvSpPr>
        <p:spPr>
          <a:xfrm>
            <a:off x="954405" y="1565910"/>
            <a:ext cx="9909175" cy="39693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</a:rPr>
              <a:t>Master</a:t>
            </a:r>
            <a:r>
              <a:rPr lang="zh-CN" altLang="en-US" sz="2400" dirty="0">
                <a:latin typeface="Arial" panose="020B0604020202020204" pitchFamily="34" charset="0"/>
              </a:rPr>
              <a:t>在内部运行了一个</a:t>
            </a:r>
            <a:r>
              <a:rPr lang="en-US" altLang="zh-CN" sz="2400" dirty="0">
                <a:latin typeface="Arial" panose="020B0604020202020204" pitchFamily="34" charset="0"/>
              </a:rPr>
              <a:t>HTTP</a:t>
            </a:r>
            <a:r>
              <a:rPr lang="zh-CN" altLang="en-US" sz="2400" dirty="0">
                <a:latin typeface="Arial" panose="020B0604020202020204" pitchFamily="34" charset="0"/>
              </a:rPr>
              <a:t>服务器来显示图计算过程的各种信息</a:t>
            </a:r>
            <a:endParaRPr lang="en-US" altLang="zh-CN" sz="2400" dirty="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Arial" panose="020B0604020202020204" pitchFamily="34" charset="0"/>
              </a:rPr>
              <a:t>用户可以通过网页随时监控图计算执行过程各个细节</a:t>
            </a:r>
            <a:endParaRPr lang="en-US" altLang="zh-CN" sz="2400" dirty="0">
              <a:latin typeface="Arial" panose="020B0604020202020204" pitchFamily="34" charset="0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Arial" panose="020B0604020202020204" pitchFamily="34" charset="0"/>
              </a:rPr>
              <a:t>图的大小</a:t>
            </a:r>
            <a:endParaRPr lang="en-US" altLang="zh-CN" sz="2400" dirty="0">
              <a:latin typeface="Arial" panose="020B0604020202020204" pitchFamily="34" charset="0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Arial" panose="020B0604020202020204" pitchFamily="34" charset="0"/>
              </a:rPr>
              <a:t>关于出度分布的柱状图</a:t>
            </a:r>
            <a:endParaRPr lang="en-US" altLang="zh-CN" sz="2400" dirty="0">
              <a:latin typeface="Arial" panose="020B0604020202020204" pitchFamily="34" charset="0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Arial" panose="020B0604020202020204" pitchFamily="34" charset="0"/>
              </a:rPr>
              <a:t>处于活跃状态的顶点数量</a:t>
            </a:r>
            <a:endParaRPr lang="en-US" altLang="zh-CN" sz="2400" dirty="0">
              <a:latin typeface="Arial" panose="020B0604020202020204" pitchFamily="34" charset="0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Arial" panose="020B0604020202020204" pitchFamily="34" charset="0"/>
              </a:rPr>
              <a:t>在当前超步的时间信息和消息流量</a:t>
            </a:r>
            <a:endParaRPr lang="en-US" altLang="zh-CN" sz="2400" dirty="0">
              <a:latin typeface="Arial" panose="020B0604020202020204" pitchFamily="34" charset="0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Arial" panose="020B0604020202020204" pitchFamily="34" charset="0"/>
              </a:rPr>
              <a:t>所有用户自定义</a:t>
            </a:r>
            <a:r>
              <a:rPr lang="en-US" altLang="zh-CN" sz="2400" dirty="0">
                <a:latin typeface="Arial" panose="020B0604020202020204" pitchFamily="34" charset="0"/>
              </a:rPr>
              <a:t>Aggregator</a:t>
            </a:r>
            <a:r>
              <a:rPr lang="zh-CN" altLang="en-US" sz="2400" dirty="0">
                <a:latin typeface="Arial" panose="020B0604020202020204" pitchFamily="34" charset="0"/>
              </a:rPr>
              <a:t>的值</a:t>
            </a:r>
            <a:endParaRPr lang="zh-CN" altLang="en-US" sz="24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en-US" altLang="zh-CN" b="1" dirty="0"/>
              <a:t>13.5.5	Aggregator</a:t>
            </a:r>
            <a:endParaRPr lang="zh-CN" altLang="en-US" b="1" dirty="0"/>
          </a:p>
        </p:txBody>
      </p:sp>
      <p:sp>
        <p:nvSpPr>
          <p:cNvPr id="39939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>
            <a:normAutofit lnSpcReduction="10000"/>
          </a:bodyPr>
          <a:p>
            <a:pPr>
              <a:lnSpc>
                <a:spcPct val="110000"/>
              </a:lnSpc>
            </a:pPr>
            <a:r>
              <a:rPr lang="zh-CN" altLang="en-US" sz="2400" dirty="0"/>
              <a:t>每个用户自定义的</a:t>
            </a:r>
            <a:r>
              <a:rPr lang="en-US" altLang="zh-CN" sz="2400" dirty="0"/>
              <a:t>Aggregator</a:t>
            </a:r>
            <a:r>
              <a:rPr lang="zh-CN" altLang="en-US" sz="2400" dirty="0"/>
              <a:t>都会采用聚合函数对一个值集合进行聚合计算得到一个全局值</a:t>
            </a:r>
            <a:endParaRPr lang="zh-CN" altLang="en-US" sz="2400" dirty="0"/>
          </a:p>
          <a:p>
            <a:pPr>
              <a:lnSpc>
                <a:spcPct val="110000"/>
              </a:lnSpc>
            </a:pPr>
            <a:r>
              <a:rPr lang="zh-CN" altLang="en-US" sz="2400" dirty="0"/>
              <a:t>每个</a:t>
            </a:r>
            <a:r>
              <a:rPr lang="en-US" altLang="zh-CN" sz="2400" dirty="0"/>
              <a:t>Worker</a:t>
            </a:r>
            <a:r>
              <a:rPr lang="zh-CN" altLang="en-US" sz="2400" dirty="0"/>
              <a:t>都保存了一个</a:t>
            </a:r>
            <a:r>
              <a:rPr lang="en-US" altLang="zh-CN" sz="2400" dirty="0"/>
              <a:t>Aggregator</a:t>
            </a:r>
            <a:r>
              <a:rPr lang="zh-CN" altLang="en-US" sz="2400" dirty="0"/>
              <a:t>的实例集，其中的每个实例都是由类型名称和实例名称来标识的</a:t>
            </a:r>
            <a:endParaRPr lang="zh-CN" altLang="en-US" sz="2400" dirty="0"/>
          </a:p>
          <a:p>
            <a:pPr>
              <a:lnSpc>
                <a:spcPct val="110000"/>
              </a:lnSpc>
            </a:pPr>
            <a:r>
              <a:rPr lang="zh-CN" altLang="en-US" sz="2400" dirty="0"/>
              <a:t>在执行图计算过程的某个超步</a:t>
            </a:r>
            <a:r>
              <a:rPr lang="en-US" altLang="zh-CN" sz="2400" dirty="0"/>
              <a:t>S</a:t>
            </a:r>
            <a:r>
              <a:rPr lang="zh-CN" altLang="en-US" sz="2400" dirty="0"/>
              <a:t>中，每个</a:t>
            </a:r>
            <a:r>
              <a:rPr lang="en-US" altLang="zh-CN" sz="2400" dirty="0"/>
              <a:t>Worker</a:t>
            </a:r>
            <a:r>
              <a:rPr lang="zh-CN" altLang="en-US" sz="2400" dirty="0"/>
              <a:t>会利用一个</a:t>
            </a:r>
            <a:r>
              <a:rPr lang="en-US" altLang="zh-CN" sz="2400" dirty="0"/>
              <a:t>Aggregator</a:t>
            </a:r>
            <a:r>
              <a:rPr lang="zh-CN" altLang="en-US" sz="2400" dirty="0"/>
              <a:t>对当前本地分区中包含的所有顶点的值进行归约，得到一个本地的局部归约值</a:t>
            </a:r>
            <a:endParaRPr lang="zh-CN" altLang="en-US" sz="2400" dirty="0"/>
          </a:p>
          <a:p>
            <a:pPr>
              <a:lnSpc>
                <a:spcPct val="110000"/>
              </a:lnSpc>
            </a:pPr>
            <a:r>
              <a:rPr lang="zh-CN" altLang="en-US" sz="2400" dirty="0"/>
              <a:t>在超步</a:t>
            </a:r>
            <a:r>
              <a:rPr lang="en-US" altLang="zh-CN" sz="2400" dirty="0"/>
              <a:t>S</a:t>
            </a:r>
            <a:r>
              <a:rPr lang="zh-CN" altLang="en-US" sz="2400" dirty="0"/>
              <a:t>结束时，所有</a:t>
            </a:r>
            <a:r>
              <a:rPr lang="en-US" altLang="zh-CN" sz="2400" dirty="0"/>
              <a:t>Worker</a:t>
            </a:r>
            <a:r>
              <a:rPr lang="zh-CN" altLang="en-US" sz="2400" dirty="0"/>
              <a:t>会将所有包含局部归约值的</a:t>
            </a:r>
            <a:r>
              <a:rPr lang="en-US" altLang="zh-CN" sz="2400" dirty="0"/>
              <a:t>Aggregator</a:t>
            </a:r>
            <a:r>
              <a:rPr lang="zh-CN" altLang="en-US" sz="2400" dirty="0"/>
              <a:t>的值进行最后的汇总，得到全局值，然后提交给</a:t>
            </a:r>
            <a:r>
              <a:rPr lang="en-US" altLang="zh-CN" sz="2400" dirty="0"/>
              <a:t>Master</a:t>
            </a:r>
            <a:endParaRPr lang="en-US" altLang="zh-CN" sz="2400" dirty="0"/>
          </a:p>
          <a:p>
            <a:pPr>
              <a:lnSpc>
                <a:spcPct val="110000"/>
              </a:lnSpc>
            </a:pPr>
            <a:r>
              <a:rPr lang="zh-CN" altLang="en-US" sz="2400" dirty="0"/>
              <a:t>在下一个超步</a:t>
            </a:r>
            <a:r>
              <a:rPr lang="en-US" altLang="zh-CN" sz="2400" dirty="0"/>
              <a:t>S+1</a:t>
            </a:r>
            <a:r>
              <a:rPr lang="zh-CN" altLang="en-US" sz="2400" dirty="0"/>
              <a:t>开始时，</a:t>
            </a:r>
            <a:r>
              <a:rPr lang="en-US" altLang="zh-CN" sz="2400" dirty="0"/>
              <a:t>Master</a:t>
            </a:r>
            <a:r>
              <a:rPr lang="zh-CN" altLang="en-US" sz="2400" dirty="0"/>
              <a:t>就会将</a:t>
            </a:r>
            <a:r>
              <a:rPr lang="en-US" altLang="zh-CN" sz="2400" dirty="0"/>
              <a:t>Aggregator</a:t>
            </a:r>
            <a:r>
              <a:rPr lang="zh-CN" altLang="en-US" sz="2400" dirty="0"/>
              <a:t>的全局值发送给每个</a:t>
            </a:r>
            <a:r>
              <a:rPr lang="en-US" altLang="zh-CN" sz="2400" dirty="0"/>
              <a:t>Worker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en-US" altLang="zh-CN" b="1" dirty="0"/>
              <a:t>13.6	Pregel</a:t>
            </a:r>
            <a:r>
              <a:rPr lang="zh-CN" altLang="en-US" b="1" dirty="0"/>
              <a:t>的应用实例</a:t>
            </a:r>
            <a:endParaRPr lang="zh-CN" altLang="en-US" b="1" dirty="0"/>
          </a:p>
        </p:txBody>
      </p:sp>
      <p:sp>
        <p:nvSpPr>
          <p:cNvPr id="40963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marL="0" indent="0">
              <a:lnSpc>
                <a:spcPct val="200000"/>
              </a:lnSpc>
              <a:buNone/>
            </a:pPr>
            <a:r>
              <a:rPr lang="en-US" altLang="zh-CN" dirty="0"/>
              <a:t>13.6.1 </a:t>
            </a:r>
            <a:r>
              <a:rPr lang="zh-CN" altLang="en-US" dirty="0"/>
              <a:t>单源最短路径</a:t>
            </a:r>
            <a:endParaRPr lang="zh-CN" altLang="en-US" dirty="0"/>
          </a:p>
          <a:p>
            <a:pPr marL="0" indent="0">
              <a:lnSpc>
                <a:spcPct val="200000"/>
              </a:lnSpc>
              <a:buNone/>
            </a:pPr>
            <a:r>
              <a:rPr lang="en-US" altLang="zh-CN" dirty="0"/>
              <a:t>13.6.2 </a:t>
            </a:r>
            <a:r>
              <a:rPr lang="zh-CN" altLang="en-US" dirty="0"/>
              <a:t>二分匹配</a:t>
            </a:r>
            <a:endParaRPr lang="zh-CN" alt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en-US" altLang="zh-CN" b="1" dirty="0"/>
              <a:t>13.6.1 </a:t>
            </a:r>
            <a:r>
              <a:rPr lang="zh-CN" altLang="en-US" b="1" dirty="0"/>
              <a:t>单源最短路径</a:t>
            </a:r>
            <a:endParaRPr lang="zh-CN" altLang="en-US" b="1" dirty="0"/>
          </a:p>
        </p:txBody>
      </p:sp>
      <p:pic>
        <p:nvPicPr>
          <p:cNvPr id="41987" name="Picture 2" descr="http://images.cnitblog.com/blog/288799/201305/26171423-2b7544ddfbbb4b8d825ff571bd665b86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89580" y="1691005"/>
            <a:ext cx="5088255" cy="388874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1988" name="矩形 4"/>
          <p:cNvSpPr/>
          <p:nvPr/>
        </p:nvSpPr>
        <p:spPr>
          <a:xfrm>
            <a:off x="2428240" y="5845175"/>
            <a:ext cx="70866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400" dirty="0">
                <a:latin typeface="Arial" panose="020B0604020202020204" pitchFamily="34" charset="0"/>
              </a:rPr>
              <a:t>Dijkstra</a:t>
            </a:r>
            <a:r>
              <a:rPr lang="zh-CN" altLang="en-US" sz="2400" dirty="0">
                <a:latin typeface="Arial" panose="020B0604020202020204" pitchFamily="34" charset="0"/>
              </a:rPr>
              <a:t>算法是解决单源最短路径问题的贪婪算法</a:t>
            </a:r>
            <a:endParaRPr lang="zh-CN" altLang="en-US" sz="24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8" grpId="0"/>
      <p:bldP spid="41988" grpId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10" name="Rectangle 4"/>
          <p:cNvSpPr/>
          <p:nvPr/>
        </p:nvSpPr>
        <p:spPr>
          <a:xfrm>
            <a:off x="902970" y="1380173"/>
            <a:ext cx="6927850" cy="39878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Pregel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非常适合用来解决单源最短路径问题，实现代码如下：</a:t>
            </a:r>
            <a:endParaRPr lang="zh-CN" altLang="en-US" sz="2000" dirty="0">
              <a:latin typeface="Arial" panose="020B0604020202020204" pitchFamily="34" charset="0"/>
            </a:endParaRPr>
          </a:p>
        </p:txBody>
      </p:sp>
      <p:graphicFrame>
        <p:nvGraphicFramePr>
          <p:cNvPr id="30735" name="Group 15"/>
          <p:cNvGraphicFramePr>
            <a:graphicFrameLocks noGrp="1"/>
          </p:cNvGraphicFramePr>
          <p:nvPr/>
        </p:nvGraphicFramePr>
        <p:xfrm>
          <a:off x="1828800" y="1779270"/>
          <a:ext cx="5943600" cy="4968875"/>
        </p:xfrm>
        <a:graphic>
          <a:graphicData uri="http://schemas.openxmlformats.org/drawingml/2006/table">
            <a:tbl>
              <a:tblPr/>
              <a:tblGrid>
                <a:gridCol w="5943600"/>
              </a:tblGrid>
              <a:tr h="49688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class </a:t>
                      </a:r>
                      <a:r>
                        <a:rPr kumimoji="0" lang="en-US" altLang="zh-CN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ShortestPathVertex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: public Vertex&lt;</a:t>
                      </a:r>
                      <a:r>
                        <a:rPr kumimoji="0" lang="en-US" altLang="zh-CN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int</a:t>
                      </a: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0" lang="en-US" altLang="zh-CN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int</a:t>
                      </a: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0" lang="en-US" altLang="zh-CN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int</a:t>
                      </a: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&gt; {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void Compute(</a:t>
                      </a:r>
                      <a:r>
                        <a:rPr kumimoji="0" lang="en-US" altLang="zh-CN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MessageIterator</a:t>
                      </a: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* </a:t>
                      </a:r>
                      <a:r>
                        <a:rPr kumimoji="0" lang="en-US" altLang="zh-CN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msgs</a:t>
                      </a: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 {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  </a:t>
                      </a:r>
                      <a:r>
                        <a:rPr kumimoji="0" lang="en-US" altLang="zh-CN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int</a:t>
                      </a: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mindist</a:t>
                      </a: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= </a:t>
                      </a:r>
                      <a:r>
                        <a:rPr kumimoji="0" lang="en-US" altLang="zh-CN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IsSource</a:t>
                      </a: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CN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vertex_id</a:t>
                      </a: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()) ? 0 : INF;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      for (; !</a:t>
                      </a:r>
                      <a:r>
                        <a:rPr kumimoji="0" lang="en-US" altLang="zh-CN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msgs</a:t>
                      </a: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-&gt;Done(); </a:t>
                      </a:r>
                      <a:r>
                        <a:rPr kumimoji="0" lang="en-US" altLang="zh-CN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msgs</a:t>
                      </a: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-&gt;Next())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         </a:t>
                      </a:r>
                      <a:r>
                        <a:rPr kumimoji="0" lang="en-US" altLang="zh-CN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mindist</a:t>
                      </a: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= min(</a:t>
                      </a:r>
                      <a:r>
                        <a:rPr kumimoji="0" lang="en-US" altLang="zh-CN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mindist</a:t>
                      </a: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0" lang="en-US" altLang="zh-CN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msgs</a:t>
                      </a: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-&gt;Value());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      if (</a:t>
                      </a:r>
                      <a:r>
                        <a:rPr kumimoji="0" lang="en-US" altLang="zh-CN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mindist</a:t>
                      </a: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&lt; </a:t>
                      </a:r>
                      <a:r>
                        <a:rPr kumimoji="0" lang="en-US" altLang="zh-CN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GetValue</a:t>
                      </a: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()) {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        *</a:t>
                      </a:r>
                      <a:r>
                        <a:rPr kumimoji="0" lang="en-US" altLang="zh-CN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MutableValue</a:t>
                      </a: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() = </a:t>
                      </a:r>
                      <a:r>
                        <a:rPr kumimoji="0" lang="en-US" altLang="zh-CN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mindist</a:t>
                      </a: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;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        </a:t>
                      </a:r>
                      <a:r>
                        <a:rPr kumimoji="0" lang="en-US" altLang="zh-CN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OutEdgeIterator</a:t>
                      </a: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iter</a:t>
                      </a: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= </a:t>
                      </a:r>
                      <a:r>
                        <a:rPr kumimoji="0" lang="en-US" altLang="zh-CN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GetOutEdgeIterator</a:t>
                      </a: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();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      for (; !</a:t>
                      </a:r>
                      <a:r>
                        <a:rPr kumimoji="0" lang="en-US" altLang="zh-CN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iter.Done</a:t>
                      </a: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(); </a:t>
                      </a:r>
                      <a:r>
                        <a:rPr kumimoji="0" lang="en-US" altLang="zh-CN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iter.Next</a:t>
                      </a: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())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11           </a:t>
                      </a:r>
                      <a:r>
                        <a:rPr kumimoji="0" lang="en-US" altLang="zh-CN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SendMessageTo</a:t>
                      </a: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CN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iter.Target</a:t>
                      </a: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(),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12                     </a:t>
                      </a:r>
                      <a:r>
                        <a:rPr kumimoji="0" lang="en-US" altLang="zh-CN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mindist</a:t>
                      </a: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+ </a:t>
                      </a:r>
                      <a:r>
                        <a:rPr kumimoji="0" lang="en-US" altLang="zh-CN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iter.GetValue</a:t>
                      </a: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());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13     }</a:t>
                      </a: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//end if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14</a:t>
                      </a: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 </a:t>
                      </a:r>
                      <a:r>
                        <a:rPr kumimoji="0" lang="en-US" altLang="zh-CN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VoteToHalt</a:t>
                      </a: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();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15</a:t>
                      </a: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}</a:t>
                      </a: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//end Compute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</a:t>
                      </a: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};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04" marB="4570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301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en-US" altLang="zh-CN" b="1" dirty="0"/>
              <a:t>13.6.1 </a:t>
            </a:r>
            <a:r>
              <a:rPr lang="zh-CN" altLang="en-US" b="1" dirty="0"/>
              <a:t>单源最短路径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4034" name="Picture 2" descr="http://images.cnitblog.com/blog/288799/201305/26171423-2b7544ddfbbb4b8d825ff571bd665b86.jpg"/>
          <p:cNvPicPr>
            <a:picLocks noChangeAspect="1"/>
          </p:cNvPicPr>
          <p:nvPr/>
        </p:nvPicPr>
        <p:blipFill>
          <a:blip r:embed="rId1"/>
          <a:srcRect l="4991" t="5405" r="6197"/>
          <a:stretch>
            <a:fillRect/>
          </a:stretch>
        </p:blipFill>
        <p:spPr>
          <a:xfrm>
            <a:off x="7086600" y="1143000"/>
            <a:ext cx="2743200" cy="2233613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4" name="表格 3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6781800" y="4114800"/>
          <a:ext cx="33528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8800"/>
                <a:gridCol w="558800"/>
                <a:gridCol w="558800"/>
                <a:gridCol w="558800"/>
                <a:gridCol w="558800"/>
                <a:gridCol w="558800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INF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INF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INF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INF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INF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4058" name="TextBox 4"/>
          <p:cNvSpPr txBox="1"/>
          <p:nvPr/>
        </p:nvSpPr>
        <p:spPr>
          <a:xfrm>
            <a:off x="6691313" y="3733800"/>
            <a:ext cx="2786380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b="1" dirty="0">
                <a:latin typeface="Arial" panose="020B0604020202020204" pitchFamily="34" charset="0"/>
              </a:rPr>
              <a:t>表</a:t>
            </a:r>
            <a:r>
              <a:rPr lang="en-US" altLang="zh-CN" b="1" dirty="0">
                <a:latin typeface="Arial" panose="020B0604020202020204" pitchFamily="34" charset="0"/>
              </a:rPr>
              <a:t>1 </a:t>
            </a:r>
            <a:r>
              <a:rPr lang="zh-CN" altLang="en-US" b="1" dirty="0">
                <a:latin typeface="Arial" panose="020B0604020202020204" pitchFamily="34" charset="0"/>
              </a:rPr>
              <a:t>超步</a:t>
            </a:r>
            <a:r>
              <a:rPr lang="en-US" altLang="zh-CN" b="1" dirty="0">
                <a:latin typeface="Arial" panose="020B0604020202020204" pitchFamily="34" charset="0"/>
              </a:rPr>
              <a:t>0</a:t>
            </a:r>
            <a:r>
              <a:rPr lang="zh-CN" altLang="en-US" b="1" dirty="0">
                <a:latin typeface="Arial" panose="020B0604020202020204" pitchFamily="34" charset="0"/>
              </a:rPr>
              <a:t>开始时的顶点值</a:t>
            </a:r>
            <a:endParaRPr lang="zh-CN" altLang="en-US" b="1" dirty="0">
              <a:latin typeface="Arial" panose="020B0604020202020204" pitchFamily="34" charset="0"/>
            </a:endParaRPr>
          </a:p>
        </p:txBody>
      </p:sp>
      <p:sp>
        <p:nvSpPr>
          <p:cNvPr id="44059" name="TextBox 5"/>
          <p:cNvSpPr txBox="1"/>
          <p:nvPr/>
        </p:nvSpPr>
        <p:spPr>
          <a:xfrm>
            <a:off x="6705600" y="3363913"/>
            <a:ext cx="36576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latin typeface="Arial" panose="020B0604020202020204" pitchFamily="34" charset="0"/>
              </a:rPr>
              <a:t>每个顶点并行执行</a:t>
            </a:r>
            <a:r>
              <a:rPr lang="en-US" altLang="zh-CN" dirty="0">
                <a:latin typeface="Arial" panose="020B0604020202020204" pitchFamily="34" charset="0"/>
              </a:rPr>
              <a:t>Compute()</a:t>
            </a:r>
            <a:r>
              <a:rPr lang="zh-CN" altLang="en-US" dirty="0">
                <a:latin typeface="Arial" panose="020B0604020202020204" pitchFamily="34" charset="0"/>
              </a:rPr>
              <a:t>函数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pic>
        <p:nvPicPr>
          <p:cNvPr id="44060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1595" y="1244600"/>
            <a:ext cx="4757738" cy="4008438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1981200" y="5735638"/>
          <a:ext cx="32766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5320"/>
                <a:gridCol w="655320"/>
                <a:gridCol w="655320"/>
                <a:gridCol w="655320"/>
                <a:gridCol w="655320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无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10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4081" name="TextBox 9"/>
          <p:cNvSpPr txBox="1"/>
          <p:nvPr/>
        </p:nvSpPr>
        <p:spPr>
          <a:xfrm>
            <a:off x="1917700" y="5410200"/>
            <a:ext cx="3307080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b="1" dirty="0">
                <a:latin typeface="Arial" panose="020B0604020202020204" pitchFamily="34" charset="0"/>
              </a:rPr>
              <a:t>表</a:t>
            </a:r>
            <a:r>
              <a:rPr lang="en-US" altLang="zh-CN" b="1" dirty="0">
                <a:latin typeface="Arial" panose="020B0604020202020204" pitchFamily="34" charset="0"/>
              </a:rPr>
              <a:t>3  </a:t>
            </a:r>
            <a:r>
              <a:rPr lang="zh-CN" altLang="en-US" b="1" dirty="0">
                <a:latin typeface="Arial" panose="020B0604020202020204" pitchFamily="34" charset="0"/>
              </a:rPr>
              <a:t>顶点</a:t>
            </a:r>
            <a:r>
              <a:rPr lang="en-US" altLang="zh-CN" b="1" dirty="0">
                <a:latin typeface="Arial" panose="020B0604020202020204" pitchFamily="34" charset="0"/>
              </a:rPr>
              <a:t>0</a:t>
            </a:r>
            <a:r>
              <a:rPr lang="zh-CN" altLang="en-US" b="1" dirty="0">
                <a:latin typeface="Arial" panose="020B0604020202020204" pitchFamily="34" charset="0"/>
              </a:rPr>
              <a:t>向其他顶点发送消息</a:t>
            </a:r>
            <a:endParaRPr lang="zh-CN" altLang="en-US" b="1" dirty="0">
              <a:latin typeface="Arial" panose="020B0604020202020204" pitchFamily="34" charset="0"/>
            </a:endParaRPr>
          </a:p>
        </p:txBody>
      </p:sp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6781800" y="5410200"/>
          <a:ext cx="33528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8800"/>
                <a:gridCol w="558800"/>
                <a:gridCol w="558800"/>
                <a:gridCol w="558800"/>
                <a:gridCol w="558800"/>
                <a:gridCol w="558800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INF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INF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INF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INF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4105" name="TextBox 11"/>
          <p:cNvSpPr txBox="1"/>
          <p:nvPr/>
        </p:nvSpPr>
        <p:spPr>
          <a:xfrm>
            <a:off x="6691313" y="5029200"/>
            <a:ext cx="3443287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b="1" dirty="0">
                <a:latin typeface="Arial" panose="020B0604020202020204" pitchFamily="34" charset="0"/>
              </a:rPr>
              <a:t>表</a:t>
            </a:r>
            <a:r>
              <a:rPr lang="en-US" altLang="zh-CN" b="1" dirty="0">
                <a:latin typeface="Arial" panose="020B0604020202020204" pitchFamily="34" charset="0"/>
              </a:rPr>
              <a:t>2  </a:t>
            </a:r>
            <a:r>
              <a:rPr lang="zh-CN" altLang="en-US" b="1" dirty="0">
                <a:latin typeface="Arial" panose="020B0604020202020204" pitchFamily="34" charset="0"/>
              </a:rPr>
              <a:t>超步</a:t>
            </a:r>
            <a:r>
              <a:rPr lang="en-US" altLang="zh-CN" b="1" dirty="0">
                <a:latin typeface="Arial" panose="020B0604020202020204" pitchFamily="34" charset="0"/>
              </a:rPr>
              <a:t>0</a:t>
            </a:r>
            <a:r>
              <a:rPr lang="zh-CN" altLang="en-US" b="1" dirty="0">
                <a:latin typeface="Arial" panose="020B0604020202020204" pitchFamily="34" charset="0"/>
              </a:rPr>
              <a:t>结束时的顶点值</a:t>
            </a:r>
            <a:endParaRPr lang="zh-CN" altLang="en-US" b="1" dirty="0">
              <a:latin typeface="Arial" panose="020B0604020202020204" pitchFamily="34" charset="0"/>
            </a:endParaRPr>
          </a:p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4106" name="TextBox 11"/>
          <p:cNvSpPr txBox="1"/>
          <p:nvPr/>
        </p:nvSpPr>
        <p:spPr>
          <a:xfrm>
            <a:off x="6705600" y="6248400"/>
            <a:ext cx="3281680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dirty="0">
                <a:latin typeface="Arial" panose="020B0604020202020204" pitchFamily="34" charset="0"/>
              </a:rPr>
              <a:t>超步</a:t>
            </a:r>
            <a:r>
              <a:rPr lang="en-US" altLang="zh-CN" dirty="0">
                <a:latin typeface="Arial" panose="020B0604020202020204" pitchFamily="34" charset="0"/>
              </a:rPr>
              <a:t>0</a:t>
            </a:r>
            <a:r>
              <a:rPr lang="zh-CN" altLang="en-US" dirty="0">
                <a:latin typeface="Arial" panose="020B0604020202020204" pitchFamily="34" charset="0"/>
              </a:rPr>
              <a:t>结束时，</a:t>
            </a:r>
            <a:r>
              <a:rPr lang="zh-CN" altLang="en-US" dirty="0">
                <a:solidFill>
                  <a:srgbClr val="FF0000"/>
                </a:solidFill>
                <a:latin typeface="Arial" panose="020B0604020202020204" pitchFamily="34" charset="0"/>
              </a:rPr>
              <a:t>所有顶点非活跃</a:t>
            </a:r>
            <a:endParaRPr lang="zh-CN" altLang="en-US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44107" name="标题 1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en-US" altLang="zh-CN" b="1" dirty="0"/>
              <a:t>13.6.1 </a:t>
            </a:r>
            <a:r>
              <a:rPr lang="zh-CN" altLang="en-US" b="1" dirty="0"/>
              <a:t>单源最短路径</a:t>
            </a:r>
            <a:endParaRPr lang="zh-CN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44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44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0" fill="hold"/>
                                        <p:tgtEl>
                                          <p:spTgt spid="44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0" fill="hold"/>
                                        <p:tgtEl>
                                          <p:spTgt spid="44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4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58" grpId="0"/>
      <p:bldP spid="44058" grpId="1"/>
      <p:bldP spid="44105" grpId="0"/>
      <p:bldP spid="44105" grpId="1"/>
      <p:bldP spid="44106" grpId="0"/>
      <p:bldP spid="44106" grpId="1"/>
      <p:bldP spid="44081" grpId="0"/>
      <p:bldP spid="44081" grpId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5059" name="Picture 2" descr="http://images.cnitblog.com/blog/288799/201305/26171423-2b7544ddfbbb4b8d825ff571bd665b86.jpg"/>
          <p:cNvPicPr>
            <a:picLocks noChangeAspect="1"/>
          </p:cNvPicPr>
          <p:nvPr/>
        </p:nvPicPr>
        <p:blipFill>
          <a:blip r:embed="rId1"/>
          <a:srcRect l="4991" t="5405" r="6197"/>
          <a:stretch>
            <a:fillRect/>
          </a:stretch>
        </p:blipFill>
        <p:spPr>
          <a:xfrm>
            <a:off x="612140" y="97790"/>
            <a:ext cx="2720975" cy="2214880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474028" y="4272280"/>
          <a:ext cx="33528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8800"/>
                <a:gridCol w="558800"/>
                <a:gridCol w="558800"/>
                <a:gridCol w="558800"/>
                <a:gridCol w="558800"/>
                <a:gridCol w="558800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INF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INF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INF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INF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5083" name="TextBox 4"/>
          <p:cNvSpPr txBox="1"/>
          <p:nvPr/>
        </p:nvSpPr>
        <p:spPr>
          <a:xfrm>
            <a:off x="720725" y="3826193"/>
            <a:ext cx="2786380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b="1" dirty="0">
                <a:latin typeface="Arial" panose="020B0604020202020204" pitchFamily="34" charset="0"/>
              </a:rPr>
              <a:t>表</a:t>
            </a:r>
            <a:r>
              <a:rPr lang="en-US" altLang="zh-CN" b="1" dirty="0">
                <a:latin typeface="Arial" panose="020B0604020202020204" pitchFamily="34" charset="0"/>
              </a:rPr>
              <a:t>5 </a:t>
            </a:r>
            <a:r>
              <a:rPr lang="zh-CN" altLang="en-US" b="1" dirty="0">
                <a:latin typeface="Arial" panose="020B0604020202020204" pitchFamily="34" charset="0"/>
              </a:rPr>
              <a:t>超步</a:t>
            </a:r>
            <a:r>
              <a:rPr lang="en-US" altLang="zh-CN" b="1" dirty="0">
                <a:latin typeface="Arial" panose="020B0604020202020204" pitchFamily="34" charset="0"/>
              </a:rPr>
              <a:t>1</a:t>
            </a:r>
            <a:r>
              <a:rPr lang="zh-CN" altLang="en-US" b="1" dirty="0">
                <a:latin typeface="Arial" panose="020B0604020202020204" pitchFamily="34" charset="0"/>
              </a:rPr>
              <a:t>开始时的顶点值</a:t>
            </a:r>
            <a:endParaRPr lang="zh-CN" altLang="en-US" b="1" dirty="0">
              <a:latin typeface="Arial" panose="020B0604020202020204" pitchFamily="34" charset="0"/>
            </a:endParaRPr>
          </a:p>
        </p:txBody>
      </p:sp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321945" y="5708333"/>
          <a:ext cx="3596005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9440"/>
                <a:gridCol w="599440"/>
                <a:gridCol w="599440"/>
                <a:gridCol w="599440"/>
                <a:gridCol w="598805"/>
                <a:gridCol w="599440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INF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10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5107" name="TextBox 11"/>
          <p:cNvSpPr txBox="1"/>
          <p:nvPr/>
        </p:nvSpPr>
        <p:spPr>
          <a:xfrm>
            <a:off x="612140" y="5327333"/>
            <a:ext cx="31242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b="1" dirty="0">
                <a:latin typeface="Arial" panose="020B0604020202020204" pitchFamily="34" charset="0"/>
              </a:rPr>
              <a:t>表</a:t>
            </a:r>
            <a:r>
              <a:rPr lang="en-US" altLang="zh-CN" b="1" dirty="0">
                <a:latin typeface="Arial" panose="020B0604020202020204" pitchFamily="34" charset="0"/>
              </a:rPr>
              <a:t>6  </a:t>
            </a:r>
            <a:r>
              <a:rPr lang="zh-CN" altLang="en-US" b="1" dirty="0">
                <a:latin typeface="Arial" panose="020B0604020202020204" pitchFamily="34" charset="0"/>
              </a:rPr>
              <a:t>超步</a:t>
            </a:r>
            <a:r>
              <a:rPr lang="en-US" altLang="zh-CN" b="1" dirty="0">
                <a:latin typeface="Arial" panose="020B0604020202020204" pitchFamily="34" charset="0"/>
              </a:rPr>
              <a:t>1</a:t>
            </a:r>
            <a:r>
              <a:rPr lang="zh-CN" altLang="en-US" b="1" dirty="0">
                <a:latin typeface="Arial" panose="020B0604020202020204" pitchFamily="34" charset="0"/>
              </a:rPr>
              <a:t>结束时的顶点值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17" name="表格 16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475615" y="2638108"/>
          <a:ext cx="32766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5320"/>
                <a:gridCol w="655320"/>
                <a:gridCol w="655320"/>
                <a:gridCol w="655320"/>
                <a:gridCol w="655320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无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10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5128" name="TextBox 17"/>
          <p:cNvSpPr txBox="1"/>
          <p:nvPr/>
        </p:nvSpPr>
        <p:spPr>
          <a:xfrm>
            <a:off x="307340" y="2236470"/>
            <a:ext cx="3700780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b="1" dirty="0">
                <a:latin typeface="Arial" panose="020B0604020202020204" pitchFamily="34" charset="0"/>
              </a:rPr>
              <a:t>表</a:t>
            </a:r>
            <a:r>
              <a:rPr lang="en-US" altLang="zh-CN" b="1" dirty="0">
                <a:latin typeface="Arial" panose="020B0604020202020204" pitchFamily="34" charset="0"/>
              </a:rPr>
              <a:t>4 </a:t>
            </a:r>
            <a:r>
              <a:rPr lang="zh-CN" altLang="en-US" b="1" dirty="0">
                <a:latin typeface="Arial" panose="020B0604020202020204" pitchFamily="34" charset="0"/>
              </a:rPr>
              <a:t>上一步（超步</a:t>
            </a:r>
            <a:r>
              <a:rPr lang="en-US" altLang="zh-CN" b="1" dirty="0">
                <a:latin typeface="Arial" panose="020B0604020202020204" pitchFamily="34" charset="0"/>
              </a:rPr>
              <a:t>0</a:t>
            </a:r>
            <a:r>
              <a:rPr lang="zh-CN" altLang="en-US" b="1" dirty="0">
                <a:latin typeface="Arial" panose="020B0604020202020204" pitchFamily="34" charset="0"/>
              </a:rPr>
              <a:t>）中发出的消息</a:t>
            </a:r>
            <a:endParaRPr lang="zh-CN" altLang="en-US" b="1" dirty="0">
              <a:latin typeface="Arial" panose="020B0604020202020204" pitchFamily="34" charset="0"/>
            </a:endParaRPr>
          </a:p>
        </p:txBody>
      </p:sp>
      <p:sp>
        <p:nvSpPr>
          <p:cNvPr id="45129" name="TextBox 18"/>
          <p:cNvSpPr txBox="1"/>
          <p:nvPr/>
        </p:nvSpPr>
        <p:spPr>
          <a:xfrm>
            <a:off x="4599305" y="452120"/>
            <a:ext cx="7030085" cy="449262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r>
              <a:rPr lang="zh-CN" altLang="en-US" sz="2200" dirty="0">
                <a:latin typeface="Arial" panose="020B0604020202020204" pitchFamily="34" charset="0"/>
              </a:rPr>
              <a:t>超步</a:t>
            </a:r>
            <a:r>
              <a:rPr lang="en-US" altLang="zh-CN" sz="2200" dirty="0">
                <a:latin typeface="Arial" panose="020B0604020202020204" pitchFamily="34" charset="0"/>
              </a:rPr>
              <a:t>1</a:t>
            </a:r>
            <a:r>
              <a:rPr lang="zh-CN" altLang="en-US" sz="2200" dirty="0">
                <a:latin typeface="Arial" panose="020B0604020202020204" pitchFamily="34" charset="0"/>
              </a:rPr>
              <a:t>：</a:t>
            </a:r>
            <a:endParaRPr lang="en-US" altLang="zh-CN" sz="2200" dirty="0"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Arial" panose="020B0604020202020204" pitchFamily="34" charset="0"/>
              </a:rPr>
              <a:t>顶点</a:t>
            </a:r>
            <a:r>
              <a:rPr lang="en-US" altLang="zh-CN" sz="2200" dirty="0">
                <a:latin typeface="Arial" panose="020B0604020202020204" pitchFamily="34" charset="0"/>
              </a:rPr>
              <a:t>0</a:t>
            </a:r>
            <a:r>
              <a:rPr lang="zh-CN" altLang="en-US" sz="2200" dirty="0">
                <a:latin typeface="Arial" panose="020B0604020202020204" pitchFamily="34" charset="0"/>
              </a:rPr>
              <a:t>：没有收到消息，依然非活跃</a:t>
            </a:r>
            <a:endParaRPr lang="en-US" altLang="zh-CN" sz="2200" dirty="0"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Arial" panose="020B0604020202020204" pitchFamily="34" charset="0"/>
              </a:rPr>
              <a:t>顶点</a:t>
            </a:r>
            <a:r>
              <a:rPr lang="en-US" altLang="zh-CN" sz="2200" dirty="0">
                <a:latin typeface="Arial" panose="020B0604020202020204" pitchFamily="34" charset="0"/>
              </a:rPr>
              <a:t>1</a:t>
            </a:r>
            <a:r>
              <a:rPr lang="zh-CN" altLang="en-US" sz="2200" dirty="0">
                <a:latin typeface="Arial" panose="020B0604020202020204" pitchFamily="34" charset="0"/>
              </a:rPr>
              <a:t>：收到消息</a:t>
            </a:r>
            <a:r>
              <a:rPr lang="en-US" altLang="zh-CN" sz="2200" dirty="0">
                <a:latin typeface="Arial" panose="020B0604020202020204" pitchFamily="34" charset="0"/>
              </a:rPr>
              <a:t>100</a:t>
            </a:r>
            <a:r>
              <a:rPr lang="zh-CN" altLang="en-US" sz="2200" dirty="0">
                <a:latin typeface="Arial" panose="020B0604020202020204" pitchFamily="34" charset="0"/>
              </a:rPr>
              <a:t>，被显式唤醒，执行计算，</a:t>
            </a:r>
            <a:r>
              <a:rPr lang="en-US" altLang="zh-CN" sz="2200" dirty="0">
                <a:latin typeface="Arial" panose="020B0604020202020204" pitchFamily="34" charset="0"/>
              </a:rPr>
              <a:t>mindist</a:t>
            </a:r>
            <a:r>
              <a:rPr lang="zh-CN" altLang="en-US" sz="2200" dirty="0">
                <a:latin typeface="Arial" panose="020B0604020202020204" pitchFamily="34" charset="0"/>
              </a:rPr>
              <a:t>变为</a:t>
            </a:r>
            <a:r>
              <a:rPr lang="en-US" altLang="zh-CN" sz="2200" dirty="0">
                <a:latin typeface="Arial" panose="020B0604020202020204" pitchFamily="34" charset="0"/>
              </a:rPr>
              <a:t>100</a:t>
            </a:r>
            <a:r>
              <a:rPr lang="zh-CN" altLang="en-US" sz="2200" dirty="0">
                <a:latin typeface="Arial" panose="020B0604020202020204" pitchFamily="34" charset="0"/>
              </a:rPr>
              <a:t>，小于顶点值</a:t>
            </a:r>
            <a:r>
              <a:rPr lang="en-US" altLang="zh-CN" sz="2200" dirty="0">
                <a:latin typeface="Arial" panose="020B0604020202020204" pitchFamily="34" charset="0"/>
              </a:rPr>
              <a:t>INF</a:t>
            </a:r>
            <a:r>
              <a:rPr lang="zh-CN" altLang="en-US" sz="2200" dirty="0">
                <a:latin typeface="Arial" panose="020B0604020202020204" pitchFamily="34" charset="0"/>
              </a:rPr>
              <a:t>，顶点值修改为</a:t>
            </a:r>
            <a:r>
              <a:rPr lang="en-US" altLang="zh-CN" sz="2200" dirty="0">
                <a:latin typeface="Arial" panose="020B0604020202020204" pitchFamily="34" charset="0"/>
              </a:rPr>
              <a:t>100</a:t>
            </a:r>
            <a:r>
              <a:rPr lang="zh-CN" altLang="en-US" sz="2200" dirty="0">
                <a:latin typeface="Arial" panose="020B0604020202020204" pitchFamily="34" charset="0"/>
              </a:rPr>
              <a:t>，没有出射边，不需要发送消息，最后变为非活跃</a:t>
            </a:r>
            <a:endParaRPr lang="en-US" altLang="zh-CN" sz="2200" dirty="0"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Arial" panose="020B0604020202020204" pitchFamily="34" charset="0"/>
              </a:rPr>
              <a:t>顶点</a:t>
            </a:r>
            <a:r>
              <a:rPr lang="en-US" altLang="zh-CN" sz="2200" dirty="0">
                <a:latin typeface="Arial" panose="020B0604020202020204" pitchFamily="34" charset="0"/>
              </a:rPr>
              <a:t>2</a:t>
            </a:r>
            <a:r>
              <a:rPr lang="zh-CN" altLang="en-US" sz="2200" dirty="0">
                <a:latin typeface="Arial" panose="020B0604020202020204" pitchFamily="34" charset="0"/>
              </a:rPr>
              <a:t>：收到消息</a:t>
            </a:r>
            <a:r>
              <a:rPr lang="en-US" altLang="zh-CN" sz="2200" dirty="0">
                <a:latin typeface="Arial" panose="020B0604020202020204" pitchFamily="34" charset="0"/>
              </a:rPr>
              <a:t>30</a:t>
            </a:r>
            <a:r>
              <a:rPr lang="zh-CN" altLang="en-US" sz="2200" dirty="0">
                <a:latin typeface="Arial" panose="020B0604020202020204" pitchFamily="34" charset="0"/>
              </a:rPr>
              <a:t>，被显式唤醒，执行计算， </a:t>
            </a:r>
            <a:r>
              <a:rPr lang="en-US" altLang="zh-CN" sz="2200" dirty="0">
                <a:latin typeface="Arial" panose="020B0604020202020204" pitchFamily="34" charset="0"/>
              </a:rPr>
              <a:t>mindist</a:t>
            </a:r>
            <a:r>
              <a:rPr lang="zh-CN" altLang="en-US" sz="2200" dirty="0">
                <a:latin typeface="Arial" panose="020B0604020202020204" pitchFamily="34" charset="0"/>
              </a:rPr>
              <a:t>变为</a:t>
            </a:r>
            <a:r>
              <a:rPr lang="en-US" altLang="zh-CN" sz="2200" dirty="0">
                <a:latin typeface="Arial" panose="020B0604020202020204" pitchFamily="34" charset="0"/>
              </a:rPr>
              <a:t>30</a:t>
            </a:r>
            <a:r>
              <a:rPr lang="zh-CN" altLang="en-US" sz="2200" dirty="0">
                <a:latin typeface="Arial" panose="020B0604020202020204" pitchFamily="34" charset="0"/>
              </a:rPr>
              <a:t>，小于顶点值</a:t>
            </a:r>
            <a:r>
              <a:rPr lang="en-US" altLang="zh-CN" sz="2200" dirty="0">
                <a:latin typeface="Arial" panose="020B0604020202020204" pitchFamily="34" charset="0"/>
              </a:rPr>
              <a:t>INF</a:t>
            </a:r>
            <a:r>
              <a:rPr lang="zh-CN" altLang="en-US" sz="2200" dirty="0">
                <a:latin typeface="Arial" panose="020B0604020202020204" pitchFamily="34" charset="0"/>
              </a:rPr>
              <a:t>，顶点值修改为</a:t>
            </a:r>
            <a:r>
              <a:rPr lang="en-US" altLang="zh-CN" sz="2200" dirty="0">
                <a:latin typeface="Arial" panose="020B0604020202020204" pitchFamily="34" charset="0"/>
              </a:rPr>
              <a:t>30</a:t>
            </a:r>
            <a:r>
              <a:rPr lang="zh-CN" altLang="en-US" sz="2200" dirty="0">
                <a:latin typeface="Arial" panose="020B0604020202020204" pitchFamily="34" charset="0"/>
              </a:rPr>
              <a:t>，有两条出射边，向顶点</a:t>
            </a:r>
            <a:r>
              <a:rPr lang="en-US" altLang="zh-CN" sz="2200" dirty="0">
                <a:latin typeface="Arial" panose="020B0604020202020204" pitchFamily="34" charset="0"/>
              </a:rPr>
              <a:t>3</a:t>
            </a:r>
            <a:r>
              <a:rPr lang="zh-CN" altLang="en-US" sz="2200" dirty="0">
                <a:latin typeface="Arial" panose="020B0604020202020204" pitchFamily="34" charset="0"/>
              </a:rPr>
              <a:t>发送消息</a:t>
            </a:r>
            <a:r>
              <a:rPr lang="en-US" altLang="zh-CN" sz="2200" dirty="0">
                <a:latin typeface="Arial" panose="020B0604020202020204" pitchFamily="34" charset="0"/>
              </a:rPr>
              <a:t>90</a:t>
            </a:r>
            <a:r>
              <a:rPr lang="zh-CN" altLang="en-US" sz="2200" dirty="0">
                <a:latin typeface="Arial" panose="020B0604020202020204" pitchFamily="34" charset="0"/>
              </a:rPr>
              <a:t>（即：</a:t>
            </a:r>
            <a:r>
              <a:rPr lang="en-US" altLang="zh-CN" sz="2200" dirty="0">
                <a:latin typeface="Arial" panose="020B0604020202020204" pitchFamily="34" charset="0"/>
              </a:rPr>
              <a:t>30+60</a:t>
            </a:r>
            <a:r>
              <a:rPr lang="zh-CN" altLang="en-US" sz="2200" dirty="0">
                <a:latin typeface="Arial" panose="020B0604020202020204" pitchFamily="34" charset="0"/>
              </a:rPr>
              <a:t>），向顶点</a:t>
            </a:r>
            <a:r>
              <a:rPr lang="en-US" altLang="zh-CN" sz="2200" dirty="0">
                <a:latin typeface="Arial" panose="020B0604020202020204" pitchFamily="34" charset="0"/>
              </a:rPr>
              <a:t>1</a:t>
            </a:r>
            <a:r>
              <a:rPr lang="zh-CN" altLang="en-US" sz="2200" dirty="0">
                <a:latin typeface="Arial" panose="020B0604020202020204" pitchFamily="34" charset="0"/>
              </a:rPr>
              <a:t>发送消息</a:t>
            </a:r>
            <a:r>
              <a:rPr lang="en-US" altLang="zh-CN" sz="2200" dirty="0">
                <a:latin typeface="Arial" panose="020B0604020202020204" pitchFamily="34" charset="0"/>
              </a:rPr>
              <a:t>90</a:t>
            </a:r>
            <a:r>
              <a:rPr lang="zh-CN" altLang="en-US" sz="2200" dirty="0">
                <a:latin typeface="Arial" panose="020B0604020202020204" pitchFamily="34" charset="0"/>
              </a:rPr>
              <a:t>（即：</a:t>
            </a:r>
            <a:r>
              <a:rPr lang="en-US" altLang="zh-CN" sz="2200" dirty="0">
                <a:latin typeface="Arial" panose="020B0604020202020204" pitchFamily="34" charset="0"/>
              </a:rPr>
              <a:t>30+60</a:t>
            </a:r>
            <a:r>
              <a:rPr lang="zh-CN" altLang="en-US" sz="2200" dirty="0">
                <a:latin typeface="Arial" panose="020B0604020202020204" pitchFamily="34" charset="0"/>
              </a:rPr>
              <a:t>），最后变为非活跃</a:t>
            </a:r>
            <a:endParaRPr lang="en-US" altLang="zh-CN" sz="2200" dirty="0"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Arial" panose="020B0604020202020204" pitchFamily="34" charset="0"/>
              </a:rPr>
              <a:t>顶点</a:t>
            </a:r>
            <a:r>
              <a:rPr lang="en-US" altLang="zh-CN" sz="2200" dirty="0">
                <a:latin typeface="Arial" panose="020B0604020202020204" pitchFamily="34" charset="0"/>
              </a:rPr>
              <a:t>3</a:t>
            </a:r>
            <a:r>
              <a:rPr lang="zh-CN" altLang="en-US" sz="2200" dirty="0">
                <a:latin typeface="Arial" panose="020B0604020202020204" pitchFamily="34" charset="0"/>
              </a:rPr>
              <a:t>：没有收到消息，依然非活跃</a:t>
            </a:r>
            <a:endParaRPr lang="en-US" altLang="zh-CN" sz="2200" dirty="0"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Arial" panose="020B0604020202020204" pitchFamily="34" charset="0"/>
              </a:rPr>
              <a:t>顶点</a:t>
            </a:r>
            <a:r>
              <a:rPr lang="en-US" altLang="zh-CN" sz="2200" dirty="0">
                <a:latin typeface="Arial" panose="020B0604020202020204" pitchFamily="34" charset="0"/>
              </a:rPr>
              <a:t>4</a:t>
            </a:r>
            <a:r>
              <a:rPr lang="zh-CN" altLang="en-US" sz="2200" dirty="0">
                <a:latin typeface="Arial" panose="020B0604020202020204" pitchFamily="34" charset="0"/>
              </a:rPr>
              <a:t>：收到消息</a:t>
            </a:r>
            <a:r>
              <a:rPr lang="en-US" altLang="zh-CN" sz="2200" dirty="0">
                <a:latin typeface="Arial" panose="020B0604020202020204" pitchFamily="34" charset="0"/>
              </a:rPr>
              <a:t>10</a:t>
            </a:r>
            <a:r>
              <a:rPr lang="zh-CN" altLang="en-US" sz="2200" dirty="0">
                <a:latin typeface="Arial" panose="020B0604020202020204" pitchFamily="34" charset="0"/>
              </a:rPr>
              <a:t>，被显式唤醒，执行计算，</a:t>
            </a:r>
            <a:r>
              <a:rPr lang="en-US" altLang="zh-CN" sz="2200" dirty="0">
                <a:latin typeface="Arial" panose="020B0604020202020204" pitchFamily="34" charset="0"/>
              </a:rPr>
              <a:t> mindist</a:t>
            </a:r>
            <a:r>
              <a:rPr lang="zh-CN" altLang="en-US" sz="2200" dirty="0">
                <a:latin typeface="Arial" panose="020B0604020202020204" pitchFamily="34" charset="0"/>
              </a:rPr>
              <a:t>变为</a:t>
            </a:r>
            <a:r>
              <a:rPr lang="en-US" altLang="zh-CN" sz="2200" dirty="0">
                <a:latin typeface="Arial" panose="020B0604020202020204" pitchFamily="34" charset="0"/>
              </a:rPr>
              <a:t>10</a:t>
            </a:r>
            <a:r>
              <a:rPr lang="zh-CN" altLang="en-US" sz="2200" dirty="0">
                <a:latin typeface="Arial" panose="020B0604020202020204" pitchFamily="34" charset="0"/>
              </a:rPr>
              <a:t>，小于顶点值</a:t>
            </a:r>
            <a:r>
              <a:rPr lang="en-US" altLang="zh-CN" sz="2200" dirty="0">
                <a:latin typeface="Arial" panose="020B0604020202020204" pitchFamily="34" charset="0"/>
              </a:rPr>
              <a:t>INF</a:t>
            </a:r>
            <a:r>
              <a:rPr lang="zh-CN" altLang="en-US" sz="2200" dirty="0">
                <a:latin typeface="Arial" panose="020B0604020202020204" pitchFamily="34" charset="0"/>
              </a:rPr>
              <a:t>，顶点值修改为</a:t>
            </a:r>
            <a:r>
              <a:rPr lang="en-US" altLang="zh-CN" sz="2200" dirty="0">
                <a:latin typeface="Arial" panose="020B0604020202020204" pitchFamily="34" charset="0"/>
              </a:rPr>
              <a:t>10</a:t>
            </a:r>
            <a:r>
              <a:rPr lang="zh-CN" altLang="en-US" sz="2200" dirty="0">
                <a:latin typeface="Arial" panose="020B0604020202020204" pitchFamily="34" charset="0"/>
              </a:rPr>
              <a:t>，向顶点</a:t>
            </a:r>
            <a:r>
              <a:rPr lang="en-US" altLang="zh-CN" sz="2200" dirty="0">
                <a:latin typeface="Arial" panose="020B0604020202020204" pitchFamily="34" charset="0"/>
              </a:rPr>
              <a:t>3</a:t>
            </a:r>
            <a:r>
              <a:rPr lang="zh-CN" altLang="en-US" sz="2200" dirty="0">
                <a:latin typeface="Arial" panose="020B0604020202020204" pitchFamily="34" charset="0"/>
              </a:rPr>
              <a:t>发送消息</a:t>
            </a:r>
            <a:r>
              <a:rPr lang="en-US" altLang="zh-CN" sz="2200" dirty="0">
                <a:latin typeface="Arial" panose="020B0604020202020204" pitchFamily="34" charset="0"/>
              </a:rPr>
              <a:t>60</a:t>
            </a:r>
            <a:r>
              <a:rPr lang="zh-CN" altLang="en-US" sz="2200" dirty="0">
                <a:latin typeface="Arial" panose="020B0604020202020204" pitchFamily="34" charset="0"/>
              </a:rPr>
              <a:t>（即：</a:t>
            </a:r>
            <a:r>
              <a:rPr lang="en-US" altLang="zh-CN" sz="2200" dirty="0">
                <a:latin typeface="Arial" panose="020B0604020202020204" pitchFamily="34" charset="0"/>
              </a:rPr>
              <a:t>10+50</a:t>
            </a:r>
            <a:r>
              <a:rPr lang="zh-CN" altLang="en-US" sz="2200" dirty="0">
                <a:latin typeface="Arial" panose="020B0604020202020204" pitchFamily="34" charset="0"/>
              </a:rPr>
              <a:t>），最后变为非活跃</a:t>
            </a:r>
            <a:endParaRPr lang="zh-CN" altLang="en-US" sz="2200" dirty="0">
              <a:latin typeface="Arial" panose="020B0604020202020204" pitchFamily="34" charset="0"/>
            </a:endParaRPr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5920105" y="5367655"/>
          <a:ext cx="3886200" cy="12096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7700"/>
                <a:gridCol w="647700"/>
                <a:gridCol w="647700"/>
                <a:gridCol w="647700"/>
                <a:gridCol w="647700"/>
                <a:gridCol w="647700"/>
              </a:tblGrid>
              <a:tr h="403225">
                <a:tc>
                  <a:txBody>
                    <a:bodyPr/>
                    <a:p>
                      <a:pPr algn="ctr"/>
                      <a:endParaRPr lang="zh-CN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/>
                      <a:r>
                        <a:rPr lang="en-US" altLang="zh-CN" sz="2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altLang="zh-CN" sz="2000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/>
                      <a:r>
                        <a:rPr lang="en-US" altLang="zh-CN" sz="2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altLang="zh-CN" sz="2000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/>
                      <a:r>
                        <a:rPr lang="en-US" altLang="zh-CN" sz="20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altLang="zh-CN" sz="2000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/>
                      <a:r>
                        <a:rPr lang="en-US" altLang="zh-CN" sz="20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altLang="zh-CN" sz="2000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03225">
                <a:tc>
                  <a:txBody>
                    <a:bodyPr/>
                    <a:p>
                      <a:pPr algn="ctr"/>
                      <a:r>
                        <a:rPr lang="en-US" altLang="zh-CN" sz="2000" dirty="0" smtClean="0"/>
                        <a:t>2</a:t>
                      </a:r>
                      <a:endParaRPr lang="en-US" altLang="zh-CN" sz="2000" dirty="0" smtClean="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p>
                      <a:pPr algn="ctr"/>
                      <a:r>
                        <a:rPr lang="en-US" altLang="zh-CN" sz="2000" dirty="0" smtClean="0"/>
                        <a:t>90</a:t>
                      </a:r>
                      <a:endParaRPr lang="en-US" altLang="zh-CN" sz="2000" dirty="0" smtClean="0"/>
                    </a:p>
                  </a:txBody>
                  <a:tcPr/>
                </a:tc>
                <a:tc>
                  <a:txBody>
                    <a:bodyPr/>
                    <a:p>
                      <a:pPr algn="ctr"/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p>
                      <a:pPr algn="ctr"/>
                      <a:r>
                        <a:rPr lang="en-US" altLang="zh-CN" sz="2000" dirty="0" smtClean="0"/>
                        <a:t>90</a:t>
                      </a:r>
                      <a:endParaRPr lang="en-US" altLang="zh-CN" sz="2000" dirty="0" smtClean="0"/>
                    </a:p>
                  </a:txBody>
                  <a:tcPr/>
                </a:tc>
                <a:tc>
                  <a:txBody>
                    <a:bodyPr/>
                    <a:p>
                      <a:pPr algn="ctr"/>
                      <a:endParaRPr lang="zh-CN" altLang="en-US" sz="2000" dirty="0"/>
                    </a:p>
                  </a:txBody>
                  <a:tcPr/>
                </a:tc>
              </a:tr>
              <a:tr h="40322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dirty="0"/>
                        <a:t>4</a:t>
                      </a:r>
                      <a:endParaRPr lang="en-US" altLang="zh-CN" sz="2000" dirty="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dirty="0" smtClean="0"/>
                        <a:t>60</a:t>
                      </a:r>
                      <a:endParaRPr lang="en-US" altLang="zh-CN" sz="2000" dirty="0" smtClean="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4081" name="TextBox 9"/>
          <p:cNvSpPr txBox="1"/>
          <p:nvPr>
            <p:custDataLst>
              <p:tags r:id="rId4"/>
            </p:custDataLst>
          </p:nvPr>
        </p:nvSpPr>
        <p:spPr>
          <a:xfrm>
            <a:off x="6036310" y="4968875"/>
            <a:ext cx="3399790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000" b="1" dirty="0">
                <a:latin typeface="Arial" panose="020B0604020202020204" pitchFamily="34" charset="0"/>
              </a:rPr>
              <a:t>表</a:t>
            </a:r>
            <a:r>
              <a:rPr lang="en-US" altLang="zh-CN" sz="2000" b="1" dirty="0">
                <a:latin typeface="Arial" panose="020B0604020202020204" pitchFamily="34" charset="0"/>
              </a:rPr>
              <a:t>7  </a:t>
            </a:r>
            <a:r>
              <a:rPr lang="zh-CN" altLang="en-US" sz="2000" b="1" dirty="0">
                <a:latin typeface="Arial" panose="020B0604020202020204" pitchFamily="34" charset="0"/>
              </a:rPr>
              <a:t>超步</a:t>
            </a:r>
            <a:r>
              <a:rPr lang="en-US" altLang="zh-CN" sz="2000" b="1" dirty="0">
                <a:latin typeface="Arial" panose="020B0604020202020204" pitchFamily="34" charset="0"/>
              </a:rPr>
              <a:t>1</a:t>
            </a:r>
            <a:r>
              <a:rPr lang="zh-CN" altLang="en-US" sz="2000" b="1" dirty="0">
                <a:latin typeface="Arial" panose="020B0604020202020204" pitchFamily="34" charset="0"/>
              </a:rPr>
              <a:t>结束</a:t>
            </a:r>
            <a:r>
              <a:rPr lang="zh-CN" altLang="en-US" sz="2000" b="1" dirty="0">
                <a:latin typeface="Arial" panose="020B0604020202020204" pitchFamily="34" charset="0"/>
              </a:rPr>
              <a:t>时，发送消息</a:t>
            </a:r>
            <a:endParaRPr lang="zh-CN" altLang="en-US" sz="2000" b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44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107" grpId="0"/>
      <p:bldP spid="45107" grpId="1"/>
      <p:bldP spid="44081" grpId="0"/>
      <p:bldP spid="44081" grpId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继续上述过程，在超步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结束时，发送的消息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有：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从顶点 </a:t>
            </a:r>
            <a:r>
              <a:rPr lang="zh-CN" altLang="en-US" sz="2600">
                <a:solidFill>
                  <a:srgbClr val="639EF4"/>
                </a:solidFill>
                <a:latin typeface="微软雅黑" panose="020B0503020204020204" charset="-122"/>
                <a:ea typeface="微软雅黑" panose="020B0503020204020204" charset="-122"/>
              </a:rPr>
              <a:t>[填空1]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 发送内容 </a:t>
            </a:r>
            <a:r>
              <a:rPr lang="zh-CN" altLang="en-US" sz="2600">
                <a:solidFill>
                  <a:srgbClr val="639EF4"/>
                </a:solidFill>
                <a:latin typeface="微软雅黑" panose="020B0503020204020204" charset="-122"/>
                <a:ea typeface="微软雅黑" panose="020B0503020204020204" charset="-122"/>
              </a:rPr>
              <a:t>[填空2]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 到顶点 </a:t>
            </a:r>
            <a:r>
              <a:rPr lang="zh-CN" altLang="en-US" sz="2600">
                <a:solidFill>
                  <a:srgbClr val="639EF4"/>
                </a:solidFill>
                <a:latin typeface="微软雅黑" panose="020B0503020204020204" charset="-122"/>
                <a:ea typeface="微软雅黑" panose="020B0503020204020204" charset="-122"/>
              </a:rPr>
              <a:t>[填空3]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圆角矩形 6"/>
          <p:cNvSpPr/>
          <p:nvPr>
            <p:custDataLst>
              <p:tags r:id="rId2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2" name="组合 11"/>
          <p:cNvGrpSpPr/>
          <p:nvPr>
            <p:custDataLst>
              <p:tags r:id="rId3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8" name="TitleBackground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ColorBlock"/>
            <p:cNvSpPr/>
            <p:nvPr>
              <p:custDataLst>
                <p:tags r:id="rId5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" name="TypeText"/>
            <p:cNvSpPr txBox="1"/>
            <p:nvPr>
              <p:custDataLst>
                <p:tags r:id="rId6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" name="TipText"/>
            <p:cNvSpPr txBox="1"/>
            <p:nvPr>
              <p:custDataLst>
                <p:tags r:id="rId7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3分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5" name="图片 4" descr="tmp98B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0"/>
    </p:custDataLst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Pregel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解决单源最短路径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的计算过程的终止条件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是（）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2438400" y="2785745"/>
            <a:ext cx="85344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所有顶点都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非活跃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2438400" y="3642995"/>
            <a:ext cx="85344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系统中不存在消息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传输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4"/>
            </p:custDataLst>
          </p:nvPr>
        </p:nvSpPr>
        <p:spPr>
          <a:xfrm>
            <a:off x="2438400" y="4500245"/>
            <a:ext cx="85344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或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zh-CN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5"/>
            </p:custDataLst>
          </p:nvPr>
        </p:nvSpPr>
        <p:spPr>
          <a:xfrm>
            <a:off x="2438400" y="5357495"/>
            <a:ext cx="85344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且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zh-CN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圆角矩形 14"/>
          <p:cNvSpPr/>
          <p:nvPr>
            <p:custDataLst>
              <p:tags r:id="rId10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0" name="组合 19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16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7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8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9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5" name="图片 4" descr="tmp98B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en-US" altLang="zh-CN" b="1" dirty="0"/>
              <a:t>13.6.2	</a:t>
            </a:r>
            <a:r>
              <a:rPr lang="zh-CN" altLang="en-US" b="1" dirty="0"/>
              <a:t>二分匹配</a:t>
            </a:r>
            <a:endParaRPr lang="zh-CN" altLang="en-US" b="1" dirty="0"/>
          </a:p>
        </p:txBody>
      </p:sp>
      <p:sp>
        <p:nvSpPr>
          <p:cNvPr id="46083" name="Rectangle 4"/>
          <p:cNvSpPr/>
          <p:nvPr/>
        </p:nvSpPr>
        <p:spPr>
          <a:xfrm>
            <a:off x="970915" y="1597025"/>
            <a:ext cx="7047230" cy="212280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r>
              <a:rPr lang="zh-CN" sz="2400" dirty="0">
                <a:latin typeface="Arial" panose="020B0604020202020204" pitchFamily="34" charset="0"/>
              </a:rPr>
              <a:t>匹配定义：</a:t>
            </a:r>
            <a:endParaRPr lang="zh-CN" sz="2400" dirty="0">
              <a:latin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400" dirty="0">
                <a:sym typeface="+mn-ea"/>
              </a:rPr>
              <a:t>设两个有限集合</a:t>
            </a:r>
            <a:r>
              <a:rPr lang="en-US" altLang="en-US" sz="2400" b="1" i="1" dirty="0">
                <a:latin typeface="Times New Roman" panose="02020603050405020304" pitchFamily="18" charset="0"/>
                <a:sym typeface="+mn-ea"/>
              </a:rPr>
              <a:t>A</a:t>
            </a:r>
            <a:r>
              <a:rPr lang="zh-CN" altLang="en-US" sz="2400" dirty="0">
                <a:sym typeface="+mn-ea"/>
              </a:rPr>
              <a:t>和</a:t>
            </a:r>
            <a:r>
              <a:rPr lang="en-US" altLang="en-US" sz="2400" b="1" i="1" dirty="0">
                <a:latin typeface="Times New Roman" panose="02020603050405020304" pitchFamily="18" charset="0"/>
                <a:sym typeface="+mn-ea"/>
              </a:rPr>
              <a:t>B</a:t>
            </a:r>
            <a:r>
              <a:rPr lang="zh-CN" altLang="en-US" sz="2400" dirty="0">
                <a:sym typeface="+mn-ea"/>
              </a:rPr>
              <a:t>以及从</a:t>
            </a:r>
            <a:r>
              <a:rPr lang="en-US" altLang="en-US" sz="2400" b="1" i="1" dirty="0">
                <a:latin typeface="Times New Roman" panose="02020603050405020304" pitchFamily="18" charset="0"/>
                <a:sym typeface="+mn-ea"/>
              </a:rPr>
              <a:t>A</a:t>
            </a:r>
            <a:r>
              <a:rPr lang="zh-CN" altLang="en-US" sz="2400" dirty="0">
                <a:sym typeface="+mn-ea"/>
              </a:rPr>
              <a:t>到</a:t>
            </a:r>
            <a:r>
              <a:rPr lang="en-US" altLang="en-US" sz="2400" b="1" i="1" dirty="0">
                <a:latin typeface="Times New Roman" panose="02020603050405020304" pitchFamily="18" charset="0"/>
                <a:sym typeface="+mn-ea"/>
              </a:rPr>
              <a:t>B</a:t>
            </a:r>
            <a:r>
              <a:rPr lang="zh-CN" altLang="en-US" sz="2400" dirty="0">
                <a:sym typeface="+mn-ea"/>
              </a:rPr>
              <a:t>的一个</a:t>
            </a:r>
            <a:r>
              <a:rPr lang="zh-CN" altLang="en-US" sz="2400" b="1" dirty="0">
                <a:sym typeface="+mn-ea"/>
              </a:rPr>
              <a:t>关系</a:t>
            </a:r>
            <a:r>
              <a:rPr lang="en-US" altLang="en-US" sz="2400" b="1" i="1" dirty="0">
                <a:latin typeface="Times New Roman" panose="02020603050405020304" pitchFamily="18" charset="0"/>
                <a:sym typeface="+mn-ea"/>
              </a:rPr>
              <a:t>R</a:t>
            </a:r>
            <a:endParaRPr lang="en-US" altLang="zh-CN" sz="2400" dirty="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400" dirty="0">
                <a:sym typeface="+mn-ea"/>
              </a:rPr>
              <a:t>匹配函数</a:t>
            </a:r>
            <a:r>
              <a:rPr lang="en-US" altLang="en-US" sz="2400" b="1" i="1" dirty="0">
                <a:latin typeface="Times New Roman" panose="02020603050405020304" pitchFamily="18" charset="0"/>
                <a:sym typeface="+mn-ea"/>
              </a:rPr>
              <a:t>M</a:t>
            </a:r>
            <a:r>
              <a:rPr lang="zh-CN" altLang="en-US" sz="2400" dirty="0">
                <a:sym typeface="+mn-ea"/>
              </a:rPr>
              <a:t>是从</a:t>
            </a:r>
            <a:r>
              <a:rPr lang="en-US" altLang="en-US" sz="2400" b="1" i="1" dirty="0">
                <a:latin typeface="Times New Roman" panose="02020603050405020304" pitchFamily="18" charset="0"/>
                <a:sym typeface="+mn-ea"/>
              </a:rPr>
              <a:t>A</a:t>
            </a:r>
            <a:r>
              <a:rPr lang="zh-CN" altLang="en-US" sz="2400" dirty="0">
                <a:sym typeface="+mn-ea"/>
              </a:rPr>
              <a:t>的一</a:t>
            </a:r>
            <a:r>
              <a:rPr lang="zh-CN" altLang="en-US" sz="2400" b="1" dirty="0">
                <a:sym typeface="+mn-ea"/>
              </a:rPr>
              <a:t>子集</a:t>
            </a:r>
            <a:r>
              <a:rPr lang="zh-CN" altLang="en-US" sz="2400" dirty="0">
                <a:sym typeface="+mn-ea"/>
              </a:rPr>
              <a:t>到</a:t>
            </a:r>
            <a:r>
              <a:rPr lang="en-US" altLang="en-US" sz="2400" b="1" i="1" dirty="0">
                <a:latin typeface="Times New Roman" panose="02020603050405020304" pitchFamily="18" charset="0"/>
                <a:sym typeface="+mn-ea"/>
              </a:rPr>
              <a:t>B</a:t>
            </a:r>
            <a:r>
              <a:rPr lang="zh-CN" altLang="en-US" sz="2400" dirty="0">
                <a:sym typeface="+mn-ea"/>
              </a:rPr>
              <a:t>的一</a:t>
            </a:r>
            <a:r>
              <a:rPr lang="zh-CN" altLang="en-US" sz="2400" b="1" dirty="0">
                <a:sym typeface="+mn-ea"/>
              </a:rPr>
              <a:t>子集</a:t>
            </a:r>
            <a:r>
              <a:rPr lang="zh-CN" altLang="en-US" sz="2400" dirty="0">
                <a:sym typeface="+mn-ea"/>
              </a:rPr>
              <a:t>的</a:t>
            </a:r>
            <a:r>
              <a:rPr lang="zh-CN" altLang="en-US" sz="2400" b="1" dirty="0">
                <a:highlight>
                  <a:srgbClr val="FFFF00"/>
                </a:highlight>
                <a:sym typeface="+mn-ea"/>
              </a:rPr>
              <a:t>单射函数</a:t>
            </a:r>
            <a:endParaRPr lang="en-US" altLang="zh-CN" sz="2400" b="1" dirty="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400" dirty="0">
                <a:sym typeface="+mn-ea"/>
              </a:rPr>
              <a:t>如果</a:t>
            </a:r>
            <a:r>
              <a:rPr lang="en-US" altLang="en-US" sz="2400" b="1" i="1" dirty="0">
                <a:latin typeface="Times New Roman" panose="02020603050405020304" pitchFamily="18" charset="0"/>
                <a:sym typeface="+mn-ea"/>
              </a:rPr>
              <a:t>M</a:t>
            </a:r>
            <a:r>
              <a:rPr lang="en-US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en-US" sz="2400" b="1" i="1" dirty="0">
                <a:latin typeface="Times New Roman" panose="02020603050405020304" pitchFamily="18" charset="0"/>
                <a:sym typeface="+mn-ea"/>
              </a:rPr>
              <a:t>R</a:t>
            </a:r>
            <a:r>
              <a:rPr lang="zh-CN" altLang="en-US" sz="2400" dirty="0">
                <a:sym typeface="+mn-ea"/>
              </a:rPr>
              <a:t>，则称</a:t>
            </a:r>
            <a:r>
              <a:rPr lang="en-US" altLang="en-US" sz="2400" b="1" i="1" dirty="0">
                <a:latin typeface="Times New Roman" panose="02020603050405020304" pitchFamily="18" charset="0"/>
                <a:sym typeface="+mn-ea"/>
              </a:rPr>
              <a:t>M</a:t>
            </a:r>
            <a:r>
              <a:rPr lang="zh-CN" altLang="en-US" sz="2400" dirty="0">
                <a:sym typeface="+mn-ea"/>
              </a:rPr>
              <a:t>与</a:t>
            </a:r>
            <a:r>
              <a:rPr lang="en-US" altLang="en-US" sz="2400" b="1" i="1" dirty="0">
                <a:latin typeface="Times New Roman" panose="02020603050405020304" pitchFamily="18" charset="0"/>
                <a:sym typeface="+mn-ea"/>
              </a:rPr>
              <a:t>R</a:t>
            </a:r>
            <a:r>
              <a:rPr lang="zh-CN" altLang="en-US" sz="2400" dirty="0">
                <a:sym typeface="+mn-ea"/>
              </a:rPr>
              <a:t>是</a:t>
            </a:r>
            <a:r>
              <a:rPr lang="zh-CN" altLang="en-US" sz="2400" b="1" dirty="0">
                <a:sym typeface="+mn-ea"/>
              </a:rPr>
              <a:t>相容的匹配</a:t>
            </a:r>
            <a:endParaRPr lang="en-US" altLang="zh-CN" sz="2400" b="1" dirty="0">
              <a:latin typeface="Arial" panose="020B0604020202020204" pitchFamily="34" charset="0"/>
              <a:sym typeface="+mn-ea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8356600" y="2085975"/>
            <a:ext cx="3028950" cy="3584575"/>
            <a:chOff x="13160" y="3285"/>
            <a:chExt cx="4770" cy="5645"/>
          </a:xfrm>
        </p:grpSpPr>
        <p:sp>
          <p:nvSpPr>
            <p:cNvPr id="50" name="Oval 7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3160" y="4940"/>
              <a:ext cx="680" cy="68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 anchor="b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en-US" sz="2400" b="1" i="1">
                  <a:latin typeface="Times New Roman" panose="02020603050405020304" pitchFamily="18" charset="0"/>
                </a:rPr>
                <a:t>a</a:t>
              </a:r>
              <a:r>
                <a:rPr lang="en-US" altLang="en-US" sz="2400" b="1" baseline="-25000">
                  <a:latin typeface="Times New Roman" panose="02020603050405020304" pitchFamily="18" charset="0"/>
                </a:rPr>
                <a:t>2</a:t>
              </a:r>
              <a:endParaRPr lang="en-US" altLang="en-US" sz="2400" b="1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51" name="Oval 8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3160" y="6595"/>
              <a:ext cx="680" cy="68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 anchor="b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en-US" sz="2400" b="1" i="1">
                  <a:latin typeface="Times New Roman" panose="02020603050405020304" pitchFamily="18" charset="0"/>
                </a:rPr>
                <a:t>a</a:t>
              </a:r>
              <a:r>
                <a:rPr lang="en-US" altLang="en-US" sz="2400" b="1" baseline="-25000">
                  <a:latin typeface="Times New Roman" panose="02020603050405020304" pitchFamily="18" charset="0"/>
                </a:rPr>
                <a:t>3</a:t>
              </a:r>
              <a:endParaRPr lang="en-US" altLang="en-US" sz="2400" b="1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52" name="Oval 9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13160" y="8250"/>
              <a:ext cx="680" cy="68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 anchor="b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en-US" sz="2400" b="1" i="1">
                  <a:latin typeface="Times New Roman" panose="02020603050405020304" pitchFamily="18" charset="0"/>
                </a:rPr>
                <a:t>a</a:t>
              </a:r>
              <a:r>
                <a:rPr lang="en-US" altLang="en-US" sz="2400" b="1" baseline="-25000">
                  <a:latin typeface="Times New Roman" panose="02020603050405020304" pitchFamily="18" charset="0"/>
                </a:rPr>
                <a:t>4</a:t>
              </a:r>
              <a:endParaRPr lang="en-US" altLang="en-US" sz="2400" b="1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54" name="Oval 11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13160" y="3285"/>
              <a:ext cx="680" cy="68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 anchor="b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en-US" sz="2400" b="1" i="1">
                  <a:latin typeface="Times New Roman" panose="02020603050405020304" pitchFamily="18" charset="0"/>
                </a:rPr>
                <a:t>a</a:t>
              </a:r>
              <a:r>
                <a:rPr lang="en-US" altLang="en-US" sz="2400" b="1" baseline="-25000">
                  <a:latin typeface="Times New Roman" panose="02020603050405020304" pitchFamily="18" charset="0"/>
                </a:rPr>
                <a:t>1</a:t>
              </a:r>
              <a:endParaRPr lang="en-US" altLang="en-US" sz="2400" b="1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55" name="Oval 12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17250" y="4940"/>
              <a:ext cx="680" cy="68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 anchor="b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en-US" sz="2400" b="1" i="1">
                  <a:latin typeface="Times New Roman" panose="02020603050405020304" pitchFamily="18" charset="0"/>
                </a:rPr>
                <a:t>b</a:t>
              </a:r>
              <a:r>
                <a:rPr lang="en-US" altLang="en-US" sz="2400" b="1" baseline="-25000">
                  <a:latin typeface="Times New Roman" panose="02020603050405020304" pitchFamily="18" charset="0"/>
                </a:rPr>
                <a:t>2</a:t>
              </a:r>
              <a:endParaRPr lang="en-US" altLang="en-US" sz="2400" b="1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56" name="Oval 13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17250" y="6595"/>
              <a:ext cx="680" cy="68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 anchor="b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en-US" sz="2400" b="1" i="1">
                  <a:latin typeface="Times New Roman" panose="02020603050405020304" pitchFamily="18" charset="0"/>
                </a:rPr>
                <a:t>b</a:t>
              </a:r>
              <a:r>
                <a:rPr lang="en-US" altLang="en-US" sz="2400" b="1" baseline="-25000">
                  <a:latin typeface="Times New Roman" panose="02020603050405020304" pitchFamily="18" charset="0"/>
                </a:rPr>
                <a:t>3</a:t>
              </a:r>
              <a:endParaRPr lang="en-US" altLang="en-US" sz="2400" b="1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57" name="Oval 14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17250" y="8250"/>
              <a:ext cx="680" cy="68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 anchor="b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en-US" sz="2400" b="1" i="1">
                  <a:latin typeface="Times New Roman" panose="02020603050405020304" pitchFamily="18" charset="0"/>
                </a:rPr>
                <a:t>b</a:t>
              </a:r>
              <a:r>
                <a:rPr lang="en-US" altLang="en-US" sz="2400" b="1" baseline="-25000">
                  <a:latin typeface="Times New Roman" panose="02020603050405020304" pitchFamily="18" charset="0"/>
                </a:rPr>
                <a:t>4</a:t>
              </a:r>
              <a:endParaRPr lang="en-US" altLang="en-US" sz="2400" b="1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59" name="Oval 16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17250" y="3285"/>
              <a:ext cx="680" cy="68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 anchor="b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en-US" sz="2400" b="1" i="1">
                  <a:latin typeface="Times New Roman" panose="02020603050405020304" pitchFamily="18" charset="0"/>
                </a:rPr>
                <a:t>b</a:t>
              </a:r>
              <a:r>
                <a:rPr lang="en-US" altLang="en-US" sz="2400" b="1" baseline="-25000">
                  <a:latin typeface="Times New Roman" panose="02020603050405020304" pitchFamily="18" charset="0"/>
                </a:rPr>
                <a:t>1</a:t>
              </a:r>
              <a:endParaRPr lang="en-US" altLang="en-US" sz="2400" b="1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60" name="Line 33"/>
            <p:cNvSpPr>
              <a:spLocks noChangeShapeType="1"/>
            </p:cNvSpPr>
            <p:nvPr>
              <p:custDataLst>
                <p:tags r:id="rId9"/>
              </p:custDataLst>
            </p:nvPr>
          </p:nvSpPr>
          <p:spPr bwMode="auto">
            <a:xfrm flipV="1">
              <a:off x="13830" y="3633"/>
              <a:ext cx="3400" cy="1530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Line 34"/>
            <p:cNvSpPr>
              <a:spLocks noChangeShapeType="1"/>
            </p:cNvSpPr>
            <p:nvPr>
              <p:custDataLst>
                <p:tags r:id="rId10"/>
              </p:custDataLst>
            </p:nvPr>
          </p:nvSpPr>
          <p:spPr bwMode="auto">
            <a:xfrm>
              <a:off x="13858" y="3620"/>
              <a:ext cx="3400" cy="1520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Line 35"/>
            <p:cNvSpPr>
              <a:spLocks noChangeShapeType="1"/>
            </p:cNvSpPr>
            <p:nvPr>
              <p:custDataLst>
                <p:tags r:id="rId11"/>
              </p:custDataLst>
            </p:nvPr>
          </p:nvSpPr>
          <p:spPr bwMode="auto">
            <a:xfrm>
              <a:off x="13838" y="3730"/>
              <a:ext cx="3400" cy="3060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Line 39"/>
            <p:cNvSpPr>
              <a:spLocks noChangeShapeType="1"/>
            </p:cNvSpPr>
            <p:nvPr>
              <p:custDataLst>
                <p:tags r:id="rId12"/>
              </p:custDataLst>
            </p:nvPr>
          </p:nvSpPr>
          <p:spPr bwMode="auto">
            <a:xfrm flipV="1">
              <a:off x="13830" y="5343"/>
              <a:ext cx="3400" cy="1530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Line 42"/>
            <p:cNvSpPr>
              <a:spLocks noChangeShapeType="1"/>
            </p:cNvSpPr>
            <p:nvPr>
              <p:custDataLst>
                <p:tags r:id="rId13"/>
              </p:custDataLst>
            </p:nvPr>
          </p:nvSpPr>
          <p:spPr bwMode="auto">
            <a:xfrm flipV="1">
              <a:off x="13785" y="5485"/>
              <a:ext cx="3515" cy="2890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Line 47"/>
            <p:cNvSpPr>
              <a:spLocks noChangeShapeType="1"/>
            </p:cNvSpPr>
            <p:nvPr>
              <p:custDataLst>
                <p:tags r:id="rId14"/>
              </p:custDataLst>
            </p:nvPr>
          </p:nvSpPr>
          <p:spPr bwMode="auto">
            <a:xfrm flipV="1">
              <a:off x="13830" y="8638"/>
              <a:ext cx="3400" cy="0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1186116" y="4648136"/>
                <a:ext cx="3339465" cy="46037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𝑀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={(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),(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)}</m:t>
                      </m:r>
                    </m:oMath>
                  </m:oMathPara>
                </a14:m>
                <a:endParaRPr lang="en-US" altLang="zh-CN" sz="2400" i="1">
                  <a:latin typeface="Cambria Math" panose="02040503050406030204" charset="0"/>
                  <a:ea typeface="MS Mincho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6116" y="4648136"/>
                <a:ext cx="3339465" cy="460375"/>
              </a:xfrm>
              <a:prstGeom prst="rect">
                <a:avLst/>
              </a:prstGeom>
              <a:blipFill rotWithShape="1">
                <a:blip r:embed="rId15"/>
                <a:stretch>
                  <a:fillRect l="-17" t="-124" r="17" b="1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1186116" y="5058981"/>
                <a:ext cx="3339465" cy="46037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𝑀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={(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),(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)}</m:t>
                      </m:r>
                    </m:oMath>
                  </m:oMathPara>
                </a14:m>
                <a:endParaRPr lang="en-US" altLang="zh-CN" sz="2400" i="1">
                  <a:latin typeface="Cambria Math" panose="02040503050406030204" charset="0"/>
                  <a:ea typeface="MS Mincho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6116" y="5058981"/>
                <a:ext cx="3339465" cy="460375"/>
              </a:xfrm>
              <a:prstGeom prst="rect">
                <a:avLst/>
              </a:prstGeom>
              <a:blipFill rotWithShape="1">
                <a:blip r:embed="rId16"/>
                <a:stretch>
                  <a:fillRect l="-17" t="-124" r="17" b="1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/>
          <p:cNvSpPr txBox="1"/>
          <p:nvPr/>
        </p:nvSpPr>
        <p:spPr>
          <a:xfrm>
            <a:off x="1078230" y="4187825"/>
            <a:ext cx="69399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判断是否是匹配，若是，是否</a:t>
            </a:r>
            <a:r>
              <a:rPr lang="zh-CN" altLang="en-US" sz="2400">
                <a:highlight>
                  <a:srgbClr val="FFFF00"/>
                </a:highlight>
              </a:rPr>
              <a:t>极大</a:t>
            </a:r>
            <a:r>
              <a:rPr lang="zh-CN" altLang="en-US" sz="2400"/>
              <a:t>，是否最大？</a:t>
            </a:r>
            <a:endParaRPr lang="zh-CN" altLang="en-US" sz="24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/>
            </p:nvSpPr>
            <p:spPr>
              <a:xfrm>
                <a:off x="1186116" y="5519356"/>
                <a:ext cx="3303270" cy="46037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𝑀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={(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),(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)}</m:t>
                      </m:r>
                    </m:oMath>
                  </m:oMathPara>
                </a14:m>
                <a:endParaRPr lang="en-US" altLang="zh-CN" sz="2400" i="1">
                  <a:latin typeface="Cambria Math" panose="02040503050406030204" charset="0"/>
                  <a:ea typeface="MS Mincho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6116" y="5519356"/>
                <a:ext cx="3303270" cy="460375"/>
              </a:xfrm>
              <a:prstGeom prst="rect">
                <a:avLst/>
              </a:prstGeom>
              <a:blipFill rotWithShape="1">
                <a:blip r:embed="rId17"/>
                <a:stretch>
                  <a:fillRect l="-17" t="-124" r="17" b="1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1186116" y="5979731"/>
                <a:ext cx="4395470" cy="46037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𝑀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4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={(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),(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)</m:t>
                      </m:r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,(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4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4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)}</m:t>
                      </m:r>
                    </m:oMath>
                  </m:oMathPara>
                </a14:m>
                <a:endParaRPr lang="en-US" altLang="zh-CN" sz="2400" i="1">
                  <a:latin typeface="Cambria Math" panose="02040503050406030204" charset="0"/>
                  <a:ea typeface="MS Mincho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6116" y="5979731"/>
                <a:ext cx="4395470" cy="460375"/>
              </a:xfrm>
              <a:prstGeom prst="rect">
                <a:avLst/>
              </a:prstGeom>
              <a:blipFill rotWithShape="1">
                <a:blip r:embed="rId18"/>
                <a:stretch>
                  <a:fillRect l="-13" t="-124" r="13" b="1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5933376" y="5979731"/>
                <a:ext cx="5492750" cy="46037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𝑀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5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={(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),(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)</m:t>
                      </m:r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,(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)</m:t>
                      </m:r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,(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4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4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)}</m:t>
                      </m:r>
                    </m:oMath>
                  </m:oMathPara>
                </a14:m>
                <a:endParaRPr lang="en-US" altLang="zh-CN" sz="2400" i="1">
                  <a:latin typeface="Cambria Math" panose="02040503050406030204" charset="0"/>
                  <a:ea typeface="MS Mincho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3376" y="5979731"/>
                <a:ext cx="5492750" cy="460375"/>
              </a:xfrm>
              <a:prstGeom prst="rect">
                <a:avLst/>
              </a:prstGeom>
              <a:blipFill rotWithShape="1">
                <a:blip r:embed="rId19"/>
                <a:stretch>
                  <a:fillRect l="-10" t="-124" r="10" b="1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2" grpId="1"/>
      <p:bldP spid="3" grpId="1"/>
      <p:bldP spid="4" grpId="1"/>
      <p:bldP spid="5" grpId="1"/>
      <p:bldP spid="6" grpId="1"/>
      <p:bldP spid="7" grpId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en-US" altLang="zh-CN" b="1" dirty="0"/>
              <a:t>13.6.2	</a:t>
            </a:r>
            <a:r>
              <a:rPr lang="zh-CN" altLang="en-US" b="1" dirty="0"/>
              <a:t>二分匹配</a:t>
            </a:r>
            <a:endParaRPr lang="zh-CN" altLang="en-US" b="1" dirty="0"/>
          </a:p>
        </p:txBody>
      </p:sp>
      <p:sp>
        <p:nvSpPr>
          <p:cNvPr id="46083" name="Rectangle 4"/>
          <p:cNvSpPr/>
          <p:nvPr/>
        </p:nvSpPr>
        <p:spPr>
          <a:xfrm>
            <a:off x="970915" y="2718753"/>
            <a:ext cx="7931150" cy="142049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>
              <a:lnSpc>
                <a:spcPct val="120000"/>
              </a:lnSpc>
            </a:pPr>
            <a:r>
              <a:rPr lang="zh-CN" altLang="en-US" sz="2400" dirty="0">
                <a:latin typeface="Arial" panose="020B0604020202020204" pitchFamily="34" charset="0"/>
              </a:rPr>
              <a:t>程序的执行过程是由</a:t>
            </a:r>
            <a:r>
              <a:rPr lang="zh-CN" altLang="en-US" sz="2400" dirty="0">
                <a:highlight>
                  <a:srgbClr val="FFFF00"/>
                </a:highlight>
                <a:latin typeface="Arial" panose="020B0604020202020204" pitchFamily="34" charset="0"/>
              </a:rPr>
              <a:t>四个阶段</a:t>
            </a:r>
            <a:r>
              <a:rPr lang="zh-CN" altLang="en-US" sz="2400" dirty="0">
                <a:latin typeface="Arial" panose="020B0604020202020204" pitchFamily="34" charset="0"/>
              </a:rPr>
              <a:t>组成的多个循环组成的，</a:t>
            </a:r>
            <a:endParaRPr lang="zh-CN" altLang="en-US" sz="2400" dirty="0">
              <a:latin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2400" dirty="0">
                <a:latin typeface="Arial" panose="020B0604020202020204" pitchFamily="34" charset="0"/>
              </a:rPr>
              <a:t>当程序执行到超步</a:t>
            </a:r>
            <a:r>
              <a:rPr lang="en-US" altLang="zh-CN" sz="2400" i="1" dirty="0">
                <a:latin typeface="Arial" panose="020B0604020202020204" pitchFamily="34" charset="0"/>
              </a:rPr>
              <a:t>S</a:t>
            </a:r>
            <a:r>
              <a:rPr lang="zh-CN" altLang="en-US" sz="2400" dirty="0">
                <a:latin typeface="Arial" panose="020B0604020202020204" pitchFamily="34" charset="0"/>
              </a:rPr>
              <a:t>时</a:t>
            </a:r>
            <a:r>
              <a:rPr lang="en-US" altLang="zh-CN" sz="2400" dirty="0">
                <a:latin typeface="Arial" panose="020B0604020202020204" pitchFamily="34" charset="0"/>
              </a:rPr>
              <a:t>(</a:t>
            </a:r>
            <a:r>
              <a:rPr lang="zh-CN" altLang="en-US" sz="2400" dirty="0">
                <a:latin typeface="Arial" panose="020B0604020202020204" pitchFamily="34" charset="0"/>
              </a:rPr>
              <a:t>代码里</a:t>
            </a:r>
            <a:r>
              <a:rPr lang="en-US" altLang="zh-CN" sz="2400" dirty="0">
                <a:latin typeface="Arial" panose="020B0604020202020204" pitchFamily="34" charset="0"/>
              </a:rPr>
              <a:t>S=</a:t>
            </a:r>
            <a:r>
              <a:rPr lang="en-US" altLang="zh-CN" sz="2400" dirty="0">
                <a:highlight>
                  <a:srgbClr val="FFFF00"/>
                </a:highlight>
                <a:latin typeface="Arial" panose="020B0604020202020204" pitchFamily="34" charset="0"/>
              </a:rPr>
              <a:t>superstep()</a:t>
            </a:r>
            <a:r>
              <a:rPr lang="en-US" altLang="zh-CN" sz="2400" dirty="0">
                <a:latin typeface="Arial" panose="020B0604020202020204" pitchFamily="34" charset="0"/>
              </a:rPr>
              <a:t>)</a:t>
            </a:r>
            <a:r>
              <a:rPr lang="zh-CN" altLang="en-US" sz="2400" dirty="0">
                <a:latin typeface="Arial" panose="020B0604020202020204" pitchFamily="34" charset="0"/>
              </a:rPr>
              <a:t>，</a:t>
            </a:r>
            <a:endParaRPr lang="zh-CN" altLang="en-US" sz="2400" dirty="0">
              <a:latin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2400" i="1" dirty="0">
                <a:latin typeface="Arial" panose="020B0604020202020204" pitchFamily="34" charset="0"/>
              </a:rPr>
              <a:t>S</a:t>
            </a:r>
            <a:r>
              <a:rPr lang="en-US" altLang="zh-CN" sz="2400" dirty="0">
                <a:latin typeface="Arial" panose="020B0604020202020204" pitchFamily="34" charset="0"/>
              </a:rPr>
              <a:t> mod 4</a:t>
            </a:r>
            <a:r>
              <a:rPr lang="zh-CN" altLang="en-US" sz="2400" dirty="0">
                <a:latin typeface="Arial" panose="020B0604020202020204" pitchFamily="34" charset="0"/>
              </a:rPr>
              <a:t>就可以得到当前超步处于循环的哪个阶段。</a:t>
            </a:r>
            <a:endParaRPr lang="zh-CN" altLang="en-US" sz="2400" dirty="0">
              <a:latin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70915" y="1565910"/>
            <a:ext cx="7734300" cy="9772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zh-CN" altLang="en-US" sz="2400" dirty="0">
                <a:latin typeface="Arial" panose="020B0604020202020204" pitchFamily="34" charset="0"/>
                <a:sym typeface="+mn-ea"/>
              </a:rPr>
              <a:t>极大匹配</a:t>
            </a:r>
            <a:r>
              <a:rPr lang="en-US" altLang="zh-CN" sz="2400" dirty="0">
                <a:latin typeface="Arial" panose="020B0604020202020204" pitchFamily="34" charset="0"/>
                <a:sym typeface="+mn-ea"/>
              </a:rPr>
              <a:t>Pregel</a:t>
            </a:r>
            <a:r>
              <a:rPr lang="zh-CN" altLang="en-US" sz="2400" dirty="0">
                <a:latin typeface="Arial" panose="020B0604020202020204" pitchFamily="34" charset="0"/>
                <a:sym typeface="+mn-ea"/>
              </a:rPr>
              <a:t>实现大致思路：</a:t>
            </a:r>
            <a:endParaRPr lang="zh-CN" altLang="en-US" sz="2400" dirty="0">
              <a:latin typeface="Arial" panose="020B0604020202020204" pitchFamily="34" charset="0"/>
            </a:endParaRPr>
          </a:p>
          <a:p>
            <a:pPr indent="457200">
              <a:lnSpc>
                <a:spcPct val="120000"/>
              </a:lnSpc>
            </a:pPr>
            <a:r>
              <a:rPr lang="zh-CN" altLang="en-US" sz="2400" dirty="0">
                <a:latin typeface="Arial" panose="020B0604020202020204" pitchFamily="34" charset="0"/>
                <a:sym typeface="+mn-ea"/>
              </a:rPr>
              <a:t>不断发起左集未完成匹配的顶点的配对</a:t>
            </a:r>
            <a:endParaRPr lang="zh-CN" altLang="en-US" sz="2400" dirty="0">
              <a:latin typeface="Arial" panose="020B0604020202020204" pitchFamily="34" charset="0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56640" y="4443730"/>
            <a:ext cx="10234930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 b="1" dirty="0">
                <a:latin typeface="Arial" panose="020B0604020202020204" pitchFamily="34" charset="0"/>
                <a:sym typeface="+mn-ea"/>
              </a:rPr>
              <a:t>（</a:t>
            </a:r>
            <a:r>
              <a:rPr lang="en-US" altLang="zh-CN" sz="2400" b="1" dirty="0">
                <a:latin typeface="Arial" panose="020B0604020202020204" pitchFamily="34" charset="0"/>
                <a:sym typeface="+mn-ea"/>
              </a:rPr>
              <a:t>1</a:t>
            </a:r>
            <a:r>
              <a:rPr lang="zh-CN" altLang="en-US" sz="2400" b="1" dirty="0">
                <a:latin typeface="Arial" panose="020B0604020202020204" pitchFamily="34" charset="0"/>
                <a:sym typeface="+mn-ea"/>
              </a:rPr>
              <a:t>）阶段</a:t>
            </a:r>
            <a:r>
              <a:rPr lang="en-US" altLang="zh-CN" sz="2400" b="1" dirty="0">
                <a:latin typeface="Arial" panose="020B0604020202020204" pitchFamily="34" charset="0"/>
                <a:sym typeface="+mn-ea"/>
              </a:rPr>
              <a:t>0</a:t>
            </a:r>
            <a:r>
              <a:rPr lang="zh-CN" altLang="en-US" sz="2400" dirty="0">
                <a:latin typeface="Arial" panose="020B0604020202020204" pitchFamily="34" charset="0"/>
                <a:sym typeface="+mn-ea"/>
              </a:rPr>
              <a:t>：</a:t>
            </a:r>
            <a:endParaRPr lang="zh-CN" altLang="en-US" sz="2400" dirty="0">
              <a:latin typeface="Arial" panose="020B0604020202020204" pitchFamily="34" charset="0"/>
              <a:sym typeface="+mn-ea"/>
            </a:endParaRPr>
          </a:p>
          <a:p>
            <a:r>
              <a:rPr lang="zh-CN" altLang="en-US" sz="2400" dirty="0">
                <a:latin typeface="Arial" panose="020B0604020202020204" pitchFamily="34" charset="0"/>
                <a:sym typeface="+mn-ea"/>
              </a:rPr>
              <a:t>左集未配对顶点</a:t>
            </a:r>
            <a:r>
              <a:rPr lang="en-US" altLang="zh-CN" sz="2400" dirty="0">
                <a:latin typeface="Arial" panose="020B0604020202020204" pitchFamily="34" charset="0"/>
                <a:sym typeface="+mn-ea"/>
              </a:rPr>
              <a:t>V</a:t>
            </a:r>
            <a:r>
              <a:rPr lang="zh-CN" altLang="en-US" sz="2400" dirty="0">
                <a:latin typeface="Arial" panose="020B0604020202020204" pitchFamily="34" charset="0"/>
                <a:sym typeface="+mn-ea"/>
              </a:rPr>
              <a:t>发起配对，然后</a:t>
            </a:r>
            <a:r>
              <a:rPr lang="zh-CN" altLang="en-US" sz="2400" dirty="0">
                <a:latin typeface="Arial" panose="020B0604020202020204" pitchFamily="34" charset="0"/>
                <a:sym typeface="+mn-ea"/>
              </a:rPr>
              <a:t>调用</a:t>
            </a:r>
            <a:r>
              <a:rPr lang="en-US" altLang="zh-CN" sz="2400" dirty="0">
                <a:latin typeface="Arial" panose="020B0604020202020204" pitchFamily="34" charset="0"/>
                <a:sym typeface="+mn-ea"/>
              </a:rPr>
              <a:t>VoteToHalt()</a:t>
            </a:r>
            <a:r>
              <a:rPr lang="zh-CN" altLang="en-US" sz="2400" dirty="0">
                <a:latin typeface="Arial" panose="020B0604020202020204" pitchFamily="34" charset="0"/>
                <a:sym typeface="+mn-ea"/>
              </a:rPr>
              <a:t>进入非活跃。</a:t>
            </a:r>
            <a:endParaRPr lang="zh-CN" altLang="en-US" sz="2400" dirty="0">
              <a:latin typeface="Arial" panose="020B0604020202020204" pitchFamily="34" charset="0"/>
              <a:sym typeface="+mn-ea"/>
            </a:endParaRPr>
          </a:p>
          <a:p>
            <a:r>
              <a:rPr lang="zh-CN" altLang="en-US" sz="2400" i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已匹配，无出射边，上一轮发起配对全被拒，</a:t>
            </a:r>
            <a:endParaRPr lang="zh-CN" altLang="en-US" sz="2400" i="1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sym typeface="+mn-ea"/>
            </a:endParaRPr>
          </a:p>
          <a:p>
            <a:r>
              <a:rPr lang="zh-CN" altLang="en-US" sz="2400" i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该顶点就不会再变为“活跃（</a:t>
            </a:r>
            <a:r>
              <a:rPr lang="en-US" altLang="zh-CN" sz="2400" i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active</a:t>
            </a:r>
            <a:r>
              <a:rPr lang="zh-CN" altLang="en-US" sz="2400" i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）”状态。</a:t>
            </a:r>
            <a:endParaRPr lang="zh-CN" altLang="en-US" sz="2400" i="1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3" grpId="0"/>
      <p:bldP spid="46083" grpId="1"/>
      <p:bldP spid="3" grpId="0"/>
      <p:bldP spid="3" grpId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en-US" altLang="zh-CN" b="1" dirty="0"/>
              <a:t>13.6.2	</a:t>
            </a:r>
            <a:r>
              <a:rPr lang="zh-CN" altLang="en-US" b="1" dirty="0"/>
              <a:t>二分匹配</a:t>
            </a:r>
            <a:endParaRPr lang="zh-CN" altLang="en-US" b="1" dirty="0"/>
          </a:p>
        </p:txBody>
      </p:sp>
      <p:sp>
        <p:nvSpPr>
          <p:cNvPr id="46083" name="Rectangle 4"/>
          <p:cNvSpPr/>
          <p:nvPr/>
        </p:nvSpPr>
        <p:spPr>
          <a:xfrm>
            <a:off x="970915" y="3344546"/>
            <a:ext cx="9705340" cy="119888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r>
              <a:rPr lang="zh-CN" altLang="en-US" sz="2400" b="1" dirty="0">
                <a:latin typeface="Arial" panose="020B0604020202020204" pitchFamily="34" charset="0"/>
              </a:rPr>
              <a:t>（</a:t>
            </a:r>
            <a:r>
              <a:rPr lang="en-US" altLang="zh-CN" sz="2400" b="1" dirty="0">
                <a:latin typeface="Arial" panose="020B0604020202020204" pitchFamily="34" charset="0"/>
              </a:rPr>
              <a:t>3</a:t>
            </a:r>
            <a:r>
              <a:rPr lang="zh-CN" altLang="en-US" sz="2400" b="1" dirty="0">
                <a:latin typeface="Arial" panose="020B0604020202020204" pitchFamily="34" charset="0"/>
              </a:rPr>
              <a:t>）阶段</a:t>
            </a:r>
            <a:r>
              <a:rPr lang="en-US" altLang="zh-CN" sz="2400" b="1" dirty="0">
                <a:latin typeface="Arial" panose="020B0604020202020204" pitchFamily="34" charset="0"/>
              </a:rPr>
              <a:t>2</a:t>
            </a:r>
            <a:r>
              <a:rPr lang="zh-CN" altLang="en-US" sz="2400" dirty="0">
                <a:latin typeface="Arial" panose="020B0604020202020204" pitchFamily="34" charset="0"/>
              </a:rPr>
              <a:t>：左集未被匹配的顶点，从右集发送过来的接受请求中，选择一个并发送一个确认消息。</a:t>
            </a:r>
            <a:endParaRPr lang="zh-CN" altLang="en-US" sz="2400" dirty="0">
              <a:latin typeface="Arial" panose="020B0604020202020204" pitchFamily="34" charset="0"/>
            </a:endParaRPr>
          </a:p>
          <a:p>
            <a:r>
              <a:rPr lang="zh-CN" altLang="en-US" sz="2400" i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左集已配对不参与此阶段。</a:t>
            </a:r>
            <a:endParaRPr lang="zh-CN" altLang="en-US" sz="2400" i="1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70915" y="1405890"/>
            <a:ext cx="976376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 b="1" dirty="0">
                <a:latin typeface="Arial" panose="020B0604020202020204" pitchFamily="34" charset="0"/>
                <a:sym typeface="+mn-ea"/>
              </a:rPr>
              <a:t>（</a:t>
            </a:r>
            <a:r>
              <a:rPr lang="en-US" altLang="zh-CN" sz="2400" b="1" dirty="0">
                <a:latin typeface="Arial" panose="020B0604020202020204" pitchFamily="34" charset="0"/>
                <a:sym typeface="+mn-ea"/>
              </a:rPr>
              <a:t>2</a:t>
            </a:r>
            <a:r>
              <a:rPr lang="zh-CN" altLang="en-US" sz="2400" b="1" dirty="0">
                <a:latin typeface="Arial" panose="020B0604020202020204" pitchFamily="34" charset="0"/>
                <a:sym typeface="+mn-ea"/>
              </a:rPr>
              <a:t>）阶段</a:t>
            </a:r>
            <a:r>
              <a:rPr lang="en-US" altLang="zh-CN" sz="2400" b="1" dirty="0">
                <a:latin typeface="Arial" panose="020B0604020202020204" pitchFamily="34" charset="0"/>
                <a:sym typeface="+mn-ea"/>
              </a:rPr>
              <a:t>1</a:t>
            </a:r>
            <a:r>
              <a:rPr lang="zh-CN" altLang="en-US" sz="2400" dirty="0">
                <a:latin typeface="Arial" panose="020B0604020202020204" pitchFamily="34" charset="0"/>
                <a:sym typeface="+mn-ea"/>
              </a:rPr>
              <a:t>：右集未匹配顶点</a:t>
            </a:r>
            <a:r>
              <a:rPr lang="en-US" altLang="zh-CN" sz="2400" i="1" dirty="0">
                <a:latin typeface="Arial" panose="020B0604020202020204" pitchFamily="34" charset="0"/>
                <a:sym typeface="+mn-ea"/>
              </a:rPr>
              <a:t>U</a:t>
            </a:r>
            <a:r>
              <a:rPr lang="zh-CN" altLang="en-US" sz="2400" dirty="0">
                <a:latin typeface="Arial" panose="020B0604020202020204" pitchFamily="34" charset="0"/>
                <a:sym typeface="+mn-ea"/>
              </a:rPr>
              <a:t>，随机选择一，并通知追求者；然后调用</a:t>
            </a:r>
            <a:r>
              <a:rPr lang="en-US" altLang="zh-CN" sz="2400" dirty="0">
                <a:latin typeface="Arial" panose="020B0604020202020204" pitchFamily="34" charset="0"/>
                <a:sym typeface="+mn-ea"/>
              </a:rPr>
              <a:t>VoteToHalt()</a:t>
            </a:r>
            <a:r>
              <a:rPr lang="zh-CN" altLang="en-US" sz="2400" dirty="0">
                <a:latin typeface="Arial" panose="020B0604020202020204" pitchFamily="34" charset="0"/>
                <a:sym typeface="+mn-ea"/>
              </a:rPr>
              <a:t>进入“非活跃”状态。</a:t>
            </a:r>
            <a:endParaRPr lang="zh-CN" altLang="en-US" sz="2400" dirty="0">
              <a:latin typeface="Arial" panose="020B0604020202020204" pitchFamily="34" charset="0"/>
              <a:sym typeface="+mn-ea"/>
            </a:endParaRPr>
          </a:p>
          <a:p>
            <a:r>
              <a:rPr lang="zh-CN" altLang="en-US" sz="2400" i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已配对或无追求者，则永久非活跃了。</a:t>
            </a:r>
            <a:endParaRPr lang="zh-CN" altLang="en-US" sz="2400" i="1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70915" y="5172075"/>
            <a:ext cx="9803765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 b="1" dirty="0">
                <a:latin typeface="Arial" panose="020B0604020202020204" pitchFamily="34" charset="0"/>
                <a:sym typeface="+mn-ea"/>
              </a:rPr>
              <a:t>（</a:t>
            </a:r>
            <a:r>
              <a:rPr lang="en-US" altLang="zh-CN" sz="2400" b="1" dirty="0">
                <a:latin typeface="Arial" panose="020B0604020202020204" pitchFamily="34" charset="0"/>
                <a:sym typeface="+mn-ea"/>
              </a:rPr>
              <a:t>4</a:t>
            </a:r>
            <a:r>
              <a:rPr lang="zh-CN" altLang="en-US" sz="2400" b="1" dirty="0">
                <a:latin typeface="Arial" panose="020B0604020202020204" pitchFamily="34" charset="0"/>
                <a:sym typeface="+mn-ea"/>
              </a:rPr>
              <a:t>）阶段</a:t>
            </a:r>
            <a:r>
              <a:rPr lang="en-US" altLang="zh-CN" sz="2400" b="1" dirty="0">
                <a:latin typeface="Arial" panose="020B0604020202020204" pitchFamily="34" charset="0"/>
                <a:sym typeface="+mn-ea"/>
              </a:rPr>
              <a:t>3</a:t>
            </a:r>
            <a:r>
              <a:rPr lang="zh-CN" altLang="en-US" sz="2400" dirty="0">
                <a:latin typeface="Arial" panose="020B0604020202020204" pitchFamily="34" charset="0"/>
                <a:sym typeface="+mn-ea"/>
              </a:rPr>
              <a:t>：右集未被匹配顶点</a:t>
            </a:r>
            <a:r>
              <a:rPr lang="en-US" altLang="zh-CN" sz="2400" i="1" dirty="0">
                <a:latin typeface="Arial" panose="020B0604020202020204" pitchFamily="34" charset="0"/>
                <a:sym typeface="+mn-ea"/>
              </a:rPr>
              <a:t>U</a:t>
            </a:r>
            <a:r>
              <a:rPr lang="zh-CN" altLang="en-US" sz="2400" dirty="0">
                <a:latin typeface="Arial" panose="020B0604020202020204" pitchFamily="34" charset="0"/>
                <a:sym typeface="+mn-ea"/>
              </a:rPr>
              <a:t>，可能会收到至多一个匹配确认消息，然后调用</a:t>
            </a:r>
            <a:r>
              <a:rPr lang="en-US" altLang="zh-CN" sz="2400" dirty="0">
                <a:latin typeface="Arial" panose="020B0604020202020204" pitchFamily="34" charset="0"/>
                <a:sym typeface="+mn-ea"/>
              </a:rPr>
              <a:t>VoteToHalt()</a:t>
            </a:r>
            <a:r>
              <a:rPr lang="zh-CN" altLang="en-US" sz="2400" dirty="0">
                <a:latin typeface="Arial" panose="020B0604020202020204" pitchFamily="34" charset="0"/>
                <a:sym typeface="+mn-ea"/>
              </a:rPr>
              <a:t>进入“非活跃”状态，完成它自身的匹配 </a:t>
            </a:r>
            <a:endParaRPr lang="zh-CN" altLang="en-US" sz="2400" dirty="0">
              <a:latin typeface="Arial" panose="020B0604020202020204" pitchFamily="34" charset="0"/>
              <a:sym typeface="+mn-ea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6" name="标题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en-US" altLang="zh-CN" sz="3600" b="1" dirty="0"/>
              <a:t>13.7 Pregel</a:t>
            </a:r>
            <a:r>
              <a:rPr lang="zh-CN" altLang="en-US" sz="3600" b="1" dirty="0"/>
              <a:t>和</a:t>
            </a:r>
            <a:r>
              <a:rPr lang="en-US" altLang="zh-CN" sz="3600" b="1" dirty="0"/>
              <a:t>MapReduce</a:t>
            </a:r>
            <a:r>
              <a:rPr lang="zh-CN" altLang="en-US" sz="3600" b="1" dirty="0"/>
              <a:t>实现</a:t>
            </a:r>
            <a:r>
              <a:rPr lang="en-US" altLang="zh-CN" sz="3600" b="1" dirty="0"/>
              <a:t>PageRank</a:t>
            </a:r>
            <a:r>
              <a:rPr lang="zh-CN" altLang="en-US" sz="3600" b="1" dirty="0"/>
              <a:t>算法的对比</a:t>
            </a:r>
            <a:endParaRPr lang="zh-CN" altLang="en-US" sz="3600" b="1" dirty="0"/>
          </a:p>
        </p:txBody>
      </p:sp>
      <p:sp>
        <p:nvSpPr>
          <p:cNvPr id="47107" name="Rectangle 3"/>
          <p:cNvSpPr/>
          <p:nvPr/>
        </p:nvSpPr>
        <p:spPr>
          <a:xfrm>
            <a:off x="73025" y="1737043"/>
            <a:ext cx="11177905" cy="3775710"/>
          </a:xfrm>
          <a:prstGeom prst="rect">
            <a:avLst/>
          </a:prstGeom>
          <a:noFill/>
          <a:ln w="9525">
            <a:noFill/>
          </a:ln>
        </p:spPr>
        <p:txBody>
          <a:bodyPr wrap="square" lIns="899829" tIns="165048" bIns="165048" anchor="ctr" anchorCtr="0">
            <a:spAutoFit/>
          </a:bodyPr>
          <a:p>
            <a:pPr marL="341630" lvl="2" indent="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13.7.1 </a:t>
            </a:r>
            <a:r>
              <a:rPr lang="zh-CN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PageRank</a:t>
            </a:r>
            <a:r>
              <a:rPr lang="zh-CN" altLang="en-US" sz="2800" b="1" dirty="0">
                <a:latin typeface="宋体" panose="02010600030101010101" pitchFamily="2" charset="-122"/>
                <a:cs typeface="Times New Roman" panose="02020603050405020304" pitchFamily="18" charset="0"/>
              </a:rPr>
              <a:t>算法</a:t>
            </a:r>
            <a:endParaRPr lang="en-US" altLang="zh-CN" sz="2800" b="1" dirty="0"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marL="341630" lvl="2" indent="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zh-CN" sz="2800" b="1" dirty="0">
                <a:latin typeface="Arial" panose="020B0604020202020204" pitchFamily="34" charset="0"/>
              </a:rPr>
              <a:t>13.7.2 PageRank</a:t>
            </a:r>
            <a:r>
              <a:rPr lang="zh-CN" altLang="en-US" sz="2800" b="1" dirty="0">
                <a:latin typeface="Arial" panose="020B0604020202020204" pitchFamily="34" charset="0"/>
              </a:rPr>
              <a:t>算法在</a:t>
            </a:r>
            <a:r>
              <a:rPr lang="en-US" altLang="zh-CN" sz="2800" b="1" dirty="0">
                <a:latin typeface="Arial" panose="020B0604020202020204" pitchFamily="34" charset="0"/>
              </a:rPr>
              <a:t>Pregel</a:t>
            </a:r>
            <a:r>
              <a:rPr lang="zh-CN" altLang="en-US" sz="2800" b="1" dirty="0">
                <a:latin typeface="Arial" panose="020B0604020202020204" pitchFamily="34" charset="0"/>
              </a:rPr>
              <a:t>中的实现</a:t>
            </a:r>
            <a:endParaRPr lang="en-US" altLang="zh-CN" sz="2800" b="1" dirty="0">
              <a:latin typeface="Arial" panose="020B0604020202020204" pitchFamily="34" charset="0"/>
            </a:endParaRPr>
          </a:p>
          <a:p>
            <a:pPr marL="341630" lvl="2" indent="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zh-CN" sz="2800" b="1" dirty="0">
                <a:latin typeface="Arial" panose="020B0604020202020204" pitchFamily="34" charset="0"/>
              </a:rPr>
              <a:t>13.7.3 PageRank</a:t>
            </a:r>
            <a:r>
              <a:rPr lang="zh-CN" altLang="en-US" sz="2800" b="1" dirty="0">
                <a:latin typeface="Arial" panose="020B0604020202020204" pitchFamily="34" charset="0"/>
              </a:rPr>
              <a:t>算法在</a:t>
            </a:r>
            <a:r>
              <a:rPr lang="en-US" altLang="zh-CN" sz="2800" b="1" dirty="0">
                <a:latin typeface="Arial" panose="020B0604020202020204" pitchFamily="34" charset="0"/>
              </a:rPr>
              <a:t>MapReduce</a:t>
            </a:r>
            <a:r>
              <a:rPr lang="zh-CN" altLang="en-US" sz="2800" b="1" dirty="0">
                <a:latin typeface="Arial" panose="020B0604020202020204" pitchFamily="34" charset="0"/>
              </a:rPr>
              <a:t>中的实现</a:t>
            </a:r>
            <a:endParaRPr lang="zh-CN" altLang="en-US" sz="2800" b="1" dirty="0">
              <a:latin typeface="Arial" panose="020B0604020202020204" pitchFamily="34" charset="0"/>
            </a:endParaRPr>
          </a:p>
          <a:p>
            <a:pPr marL="341630" lvl="2" indent="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zh-CN" sz="2800" b="1" dirty="0">
                <a:latin typeface="Arial" panose="020B0604020202020204" pitchFamily="34" charset="0"/>
              </a:rPr>
              <a:t>13.7.4 PageRank</a:t>
            </a:r>
            <a:r>
              <a:rPr lang="zh-CN" altLang="en-US" sz="2800" b="1" dirty="0">
                <a:latin typeface="Arial" panose="020B0604020202020204" pitchFamily="34" charset="0"/>
              </a:rPr>
              <a:t>算法在</a:t>
            </a:r>
            <a:r>
              <a:rPr lang="en-US" altLang="zh-CN" sz="2800" b="1" dirty="0">
                <a:latin typeface="Arial" panose="020B0604020202020204" pitchFamily="34" charset="0"/>
              </a:rPr>
              <a:t>Pregel</a:t>
            </a:r>
            <a:r>
              <a:rPr lang="zh-CN" altLang="en-US" sz="2800" b="1" dirty="0">
                <a:latin typeface="Arial" panose="020B0604020202020204" pitchFamily="34" charset="0"/>
              </a:rPr>
              <a:t>和</a:t>
            </a:r>
            <a:r>
              <a:rPr lang="en-US" altLang="zh-CN" sz="2800" b="1" dirty="0">
                <a:latin typeface="Arial" panose="020B0604020202020204" pitchFamily="34" charset="0"/>
              </a:rPr>
              <a:t>MapReduce</a:t>
            </a:r>
            <a:r>
              <a:rPr lang="zh-CN" altLang="en-US" sz="2800" b="1" dirty="0">
                <a:latin typeface="Arial" panose="020B0604020202020204" pitchFamily="34" charset="0"/>
              </a:rPr>
              <a:t>中实现的比较</a:t>
            </a:r>
            <a:endParaRPr lang="zh-CN" altLang="en-US" sz="2800" b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30" name="内容占位符 1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>
            <a:normAutofit lnSpcReduction="10000"/>
          </a:bodyPr>
          <a:p>
            <a:pPr marL="0" indent="0">
              <a:buNone/>
            </a:pPr>
            <a:r>
              <a:rPr lang="zh-CN" altLang="en-US" sz="2400" dirty="0"/>
              <a:t> </a:t>
            </a:r>
            <a:r>
              <a:rPr lang="en-US" altLang="zh-CN" sz="2400" dirty="0"/>
              <a:t>PageRank</a:t>
            </a:r>
            <a:r>
              <a:rPr lang="zh-CN" altLang="en-US" sz="2400" dirty="0"/>
              <a:t>是一个函数：网页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lang="zh-CN" altLang="en-US" sz="2400" dirty="0"/>
              <a:t>权值</a:t>
            </a:r>
            <a:r>
              <a:rPr lang="en-US" altLang="zh-CN" sz="2400" dirty="0"/>
              <a:t>(</a:t>
            </a:r>
            <a:r>
              <a:rPr lang="zh-CN" altLang="en-US" sz="2400" dirty="0"/>
              <a:t>重要性</a:t>
            </a:r>
            <a:r>
              <a:rPr lang="en-US" altLang="zh-CN" sz="2400" dirty="0"/>
              <a:t>,</a:t>
            </a:r>
            <a:r>
              <a:rPr lang="zh-CN" altLang="en-US" sz="2400" dirty="0"/>
              <a:t>也称为</a:t>
            </a:r>
            <a:r>
              <a:rPr lang="en-US" altLang="zh-CN" sz="2400" dirty="0"/>
              <a:t>PR</a:t>
            </a:r>
            <a:r>
              <a:rPr lang="zh-CN" altLang="en-US" sz="2400" dirty="0"/>
              <a:t>值</a:t>
            </a:r>
            <a:r>
              <a:rPr lang="en-US" altLang="zh-CN" sz="2400" dirty="0"/>
              <a:t>)</a:t>
            </a:r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PageRank</a:t>
            </a:r>
            <a:r>
              <a:rPr lang="zh-CN" altLang="en-US" sz="2400" dirty="0"/>
              <a:t>作为谷歌的网页链接排名算法，基本公式如下：</a:t>
            </a:r>
            <a:endParaRPr lang="zh-CN" altLang="en-US" sz="2400" dirty="0"/>
          </a:p>
          <a:p>
            <a:pPr marL="0" indent="0">
              <a:buNone/>
            </a:pPr>
            <a:endParaRPr lang="zh-CN" altLang="en-US" sz="2400" dirty="0"/>
          </a:p>
          <a:p>
            <a:pPr marL="0" indent="0">
              <a:buNone/>
            </a:pPr>
            <a:endParaRPr lang="zh-CN" altLang="en-US" sz="2400" dirty="0"/>
          </a:p>
          <a:p>
            <a:pPr marL="0" indent="0">
              <a:buNone/>
            </a:pPr>
            <a:endParaRPr lang="zh-CN" altLang="en-US" sz="2400" dirty="0"/>
          </a:p>
          <a:p>
            <a:pPr marL="0" indent="0">
              <a:buNone/>
            </a:pPr>
            <a:r>
              <a:rPr lang="en-US" altLang="zh-CN" sz="2400" i="1" dirty="0"/>
              <a:t>N</a:t>
            </a:r>
            <a:r>
              <a:rPr lang="zh-CN" altLang="en-US" sz="2400" dirty="0"/>
              <a:t>表示该网络中所有网页的数量</a:t>
            </a:r>
            <a:endParaRPr lang="zh-CN" altLang="en-US" sz="2400" dirty="0"/>
          </a:p>
          <a:p>
            <a:pPr marL="0" indent="0">
              <a:buNone/>
            </a:pPr>
            <a:r>
              <a:rPr lang="en-US" altLang="zh-CN" sz="2400" i="1" dirty="0"/>
              <a:t>N</a:t>
            </a:r>
            <a:r>
              <a:rPr lang="en-US" altLang="zh-CN" sz="2400" i="1" baseline="-25000" dirty="0"/>
              <a:t>i</a:t>
            </a:r>
            <a:r>
              <a:rPr lang="zh-CN" altLang="en-US" sz="2400" dirty="0"/>
              <a:t>为第</a:t>
            </a:r>
            <a:r>
              <a:rPr lang="en-US" altLang="zh-CN" sz="2400" i="1" dirty="0"/>
              <a:t>i</a:t>
            </a:r>
            <a:r>
              <a:rPr lang="zh-CN" altLang="en-US" sz="2400" dirty="0"/>
              <a:t>个</a:t>
            </a:r>
            <a:r>
              <a:rPr lang="zh-CN" altLang="en-US" sz="2400" dirty="0">
                <a:highlight>
                  <a:srgbClr val="FFFF00"/>
                </a:highlight>
              </a:rPr>
              <a:t>源链接</a:t>
            </a:r>
            <a:r>
              <a:rPr lang="zh-CN" altLang="en-US" sz="2400" dirty="0"/>
              <a:t>的链出度</a:t>
            </a:r>
            <a:endParaRPr lang="zh-CN" altLang="en-US" sz="2400" dirty="0"/>
          </a:p>
          <a:p>
            <a:pPr marL="0" indent="0">
              <a:buNone/>
            </a:pPr>
            <a:r>
              <a:rPr lang="en-US" altLang="zh-CN" sz="2400" i="1" dirty="0"/>
              <a:t>PR</a:t>
            </a:r>
            <a:r>
              <a:rPr lang="en-US" altLang="zh-CN" sz="2400" i="1" baseline="-25000" dirty="0"/>
              <a:t>i</a:t>
            </a:r>
            <a:r>
              <a:rPr lang="zh-CN" altLang="en-US" sz="2400" dirty="0"/>
              <a:t>表示第</a:t>
            </a:r>
            <a:r>
              <a:rPr lang="en-US" altLang="zh-CN" sz="2400" i="1" dirty="0"/>
              <a:t>i</a:t>
            </a:r>
            <a:r>
              <a:rPr lang="zh-CN" altLang="en-US" sz="2400" dirty="0"/>
              <a:t>个源链接的</a:t>
            </a:r>
            <a:r>
              <a:rPr lang="en-US" altLang="zh-CN" sz="2400" dirty="0"/>
              <a:t>PR</a:t>
            </a:r>
            <a:r>
              <a:rPr lang="zh-CN" altLang="en-US" sz="2400" dirty="0"/>
              <a:t>值</a:t>
            </a:r>
            <a:endParaRPr lang="zh-CN" altLang="en-US" sz="2400" dirty="0"/>
          </a:p>
          <a:p>
            <a:endParaRPr lang="zh-CN" altLang="en-US" sz="2400" dirty="0"/>
          </a:p>
        </p:txBody>
      </p:sp>
      <p:sp>
        <p:nvSpPr>
          <p:cNvPr id="48131" name="标题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marL="342900" indent="-342900"/>
            <a:r>
              <a:rPr lang="en-US" altLang="zh-CN" b="1" dirty="0"/>
              <a:t>13.7.1 PageRank</a:t>
            </a:r>
            <a:r>
              <a:rPr lang="zh-CN" altLang="en-US" b="1" dirty="0"/>
              <a:t>算法</a:t>
            </a:r>
            <a:endParaRPr lang="zh-CN" altLang="en-US" b="1" dirty="0"/>
          </a:p>
        </p:txBody>
      </p:sp>
      <p:pic>
        <p:nvPicPr>
          <p:cNvPr id="48132" name="Picture 5" descr="C:\Users\admin\AppData\Local\Temp\ksohtml\wpsBDCA.tmp.jpg"/>
          <p:cNvPicPr>
            <a:picLocks noChangeAspect="1"/>
          </p:cNvPicPr>
          <p:nvPr/>
        </p:nvPicPr>
        <p:blipFill>
          <a:blip r:embed="rId1">
            <a:lum bright="-29999" contrast="20000"/>
          </a:blip>
          <a:stretch>
            <a:fillRect/>
          </a:stretch>
        </p:blipFill>
        <p:spPr>
          <a:xfrm>
            <a:off x="4351655" y="3173730"/>
            <a:ext cx="3488055" cy="862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en-US" altLang="zh-CN" b="1" dirty="0"/>
              <a:t>13.7.1 PageRank</a:t>
            </a:r>
            <a:r>
              <a:rPr lang="zh-CN" altLang="en-US" b="1" dirty="0"/>
              <a:t>算法</a:t>
            </a:r>
            <a:endParaRPr lang="zh-CN" altLang="en-US" b="1" dirty="0"/>
          </a:p>
        </p:txBody>
      </p:sp>
      <p:sp>
        <p:nvSpPr>
          <p:cNvPr id="49155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marL="0" indent="0">
              <a:buNone/>
            </a:pPr>
            <a:r>
              <a:rPr lang="zh-CN" altLang="en-US" sz="2400" dirty="0"/>
              <a:t>网络链接之间的关系可以用一个连通图来表示，</a:t>
            </a:r>
            <a:endParaRPr lang="zh-CN" altLang="en-US" sz="2400" dirty="0"/>
          </a:p>
          <a:p>
            <a:pPr marL="0" indent="0">
              <a:buNone/>
            </a:pPr>
            <a:r>
              <a:rPr lang="zh-CN" altLang="en-US" sz="2400" dirty="0"/>
              <a:t>下图就是四个网页（</a:t>
            </a:r>
            <a:r>
              <a:rPr lang="en-US" altLang="zh-CN" sz="2400" i="1" dirty="0"/>
              <a:t>A</a:t>
            </a:r>
            <a:r>
              <a:rPr lang="en-US" altLang="zh-CN" sz="2400" dirty="0"/>
              <a:t>,</a:t>
            </a:r>
            <a:r>
              <a:rPr lang="en-US" altLang="zh-CN" sz="2400" i="1" dirty="0"/>
              <a:t>B</a:t>
            </a:r>
            <a:r>
              <a:rPr lang="en-US" altLang="zh-CN" sz="2400" dirty="0"/>
              <a:t>,</a:t>
            </a:r>
            <a:r>
              <a:rPr lang="en-US" altLang="zh-CN" sz="2400" i="1" dirty="0"/>
              <a:t>C</a:t>
            </a:r>
            <a:r>
              <a:rPr lang="en-US" altLang="zh-CN" sz="2400" dirty="0"/>
              <a:t>,</a:t>
            </a:r>
            <a:r>
              <a:rPr lang="en-US" altLang="zh-CN" sz="2400" i="1" dirty="0"/>
              <a:t>D</a:t>
            </a:r>
            <a:r>
              <a:rPr lang="zh-CN" altLang="en-US" sz="2400" dirty="0"/>
              <a:t>）互相链入链出组成的连通图，</a:t>
            </a:r>
            <a:endParaRPr lang="zh-CN" altLang="en-US" sz="2400" dirty="0"/>
          </a:p>
          <a:p>
            <a:pPr marL="0" indent="0">
              <a:buNone/>
            </a:pPr>
            <a:r>
              <a:rPr lang="zh-CN" altLang="en-US" sz="2400" dirty="0"/>
              <a:t>网页</a:t>
            </a:r>
            <a:r>
              <a:rPr lang="en-US" altLang="zh-CN" sz="2400" i="1" dirty="0"/>
              <a:t>A</a:t>
            </a:r>
            <a:r>
              <a:rPr lang="zh-CN" altLang="en-US" sz="2400" dirty="0"/>
              <a:t>中包含指向网页</a:t>
            </a:r>
            <a:r>
              <a:rPr lang="en-US" altLang="zh-CN" sz="2400" i="1" dirty="0"/>
              <a:t>B</a:t>
            </a:r>
            <a:r>
              <a:rPr lang="zh-CN" altLang="en-US" sz="2400" dirty="0"/>
              <a:t>、</a:t>
            </a:r>
            <a:r>
              <a:rPr lang="en-US" altLang="zh-CN" sz="2400" i="1" dirty="0"/>
              <a:t>C</a:t>
            </a:r>
            <a:r>
              <a:rPr lang="zh-CN" altLang="en-US" sz="2400" dirty="0"/>
              <a:t>和</a:t>
            </a:r>
            <a:r>
              <a:rPr lang="en-US" altLang="zh-CN" sz="2400" i="1" dirty="0"/>
              <a:t>D</a:t>
            </a:r>
            <a:r>
              <a:rPr lang="zh-CN" altLang="en-US" sz="2400" dirty="0"/>
              <a:t>的外链，网页</a:t>
            </a:r>
            <a:r>
              <a:rPr lang="en-US" altLang="zh-CN" sz="2400" i="1" dirty="0"/>
              <a:t>B</a:t>
            </a:r>
            <a:r>
              <a:rPr lang="zh-CN" altLang="en-US" sz="2400" dirty="0"/>
              <a:t>和</a:t>
            </a:r>
            <a:r>
              <a:rPr lang="en-US" altLang="zh-CN" sz="2400" i="1" dirty="0"/>
              <a:t>D</a:t>
            </a:r>
            <a:r>
              <a:rPr lang="zh-CN" altLang="en-US" sz="2400" dirty="0"/>
              <a:t>是网页</a:t>
            </a:r>
            <a:r>
              <a:rPr lang="en-US" altLang="zh-CN" sz="2400" i="1" dirty="0"/>
              <a:t>A</a:t>
            </a:r>
            <a:r>
              <a:rPr lang="zh-CN" altLang="en-US" sz="2400" dirty="0"/>
              <a:t>的源链接</a:t>
            </a:r>
            <a:endParaRPr lang="zh-CN" altLang="en-US" sz="2400" dirty="0"/>
          </a:p>
        </p:txBody>
      </p:sp>
      <p:pic>
        <p:nvPicPr>
          <p:cNvPr id="4915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53000" y="3429000"/>
            <a:ext cx="2251075" cy="23907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78" name="内容占位符 1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r>
              <a:rPr lang="zh-CN" altLang="en-US" sz="2400" dirty="0"/>
              <a:t>在</a:t>
            </a:r>
            <a:r>
              <a:rPr lang="en-US" altLang="zh-CN" sz="2400" dirty="0"/>
              <a:t>Pregel</a:t>
            </a:r>
            <a:r>
              <a:rPr lang="zh-CN" altLang="en-US" sz="2400" dirty="0"/>
              <a:t>计算模型中，图中的每个顶点会对应一个计算单元，每个计算单元包含三个成员变量：</a:t>
            </a:r>
            <a:endParaRPr lang="zh-CN" altLang="en-US" sz="2400" dirty="0"/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2400" dirty="0"/>
              <a:t>顶点值（</a:t>
            </a:r>
            <a:r>
              <a:rPr lang="en-US" altLang="zh-CN" sz="2400" dirty="0"/>
              <a:t>Vertex value</a:t>
            </a:r>
            <a:r>
              <a:rPr lang="zh-CN" altLang="en-US" sz="2400" dirty="0"/>
              <a:t>）：顶点对应的</a:t>
            </a:r>
            <a:r>
              <a:rPr lang="en-US" altLang="zh-CN" sz="2400" dirty="0"/>
              <a:t>PR</a:t>
            </a:r>
            <a:r>
              <a:rPr lang="zh-CN" altLang="en-US" sz="2400" dirty="0"/>
              <a:t>值</a:t>
            </a:r>
            <a:endParaRPr lang="zh-CN" altLang="en-US" sz="2400" dirty="0"/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2400" dirty="0"/>
              <a:t>出射边（</a:t>
            </a:r>
            <a:r>
              <a:rPr lang="en-US" altLang="zh-CN" sz="2400" dirty="0"/>
              <a:t>Out edge</a:t>
            </a:r>
            <a:r>
              <a:rPr lang="zh-CN" altLang="en-US" sz="2400" dirty="0"/>
              <a:t>）：只需要表示一条边，可以不取值</a:t>
            </a:r>
            <a:endParaRPr lang="zh-CN" altLang="en-US" sz="2400" dirty="0"/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2400" dirty="0"/>
              <a:t>消息（</a:t>
            </a:r>
            <a:r>
              <a:rPr lang="en-US" altLang="zh-CN" sz="2400" dirty="0"/>
              <a:t>Message</a:t>
            </a:r>
            <a:r>
              <a:rPr lang="zh-CN" altLang="en-US" sz="2400" dirty="0"/>
              <a:t>）：传递的消息，传递本顶点对其它顶点的</a:t>
            </a:r>
            <a:r>
              <a:rPr lang="en-US" altLang="zh-CN" sz="2400" dirty="0"/>
              <a:t>PR</a:t>
            </a:r>
            <a:r>
              <a:rPr lang="zh-CN" altLang="en-US" sz="2400" dirty="0"/>
              <a:t>贡献值</a:t>
            </a:r>
            <a:endParaRPr lang="zh-CN" altLang="en-US" sz="2400" dirty="0"/>
          </a:p>
          <a:p>
            <a:pPr>
              <a:buFont typeface="Wingdings" panose="05000000000000000000" pitchFamily="2" charset="2"/>
              <a:buChar char="Ø"/>
            </a:pPr>
            <a:endParaRPr lang="zh-CN" altLang="en-US" sz="2400" dirty="0"/>
          </a:p>
          <a:p>
            <a:r>
              <a:rPr lang="zh-CN" altLang="en-US" sz="2400" dirty="0"/>
              <a:t>每个计算单元包含一个成员函数</a:t>
            </a:r>
            <a:r>
              <a:rPr lang="en-US" altLang="zh-CN" sz="2400" dirty="0"/>
              <a:t>Compute()</a:t>
            </a:r>
            <a:r>
              <a:rPr lang="zh-CN" altLang="en-US" sz="2400" dirty="0"/>
              <a:t>，该函数定义了顶点上的运算，包括该顶点的</a:t>
            </a:r>
            <a:r>
              <a:rPr lang="en-US" altLang="zh-CN" sz="2400" dirty="0"/>
              <a:t>PR</a:t>
            </a:r>
            <a:r>
              <a:rPr lang="zh-CN" altLang="en-US" sz="2400" dirty="0"/>
              <a:t>值计算，以及从该顶点发送消息到其链出顶点</a:t>
            </a:r>
            <a:endParaRPr lang="zh-CN" altLang="en-US" sz="2400" dirty="0"/>
          </a:p>
        </p:txBody>
      </p:sp>
      <p:sp>
        <p:nvSpPr>
          <p:cNvPr id="50179" name="标题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marL="342900" indent="-342900"/>
            <a:r>
              <a:rPr lang="en-US" altLang="zh-CN" b="1" dirty="0"/>
              <a:t>13.7.2 PageRank</a:t>
            </a:r>
            <a:r>
              <a:rPr lang="zh-CN" altLang="en-US" b="1" dirty="0"/>
              <a:t>算法在</a:t>
            </a:r>
            <a:r>
              <a:rPr lang="en-US" altLang="zh-CN" b="1" dirty="0"/>
              <a:t>Pregel</a:t>
            </a:r>
            <a:r>
              <a:rPr lang="zh-CN" altLang="en-US" b="1" dirty="0"/>
              <a:t>中的实现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0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en-US" altLang="zh-CN" b="1" dirty="0"/>
              <a:t>13.7.2 PageRank</a:t>
            </a:r>
            <a:r>
              <a:rPr lang="zh-CN" altLang="en-US" b="1" dirty="0"/>
              <a:t>算法在</a:t>
            </a:r>
            <a:r>
              <a:rPr lang="en-US" altLang="zh-CN" b="1" dirty="0"/>
              <a:t>Pregel</a:t>
            </a:r>
            <a:r>
              <a:rPr lang="zh-CN" altLang="en-US" b="1" dirty="0"/>
              <a:t>中的实现</a:t>
            </a:r>
            <a:endParaRPr lang="zh-CN" altLang="en-US" b="1" dirty="0"/>
          </a:p>
        </p:txBody>
      </p:sp>
      <p:graphicFrame>
        <p:nvGraphicFramePr>
          <p:cNvPr id="39945" name="Group 9"/>
          <p:cNvGraphicFramePr>
            <a:graphicFrameLocks noGrp="1"/>
          </p:cNvGraphicFramePr>
          <p:nvPr>
            <p:ph idx="1"/>
            <p:custDataLst>
              <p:tags r:id="rId1"/>
            </p:custDataLst>
          </p:nvPr>
        </p:nvGraphicFramePr>
        <p:xfrm>
          <a:off x="1014730" y="1357630"/>
          <a:ext cx="10515600" cy="5303520"/>
        </p:xfrm>
        <a:graphic>
          <a:graphicData uri="http://schemas.openxmlformats.org/drawingml/2006/table">
            <a:tbl>
              <a:tblPr/>
              <a:tblGrid>
                <a:gridCol w="10515600"/>
              </a:tblGrid>
              <a:tr h="530352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class PageRankVertex: public Vertex&lt;double, void, double&gt; {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public: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        virtual void Compute(MessageIterator* msgs) {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	if (superstep() &gt;= 1) {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			double sum = 0;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			for (;!msgs-&gt;Done(); msgs-&gt;Next())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			sum += msgs-&gt;Value();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			*MutableValue() =0.15 / NumVertices() + 0.85 * sum;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	}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//end if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	if (superstep() &lt; 30) {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//</a:t>
                      </a: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一般认为执行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30</a:t>
                      </a: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个超步可收敛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	         const int64 n = GetOutEdgeIterator().size();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	         SendMessageToAllNeighbors(GetValue()/ n);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	} else {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		VoteToHalt();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	}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//end if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     }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//end Compute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};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L="68580" marR="68580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50" name="内容占位符 1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>
              <a:lnSpc>
                <a:spcPct val="150000"/>
              </a:lnSpc>
            </a:pPr>
            <a:r>
              <a:rPr lang="en-US" altLang="zh-CN" sz="2400" dirty="0"/>
              <a:t>MapReduce</a:t>
            </a:r>
            <a:r>
              <a:rPr lang="zh-CN" altLang="en-US" sz="2400" dirty="0"/>
              <a:t>也是谷歌公司提出的一种计算模型，它是为全量计算而设计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采用</a:t>
            </a:r>
            <a:r>
              <a:rPr lang="en-US" altLang="zh-CN" sz="2400" dirty="0"/>
              <a:t>MapReduce</a:t>
            </a:r>
            <a:r>
              <a:rPr lang="zh-CN" altLang="en-US" sz="2400" dirty="0"/>
              <a:t>实现</a:t>
            </a:r>
            <a:r>
              <a:rPr lang="en-US" altLang="zh-CN" sz="2400" dirty="0"/>
              <a:t>PageRank</a:t>
            </a:r>
            <a:r>
              <a:rPr lang="zh-CN" altLang="en-US" sz="2400" dirty="0"/>
              <a:t>的计算过程包括三个阶段：</a:t>
            </a:r>
            <a:endParaRPr lang="en-US" altLang="zh-CN" sz="24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dirty="0"/>
              <a:t>第一阶段：解析网页</a:t>
            </a:r>
            <a:endParaRPr lang="en-US" altLang="zh-CN" b="1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dirty="0"/>
              <a:t>第二阶段：</a:t>
            </a:r>
            <a:r>
              <a:rPr lang="en-US" altLang="zh-CN" b="1" dirty="0"/>
              <a:t>PageRank</a:t>
            </a:r>
            <a:r>
              <a:rPr lang="zh-CN" altLang="en-US" b="1" dirty="0"/>
              <a:t>分配</a:t>
            </a:r>
            <a:endParaRPr lang="en-US" altLang="zh-CN" b="1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dirty="0"/>
              <a:t>第三阶段：收敛阶段</a:t>
            </a:r>
            <a:endParaRPr lang="zh-CN" altLang="en-US" b="1" dirty="0"/>
          </a:p>
        </p:txBody>
      </p:sp>
      <p:sp>
        <p:nvSpPr>
          <p:cNvPr id="53251" name="标题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marL="342900" indent="-342900"/>
            <a:r>
              <a:rPr lang="en-US" altLang="zh-CN" sz="4000" b="1" dirty="0"/>
              <a:t>13.7.3 PageRank</a:t>
            </a:r>
            <a:r>
              <a:rPr lang="zh-CN" altLang="en-US" sz="4000" b="1" dirty="0"/>
              <a:t>算法在</a:t>
            </a:r>
            <a:r>
              <a:rPr lang="en-US" altLang="zh-CN" sz="4000" b="1" dirty="0"/>
              <a:t>MapReduce</a:t>
            </a:r>
            <a:r>
              <a:rPr lang="zh-CN" altLang="en-US" sz="4000" b="1" dirty="0"/>
              <a:t>中的实现</a:t>
            </a:r>
            <a:endParaRPr lang="zh-CN" altLang="en-US" sz="4000" b="1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27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en-US" altLang="zh-CN" sz="4000" b="1" dirty="0"/>
              <a:t>13.7.3 PageRank</a:t>
            </a:r>
            <a:r>
              <a:rPr lang="zh-CN" altLang="en-US" sz="4000" b="1" dirty="0"/>
              <a:t>算法在</a:t>
            </a:r>
            <a:r>
              <a:rPr lang="en-US" altLang="zh-CN" sz="4000" b="1" dirty="0"/>
              <a:t>MapReduce</a:t>
            </a:r>
            <a:r>
              <a:rPr lang="zh-CN" altLang="en-US" sz="4000" b="1" dirty="0"/>
              <a:t>中的实现</a:t>
            </a:r>
            <a:endParaRPr lang="zh-CN" altLang="en-US" sz="4000" b="1" dirty="0"/>
          </a:p>
        </p:txBody>
      </p:sp>
      <p:sp>
        <p:nvSpPr>
          <p:cNvPr id="54275" name="Rectangle 3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03375"/>
          </a:xfrm>
        </p:spPr>
        <p:txBody>
          <a:bodyPr vert="horz" wrap="square" lIns="91440" tIns="45720" rIns="91440" bIns="45720" anchor="t" anchorCtr="0">
            <a:normAutofit lnSpcReduction="20000"/>
          </a:bodyPr>
          <a:p>
            <a:r>
              <a:rPr lang="zh-CN" altLang="en-US" sz="2000" dirty="0"/>
              <a:t>该阶段的任务就是分析一个页面的链接数并赋初值</a:t>
            </a:r>
            <a:endParaRPr lang="zh-CN" altLang="en-US" sz="2000" dirty="0"/>
          </a:p>
          <a:p>
            <a:r>
              <a:rPr lang="zh-CN" altLang="en-US" sz="2000" dirty="0"/>
              <a:t>网页表示：</a:t>
            </a:r>
            <a:r>
              <a:rPr lang="en-US" altLang="zh-CN" sz="2000" dirty="0"/>
              <a:t>&lt; URL</a:t>
            </a:r>
            <a:r>
              <a:rPr lang="zh-CN" altLang="en-US" sz="2000" dirty="0"/>
              <a:t>，</a:t>
            </a:r>
            <a:r>
              <a:rPr lang="en-US" altLang="zh-CN" sz="2000" dirty="0"/>
              <a:t>page content&gt;</a:t>
            </a:r>
            <a:r>
              <a:rPr lang="zh-CN" altLang="en-US" sz="2000" dirty="0"/>
              <a:t>，作为</a:t>
            </a:r>
            <a:r>
              <a:rPr lang="en-US" altLang="zh-CN" sz="2000" dirty="0"/>
              <a:t>Map</a:t>
            </a:r>
            <a:r>
              <a:rPr lang="zh-CN" altLang="en-US" sz="2000" dirty="0"/>
              <a:t>任务的输入</a:t>
            </a:r>
            <a:endParaRPr lang="zh-CN" altLang="en-US" sz="2000" dirty="0"/>
          </a:p>
          <a:p>
            <a:r>
              <a:rPr lang="zh-CN" altLang="en-US" sz="2000" dirty="0"/>
              <a:t>阶段</a:t>
            </a:r>
            <a:r>
              <a:rPr lang="en-US" altLang="zh-CN" sz="2000" dirty="0"/>
              <a:t>1</a:t>
            </a:r>
            <a:r>
              <a:rPr lang="zh-CN" altLang="en-US" sz="2000" dirty="0"/>
              <a:t>的</a:t>
            </a:r>
            <a:r>
              <a:rPr lang="en-US" altLang="zh-CN" sz="2000" dirty="0"/>
              <a:t>Map</a:t>
            </a:r>
            <a:r>
              <a:rPr lang="zh-CN" altLang="en-US" sz="2000" dirty="0"/>
              <a:t>任务把</a:t>
            </a:r>
            <a:r>
              <a:rPr lang="en-US" altLang="zh-CN" sz="2000" dirty="0"/>
              <a:t>&lt;URL</a:t>
            </a:r>
            <a:r>
              <a:rPr lang="zh-CN" altLang="en-US" sz="2000" dirty="0"/>
              <a:t>，</a:t>
            </a:r>
            <a:r>
              <a:rPr lang="en-US" altLang="zh-CN" sz="2000" dirty="0"/>
              <a:t>page content&gt;</a:t>
            </a:r>
            <a:r>
              <a:rPr lang="zh-CN" altLang="en-US" sz="2000" dirty="0"/>
              <a:t>映射为</a:t>
            </a:r>
            <a:r>
              <a:rPr lang="en-US" altLang="zh-CN" sz="2000" dirty="0"/>
              <a:t>&lt;URL</a:t>
            </a:r>
            <a:r>
              <a:rPr lang="zh-CN" altLang="en-US" sz="2000" dirty="0"/>
              <a:t>，</a:t>
            </a:r>
            <a:r>
              <a:rPr lang="en-US" altLang="zh-CN" sz="2000" dirty="0"/>
              <a:t>&lt;PR</a:t>
            </a:r>
            <a:r>
              <a:rPr lang="en-US" altLang="zh-CN" sz="2000" baseline="-25000" dirty="0"/>
              <a:t>init</a:t>
            </a:r>
            <a:r>
              <a:rPr lang="zh-CN" altLang="en-US" sz="2000" dirty="0"/>
              <a:t>，</a:t>
            </a:r>
            <a:r>
              <a:rPr lang="en-US" altLang="zh-CN" sz="2000" dirty="0"/>
              <a:t>url_list&gt;&gt;</a:t>
            </a:r>
            <a:endParaRPr lang="en-US" altLang="zh-CN" sz="2000" dirty="0"/>
          </a:p>
          <a:p>
            <a:r>
              <a:rPr lang="en-US" altLang="zh-CN" sz="2000" dirty="0"/>
              <a:t>Reduce</a:t>
            </a:r>
            <a:r>
              <a:rPr lang="zh-CN" altLang="en-US" sz="2000" dirty="0"/>
              <a:t>任务只是恒等函数，输入和输出相同</a:t>
            </a:r>
            <a:endParaRPr lang="zh-CN" altLang="en-US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2667000" y="3429000"/>
            <a:ext cx="3124200" cy="1476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Map</a:t>
            </a:r>
            <a:r>
              <a:rPr kumimoji="0" lang="zh-CN" altLang="en-US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任务的输入为：</a:t>
            </a:r>
            <a:r>
              <a:rPr kumimoji="0" lang="en-US" altLang="zh-CN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  <a:endParaRPr kumimoji="0" lang="en-US" altLang="zh-CN" kern="1200" cap="none" spc="0" normalizeH="0" baseline="0" noProof="0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360045" marR="0" defTabSz="914400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&lt;A</a:t>
            </a:r>
            <a:r>
              <a:rPr kumimoji="0" lang="en-US" altLang="zh-CN" kern="1200" cap="none" spc="0" normalizeH="0" baseline="-2500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URL</a:t>
            </a:r>
            <a:r>
              <a:rPr kumimoji="0" lang="zh-CN" altLang="en-US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，</a:t>
            </a:r>
            <a:r>
              <a:rPr kumimoji="0" lang="en-US" altLang="zh-CN" kern="1200" cap="none" spc="0" normalizeH="0" baseline="0" noProof="0" dirty="0" err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</a:t>
            </a:r>
            <a:r>
              <a:rPr kumimoji="0" lang="en-US" altLang="zh-CN" kern="1200" cap="none" spc="0" normalizeH="0" baseline="-25000" noProof="0" dirty="0" err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content</a:t>
            </a:r>
            <a:r>
              <a:rPr kumimoji="0" lang="en-US" altLang="zh-CN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&gt;</a:t>
            </a:r>
            <a:endParaRPr kumimoji="0" lang="en-US" altLang="zh-CN" kern="1200" cap="none" spc="0" normalizeH="0" baseline="0" noProof="0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360045" marR="0" defTabSz="914400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&lt;B</a:t>
            </a:r>
            <a:r>
              <a:rPr kumimoji="0" lang="en-US" altLang="zh-CN" kern="1200" cap="none" spc="0" normalizeH="0" baseline="-2500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URL</a:t>
            </a:r>
            <a:r>
              <a:rPr kumimoji="0" lang="zh-CN" altLang="en-US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，</a:t>
            </a:r>
            <a:r>
              <a:rPr kumimoji="0" lang="en-US" altLang="zh-CN" kern="1200" cap="none" spc="0" normalizeH="0" baseline="0" noProof="0" dirty="0" err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B</a:t>
            </a:r>
            <a:r>
              <a:rPr kumimoji="0" lang="en-US" altLang="zh-CN" kern="1200" cap="none" spc="0" normalizeH="0" baseline="-25000" noProof="0" dirty="0" err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content</a:t>
            </a:r>
            <a:r>
              <a:rPr kumimoji="0" lang="en-US" altLang="zh-CN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&gt;</a:t>
            </a:r>
            <a:endParaRPr kumimoji="0" lang="en-US" altLang="zh-CN" kern="1200" cap="none" spc="0" normalizeH="0" baseline="0" noProof="0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360045" marR="0" defTabSz="914400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&lt;C</a:t>
            </a:r>
            <a:r>
              <a:rPr kumimoji="0" lang="en-US" altLang="zh-CN" kern="1200" cap="none" spc="0" normalizeH="0" baseline="-2500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URL</a:t>
            </a:r>
            <a:r>
              <a:rPr kumimoji="0" lang="zh-CN" altLang="en-US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，</a:t>
            </a:r>
            <a:r>
              <a:rPr kumimoji="0" lang="en-US" altLang="zh-CN" kern="1200" cap="none" spc="0" normalizeH="0" baseline="0" noProof="0" dirty="0" err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</a:t>
            </a:r>
            <a:r>
              <a:rPr kumimoji="0" lang="en-US" altLang="zh-CN" kern="1200" cap="none" spc="0" normalizeH="0" baseline="-25000" noProof="0" dirty="0" err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content</a:t>
            </a:r>
            <a:r>
              <a:rPr kumimoji="0" lang="en-US" altLang="zh-CN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&gt;</a:t>
            </a:r>
            <a:endParaRPr kumimoji="0" lang="en-US" altLang="zh-CN" kern="1200" cap="none" spc="0" normalizeH="0" baseline="0" noProof="0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360045" marR="0" defTabSz="914400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&lt;D</a:t>
            </a:r>
            <a:r>
              <a:rPr kumimoji="0" lang="en-US" altLang="zh-CN" kern="1200" cap="none" spc="0" normalizeH="0" baseline="-2500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URL</a:t>
            </a:r>
            <a:r>
              <a:rPr kumimoji="0" lang="zh-CN" altLang="en-US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，</a:t>
            </a:r>
            <a:r>
              <a:rPr kumimoji="0" lang="en-US" altLang="zh-CN" kern="1200" cap="none" spc="0" normalizeH="0" baseline="0" noProof="0" dirty="0" err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D</a:t>
            </a:r>
            <a:r>
              <a:rPr kumimoji="0" lang="en-US" altLang="zh-CN" kern="1200" cap="none" spc="0" normalizeH="0" baseline="-25000" noProof="0" dirty="0" err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content</a:t>
            </a:r>
            <a:r>
              <a:rPr kumimoji="0" lang="en-US" altLang="zh-CN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&gt;</a:t>
            </a:r>
            <a:endParaRPr kumimoji="0" lang="en-US" altLang="zh-CN" kern="1200" cap="none" spc="0" normalizeH="0" baseline="0" noProof="0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667000" y="5151438"/>
            <a:ext cx="5029200" cy="1476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Map</a:t>
            </a:r>
            <a:r>
              <a:rPr kumimoji="0" lang="zh-CN" altLang="en-US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任务的输出为：</a:t>
            </a:r>
            <a:endParaRPr kumimoji="0" lang="zh-CN" altLang="en-US" kern="1200" cap="none" spc="0" normalizeH="0" baseline="0" noProof="0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360045" marR="0" defTabSz="914400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&lt;A</a:t>
            </a:r>
            <a:r>
              <a:rPr kumimoji="0" lang="en-US" altLang="zh-CN" kern="1200" cap="none" spc="0" normalizeH="0" baseline="-2500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URL</a:t>
            </a:r>
            <a:r>
              <a:rPr kumimoji="0" lang="zh-CN" altLang="en-US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，</a:t>
            </a:r>
            <a:r>
              <a:rPr kumimoji="0" lang="en-US" altLang="zh-CN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&lt;1/4</a:t>
            </a:r>
            <a:r>
              <a:rPr kumimoji="0" lang="zh-CN" altLang="en-US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，</a:t>
            </a:r>
            <a:r>
              <a:rPr kumimoji="0" lang="en-US" altLang="zh-CN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&lt;B</a:t>
            </a:r>
            <a:r>
              <a:rPr kumimoji="0" lang="en-US" altLang="zh-CN" kern="1200" cap="none" spc="0" normalizeH="0" baseline="-2500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URL</a:t>
            </a:r>
            <a:r>
              <a:rPr kumimoji="0" lang="zh-CN" altLang="en-US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，</a:t>
            </a:r>
            <a:r>
              <a:rPr kumimoji="0" lang="en-US" altLang="zh-CN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</a:t>
            </a:r>
            <a:r>
              <a:rPr kumimoji="0" lang="en-US" altLang="zh-CN" kern="1200" cap="none" spc="0" normalizeH="0" baseline="-2500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URL</a:t>
            </a:r>
            <a:r>
              <a:rPr kumimoji="0" lang="zh-CN" altLang="en-US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，</a:t>
            </a:r>
            <a:r>
              <a:rPr kumimoji="0" lang="en-US" altLang="zh-CN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D</a:t>
            </a:r>
            <a:r>
              <a:rPr kumimoji="0" lang="en-US" altLang="zh-CN" kern="1200" cap="none" spc="0" normalizeH="0" baseline="-2500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URL</a:t>
            </a:r>
            <a:r>
              <a:rPr kumimoji="0" lang="en-US" altLang="zh-CN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&gt;&gt;&gt;</a:t>
            </a:r>
            <a:endParaRPr kumimoji="0" lang="en-US" altLang="zh-CN" kern="1200" cap="none" spc="0" normalizeH="0" baseline="0" noProof="0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360045" marR="0" defTabSz="914400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&lt;B</a:t>
            </a:r>
            <a:r>
              <a:rPr kumimoji="0" lang="en-US" altLang="zh-CN" kern="1200" cap="none" spc="0" normalizeH="0" baseline="-2500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URL</a:t>
            </a:r>
            <a:r>
              <a:rPr kumimoji="0" lang="zh-CN" altLang="en-US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，</a:t>
            </a:r>
            <a:r>
              <a:rPr kumimoji="0" lang="en-US" altLang="zh-CN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&lt;1/4</a:t>
            </a:r>
            <a:r>
              <a:rPr kumimoji="0" lang="zh-CN" altLang="en-US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，</a:t>
            </a:r>
            <a:r>
              <a:rPr kumimoji="0" lang="en-US" altLang="zh-CN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&lt;A</a:t>
            </a:r>
            <a:r>
              <a:rPr kumimoji="0" lang="en-US" altLang="zh-CN" kern="1200" cap="none" spc="0" normalizeH="0" baseline="-2500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URL</a:t>
            </a:r>
            <a:r>
              <a:rPr kumimoji="0" lang="zh-CN" altLang="en-US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，</a:t>
            </a:r>
            <a:r>
              <a:rPr kumimoji="0" lang="en-US" altLang="zh-CN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</a:t>
            </a:r>
            <a:r>
              <a:rPr kumimoji="0" lang="en-US" altLang="zh-CN" kern="1200" cap="none" spc="0" normalizeH="0" baseline="-2500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URL</a:t>
            </a:r>
            <a:r>
              <a:rPr kumimoji="0" lang="en-US" altLang="zh-CN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&gt;&gt;&gt;</a:t>
            </a:r>
            <a:endParaRPr kumimoji="0" lang="en-US" altLang="zh-CN" kern="1200" cap="none" spc="0" normalizeH="0" baseline="0" noProof="0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360045" marR="0" defTabSz="914400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&lt;C</a:t>
            </a:r>
            <a:r>
              <a:rPr kumimoji="0" lang="en-US" altLang="zh-CN" kern="1200" cap="none" spc="0" normalizeH="0" baseline="-2500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URL</a:t>
            </a:r>
            <a:r>
              <a:rPr kumimoji="0" lang="zh-CN" altLang="en-US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，</a:t>
            </a:r>
            <a:r>
              <a:rPr kumimoji="0" lang="en-US" altLang="zh-CN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&lt;1/4</a:t>
            </a:r>
            <a:r>
              <a:rPr kumimoji="0" lang="zh-CN" altLang="en-US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，</a:t>
            </a:r>
            <a:r>
              <a:rPr kumimoji="0" lang="en-US" altLang="zh-CN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D</a:t>
            </a:r>
            <a:r>
              <a:rPr kumimoji="0" lang="en-US" altLang="zh-CN" kern="1200" cap="none" spc="0" normalizeH="0" baseline="-2500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URL</a:t>
            </a:r>
            <a:r>
              <a:rPr kumimoji="0" lang="en-US" altLang="zh-CN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&gt;&gt;</a:t>
            </a:r>
            <a:endParaRPr kumimoji="0" lang="en-US" altLang="zh-CN" kern="1200" cap="none" spc="0" normalizeH="0" baseline="0" noProof="0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360045" marR="0" defTabSz="914400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&lt;D</a:t>
            </a:r>
            <a:r>
              <a:rPr kumimoji="0" lang="en-US" altLang="zh-CN" kern="1200" cap="none" spc="0" normalizeH="0" baseline="-2500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URL</a:t>
            </a:r>
            <a:r>
              <a:rPr kumimoji="0" lang="zh-CN" altLang="en-US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，</a:t>
            </a:r>
            <a:r>
              <a:rPr kumimoji="0" lang="en-US" altLang="zh-CN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&lt;1/4</a:t>
            </a:r>
            <a:r>
              <a:rPr kumimoji="0" lang="zh-CN" altLang="en-US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，</a:t>
            </a:r>
            <a:r>
              <a:rPr kumimoji="0" lang="en-US" altLang="zh-CN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&lt;A</a:t>
            </a:r>
            <a:r>
              <a:rPr kumimoji="0" lang="en-US" altLang="zh-CN" kern="1200" cap="none" spc="0" normalizeH="0" baseline="-2500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URL</a:t>
            </a:r>
            <a:r>
              <a:rPr kumimoji="0" lang="zh-CN" altLang="en-US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，</a:t>
            </a:r>
            <a:r>
              <a:rPr kumimoji="0" lang="en-US" altLang="zh-CN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B</a:t>
            </a:r>
            <a:r>
              <a:rPr kumimoji="0" lang="en-US" altLang="zh-CN" kern="1200" cap="none" spc="0" normalizeH="0" baseline="-2500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URL </a:t>
            </a:r>
            <a:r>
              <a:rPr kumimoji="0" lang="en-US" altLang="zh-CN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&gt;&gt;&gt;</a:t>
            </a:r>
            <a:endParaRPr kumimoji="0" lang="en-US" altLang="zh-CN" kern="1200" cap="none" spc="0" normalizeH="0" baseline="0" noProof="0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278" name="Rectangle 7"/>
          <p:cNvSpPr/>
          <p:nvPr/>
        </p:nvSpPr>
        <p:spPr>
          <a:xfrm>
            <a:off x="838200" y="1276510"/>
            <a:ext cx="282448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r>
              <a:rPr lang="en-US" altLang="zh-CN" sz="2400" b="1" dirty="0">
                <a:latin typeface="Arial" panose="020B0604020202020204" pitchFamily="34" charset="0"/>
              </a:rPr>
              <a:t>1. </a:t>
            </a:r>
            <a:r>
              <a:rPr lang="zh-CN" altLang="en-US" sz="2400" b="1" dirty="0">
                <a:latin typeface="Arial" panose="020B0604020202020204" pitchFamily="34" charset="0"/>
              </a:rPr>
              <a:t>阶段</a:t>
            </a:r>
            <a:r>
              <a:rPr lang="en-US" altLang="zh-CN" sz="2400" b="1" dirty="0">
                <a:latin typeface="Arial" panose="020B0604020202020204" pitchFamily="34" charset="0"/>
              </a:rPr>
              <a:t>1</a:t>
            </a:r>
            <a:r>
              <a:rPr lang="zh-CN" altLang="en-US" sz="2400" b="1" dirty="0">
                <a:latin typeface="Arial" panose="020B0604020202020204" pitchFamily="34" charset="0"/>
              </a:rPr>
              <a:t>：解析网页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  <p:pic>
        <p:nvPicPr>
          <p:cNvPr id="5427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4800" y="3683000"/>
            <a:ext cx="2251075" cy="23907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7" grpId="0"/>
      <p:bldP spid="8" grpId="1"/>
      <p:bldP spid="7" grpId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29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en-US" altLang="zh-CN" sz="4000" b="1" dirty="0"/>
              <a:t>13.7.3 PageRank</a:t>
            </a:r>
            <a:r>
              <a:rPr lang="zh-CN" altLang="en-US" sz="4000" b="1" dirty="0"/>
              <a:t>算法在</a:t>
            </a:r>
            <a:r>
              <a:rPr lang="en-US" altLang="zh-CN" sz="4000" b="1" dirty="0"/>
              <a:t>MapReduce</a:t>
            </a:r>
            <a:r>
              <a:rPr lang="zh-CN" altLang="en-US" sz="4000" b="1" dirty="0"/>
              <a:t>中的实现</a:t>
            </a:r>
            <a:endParaRPr lang="zh-CN" altLang="en-US" sz="4000" b="1" dirty="0"/>
          </a:p>
        </p:txBody>
      </p:sp>
      <p:sp>
        <p:nvSpPr>
          <p:cNvPr id="55299" name="Rectangle 3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299845"/>
          </a:xfrm>
        </p:spPr>
        <p:txBody>
          <a:bodyPr vert="horz" wrap="square" lIns="91440" tIns="45720" rIns="91440" bIns="45720" anchor="t" anchorCtr="0">
            <a:normAutofit lnSpcReduction="10000"/>
          </a:bodyPr>
          <a:p>
            <a:r>
              <a:rPr lang="zh-CN" altLang="en-US" sz="1800" dirty="0"/>
              <a:t>该阶段的任务就是多次迭代计算页面的</a:t>
            </a:r>
            <a:r>
              <a:rPr lang="en-US" altLang="zh-CN" sz="1800" dirty="0"/>
              <a:t>PageRank</a:t>
            </a:r>
            <a:r>
              <a:rPr lang="zh-CN" altLang="en-US" sz="1800" dirty="0"/>
              <a:t>值</a:t>
            </a:r>
            <a:endParaRPr lang="zh-CN" altLang="en-US" sz="1800" dirty="0"/>
          </a:p>
          <a:p>
            <a:r>
              <a:rPr lang="zh-CN" altLang="en-US" sz="1800" dirty="0"/>
              <a:t>在该阶段中，</a:t>
            </a:r>
            <a:r>
              <a:rPr lang="en-US" altLang="zh-CN" sz="1800" dirty="0"/>
              <a:t>Map</a:t>
            </a:r>
            <a:r>
              <a:rPr lang="zh-CN" altLang="en-US" sz="1800" dirty="0"/>
              <a:t>任务的输入是</a:t>
            </a:r>
            <a:r>
              <a:rPr lang="en-US" altLang="zh-CN" sz="1800" dirty="0"/>
              <a:t>&lt;URL</a:t>
            </a:r>
            <a:r>
              <a:rPr lang="zh-CN" altLang="en-US" sz="1800" dirty="0"/>
              <a:t>，</a:t>
            </a:r>
            <a:r>
              <a:rPr lang="en-US" altLang="zh-CN" sz="1800" dirty="0"/>
              <a:t>&lt;cur_rank</a:t>
            </a:r>
            <a:r>
              <a:rPr lang="zh-CN" altLang="en-US" sz="1800" dirty="0"/>
              <a:t>，</a:t>
            </a:r>
            <a:r>
              <a:rPr lang="en-US" altLang="zh-CN" sz="1800" dirty="0"/>
              <a:t>url_list&gt;&gt;</a:t>
            </a:r>
            <a:endParaRPr lang="en-US" altLang="zh-CN" sz="1800" dirty="0"/>
          </a:p>
          <a:p>
            <a:r>
              <a:rPr lang="zh-CN" altLang="en-US" sz="1800" dirty="0"/>
              <a:t>对于</a:t>
            </a:r>
            <a:r>
              <a:rPr lang="en-US" altLang="zh-CN" sz="1800" dirty="0"/>
              <a:t>url_list</a:t>
            </a:r>
            <a:r>
              <a:rPr lang="zh-CN" altLang="en-US" sz="1800" dirty="0"/>
              <a:t>中的每个元素</a:t>
            </a:r>
            <a:r>
              <a:rPr lang="en-US" altLang="zh-CN" sz="1800" dirty="0"/>
              <a:t>u</a:t>
            </a:r>
            <a:r>
              <a:rPr lang="zh-CN" altLang="en-US" sz="1800" dirty="0"/>
              <a:t>，</a:t>
            </a:r>
            <a:r>
              <a:rPr lang="en-US" altLang="zh-CN" sz="1800" dirty="0"/>
              <a:t>Map</a:t>
            </a:r>
            <a:r>
              <a:rPr lang="zh-CN" altLang="en-US" sz="1800" dirty="0"/>
              <a:t>任务输出</a:t>
            </a:r>
            <a:r>
              <a:rPr lang="en-US" altLang="zh-CN" sz="1800" dirty="0"/>
              <a:t>&lt;u</a:t>
            </a:r>
            <a:r>
              <a:rPr lang="zh-CN" altLang="en-US" sz="1800" dirty="0"/>
              <a:t>，</a:t>
            </a:r>
            <a:r>
              <a:rPr lang="en-US" altLang="zh-CN" sz="1800" dirty="0"/>
              <a:t>&lt;URL, cur_rank/|url_list|&gt;&gt;</a:t>
            </a:r>
            <a:r>
              <a:rPr lang="zh-CN" altLang="en-US" sz="1800" dirty="0"/>
              <a:t>，并输出链接关系</a:t>
            </a:r>
            <a:r>
              <a:rPr lang="en-US" altLang="zh-CN" sz="1800" dirty="0"/>
              <a:t>&lt;URL</a:t>
            </a:r>
            <a:r>
              <a:rPr lang="zh-CN" altLang="en-US" sz="1800" dirty="0"/>
              <a:t>，</a:t>
            </a:r>
            <a:r>
              <a:rPr lang="en-US" altLang="zh-CN" sz="1800" dirty="0"/>
              <a:t>url_list&gt;</a:t>
            </a:r>
            <a:r>
              <a:rPr lang="zh-CN" altLang="en-US" sz="1800" dirty="0"/>
              <a:t>。</a:t>
            </a:r>
            <a:endParaRPr lang="en-US" altLang="zh-CN" sz="1800" dirty="0"/>
          </a:p>
        </p:txBody>
      </p:sp>
      <p:sp>
        <p:nvSpPr>
          <p:cNvPr id="55300" name="TextBox 5"/>
          <p:cNvSpPr txBox="1"/>
          <p:nvPr/>
        </p:nvSpPr>
        <p:spPr>
          <a:xfrm>
            <a:off x="310515" y="3260090"/>
            <a:ext cx="5008880" cy="1476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r>
              <a:rPr lang="zh-CN" altLang="en-US" dirty="0">
                <a:latin typeface="Arial" panose="020B0604020202020204" pitchFamily="34" charset="0"/>
              </a:rPr>
              <a:t>输入为：</a:t>
            </a:r>
            <a:r>
              <a:rPr lang="en-US" altLang="zh-CN" dirty="0">
                <a:latin typeface="Arial" panose="020B0604020202020204" pitchFamily="34" charset="0"/>
              </a:rPr>
              <a:t> </a:t>
            </a:r>
            <a:endParaRPr lang="en-US" altLang="zh-CN" dirty="0">
              <a:latin typeface="Arial" panose="020B0604020202020204" pitchFamily="34" charset="0"/>
            </a:endParaRPr>
          </a:p>
          <a:p>
            <a:pPr marL="360045" marR="0" defTabSz="914400">
              <a:buClrTx/>
              <a:buSzTx/>
              <a:buFontTx/>
              <a:buNone/>
              <a:defRPr/>
            </a:pPr>
            <a:r>
              <a:rPr lang="en-US" altLang="zh-CN" noProof="0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&lt;A</a:t>
            </a:r>
            <a:r>
              <a:rPr lang="en-US" altLang="zh-CN" baseline="-25000" noProof="0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URL</a:t>
            </a:r>
            <a:r>
              <a:rPr lang="zh-CN" altLang="en-US" noProof="0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，</a:t>
            </a:r>
            <a:r>
              <a:rPr lang="en-US" altLang="zh-CN" noProof="0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&lt;1/4</a:t>
            </a:r>
            <a:r>
              <a:rPr lang="zh-CN" altLang="en-US" noProof="0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，</a:t>
            </a:r>
            <a:r>
              <a:rPr lang="en-US" altLang="zh-CN" noProof="0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&lt;B</a:t>
            </a:r>
            <a:r>
              <a:rPr lang="en-US" altLang="zh-CN" baseline="-25000" noProof="0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URL</a:t>
            </a:r>
            <a:r>
              <a:rPr lang="zh-CN" altLang="en-US" noProof="0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，</a:t>
            </a:r>
            <a:r>
              <a:rPr lang="en-US" altLang="zh-CN" noProof="0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C</a:t>
            </a:r>
            <a:r>
              <a:rPr lang="en-US" altLang="zh-CN" baseline="-25000" noProof="0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URL</a:t>
            </a:r>
            <a:r>
              <a:rPr lang="zh-CN" altLang="en-US" noProof="0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，</a:t>
            </a:r>
            <a:r>
              <a:rPr lang="en-US" altLang="zh-CN" noProof="0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D</a:t>
            </a:r>
            <a:r>
              <a:rPr lang="en-US" altLang="zh-CN" baseline="-25000" noProof="0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URL</a:t>
            </a:r>
            <a:r>
              <a:rPr lang="en-US" altLang="zh-CN" noProof="0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&gt;&gt;&gt;</a:t>
            </a:r>
            <a:endParaRPr kumimoji="0" lang="en-US" altLang="zh-CN" kern="1200" cap="none" spc="0" normalizeH="0" baseline="0" noProof="0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360045" marR="0" defTabSz="914400">
              <a:buClrTx/>
              <a:buSzTx/>
              <a:buFontTx/>
              <a:buNone/>
              <a:defRPr/>
            </a:pPr>
            <a:r>
              <a:rPr lang="en-US" altLang="zh-CN" noProof="0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&lt;B</a:t>
            </a:r>
            <a:r>
              <a:rPr lang="en-US" altLang="zh-CN" baseline="-25000" noProof="0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URL</a:t>
            </a:r>
            <a:r>
              <a:rPr lang="zh-CN" altLang="en-US" noProof="0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，</a:t>
            </a:r>
            <a:r>
              <a:rPr lang="en-US" altLang="zh-CN" noProof="0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&lt;1/4</a:t>
            </a:r>
            <a:r>
              <a:rPr lang="zh-CN" altLang="en-US" noProof="0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，</a:t>
            </a:r>
            <a:r>
              <a:rPr lang="en-US" altLang="zh-CN" noProof="0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&lt;A</a:t>
            </a:r>
            <a:r>
              <a:rPr lang="en-US" altLang="zh-CN" baseline="-25000" noProof="0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URL</a:t>
            </a:r>
            <a:r>
              <a:rPr lang="zh-CN" altLang="en-US" noProof="0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，</a:t>
            </a:r>
            <a:r>
              <a:rPr lang="en-US" altLang="zh-CN" noProof="0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C</a:t>
            </a:r>
            <a:r>
              <a:rPr lang="en-US" altLang="zh-CN" baseline="-25000" noProof="0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URL</a:t>
            </a:r>
            <a:r>
              <a:rPr lang="en-US" altLang="zh-CN" noProof="0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&gt;&gt;&gt;</a:t>
            </a:r>
            <a:endParaRPr kumimoji="0" lang="en-US" altLang="zh-CN" kern="1200" cap="none" spc="0" normalizeH="0" baseline="0" noProof="0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360045" marR="0" defTabSz="914400">
              <a:buClrTx/>
              <a:buSzTx/>
              <a:buFontTx/>
              <a:buNone/>
              <a:defRPr/>
            </a:pPr>
            <a:r>
              <a:rPr lang="en-US" altLang="zh-CN" noProof="0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&lt;C</a:t>
            </a:r>
            <a:r>
              <a:rPr lang="en-US" altLang="zh-CN" baseline="-25000" noProof="0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URL</a:t>
            </a:r>
            <a:r>
              <a:rPr lang="zh-CN" altLang="en-US" noProof="0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，</a:t>
            </a:r>
            <a:r>
              <a:rPr lang="en-US" altLang="zh-CN" noProof="0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&lt;1/4</a:t>
            </a:r>
            <a:r>
              <a:rPr lang="zh-CN" altLang="en-US" noProof="0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，</a:t>
            </a:r>
            <a:r>
              <a:rPr lang="en-US" altLang="zh-CN" noProof="0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D</a:t>
            </a:r>
            <a:r>
              <a:rPr lang="en-US" altLang="zh-CN" baseline="-25000" noProof="0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URL</a:t>
            </a:r>
            <a:r>
              <a:rPr lang="en-US" altLang="zh-CN" noProof="0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&gt;&gt;</a:t>
            </a:r>
            <a:endParaRPr kumimoji="0" lang="en-US" altLang="zh-CN" kern="1200" cap="none" spc="0" normalizeH="0" baseline="0" noProof="0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360045" marR="0" defTabSz="914400">
              <a:buClrTx/>
              <a:buSzTx/>
              <a:buFontTx/>
              <a:buNone/>
              <a:defRPr/>
            </a:pPr>
            <a:r>
              <a:rPr lang="en-US" altLang="zh-CN" noProof="0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&lt;D</a:t>
            </a:r>
            <a:r>
              <a:rPr lang="en-US" altLang="zh-CN" baseline="-25000" noProof="0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URL</a:t>
            </a:r>
            <a:r>
              <a:rPr lang="zh-CN" altLang="en-US" noProof="0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，</a:t>
            </a:r>
            <a:r>
              <a:rPr lang="en-US" altLang="zh-CN" noProof="0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&lt;1/4</a:t>
            </a:r>
            <a:r>
              <a:rPr lang="zh-CN" altLang="en-US" noProof="0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，</a:t>
            </a:r>
            <a:r>
              <a:rPr lang="en-US" altLang="zh-CN" noProof="0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&lt;A</a:t>
            </a:r>
            <a:r>
              <a:rPr lang="en-US" altLang="zh-CN" baseline="-25000" noProof="0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URL</a:t>
            </a:r>
            <a:r>
              <a:rPr lang="zh-CN" altLang="en-US" noProof="0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，</a:t>
            </a:r>
            <a:r>
              <a:rPr lang="en-US" altLang="zh-CN" noProof="0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B</a:t>
            </a:r>
            <a:r>
              <a:rPr lang="en-US" altLang="zh-CN" baseline="-25000" noProof="0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URL </a:t>
            </a:r>
            <a:r>
              <a:rPr lang="en-US" altLang="zh-CN" noProof="0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&gt;&gt;&gt;</a:t>
            </a:r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55301" name="TextBox 8"/>
          <p:cNvSpPr txBox="1"/>
          <p:nvPr/>
        </p:nvSpPr>
        <p:spPr>
          <a:xfrm>
            <a:off x="4526915" y="4315460"/>
            <a:ext cx="3276600" cy="230695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dirty="0">
                <a:solidFill>
                  <a:srgbClr val="0070C0"/>
                </a:solidFill>
                <a:latin typeface="Arial" panose="020B0604020202020204" pitchFamily="34" charset="0"/>
              </a:rPr>
              <a:t>&lt;A</a:t>
            </a:r>
            <a:r>
              <a:rPr lang="en-US" altLang="zh-CN" baseline="-25000" dirty="0">
                <a:solidFill>
                  <a:srgbClr val="0070C0"/>
                </a:solidFill>
                <a:latin typeface="Arial" panose="020B0604020202020204" pitchFamily="34" charset="0"/>
              </a:rPr>
              <a:t>URL</a:t>
            </a:r>
            <a:r>
              <a:rPr lang="zh-CN" altLang="en-US" dirty="0">
                <a:solidFill>
                  <a:srgbClr val="0070C0"/>
                </a:solidFill>
                <a:latin typeface="Arial" panose="020B0604020202020204" pitchFamily="34" charset="0"/>
              </a:rPr>
              <a:t>，</a:t>
            </a:r>
            <a:r>
              <a:rPr lang="en-US" altLang="zh-CN" dirty="0">
                <a:solidFill>
                  <a:srgbClr val="0070C0"/>
                </a:solidFill>
                <a:latin typeface="Arial" panose="020B0604020202020204" pitchFamily="34" charset="0"/>
              </a:rPr>
              <a:t>&lt;B</a:t>
            </a:r>
            <a:r>
              <a:rPr lang="en-US" altLang="zh-CN" baseline="-25000" dirty="0">
                <a:solidFill>
                  <a:srgbClr val="0070C0"/>
                </a:solidFill>
                <a:latin typeface="Arial" panose="020B0604020202020204" pitchFamily="34" charset="0"/>
              </a:rPr>
              <a:t>URL</a:t>
            </a:r>
            <a:r>
              <a:rPr lang="zh-CN" altLang="en-US" dirty="0">
                <a:solidFill>
                  <a:srgbClr val="0070C0"/>
                </a:solidFill>
                <a:latin typeface="Arial" panose="020B0604020202020204" pitchFamily="34" charset="0"/>
              </a:rPr>
              <a:t>，</a:t>
            </a:r>
            <a:r>
              <a:rPr lang="en-US" altLang="zh-CN" dirty="0">
                <a:solidFill>
                  <a:srgbClr val="0070C0"/>
                </a:solidFill>
                <a:latin typeface="Arial" panose="020B0604020202020204" pitchFamily="34" charset="0"/>
              </a:rPr>
              <a:t>1/8&gt;&gt;</a:t>
            </a:r>
            <a:endParaRPr lang="en-US" altLang="zh-CN" dirty="0">
              <a:solidFill>
                <a:srgbClr val="0070C0"/>
              </a:solidFill>
              <a:latin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0070C0"/>
                </a:solidFill>
                <a:latin typeface="Arial" panose="020B0604020202020204" pitchFamily="34" charset="0"/>
              </a:rPr>
              <a:t>&lt;C</a:t>
            </a:r>
            <a:r>
              <a:rPr lang="en-US" altLang="zh-CN" baseline="-25000" dirty="0">
                <a:solidFill>
                  <a:srgbClr val="0070C0"/>
                </a:solidFill>
                <a:latin typeface="Arial" panose="020B0604020202020204" pitchFamily="34" charset="0"/>
              </a:rPr>
              <a:t>URL</a:t>
            </a:r>
            <a:r>
              <a:rPr lang="zh-CN" altLang="en-US" dirty="0">
                <a:solidFill>
                  <a:srgbClr val="0070C0"/>
                </a:solidFill>
                <a:latin typeface="Arial" panose="020B0604020202020204" pitchFamily="34" charset="0"/>
              </a:rPr>
              <a:t>，</a:t>
            </a:r>
            <a:r>
              <a:rPr lang="en-US" altLang="zh-CN" dirty="0">
                <a:solidFill>
                  <a:srgbClr val="0070C0"/>
                </a:solidFill>
                <a:latin typeface="Arial" panose="020B0604020202020204" pitchFamily="34" charset="0"/>
              </a:rPr>
              <a:t>&lt;B</a:t>
            </a:r>
            <a:r>
              <a:rPr lang="en-US" altLang="zh-CN" baseline="-25000" dirty="0">
                <a:solidFill>
                  <a:srgbClr val="0070C0"/>
                </a:solidFill>
                <a:latin typeface="Arial" panose="020B0604020202020204" pitchFamily="34" charset="0"/>
              </a:rPr>
              <a:t>URL</a:t>
            </a:r>
            <a:r>
              <a:rPr lang="zh-CN" altLang="en-US" dirty="0">
                <a:solidFill>
                  <a:srgbClr val="0070C0"/>
                </a:solidFill>
                <a:latin typeface="Arial" panose="020B0604020202020204" pitchFamily="34" charset="0"/>
              </a:rPr>
              <a:t>，</a:t>
            </a:r>
            <a:r>
              <a:rPr lang="en-US" altLang="zh-CN" dirty="0">
                <a:solidFill>
                  <a:srgbClr val="0070C0"/>
                </a:solidFill>
                <a:latin typeface="Arial" panose="020B0604020202020204" pitchFamily="34" charset="0"/>
              </a:rPr>
              <a:t>1/8&gt;&gt;</a:t>
            </a:r>
            <a:endParaRPr lang="en-US" altLang="zh-CN" dirty="0">
              <a:solidFill>
                <a:srgbClr val="0070C0"/>
              </a:solidFill>
              <a:latin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0070C0"/>
                </a:solidFill>
                <a:latin typeface="Arial" panose="020B0604020202020204" pitchFamily="34" charset="0"/>
              </a:rPr>
              <a:t>&lt;B</a:t>
            </a:r>
            <a:r>
              <a:rPr lang="en-US" altLang="zh-CN" baseline="-25000" dirty="0">
                <a:solidFill>
                  <a:srgbClr val="0070C0"/>
                </a:solidFill>
                <a:latin typeface="Arial" panose="020B0604020202020204" pitchFamily="34" charset="0"/>
              </a:rPr>
              <a:t>URL</a:t>
            </a:r>
            <a:r>
              <a:rPr lang="zh-CN" altLang="en-US" dirty="0">
                <a:solidFill>
                  <a:srgbClr val="0070C0"/>
                </a:solidFill>
                <a:latin typeface="Arial" panose="020B0604020202020204" pitchFamily="34" charset="0"/>
              </a:rPr>
              <a:t>，</a:t>
            </a:r>
            <a:r>
              <a:rPr lang="en-US" altLang="zh-CN" dirty="0">
                <a:solidFill>
                  <a:srgbClr val="0070C0"/>
                </a:solidFill>
                <a:latin typeface="Arial" panose="020B0604020202020204" pitchFamily="34" charset="0"/>
              </a:rPr>
              <a:t>&lt;A</a:t>
            </a:r>
            <a:r>
              <a:rPr lang="en-US" altLang="zh-CN" baseline="-25000" dirty="0">
                <a:solidFill>
                  <a:srgbClr val="0070C0"/>
                </a:solidFill>
                <a:latin typeface="Arial" panose="020B0604020202020204" pitchFamily="34" charset="0"/>
              </a:rPr>
              <a:t>URL</a:t>
            </a:r>
            <a:r>
              <a:rPr lang="zh-CN" altLang="en-US" dirty="0">
                <a:solidFill>
                  <a:srgbClr val="0070C0"/>
                </a:solidFill>
                <a:latin typeface="Arial" panose="020B0604020202020204" pitchFamily="34" charset="0"/>
              </a:rPr>
              <a:t>，</a:t>
            </a:r>
            <a:r>
              <a:rPr lang="en-US" altLang="zh-CN" dirty="0">
                <a:solidFill>
                  <a:srgbClr val="0070C0"/>
                </a:solidFill>
                <a:latin typeface="Arial" panose="020B0604020202020204" pitchFamily="34" charset="0"/>
              </a:rPr>
              <a:t>C</a:t>
            </a:r>
            <a:r>
              <a:rPr lang="en-US" altLang="zh-CN" baseline="-25000" dirty="0">
                <a:solidFill>
                  <a:srgbClr val="0070C0"/>
                </a:solidFill>
                <a:latin typeface="Arial" panose="020B0604020202020204" pitchFamily="34" charset="0"/>
              </a:rPr>
              <a:t>URL</a:t>
            </a:r>
            <a:r>
              <a:rPr lang="en-US" altLang="zh-CN" dirty="0">
                <a:solidFill>
                  <a:srgbClr val="0070C0"/>
                </a:solidFill>
                <a:latin typeface="Arial" panose="020B0604020202020204" pitchFamily="34" charset="0"/>
              </a:rPr>
              <a:t>&gt;&gt;</a:t>
            </a:r>
            <a:endParaRPr lang="en-US" altLang="zh-CN" dirty="0">
              <a:solidFill>
                <a:srgbClr val="0070C0"/>
              </a:solidFill>
              <a:latin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0070C0"/>
                </a:solidFill>
                <a:latin typeface="Arial" panose="020B0604020202020204" pitchFamily="34" charset="0"/>
              </a:rPr>
              <a:t>&lt;D</a:t>
            </a:r>
            <a:r>
              <a:rPr lang="en-US" altLang="zh-CN" baseline="-25000" dirty="0">
                <a:solidFill>
                  <a:srgbClr val="0070C0"/>
                </a:solidFill>
                <a:latin typeface="Arial" panose="020B0604020202020204" pitchFamily="34" charset="0"/>
              </a:rPr>
              <a:t>URL</a:t>
            </a:r>
            <a:r>
              <a:rPr lang="zh-CN" altLang="en-US" dirty="0">
                <a:solidFill>
                  <a:srgbClr val="0070C0"/>
                </a:solidFill>
                <a:latin typeface="Arial" panose="020B0604020202020204" pitchFamily="34" charset="0"/>
              </a:rPr>
              <a:t>，</a:t>
            </a:r>
            <a:r>
              <a:rPr lang="en-US" altLang="zh-CN" dirty="0">
                <a:solidFill>
                  <a:srgbClr val="0070C0"/>
                </a:solidFill>
                <a:latin typeface="Arial" panose="020B0604020202020204" pitchFamily="34" charset="0"/>
              </a:rPr>
              <a:t>&lt;C</a:t>
            </a:r>
            <a:r>
              <a:rPr lang="en-US" altLang="zh-CN" baseline="-25000" dirty="0">
                <a:solidFill>
                  <a:srgbClr val="0070C0"/>
                </a:solidFill>
                <a:latin typeface="Arial" panose="020B0604020202020204" pitchFamily="34" charset="0"/>
              </a:rPr>
              <a:t>URL</a:t>
            </a:r>
            <a:r>
              <a:rPr lang="zh-CN" altLang="en-US" dirty="0">
                <a:solidFill>
                  <a:srgbClr val="0070C0"/>
                </a:solidFill>
                <a:latin typeface="Arial" panose="020B0604020202020204" pitchFamily="34" charset="0"/>
              </a:rPr>
              <a:t>，</a:t>
            </a:r>
            <a:r>
              <a:rPr lang="en-US" altLang="zh-CN" dirty="0">
                <a:solidFill>
                  <a:srgbClr val="0070C0"/>
                </a:solidFill>
                <a:latin typeface="Arial" panose="020B0604020202020204" pitchFamily="34" charset="0"/>
              </a:rPr>
              <a:t>1/4&gt;&gt;</a:t>
            </a:r>
            <a:endParaRPr lang="en-US" altLang="zh-CN" dirty="0">
              <a:solidFill>
                <a:srgbClr val="0070C0"/>
              </a:solidFill>
              <a:latin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0070C0"/>
                </a:solidFill>
                <a:latin typeface="Arial" panose="020B0604020202020204" pitchFamily="34" charset="0"/>
              </a:rPr>
              <a:t>&lt;C</a:t>
            </a:r>
            <a:r>
              <a:rPr lang="en-US" altLang="zh-CN" baseline="-25000" dirty="0">
                <a:solidFill>
                  <a:srgbClr val="0070C0"/>
                </a:solidFill>
                <a:latin typeface="Arial" panose="020B0604020202020204" pitchFamily="34" charset="0"/>
              </a:rPr>
              <a:t>URL</a:t>
            </a:r>
            <a:r>
              <a:rPr lang="zh-CN" altLang="en-US" dirty="0">
                <a:solidFill>
                  <a:srgbClr val="0070C0"/>
                </a:solidFill>
                <a:latin typeface="Arial" panose="020B0604020202020204" pitchFamily="34" charset="0"/>
              </a:rPr>
              <a:t>，</a:t>
            </a:r>
            <a:r>
              <a:rPr lang="en-US" altLang="zh-CN" dirty="0">
                <a:solidFill>
                  <a:srgbClr val="0070C0"/>
                </a:solidFill>
                <a:latin typeface="Arial" panose="020B0604020202020204" pitchFamily="34" charset="0"/>
              </a:rPr>
              <a:t>D</a:t>
            </a:r>
            <a:r>
              <a:rPr lang="en-US" altLang="zh-CN" baseline="-25000" dirty="0">
                <a:solidFill>
                  <a:srgbClr val="0070C0"/>
                </a:solidFill>
                <a:latin typeface="Arial" panose="020B0604020202020204" pitchFamily="34" charset="0"/>
              </a:rPr>
              <a:t>URL</a:t>
            </a:r>
            <a:r>
              <a:rPr lang="en-US" altLang="zh-CN" dirty="0">
                <a:solidFill>
                  <a:srgbClr val="0070C0"/>
                </a:solidFill>
                <a:latin typeface="Arial" panose="020B0604020202020204" pitchFamily="34" charset="0"/>
              </a:rPr>
              <a:t>&gt;</a:t>
            </a:r>
            <a:endParaRPr lang="en-US" altLang="zh-CN" dirty="0">
              <a:solidFill>
                <a:srgbClr val="0070C0"/>
              </a:solidFill>
              <a:latin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0070C0"/>
                </a:solidFill>
                <a:latin typeface="Arial" panose="020B0604020202020204" pitchFamily="34" charset="0"/>
              </a:rPr>
              <a:t>&lt;A</a:t>
            </a:r>
            <a:r>
              <a:rPr lang="en-US" altLang="zh-CN" baseline="-25000" dirty="0">
                <a:solidFill>
                  <a:srgbClr val="0070C0"/>
                </a:solidFill>
                <a:latin typeface="Arial" panose="020B0604020202020204" pitchFamily="34" charset="0"/>
              </a:rPr>
              <a:t>URL</a:t>
            </a:r>
            <a:r>
              <a:rPr lang="zh-CN" altLang="en-US" dirty="0">
                <a:solidFill>
                  <a:srgbClr val="0070C0"/>
                </a:solidFill>
                <a:latin typeface="Arial" panose="020B0604020202020204" pitchFamily="34" charset="0"/>
              </a:rPr>
              <a:t>，</a:t>
            </a:r>
            <a:r>
              <a:rPr lang="en-US" altLang="zh-CN" dirty="0">
                <a:solidFill>
                  <a:srgbClr val="0070C0"/>
                </a:solidFill>
                <a:latin typeface="Arial" panose="020B0604020202020204" pitchFamily="34" charset="0"/>
              </a:rPr>
              <a:t>&lt;D</a:t>
            </a:r>
            <a:r>
              <a:rPr lang="en-US" altLang="zh-CN" baseline="-25000" dirty="0">
                <a:solidFill>
                  <a:srgbClr val="0070C0"/>
                </a:solidFill>
                <a:latin typeface="Arial" panose="020B0604020202020204" pitchFamily="34" charset="0"/>
              </a:rPr>
              <a:t>URL</a:t>
            </a:r>
            <a:r>
              <a:rPr lang="zh-CN" altLang="en-US" dirty="0">
                <a:solidFill>
                  <a:srgbClr val="0070C0"/>
                </a:solidFill>
                <a:latin typeface="Arial" panose="020B0604020202020204" pitchFamily="34" charset="0"/>
              </a:rPr>
              <a:t>，</a:t>
            </a:r>
            <a:r>
              <a:rPr lang="en-US" altLang="zh-CN" dirty="0">
                <a:solidFill>
                  <a:srgbClr val="0070C0"/>
                </a:solidFill>
                <a:latin typeface="Arial" panose="020B0604020202020204" pitchFamily="34" charset="0"/>
              </a:rPr>
              <a:t>1/8&gt;&gt;</a:t>
            </a:r>
            <a:endParaRPr lang="en-US" altLang="zh-CN" dirty="0">
              <a:solidFill>
                <a:srgbClr val="0070C0"/>
              </a:solidFill>
              <a:latin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0070C0"/>
                </a:solidFill>
                <a:latin typeface="Arial" panose="020B0604020202020204" pitchFamily="34" charset="0"/>
              </a:rPr>
              <a:t>&lt;B</a:t>
            </a:r>
            <a:r>
              <a:rPr lang="en-US" altLang="zh-CN" baseline="-25000" dirty="0">
                <a:solidFill>
                  <a:srgbClr val="0070C0"/>
                </a:solidFill>
                <a:latin typeface="Arial" panose="020B0604020202020204" pitchFamily="34" charset="0"/>
              </a:rPr>
              <a:t>URL</a:t>
            </a:r>
            <a:r>
              <a:rPr lang="zh-CN" altLang="en-US" dirty="0">
                <a:solidFill>
                  <a:srgbClr val="0070C0"/>
                </a:solidFill>
                <a:latin typeface="Arial" panose="020B0604020202020204" pitchFamily="34" charset="0"/>
              </a:rPr>
              <a:t>，</a:t>
            </a:r>
            <a:r>
              <a:rPr lang="en-US" altLang="zh-CN" dirty="0">
                <a:solidFill>
                  <a:srgbClr val="0070C0"/>
                </a:solidFill>
                <a:latin typeface="Arial" panose="020B0604020202020204" pitchFamily="34" charset="0"/>
              </a:rPr>
              <a:t>&lt;D</a:t>
            </a:r>
            <a:r>
              <a:rPr lang="en-US" altLang="zh-CN" baseline="-25000" dirty="0">
                <a:solidFill>
                  <a:srgbClr val="0070C0"/>
                </a:solidFill>
                <a:latin typeface="Arial" panose="020B0604020202020204" pitchFamily="34" charset="0"/>
              </a:rPr>
              <a:t>URL</a:t>
            </a:r>
            <a:r>
              <a:rPr lang="zh-CN" altLang="en-US" dirty="0">
                <a:solidFill>
                  <a:srgbClr val="0070C0"/>
                </a:solidFill>
                <a:latin typeface="Arial" panose="020B0604020202020204" pitchFamily="34" charset="0"/>
              </a:rPr>
              <a:t>，</a:t>
            </a:r>
            <a:r>
              <a:rPr lang="en-US" altLang="zh-CN" dirty="0">
                <a:solidFill>
                  <a:srgbClr val="0070C0"/>
                </a:solidFill>
                <a:latin typeface="Arial" panose="020B0604020202020204" pitchFamily="34" charset="0"/>
              </a:rPr>
              <a:t>1/8&gt;&gt;</a:t>
            </a:r>
            <a:endParaRPr lang="en-US" altLang="zh-CN" dirty="0">
              <a:solidFill>
                <a:srgbClr val="0070C0"/>
              </a:solidFill>
              <a:latin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0070C0"/>
                </a:solidFill>
                <a:latin typeface="Arial" panose="020B0604020202020204" pitchFamily="34" charset="0"/>
              </a:rPr>
              <a:t>&lt;D</a:t>
            </a:r>
            <a:r>
              <a:rPr lang="en-US" altLang="zh-CN" baseline="-25000" dirty="0">
                <a:solidFill>
                  <a:srgbClr val="0070C0"/>
                </a:solidFill>
                <a:latin typeface="Arial" panose="020B0604020202020204" pitchFamily="34" charset="0"/>
              </a:rPr>
              <a:t>URL</a:t>
            </a:r>
            <a:r>
              <a:rPr lang="zh-CN" altLang="en-US" dirty="0">
                <a:solidFill>
                  <a:srgbClr val="0070C0"/>
                </a:solidFill>
                <a:latin typeface="Arial" panose="020B0604020202020204" pitchFamily="34" charset="0"/>
              </a:rPr>
              <a:t>，</a:t>
            </a:r>
            <a:r>
              <a:rPr lang="en-US" altLang="zh-CN" dirty="0">
                <a:solidFill>
                  <a:srgbClr val="0070C0"/>
                </a:solidFill>
                <a:latin typeface="Arial" panose="020B0604020202020204" pitchFamily="34" charset="0"/>
              </a:rPr>
              <a:t>&lt;A</a:t>
            </a:r>
            <a:r>
              <a:rPr lang="en-US" altLang="zh-CN" baseline="-25000" dirty="0">
                <a:solidFill>
                  <a:srgbClr val="0070C0"/>
                </a:solidFill>
                <a:latin typeface="Arial" panose="020B0604020202020204" pitchFamily="34" charset="0"/>
              </a:rPr>
              <a:t>URL</a:t>
            </a:r>
            <a:r>
              <a:rPr lang="zh-CN" altLang="en-US" dirty="0">
                <a:solidFill>
                  <a:srgbClr val="0070C0"/>
                </a:solidFill>
                <a:latin typeface="Arial" panose="020B0604020202020204" pitchFamily="34" charset="0"/>
              </a:rPr>
              <a:t>，</a:t>
            </a:r>
            <a:r>
              <a:rPr lang="en-US" altLang="zh-CN" dirty="0">
                <a:solidFill>
                  <a:srgbClr val="0070C0"/>
                </a:solidFill>
                <a:latin typeface="Arial" panose="020B0604020202020204" pitchFamily="34" charset="0"/>
              </a:rPr>
              <a:t>B</a:t>
            </a:r>
            <a:r>
              <a:rPr lang="en-US" altLang="zh-CN" baseline="-25000" dirty="0">
                <a:solidFill>
                  <a:srgbClr val="0070C0"/>
                </a:solidFill>
                <a:latin typeface="Arial" panose="020B0604020202020204" pitchFamily="34" charset="0"/>
              </a:rPr>
              <a:t>URL</a:t>
            </a:r>
            <a:r>
              <a:rPr lang="en-US" altLang="zh-CN" dirty="0">
                <a:solidFill>
                  <a:srgbClr val="0070C0"/>
                </a:solidFill>
                <a:latin typeface="Arial" panose="020B0604020202020204" pitchFamily="34" charset="0"/>
              </a:rPr>
              <a:t>&gt;&gt;</a:t>
            </a:r>
            <a:endParaRPr lang="en-US" altLang="zh-CN" dirty="0">
              <a:solidFill>
                <a:srgbClr val="0070C0"/>
              </a:solidFill>
              <a:latin typeface="Arial" panose="020B0604020202020204" pitchFamily="34" charset="0"/>
            </a:endParaRPr>
          </a:p>
        </p:txBody>
      </p:sp>
      <p:pic>
        <p:nvPicPr>
          <p:cNvPr id="55302" name="Picture 6" descr="C:\Users\admin\AppData\Local\Temp\ksohtml\wpsE3AC.tm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3886200"/>
            <a:ext cx="2743200" cy="26384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5303" name="Rectangle 7"/>
          <p:cNvSpPr/>
          <p:nvPr/>
        </p:nvSpPr>
        <p:spPr>
          <a:xfrm>
            <a:off x="838200" y="1276510"/>
            <a:ext cx="3688715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r>
              <a:rPr lang="en-US" altLang="zh-CN" sz="2400" b="1" dirty="0">
                <a:latin typeface="Arial" panose="020B0604020202020204" pitchFamily="34" charset="0"/>
              </a:rPr>
              <a:t>2. </a:t>
            </a:r>
            <a:r>
              <a:rPr lang="zh-CN" altLang="en-US" sz="2400" b="1" dirty="0">
                <a:latin typeface="Arial" panose="020B0604020202020204" pitchFamily="34" charset="0"/>
              </a:rPr>
              <a:t>阶段</a:t>
            </a:r>
            <a:r>
              <a:rPr lang="en-US" altLang="zh-CN" sz="2400" b="1" dirty="0">
                <a:latin typeface="Arial" panose="020B0604020202020204" pitchFamily="34" charset="0"/>
              </a:rPr>
              <a:t>2</a:t>
            </a:r>
            <a:r>
              <a:rPr lang="zh-CN" altLang="en-US" sz="2400" b="1" dirty="0">
                <a:latin typeface="Arial" panose="020B0604020202020204" pitchFamily="34" charset="0"/>
              </a:rPr>
              <a:t>：</a:t>
            </a:r>
            <a:r>
              <a:rPr lang="en-US" altLang="zh-CN" sz="2400" b="1" dirty="0">
                <a:latin typeface="Arial" panose="020B0604020202020204" pitchFamily="34" charset="0"/>
              </a:rPr>
              <a:t>PageRank</a:t>
            </a:r>
            <a:r>
              <a:rPr lang="zh-CN" altLang="en-US" sz="2400" b="1" dirty="0">
                <a:latin typeface="Arial" panose="020B0604020202020204" pitchFamily="34" charset="0"/>
              </a:rPr>
              <a:t>分配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10515" y="5109845"/>
            <a:ext cx="3908425" cy="17360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dirty="0">
                <a:solidFill>
                  <a:srgbClr val="0070C0"/>
                </a:solidFill>
                <a:latin typeface="Arial" panose="020B0604020202020204" pitchFamily="34" charset="0"/>
                <a:sym typeface="+mn-ea"/>
              </a:rPr>
              <a:t>输出为：</a:t>
            </a:r>
            <a:endParaRPr lang="en-US" altLang="zh-CN" dirty="0">
              <a:solidFill>
                <a:srgbClr val="0070C0"/>
              </a:solidFill>
              <a:latin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0070C0"/>
                </a:solidFill>
                <a:latin typeface="Arial" panose="020B0604020202020204" pitchFamily="34" charset="0"/>
                <a:sym typeface="+mn-ea"/>
              </a:rPr>
              <a:t> &lt;B</a:t>
            </a:r>
            <a:r>
              <a:rPr lang="en-US" altLang="zh-CN" baseline="-25000" dirty="0">
                <a:solidFill>
                  <a:srgbClr val="0070C0"/>
                </a:solidFill>
                <a:latin typeface="Arial" panose="020B0604020202020204" pitchFamily="34" charset="0"/>
                <a:sym typeface="+mn-ea"/>
              </a:rPr>
              <a:t>URL</a:t>
            </a:r>
            <a:r>
              <a:rPr lang="zh-CN" altLang="en-US" dirty="0">
                <a:solidFill>
                  <a:srgbClr val="0070C0"/>
                </a:solidFill>
                <a:latin typeface="Arial" panose="020B0604020202020204" pitchFamily="34" charset="0"/>
                <a:sym typeface="+mn-ea"/>
              </a:rPr>
              <a:t>，</a:t>
            </a:r>
            <a:r>
              <a:rPr lang="en-US" altLang="zh-CN" dirty="0">
                <a:solidFill>
                  <a:srgbClr val="0070C0"/>
                </a:solidFill>
                <a:latin typeface="Arial" panose="020B0604020202020204" pitchFamily="34" charset="0"/>
                <a:sym typeface="+mn-ea"/>
              </a:rPr>
              <a:t>&lt;A</a:t>
            </a:r>
            <a:r>
              <a:rPr lang="en-US" altLang="zh-CN" baseline="-25000" dirty="0">
                <a:solidFill>
                  <a:srgbClr val="0070C0"/>
                </a:solidFill>
                <a:latin typeface="Arial" panose="020B0604020202020204" pitchFamily="34" charset="0"/>
                <a:sym typeface="+mn-ea"/>
              </a:rPr>
              <a:t>URL</a:t>
            </a:r>
            <a:r>
              <a:rPr lang="zh-CN" altLang="en-US" dirty="0">
                <a:solidFill>
                  <a:srgbClr val="0070C0"/>
                </a:solidFill>
                <a:latin typeface="Arial" panose="020B0604020202020204" pitchFamily="34" charset="0"/>
                <a:sym typeface="+mn-ea"/>
              </a:rPr>
              <a:t>，</a:t>
            </a:r>
            <a:r>
              <a:rPr lang="en-US" altLang="zh-CN" dirty="0">
                <a:solidFill>
                  <a:srgbClr val="0070C0"/>
                </a:solidFill>
                <a:latin typeface="Arial" panose="020B0604020202020204" pitchFamily="34" charset="0"/>
                <a:sym typeface="+mn-ea"/>
              </a:rPr>
              <a:t>1/12&gt;&gt;</a:t>
            </a:r>
            <a:endParaRPr lang="en-US" altLang="zh-CN" dirty="0">
              <a:solidFill>
                <a:srgbClr val="0070C0"/>
              </a:solidFill>
              <a:latin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0070C0"/>
                </a:solidFill>
                <a:latin typeface="Arial" panose="020B0604020202020204" pitchFamily="34" charset="0"/>
                <a:sym typeface="+mn-ea"/>
              </a:rPr>
              <a:t>&lt;C</a:t>
            </a:r>
            <a:r>
              <a:rPr lang="en-US" altLang="zh-CN" baseline="-25000" dirty="0">
                <a:solidFill>
                  <a:srgbClr val="0070C0"/>
                </a:solidFill>
                <a:latin typeface="Arial" panose="020B0604020202020204" pitchFamily="34" charset="0"/>
                <a:sym typeface="+mn-ea"/>
              </a:rPr>
              <a:t>URL</a:t>
            </a:r>
            <a:r>
              <a:rPr lang="zh-CN" altLang="en-US" dirty="0">
                <a:solidFill>
                  <a:srgbClr val="0070C0"/>
                </a:solidFill>
                <a:latin typeface="Arial" panose="020B0604020202020204" pitchFamily="34" charset="0"/>
                <a:sym typeface="+mn-ea"/>
              </a:rPr>
              <a:t>，</a:t>
            </a:r>
            <a:r>
              <a:rPr lang="en-US" altLang="zh-CN" dirty="0">
                <a:solidFill>
                  <a:srgbClr val="0070C0"/>
                </a:solidFill>
                <a:latin typeface="Arial" panose="020B0604020202020204" pitchFamily="34" charset="0"/>
                <a:sym typeface="+mn-ea"/>
              </a:rPr>
              <a:t>&lt;A</a:t>
            </a:r>
            <a:r>
              <a:rPr lang="en-US" altLang="zh-CN" baseline="-25000" dirty="0">
                <a:solidFill>
                  <a:srgbClr val="0070C0"/>
                </a:solidFill>
                <a:latin typeface="Arial" panose="020B0604020202020204" pitchFamily="34" charset="0"/>
                <a:sym typeface="+mn-ea"/>
              </a:rPr>
              <a:t>URL</a:t>
            </a:r>
            <a:r>
              <a:rPr lang="zh-CN" altLang="en-US" dirty="0">
                <a:solidFill>
                  <a:srgbClr val="0070C0"/>
                </a:solidFill>
                <a:latin typeface="Arial" panose="020B0604020202020204" pitchFamily="34" charset="0"/>
                <a:sym typeface="+mn-ea"/>
              </a:rPr>
              <a:t>，</a:t>
            </a:r>
            <a:r>
              <a:rPr lang="en-US" altLang="zh-CN" dirty="0">
                <a:solidFill>
                  <a:srgbClr val="0070C0"/>
                </a:solidFill>
                <a:latin typeface="Arial" panose="020B0604020202020204" pitchFamily="34" charset="0"/>
                <a:sym typeface="+mn-ea"/>
              </a:rPr>
              <a:t>1/12&gt;&gt;</a:t>
            </a:r>
            <a:endParaRPr lang="en-US" altLang="zh-CN" dirty="0">
              <a:solidFill>
                <a:srgbClr val="0070C0"/>
              </a:solidFill>
              <a:latin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0070C0"/>
                </a:solidFill>
                <a:latin typeface="Arial" panose="020B0604020202020204" pitchFamily="34" charset="0"/>
                <a:sym typeface="+mn-ea"/>
              </a:rPr>
              <a:t>&lt;D</a:t>
            </a:r>
            <a:r>
              <a:rPr lang="en-US" altLang="zh-CN" baseline="-25000" dirty="0">
                <a:solidFill>
                  <a:srgbClr val="0070C0"/>
                </a:solidFill>
                <a:latin typeface="Arial" panose="020B0604020202020204" pitchFamily="34" charset="0"/>
                <a:sym typeface="+mn-ea"/>
              </a:rPr>
              <a:t>URL</a:t>
            </a:r>
            <a:r>
              <a:rPr lang="zh-CN" altLang="en-US" dirty="0">
                <a:solidFill>
                  <a:srgbClr val="0070C0"/>
                </a:solidFill>
                <a:latin typeface="Arial" panose="020B0604020202020204" pitchFamily="34" charset="0"/>
                <a:sym typeface="+mn-ea"/>
              </a:rPr>
              <a:t>，</a:t>
            </a:r>
            <a:r>
              <a:rPr lang="en-US" altLang="zh-CN" dirty="0">
                <a:solidFill>
                  <a:srgbClr val="0070C0"/>
                </a:solidFill>
                <a:latin typeface="Arial" panose="020B0604020202020204" pitchFamily="34" charset="0"/>
                <a:sym typeface="+mn-ea"/>
              </a:rPr>
              <a:t>&lt;A</a:t>
            </a:r>
            <a:r>
              <a:rPr lang="en-US" altLang="zh-CN" baseline="-25000" dirty="0">
                <a:solidFill>
                  <a:srgbClr val="0070C0"/>
                </a:solidFill>
                <a:latin typeface="Arial" panose="020B0604020202020204" pitchFamily="34" charset="0"/>
                <a:sym typeface="+mn-ea"/>
              </a:rPr>
              <a:t>URL</a:t>
            </a:r>
            <a:r>
              <a:rPr lang="zh-CN" altLang="en-US" dirty="0">
                <a:solidFill>
                  <a:srgbClr val="0070C0"/>
                </a:solidFill>
                <a:latin typeface="Arial" panose="020B0604020202020204" pitchFamily="34" charset="0"/>
                <a:sym typeface="+mn-ea"/>
              </a:rPr>
              <a:t>，</a:t>
            </a:r>
            <a:r>
              <a:rPr lang="en-US" altLang="zh-CN" dirty="0">
                <a:solidFill>
                  <a:srgbClr val="0070C0"/>
                </a:solidFill>
                <a:latin typeface="Arial" panose="020B0604020202020204" pitchFamily="34" charset="0"/>
                <a:sym typeface="+mn-ea"/>
              </a:rPr>
              <a:t> 1/12&gt;&gt;</a:t>
            </a:r>
            <a:endParaRPr lang="en-US" altLang="zh-CN" dirty="0">
              <a:solidFill>
                <a:srgbClr val="0070C0"/>
              </a:solidFill>
              <a:latin typeface="Arial" panose="020B0604020202020204" pitchFamily="34" charset="0"/>
              <a:sym typeface="+mn-ea"/>
            </a:endParaRPr>
          </a:p>
          <a:p>
            <a:r>
              <a:rPr lang="en-US" altLang="zh-CN" dirty="0">
                <a:solidFill>
                  <a:srgbClr val="0070C0"/>
                </a:solidFill>
                <a:latin typeface="Arial" panose="020B0604020202020204" pitchFamily="34" charset="0"/>
                <a:sym typeface="+mn-ea"/>
              </a:rPr>
              <a:t>&lt;A</a:t>
            </a:r>
            <a:r>
              <a:rPr lang="en-US" altLang="zh-CN" baseline="-25000" dirty="0">
                <a:solidFill>
                  <a:srgbClr val="0070C0"/>
                </a:solidFill>
                <a:latin typeface="Arial" panose="020B0604020202020204" pitchFamily="34" charset="0"/>
                <a:sym typeface="+mn-ea"/>
              </a:rPr>
              <a:t>URL</a:t>
            </a:r>
            <a:r>
              <a:rPr lang="zh-CN" altLang="en-US" dirty="0">
                <a:solidFill>
                  <a:srgbClr val="0070C0"/>
                </a:solidFill>
                <a:latin typeface="Arial" panose="020B0604020202020204" pitchFamily="34" charset="0"/>
                <a:sym typeface="+mn-ea"/>
              </a:rPr>
              <a:t>，</a:t>
            </a:r>
            <a:r>
              <a:rPr lang="en-US" altLang="zh-CN" dirty="0">
                <a:solidFill>
                  <a:srgbClr val="0070C0"/>
                </a:solidFill>
                <a:latin typeface="Arial" panose="020B0604020202020204" pitchFamily="34" charset="0"/>
                <a:sym typeface="+mn-ea"/>
              </a:rPr>
              <a:t>&lt;B</a:t>
            </a:r>
            <a:r>
              <a:rPr lang="en-US" altLang="zh-CN" baseline="-25000" dirty="0">
                <a:solidFill>
                  <a:srgbClr val="0070C0"/>
                </a:solidFill>
                <a:latin typeface="Arial" panose="020B0604020202020204" pitchFamily="34" charset="0"/>
                <a:sym typeface="+mn-ea"/>
              </a:rPr>
              <a:t>URL</a:t>
            </a:r>
            <a:r>
              <a:rPr lang="zh-CN" altLang="en-US" dirty="0">
                <a:solidFill>
                  <a:srgbClr val="0070C0"/>
                </a:solidFill>
                <a:latin typeface="Arial" panose="020B0604020202020204" pitchFamily="34" charset="0"/>
                <a:sym typeface="+mn-ea"/>
              </a:rPr>
              <a:t>，</a:t>
            </a:r>
            <a:r>
              <a:rPr lang="en-US" altLang="zh-CN" dirty="0">
                <a:solidFill>
                  <a:srgbClr val="0070C0"/>
                </a:solidFill>
                <a:latin typeface="Arial" panose="020B0604020202020204" pitchFamily="34" charset="0"/>
                <a:sym typeface="+mn-ea"/>
              </a:rPr>
              <a:t>C</a:t>
            </a:r>
            <a:r>
              <a:rPr lang="en-US" altLang="zh-CN" baseline="-25000" dirty="0">
                <a:solidFill>
                  <a:srgbClr val="0070C0"/>
                </a:solidFill>
                <a:latin typeface="Arial" panose="020B0604020202020204" pitchFamily="34" charset="0"/>
                <a:sym typeface="+mn-ea"/>
              </a:rPr>
              <a:t>URL</a:t>
            </a:r>
            <a:r>
              <a:rPr lang="zh-CN" altLang="en-US" dirty="0">
                <a:solidFill>
                  <a:srgbClr val="0070C0"/>
                </a:solidFill>
                <a:latin typeface="Arial" panose="020B0604020202020204" pitchFamily="34" charset="0"/>
                <a:sym typeface="+mn-ea"/>
              </a:rPr>
              <a:t>，</a:t>
            </a:r>
            <a:r>
              <a:rPr lang="en-US" altLang="zh-CN" dirty="0">
                <a:solidFill>
                  <a:srgbClr val="0070C0"/>
                </a:solidFill>
                <a:latin typeface="Arial" panose="020B0604020202020204" pitchFamily="34" charset="0"/>
                <a:sym typeface="+mn-ea"/>
              </a:rPr>
              <a:t>D</a:t>
            </a:r>
            <a:r>
              <a:rPr lang="en-US" altLang="zh-CN" baseline="-25000" dirty="0">
                <a:solidFill>
                  <a:srgbClr val="0070C0"/>
                </a:solidFill>
                <a:latin typeface="Arial" panose="020B0604020202020204" pitchFamily="34" charset="0"/>
                <a:sym typeface="+mn-ea"/>
              </a:rPr>
              <a:t>URL</a:t>
            </a:r>
            <a:r>
              <a:rPr lang="en-US" altLang="zh-CN" dirty="0">
                <a:solidFill>
                  <a:srgbClr val="0070C0"/>
                </a:solidFill>
                <a:latin typeface="Arial" panose="020B0604020202020204" pitchFamily="34" charset="0"/>
                <a:sym typeface="+mn-ea"/>
              </a:rPr>
              <a:t>&gt;&gt;</a:t>
            </a:r>
            <a:endParaRPr lang="en-US" altLang="zh-CN" dirty="0">
              <a:solidFill>
                <a:srgbClr val="0070C0"/>
              </a:solidFill>
              <a:latin typeface="Arial" panose="020B0604020202020204" pitchFamily="34" charset="0"/>
              <a:sym typeface="+mn-ea"/>
            </a:endParaRPr>
          </a:p>
          <a:p>
            <a:r>
              <a:rPr lang="zh-CN" altLang="en-US" dirty="0">
                <a:solidFill>
                  <a:srgbClr val="0070C0"/>
                </a:solidFill>
                <a:latin typeface="Arial" panose="020B0604020202020204" pitchFamily="34" charset="0"/>
                <a:sym typeface="+mn-ea"/>
              </a:rPr>
              <a:t>续右边</a:t>
            </a:r>
            <a:endParaRPr lang="en-US" altLang="zh-CN" dirty="0">
              <a:solidFill>
                <a:srgbClr val="0070C0"/>
              </a:solidFill>
              <a:latin typeface="Arial" panose="020B0604020202020204" pitchFamily="34" charset="0"/>
            </a:endParaRPr>
          </a:p>
          <a:p>
            <a:endParaRPr lang="en-US" altLang="zh-CN" dirty="0">
              <a:solidFill>
                <a:srgbClr val="0070C0"/>
              </a:solidFill>
              <a:latin typeface="Arial" panose="020B0604020202020204" pitchFamily="34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00" grpId="0"/>
      <p:bldP spid="55300" grpId="1"/>
      <p:bldP spid="2" grpId="0"/>
      <p:bldP spid="55301" grpId="0"/>
      <p:bldP spid="2" grpId="1"/>
      <p:bldP spid="55301" grpId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32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en-US" altLang="zh-CN" sz="4000" b="1" dirty="0"/>
              <a:t>13.7.3 PageRank</a:t>
            </a:r>
            <a:r>
              <a:rPr lang="zh-CN" altLang="en-US" sz="4000" b="1" dirty="0"/>
              <a:t>算法在</a:t>
            </a:r>
            <a:r>
              <a:rPr lang="en-US" altLang="zh-CN" sz="4000" b="1" dirty="0"/>
              <a:t>MapReduce</a:t>
            </a:r>
            <a:r>
              <a:rPr lang="zh-CN" altLang="en-US" sz="4000" b="1" dirty="0"/>
              <a:t>中的实现</a:t>
            </a:r>
            <a:endParaRPr lang="zh-CN" altLang="en-US" sz="4000" b="1" dirty="0"/>
          </a:p>
        </p:txBody>
      </p:sp>
      <p:sp>
        <p:nvSpPr>
          <p:cNvPr id="56323" name="Rectangle 3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039495"/>
          </a:xfrm>
        </p:spPr>
        <p:txBody>
          <a:bodyPr vert="horz" wrap="square" lIns="91440" tIns="45720" rIns="91440" bIns="45720" anchor="t" anchorCtr="0"/>
          <a:p>
            <a:r>
              <a:rPr lang="en-US" altLang="zh-CN" sz="1800" dirty="0"/>
              <a:t>Reduce</a:t>
            </a:r>
            <a:r>
              <a:rPr lang="zh-CN" altLang="en-US" sz="1800" dirty="0"/>
              <a:t>任务会获得</a:t>
            </a:r>
            <a:r>
              <a:rPr lang="en-US" altLang="zh-CN" sz="1800" dirty="0"/>
              <a:t>&lt;URL</a:t>
            </a:r>
            <a:r>
              <a:rPr lang="zh-CN" altLang="en-US" sz="1800" dirty="0"/>
              <a:t>，</a:t>
            </a:r>
            <a:r>
              <a:rPr lang="en-US" altLang="zh-CN" sz="1800" dirty="0"/>
              <a:t>url_list&gt;</a:t>
            </a:r>
            <a:r>
              <a:rPr lang="zh-CN" altLang="en-US" sz="1800" dirty="0"/>
              <a:t>和</a:t>
            </a:r>
            <a:r>
              <a:rPr lang="en-US" altLang="zh-CN" sz="1800" dirty="0"/>
              <a:t>&lt;u</a:t>
            </a:r>
            <a:r>
              <a:rPr lang="zh-CN" altLang="en-US" sz="1800" dirty="0"/>
              <a:t>，</a:t>
            </a:r>
            <a:r>
              <a:rPr lang="en-US" altLang="zh-CN" sz="1800" dirty="0"/>
              <a:t>&lt;URL, cur_rank/|url_list|&gt;&gt;</a:t>
            </a:r>
            <a:r>
              <a:rPr lang="zh-CN" altLang="en-US" sz="1800" dirty="0"/>
              <a:t>，</a:t>
            </a:r>
            <a:endParaRPr lang="zh-CN" altLang="en-US" sz="1800" dirty="0"/>
          </a:p>
          <a:p>
            <a:r>
              <a:rPr lang="en-US" altLang="zh-CN" sz="1800" dirty="0"/>
              <a:t>Reduce</a:t>
            </a:r>
            <a:r>
              <a:rPr lang="zh-CN" altLang="en-US" sz="1800" dirty="0"/>
              <a:t>任务对于具有相同</a:t>
            </a:r>
            <a:r>
              <a:rPr lang="en-US" altLang="zh-CN" sz="1800" dirty="0"/>
              <a:t>key</a:t>
            </a:r>
            <a:r>
              <a:rPr lang="zh-CN" altLang="en-US" sz="1800" dirty="0"/>
              <a:t>值的</a:t>
            </a:r>
            <a:r>
              <a:rPr lang="en-US" altLang="zh-CN" sz="1800" dirty="0"/>
              <a:t>value</a:t>
            </a:r>
            <a:r>
              <a:rPr lang="zh-CN" altLang="en-US" sz="1800" dirty="0"/>
              <a:t>进行汇总，并把汇总结果乘以</a:t>
            </a:r>
            <a:r>
              <a:rPr lang="en-US" altLang="zh-CN" sz="1800" dirty="0"/>
              <a:t>d</a:t>
            </a:r>
            <a:r>
              <a:rPr lang="zh-CN" altLang="en-US" sz="1800" dirty="0"/>
              <a:t>，得到每个网页的新的</a:t>
            </a:r>
            <a:r>
              <a:rPr lang="en-US" altLang="zh-CN" sz="1800" dirty="0"/>
              <a:t>PageRank</a:t>
            </a:r>
            <a:r>
              <a:rPr lang="zh-CN" altLang="en-US" sz="1800" dirty="0"/>
              <a:t>值</a:t>
            </a:r>
            <a:r>
              <a:rPr lang="en-US" altLang="zh-CN" sz="1800" dirty="0"/>
              <a:t>new_rank</a:t>
            </a:r>
            <a:r>
              <a:rPr lang="zh-CN" altLang="en-US" sz="1800" dirty="0"/>
              <a:t>，然后输出</a:t>
            </a:r>
            <a:r>
              <a:rPr lang="en-US" altLang="zh-CN" sz="1800" dirty="0"/>
              <a:t>&lt;URL</a:t>
            </a:r>
            <a:r>
              <a:rPr lang="zh-CN" altLang="en-US" sz="1800" dirty="0"/>
              <a:t>，</a:t>
            </a:r>
            <a:r>
              <a:rPr lang="en-US" altLang="zh-CN" sz="1800" dirty="0"/>
              <a:t>&lt;new_rank</a:t>
            </a:r>
            <a:r>
              <a:rPr lang="zh-CN" altLang="en-US" sz="1800" dirty="0"/>
              <a:t>，</a:t>
            </a:r>
            <a:r>
              <a:rPr lang="en-US" altLang="zh-CN" sz="1800" dirty="0"/>
              <a:t>url_list&gt;&gt;</a:t>
            </a:r>
            <a:r>
              <a:rPr lang="zh-CN" altLang="en-US" sz="1800" dirty="0"/>
              <a:t>，作为下一次迭代过程的输入。</a:t>
            </a:r>
            <a:endParaRPr lang="zh-CN" altLang="en-US" sz="1800" dirty="0"/>
          </a:p>
        </p:txBody>
      </p:sp>
      <p:sp>
        <p:nvSpPr>
          <p:cNvPr id="56324" name="TextBox 5"/>
          <p:cNvSpPr txBox="1"/>
          <p:nvPr/>
        </p:nvSpPr>
        <p:spPr>
          <a:xfrm>
            <a:off x="1216025" y="3022918"/>
            <a:ext cx="6705600" cy="175323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dirty="0">
                <a:latin typeface="Arial" panose="020B0604020202020204" pitchFamily="34" charset="0"/>
              </a:rPr>
              <a:t>Reduce</a:t>
            </a:r>
            <a:r>
              <a:rPr lang="zh-CN" altLang="en-US" dirty="0">
                <a:latin typeface="Arial" panose="020B0604020202020204" pitchFamily="34" charset="0"/>
              </a:rPr>
              <a:t>任务把第一次迭代后</a:t>
            </a:r>
            <a:r>
              <a:rPr lang="en-US" altLang="zh-CN" dirty="0">
                <a:latin typeface="Arial" panose="020B0604020202020204" pitchFamily="34" charset="0"/>
              </a:rPr>
              <a:t>Map</a:t>
            </a:r>
            <a:r>
              <a:rPr lang="zh-CN" altLang="en-US" dirty="0">
                <a:latin typeface="Arial" panose="020B0604020202020204" pitchFamily="34" charset="0"/>
              </a:rPr>
              <a:t>任务的输出作为自己的输入，经过处理后，阶段</a:t>
            </a:r>
            <a:r>
              <a:rPr lang="en-US" altLang="zh-CN" dirty="0">
                <a:latin typeface="Arial" panose="020B0604020202020204" pitchFamily="34" charset="0"/>
              </a:rPr>
              <a:t>2</a:t>
            </a:r>
            <a:r>
              <a:rPr lang="zh-CN" altLang="en-US" dirty="0">
                <a:latin typeface="Arial" panose="020B0604020202020204" pitchFamily="34" charset="0"/>
              </a:rPr>
              <a:t>的</a:t>
            </a:r>
            <a:r>
              <a:rPr lang="en-US" altLang="zh-CN" dirty="0">
                <a:latin typeface="Arial" panose="020B0604020202020204" pitchFamily="34" charset="0"/>
              </a:rPr>
              <a:t>Reduce</a:t>
            </a:r>
            <a:r>
              <a:rPr lang="zh-CN" altLang="en-US" dirty="0">
                <a:latin typeface="Arial" panose="020B0604020202020204" pitchFamily="34" charset="0"/>
              </a:rPr>
              <a:t>输出为：</a:t>
            </a:r>
            <a:r>
              <a:rPr lang="en-US" altLang="zh-CN" dirty="0">
                <a:latin typeface="Arial" panose="020B0604020202020204" pitchFamily="34" charset="0"/>
              </a:rPr>
              <a:t> 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&lt;A</a:t>
            </a:r>
            <a:r>
              <a:rPr lang="en-US" altLang="zh-CN" baseline="-25000" dirty="0">
                <a:latin typeface="Arial" panose="020B0604020202020204" pitchFamily="34" charset="0"/>
              </a:rPr>
              <a:t>URL</a:t>
            </a:r>
            <a:r>
              <a:rPr lang="zh-CN" altLang="en-US" dirty="0">
                <a:latin typeface="Arial" panose="020B0604020202020204" pitchFamily="34" charset="0"/>
              </a:rPr>
              <a:t>，</a:t>
            </a:r>
            <a:r>
              <a:rPr lang="en-US" altLang="zh-CN" dirty="0">
                <a:latin typeface="Arial" panose="020B0604020202020204" pitchFamily="34" charset="0"/>
              </a:rPr>
              <a:t>&lt;0.2500</a:t>
            </a:r>
            <a:r>
              <a:rPr lang="zh-CN" altLang="en-US" dirty="0">
                <a:latin typeface="Arial" panose="020B0604020202020204" pitchFamily="34" charset="0"/>
              </a:rPr>
              <a:t>，</a:t>
            </a:r>
            <a:r>
              <a:rPr lang="en-US" altLang="zh-CN" dirty="0">
                <a:latin typeface="Arial" panose="020B0604020202020204" pitchFamily="34" charset="0"/>
              </a:rPr>
              <a:t>&lt;B</a:t>
            </a:r>
            <a:r>
              <a:rPr lang="en-US" altLang="zh-CN" baseline="-25000" dirty="0">
                <a:latin typeface="Arial" panose="020B0604020202020204" pitchFamily="34" charset="0"/>
              </a:rPr>
              <a:t>URL</a:t>
            </a:r>
            <a:r>
              <a:rPr lang="zh-CN" altLang="en-US" dirty="0">
                <a:latin typeface="Arial" panose="020B0604020202020204" pitchFamily="34" charset="0"/>
              </a:rPr>
              <a:t>，</a:t>
            </a:r>
            <a:r>
              <a:rPr lang="en-US" altLang="zh-CN" dirty="0">
                <a:latin typeface="Arial" panose="020B0604020202020204" pitchFamily="34" charset="0"/>
              </a:rPr>
              <a:t>C</a:t>
            </a:r>
            <a:r>
              <a:rPr lang="en-US" altLang="zh-CN" baseline="-25000" dirty="0">
                <a:latin typeface="Arial" panose="020B0604020202020204" pitchFamily="34" charset="0"/>
              </a:rPr>
              <a:t>URL</a:t>
            </a:r>
            <a:r>
              <a:rPr lang="zh-CN" altLang="en-US" dirty="0">
                <a:latin typeface="Arial" panose="020B0604020202020204" pitchFamily="34" charset="0"/>
              </a:rPr>
              <a:t>，</a:t>
            </a:r>
            <a:r>
              <a:rPr lang="en-US" altLang="zh-CN" dirty="0">
                <a:latin typeface="Arial" panose="020B0604020202020204" pitchFamily="34" charset="0"/>
              </a:rPr>
              <a:t>D</a:t>
            </a:r>
            <a:r>
              <a:rPr lang="en-US" altLang="zh-CN" baseline="-25000" dirty="0">
                <a:latin typeface="Arial" panose="020B0604020202020204" pitchFamily="34" charset="0"/>
              </a:rPr>
              <a:t>URL</a:t>
            </a:r>
            <a:r>
              <a:rPr lang="en-US" altLang="zh-CN" dirty="0">
                <a:latin typeface="Arial" panose="020B0604020202020204" pitchFamily="34" charset="0"/>
              </a:rPr>
              <a:t>&gt;&gt;&gt;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&lt;B</a:t>
            </a:r>
            <a:r>
              <a:rPr lang="en-US" altLang="zh-CN" baseline="-25000" dirty="0">
                <a:latin typeface="Arial" panose="020B0604020202020204" pitchFamily="34" charset="0"/>
              </a:rPr>
              <a:t>URL</a:t>
            </a:r>
            <a:r>
              <a:rPr lang="zh-CN" altLang="en-US" dirty="0">
                <a:latin typeface="Arial" panose="020B0604020202020204" pitchFamily="34" charset="0"/>
              </a:rPr>
              <a:t>，</a:t>
            </a:r>
            <a:r>
              <a:rPr lang="en-US" altLang="zh-CN" dirty="0">
                <a:latin typeface="Arial" panose="020B0604020202020204" pitchFamily="34" charset="0"/>
              </a:rPr>
              <a:t>&lt;0.2147</a:t>
            </a:r>
            <a:r>
              <a:rPr lang="zh-CN" altLang="en-US" dirty="0">
                <a:latin typeface="Arial" panose="020B0604020202020204" pitchFamily="34" charset="0"/>
              </a:rPr>
              <a:t>，</a:t>
            </a:r>
            <a:r>
              <a:rPr lang="en-US" altLang="zh-CN" dirty="0">
                <a:latin typeface="Arial" panose="020B0604020202020204" pitchFamily="34" charset="0"/>
              </a:rPr>
              <a:t>&lt;A</a:t>
            </a:r>
            <a:r>
              <a:rPr lang="en-US" altLang="zh-CN" baseline="-25000" dirty="0">
                <a:latin typeface="Arial" panose="020B0604020202020204" pitchFamily="34" charset="0"/>
              </a:rPr>
              <a:t>URL</a:t>
            </a:r>
            <a:r>
              <a:rPr lang="zh-CN" altLang="en-US" dirty="0">
                <a:latin typeface="Arial" panose="020B0604020202020204" pitchFamily="34" charset="0"/>
              </a:rPr>
              <a:t>，</a:t>
            </a:r>
            <a:r>
              <a:rPr lang="en-US" altLang="zh-CN" dirty="0">
                <a:latin typeface="Arial" panose="020B0604020202020204" pitchFamily="34" charset="0"/>
              </a:rPr>
              <a:t>C</a:t>
            </a:r>
            <a:r>
              <a:rPr lang="en-US" altLang="zh-CN" baseline="-25000" dirty="0">
                <a:latin typeface="Arial" panose="020B0604020202020204" pitchFamily="34" charset="0"/>
              </a:rPr>
              <a:t>URL</a:t>
            </a:r>
            <a:r>
              <a:rPr lang="en-US" altLang="zh-CN" dirty="0">
                <a:latin typeface="Arial" panose="020B0604020202020204" pitchFamily="34" charset="0"/>
              </a:rPr>
              <a:t>&gt;&gt;&gt; 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&lt;C</a:t>
            </a:r>
            <a:r>
              <a:rPr lang="en-US" altLang="zh-CN" baseline="-25000" dirty="0">
                <a:latin typeface="Arial" panose="020B0604020202020204" pitchFamily="34" charset="0"/>
              </a:rPr>
              <a:t>URL</a:t>
            </a:r>
            <a:r>
              <a:rPr lang="zh-CN" altLang="en-US" dirty="0">
                <a:latin typeface="Arial" panose="020B0604020202020204" pitchFamily="34" charset="0"/>
              </a:rPr>
              <a:t>，</a:t>
            </a:r>
            <a:r>
              <a:rPr lang="en-US" altLang="zh-CN" dirty="0">
                <a:latin typeface="Arial" panose="020B0604020202020204" pitchFamily="34" charset="0"/>
              </a:rPr>
              <a:t>&lt;0.2147</a:t>
            </a:r>
            <a:r>
              <a:rPr lang="zh-CN" altLang="en-US" dirty="0">
                <a:latin typeface="Arial" panose="020B0604020202020204" pitchFamily="34" charset="0"/>
              </a:rPr>
              <a:t>，</a:t>
            </a:r>
            <a:r>
              <a:rPr lang="en-US" altLang="zh-CN" dirty="0">
                <a:latin typeface="Arial" panose="020B0604020202020204" pitchFamily="34" charset="0"/>
              </a:rPr>
              <a:t>D</a:t>
            </a:r>
            <a:r>
              <a:rPr lang="en-US" altLang="zh-CN" baseline="-25000" dirty="0">
                <a:latin typeface="Arial" panose="020B0604020202020204" pitchFamily="34" charset="0"/>
              </a:rPr>
              <a:t>URL</a:t>
            </a:r>
            <a:r>
              <a:rPr lang="en-US" altLang="zh-CN" dirty="0">
                <a:latin typeface="Arial" panose="020B0604020202020204" pitchFamily="34" charset="0"/>
              </a:rPr>
              <a:t>&gt;&gt;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&lt;D</a:t>
            </a:r>
            <a:r>
              <a:rPr lang="en-US" altLang="zh-CN" baseline="-25000" dirty="0">
                <a:latin typeface="Arial" panose="020B0604020202020204" pitchFamily="34" charset="0"/>
              </a:rPr>
              <a:t>URL</a:t>
            </a:r>
            <a:r>
              <a:rPr lang="zh-CN" altLang="en-US" dirty="0">
                <a:latin typeface="Arial" panose="020B0604020202020204" pitchFamily="34" charset="0"/>
              </a:rPr>
              <a:t>，</a:t>
            </a:r>
            <a:r>
              <a:rPr lang="en-US" altLang="zh-CN" dirty="0">
                <a:latin typeface="Arial" panose="020B0604020202020204" pitchFamily="34" charset="0"/>
              </a:rPr>
              <a:t>&lt;0.3206</a:t>
            </a:r>
            <a:r>
              <a:rPr lang="zh-CN" altLang="en-US" dirty="0">
                <a:latin typeface="Arial" panose="020B0604020202020204" pitchFamily="34" charset="0"/>
              </a:rPr>
              <a:t>，</a:t>
            </a:r>
            <a:r>
              <a:rPr lang="en-US" altLang="zh-CN" dirty="0">
                <a:latin typeface="Arial" panose="020B0604020202020204" pitchFamily="34" charset="0"/>
              </a:rPr>
              <a:t>&lt;A</a:t>
            </a:r>
            <a:r>
              <a:rPr lang="en-US" altLang="zh-CN" baseline="-25000" dirty="0">
                <a:latin typeface="Arial" panose="020B0604020202020204" pitchFamily="34" charset="0"/>
              </a:rPr>
              <a:t>URL</a:t>
            </a:r>
            <a:r>
              <a:rPr lang="zh-CN" altLang="en-US" dirty="0">
                <a:latin typeface="Arial" panose="020B0604020202020204" pitchFamily="34" charset="0"/>
              </a:rPr>
              <a:t>，</a:t>
            </a:r>
            <a:r>
              <a:rPr lang="en-US" altLang="zh-CN" dirty="0">
                <a:latin typeface="Arial" panose="020B0604020202020204" pitchFamily="34" charset="0"/>
              </a:rPr>
              <a:t>B</a:t>
            </a:r>
            <a:r>
              <a:rPr lang="en-US" altLang="zh-CN" baseline="-25000" dirty="0">
                <a:latin typeface="Arial" panose="020B0604020202020204" pitchFamily="34" charset="0"/>
              </a:rPr>
              <a:t>URL</a:t>
            </a:r>
            <a:r>
              <a:rPr lang="en-US" altLang="zh-CN" dirty="0">
                <a:latin typeface="Arial" panose="020B0604020202020204" pitchFamily="34" charset="0"/>
              </a:rPr>
              <a:t>&gt;&gt;&gt;</a:t>
            </a:r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56325" name="TextBox 8"/>
          <p:cNvSpPr txBox="1"/>
          <p:nvPr/>
        </p:nvSpPr>
        <p:spPr>
          <a:xfrm>
            <a:off x="1216025" y="4927918"/>
            <a:ext cx="6248400" cy="175323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latin typeface="Arial" panose="020B0604020202020204" pitchFamily="34" charset="0"/>
              </a:rPr>
              <a:t>经过本轮迭代，每个网页都计算得到了新的</a:t>
            </a:r>
            <a:r>
              <a:rPr lang="en-US" altLang="zh-CN" dirty="0">
                <a:latin typeface="Arial" panose="020B0604020202020204" pitchFamily="34" charset="0"/>
              </a:rPr>
              <a:t>PageRank</a:t>
            </a:r>
            <a:r>
              <a:rPr lang="zh-CN" altLang="en-US" dirty="0">
                <a:latin typeface="Arial" panose="020B0604020202020204" pitchFamily="34" charset="0"/>
              </a:rPr>
              <a:t>值。下次迭代阶段</a:t>
            </a:r>
            <a:r>
              <a:rPr lang="en-US" altLang="zh-CN" dirty="0">
                <a:latin typeface="Arial" panose="020B0604020202020204" pitchFamily="34" charset="0"/>
              </a:rPr>
              <a:t>2</a:t>
            </a:r>
            <a:r>
              <a:rPr lang="zh-CN" altLang="en-US" dirty="0">
                <a:latin typeface="Arial" panose="020B0604020202020204" pitchFamily="34" charset="0"/>
              </a:rPr>
              <a:t>的</a:t>
            </a:r>
            <a:r>
              <a:rPr lang="en-US" altLang="zh-CN" dirty="0">
                <a:latin typeface="Arial" panose="020B0604020202020204" pitchFamily="34" charset="0"/>
              </a:rPr>
              <a:t>Reduce</a:t>
            </a:r>
            <a:r>
              <a:rPr lang="zh-CN" altLang="en-US" dirty="0">
                <a:latin typeface="Arial" panose="020B0604020202020204" pitchFamily="34" charset="0"/>
              </a:rPr>
              <a:t>输出为：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&lt;A</a:t>
            </a:r>
            <a:r>
              <a:rPr lang="en-US" altLang="zh-CN" baseline="-25000" dirty="0">
                <a:latin typeface="Arial" panose="020B0604020202020204" pitchFamily="34" charset="0"/>
              </a:rPr>
              <a:t>URL</a:t>
            </a:r>
            <a:r>
              <a:rPr lang="zh-CN" altLang="en-US" dirty="0">
                <a:latin typeface="Arial" panose="020B0604020202020204" pitchFamily="34" charset="0"/>
              </a:rPr>
              <a:t>，</a:t>
            </a:r>
            <a:r>
              <a:rPr lang="en-US" altLang="zh-CN" dirty="0">
                <a:latin typeface="Arial" panose="020B0604020202020204" pitchFamily="34" charset="0"/>
              </a:rPr>
              <a:t>&lt;0.2200</a:t>
            </a:r>
            <a:r>
              <a:rPr lang="zh-CN" altLang="en-US" dirty="0">
                <a:latin typeface="Arial" panose="020B0604020202020204" pitchFamily="34" charset="0"/>
              </a:rPr>
              <a:t>，</a:t>
            </a:r>
            <a:r>
              <a:rPr lang="en-US" altLang="zh-CN" dirty="0">
                <a:latin typeface="Arial" panose="020B0604020202020204" pitchFamily="34" charset="0"/>
              </a:rPr>
              <a:t>&lt;B</a:t>
            </a:r>
            <a:r>
              <a:rPr lang="en-US" altLang="zh-CN" baseline="-25000" dirty="0">
                <a:latin typeface="Arial" panose="020B0604020202020204" pitchFamily="34" charset="0"/>
              </a:rPr>
              <a:t>URL</a:t>
            </a:r>
            <a:r>
              <a:rPr lang="zh-CN" altLang="en-US" dirty="0">
                <a:latin typeface="Arial" panose="020B0604020202020204" pitchFamily="34" charset="0"/>
              </a:rPr>
              <a:t>，</a:t>
            </a:r>
            <a:r>
              <a:rPr lang="en-US" altLang="zh-CN" dirty="0">
                <a:latin typeface="Arial" panose="020B0604020202020204" pitchFamily="34" charset="0"/>
              </a:rPr>
              <a:t>C</a:t>
            </a:r>
            <a:r>
              <a:rPr lang="en-US" altLang="zh-CN" baseline="-25000" dirty="0">
                <a:latin typeface="Arial" panose="020B0604020202020204" pitchFamily="34" charset="0"/>
              </a:rPr>
              <a:t>URL</a:t>
            </a:r>
            <a:r>
              <a:rPr lang="zh-CN" altLang="en-US" dirty="0">
                <a:latin typeface="Arial" panose="020B0604020202020204" pitchFamily="34" charset="0"/>
              </a:rPr>
              <a:t>，</a:t>
            </a:r>
            <a:r>
              <a:rPr lang="en-US" altLang="zh-CN" dirty="0">
                <a:latin typeface="Arial" panose="020B0604020202020204" pitchFamily="34" charset="0"/>
              </a:rPr>
              <a:t>D</a:t>
            </a:r>
            <a:r>
              <a:rPr lang="en-US" altLang="zh-CN" baseline="-25000" dirty="0">
                <a:latin typeface="Arial" panose="020B0604020202020204" pitchFamily="34" charset="0"/>
              </a:rPr>
              <a:t>URL</a:t>
            </a:r>
            <a:r>
              <a:rPr lang="en-US" altLang="zh-CN" dirty="0">
                <a:latin typeface="Arial" panose="020B0604020202020204" pitchFamily="34" charset="0"/>
              </a:rPr>
              <a:t>&gt;&gt;&gt;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&lt;B</a:t>
            </a:r>
            <a:r>
              <a:rPr lang="en-US" altLang="zh-CN" baseline="-25000" dirty="0">
                <a:latin typeface="Arial" panose="020B0604020202020204" pitchFamily="34" charset="0"/>
              </a:rPr>
              <a:t>URL</a:t>
            </a:r>
            <a:r>
              <a:rPr lang="zh-CN" altLang="en-US" dirty="0">
                <a:latin typeface="Arial" panose="020B0604020202020204" pitchFamily="34" charset="0"/>
              </a:rPr>
              <a:t>，</a:t>
            </a:r>
            <a:r>
              <a:rPr lang="en-US" altLang="zh-CN" dirty="0">
                <a:latin typeface="Arial" panose="020B0604020202020204" pitchFamily="34" charset="0"/>
              </a:rPr>
              <a:t>&lt;0.1996</a:t>
            </a:r>
            <a:r>
              <a:rPr lang="zh-CN" altLang="en-US" dirty="0">
                <a:latin typeface="Arial" panose="020B0604020202020204" pitchFamily="34" charset="0"/>
              </a:rPr>
              <a:t>，</a:t>
            </a:r>
            <a:r>
              <a:rPr lang="en-US" altLang="zh-CN" dirty="0">
                <a:latin typeface="Arial" panose="020B0604020202020204" pitchFamily="34" charset="0"/>
              </a:rPr>
              <a:t>&lt;A</a:t>
            </a:r>
            <a:r>
              <a:rPr lang="en-US" altLang="zh-CN" baseline="-25000" dirty="0">
                <a:latin typeface="Arial" panose="020B0604020202020204" pitchFamily="34" charset="0"/>
              </a:rPr>
              <a:t>URL</a:t>
            </a:r>
            <a:r>
              <a:rPr lang="zh-CN" altLang="en-US" dirty="0">
                <a:latin typeface="Arial" panose="020B0604020202020204" pitchFamily="34" charset="0"/>
              </a:rPr>
              <a:t>，</a:t>
            </a:r>
            <a:r>
              <a:rPr lang="en-US" altLang="zh-CN" dirty="0">
                <a:latin typeface="Arial" panose="020B0604020202020204" pitchFamily="34" charset="0"/>
              </a:rPr>
              <a:t>C</a:t>
            </a:r>
            <a:r>
              <a:rPr lang="en-US" altLang="zh-CN" baseline="-25000" dirty="0">
                <a:latin typeface="Arial" panose="020B0604020202020204" pitchFamily="34" charset="0"/>
              </a:rPr>
              <a:t>URL</a:t>
            </a:r>
            <a:r>
              <a:rPr lang="en-US" altLang="zh-CN" dirty="0">
                <a:latin typeface="Arial" panose="020B0604020202020204" pitchFamily="34" charset="0"/>
              </a:rPr>
              <a:t>&gt;&gt;&gt;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&lt;C</a:t>
            </a:r>
            <a:r>
              <a:rPr lang="en-US" altLang="zh-CN" baseline="-25000" dirty="0">
                <a:latin typeface="Arial" panose="020B0604020202020204" pitchFamily="34" charset="0"/>
              </a:rPr>
              <a:t>URL</a:t>
            </a:r>
            <a:r>
              <a:rPr lang="zh-CN" altLang="en-US" dirty="0">
                <a:latin typeface="Arial" panose="020B0604020202020204" pitchFamily="34" charset="0"/>
              </a:rPr>
              <a:t>，</a:t>
            </a:r>
            <a:r>
              <a:rPr lang="en-US" altLang="zh-CN" dirty="0">
                <a:latin typeface="Arial" panose="020B0604020202020204" pitchFamily="34" charset="0"/>
              </a:rPr>
              <a:t>&lt;0.1996</a:t>
            </a:r>
            <a:r>
              <a:rPr lang="zh-CN" altLang="en-US" dirty="0">
                <a:latin typeface="Arial" panose="020B0604020202020204" pitchFamily="34" charset="0"/>
              </a:rPr>
              <a:t>，</a:t>
            </a:r>
            <a:r>
              <a:rPr lang="en-US" altLang="zh-CN" dirty="0">
                <a:latin typeface="Arial" panose="020B0604020202020204" pitchFamily="34" charset="0"/>
              </a:rPr>
              <a:t>D</a:t>
            </a:r>
            <a:r>
              <a:rPr lang="en-US" altLang="zh-CN" baseline="-25000" dirty="0">
                <a:latin typeface="Arial" panose="020B0604020202020204" pitchFamily="34" charset="0"/>
              </a:rPr>
              <a:t>URL</a:t>
            </a:r>
            <a:r>
              <a:rPr lang="en-US" altLang="zh-CN" dirty="0">
                <a:latin typeface="Arial" panose="020B0604020202020204" pitchFamily="34" charset="0"/>
              </a:rPr>
              <a:t>&gt;&gt;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&lt;D</a:t>
            </a:r>
            <a:r>
              <a:rPr lang="en-US" altLang="zh-CN" baseline="-25000" dirty="0">
                <a:latin typeface="Arial" panose="020B0604020202020204" pitchFamily="34" charset="0"/>
              </a:rPr>
              <a:t>URL</a:t>
            </a:r>
            <a:r>
              <a:rPr lang="zh-CN" altLang="en-US" dirty="0">
                <a:latin typeface="Arial" panose="020B0604020202020204" pitchFamily="34" charset="0"/>
              </a:rPr>
              <a:t>，</a:t>
            </a:r>
            <a:r>
              <a:rPr lang="en-US" altLang="zh-CN" dirty="0">
                <a:latin typeface="Arial" panose="020B0604020202020204" pitchFamily="34" charset="0"/>
              </a:rPr>
              <a:t>&lt;0.3808</a:t>
            </a:r>
            <a:r>
              <a:rPr lang="zh-CN" altLang="en-US" dirty="0">
                <a:latin typeface="Arial" panose="020B0604020202020204" pitchFamily="34" charset="0"/>
              </a:rPr>
              <a:t>，</a:t>
            </a:r>
            <a:r>
              <a:rPr lang="en-US" altLang="zh-CN" dirty="0">
                <a:latin typeface="Arial" panose="020B0604020202020204" pitchFamily="34" charset="0"/>
              </a:rPr>
              <a:t>&lt;A</a:t>
            </a:r>
            <a:r>
              <a:rPr lang="en-US" altLang="zh-CN" baseline="-25000" dirty="0">
                <a:latin typeface="Arial" panose="020B0604020202020204" pitchFamily="34" charset="0"/>
              </a:rPr>
              <a:t>URL</a:t>
            </a:r>
            <a:r>
              <a:rPr lang="zh-CN" altLang="en-US" dirty="0">
                <a:latin typeface="Arial" panose="020B0604020202020204" pitchFamily="34" charset="0"/>
              </a:rPr>
              <a:t>，</a:t>
            </a:r>
            <a:r>
              <a:rPr lang="en-US" altLang="zh-CN" dirty="0">
                <a:latin typeface="Arial" panose="020B0604020202020204" pitchFamily="34" charset="0"/>
              </a:rPr>
              <a:t>B</a:t>
            </a:r>
            <a:r>
              <a:rPr lang="en-US" altLang="zh-CN" baseline="-25000" dirty="0">
                <a:latin typeface="Arial" panose="020B0604020202020204" pitchFamily="34" charset="0"/>
              </a:rPr>
              <a:t>URL</a:t>
            </a:r>
            <a:r>
              <a:rPr lang="en-US" altLang="zh-CN" dirty="0">
                <a:latin typeface="Arial" panose="020B0604020202020204" pitchFamily="34" charset="0"/>
              </a:rPr>
              <a:t>&gt;&gt;&gt;</a:t>
            </a:r>
            <a:endParaRPr lang="en-US" altLang="zh-CN" dirty="0">
              <a:latin typeface="Arial" panose="020B0604020202020204" pitchFamily="34" charset="0"/>
            </a:endParaRPr>
          </a:p>
        </p:txBody>
      </p:sp>
      <p:pic>
        <p:nvPicPr>
          <p:cNvPr id="56326" name="Picture 6" descr="C:\Users\admin\AppData\Local\Temp\ksohtml\wpsE3AC.tm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3886200"/>
            <a:ext cx="2743200" cy="26384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6327" name="Rectangle 7"/>
          <p:cNvSpPr/>
          <p:nvPr/>
        </p:nvSpPr>
        <p:spPr>
          <a:xfrm>
            <a:off x="838200" y="1276510"/>
            <a:ext cx="6009005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r>
              <a:rPr lang="en-US" altLang="zh-CN" sz="2400" b="1" dirty="0">
                <a:latin typeface="Arial" panose="020B0604020202020204" pitchFamily="34" charset="0"/>
              </a:rPr>
              <a:t>2. </a:t>
            </a:r>
            <a:r>
              <a:rPr lang="zh-CN" altLang="en-US" sz="2400" b="1" dirty="0">
                <a:latin typeface="Arial" panose="020B0604020202020204" pitchFamily="34" charset="0"/>
              </a:rPr>
              <a:t>阶段</a:t>
            </a:r>
            <a:r>
              <a:rPr lang="en-US" altLang="zh-CN" sz="2400" b="1" dirty="0">
                <a:latin typeface="Arial" panose="020B0604020202020204" pitchFamily="34" charset="0"/>
              </a:rPr>
              <a:t>2</a:t>
            </a:r>
            <a:r>
              <a:rPr lang="zh-CN" altLang="en-US" sz="2400" b="1" dirty="0">
                <a:latin typeface="Arial" panose="020B0604020202020204" pitchFamily="34" charset="0"/>
              </a:rPr>
              <a:t>：</a:t>
            </a:r>
            <a:r>
              <a:rPr lang="en-US" altLang="zh-CN" sz="2400" b="1" dirty="0">
                <a:latin typeface="Arial" panose="020B0604020202020204" pitchFamily="34" charset="0"/>
              </a:rPr>
              <a:t>PageRank</a:t>
            </a:r>
            <a:r>
              <a:rPr lang="zh-CN" altLang="en-US" sz="2400" b="1" dirty="0">
                <a:latin typeface="Arial" panose="020B0604020202020204" pitchFamily="34" charset="0"/>
              </a:rPr>
              <a:t>分配（</a:t>
            </a:r>
            <a:r>
              <a:rPr lang="en-US" altLang="zh-CN" sz="2400" b="1" dirty="0">
                <a:latin typeface="Arial" panose="020B0604020202020204" pitchFamily="34" charset="0"/>
              </a:rPr>
              <a:t>Reduce</a:t>
            </a:r>
            <a:r>
              <a:rPr lang="zh-CN" altLang="en-US" sz="2400" b="1" dirty="0">
                <a:latin typeface="Arial" panose="020B0604020202020204" pitchFamily="34" charset="0"/>
              </a:rPr>
              <a:t>阶段）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4" grpId="0"/>
      <p:bldP spid="56324" grpId="1"/>
      <p:bldP spid="56325" grpId="0"/>
      <p:bldP spid="56325" grpId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34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en-US" altLang="zh-CN" sz="4000" b="1" dirty="0"/>
              <a:t>13.7.3 PageRank</a:t>
            </a:r>
            <a:r>
              <a:rPr lang="zh-CN" altLang="en-US" sz="4000" b="1" dirty="0"/>
              <a:t>算法在</a:t>
            </a:r>
            <a:r>
              <a:rPr lang="en-US" altLang="zh-CN" sz="4000" b="1" dirty="0"/>
              <a:t>MapReduce</a:t>
            </a:r>
            <a:r>
              <a:rPr lang="zh-CN" altLang="en-US" sz="4000" b="1" dirty="0"/>
              <a:t>中的实现</a:t>
            </a:r>
            <a:endParaRPr lang="zh-CN" altLang="en-US" sz="4000" b="1" dirty="0"/>
          </a:p>
        </p:txBody>
      </p:sp>
      <p:sp>
        <p:nvSpPr>
          <p:cNvPr id="57347" name="Rectangle 3"/>
          <p:cNvSpPr>
            <a:spLocks noGrp="1"/>
          </p:cNvSpPr>
          <p:nvPr>
            <p:ph idx="1"/>
          </p:nvPr>
        </p:nvSpPr>
        <p:spPr>
          <a:xfrm>
            <a:off x="916940" y="1384300"/>
            <a:ext cx="5140325" cy="5342255"/>
          </a:xfrm>
        </p:spPr>
        <p:txBody>
          <a:bodyPr vert="horz" wrap="square" lIns="91440" tIns="45720" rIns="91440" bIns="45720" anchor="t" anchorCtr="0">
            <a:noAutofit/>
          </a:bodyPr>
          <a:p>
            <a:pPr>
              <a:buNone/>
            </a:pPr>
            <a:r>
              <a:rPr lang="en-US" altLang="zh-CN" sz="1400" b="1" dirty="0"/>
              <a:t>Mapper</a:t>
            </a:r>
            <a:r>
              <a:rPr lang="zh-CN" altLang="en-US" sz="1400" b="1" dirty="0"/>
              <a:t>函数的伪码：</a:t>
            </a:r>
            <a:endParaRPr lang="en-US" altLang="zh-CN" sz="1400" b="1" dirty="0"/>
          </a:p>
          <a:p>
            <a:pPr>
              <a:buNone/>
            </a:pPr>
            <a:r>
              <a:rPr lang="en-US" altLang="zh-CN" sz="1400" dirty="0"/>
              <a:t>input &lt;PageN, RankN&gt; -&gt; PageA,PageB,PageC ... </a:t>
            </a:r>
            <a:endParaRPr lang="en-US" altLang="zh-CN" sz="1400" dirty="0"/>
          </a:p>
          <a:p>
            <a:pPr>
              <a:buNone/>
            </a:pPr>
            <a:r>
              <a:rPr lang="en-US" altLang="zh-CN" sz="1400" dirty="0"/>
              <a:t>// PageN</a:t>
            </a:r>
            <a:r>
              <a:rPr lang="zh-CN" altLang="en-US" sz="1400" dirty="0"/>
              <a:t>外链指向</a:t>
            </a:r>
            <a:r>
              <a:rPr lang="en-US" altLang="zh-CN" sz="1400" dirty="0"/>
              <a:t>PageA,PageB,PageC ...</a:t>
            </a:r>
            <a:endParaRPr lang="en-US" altLang="zh-CN" sz="1400" dirty="0"/>
          </a:p>
          <a:p>
            <a:pPr>
              <a:buNone/>
            </a:pPr>
            <a:r>
              <a:rPr lang="en-US" altLang="zh-CN" sz="1400" dirty="0"/>
              <a:t>begin</a:t>
            </a:r>
            <a:endParaRPr lang="en-US" altLang="zh-CN" sz="1400" dirty="0"/>
          </a:p>
          <a:p>
            <a:pPr>
              <a:buNone/>
            </a:pPr>
            <a:r>
              <a:rPr lang="en-US" altLang="zh-CN" sz="1400" dirty="0"/>
              <a:t>    Nn := the number of outlinks for PageN;</a:t>
            </a:r>
            <a:endParaRPr lang="en-US" altLang="zh-CN" sz="1400" dirty="0"/>
          </a:p>
          <a:p>
            <a:pPr>
              <a:buNone/>
            </a:pPr>
            <a:r>
              <a:rPr lang="en-US" altLang="zh-CN" sz="1400" dirty="0"/>
              <a:t>    for each outlink PageK</a:t>
            </a:r>
            <a:endParaRPr lang="en-US" altLang="zh-CN" sz="1400" dirty="0"/>
          </a:p>
          <a:p>
            <a:pPr>
              <a:buNone/>
            </a:pPr>
            <a:r>
              <a:rPr lang="en-US" altLang="zh-CN" sz="1400" dirty="0"/>
              <a:t>        output PageK -&gt; &lt;PageN, RankN/Nn&gt;</a:t>
            </a:r>
            <a:endParaRPr lang="en-US" altLang="zh-CN" sz="1400" dirty="0"/>
          </a:p>
          <a:p>
            <a:pPr>
              <a:buNone/>
            </a:pPr>
            <a:r>
              <a:rPr lang="en-US" altLang="zh-CN" sz="1400" dirty="0"/>
              <a:t>    output PageN -&gt; PageA, PageB, PageC ... </a:t>
            </a:r>
            <a:endParaRPr lang="en-US" altLang="zh-CN" sz="1400" dirty="0"/>
          </a:p>
          <a:p>
            <a:pPr>
              <a:buNone/>
            </a:pPr>
            <a:r>
              <a:rPr lang="en-US" altLang="zh-CN" sz="1400" dirty="0"/>
              <a:t>    // </a:t>
            </a:r>
            <a:r>
              <a:rPr lang="zh-CN" altLang="en-US" sz="1400" dirty="0"/>
              <a:t>同时输出链接关系，用于迭代</a:t>
            </a:r>
            <a:endParaRPr lang="zh-CN" altLang="en-US" sz="1400" dirty="0"/>
          </a:p>
          <a:p>
            <a:pPr>
              <a:buNone/>
            </a:pPr>
            <a:r>
              <a:rPr lang="en-US" altLang="zh-CN" sz="1400" dirty="0"/>
              <a:t>end</a:t>
            </a:r>
            <a:endParaRPr lang="en-US" altLang="zh-CN" sz="1400" dirty="0"/>
          </a:p>
          <a:p>
            <a:pPr>
              <a:buNone/>
            </a:pPr>
            <a:r>
              <a:rPr lang="en-US" altLang="zh-CN" sz="1400" dirty="0"/>
              <a:t>/**************************</a:t>
            </a:r>
            <a:endParaRPr lang="en-US" altLang="zh-CN" sz="1400" dirty="0"/>
          </a:p>
          <a:p>
            <a:pPr>
              <a:buNone/>
            </a:pPr>
            <a:r>
              <a:rPr lang="en-US" altLang="zh-CN" sz="1400" dirty="0"/>
              <a:t>Mapper</a:t>
            </a:r>
            <a:r>
              <a:rPr lang="zh-CN" altLang="en-US" sz="1400" dirty="0"/>
              <a:t>输出如下（已经排序，所以</a:t>
            </a:r>
            <a:r>
              <a:rPr lang="en-US" altLang="zh-CN" sz="1400" dirty="0"/>
              <a:t>PageK</a:t>
            </a:r>
            <a:r>
              <a:rPr lang="zh-CN" altLang="en-US" sz="1400" dirty="0"/>
              <a:t>的数据排在一起，</a:t>
            </a:r>
            <a:endParaRPr lang="zh-CN" altLang="en-US" sz="1400" dirty="0"/>
          </a:p>
          <a:p>
            <a:pPr>
              <a:buNone/>
            </a:pPr>
            <a:r>
              <a:rPr lang="zh-CN" altLang="en-US" sz="1400" dirty="0"/>
              <a:t>最后一行则是链接关系对）：</a:t>
            </a:r>
            <a:endParaRPr lang="zh-CN" altLang="en-US" sz="1400" dirty="0"/>
          </a:p>
          <a:p>
            <a:pPr>
              <a:buNone/>
            </a:pPr>
            <a:r>
              <a:rPr lang="en-US" altLang="zh-CN" sz="1400" dirty="0"/>
              <a:t>PageK -&gt; &lt;PageN1, RankN1/Nn1&gt;</a:t>
            </a:r>
            <a:endParaRPr lang="en-US" altLang="zh-CN" sz="1400" dirty="0"/>
          </a:p>
          <a:p>
            <a:pPr>
              <a:buNone/>
            </a:pPr>
            <a:r>
              <a:rPr lang="en-US" altLang="zh-CN" sz="1400" dirty="0"/>
              <a:t>PageK -&gt; &lt;PageN2, RankN2/Nn2&gt;</a:t>
            </a:r>
            <a:endParaRPr lang="en-US" altLang="zh-CN" sz="1400" dirty="0"/>
          </a:p>
          <a:p>
            <a:pPr>
              <a:buNone/>
            </a:pPr>
            <a:r>
              <a:rPr lang="en-US" altLang="zh-CN" sz="1400" dirty="0"/>
              <a:t>...</a:t>
            </a:r>
            <a:endParaRPr lang="en-US" altLang="zh-CN" sz="1400" dirty="0"/>
          </a:p>
          <a:p>
            <a:pPr>
              <a:buNone/>
            </a:pPr>
            <a:r>
              <a:rPr lang="en-US" altLang="zh-CN" sz="1400" dirty="0"/>
              <a:t>PageK -&gt; &lt;PageAk, PageBk, PageCk&gt;</a:t>
            </a:r>
            <a:endParaRPr lang="en-US" altLang="zh-CN" sz="1400" dirty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7352665" y="1295400"/>
            <a:ext cx="4267200" cy="3810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marR="0" indent="-342900" defTabSz="914400">
              <a:spcBef>
                <a:spcPct val="20000"/>
              </a:spcBef>
              <a:buClrTx/>
              <a:buSzTx/>
              <a:buFontTx/>
              <a:buNone/>
              <a:defRPr/>
            </a:pPr>
            <a:r>
              <a:rPr kumimoji="0" lang="en-US" altLang="zh-CN" sz="1700" b="1" kern="0" cap="none" spc="0" normalizeH="0" baseline="0" noProof="0" dirty="0">
                <a:latin typeface="+mn-lt"/>
                <a:ea typeface="+mn-ea"/>
                <a:cs typeface="+mn-cs"/>
              </a:rPr>
              <a:t>Reducer</a:t>
            </a:r>
            <a:r>
              <a:rPr kumimoji="0" lang="zh-CN" altLang="en-US" sz="1700" b="1" kern="0" cap="none" spc="0" normalizeH="0" baseline="0" noProof="0" dirty="0">
                <a:latin typeface="+mn-lt"/>
                <a:ea typeface="+mn-ea"/>
                <a:cs typeface="+mn-cs"/>
              </a:rPr>
              <a:t>函数的伪码：</a:t>
            </a:r>
            <a:endParaRPr kumimoji="0" lang="zh-CN" altLang="en-US" sz="1700" kern="0" cap="none" spc="0" normalizeH="0" baseline="0" noProof="0" dirty="0">
              <a:latin typeface="+mn-lt"/>
              <a:ea typeface="+mn-ea"/>
              <a:cs typeface="+mn-cs"/>
            </a:endParaRPr>
          </a:p>
          <a:p>
            <a:pPr marL="342900" marR="0" indent="-342900" defTabSz="914400">
              <a:spcBef>
                <a:spcPct val="20000"/>
              </a:spcBef>
              <a:buClrTx/>
              <a:buSzTx/>
              <a:buFontTx/>
              <a:buNone/>
              <a:defRPr/>
            </a:pPr>
            <a:r>
              <a:rPr kumimoji="0" lang="en-US" altLang="zh-CN" sz="1700" kern="0" cap="none" spc="0" normalizeH="0" baseline="0" noProof="0" dirty="0">
                <a:latin typeface="+mn-lt"/>
                <a:ea typeface="+mn-ea"/>
                <a:cs typeface="+mn-cs"/>
              </a:rPr>
              <a:t>input </a:t>
            </a:r>
            <a:r>
              <a:rPr kumimoji="0" lang="en-US" altLang="zh-CN" sz="1700" kern="0" cap="none" spc="0" normalizeH="0" baseline="0" noProof="0" dirty="0" err="1">
                <a:latin typeface="+mn-lt"/>
                <a:ea typeface="+mn-ea"/>
                <a:cs typeface="+mn-cs"/>
              </a:rPr>
              <a:t>mapper's</a:t>
            </a:r>
            <a:r>
              <a:rPr kumimoji="0" lang="en-US" altLang="zh-CN" sz="1700" kern="0" cap="none" spc="0" normalizeH="0" baseline="0" noProof="0" dirty="0">
                <a:latin typeface="+mn-lt"/>
                <a:ea typeface="+mn-ea"/>
                <a:cs typeface="+mn-cs"/>
              </a:rPr>
              <a:t> output</a:t>
            </a:r>
            <a:endParaRPr kumimoji="0" lang="en-US" altLang="zh-CN" sz="1700" kern="0" cap="none" spc="0" normalizeH="0" baseline="0" noProof="0" dirty="0">
              <a:latin typeface="+mn-lt"/>
              <a:ea typeface="+mn-ea"/>
              <a:cs typeface="+mn-cs"/>
            </a:endParaRPr>
          </a:p>
          <a:p>
            <a:pPr marL="342900" marR="0" indent="-342900" defTabSz="914400">
              <a:spcBef>
                <a:spcPct val="20000"/>
              </a:spcBef>
              <a:buClrTx/>
              <a:buSzTx/>
              <a:buFontTx/>
              <a:buNone/>
              <a:defRPr/>
            </a:pPr>
            <a:r>
              <a:rPr kumimoji="0" lang="en-US" altLang="zh-CN" sz="1700" kern="0" cap="none" spc="0" normalizeH="0" baseline="0" noProof="0" dirty="0">
                <a:latin typeface="+mn-lt"/>
                <a:ea typeface="+mn-ea"/>
                <a:cs typeface="+mn-cs"/>
              </a:rPr>
              <a:t>begin</a:t>
            </a:r>
            <a:endParaRPr kumimoji="0" lang="en-US" altLang="zh-CN" sz="1700" kern="0" cap="none" spc="0" normalizeH="0" baseline="0" noProof="0" dirty="0">
              <a:latin typeface="+mn-lt"/>
              <a:ea typeface="+mn-ea"/>
              <a:cs typeface="+mn-cs"/>
            </a:endParaRPr>
          </a:p>
          <a:p>
            <a:pPr marL="342900" marR="0" indent="-342900" defTabSz="914400">
              <a:spcBef>
                <a:spcPct val="20000"/>
              </a:spcBef>
              <a:buClrTx/>
              <a:buSzTx/>
              <a:buFontTx/>
              <a:buNone/>
              <a:defRPr/>
            </a:pPr>
            <a:r>
              <a:rPr kumimoji="0" lang="en-US" altLang="zh-CN" sz="1700" kern="0" cap="none" spc="0" normalizeH="0" baseline="0" noProof="0" dirty="0">
                <a:latin typeface="+mn-lt"/>
                <a:ea typeface="+mn-ea"/>
                <a:cs typeface="+mn-cs"/>
              </a:rPr>
              <a:t>    </a:t>
            </a:r>
            <a:r>
              <a:rPr kumimoji="0" lang="en-US" altLang="zh-CN" sz="1700" kern="0" cap="none" spc="0" normalizeH="0" baseline="0" noProof="0" dirty="0" err="1">
                <a:latin typeface="+mn-lt"/>
                <a:ea typeface="+mn-ea"/>
                <a:cs typeface="+mn-cs"/>
              </a:rPr>
              <a:t>RankK</a:t>
            </a:r>
            <a:r>
              <a:rPr kumimoji="0" lang="en-US" altLang="zh-CN" sz="1700" kern="0" cap="none" spc="0" normalizeH="0" baseline="0" noProof="0" dirty="0">
                <a:latin typeface="+mn-lt"/>
                <a:ea typeface="+mn-ea"/>
                <a:cs typeface="+mn-cs"/>
              </a:rPr>
              <a:t> :=(1-beta)/N;  //N</a:t>
            </a:r>
            <a:r>
              <a:rPr kumimoji="0" lang="zh-CN" altLang="en-US" sz="1700" kern="0" cap="none" spc="0" normalizeH="0" baseline="0" noProof="0" dirty="0">
                <a:latin typeface="+mn-lt"/>
                <a:ea typeface="+mn-ea"/>
                <a:cs typeface="+mn-cs"/>
              </a:rPr>
              <a:t>为整个网络的网页总数</a:t>
            </a:r>
            <a:endParaRPr kumimoji="0" lang="zh-CN" altLang="en-US" sz="1700" kern="0" cap="none" spc="0" normalizeH="0" baseline="0" noProof="0" dirty="0">
              <a:latin typeface="+mn-lt"/>
              <a:ea typeface="+mn-ea"/>
              <a:cs typeface="+mn-cs"/>
            </a:endParaRPr>
          </a:p>
          <a:p>
            <a:pPr marL="342900" marR="0" indent="-342900" defTabSz="914400">
              <a:spcBef>
                <a:spcPct val="20000"/>
              </a:spcBef>
              <a:buClrTx/>
              <a:buSzTx/>
              <a:buFontTx/>
              <a:buNone/>
              <a:defRPr/>
            </a:pPr>
            <a:r>
              <a:rPr kumimoji="0" lang="zh-CN" altLang="en-US" sz="1700" kern="0" cap="none" spc="0" normalizeH="0" baseline="0" noProof="0" dirty="0">
                <a:latin typeface="+mn-lt"/>
                <a:ea typeface="+mn-ea"/>
                <a:cs typeface="+mn-cs"/>
              </a:rPr>
              <a:t>    </a:t>
            </a:r>
            <a:r>
              <a:rPr kumimoji="0" lang="en-US" altLang="zh-CN" sz="1700" kern="0" cap="none" spc="0" normalizeH="0" baseline="0" noProof="0" dirty="0">
                <a:latin typeface="+mn-lt"/>
                <a:ea typeface="+mn-ea"/>
                <a:cs typeface="+mn-cs"/>
              </a:rPr>
              <a:t>for each </a:t>
            </a:r>
            <a:r>
              <a:rPr kumimoji="0" lang="en-US" altLang="zh-CN" sz="1700" kern="0" cap="none" spc="0" normalizeH="0" baseline="0" noProof="0" dirty="0" err="1">
                <a:latin typeface="+mn-lt"/>
                <a:ea typeface="+mn-ea"/>
                <a:cs typeface="+mn-cs"/>
              </a:rPr>
              <a:t>inlink</a:t>
            </a:r>
            <a:r>
              <a:rPr kumimoji="0" lang="en-US" altLang="zh-CN" sz="1700" kern="0" cap="none" spc="0" normalizeH="0" baseline="0" noProof="0" dirty="0"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1700" kern="0" cap="none" spc="0" normalizeH="0" baseline="0" noProof="0" dirty="0" err="1">
                <a:latin typeface="+mn-lt"/>
                <a:ea typeface="+mn-ea"/>
                <a:cs typeface="+mn-cs"/>
              </a:rPr>
              <a:t>PageNi</a:t>
            </a:r>
            <a:endParaRPr kumimoji="0" lang="en-US" altLang="zh-CN" sz="1700" kern="0" cap="none" spc="0" normalizeH="0" baseline="0" noProof="0" dirty="0">
              <a:latin typeface="+mn-lt"/>
              <a:ea typeface="+mn-ea"/>
              <a:cs typeface="+mn-cs"/>
            </a:endParaRPr>
          </a:p>
          <a:p>
            <a:pPr marL="342900" marR="0" indent="-342900" defTabSz="914400">
              <a:spcBef>
                <a:spcPct val="20000"/>
              </a:spcBef>
              <a:buClrTx/>
              <a:buSzTx/>
              <a:buFontTx/>
              <a:buNone/>
              <a:defRPr/>
            </a:pPr>
            <a:r>
              <a:rPr kumimoji="0" lang="en-US" altLang="zh-CN" sz="1700" kern="0" cap="none" spc="0" normalizeH="0" baseline="0" noProof="0" dirty="0">
                <a:latin typeface="+mn-lt"/>
                <a:ea typeface="+mn-ea"/>
                <a:cs typeface="+mn-cs"/>
              </a:rPr>
              <a:t>        </a:t>
            </a:r>
            <a:r>
              <a:rPr kumimoji="0" lang="en-US" altLang="zh-CN" sz="1700" kern="0" cap="none" spc="0" normalizeH="0" baseline="0" noProof="0" dirty="0" err="1">
                <a:latin typeface="+mn-lt"/>
                <a:ea typeface="+mn-ea"/>
                <a:cs typeface="+mn-cs"/>
              </a:rPr>
              <a:t>RankK</a:t>
            </a:r>
            <a:r>
              <a:rPr kumimoji="0" lang="en-US" altLang="zh-CN" sz="1700" kern="0" cap="none" spc="0" normalizeH="0" baseline="0" noProof="0" dirty="0">
                <a:latin typeface="+mn-lt"/>
                <a:ea typeface="+mn-ea"/>
                <a:cs typeface="+mn-cs"/>
              </a:rPr>
              <a:t> += </a:t>
            </a:r>
            <a:r>
              <a:rPr kumimoji="0" lang="en-US" altLang="zh-CN" sz="1700" kern="0" cap="none" spc="0" normalizeH="0" baseline="0" noProof="0" dirty="0" err="1">
                <a:latin typeface="+mn-lt"/>
                <a:ea typeface="+mn-ea"/>
                <a:cs typeface="+mn-cs"/>
              </a:rPr>
              <a:t>RankNi</a:t>
            </a:r>
            <a:r>
              <a:rPr kumimoji="0" lang="en-US" altLang="zh-CN" sz="1700" kern="0" cap="none" spc="0" normalizeH="0" baseline="0" noProof="0" dirty="0">
                <a:latin typeface="+mn-lt"/>
                <a:ea typeface="+mn-ea"/>
                <a:cs typeface="+mn-cs"/>
              </a:rPr>
              <a:t>/</a:t>
            </a:r>
            <a:r>
              <a:rPr kumimoji="0" lang="en-US" altLang="zh-CN" sz="1700" kern="0" cap="none" spc="0" normalizeH="0" baseline="0" noProof="0" dirty="0" err="1">
                <a:latin typeface="+mn-lt"/>
                <a:ea typeface="+mn-ea"/>
                <a:cs typeface="+mn-cs"/>
              </a:rPr>
              <a:t>Nni</a:t>
            </a:r>
            <a:r>
              <a:rPr kumimoji="0" lang="en-US" altLang="zh-CN" sz="1700" kern="0" cap="none" spc="0" normalizeH="0" baseline="0" noProof="0" dirty="0">
                <a:latin typeface="+mn-lt"/>
                <a:ea typeface="+mn-ea"/>
                <a:cs typeface="+mn-cs"/>
              </a:rPr>
              <a:t> * beta</a:t>
            </a:r>
            <a:endParaRPr kumimoji="0" lang="en-US" altLang="zh-CN" sz="1700" kern="0" cap="none" spc="0" normalizeH="0" baseline="0" noProof="0" dirty="0">
              <a:latin typeface="+mn-lt"/>
              <a:ea typeface="+mn-ea"/>
              <a:cs typeface="+mn-cs"/>
            </a:endParaRPr>
          </a:p>
          <a:p>
            <a:pPr marL="342900" marR="0" indent="-342900" defTabSz="914400">
              <a:spcBef>
                <a:spcPct val="20000"/>
              </a:spcBef>
              <a:buClrTx/>
              <a:buSzTx/>
              <a:buFontTx/>
              <a:buNone/>
              <a:defRPr/>
            </a:pPr>
            <a:r>
              <a:rPr kumimoji="0" lang="en-US" altLang="zh-CN" sz="1700" kern="0" cap="none" spc="0" normalizeH="0" baseline="0" noProof="0" dirty="0">
                <a:latin typeface="+mn-lt"/>
                <a:ea typeface="+mn-ea"/>
                <a:cs typeface="+mn-cs"/>
              </a:rPr>
              <a:t>    //</a:t>
            </a:r>
            <a:r>
              <a:rPr kumimoji="0" lang="zh-CN" altLang="en-US" sz="1700" kern="0" cap="none" spc="0" normalizeH="0" baseline="0" noProof="0" dirty="0">
                <a:latin typeface="+mn-lt"/>
                <a:ea typeface="+mn-ea"/>
                <a:cs typeface="+mn-cs"/>
              </a:rPr>
              <a:t>输出</a:t>
            </a:r>
            <a:r>
              <a:rPr kumimoji="0" lang="en-US" altLang="zh-CN" sz="1700" kern="0" cap="none" spc="0" normalizeH="0" baseline="0" noProof="0" dirty="0" err="1">
                <a:latin typeface="+mn-lt"/>
                <a:ea typeface="+mn-ea"/>
                <a:cs typeface="+mn-cs"/>
              </a:rPr>
              <a:t>PageK</a:t>
            </a:r>
            <a:r>
              <a:rPr kumimoji="0" lang="zh-CN" altLang="en-US" sz="1700" kern="0" cap="none" spc="0" normalizeH="0" baseline="0" noProof="0" dirty="0">
                <a:latin typeface="+mn-lt"/>
                <a:ea typeface="+mn-ea"/>
                <a:cs typeface="+mn-cs"/>
              </a:rPr>
              <a:t>及其新的</a:t>
            </a:r>
            <a:r>
              <a:rPr kumimoji="0" lang="en-US" altLang="zh-CN" sz="1700" kern="0" cap="none" spc="0" normalizeH="0" baseline="0" noProof="0" dirty="0" err="1">
                <a:latin typeface="+mn-lt"/>
                <a:ea typeface="+mn-ea"/>
                <a:cs typeface="+mn-cs"/>
              </a:rPr>
              <a:t>PageRank</a:t>
            </a:r>
            <a:r>
              <a:rPr kumimoji="0" lang="zh-CN" altLang="en-US" sz="1700" kern="0" cap="none" spc="0" normalizeH="0" baseline="0" noProof="0" dirty="0">
                <a:latin typeface="+mn-lt"/>
                <a:ea typeface="+mn-ea"/>
                <a:cs typeface="+mn-cs"/>
              </a:rPr>
              <a:t>值用于下次迭代</a:t>
            </a:r>
            <a:endParaRPr kumimoji="0" lang="zh-CN" altLang="en-US" sz="1700" kern="0" cap="none" spc="0" normalizeH="0" baseline="0" noProof="0" dirty="0">
              <a:latin typeface="+mn-lt"/>
              <a:ea typeface="+mn-ea"/>
              <a:cs typeface="+mn-cs"/>
            </a:endParaRPr>
          </a:p>
          <a:p>
            <a:pPr marL="342900" marR="0" indent="-342900" defTabSz="914400">
              <a:spcBef>
                <a:spcPct val="20000"/>
              </a:spcBef>
              <a:buClrTx/>
              <a:buSzTx/>
              <a:buFontTx/>
              <a:buNone/>
              <a:defRPr/>
            </a:pPr>
            <a:r>
              <a:rPr kumimoji="0" lang="zh-CN" altLang="en-US" sz="1700" kern="0" cap="none" spc="0" normalizeH="0" baseline="0" noProof="0" dirty="0">
                <a:latin typeface="+mn-lt"/>
                <a:ea typeface="+mn-ea"/>
                <a:cs typeface="+mn-cs"/>
              </a:rPr>
              <a:t>    </a:t>
            </a:r>
            <a:r>
              <a:rPr kumimoji="0" lang="en-US" altLang="zh-CN" sz="1700" kern="0" cap="none" spc="0" normalizeH="0" baseline="0" noProof="0" dirty="0">
                <a:latin typeface="+mn-lt"/>
                <a:ea typeface="+mn-ea"/>
                <a:cs typeface="+mn-cs"/>
              </a:rPr>
              <a:t>output &lt;</a:t>
            </a:r>
            <a:r>
              <a:rPr kumimoji="0" lang="en-US" altLang="zh-CN" sz="1700" kern="0" cap="none" spc="0" normalizeH="0" baseline="0" noProof="0" dirty="0" err="1">
                <a:latin typeface="+mn-lt"/>
                <a:ea typeface="+mn-ea"/>
                <a:cs typeface="+mn-cs"/>
              </a:rPr>
              <a:t>PageK</a:t>
            </a:r>
            <a:r>
              <a:rPr kumimoji="0" lang="en-US" altLang="zh-CN" sz="1700" kern="0" cap="none" spc="0" normalizeH="0" baseline="0" noProof="0" dirty="0">
                <a:latin typeface="+mn-lt"/>
                <a:ea typeface="+mn-ea"/>
                <a:cs typeface="+mn-cs"/>
              </a:rPr>
              <a:t>, </a:t>
            </a:r>
            <a:r>
              <a:rPr kumimoji="0" lang="en-US" altLang="zh-CN" sz="1700" kern="0" cap="none" spc="0" normalizeH="0" baseline="0" noProof="0" dirty="0" err="1">
                <a:latin typeface="+mn-lt"/>
                <a:ea typeface="+mn-ea"/>
                <a:cs typeface="+mn-cs"/>
              </a:rPr>
              <a:t>RankK</a:t>
            </a:r>
            <a:r>
              <a:rPr kumimoji="0" lang="en-US" altLang="zh-CN" sz="1700" kern="0" cap="none" spc="0" normalizeH="0" baseline="0" noProof="0" dirty="0">
                <a:latin typeface="+mn-lt"/>
                <a:ea typeface="+mn-ea"/>
                <a:cs typeface="+mn-cs"/>
              </a:rPr>
              <a:t>&gt; -&gt; &lt;</a:t>
            </a:r>
            <a:r>
              <a:rPr kumimoji="0" lang="en-US" altLang="zh-CN" sz="1700" kern="0" cap="none" spc="0" normalizeH="0" baseline="0" noProof="0" dirty="0" err="1">
                <a:latin typeface="+mn-lt"/>
                <a:ea typeface="+mn-ea"/>
                <a:cs typeface="+mn-cs"/>
              </a:rPr>
              <a:t>PageAk</a:t>
            </a:r>
            <a:r>
              <a:rPr kumimoji="0" lang="en-US" altLang="zh-CN" sz="1700" kern="0" cap="none" spc="0" normalizeH="0" baseline="0" noProof="0" dirty="0">
                <a:latin typeface="+mn-lt"/>
                <a:ea typeface="+mn-ea"/>
                <a:cs typeface="+mn-cs"/>
              </a:rPr>
              <a:t>, </a:t>
            </a:r>
            <a:r>
              <a:rPr kumimoji="0" lang="en-US" altLang="zh-CN" sz="1700" kern="0" cap="none" spc="0" normalizeH="0" baseline="0" noProof="0" dirty="0" err="1">
                <a:latin typeface="+mn-lt"/>
                <a:ea typeface="+mn-ea"/>
                <a:cs typeface="+mn-cs"/>
              </a:rPr>
              <a:t>PageBk</a:t>
            </a:r>
            <a:r>
              <a:rPr kumimoji="0" lang="en-US" altLang="zh-CN" sz="1700" kern="0" cap="none" spc="0" normalizeH="0" baseline="0" noProof="0" dirty="0">
                <a:latin typeface="+mn-lt"/>
                <a:ea typeface="+mn-ea"/>
                <a:cs typeface="+mn-cs"/>
              </a:rPr>
              <a:t>, </a:t>
            </a:r>
            <a:r>
              <a:rPr kumimoji="0" lang="en-US" altLang="zh-CN" sz="1700" kern="0" cap="none" spc="0" normalizeH="0" baseline="0" noProof="0" dirty="0" err="1">
                <a:latin typeface="+mn-lt"/>
                <a:ea typeface="+mn-ea"/>
                <a:cs typeface="+mn-cs"/>
              </a:rPr>
              <a:t>PageCk</a:t>
            </a:r>
            <a:r>
              <a:rPr kumimoji="0" lang="en-US" altLang="zh-CN" sz="1700" kern="0" cap="none" spc="0" normalizeH="0" baseline="0" noProof="0" dirty="0">
                <a:latin typeface="+mn-lt"/>
                <a:ea typeface="+mn-ea"/>
                <a:cs typeface="+mn-cs"/>
              </a:rPr>
              <a:t>...&gt; </a:t>
            </a:r>
            <a:endParaRPr kumimoji="0" lang="en-US" altLang="zh-CN" sz="1700" kern="0" cap="none" spc="0" normalizeH="0" baseline="0" noProof="0" dirty="0">
              <a:latin typeface="+mn-lt"/>
              <a:ea typeface="+mn-ea"/>
              <a:cs typeface="+mn-cs"/>
            </a:endParaRPr>
          </a:p>
          <a:p>
            <a:pPr marL="342900" marR="0" indent="-342900" defTabSz="914400">
              <a:spcBef>
                <a:spcPct val="20000"/>
              </a:spcBef>
              <a:buClrTx/>
              <a:buSzTx/>
              <a:buFontTx/>
              <a:buNone/>
              <a:defRPr/>
            </a:pPr>
            <a:r>
              <a:rPr kumimoji="0" lang="en-US" altLang="zh-CN" sz="1700" kern="0" cap="none" spc="0" normalizeH="0" baseline="0" noProof="0" dirty="0">
                <a:latin typeface="+mn-lt"/>
                <a:ea typeface="+mn-ea"/>
                <a:cs typeface="+mn-cs"/>
              </a:rPr>
              <a:t>end</a:t>
            </a:r>
            <a:endParaRPr kumimoji="0" lang="en-US" altLang="zh-CN" sz="1700" kern="0" cap="none" spc="0" normalizeH="0" baseline="0" noProof="0" dirty="0">
              <a:latin typeface="+mn-lt"/>
              <a:ea typeface="+mn-ea"/>
              <a:cs typeface="+mn-cs"/>
            </a:endParaRPr>
          </a:p>
          <a:p>
            <a:pPr marL="342900" marR="0" indent="-342900" defTabSz="914400">
              <a:spcBef>
                <a:spcPct val="20000"/>
              </a:spcBef>
              <a:buClrTx/>
              <a:buSzTx/>
              <a:buFontTx/>
              <a:buNone/>
              <a:defRPr/>
            </a:pPr>
            <a:endParaRPr kumimoji="0" lang="zh-CN" altLang="en-US" sz="1700" kern="0" cap="none" spc="0" normalizeH="0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57349" name="Rectangle 1"/>
          <p:cNvSpPr/>
          <p:nvPr/>
        </p:nvSpPr>
        <p:spPr>
          <a:xfrm>
            <a:off x="7352665" y="5105083"/>
            <a:ext cx="3962400" cy="132207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indent="266700"/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该阶段</a:t>
            </a:r>
            <a:r>
              <a:rPr lang="zh-CN" altLang="en-US" sz="2000" dirty="0">
                <a:latin typeface="宋体" panose="02010600030101010101" pitchFamily="2" charset="-122"/>
                <a:cs typeface="Times New Roman" panose="02020603050405020304" pitchFamily="18" charset="0"/>
              </a:rPr>
              <a:t>是一个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多次迭代过程，迭代多次后，当</a:t>
            </a:r>
            <a:r>
              <a:rPr lang="zh-C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PageRank</a:t>
            </a:r>
            <a:r>
              <a:rPr lang="zh-CN" altLang="en-US" sz="2000" dirty="0">
                <a:latin typeface="宋体" panose="02010600030101010101" pitchFamily="2" charset="-122"/>
                <a:cs typeface="Times New Roman" panose="02020603050405020304" pitchFamily="18" charset="0"/>
              </a:rPr>
              <a:t>值趋于稳定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时，就得出了较为精确的</a:t>
            </a:r>
            <a:r>
              <a:rPr lang="zh-C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PageRank</a:t>
            </a:r>
            <a:r>
              <a:rPr lang="zh-CN" altLang="en-US" sz="2000" dirty="0">
                <a:latin typeface="宋体" panose="02010600030101010101" pitchFamily="2" charset="-122"/>
                <a:cs typeface="Times New Roman" panose="02020603050405020304" pitchFamily="18" charset="0"/>
              </a:rPr>
              <a:t>值。</a:t>
            </a:r>
            <a:endParaRPr lang="zh-CN" altLang="en-US" sz="20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37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en-US" altLang="zh-CN" sz="4000" b="1" dirty="0"/>
              <a:t>13.7.3 PageRank</a:t>
            </a:r>
            <a:r>
              <a:rPr lang="zh-CN" altLang="en-US" sz="4000" b="1" dirty="0"/>
              <a:t>算法在</a:t>
            </a:r>
            <a:r>
              <a:rPr lang="en-US" altLang="zh-CN" sz="4000" b="1" dirty="0"/>
              <a:t>MapReduce</a:t>
            </a:r>
            <a:r>
              <a:rPr lang="zh-CN" altLang="en-US" sz="4000" b="1" dirty="0"/>
              <a:t>中的实现</a:t>
            </a:r>
            <a:endParaRPr lang="zh-CN" altLang="en-US" sz="4000" b="1" dirty="0"/>
          </a:p>
        </p:txBody>
      </p:sp>
      <p:sp>
        <p:nvSpPr>
          <p:cNvPr id="58371" name="Rectangle 3"/>
          <p:cNvSpPr>
            <a:spLocks noGrp="1"/>
          </p:cNvSpPr>
          <p:nvPr>
            <p:ph idx="1"/>
          </p:nvPr>
        </p:nvSpPr>
        <p:spPr>
          <a:xfrm>
            <a:off x="838200" y="1959610"/>
            <a:ext cx="10515600" cy="2939415"/>
          </a:xfrm>
        </p:spPr>
        <p:txBody>
          <a:bodyPr vert="horz" wrap="square" lIns="91440" tIns="45720" rIns="91440" bIns="45720" anchor="t" anchorCtr="0">
            <a:normAutofit lnSpcReduction="10000"/>
          </a:bodyPr>
          <a:p>
            <a:pPr>
              <a:lnSpc>
                <a:spcPct val="120000"/>
              </a:lnSpc>
            </a:pPr>
            <a:r>
              <a:rPr lang="zh-CN" altLang="en-US" sz="2400" dirty="0"/>
              <a:t>该阶段的任务就是由一个非并行组件决定是否达到收敛，如果达到收敛，就写出</a:t>
            </a:r>
            <a:r>
              <a:rPr lang="en-US" altLang="zh-CN" sz="2400" dirty="0"/>
              <a:t>PageRank</a:t>
            </a:r>
            <a:r>
              <a:rPr lang="zh-CN" altLang="en-US" sz="2400" dirty="0"/>
              <a:t>生成的列表。否则，回退到</a:t>
            </a:r>
            <a:r>
              <a:rPr lang="en-US" altLang="zh-CN" sz="2400" dirty="0"/>
              <a:t>PageRank</a:t>
            </a:r>
            <a:r>
              <a:rPr lang="zh-CN" altLang="en-US" sz="2400" dirty="0"/>
              <a:t>分配阶段的输出，作为新一轮迭代的输入，开始新一轮</a:t>
            </a:r>
            <a:r>
              <a:rPr lang="en-US" altLang="zh-CN" sz="2400" dirty="0"/>
              <a:t>PageRank</a:t>
            </a:r>
            <a:r>
              <a:rPr lang="zh-CN" altLang="en-US" sz="2400" dirty="0"/>
              <a:t>分配阶段的迭代</a:t>
            </a:r>
            <a:endParaRPr lang="zh-CN" altLang="en-US" sz="2400" dirty="0"/>
          </a:p>
          <a:p>
            <a:pPr>
              <a:lnSpc>
                <a:spcPct val="120000"/>
              </a:lnSpc>
            </a:pPr>
            <a:endParaRPr lang="en-US" altLang="zh-CN" sz="2400" dirty="0"/>
          </a:p>
          <a:p>
            <a:pPr>
              <a:lnSpc>
                <a:spcPct val="120000"/>
              </a:lnSpc>
            </a:pPr>
            <a:r>
              <a:rPr lang="zh-CN" altLang="en-US" sz="2400" dirty="0"/>
              <a:t>一般判断是否收敛的条件是所有网页的</a:t>
            </a:r>
            <a:r>
              <a:rPr lang="en-US" altLang="zh-CN" sz="2400" dirty="0"/>
              <a:t>PageRank</a:t>
            </a:r>
            <a:r>
              <a:rPr lang="zh-CN" altLang="en-US" sz="2400" dirty="0"/>
              <a:t>值不再变化，或者运行</a:t>
            </a:r>
            <a:r>
              <a:rPr lang="en-US" altLang="zh-CN" sz="2400" dirty="0"/>
              <a:t>30</a:t>
            </a:r>
            <a:r>
              <a:rPr lang="zh-CN" altLang="en-US" sz="2400" dirty="0"/>
              <a:t>次以后我们就认为已经收敛了</a:t>
            </a:r>
            <a:endParaRPr lang="zh-CN" altLang="en-US" sz="2400" dirty="0"/>
          </a:p>
        </p:txBody>
      </p:sp>
      <p:sp>
        <p:nvSpPr>
          <p:cNvPr id="58372" name="Rectangle 4"/>
          <p:cNvSpPr/>
          <p:nvPr/>
        </p:nvSpPr>
        <p:spPr>
          <a:xfrm>
            <a:off x="943610" y="1354615"/>
            <a:ext cx="282448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r>
              <a:rPr lang="en-US" altLang="zh-CN" sz="2400" b="1" dirty="0">
                <a:latin typeface="Arial" panose="020B0604020202020204" pitchFamily="34" charset="0"/>
              </a:rPr>
              <a:t>3. </a:t>
            </a:r>
            <a:r>
              <a:rPr lang="zh-CN" altLang="en-US" sz="2400" b="1" dirty="0">
                <a:latin typeface="Arial" panose="020B0604020202020204" pitchFamily="34" charset="0"/>
              </a:rPr>
              <a:t>阶段</a:t>
            </a:r>
            <a:r>
              <a:rPr lang="en-US" altLang="zh-CN" sz="2400" b="1" dirty="0">
                <a:latin typeface="Arial" panose="020B0604020202020204" pitchFamily="34" charset="0"/>
              </a:rPr>
              <a:t>3</a:t>
            </a:r>
            <a:r>
              <a:rPr lang="zh-CN" altLang="en-US" sz="2400" b="1" dirty="0">
                <a:latin typeface="Arial" panose="020B0604020202020204" pitchFamily="34" charset="0"/>
              </a:rPr>
              <a:t>：收敛阶段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394" name="内容占位符 1"/>
          <p:cNvSpPr>
            <a:spLocks noGrp="1"/>
          </p:cNvSpPr>
          <p:nvPr>
            <p:ph idx="1"/>
          </p:nvPr>
        </p:nvSpPr>
        <p:spPr>
          <a:xfrm>
            <a:off x="838200" y="1691005"/>
            <a:ext cx="10515600" cy="4664710"/>
          </a:xfrm>
        </p:spPr>
        <p:txBody>
          <a:bodyPr vert="horz" wrap="square" lIns="91440" tIns="45720" rIns="91440" bIns="45720" anchor="t" anchorCtr="0">
            <a:noAutofit/>
          </a:bodyPr>
          <a:p>
            <a:pPr marL="0" indent="0">
              <a:buNone/>
            </a:pPr>
            <a:r>
              <a:rPr lang="zh-CN" altLang="en-US" sz="2400" dirty="0"/>
              <a:t>区别主要表现在以下几个方面：</a:t>
            </a:r>
            <a:endParaRPr lang="zh-CN" altLang="en-US" sz="24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/>
              <a:t>（</a:t>
            </a:r>
            <a:r>
              <a:rPr lang="en-US" altLang="zh-CN" sz="2400" dirty="0"/>
              <a:t>1</a:t>
            </a:r>
            <a:r>
              <a:rPr lang="zh-CN" altLang="en-US" sz="2400" dirty="0"/>
              <a:t>）</a:t>
            </a:r>
            <a:r>
              <a:rPr lang="en-US" altLang="zh-CN" sz="2400" dirty="0"/>
              <a:t>Pregel</a:t>
            </a:r>
            <a:r>
              <a:rPr lang="zh-CN" altLang="en-US" sz="2400" dirty="0"/>
              <a:t>将</a:t>
            </a:r>
            <a:r>
              <a:rPr lang="en-US" altLang="zh-CN" sz="2400" dirty="0"/>
              <a:t>PageRank</a:t>
            </a:r>
            <a:r>
              <a:rPr lang="zh-CN" altLang="en-US" sz="2400" dirty="0"/>
              <a:t>处理对象看成连通图，而</a:t>
            </a:r>
            <a:r>
              <a:rPr lang="en-US" altLang="zh-CN" sz="2400" dirty="0"/>
              <a:t>MapReduce</a:t>
            </a:r>
            <a:r>
              <a:rPr lang="zh-CN" altLang="en-US" sz="2400" dirty="0"/>
              <a:t>则看成键值对</a:t>
            </a:r>
            <a:endParaRPr lang="zh-CN" altLang="en-US" sz="24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/>
              <a:t>（</a:t>
            </a:r>
            <a:r>
              <a:rPr lang="en-US" altLang="zh-CN" sz="2400" dirty="0"/>
              <a:t>2</a:t>
            </a:r>
            <a:r>
              <a:rPr lang="zh-CN" altLang="en-US" sz="2400" dirty="0"/>
              <a:t>）</a:t>
            </a:r>
            <a:r>
              <a:rPr lang="en-US" altLang="zh-CN" sz="2400" dirty="0"/>
              <a:t>Pregel</a:t>
            </a:r>
            <a:r>
              <a:rPr lang="zh-CN" altLang="en-US" sz="2400" dirty="0"/>
              <a:t>将计算细化到顶点，同时在顶点内控制循环迭代次数，而</a:t>
            </a:r>
            <a:r>
              <a:rPr lang="en-US" altLang="zh-CN" sz="2400" dirty="0"/>
              <a:t>MapReduce</a:t>
            </a:r>
            <a:r>
              <a:rPr lang="zh-CN" altLang="en-US" sz="2400" dirty="0"/>
              <a:t>则将计算批量化处理，按任务进行循环迭代控制</a:t>
            </a:r>
            <a:endParaRPr lang="zh-CN" altLang="en-US" sz="24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/>
              <a:t>（</a:t>
            </a:r>
            <a:r>
              <a:rPr lang="en-US" altLang="zh-CN" sz="2400" dirty="0"/>
              <a:t>3</a:t>
            </a:r>
            <a:r>
              <a:rPr lang="zh-CN" altLang="en-US" sz="2400" dirty="0"/>
              <a:t>）图算法如果用</a:t>
            </a:r>
            <a:r>
              <a:rPr lang="en-US" altLang="zh-CN" sz="2400" dirty="0"/>
              <a:t>MapReduce</a:t>
            </a:r>
            <a:r>
              <a:rPr lang="zh-CN" altLang="en-US" sz="2400" dirty="0"/>
              <a:t>实现，需要一系列的</a:t>
            </a:r>
            <a:r>
              <a:rPr lang="en-US" altLang="zh-CN" sz="2400" dirty="0"/>
              <a:t>MapReduce</a:t>
            </a:r>
            <a:r>
              <a:rPr lang="zh-CN" altLang="en-US" sz="2400" dirty="0"/>
              <a:t>的调用。从一个阶段到下一个阶段，它需要传递整个图的状态，会产生大量不必要的序列化和反序列化开销。而</a:t>
            </a:r>
            <a:r>
              <a:rPr lang="en-US" altLang="zh-CN" sz="2400" dirty="0"/>
              <a:t>Pregel</a:t>
            </a:r>
            <a:r>
              <a:rPr lang="zh-CN" altLang="en-US" sz="2400" dirty="0"/>
              <a:t>使用超步简化了这个过程</a:t>
            </a:r>
            <a:endParaRPr lang="zh-CN" altLang="en-US" sz="2400" dirty="0"/>
          </a:p>
        </p:txBody>
      </p:sp>
      <p:sp>
        <p:nvSpPr>
          <p:cNvPr id="59395" name="标题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en-US" altLang="zh-CN" sz="3200" b="1" dirty="0"/>
              <a:t>13.7.4 PageRank</a:t>
            </a:r>
            <a:r>
              <a:rPr lang="zh-CN" altLang="en-US" sz="3200" b="1" dirty="0"/>
              <a:t>算法在</a:t>
            </a:r>
            <a:r>
              <a:rPr lang="en-US" altLang="zh-CN" sz="3200" b="1" dirty="0"/>
              <a:t>Pregel</a:t>
            </a:r>
            <a:r>
              <a:rPr lang="zh-CN" altLang="en-US" sz="3200" b="1" dirty="0"/>
              <a:t>和</a:t>
            </a:r>
            <a:r>
              <a:rPr lang="en-US" altLang="zh-CN" sz="3200" b="1" dirty="0"/>
              <a:t>MapReduce</a:t>
            </a:r>
            <a:r>
              <a:rPr lang="zh-CN" altLang="en-US" sz="3200" b="1" dirty="0"/>
              <a:t>中实现的比较</a:t>
            </a:r>
            <a:endParaRPr lang="zh-CN" altLang="en-US" sz="3200" b="1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041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zh-CN" altLang="en-US" b="1" dirty="0"/>
              <a:t>本章小结</a:t>
            </a:r>
            <a:endParaRPr lang="zh-CN" altLang="en-US" b="1" dirty="0"/>
          </a:p>
        </p:txBody>
      </p:sp>
      <p:sp>
        <p:nvSpPr>
          <p:cNvPr id="60419" name="Rectangle 3"/>
          <p:cNvSpPr>
            <a:spLocks noGrp="1"/>
          </p:cNvSpPr>
          <p:nvPr>
            <p:ph idx="1"/>
          </p:nvPr>
        </p:nvSpPr>
        <p:spPr>
          <a:xfrm>
            <a:off x="838200" y="1570990"/>
            <a:ext cx="10681335" cy="4734560"/>
          </a:xfrm>
        </p:spPr>
        <p:txBody>
          <a:bodyPr vert="horz" wrap="square" lIns="91440" tIns="45720" rIns="91440" bIns="45720" anchor="t" anchorCtr="0">
            <a:noAutofit/>
          </a:bodyPr>
          <a:p>
            <a:pPr>
              <a:lnSpc>
                <a:spcPct val="100000"/>
              </a:lnSpc>
            </a:pPr>
            <a:r>
              <a:rPr lang="zh-CN" altLang="en-US" sz="2000" dirty="0"/>
              <a:t>介绍了图计算框架</a:t>
            </a:r>
            <a:r>
              <a:rPr lang="en-US" altLang="zh-CN" sz="2000" dirty="0"/>
              <a:t>Pregel</a:t>
            </a:r>
            <a:r>
              <a:rPr lang="zh-CN" altLang="en-US" sz="2000" dirty="0"/>
              <a:t>的相关知识。传统的图计算解决方案无法解决大型的图计算问题，包括</a:t>
            </a:r>
            <a:r>
              <a:rPr lang="en-US" altLang="zh-CN" sz="2000" dirty="0"/>
              <a:t>Pregel</a:t>
            </a:r>
            <a:r>
              <a:rPr lang="zh-CN" altLang="en-US" sz="2000" dirty="0"/>
              <a:t>在内的各种图计算框架脱颖而出。</a:t>
            </a:r>
            <a:endParaRPr lang="zh-CN" altLang="en-US" sz="2000" dirty="0"/>
          </a:p>
          <a:p>
            <a:pPr>
              <a:lnSpc>
                <a:spcPct val="100000"/>
              </a:lnSpc>
            </a:pPr>
            <a:r>
              <a:rPr lang="en-US" altLang="zh-CN" sz="2000" dirty="0"/>
              <a:t>Pregel</a:t>
            </a:r>
            <a:r>
              <a:rPr lang="zh-CN" altLang="en-US" sz="2000" dirty="0"/>
              <a:t>并没有采用远程数据读取或者共享内存的方式，而是采用了纯消息传递模型，来实现不同顶点之间的信息交换。</a:t>
            </a:r>
            <a:r>
              <a:rPr lang="en-US" altLang="zh-CN" sz="2000" dirty="0"/>
              <a:t>Pregel</a:t>
            </a:r>
            <a:r>
              <a:rPr lang="zh-CN" altLang="en-US" sz="2000" dirty="0"/>
              <a:t>的计算过程是由一系列被称为“超步”的迭代组成的，每次迭代对应了</a:t>
            </a:r>
            <a:r>
              <a:rPr lang="en-US" altLang="zh-CN" sz="2000" dirty="0"/>
              <a:t>BSP</a:t>
            </a:r>
            <a:r>
              <a:rPr lang="zh-CN" altLang="en-US" sz="2000" dirty="0"/>
              <a:t>模型中的一个超步。</a:t>
            </a:r>
            <a:endParaRPr lang="zh-CN" altLang="en-US" sz="2000" dirty="0"/>
          </a:p>
          <a:p>
            <a:pPr>
              <a:lnSpc>
                <a:spcPct val="100000"/>
              </a:lnSpc>
            </a:pPr>
            <a:r>
              <a:rPr lang="en-US" altLang="zh-CN" sz="2000" dirty="0"/>
              <a:t>Pregel</a:t>
            </a:r>
            <a:r>
              <a:rPr lang="zh-CN" altLang="en-US" sz="2000" dirty="0"/>
              <a:t>已经预先定义好一个基类</a:t>
            </a:r>
            <a:r>
              <a:rPr lang="en-US" altLang="zh-CN" sz="2000" dirty="0"/>
              <a:t>——Vertex</a:t>
            </a:r>
            <a:r>
              <a:rPr lang="zh-CN" altLang="en-US" sz="2000" dirty="0"/>
              <a:t>类，编写</a:t>
            </a:r>
            <a:r>
              <a:rPr lang="en-US" altLang="zh-CN" sz="2000" dirty="0"/>
              <a:t>Pregel</a:t>
            </a:r>
            <a:r>
              <a:rPr lang="zh-CN" altLang="en-US" sz="2000" dirty="0"/>
              <a:t>程序时，需要继承</a:t>
            </a:r>
            <a:r>
              <a:rPr lang="en-US" altLang="zh-CN" sz="2000" dirty="0"/>
              <a:t>Vertex</a:t>
            </a:r>
            <a:r>
              <a:rPr lang="zh-CN" altLang="en-US" sz="2000" dirty="0"/>
              <a:t>类，并且覆写</a:t>
            </a:r>
            <a:r>
              <a:rPr lang="en-US" altLang="zh-CN" sz="2000" dirty="0"/>
              <a:t>Vertex</a:t>
            </a:r>
            <a:r>
              <a:rPr lang="zh-CN" altLang="en-US" sz="2000" dirty="0"/>
              <a:t>类的虚函数</a:t>
            </a:r>
            <a:r>
              <a:rPr lang="en-US" altLang="zh-CN" sz="2000" dirty="0"/>
              <a:t>Compute()</a:t>
            </a:r>
            <a:r>
              <a:rPr lang="zh-CN" altLang="en-US" sz="2000" dirty="0"/>
              <a:t>。在</a:t>
            </a:r>
            <a:r>
              <a:rPr lang="en-US" altLang="zh-CN" sz="2000" dirty="0"/>
              <a:t>Pregel</a:t>
            </a:r>
            <a:r>
              <a:rPr lang="zh-CN" altLang="en-US" sz="2000" dirty="0"/>
              <a:t>执行计算过程时，在每个超步中都会并行调用每个顶点上定义的</a:t>
            </a:r>
            <a:r>
              <a:rPr lang="en-US" altLang="zh-CN" sz="2000" dirty="0"/>
              <a:t>Compute()</a:t>
            </a:r>
            <a:r>
              <a:rPr lang="zh-CN" altLang="en-US" sz="2000" dirty="0"/>
              <a:t>函数。</a:t>
            </a:r>
            <a:endParaRPr lang="zh-CN" altLang="en-US" sz="2000" dirty="0"/>
          </a:p>
          <a:p>
            <a:pPr>
              <a:lnSpc>
                <a:spcPct val="100000"/>
              </a:lnSpc>
            </a:pPr>
            <a:r>
              <a:rPr lang="en-US" altLang="zh-CN" sz="2000" dirty="0"/>
              <a:t>Pregel</a:t>
            </a:r>
            <a:r>
              <a:rPr lang="zh-CN" altLang="en-US" sz="2000" dirty="0"/>
              <a:t>是为执行大规模图计算而设计的，通常运行在由多台廉价服务器构成的集群上。一个图计算任务会被分解到多台机器上同时执行，</a:t>
            </a:r>
            <a:r>
              <a:rPr lang="en-US" altLang="zh-CN" sz="2000" dirty="0"/>
              <a:t>Pregel</a:t>
            </a:r>
            <a:r>
              <a:rPr lang="zh-CN" altLang="en-US" sz="2000" dirty="0"/>
              <a:t>采用检查点机制来实现容错。</a:t>
            </a:r>
            <a:endParaRPr lang="zh-CN" altLang="en-US" sz="2000" dirty="0"/>
          </a:p>
          <a:p>
            <a:pPr>
              <a:lnSpc>
                <a:spcPct val="100000"/>
              </a:lnSpc>
            </a:pPr>
            <a:r>
              <a:rPr lang="en-US" altLang="zh-CN" sz="2000" dirty="0"/>
              <a:t>Pregel</a:t>
            </a:r>
            <a:r>
              <a:rPr lang="zh-CN" altLang="en-US" sz="2000" dirty="0"/>
              <a:t>作为分布式图计算的计算框架，主要用于图遍历、最短路径、</a:t>
            </a:r>
            <a:r>
              <a:rPr lang="en-US" altLang="zh-CN" sz="2000" dirty="0"/>
              <a:t>PageRank</a:t>
            </a:r>
            <a:r>
              <a:rPr lang="zh-CN" altLang="en-US" sz="2000" dirty="0"/>
              <a:t>计算等等。</a:t>
            </a:r>
            <a:endParaRPr lang="zh-CN" altLang="en-US" sz="2000" dirty="0"/>
          </a:p>
          <a:p>
            <a:pPr>
              <a:lnSpc>
                <a:spcPct val="100000"/>
              </a:lnSpc>
            </a:pPr>
            <a:r>
              <a:rPr lang="zh-CN" altLang="en-US" sz="2000" dirty="0"/>
              <a:t>通过对</a:t>
            </a:r>
            <a:r>
              <a:rPr lang="en-US" altLang="zh-CN" sz="2000" dirty="0"/>
              <a:t>PageRank</a:t>
            </a:r>
            <a:r>
              <a:rPr lang="zh-CN" altLang="en-US" sz="2000" dirty="0"/>
              <a:t>算法在</a:t>
            </a:r>
            <a:r>
              <a:rPr lang="en-US" altLang="zh-CN" sz="2000" dirty="0"/>
              <a:t>MapReduce</a:t>
            </a:r>
            <a:r>
              <a:rPr lang="zh-CN" altLang="en-US" sz="2000" dirty="0"/>
              <a:t>和</a:t>
            </a:r>
            <a:r>
              <a:rPr lang="en-US" altLang="zh-CN" sz="2000" dirty="0"/>
              <a:t>Pregel</a:t>
            </a:r>
            <a:r>
              <a:rPr lang="zh-CN" altLang="en-US" sz="2000" dirty="0"/>
              <a:t>上执行方式的不同进行比较，说明了</a:t>
            </a:r>
            <a:r>
              <a:rPr lang="en-US" altLang="zh-CN" sz="2000" dirty="0"/>
              <a:t>Pregel</a:t>
            </a:r>
            <a:r>
              <a:rPr lang="zh-CN" altLang="en-US" sz="2000" dirty="0"/>
              <a:t>解决图计算问题的优势。</a:t>
            </a:r>
            <a:endParaRPr lang="zh-CN" altLang="en-US" sz="20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TABLE_ENDDRAG_ORIGIN_RECT" val="760*346"/>
  <p:tag name="TABLE_ENDDRAG_RECT" val="61*150*760*346"/>
</p:tagLst>
</file>

<file path=ppt/tags/tag7.xml><?xml version="1.0" encoding="utf-8"?>
<p:tagLst xmlns:p="http://schemas.openxmlformats.org/presentationml/2006/main">
  <p:tag name="KSO_WM_UNIT_TABLE_BEAUTIFY" val="smartTable{670d203d-4b90-4285-b100-3fee738c96f9}"/>
</p:tagLst>
</file>

<file path=ppt/tags/tag8.xml><?xml version="1.0" encoding="utf-8"?>
<p:tagLst xmlns:p="http://schemas.openxmlformats.org/presentationml/2006/main">
  <p:tag name="KSO_WM_UNIT_TABLE_BEAUTIFY" val="smartTable{06187876-ffcd-43f0-8ffc-69afd846aa60}"/>
</p:tagLst>
</file>

<file path=ppt/tags/tag9.xml><?xml version="1.0" encoding="utf-8"?>
<p:tagLst xmlns:p="http://schemas.openxmlformats.org/presentationml/2006/main">
  <p:tag name="KSO_WM_BEAUTIFY_FLAG" val=""/>
  <p:tag name="KSO_WM_UNIT_TABLE_BEAUTIFY" val="smartTable{e3add51f-b8b5-40d2-b678-bf9a66ab585b}"/>
  <p:tag name="TABLE_ENDDRAG_ORIGIN_RECT" val="305*95"/>
  <p:tag name="TABLE_ENDDRAG_RECT" val="419*422*305*95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RAINPROBLEM" val="ProblemBody"/>
</p:tagLst>
</file>

<file path=ppt/tags/tag12.xml><?xml version="1.0" encoding="utf-8"?>
<p:tagLst xmlns:p="http://schemas.openxmlformats.org/presentationml/2006/main">
  <p:tag name="RAINPROBLEM" val="ProblemSubmit"/>
  <p:tag name="RAINPROBLEMTYPE" val="FillBlank"/>
</p:tagLst>
</file>

<file path=ppt/tags/tag13.xml><?xml version="1.0" encoding="utf-8"?>
<p:tagLst xmlns:p="http://schemas.openxmlformats.org/presentationml/2006/main">
  <p:tag name="RAINPROBLEMTYPE" val="ProblemTypeMarker"/>
</p:tagLst>
</file>

<file path=ppt/tags/tag14.xml><?xml version="1.0" encoding="utf-8"?>
<p:tagLst xmlns:p="http://schemas.openxmlformats.org/presentationml/2006/main">
  <p:tag name="RAINPROBLEMTYPE" val="ProblemTypeMarker"/>
</p:tagLst>
</file>

<file path=ppt/tags/tag15.xml><?xml version="1.0" encoding="utf-8"?>
<p:tagLst xmlns:p="http://schemas.openxmlformats.org/presentationml/2006/main">
  <p:tag name="RAINPROBLEMTYPE" val="ProblemTypeMarker"/>
</p:tagLst>
</file>

<file path=ppt/tags/tag16.xml><?xml version="1.0" encoding="utf-8"?>
<p:tagLst xmlns:p="http://schemas.openxmlformats.org/presentationml/2006/main">
  <p:tag name="RAINPROBLEMTYPE" val="ProblemTypeMarker"/>
</p:tagLst>
</file>

<file path=ppt/tags/tag17.xml><?xml version="1.0" encoding="utf-8"?>
<p:tagLst xmlns:p="http://schemas.openxmlformats.org/presentationml/2006/main">
  <p:tag name="RAINPROBLEMTYPE" val="ProblemTypeMarker"/>
</p:tagLst>
</file>

<file path=ppt/tags/tag18.xml><?xml version="1.0" encoding="utf-8"?>
<p:tagLst xmlns:p="http://schemas.openxmlformats.org/presentationml/2006/main">
  <p:tag name="RAINPROBLEM" val="ProblemSetting"/>
  <p:tag name="RAINPROBLEMTYPE" val="FillBlank"/>
</p:tagLst>
</file>

<file path=ppt/tags/tag19.xml><?xml version="1.0" encoding="utf-8"?>
<p:tagLst xmlns:p="http://schemas.openxmlformats.org/presentationml/2006/main">
  <p:tag name="RAINPROBLEM" val="FillBlank"/>
  <p:tag name="PROBLEMSCORE" val="3.0"/>
  <p:tag name="PROBLEMBLANK" val="[{&quot;num&quot;:1,&quot;caseSensitive&quot;:false,&quot;fuzzyMatch&quot;:false,&quot;Score&quot;:1.0,&quot;answers&quot;:[&quot;3&quot;]},{&quot;num&quot;:2,&quot;caseSensitive&quot;:false,&quot;fuzzyMatch&quot;:false,&quot;Score&quot;:1.0,&quot;answers&quot;:[&quot;70&quot;]},{&quot;num&quot;:3,&quot;caseSensitive&quot;:false,&quot;fuzzyMatch&quot;:false,&quot;Score&quot;:1.0,&quot;answers&quot;:[&quot;1&quot;]}]"/>
  <p:tag name="PROBLEMBLANKKEYWORD" val="填空"/>
</p:tagLst>
</file>

<file path=ppt/tags/tag20.xml><?xml version="1.0" encoding="utf-8"?>
<p:tagLst xmlns:p="http://schemas.openxmlformats.org/presentationml/2006/main">
  <p:tag name="RAINPROBLEM" val="ProblemBody"/>
</p:tagLst>
</file>

<file path=ppt/tags/tag21.xml><?xml version="1.0" encoding="utf-8"?>
<p:tagLst xmlns:p="http://schemas.openxmlformats.org/presentationml/2006/main">
  <p:tag name="RAINPROBLEM" val="ProblemItem"/>
</p:tagLst>
</file>

<file path=ppt/tags/tag22.xml><?xml version="1.0" encoding="utf-8"?>
<p:tagLst xmlns:p="http://schemas.openxmlformats.org/presentationml/2006/main">
  <p:tag name="RAINPROBLEM" val="ProblemItem"/>
</p:tagLst>
</file>

<file path=ppt/tags/tag23.xml><?xml version="1.0" encoding="utf-8"?>
<p:tagLst xmlns:p="http://schemas.openxmlformats.org/presentationml/2006/main">
  <p:tag name="RAINPROBLEM" val="ProblemItem"/>
</p:tagLst>
</file>

<file path=ppt/tags/tag24.xml><?xml version="1.0" encoding="utf-8"?>
<p:tagLst xmlns:p="http://schemas.openxmlformats.org/presentationml/2006/main">
  <p:tag name="RAINPROBLEM" val="ProblemItem"/>
</p:tagLst>
</file>

<file path=ppt/tags/tag25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7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8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29.xml><?xml version="1.0" encoding="utf-8"?>
<p:tagLst xmlns:p="http://schemas.openxmlformats.org/presentationml/2006/main">
  <p:tag name="RAINPROBLEM" val="ProblemSubmit"/>
  <p:tag name="RAINPROBLEMTYPE" val="MultipleChoice"/>
</p:tagLst>
</file>

<file path=ppt/tags/tag30.xml><?xml version="1.0" encoding="utf-8"?>
<p:tagLst xmlns:p="http://schemas.openxmlformats.org/presentationml/2006/main">
  <p:tag name="RAINPROBLEMTYPE" val="ProblemTypeMarker"/>
</p:tagLst>
</file>

<file path=ppt/tags/tag31.xml><?xml version="1.0" encoding="utf-8"?>
<p:tagLst xmlns:p="http://schemas.openxmlformats.org/presentationml/2006/main">
  <p:tag name="RAINPROBLEMTYPE" val="ProblemTypeMarker"/>
</p:tagLst>
</file>

<file path=ppt/tags/tag32.xml><?xml version="1.0" encoding="utf-8"?>
<p:tagLst xmlns:p="http://schemas.openxmlformats.org/presentationml/2006/main">
  <p:tag name="RAINPROBLEMTYPE" val="ProblemTypeMarker"/>
</p:tagLst>
</file>

<file path=ppt/tags/tag33.xml><?xml version="1.0" encoding="utf-8"?>
<p:tagLst xmlns:p="http://schemas.openxmlformats.org/presentationml/2006/main">
  <p:tag name="RAINPROBLEMTYPE" val="ProblemTypeMarker"/>
</p:tagLst>
</file>

<file path=ppt/tags/tag34.xml><?xml version="1.0" encoding="utf-8"?>
<p:tagLst xmlns:p="http://schemas.openxmlformats.org/presentationml/2006/main">
  <p:tag name="RAINPROBLEMTYPE" val="ProblemTypeMarker"/>
</p:tagLst>
</file>

<file path=ppt/tags/tag35.xml><?xml version="1.0" encoding="utf-8"?>
<p:tagLst xmlns:p="http://schemas.openxmlformats.org/presentationml/2006/main">
  <p:tag name="RAINPROBLEM" val="ProblemSetting"/>
  <p:tag name="RAINPROBLEMTYPE" val="MultipleChoice"/>
</p:tagLst>
</file>

<file path=ppt/tags/tag36.xml><?xml version="1.0" encoding="utf-8"?>
<p:tagLst xmlns:p="http://schemas.openxmlformats.org/presentationml/2006/main">
  <p:tag name="RAINPROBLEM" val="MultipleChoice"/>
  <p:tag name="PROBLEMSCORE" val="1.0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TABLE_ENDDRAG_ORIGIN_RECT" val="828*417"/>
  <p:tag name="TABLE_ENDDRAG_RECT" val="79*106*828*417"/>
</p:tagLst>
</file>

<file path=ppt/tags/tag52.xml><?xml version="1.0" encoding="utf-8"?>
<p:tagLst xmlns:p="http://schemas.openxmlformats.org/presentationml/2006/main">
  <p:tag name="KSO_WPP_MARK_KEY" val="b6b11f8e-c8aa-4790-a55d-ceede10e912b"/>
  <p:tag name="COMMONDATA" val="eyJoZGlkIjoiOTRkNmFmZjRjMzI3MTQ3ZWFlYjhlZWM3YzFkOWNmNTM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13242</Words>
  <Application>WPS 演示</Application>
  <PresentationFormat>宽屏</PresentationFormat>
  <Paragraphs>958</Paragraphs>
  <Slides>59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59</vt:i4>
      </vt:variant>
    </vt:vector>
  </HeadingPairs>
  <TitlesOfParts>
    <vt:vector size="76" baseType="lpstr">
      <vt:lpstr>Arial</vt:lpstr>
      <vt:lpstr>宋体</vt:lpstr>
      <vt:lpstr>Wingdings</vt:lpstr>
      <vt:lpstr>黑体</vt:lpstr>
      <vt:lpstr>等线</vt:lpstr>
      <vt:lpstr>微软雅黑</vt:lpstr>
      <vt:lpstr>Arial Unicode MS</vt:lpstr>
      <vt:lpstr>等线 Light</vt:lpstr>
      <vt:lpstr>Cambria Math</vt:lpstr>
      <vt:lpstr>Times New Roman</vt:lpstr>
      <vt:lpstr>Symbol</vt:lpstr>
      <vt:lpstr>Verdana</vt:lpstr>
      <vt:lpstr>MS Mincho</vt:lpstr>
      <vt:lpstr>Calibri</vt:lpstr>
      <vt:lpstr>Segoe Print</vt:lpstr>
      <vt:lpstr>Wingdings</vt:lpstr>
      <vt:lpstr>Office 主题​​</vt:lpstr>
      <vt:lpstr>第13章	图计算</vt:lpstr>
      <vt:lpstr>第13章	图计算</vt:lpstr>
      <vt:lpstr>13.1	图计算简介</vt:lpstr>
      <vt:lpstr>13.1.1	传统图计算解决方案的不足之处</vt:lpstr>
      <vt:lpstr>13.1.1	传统图计算解决方案的不足之处</vt:lpstr>
      <vt:lpstr>13.1.2  图计算通用软件</vt:lpstr>
      <vt:lpstr>13.1.2	图计算通用软件</vt:lpstr>
      <vt:lpstr>13.1.2	图计算通用软件</vt:lpstr>
      <vt:lpstr>13.2	Pregel简介</vt:lpstr>
      <vt:lpstr>13.3	Pregel图计算模型</vt:lpstr>
      <vt:lpstr>13.3.1	有向图和顶点</vt:lpstr>
      <vt:lpstr>13.3.2	顶点之间的消息传递</vt:lpstr>
      <vt:lpstr>13.3.3	Pregel的计算过程</vt:lpstr>
      <vt:lpstr>13.3.3	Pregel的计算过程</vt:lpstr>
      <vt:lpstr>13.3.4	Pregel计算过程实例</vt:lpstr>
      <vt:lpstr>13.4	Pregel的C++ API</vt:lpstr>
      <vt:lpstr>13.4	Pregel的C++ API</vt:lpstr>
      <vt:lpstr>13.4.1	消息传递机制</vt:lpstr>
      <vt:lpstr>13.4.2	Combiner</vt:lpstr>
      <vt:lpstr>13.4.3	Aggregator</vt:lpstr>
      <vt:lpstr>13.4.4	拓扑改变</vt:lpstr>
      <vt:lpstr>13.4.4	拓扑改变</vt:lpstr>
      <vt:lpstr>13.4.5	输入和输出</vt:lpstr>
      <vt:lpstr>13.5	Pregel的体系结构</vt:lpstr>
      <vt:lpstr>13.5.1	Pregel的执行过程</vt:lpstr>
      <vt:lpstr>13.5.1	Pregel的执行过程</vt:lpstr>
      <vt:lpstr>13.5.1	Pregel的执行过程</vt:lpstr>
      <vt:lpstr>13.5.1	Pregel的执行过程</vt:lpstr>
      <vt:lpstr>13.5.2	容错性</vt:lpstr>
      <vt:lpstr>13.5.3	Worker</vt:lpstr>
      <vt:lpstr>13.5.3	Worker</vt:lpstr>
      <vt:lpstr>13.5.3	Worker</vt:lpstr>
      <vt:lpstr>13.5.4	Master</vt:lpstr>
      <vt:lpstr>13.5.4	Master</vt:lpstr>
      <vt:lpstr>13.5.4	Master</vt:lpstr>
      <vt:lpstr>13.5.5	Aggregator</vt:lpstr>
      <vt:lpstr>13.6	Pregel的应用实例</vt:lpstr>
      <vt:lpstr>13.6.1 单源最短路径</vt:lpstr>
      <vt:lpstr>13.6.1 单源最短路径</vt:lpstr>
      <vt:lpstr>13.6.1 单源最短路径</vt:lpstr>
      <vt:lpstr>PowerPoint 演示文稿</vt:lpstr>
      <vt:lpstr>PowerPoint 演示文稿</vt:lpstr>
      <vt:lpstr>PowerPoint 演示文稿</vt:lpstr>
      <vt:lpstr>13.6.2	二分匹配</vt:lpstr>
      <vt:lpstr>13.6.2	二分匹配</vt:lpstr>
      <vt:lpstr>13.6.2	二分匹配</vt:lpstr>
      <vt:lpstr>13.7 Pregel和MapReduce实现PageRank算法的对比</vt:lpstr>
      <vt:lpstr>13.7.1 PageRank算法</vt:lpstr>
      <vt:lpstr>13.7.1 PageRank算法</vt:lpstr>
      <vt:lpstr>13.7.2 PageRank算法在Pregel中的实现</vt:lpstr>
      <vt:lpstr>13.7.2 PageRank算法在Pregel中的实现</vt:lpstr>
      <vt:lpstr>13.7.3 PageRank算法在MapReduce中的实现</vt:lpstr>
      <vt:lpstr>13.7.3 PageRank算法在MapReduce中的实现</vt:lpstr>
      <vt:lpstr>13.7.3 PageRank算法在MapReduce中的实现</vt:lpstr>
      <vt:lpstr>13.7.3 PageRank算法在MapReduce中的实现</vt:lpstr>
      <vt:lpstr>13.7.3 PageRank算法在MapReduce中的实现</vt:lpstr>
      <vt:lpstr>13.7.3 PageRank算法在MapReduce中的实现</vt:lpstr>
      <vt:lpstr>13.7.4 PageRank算法在Pregel和MapReduce中实现的比较</vt:lpstr>
      <vt:lpstr>本章小结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大数据管理</dc:title>
  <dc:creator>zitong chen</dc:creator>
  <cp:lastModifiedBy>大洋儿</cp:lastModifiedBy>
  <cp:revision>326</cp:revision>
  <dcterms:created xsi:type="dcterms:W3CDTF">2023-01-31T13:03:00Z</dcterms:created>
  <dcterms:modified xsi:type="dcterms:W3CDTF">2026-06-01T19:16:38Z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77A51AFCB8B24EABBD9B8BB697417532</vt:lpwstr>
  </property>
  <property fmtid="{D5CDD505-2E9C-101B-9397-08002B2CF9AE}" pid="3" name="KSOProductBuildVer">
    <vt:lpwstr>2052-12.1.0.26375</vt:lpwstr>
  </property>
</Properties>
</file>