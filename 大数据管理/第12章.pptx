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46"/>
  </p:handoutMasterIdLst>
  <p:sldIdLst>
    <p:sldId id="614" r:id="rId3"/>
    <p:sldId id="993" r:id="rId5"/>
    <p:sldId id="955" r:id="rId6"/>
    <p:sldId id="956" r:id="rId7"/>
    <p:sldId id="957" r:id="rId8"/>
    <p:sldId id="958" r:id="rId9"/>
    <p:sldId id="959" r:id="rId10"/>
    <p:sldId id="960" r:id="rId11"/>
    <p:sldId id="961" r:id="rId12"/>
    <p:sldId id="962" r:id="rId13"/>
    <p:sldId id="963" r:id="rId14"/>
    <p:sldId id="964" r:id="rId15"/>
    <p:sldId id="1033" r:id="rId16"/>
    <p:sldId id="965" r:id="rId17"/>
    <p:sldId id="966" r:id="rId18"/>
    <p:sldId id="967" r:id="rId19"/>
    <p:sldId id="968" r:id="rId20"/>
    <p:sldId id="1063" r:id="rId21"/>
    <p:sldId id="969" r:id="rId22"/>
    <p:sldId id="970" r:id="rId23"/>
    <p:sldId id="971" r:id="rId24"/>
    <p:sldId id="972" r:id="rId25"/>
    <p:sldId id="973" r:id="rId26"/>
    <p:sldId id="975" r:id="rId27"/>
    <p:sldId id="976" r:id="rId28"/>
    <p:sldId id="977" r:id="rId29"/>
    <p:sldId id="978" r:id="rId30"/>
    <p:sldId id="979" r:id="rId31"/>
    <p:sldId id="980" r:id="rId32"/>
    <p:sldId id="981" r:id="rId33"/>
    <p:sldId id="982" r:id="rId34"/>
    <p:sldId id="983" r:id="rId35"/>
    <p:sldId id="984" r:id="rId36"/>
    <p:sldId id="985" r:id="rId37"/>
    <p:sldId id="986" r:id="rId38"/>
    <p:sldId id="987" r:id="rId39"/>
    <p:sldId id="988" r:id="rId40"/>
    <p:sldId id="989" r:id="rId41"/>
    <p:sldId id="990" r:id="rId42"/>
    <p:sldId id="991" r:id="rId43"/>
    <p:sldId id="992" r:id="rId44"/>
    <p:sldId id="1065" r:id="rId45"/>
  </p:sldIdLst>
  <p:sldSz cx="12192000" cy="6858000"/>
  <p:notesSz cx="6858000" cy="9144000"/>
  <p:custDataLst>
    <p:tags r:id="rId5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第一篇" id="{3E72D914-66BA-4579-8F52-77CB28085651}">
          <p14:sldIdLst>
            <p14:sldId id="614"/>
            <p14:sldId id="993"/>
            <p14:sldId id="955"/>
            <p14:sldId id="956"/>
            <p14:sldId id="957"/>
            <p14:sldId id="958"/>
            <p14:sldId id="959"/>
            <p14:sldId id="960"/>
            <p14:sldId id="961"/>
            <p14:sldId id="962"/>
            <p14:sldId id="963"/>
            <p14:sldId id="964"/>
            <p14:sldId id="1033"/>
            <p14:sldId id="965"/>
            <p14:sldId id="966"/>
            <p14:sldId id="967"/>
            <p14:sldId id="968"/>
            <p14:sldId id="1063"/>
            <p14:sldId id="969"/>
            <p14:sldId id="970"/>
            <p14:sldId id="971"/>
            <p14:sldId id="972"/>
            <p14:sldId id="973"/>
            <p14:sldId id="975"/>
            <p14:sldId id="976"/>
            <p14:sldId id="977"/>
            <p14:sldId id="978"/>
            <p14:sldId id="979"/>
            <p14:sldId id="980"/>
            <p14:sldId id="981"/>
            <p14:sldId id="982"/>
            <p14:sldId id="983"/>
            <p14:sldId id="984"/>
            <p14:sldId id="985"/>
            <p14:sldId id="986"/>
            <p14:sldId id="987"/>
            <p14:sldId id="988"/>
            <p14:sldId id="989"/>
            <p14:sldId id="990"/>
            <p14:sldId id="991"/>
            <p14:sldId id="992"/>
            <p14:sldId id="106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E9EBF5"/>
    <a:srgbClr val="CFD5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354"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0" Type="http://schemas.openxmlformats.org/officeDocument/2006/relationships/tags" Target="tags/tag24.xml"/><Relationship Id="rId5" Type="http://schemas.openxmlformats.org/officeDocument/2006/relationships/slide" Target="slides/slide2.xml"/><Relationship Id="rId49" Type="http://schemas.openxmlformats.org/officeDocument/2006/relationships/tableStyles" Target="tableStyles.xml"/><Relationship Id="rId48" Type="http://schemas.openxmlformats.org/officeDocument/2006/relationships/viewProps" Target="viewProps.xml"/><Relationship Id="rId47" Type="http://schemas.openxmlformats.org/officeDocument/2006/relationships/presProps" Target="presProps.xml"/><Relationship Id="rId46" Type="http://schemas.openxmlformats.org/officeDocument/2006/relationships/handoutMaster" Target="handoutMasters/handoutMaster1.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EA424B-F2C7-4EC9-8DA2-5CFAACF65E1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860B0A-E707-4489-B72C-209A0C1058F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a:buFont typeface="Arial" panose="020B0604020202020204" pitchFamily="34" charset="0"/>
              <a:buChar char="•"/>
            </a:pPr>
            <a:r>
              <a:rPr lang="en-US" altLang="zh-CN" dirty="0">
                <a:latin typeface="Arial" panose="020B0604020202020204" pitchFamily="34" charset="0"/>
                <a:sym typeface="+mn-ea"/>
              </a:rPr>
              <a:t>Flink</a:t>
            </a:r>
            <a:r>
              <a:rPr lang="zh-CN" altLang="zh-CN" dirty="0">
                <a:latin typeface="Arial" panose="020B0604020202020204" pitchFamily="34" charset="0"/>
                <a:sym typeface="+mn-ea"/>
              </a:rPr>
              <a:t>具有十分强大的功能，可以支持不同类型的应用程序。</a:t>
            </a:r>
            <a:r>
              <a:rPr lang="en-US" altLang="zh-CN" dirty="0">
                <a:latin typeface="Arial" panose="020B0604020202020204" pitchFamily="34" charset="0"/>
                <a:sym typeface="+mn-ea"/>
              </a:rPr>
              <a:t>Flink</a:t>
            </a:r>
            <a:r>
              <a:rPr lang="zh-CN" altLang="zh-CN" dirty="0">
                <a:latin typeface="Arial" panose="020B0604020202020204" pitchFamily="34" charset="0"/>
                <a:sym typeface="+mn-ea"/>
              </a:rPr>
              <a:t>的主要特性包括：批流一体化、精密的状态管理、事件时间支持以及精确一次的状态一致性保障等。</a:t>
            </a:r>
            <a:endParaRPr lang="en-US" altLang="zh-CN" dirty="0">
              <a:latin typeface="Arial" panose="020B0604020202020204" pitchFamily="34" charset="0"/>
            </a:endParaRPr>
          </a:p>
          <a:p>
            <a:pPr>
              <a:buFont typeface="Arial" panose="020B0604020202020204" pitchFamily="34" charset="0"/>
              <a:buChar char="•"/>
            </a:pPr>
            <a:r>
              <a:rPr lang="en-US" altLang="zh-CN" dirty="0">
                <a:latin typeface="Arial" panose="020B0604020202020204" pitchFamily="34" charset="0"/>
                <a:sym typeface="+mn-ea"/>
              </a:rPr>
              <a:t>Flink </a:t>
            </a:r>
            <a:r>
              <a:rPr lang="zh-CN" altLang="zh-CN" dirty="0">
                <a:latin typeface="Arial" panose="020B0604020202020204" pitchFamily="34" charset="0"/>
                <a:sym typeface="+mn-ea"/>
              </a:rPr>
              <a:t>不仅可以运行在包括</a:t>
            </a:r>
            <a:r>
              <a:rPr lang="en-US" altLang="zh-CN" dirty="0">
                <a:latin typeface="Arial" panose="020B0604020202020204" pitchFamily="34" charset="0"/>
                <a:sym typeface="+mn-ea"/>
              </a:rPr>
              <a:t> YARN</a:t>
            </a:r>
            <a:r>
              <a:rPr lang="zh-CN" altLang="zh-CN" dirty="0">
                <a:latin typeface="Arial" panose="020B0604020202020204" pitchFamily="34" charset="0"/>
                <a:sym typeface="+mn-ea"/>
              </a:rPr>
              <a:t>、</a:t>
            </a:r>
            <a:r>
              <a:rPr lang="en-US" altLang="zh-CN" dirty="0">
                <a:latin typeface="Arial" panose="020B0604020202020204" pitchFamily="34" charset="0"/>
                <a:sym typeface="+mn-ea"/>
              </a:rPr>
              <a:t> Mesos</a:t>
            </a:r>
            <a:r>
              <a:rPr lang="zh-CN" altLang="zh-CN" dirty="0">
                <a:latin typeface="Arial" panose="020B0604020202020204" pitchFamily="34" charset="0"/>
                <a:sym typeface="+mn-ea"/>
              </a:rPr>
              <a:t>、</a:t>
            </a:r>
            <a:r>
              <a:rPr lang="en-US" altLang="zh-CN" dirty="0">
                <a:latin typeface="Arial" panose="020B0604020202020204" pitchFamily="34" charset="0"/>
                <a:sym typeface="+mn-ea"/>
              </a:rPr>
              <a:t>Kubernetes</a:t>
            </a:r>
            <a:r>
              <a:rPr lang="zh-CN" altLang="zh-CN" dirty="0">
                <a:latin typeface="Arial" panose="020B0604020202020204" pitchFamily="34" charset="0"/>
                <a:sym typeface="+mn-ea"/>
              </a:rPr>
              <a:t>等在内的多种资源管理框架上，还支持在裸机集群上独立部署。在启用高可用选项的情况下，它不存在单点失效问题。</a:t>
            </a:r>
            <a:endParaRPr lang="en-US" altLang="zh-CN" dirty="0">
              <a:latin typeface="Arial" panose="020B0604020202020204" pitchFamily="34" charset="0"/>
            </a:endParaRPr>
          </a:p>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931D01BD-4741-4184-BE56-DAF04E336C9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AECF920-1DC5-4C71-8718-0D3D51DA5754}"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67DFB8C7-156C-4269-A9D3-236C9122148A}"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33A235BB-B880-4407-ACFF-512D8BC24B90}"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5229A4FC-A20D-40C9-ABAC-C696099A86F2}"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C8C5C66-F7B6-4A16-8359-13B29DD706AB}"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AB552A2-5CC8-435E-A513-EF450F74AF85}" type="datetime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442593F0-41FC-4EC0-B9B0-30C4E0373CF4}"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97ADD0A6-25F9-45E6-B1AB-8802F7FB4BFD}"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5B55DAC9-C380-4E94-9EDF-CE70C1A17B94}"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B49B58E9-DE7D-4AC4-86BB-A1A3764A53E4}"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6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7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8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9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0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1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2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3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4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5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6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7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8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9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0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09600" y="1600200"/>
            <a:ext cx="53848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600200"/>
            <a:ext cx="53848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4" Type="http://schemas.openxmlformats.org/officeDocument/2006/relationships/theme" Target="../theme/theme1.xml"/><Relationship Id="rId33" Type="http://schemas.openxmlformats.org/officeDocument/2006/relationships/image" Target="../media/image1.png"/><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3">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50D025-EB81-4291-9E40-972558CDBCB9}"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57CE09-A6DF-4F65-B9AD-CB157D51E68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6.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image" Target="../media/image2.png"/><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image" Target="../media/image2.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emf"/></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image" Target="../media/image8.emf"/></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emf"/></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image" Target="../media/image13.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image" Target="../media/image14.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image" Target="../media/image15.emf"/></Relationships>
</file>

<file path=ppt/slides/_rels/slide25.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image" Target="../media/image16.emf"/></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b="1" dirty="0">
                <a:solidFill>
                  <a:srgbClr val="000000"/>
                </a:solidFill>
                <a:effectLst/>
                <a:latin typeface="宋体" panose="02010600030101010101" pitchFamily="2" charset="-122"/>
                <a:ea typeface="宋体" panose="02010600030101010101" pitchFamily="2" charset="-122"/>
                <a:sym typeface="+mn-ea"/>
              </a:rPr>
              <a:t>第</a:t>
            </a:r>
            <a:r>
              <a:rPr lang="en-US" altLang="zh-CN" b="1" dirty="0">
                <a:solidFill>
                  <a:srgbClr val="000000"/>
                </a:solidFill>
                <a:effectLst/>
                <a:latin typeface="宋体" panose="02010600030101010101" pitchFamily="2" charset="-122"/>
                <a:ea typeface="宋体" panose="02010600030101010101" pitchFamily="2" charset="-122"/>
                <a:sym typeface="+mn-ea"/>
              </a:rPr>
              <a:t>12</a:t>
            </a:r>
            <a:r>
              <a:rPr lang="zh-CN" altLang="en-US" b="1" dirty="0">
                <a:solidFill>
                  <a:srgbClr val="000000"/>
                </a:solidFill>
                <a:effectLst/>
                <a:latin typeface="宋体" panose="02010600030101010101" pitchFamily="2" charset="-122"/>
                <a:ea typeface="宋体" panose="02010600030101010101" pitchFamily="2" charset="-122"/>
                <a:sym typeface="+mn-ea"/>
              </a:rPr>
              <a:t>章	</a:t>
            </a:r>
            <a:r>
              <a:rPr lang="en-US" altLang="zh-CN" b="1" dirty="0">
                <a:solidFill>
                  <a:srgbClr val="000000"/>
                </a:solidFill>
                <a:effectLst/>
                <a:latin typeface="宋体" panose="02010600030101010101" pitchFamily="2" charset="-122"/>
                <a:ea typeface="宋体" panose="02010600030101010101" pitchFamily="2" charset="-122"/>
                <a:sym typeface="+mn-ea"/>
              </a:rPr>
              <a:t>Flin</a:t>
            </a:r>
            <a:r>
              <a:rPr lang="en-US" altLang="zh-CN" b="1" dirty="0">
                <a:solidFill>
                  <a:srgbClr val="000000"/>
                </a:solidFill>
                <a:effectLst/>
                <a:latin typeface="宋体" panose="02010600030101010101" pitchFamily="2" charset="-122"/>
                <a:ea typeface="宋体" panose="02010600030101010101" pitchFamily="2" charset="-122"/>
                <a:sym typeface="+mn-ea"/>
              </a:rPr>
              <a:t>k</a:t>
            </a:r>
            <a:endParaRPr lang="en-US" altLang="zh-CN" b="1" dirty="0">
              <a:solidFill>
                <a:srgbClr val="000000"/>
              </a:solidFill>
              <a:effectLst/>
              <a:latin typeface="宋体" panose="02010600030101010101" pitchFamily="2" charset="-122"/>
              <a:ea typeface="宋体" panose="02010600030101010101" pitchFamily="2" charset="-122"/>
              <a:sym typeface="+mn-ea"/>
            </a:endParaRPr>
          </a:p>
        </p:txBody>
      </p:sp>
      <p:sp>
        <p:nvSpPr>
          <p:cNvPr id="3" name="副标题 2"/>
          <p:cNvSpPr>
            <a:spLocks noGrp="1"/>
          </p:cNvSpPr>
          <p:nvPr>
            <p:ph type="subTitle" idx="1"/>
          </p:nvPr>
        </p:nvSpPr>
        <p:spPr/>
        <p:txBody>
          <a:bodyPr/>
          <a:lstStyle/>
          <a:p>
            <a:endParaRPr lang="zh-CN" altLang="en-US"/>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800" b="1" dirty="0">
                <a:solidFill>
                  <a:srgbClr val="000000"/>
                </a:solidFill>
                <a:effectLst/>
                <a:latin typeface="宋体" panose="02010600030101010101" pitchFamily="2" charset="-122"/>
                <a:ea typeface="宋体" panose="02010600030101010101" pitchFamily="2" charset="-122"/>
                <a:sym typeface="+mn-ea"/>
              </a:rPr>
              <a:t>第</a:t>
            </a:r>
            <a:r>
              <a:rPr lang="en-US" altLang="zh-CN" sz="4800" b="1" dirty="0">
                <a:solidFill>
                  <a:srgbClr val="000000"/>
                </a:solidFill>
                <a:effectLst/>
                <a:latin typeface="宋体" panose="02010600030101010101" pitchFamily="2" charset="-122"/>
                <a:ea typeface="宋体" panose="02010600030101010101" pitchFamily="2" charset="-122"/>
                <a:sym typeface="+mn-ea"/>
              </a:rPr>
              <a:t>12</a:t>
            </a:r>
            <a:r>
              <a:rPr lang="zh-CN" altLang="en-US" sz="4800" b="1" dirty="0">
                <a:solidFill>
                  <a:srgbClr val="000000"/>
                </a:solidFill>
                <a:effectLst/>
                <a:latin typeface="宋体" panose="02010600030101010101" pitchFamily="2" charset="-122"/>
                <a:ea typeface="宋体" panose="02010600030101010101" pitchFamily="2" charset="-122"/>
                <a:sym typeface="+mn-ea"/>
              </a:rPr>
              <a:t>章	</a:t>
            </a:r>
            <a:r>
              <a:rPr lang="en-US" altLang="zh-CN" sz="4800" b="1" dirty="0">
                <a:solidFill>
                  <a:srgbClr val="000000"/>
                </a:solidFill>
                <a:effectLst/>
                <a:latin typeface="宋体" panose="02010600030101010101" pitchFamily="2" charset="-122"/>
                <a:ea typeface="宋体" panose="02010600030101010101" pitchFamily="2" charset="-122"/>
                <a:sym typeface="+mn-ea"/>
              </a:rPr>
              <a:t>Flink</a:t>
            </a:r>
            <a:endParaRPr lang="en-US" altLang="zh-CN" sz="4800" b="1" dirty="0">
              <a:solidFill>
                <a:srgbClr val="000000"/>
              </a:solidFill>
              <a:effectLst/>
              <a:latin typeface="宋体" panose="02010600030101010101" pitchFamily="2" charset="-122"/>
              <a:ea typeface="宋体" panose="02010600030101010101" pitchFamily="2" charset="-122"/>
              <a:sym typeface="+mn-ea"/>
            </a:endParaRPr>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sp>
        <p:nvSpPr>
          <p:cNvPr id="5" name="圆角矩形 4"/>
          <p:cNvSpPr/>
          <p:nvPr/>
        </p:nvSpPr>
        <p:spPr>
          <a:xfrm>
            <a:off x="534670" y="2572385"/>
            <a:ext cx="2787650" cy="59055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marL="457200" indent="-457200"/>
            <a:r>
              <a:rPr lang="en-US" altLang="zh-CN" sz="2800" b="1" dirty="0">
                <a:solidFill>
                  <a:srgbClr val="000000"/>
                </a:solidFill>
                <a:latin typeface="Arial" panose="020B0604020202020204" pitchFamily="34" charset="0"/>
                <a:ea typeface="黑体" panose="02010609060101010101" pitchFamily="49" charset="-122"/>
                <a:sym typeface="+mn-ea"/>
              </a:rPr>
              <a:t>12.1 </a:t>
            </a:r>
            <a:r>
              <a:rPr lang="zh-CN" altLang="en-US" sz="2800" b="1" dirty="0">
                <a:solidFill>
                  <a:srgbClr val="000000"/>
                </a:solidFill>
                <a:latin typeface="Arial" panose="020B0604020202020204" pitchFamily="34" charset="0"/>
                <a:ea typeface="黑体" panose="02010609060101010101" pitchFamily="49" charset="-122"/>
                <a:sym typeface="+mn-ea"/>
              </a:rPr>
              <a:t>简介</a:t>
            </a:r>
            <a:endParaRPr lang="zh-CN" altLang="en-US" sz="2800"/>
          </a:p>
        </p:txBody>
      </p:sp>
      <p:sp>
        <p:nvSpPr>
          <p:cNvPr id="6" name="圆角矩形 5"/>
          <p:cNvSpPr/>
          <p:nvPr/>
        </p:nvSpPr>
        <p:spPr>
          <a:xfrm>
            <a:off x="4309745" y="1442720"/>
            <a:ext cx="2787650" cy="92265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b="1" dirty="0">
                <a:solidFill>
                  <a:srgbClr val="000000"/>
                </a:solidFill>
                <a:latin typeface="Arial" panose="020B0604020202020204" pitchFamily="34" charset="0"/>
                <a:ea typeface="黑体" panose="02010609060101010101" pitchFamily="49" charset="-122"/>
                <a:sym typeface="+mn-ea"/>
              </a:rPr>
              <a:t>12.2</a:t>
            </a:r>
            <a:r>
              <a:rPr lang="zh-CN" altLang="en-US" sz="2800" b="1" dirty="0">
                <a:solidFill>
                  <a:srgbClr val="000000"/>
                </a:solidFill>
                <a:latin typeface="Arial" panose="020B0604020202020204" pitchFamily="34" charset="0"/>
                <a:ea typeface="黑体" panose="02010609060101010101" pitchFamily="49" charset="-122"/>
                <a:sym typeface="+mn-ea"/>
              </a:rPr>
              <a:t>为什么选择</a:t>
            </a:r>
            <a:r>
              <a:rPr lang="en-US" altLang="zh-CN" sz="2800" b="1" dirty="0">
                <a:solidFill>
                  <a:srgbClr val="000000"/>
                </a:solidFill>
                <a:latin typeface="Arial" panose="020B0604020202020204" pitchFamily="34" charset="0"/>
                <a:ea typeface="黑体" panose="02010609060101010101" pitchFamily="49" charset="-122"/>
                <a:sym typeface="+mn-ea"/>
              </a:rPr>
              <a:t>Flink</a:t>
            </a:r>
            <a:endParaRPr lang="zh-CN" altLang="en-US" sz="2800"/>
          </a:p>
        </p:txBody>
      </p:sp>
      <p:sp>
        <p:nvSpPr>
          <p:cNvPr id="7" name="圆角矩形 6"/>
          <p:cNvSpPr/>
          <p:nvPr/>
        </p:nvSpPr>
        <p:spPr>
          <a:xfrm>
            <a:off x="8168005" y="2489200"/>
            <a:ext cx="2787650" cy="59055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b="1" dirty="0">
                <a:solidFill>
                  <a:srgbClr val="000000"/>
                </a:solidFill>
                <a:latin typeface="Arial" panose="020B0604020202020204" pitchFamily="34" charset="0"/>
                <a:ea typeface="黑体" panose="02010609060101010101" pitchFamily="49" charset="-122"/>
                <a:sym typeface="+mn-ea"/>
              </a:rPr>
              <a:t>12.3 </a:t>
            </a:r>
            <a:r>
              <a:rPr lang="zh-CN" altLang="en-US" sz="2800" b="1" dirty="0">
                <a:solidFill>
                  <a:srgbClr val="000000"/>
                </a:solidFill>
                <a:latin typeface="Arial" panose="020B0604020202020204" pitchFamily="34" charset="0"/>
                <a:ea typeface="黑体" panose="02010609060101010101" pitchFamily="49" charset="-122"/>
                <a:sym typeface="+mn-ea"/>
              </a:rPr>
              <a:t>应用场景</a:t>
            </a:r>
            <a:endParaRPr lang="zh-CN" altLang="en-US" sz="2800" dirty="0"/>
          </a:p>
        </p:txBody>
      </p:sp>
      <p:sp>
        <p:nvSpPr>
          <p:cNvPr id="8" name="圆角矩形 7"/>
          <p:cNvSpPr/>
          <p:nvPr/>
        </p:nvSpPr>
        <p:spPr>
          <a:xfrm>
            <a:off x="8168005" y="4046855"/>
            <a:ext cx="2787015" cy="60896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marL="457200" indent="-457200"/>
            <a:r>
              <a:rPr lang="en-US" altLang="zh-CN" sz="2800" b="1" dirty="0">
                <a:solidFill>
                  <a:srgbClr val="000000"/>
                </a:solidFill>
                <a:latin typeface="Arial" panose="020B0604020202020204" pitchFamily="34" charset="0"/>
                <a:ea typeface="黑体" panose="02010609060101010101" pitchFamily="49" charset="-122"/>
                <a:sym typeface="+mn-ea"/>
              </a:rPr>
              <a:t>12.4 </a:t>
            </a:r>
            <a:r>
              <a:rPr lang="zh-CN" altLang="en-US" sz="2800" b="1" dirty="0">
                <a:solidFill>
                  <a:srgbClr val="000000"/>
                </a:solidFill>
                <a:latin typeface="Arial" panose="020B0604020202020204" pitchFamily="34" charset="0"/>
                <a:ea typeface="黑体" panose="02010609060101010101" pitchFamily="49" charset="-122"/>
                <a:sym typeface="+mn-ea"/>
              </a:rPr>
              <a:t>技术栈</a:t>
            </a:r>
            <a:endParaRPr lang="zh-CN" altLang="en-US" sz="2800"/>
          </a:p>
        </p:txBody>
      </p:sp>
      <p:sp>
        <p:nvSpPr>
          <p:cNvPr id="10" name="圆角矩形 9"/>
          <p:cNvSpPr/>
          <p:nvPr/>
        </p:nvSpPr>
        <p:spPr>
          <a:xfrm>
            <a:off x="8055610" y="5622925"/>
            <a:ext cx="2910205" cy="59055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marL="457200" indent="-457200"/>
            <a:r>
              <a:rPr lang="en-US" altLang="zh-CN" sz="2800" b="1" dirty="0">
                <a:solidFill>
                  <a:srgbClr val="000000"/>
                </a:solidFill>
                <a:latin typeface="Arial" panose="020B0604020202020204" pitchFamily="34" charset="0"/>
                <a:ea typeface="黑体" panose="02010609060101010101" pitchFamily="49" charset="-122"/>
                <a:sym typeface="+mn-ea"/>
              </a:rPr>
              <a:t>12.5 </a:t>
            </a:r>
            <a:r>
              <a:rPr lang="zh-CN" altLang="en-US" sz="2800" b="1" dirty="0">
                <a:solidFill>
                  <a:srgbClr val="000000"/>
                </a:solidFill>
                <a:latin typeface="Arial" panose="020B0604020202020204" pitchFamily="34" charset="0"/>
                <a:ea typeface="黑体" panose="02010609060101010101" pitchFamily="49" charset="-122"/>
                <a:sym typeface="+mn-ea"/>
              </a:rPr>
              <a:t>体系架构</a:t>
            </a:r>
            <a:endParaRPr lang="zh-CN" altLang="en-US" sz="2800"/>
          </a:p>
        </p:txBody>
      </p:sp>
      <p:pic>
        <p:nvPicPr>
          <p:cNvPr id="3" name="图片 2"/>
          <p:cNvPicPr>
            <a:picLocks noChangeAspect="1"/>
          </p:cNvPicPr>
          <p:nvPr>
            <p:custDataLst>
              <p:tags r:id="rId1"/>
            </p:custDataLst>
          </p:nvPr>
        </p:nvPicPr>
        <p:blipFill>
          <a:blip r:embed="rId2"/>
          <a:stretch>
            <a:fillRect/>
          </a:stretch>
        </p:blipFill>
        <p:spPr>
          <a:xfrm>
            <a:off x="4034790" y="2637155"/>
            <a:ext cx="3337560" cy="3337560"/>
          </a:xfrm>
          <a:prstGeom prst="rect">
            <a:avLst/>
          </a:prstGeom>
        </p:spPr>
      </p:pic>
      <p:sp>
        <p:nvSpPr>
          <p:cNvPr id="9" name="圆角矩形 8"/>
          <p:cNvSpPr/>
          <p:nvPr>
            <p:custDataLst>
              <p:tags r:id="rId3"/>
            </p:custDataLst>
          </p:nvPr>
        </p:nvSpPr>
        <p:spPr>
          <a:xfrm>
            <a:off x="522605" y="5484495"/>
            <a:ext cx="2793365" cy="590550"/>
          </a:xfrm>
          <a:prstGeom prst="roundRect">
            <a:avLst/>
          </a:prstGeom>
          <a:solidFill>
            <a:schemeClr val="bg2"/>
          </a:solidFill>
          <a:ln>
            <a:solidFill>
              <a:schemeClr val="bg2"/>
            </a:solidFill>
          </a:ln>
        </p:spPr>
        <p:style>
          <a:lnRef idx="1">
            <a:schemeClr val="accent2"/>
          </a:lnRef>
          <a:fillRef idx="2">
            <a:schemeClr val="accent2"/>
          </a:fillRef>
          <a:effectRef idx="1">
            <a:schemeClr val="accent2"/>
          </a:effectRef>
          <a:fontRef idx="minor">
            <a:schemeClr val="dk1"/>
          </a:fontRef>
        </p:style>
        <p:txBody>
          <a:bodyPr rtlCol="0" anchor="ctr"/>
          <a:p>
            <a:pPr marL="457200" indent="-457200"/>
            <a:r>
              <a:rPr lang="en-US" altLang="zh-CN" sz="2800" b="1" dirty="0">
                <a:solidFill>
                  <a:schemeClr val="tx1">
                    <a:lumMod val="50000"/>
                    <a:lumOff val="50000"/>
                  </a:schemeClr>
                </a:solidFill>
                <a:latin typeface="Arial" panose="020B0604020202020204" pitchFamily="34" charset="0"/>
                <a:ea typeface="黑体" panose="02010609060101010101" pitchFamily="49" charset="-122"/>
                <a:sym typeface="+mn-ea"/>
              </a:rPr>
              <a:t>12.6 </a:t>
            </a:r>
            <a:r>
              <a:rPr lang="zh-CN" altLang="en-US" sz="2800" b="1" dirty="0">
                <a:solidFill>
                  <a:schemeClr val="tx1">
                    <a:lumMod val="50000"/>
                    <a:lumOff val="50000"/>
                  </a:schemeClr>
                </a:solidFill>
                <a:latin typeface="Arial" panose="020B0604020202020204" pitchFamily="34" charset="0"/>
                <a:ea typeface="黑体" panose="02010609060101010101" pitchFamily="49" charset="-122"/>
                <a:sym typeface="+mn-ea"/>
              </a:rPr>
              <a:t>编程模型</a:t>
            </a:r>
            <a:endParaRPr lang="zh-CN" altLang="en-US" sz="2800" b="1" dirty="0">
              <a:solidFill>
                <a:schemeClr val="tx1">
                  <a:lumMod val="50000"/>
                  <a:lumOff val="50000"/>
                </a:schemeClr>
              </a:solidFill>
              <a:latin typeface="Arial" panose="020B0604020202020204" pitchFamily="34" charset="0"/>
              <a:ea typeface="黑体" panose="02010609060101010101" pitchFamily="49" charset="-122"/>
              <a:sym typeface="+mn-ea"/>
            </a:endParaRPr>
          </a:p>
        </p:txBody>
      </p:sp>
      <p:sp>
        <p:nvSpPr>
          <p:cNvPr id="11" name="圆角矩形 10"/>
          <p:cNvSpPr/>
          <p:nvPr>
            <p:custDataLst>
              <p:tags r:id="rId4"/>
            </p:custDataLst>
          </p:nvPr>
        </p:nvSpPr>
        <p:spPr>
          <a:xfrm>
            <a:off x="534670" y="4070350"/>
            <a:ext cx="2781300" cy="590550"/>
          </a:xfrm>
          <a:prstGeom prst="roundRect">
            <a:avLst/>
          </a:prstGeom>
          <a:solidFill>
            <a:schemeClr val="bg2"/>
          </a:solidFill>
          <a:ln>
            <a:solidFill>
              <a:schemeClr val="bg2"/>
            </a:solidFill>
          </a:ln>
        </p:spPr>
        <p:style>
          <a:lnRef idx="1">
            <a:schemeClr val="accent2"/>
          </a:lnRef>
          <a:fillRef idx="2">
            <a:schemeClr val="accent2"/>
          </a:fillRef>
          <a:effectRef idx="1">
            <a:schemeClr val="accent2"/>
          </a:effectRef>
          <a:fontRef idx="minor">
            <a:schemeClr val="dk1"/>
          </a:fontRef>
        </p:style>
        <p:txBody>
          <a:bodyPr rtlCol="0" anchor="ctr"/>
          <a:p>
            <a:pPr marL="457200" indent="-457200"/>
            <a:r>
              <a:rPr lang="en-US" altLang="zh-CN" sz="2800" b="1" dirty="0">
                <a:solidFill>
                  <a:schemeClr val="tx1">
                    <a:lumMod val="50000"/>
                    <a:lumOff val="50000"/>
                  </a:schemeClr>
                </a:solidFill>
                <a:latin typeface="Arial" panose="020B0604020202020204" pitchFamily="34" charset="0"/>
                <a:ea typeface="黑体" panose="02010609060101010101" pitchFamily="49" charset="-122"/>
                <a:sym typeface="+mn-ea"/>
              </a:rPr>
              <a:t>12.7 </a:t>
            </a:r>
            <a:r>
              <a:rPr lang="zh-CN" altLang="en-US" sz="2800" b="1" dirty="0">
                <a:solidFill>
                  <a:schemeClr val="tx1">
                    <a:lumMod val="50000"/>
                    <a:lumOff val="50000"/>
                  </a:schemeClr>
                </a:solidFill>
                <a:latin typeface="Arial" panose="020B0604020202020204" pitchFamily="34" charset="0"/>
                <a:ea typeface="黑体" panose="02010609060101010101" pitchFamily="49" charset="-122"/>
                <a:sym typeface="+mn-ea"/>
              </a:rPr>
              <a:t>编程实践</a:t>
            </a:r>
            <a:endParaRPr lang="zh-CN" altLang="en-US" sz="2800" b="1" dirty="0">
              <a:solidFill>
                <a:schemeClr val="tx1">
                  <a:lumMod val="50000"/>
                  <a:lumOff val="50000"/>
                </a:schemeClr>
              </a:solidFill>
              <a:latin typeface="Arial" panose="020B0604020202020204" pitchFamily="34" charset="0"/>
              <a:ea typeface="黑体" panose="02010609060101010101" pitchFamily="49"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up)">
                                      <p:cBhvr>
                                        <p:cTn id="19" dur="500"/>
                                        <p:tgtEl>
                                          <p:spTgt spid="8"/>
                                        </p:tgtEl>
                                      </p:cBhvr>
                                    </p:animEffect>
                                  </p:childTnLst>
                                </p:cTn>
                              </p:par>
                            </p:childTnLst>
                          </p:cTn>
                        </p:par>
                        <p:par>
                          <p:cTn id="20" fill="hold">
                            <p:stCondLst>
                              <p:cond delay="2000"/>
                            </p:stCondLst>
                            <p:childTnLst>
                              <p:par>
                                <p:cTn id="21" presetID="22" presetClass="entr" presetSubtype="2"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right)">
                                      <p:cBhvr>
                                        <p:cTn id="23" dur="500"/>
                                        <p:tgtEl>
                                          <p:spTgt spid="10"/>
                                        </p:tgtEl>
                                      </p:cBhvr>
                                    </p:animEffect>
                                  </p:childTnLst>
                                </p:cTn>
                              </p:par>
                            </p:childTnLst>
                          </p:cTn>
                        </p:par>
                        <p:par>
                          <p:cTn id="24" fill="hold">
                            <p:stCondLst>
                              <p:cond delay="2500"/>
                            </p:stCondLst>
                            <p:childTnLst>
                              <p:par>
                                <p:cTn id="25" presetID="22" presetClass="entr" presetSubtype="2"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right)">
                                      <p:cBhvr>
                                        <p:cTn id="27" dur="500"/>
                                        <p:tgtEl>
                                          <p:spTgt spid="9"/>
                                        </p:tgtEl>
                                      </p:cBhvr>
                                    </p:animEffect>
                                  </p:childTnLst>
                                </p:cTn>
                              </p:par>
                            </p:childTnLst>
                          </p:cTn>
                        </p:par>
                        <p:par>
                          <p:cTn id="28" fill="hold">
                            <p:stCondLst>
                              <p:cond delay="3000"/>
                            </p:stCondLst>
                            <p:childTnLst>
                              <p:par>
                                <p:cTn id="29" presetID="22" presetClass="entr" presetSubtype="2" fill="hold" grpId="0"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right)">
                                      <p:cBhvr>
                                        <p:cTn id="3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animBg="1"/>
      <p:bldP spid="6" grpId="0" bldLvl="0" animBg="1"/>
      <p:bldP spid="6" grpId="1" animBg="1"/>
      <p:bldP spid="7" grpId="0" bldLvl="0" animBg="1"/>
      <p:bldP spid="7" grpId="1" animBg="1"/>
      <p:bldP spid="8" grpId="0" bldLvl="0" animBg="1"/>
      <p:bldP spid="8" grpId="1" animBg="1"/>
      <p:bldP spid="10" grpId="0" bldLvl="0" animBg="1"/>
      <p:bldP spid="10" grpId="1" animBg="1"/>
      <p:bldP spid="9" grpId="0" bldLvl="0" animBg="1"/>
      <p:bldP spid="9" grpId="1" animBg="1"/>
      <p:bldP spid="11" grpId="0" bldLvl="0" animBg="1"/>
      <p:bldP spid="11"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标题 1"/>
          <p:cNvSpPr>
            <a:spLocks noGrp="1"/>
          </p:cNvSpPr>
          <p:nvPr>
            <p:ph type="title"/>
          </p:nvPr>
        </p:nvSpPr>
        <p:spPr/>
        <p:txBody>
          <a:bodyPr vert="horz" wrap="square" lIns="91440" tIns="45720" rIns="91440" bIns="45720" anchor="ctr" anchorCtr="0"/>
          <a:p>
            <a:pPr marL="457200" indent="-457200"/>
            <a:r>
              <a:rPr lang="en-US" altLang="zh-CN" b="1" dirty="0"/>
              <a:t>12.1 Flink</a:t>
            </a:r>
            <a:r>
              <a:rPr lang="zh-CN" altLang="en-US" b="1" dirty="0"/>
              <a:t>简介</a:t>
            </a:r>
            <a:endParaRPr lang="zh-CN" altLang="en-US" b="1" dirty="0"/>
          </a:p>
        </p:txBody>
      </p:sp>
      <p:pic>
        <p:nvPicPr>
          <p:cNvPr id="3" name="图片 2"/>
          <p:cNvPicPr>
            <a:picLocks noChangeAspect="1"/>
          </p:cNvPicPr>
          <p:nvPr/>
        </p:nvPicPr>
        <p:blipFill>
          <a:blip r:embed="rId1"/>
          <a:stretch>
            <a:fillRect/>
          </a:stretch>
        </p:blipFill>
        <p:spPr>
          <a:xfrm>
            <a:off x="237490" y="3770630"/>
            <a:ext cx="2249805" cy="1409700"/>
          </a:xfrm>
          <a:prstGeom prst="rect">
            <a:avLst/>
          </a:prstGeom>
        </p:spPr>
      </p:pic>
      <p:pic>
        <p:nvPicPr>
          <p:cNvPr id="4" name="图片 3"/>
          <p:cNvPicPr>
            <a:picLocks noChangeAspect="1"/>
          </p:cNvPicPr>
          <p:nvPr/>
        </p:nvPicPr>
        <p:blipFill>
          <a:blip r:embed="rId2"/>
          <a:stretch>
            <a:fillRect/>
          </a:stretch>
        </p:blipFill>
        <p:spPr>
          <a:xfrm>
            <a:off x="2597785" y="3441065"/>
            <a:ext cx="1932940" cy="1955800"/>
          </a:xfrm>
          <a:prstGeom prst="rect">
            <a:avLst/>
          </a:prstGeom>
        </p:spPr>
      </p:pic>
      <p:pic>
        <p:nvPicPr>
          <p:cNvPr id="5" name="图片 4"/>
          <p:cNvPicPr>
            <a:picLocks noChangeAspect="1"/>
          </p:cNvPicPr>
          <p:nvPr/>
        </p:nvPicPr>
        <p:blipFill>
          <a:blip r:embed="rId3"/>
          <a:stretch>
            <a:fillRect/>
          </a:stretch>
        </p:blipFill>
        <p:spPr>
          <a:xfrm>
            <a:off x="4715510" y="3705860"/>
            <a:ext cx="2477135" cy="1382395"/>
          </a:xfrm>
          <a:prstGeom prst="rect">
            <a:avLst/>
          </a:prstGeom>
        </p:spPr>
      </p:pic>
      <p:sp>
        <p:nvSpPr>
          <p:cNvPr id="2" name="文本框 1"/>
          <p:cNvSpPr txBox="1"/>
          <p:nvPr/>
        </p:nvSpPr>
        <p:spPr>
          <a:xfrm>
            <a:off x="149225" y="5396865"/>
            <a:ext cx="7304405" cy="460375"/>
          </a:xfrm>
          <a:prstGeom prst="rect">
            <a:avLst/>
          </a:prstGeom>
          <a:noFill/>
        </p:spPr>
        <p:txBody>
          <a:bodyPr wrap="square" rtlCol="0" anchor="t">
            <a:spAutoFit/>
          </a:bodyPr>
          <a:p>
            <a:r>
              <a:rPr lang="zh-CN" altLang="zh-CN" sz="2400" dirty="0">
                <a:latin typeface="Arial" panose="020B0604020202020204" pitchFamily="34" charset="0"/>
                <a:sym typeface="+mn-ea"/>
              </a:rPr>
              <a:t>柏林工业大学、柏林洪堡大学和哈索普拉特纳研究所</a:t>
            </a:r>
            <a:endParaRPr lang="zh-CN" altLang="zh-CN" sz="2400" dirty="0">
              <a:latin typeface="Arial" panose="020B0604020202020204" pitchFamily="34" charset="0"/>
              <a:sym typeface="+mn-ea"/>
            </a:endParaRPr>
          </a:p>
        </p:txBody>
      </p:sp>
      <p:sp>
        <p:nvSpPr>
          <p:cNvPr id="6" name="文本框 5"/>
          <p:cNvSpPr txBox="1"/>
          <p:nvPr/>
        </p:nvSpPr>
        <p:spPr>
          <a:xfrm>
            <a:off x="2191385" y="5920740"/>
            <a:ext cx="2524125" cy="460375"/>
          </a:xfrm>
          <a:prstGeom prst="rect">
            <a:avLst/>
          </a:prstGeom>
          <a:noFill/>
        </p:spPr>
        <p:txBody>
          <a:bodyPr wrap="square" rtlCol="0" anchor="t">
            <a:spAutoFit/>
          </a:bodyPr>
          <a:p>
            <a:r>
              <a:rPr lang="en-US" altLang="zh-CN" sz="2400" dirty="0">
                <a:latin typeface="Arial" panose="020B0604020202020204" pitchFamily="34" charset="0"/>
                <a:sym typeface="+mn-ea"/>
              </a:rPr>
              <a:t>2010</a:t>
            </a:r>
            <a:r>
              <a:rPr lang="zh-CN" altLang="zh-CN" sz="2400" dirty="0">
                <a:latin typeface="Arial" panose="020B0604020202020204" pitchFamily="34" charset="0"/>
                <a:sym typeface="+mn-ea"/>
              </a:rPr>
              <a:t>年到</a:t>
            </a:r>
            <a:r>
              <a:rPr lang="en-US" altLang="zh-CN" sz="2400" dirty="0">
                <a:latin typeface="Arial" panose="020B0604020202020204" pitchFamily="34" charset="0"/>
                <a:sym typeface="+mn-ea"/>
              </a:rPr>
              <a:t>2014</a:t>
            </a:r>
            <a:r>
              <a:rPr lang="zh-CN" altLang="zh-CN" sz="2400" dirty="0">
                <a:latin typeface="Arial" panose="020B0604020202020204" pitchFamily="34" charset="0"/>
                <a:sym typeface="+mn-ea"/>
              </a:rPr>
              <a:t>年</a:t>
            </a:r>
            <a:endParaRPr lang="zh-CN" altLang="zh-CN" sz="2400" dirty="0">
              <a:latin typeface="Arial" panose="020B0604020202020204" pitchFamily="34" charset="0"/>
              <a:sym typeface="+mn-ea"/>
            </a:endParaRPr>
          </a:p>
        </p:txBody>
      </p:sp>
      <p:sp>
        <p:nvSpPr>
          <p:cNvPr id="7" name="文本框 6"/>
          <p:cNvSpPr txBox="1"/>
          <p:nvPr/>
        </p:nvSpPr>
        <p:spPr>
          <a:xfrm>
            <a:off x="2337435" y="2799080"/>
            <a:ext cx="2700020" cy="460375"/>
          </a:xfrm>
          <a:prstGeom prst="rect">
            <a:avLst/>
          </a:prstGeom>
          <a:noFill/>
        </p:spPr>
        <p:txBody>
          <a:bodyPr wrap="square" rtlCol="0" anchor="t">
            <a:spAutoFit/>
          </a:bodyPr>
          <a:p>
            <a:r>
              <a:rPr lang="en-US" altLang="zh-CN" sz="2400" dirty="0">
                <a:latin typeface="Arial" panose="020B0604020202020204" pitchFamily="34" charset="0"/>
                <a:sym typeface="+mn-ea"/>
              </a:rPr>
              <a:t>Stratosphere </a:t>
            </a:r>
            <a:r>
              <a:rPr lang="zh-CN" altLang="zh-CN" sz="2400" dirty="0">
                <a:latin typeface="Arial" panose="020B0604020202020204" pitchFamily="34" charset="0"/>
                <a:sym typeface="+mn-ea"/>
              </a:rPr>
              <a:t>项目</a:t>
            </a:r>
            <a:endParaRPr lang="zh-CN" altLang="zh-CN" sz="2400" dirty="0">
              <a:latin typeface="Arial" panose="020B0604020202020204" pitchFamily="34" charset="0"/>
              <a:sym typeface="+mn-ea"/>
            </a:endParaRPr>
          </a:p>
        </p:txBody>
      </p:sp>
      <p:pic>
        <p:nvPicPr>
          <p:cNvPr id="8" name="图片 7"/>
          <p:cNvPicPr>
            <a:picLocks noChangeAspect="1"/>
          </p:cNvPicPr>
          <p:nvPr/>
        </p:nvPicPr>
        <p:blipFill>
          <a:blip r:embed="rId4"/>
          <a:stretch>
            <a:fillRect/>
          </a:stretch>
        </p:blipFill>
        <p:spPr>
          <a:xfrm>
            <a:off x="9203690" y="3598545"/>
            <a:ext cx="2322195" cy="2322195"/>
          </a:xfrm>
          <a:prstGeom prst="rect">
            <a:avLst/>
          </a:prstGeom>
        </p:spPr>
      </p:pic>
      <p:sp>
        <p:nvSpPr>
          <p:cNvPr id="9" name="右箭头 8"/>
          <p:cNvSpPr/>
          <p:nvPr/>
        </p:nvSpPr>
        <p:spPr>
          <a:xfrm>
            <a:off x="7849870" y="4441825"/>
            <a:ext cx="876300" cy="73850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文本框 9"/>
          <p:cNvSpPr txBox="1"/>
          <p:nvPr>
            <p:custDataLst>
              <p:tags r:id="rId5"/>
            </p:custDataLst>
          </p:nvPr>
        </p:nvSpPr>
        <p:spPr>
          <a:xfrm>
            <a:off x="8726170" y="2799080"/>
            <a:ext cx="3326765" cy="460375"/>
          </a:xfrm>
          <a:prstGeom prst="rect">
            <a:avLst/>
          </a:prstGeom>
          <a:noFill/>
        </p:spPr>
        <p:txBody>
          <a:bodyPr wrap="square" rtlCol="0" anchor="t">
            <a:spAutoFit/>
          </a:bodyPr>
          <a:p>
            <a:r>
              <a:rPr lang="zh-CN" altLang="en-US" sz="2400" dirty="0">
                <a:latin typeface="Arial" panose="020B0604020202020204" pitchFamily="34" charset="0"/>
                <a:sym typeface="+mn-ea"/>
              </a:rPr>
              <a:t>德语</a:t>
            </a:r>
            <a:r>
              <a:rPr lang="en-US" altLang="zh-CN" sz="2400" dirty="0">
                <a:latin typeface="Arial" panose="020B0604020202020204" pitchFamily="34" charset="0"/>
                <a:sym typeface="+mn-ea"/>
              </a:rPr>
              <a:t>Flink</a:t>
            </a:r>
            <a:r>
              <a:rPr lang="zh-CN" altLang="en-US" sz="2400" dirty="0">
                <a:latin typeface="Arial" panose="020B0604020202020204" pitchFamily="34" charset="0"/>
                <a:sym typeface="+mn-ea"/>
              </a:rPr>
              <a:t>：快速和</a:t>
            </a:r>
            <a:r>
              <a:rPr lang="zh-CN" altLang="en-US" sz="2400" dirty="0">
                <a:latin typeface="Arial" panose="020B0604020202020204" pitchFamily="34" charset="0"/>
                <a:sym typeface="+mn-ea"/>
              </a:rPr>
              <a:t>轻巧</a:t>
            </a:r>
            <a:endParaRPr lang="zh-CN" altLang="en-US" sz="2400" dirty="0">
              <a:latin typeface="Arial" panose="020B0604020202020204" pitchFamily="34" charset="0"/>
              <a:sym typeface="+mn-ea"/>
            </a:endParaRPr>
          </a:p>
        </p:txBody>
      </p:sp>
      <p:sp>
        <p:nvSpPr>
          <p:cNvPr id="11" name="文本框 10"/>
          <p:cNvSpPr txBox="1"/>
          <p:nvPr>
            <p:custDataLst>
              <p:tags r:id="rId6"/>
            </p:custDataLst>
          </p:nvPr>
        </p:nvSpPr>
        <p:spPr>
          <a:xfrm>
            <a:off x="7441565" y="3890010"/>
            <a:ext cx="1697990" cy="460375"/>
          </a:xfrm>
          <a:prstGeom prst="rect">
            <a:avLst/>
          </a:prstGeom>
          <a:noFill/>
        </p:spPr>
        <p:txBody>
          <a:bodyPr wrap="square" rtlCol="0" anchor="t">
            <a:spAutoFit/>
          </a:bodyPr>
          <a:p>
            <a:r>
              <a:rPr lang="en-US" altLang="zh-CN" sz="2400" dirty="0">
                <a:latin typeface="Arial" panose="020B0604020202020204" pitchFamily="34" charset="0"/>
                <a:sym typeface="+mn-ea"/>
              </a:rPr>
              <a:t>2014</a:t>
            </a:r>
            <a:r>
              <a:rPr lang="zh-CN" altLang="zh-CN" sz="2400" dirty="0">
                <a:latin typeface="Arial" panose="020B0604020202020204" pitchFamily="34" charset="0"/>
                <a:sym typeface="+mn-ea"/>
              </a:rPr>
              <a:t>年</a:t>
            </a:r>
            <a:r>
              <a:rPr lang="en-US" altLang="zh-CN" sz="2400" dirty="0">
                <a:latin typeface="Arial" panose="020B0604020202020204" pitchFamily="34" charset="0"/>
                <a:sym typeface="+mn-ea"/>
              </a:rPr>
              <a:t>4</a:t>
            </a:r>
            <a:r>
              <a:rPr lang="zh-CN" altLang="en-US" sz="2400" dirty="0">
                <a:latin typeface="Arial" panose="020B0604020202020204" pitchFamily="34" charset="0"/>
                <a:sym typeface="+mn-ea"/>
              </a:rPr>
              <a:t>月</a:t>
            </a:r>
            <a:endParaRPr lang="zh-CN" altLang="en-US" sz="2400" dirty="0">
              <a:latin typeface="Arial" panose="020B0604020202020204" pitchFamily="34" charset="0"/>
              <a:sym typeface="+mn-ea"/>
            </a:endParaRPr>
          </a:p>
        </p:txBody>
      </p:sp>
      <p:sp>
        <p:nvSpPr>
          <p:cNvPr id="12" name="文本框 11"/>
          <p:cNvSpPr txBox="1"/>
          <p:nvPr/>
        </p:nvSpPr>
        <p:spPr>
          <a:xfrm>
            <a:off x="838200" y="1728470"/>
            <a:ext cx="10817860" cy="829945"/>
          </a:xfrm>
          <a:prstGeom prst="rect">
            <a:avLst/>
          </a:prstGeom>
          <a:noFill/>
        </p:spPr>
        <p:txBody>
          <a:bodyPr wrap="square" rtlCol="0" anchor="t">
            <a:spAutoFit/>
          </a:bodyPr>
          <a:p>
            <a:pPr indent="0">
              <a:buFont typeface="Arial" panose="020B0604020202020204" pitchFamily="34" charset="0"/>
              <a:buNone/>
            </a:pPr>
            <a:r>
              <a:rPr lang="zh-CN" altLang="zh-CN" sz="2400" dirty="0">
                <a:latin typeface="Arial" panose="020B0604020202020204" pitchFamily="34" charset="0"/>
                <a:sym typeface="+mn-ea"/>
              </a:rPr>
              <a:t>为分布式、高性能、随时可用以及准确的流处理应用程序打造的开源流处理框架，并且可以同时支持实时计算和批量计算。</a:t>
            </a:r>
            <a:endParaRPr lang="zh-CN" altLang="zh-CN" sz="2400" dirty="0">
              <a:latin typeface="Arial" panose="020B0604020202020204" pitchFamily="34" charset="0"/>
              <a:sym typeface="+mn-ea"/>
            </a:endParaRPr>
          </a:p>
        </p:txBody>
      </p:sp>
      <p:sp>
        <p:nvSpPr>
          <p:cNvPr id="13" name="文本框 12"/>
          <p:cNvSpPr txBox="1"/>
          <p:nvPr>
            <p:custDataLst>
              <p:tags r:id="rId7"/>
            </p:custDataLst>
          </p:nvPr>
        </p:nvSpPr>
        <p:spPr>
          <a:xfrm>
            <a:off x="9156065" y="5920740"/>
            <a:ext cx="2499995" cy="829945"/>
          </a:xfrm>
          <a:prstGeom prst="rect">
            <a:avLst/>
          </a:prstGeom>
          <a:noFill/>
        </p:spPr>
        <p:txBody>
          <a:bodyPr wrap="square" rtlCol="0" anchor="t">
            <a:spAutoFit/>
          </a:bodyPr>
          <a:p>
            <a:pPr algn="ctr"/>
            <a:r>
              <a:rPr lang="en-US" altLang="zh-CN" sz="2400" dirty="0">
                <a:latin typeface="Arial" panose="020B0604020202020204" pitchFamily="34" charset="0"/>
                <a:sym typeface="+mn-ea"/>
              </a:rPr>
              <a:t>2014</a:t>
            </a:r>
            <a:r>
              <a:rPr lang="zh-CN" altLang="zh-CN" sz="2400" dirty="0">
                <a:latin typeface="Arial" panose="020B0604020202020204" pitchFamily="34" charset="0"/>
                <a:sym typeface="+mn-ea"/>
              </a:rPr>
              <a:t>年</a:t>
            </a:r>
            <a:r>
              <a:rPr lang="en-US" altLang="zh-CN" sz="2400" dirty="0">
                <a:latin typeface="Arial" panose="020B0604020202020204" pitchFamily="34" charset="0"/>
                <a:sym typeface="+mn-ea"/>
              </a:rPr>
              <a:t>12</a:t>
            </a:r>
            <a:r>
              <a:rPr lang="zh-CN" altLang="en-US" sz="2400" dirty="0">
                <a:latin typeface="Arial" panose="020B0604020202020204" pitchFamily="34" charset="0"/>
                <a:sym typeface="+mn-ea"/>
              </a:rPr>
              <a:t>月</a:t>
            </a:r>
            <a:endParaRPr lang="zh-CN" altLang="en-US" sz="2400" dirty="0">
              <a:latin typeface="Arial" panose="020B0604020202020204" pitchFamily="34" charset="0"/>
              <a:sym typeface="+mn-ea"/>
            </a:endParaRPr>
          </a:p>
          <a:p>
            <a:pPr algn="ctr"/>
            <a:r>
              <a:rPr lang="en-US" altLang="zh-CN" sz="2400" dirty="0">
                <a:latin typeface="Arial" panose="020B0604020202020204" pitchFamily="34" charset="0"/>
                <a:sym typeface="+mn-ea"/>
              </a:rPr>
              <a:t>Apache</a:t>
            </a:r>
            <a:r>
              <a:rPr lang="zh-CN" altLang="en-US" sz="2400" dirty="0">
                <a:latin typeface="Arial" panose="020B0604020202020204" pitchFamily="34" charset="0"/>
                <a:sym typeface="+mn-ea"/>
              </a:rPr>
              <a:t>顶级</a:t>
            </a:r>
            <a:r>
              <a:rPr lang="zh-CN" altLang="en-US" sz="2400" dirty="0">
                <a:latin typeface="Arial" panose="020B0604020202020204" pitchFamily="34" charset="0"/>
                <a:sym typeface="+mn-ea"/>
              </a:rPr>
              <a:t>项目</a:t>
            </a:r>
            <a:endParaRPr lang="zh-CN" altLang="en-US" sz="2400" dirty="0">
              <a:latin typeface="Arial" panose="020B0604020202020204" pitchFamily="3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left)">
                                      <p:cBhvr>
                                        <p:cTn id="21" dur="500"/>
                                        <p:tgtEl>
                                          <p:spTgt spid="9"/>
                                        </p:tgtEl>
                                      </p:cBhvr>
                                    </p:animEffect>
                                  </p:childTnLst>
                                </p:cTn>
                              </p:par>
                              <p:par>
                                <p:cTn id="22" presetID="1"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left)">
                                      <p:cBhvr>
                                        <p:cTn id="28" dur="500"/>
                                        <p:tgtEl>
                                          <p:spTgt spid="8"/>
                                        </p:tgtEl>
                                      </p:cBhvr>
                                    </p:animEffec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6" grpId="1"/>
      <p:bldP spid="7" grpId="1"/>
      <p:bldP spid="9" grpId="0" bldLvl="0" animBg="1"/>
      <p:bldP spid="9" grpId="1" animBg="1"/>
      <p:bldP spid="10" grpId="0"/>
      <p:bldP spid="10" grpId="1"/>
      <p:bldP spid="11" grpId="0"/>
      <p:bldP spid="11" grpId="1"/>
      <p:bldP spid="13" grpId="0"/>
      <p:bldP spid="13" grpId="1"/>
      <p:bldP spid="2" grpId="0"/>
      <p:bldP spid="2"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标题 1"/>
          <p:cNvSpPr>
            <a:spLocks noGrp="1"/>
          </p:cNvSpPr>
          <p:nvPr>
            <p:ph type="title"/>
          </p:nvPr>
        </p:nvSpPr>
        <p:spPr/>
        <p:txBody>
          <a:bodyPr vert="horz" wrap="square" lIns="91440" tIns="45720" rIns="91440" bIns="45720" anchor="ctr" anchorCtr="0"/>
          <a:p>
            <a:r>
              <a:rPr lang="en-US" altLang="zh-CN" b="1" dirty="0"/>
              <a:t>12.1 Flink</a:t>
            </a:r>
            <a:r>
              <a:rPr lang="zh-CN" altLang="en-US" b="1" dirty="0"/>
              <a:t>简介</a:t>
            </a:r>
            <a:endParaRPr lang="zh-CN" altLang="en-US" dirty="0"/>
          </a:p>
        </p:txBody>
      </p:sp>
      <p:sp>
        <p:nvSpPr>
          <p:cNvPr id="7171" name="TextBox 2"/>
          <p:cNvSpPr txBox="1"/>
          <p:nvPr/>
        </p:nvSpPr>
        <p:spPr>
          <a:xfrm>
            <a:off x="984885" y="1483360"/>
            <a:ext cx="10166985" cy="473075"/>
          </a:xfrm>
          <a:prstGeom prst="rect">
            <a:avLst/>
          </a:prstGeom>
          <a:noFill/>
          <a:ln w="9525">
            <a:noFill/>
          </a:ln>
        </p:spPr>
        <p:txBody>
          <a:bodyPr>
            <a:noAutofit/>
          </a:bodyPr>
          <a:p>
            <a:pPr indent="0">
              <a:buFont typeface="Arial" panose="020B0604020202020204" pitchFamily="34" charset="0"/>
              <a:buNone/>
            </a:pPr>
            <a:r>
              <a:rPr lang="zh-CN" altLang="zh-CN" sz="2400" dirty="0">
                <a:latin typeface="Arial" panose="020B0604020202020204" pitchFamily="34" charset="0"/>
                <a:sym typeface="+mn-ea"/>
              </a:rPr>
              <a:t>目前，</a:t>
            </a:r>
            <a:r>
              <a:rPr lang="en-US" altLang="zh-CN" sz="2400" dirty="0">
                <a:latin typeface="Arial" panose="020B0604020202020204" pitchFamily="34" charset="0"/>
                <a:sym typeface="+mn-ea"/>
              </a:rPr>
              <a:t>Flink</a:t>
            </a:r>
            <a:r>
              <a:rPr lang="zh-CN" altLang="zh-CN" sz="2400" dirty="0">
                <a:latin typeface="Arial" panose="020B0604020202020204" pitchFamily="34" charset="0"/>
                <a:sym typeface="+mn-ea"/>
              </a:rPr>
              <a:t>是</a:t>
            </a:r>
            <a:r>
              <a:rPr lang="en-US" altLang="zh-CN" sz="2400" dirty="0">
                <a:latin typeface="Arial" panose="020B0604020202020204" pitchFamily="34" charset="0"/>
                <a:sym typeface="+mn-ea"/>
              </a:rPr>
              <a:t>Apache</a:t>
            </a:r>
            <a:r>
              <a:rPr lang="zh-CN" altLang="zh-CN" sz="2400" dirty="0">
                <a:latin typeface="Arial" panose="020B0604020202020204" pitchFamily="34" charset="0"/>
                <a:sym typeface="+mn-ea"/>
              </a:rPr>
              <a:t>软件基金会的</a:t>
            </a:r>
            <a:r>
              <a:rPr lang="en-US" altLang="zh-CN" sz="2400" dirty="0">
                <a:latin typeface="Arial" panose="020B0604020202020204" pitchFamily="34" charset="0"/>
                <a:sym typeface="+mn-ea"/>
              </a:rPr>
              <a:t>5</a:t>
            </a:r>
            <a:r>
              <a:rPr lang="zh-CN" altLang="zh-CN" sz="2400" dirty="0">
                <a:latin typeface="Arial" panose="020B0604020202020204" pitchFamily="34" charset="0"/>
                <a:sym typeface="+mn-ea"/>
              </a:rPr>
              <a:t>个最大的大数据项目之一</a:t>
            </a:r>
            <a:endParaRPr lang="en-US" altLang="zh-CN" sz="2400" dirty="0">
              <a:latin typeface="Arial" panose="020B0604020202020204" pitchFamily="34" charset="0"/>
            </a:endParaRPr>
          </a:p>
          <a:p>
            <a:pPr>
              <a:buFont typeface="Arial" panose="020B0604020202020204" pitchFamily="34" charset="0"/>
              <a:buChar char="•"/>
            </a:pPr>
            <a:endParaRPr lang="en-US" altLang="zh-CN" sz="2400" dirty="0">
              <a:latin typeface="Arial" panose="020B0604020202020204" pitchFamily="34" charset="0"/>
            </a:endParaRPr>
          </a:p>
          <a:p>
            <a:pPr>
              <a:buFont typeface="Arial" panose="020B0604020202020204" pitchFamily="34" charset="0"/>
              <a:buChar char="•"/>
            </a:pPr>
            <a:endParaRPr lang="en-US" altLang="zh-CN" sz="2400" dirty="0">
              <a:latin typeface="Arial" panose="020B0604020202020204" pitchFamily="34" charset="0"/>
            </a:endParaRPr>
          </a:p>
          <a:p>
            <a:pPr>
              <a:buFont typeface="Arial" panose="020B0604020202020204" pitchFamily="34" charset="0"/>
              <a:buChar char="•"/>
            </a:pPr>
            <a:endParaRPr lang="en-US" altLang="zh-CN" sz="2400" dirty="0">
              <a:latin typeface="Arial" panose="020B0604020202020204" pitchFamily="34" charset="0"/>
            </a:endParaRPr>
          </a:p>
          <a:p>
            <a:pPr>
              <a:buFont typeface="Arial" panose="020B0604020202020204" pitchFamily="34" charset="0"/>
              <a:buChar char="•"/>
            </a:pPr>
            <a:endParaRPr lang="en-US" altLang="zh-CN" sz="2400" dirty="0">
              <a:latin typeface="Arial" panose="020B0604020202020204" pitchFamily="34" charset="0"/>
            </a:endParaRPr>
          </a:p>
          <a:p>
            <a:pPr indent="0">
              <a:buFont typeface="Arial" panose="020B0604020202020204" pitchFamily="34" charset="0"/>
              <a:buNone/>
            </a:pPr>
            <a:endParaRPr lang="zh-CN" altLang="zh-CN" sz="2400" dirty="0">
              <a:latin typeface="Arial" panose="020B0604020202020204" pitchFamily="34" charset="0"/>
            </a:endParaRPr>
          </a:p>
        </p:txBody>
      </p:sp>
      <p:pic>
        <p:nvPicPr>
          <p:cNvPr id="103" name="图片 102"/>
          <p:cNvPicPr/>
          <p:nvPr/>
        </p:nvPicPr>
        <p:blipFill>
          <a:blip r:embed="rId1"/>
          <a:stretch>
            <a:fillRect/>
          </a:stretch>
        </p:blipFill>
        <p:spPr>
          <a:xfrm>
            <a:off x="2809240" y="2122170"/>
            <a:ext cx="6338570" cy="2414905"/>
          </a:xfrm>
          <a:prstGeom prst="rect">
            <a:avLst/>
          </a:prstGeom>
          <a:noFill/>
          <a:ln w="9525">
            <a:noFill/>
          </a:ln>
        </p:spPr>
      </p:pic>
      <p:sp>
        <p:nvSpPr>
          <p:cNvPr id="2" name="文本框 1"/>
          <p:cNvSpPr txBox="1"/>
          <p:nvPr/>
        </p:nvSpPr>
        <p:spPr>
          <a:xfrm>
            <a:off x="984885" y="4702810"/>
            <a:ext cx="9450705" cy="1198880"/>
          </a:xfrm>
          <a:prstGeom prst="rect">
            <a:avLst/>
          </a:prstGeom>
          <a:noFill/>
        </p:spPr>
        <p:txBody>
          <a:bodyPr wrap="square" rtlCol="0" anchor="t">
            <a:spAutoFit/>
          </a:bodyPr>
          <a:p>
            <a:pPr indent="0">
              <a:buFont typeface="Arial" panose="020B0604020202020204" pitchFamily="34" charset="0"/>
              <a:buNone/>
            </a:pPr>
            <a:r>
              <a:rPr lang="zh-CN" altLang="zh-CN" sz="2400" dirty="0">
                <a:latin typeface="Arial" panose="020B0604020202020204" pitchFamily="34" charset="0"/>
                <a:sym typeface="+mn-ea"/>
              </a:rPr>
              <a:t>事实证明，</a:t>
            </a:r>
            <a:r>
              <a:rPr lang="en-US" altLang="zh-CN" sz="2400" dirty="0">
                <a:latin typeface="Arial" panose="020B0604020202020204" pitchFamily="34" charset="0"/>
                <a:sym typeface="+mn-ea"/>
              </a:rPr>
              <a:t>Flink </a:t>
            </a:r>
            <a:r>
              <a:rPr lang="zh-CN" altLang="zh-CN" sz="2400" dirty="0">
                <a:latin typeface="Arial" panose="020B0604020202020204" pitchFamily="34" charset="0"/>
                <a:sym typeface="+mn-ea"/>
              </a:rPr>
              <a:t>已经可以扩展到数千核心，其状态可以达到</a:t>
            </a:r>
            <a:r>
              <a:rPr lang="en-US" altLang="zh-CN" sz="2400" dirty="0">
                <a:latin typeface="Arial" panose="020B0604020202020204" pitchFamily="34" charset="0"/>
                <a:sym typeface="+mn-ea"/>
              </a:rPr>
              <a:t> TB </a:t>
            </a:r>
            <a:r>
              <a:rPr lang="zh-CN" altLang="zh-CN" sz="2400" dirty="0">
                <a:latin typeface="Arial" panose="020B0604020202020204" pitchFamily="34" charset="0"/>
                <a:sym typeface="+mn-ea"/>
              </a:rPr>
              <a:t>级别，且仍能保持高吞吐、低延迟的特性。世界各地有很多要求严苛的流处理应用都运行在 </a:t>
            </a:r>
            <a:r>
              <a:rPr lang="en-US" altLang="zh-CN" sz="2400" dirty="0">
                <a:latin typeface="Arial" panose="020B0604020202020204" pitchFamily="34" charset="0"/>
                <a:sym typeface="+mn-ea"/>
              </a:rPr>
              <a:t>Flink </a:t>
            </a:r>
            <a:r>
              <a:rPr lang="zh-CN" altLang="zh-CN" sz="2400" dirty="0">
                <a:latin typeface="Arial" panose="020B0604020202020204" pitchFamily="34" charset="0"/>
                <a:sym typeface="+mn-ea"/>
              </a:rPr>
              <a:t>之上。</a:t>
            </a:r>
            <a:endParaRPr lang="zh-CN" altLang="zh-CN" sz="2400" dirty="0">
              <a:latin typeface="Arial" panose="020B0604020202020204" pitchFamily="34" charset="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1"/>
          <p:cNvSpPr>
            <a:spLocks noGrp="1"/>
          </p:cNvSpPr>
          <p:nvPr>
            <p:ph type="title"/>
          </p:nvPr>
        </p:nvSpPr>
        <p:spPr/>
        <p:txBody>
          <a:bodyPr vert="horz" wrap="square" lIns="91440" tIns="45720" rIns="91440" bIns="45720" anchor="ctr" anchorCtr="0"/>
          <a:p>
            <a:r>
              <a:rPr lang="en-US" altLang="zh-CN" b="1" dirty="0"/>
              <a:t>12.2 </a:t>
            </a:r>
            <a:r>
              <a:rPr lang="zh-CN" altLang="zh-CN" b="1" dirty="0"/>
              <a:t>为什么选择</a:t>
            </a:r>
            <a:r>
              <a:rPr lang="en-US" altLang="zh-CN" b="1" dirty="0"/>
              <a:t>Flink</a:t>
            </a:r>
            <a:endParaRPr lang="zh-CN" altLang="en-US" b="1" dirty="0"/>
          </a:p>
        </p:txBody>
      </p:sp>
      <p:sp>
        <p:nvSpPr>
          <p:cNvPr id="8195" name="TextBox 2"/>
          <p:cNvSpPr txBox="1"/>
          <p:nvPr/>
        </p:nvSpPr>
        <p:spPr>
          <a:xfrm>
            <a:off x="984885" y="1588135"/>
            <a:ext cx="5220335" cy="4399915"/>
          </a:xfrm>
          <a:prstGeom prst="rect">
            <a:avLst/>
          </a:prstGeom>
          <a:noFill/>
          <a:ln w="9525">
            <a:noFill/>
          </a:ln>
        </p:spPr>
        <p:txBody>
          <a:bodyPr wrap="none">
            <a:spAutoFit/>
          </a:bodyPr>
          <a:p>
            <a:pPr>
              <a:lnSpc>
                <a:spcPct val="200000"/>
              </a:lnSpc>
            </a:pPr>
            <a:r>
              <a:rPr lang="en-US" altLang="zh-CN" sz="2800" dirty="0">
                <a:latin typeface="Arial" panose="020B0604020202020204" pitchFamily="34" charset="0"/>
              </a:rPr>
              <a:t>12.2.1 </a:t>
            </a:r>
            <a:r>
              <a:rPr lang="zh-CN" altLang="zh-CN" sz="2800" dirty="0">
                <a:latin typeface="Arial" panose="020B0604020202020204" pitchFamily="34" charset="0"/>
              </a:rPr>
              <a:t>传统数据处理架构</a:t>
            </a:r>
            <a:endParaRPr lang="en-US" altLang="zh-CN" sz="2800" dirty="0">
              <a:latin typeface="Arial" panose="020B0604020202020204" pitchFamily="34" charset="0"/>
            </a:endParaRPr>
          </a:p>
          <a:p>
            <a:pPr>
              <a:lnSpc>
                <a:spcPct val="200000"/>
              </a:lnSpc>
            </a:pPr>
            <a:r>
              <a:rPr lang="en-US" altLang="zh-CN" sz="2800" dirty="0">
                <a:latin typeface="Arial" panose="020B0604020202020204" pitchFamily="34" charset="0"/>
              </a:rPr>
              <a:t>12.2.2 </a:t>
            </a:r>
            <a:r>
              <a:rPr lang="zh-CN" altLang="zh-CN" sz="2800" dirty="0">
                <a:latin typeface="Arial" panose="020B0604020202020204" pitchFamily="34" charset="0"/>
              </a:rPr>
              <a:t>大数据</a:t>
            </a:r>
            <a:r>
              <a:rPr lang="en-US" altLang="zh-CN" sz="2800" dirty="0">
                <a:latin typeface="Arial" panose="020B0604020202020204" pitchFamily="34" charset="0"/>
              </a:rPr>
              <a:t>Lambda</a:t>
            </a:r>
            <a:r>
              <a:rPr lang="zh-CN" altLang="zh-CN" sz="2800" dirty="0">
                <a:latin typeface="Arial" panose="020B0604020202020204" pitchFamily="34" charset="0"/>
              </a:rPr>
              <a:t>架构</a:t>
            </a:r>
            <a:endParaRPr lang="en-US" altLang="zh-CN" sz="2800" dirty="0">
              <a:latin typeface="Arial" panose="020B0604020202020204" pitchFamily="34" charset="0"/>
            </a:endParaRPr>
          </a:p>
          <a:p>
            <a:pPr>
              <a:lnSpc>
                <a:spcPct val="200000"/>
              </a:lnSpc>
            </a:pPr>
            <a:r>
              <a:rPr lang="en-US" altLang="zh-CN" sz="2800" dirty="0">
                <a:latin typeface="Arial" panose="020B0604020202020204" pitchFamily="34" charset="0"/>
              </a:rPr>
              <a:t>12.2.3</a:t>
            </a:r>
            <a:r>
              <a:rPr lang="zh-CN" altLang="zh-CN" sz="2800" dirty="0">
                <a:latin typeface="Arial" panose="020B0604020202020204" pitchFamily="34" charset="0"/>
              </a:rPr>
              <a:t>流处理架构</a:t>
            </a:r>
            <a:endParaRPr lang="en-US" altLang="zh-CN" sz="2800" dirty="0">
              <a:latin typeface="Arial" panose="020B0604020202020204" pitchFamily="34" charset="0"/>
            </a:endParaRPr>
          </a:p>
          <a:p>
            <a:pPr>
              <a:lnSpc>
                <a:spcPct val="200000"/>
              </a:lnSpc>
            </a:pPr>
            <a:r>
              <a:rPr lang="en-US" altLang="zh-CN" sz="2800" dirty="0">
                <a:latin typeface="Arial" panose="020B0604020202020204" pitchFamily="34" charset="0"/>
              </a:rPr>
              <a:t>12.2.4 Flink</a:t>
            </a:r>
            <a:r>
              <a:rPr lang="zh-CN" altLang="zh-CN" sz="2800" dirty="0">
                <a:latin typeface="Arial" panose="020B0604020202020204" pitchFamily="34" charset="0"/>
              </a:rPr>
              <a:t>是理想的流计算框架</a:t>
            </a:r>
            <a:endParaRPr lang="en-US" altLang="zh-CN" sz="2800" dirty="0">
              <a:latin typeface="Arial" panose="020B0604020202020204" pitchFamily="34" charset="0"/>
            </a:endParaRPr>
          </a:p>
          <a:p>
            <a:pPr>
              <a:lnSpc>
                <a:spcPct val="200000"/>
              </a:lnSpc>
            </a:pPr>
            <a:r>
              <a:rPr lang="en-US" altLang="zh-CN" sz="2800" dirty="0">
                <a:latin typeface="Arial" panose="020B0604020202020204" pitchFamily="34" charset="0"/>
              </a:rPr>
              <a:t>12.2.5 Flink</a:t>
            </a:r>
            <a:r>
              <a:rPr lang="zh-CN" altLang="zh-CN" sz="2800" dirty="0">
                <a:latin typeface="Arial" panose="020B0604020202020204" pitchFamily="34" charset="0"/>
              </a:rPr>
              <a:t>的优势</a:t>
            </a:r>
            <a:endParaRPr lang="zh-CN" altLang="zh-CN" sz="2800" dirty="0">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标题 1"/>
          <p:cNvSpPr>
            <a:spLocks noGrp="1"/>
          </p:cNvSpPr>
          <p:nvPr>
            <p:ph type="title"/>
          </p:nvPr>
        </p:nvSpPr>
        <p:spPr/>
        <p:txBody>
          <a:bodyPr vert="horz" wrap="square" lIns="91440" tIns="45720" rIns="91440" bIns="45720" anchor="ctr" anchorCtr="0"/>
          <a:p>
            <a:r>
              <a:rPr lang="en-US" altLang="zh-CN" b="1" dirty="0"/>
              <a:t>12.2.1 </a:t>
            </a:r>
            <a:r>
              <a:rPr lang="zh-CN" altLang="zh-CN" b="1" dirty="0"/>
              <a:t>传统数据处理架构</a:t>
            </a:r>
            <a:endParaRPr lang="zh-CN" altLang="en-US" b="1" dirty="0"/>
          </a:p>
        </p:txBody>
      </p:sp>
      <p:pic>
        <p:nvPicPr>
          <p:cNvPr id="9219" name="图片 2"/>
          <p:cNvPicPr>
            <a:picLocks noChangeAspect="1"/>
          </p:cNvPicPr>
          <p:nvPr/>
        </p:nvPicPr>
        <p:blipFill>
          <a:blip r:embed="rId1"/>
          <a:stretch>
            <a:fillRect/>
          </a:stretch>
        </p:blipFill>
        <p:spPr>
          <a:xfrm>
            <a:off x="2233295" y="2668270"/>
            <a:ext cx="7495540" cy="3148330"/>
          </a:xfrm>
          <a:prstGeom prst="rect">
            <a:avLst/>
          </a:prstGeom>
          <a:noFill/>
          <a:ln w="9525">
            <a:noFill/>
          </a:ln>
        </p:spPr>
      </p:pic>
      <p:sp>
        <p:nvSpPr>
          <p:cNvPr id="9220" name="矩形 3"/>
          <p:cNvSpPr/>
          <p:nvPr/>
        </p:nvSpPr>
        <p:spPr>
          <a:xfrm>
            <a:off x="4785360" y="5975985"/>
            <a:ext cx="2621280" cy="460375"/>
          </a:xfrm>
          <a:prstGeom prst="rect">
            <a:avLst/>
          </a:prstGeom>
          <a:noFill/>
          <a:ln w="9525">
            <a:noFill/>
          </a:ln>
        </p:spPr>
        <p:txBody>
          <a:bodyPr wrap="none">
            <a:spAutoFit/>
          </a:bodyPr>
          <a:p>
            <a:r>
              <a:rPr lang="zh-CN" altLang="zh-CN" sz="2400" dirty="0">
                <a:latin typeface="Arial" panose="020B0604020202020204" pitchFamily="34" charset="0"/>
              </a:rPr>
              <a:t>传统数据处理架构</a:t>
            </a:r>
            <a:endParaRPr lang="zh-CN" altLang="zh-CN" sz="2400" dirty="0">
              <a:latin typeface="Arial" panose="020B0604020202020204" pitchFamily="34" charset="0"/>
            </a:endParaRPr>
          </a:p>
        </p:txBody>
      </p:sp>
      <p:sp>
        <p:nvSpPr>
          <p:cNvPr id="9221" name="矩形 4"/>
          <p:cNvSpPr/>
          <p:nvPr/>
        </p:nvSpPr>
        <p:spPr>
          <a:xfrm>
            <a:off x="2743200" y="1600200"/>
            <a:ext cx="6705600" cy="829945"/>
          </a:xfrm>
          <a:prstGeom prst="rect">
            <a:avLst/>
          </a:prstGeom>
          <a:noFill/>
          <a:ln w="9525">
            <a:noFill/>
          </a:ln>
        </p:spPr>
        <p:txBody>
          <a:bodyPr>
            <a:spAutoFit/>
          </a:bodyPr>
          <a:p>
            <a:r>
              <a:rPr lang="zh-CN" altLang="zh-CN" sz="2400" dirty="0">
                <a:latin typeface="Arial" panose="020B0604020202020204" pitchFamily="34" charset="0"/>
              </a:rPr>
              <a:t>传统数据处理架构的一个显著特点就是采用一个</a:t>
            </a:r>
            <a:r>
              <a:rPr lang="zh-CN" altLang="zh-CN" sz="2400" dirty="0">
                <a:solidFill>
                  <a:srgbClr val="FF0000"/>
                </a:solidFill>
                <a:latin typeface="Arial" panose="020B0604020202020204" pitchFamily="34" charset="0"/>
              </a:rPr>
              <a:t>中心化</a:t>
            </a:r>
            <a:r>
              <a:rPr lang="zh-CN" altLang="zh-CN" sz="2400" dirty="0">
                <a:latin typeface="Arial" panose="020B0604020202020204" pitchFamily="34" charset="0"/>
              </a:rPr>
              <a:t>的数据库系统，用于存储事务性数据。</a:t>
            </a:r>
            <a:endParaRPr lang="zh-CN" altLang="en-US" sz="2400" dirty="0">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标题 1"/>
          <p:cNvSpPr>
            <a:spLocks noGrp="1"/>
          </p:cNvSpPr>
          <p:nvPr>
            <p:ph type="title"/>
          </p:nvPr>
        </p:nvSpPr>
        <p:spPr/>
        <p:txBody>
          <a:bodyPr vert="horz" wrap="square" lIns="91440" tIns="45720" rIns="91440" bIns="45720" anchor="ctr" anchorCtr="0"/>
          <a:p>
            <a:r>
              <a:rPr lang="en-US" altLang="zh-CN" b="1" dirty="0"/>
              <a:t>12.2.2 </a:t>
            </a:r>
            <a:r>
              <a:rPr lang="zh-CN" altLang="zh-CN" b="1" dirty="0"/>
              <a:t>大数据</a:t>
            </a:r>
            <a:r>
              <a:rPr lang="en-US" altLang="zh-CN" b="1" dirty="0"/>
              <a:t>Lambda</a:t>
            </a:r>
            <a:r>
              <a:rPr lang="zh-CN" altLang="zh-CN" b="1" dirty="0"/>
              <a:t>架构</a:t>
            </a:r>
            <a:endParaRPr lang="zh-CN" altLang="en-US" b="1" dirty="0"/>
          </a:p>
        </p:txBody>
      </p:sp>
      <p:sp>
        <p:nvSpPr>
          <p:cNvPr id="10243" name="Rectangle 2"/>
          <p:cNvSpPr/>
          <p:nvPr/>
        </p:nvSpPr>
        <p:spPr>
          <a:xfrm>
            <a:off x="1524000" y="44450"/>
            <a:ext cx="309880" cy="368300"/>
          </a:xfrm>
          <a:prstGeom prst="rect">
            <a:avLst/>
          </a:prstGeom>
          <a:noFill/>
          <a:ln w="9525">
            <a:noFill/>
          </a:ln>
        </p:spPr>
        <p:txBody>
          <a:bodyPr wrap="none" anchor="ctr" anchorCtr="0">
            <a:spAutoFit/>
          </a:bodyPr>
          <a:p>
            <a:endParaRPr lang="zh-CN" altLang="en-US" dirty="0">
              <a:latin typeface="Arial" panose="020B0604020202020204" pitchFamily="34" charset="0"/>
            </a:endParaRPr>
          </a:p>
        </p:txBody>
      </p:sp>
      <p:pic>
        <p:nvPicPr>
          <p:cNvPr id="10244" name="图片 1"/>
          <p:cNvPicPr>
            <a:picLocks noChangeAspect="1"/>
          </p:cNvPicPr>
          <p:nvPr/>
        </p:nvPicPr>
        <p:blipFill>
          <a:blip r:embed="rId1"/>
          <a:stretch>
            <a:fillRect/>
          </a:stretch>
        </p:blipFill>
        <p:spPr>
          <a:xfrm>
            <a:off x="1193800" y="2540000"/>
            <a:ext cx="9578975" cy="4247515"/>
          </a:xfrm>
          <a:prstGeom prst="rect">
            <a:avLst/>
          </a:prstGeom>
          <a:noFill/>
          <a:ln w="9525">
            <a:noFill/>
          </a:ln>
        </p:spPr>
      </p:pic>
      <p:sp>
        <p:nvSpPr>
          <p:cNvPr id="10246" name="TextBox 5"/>
          <p:cNvSpPr txBox="1"/>
          <p:nvPr/>
        </p:nvSpPr>
        <p:spPr>
          <a:xfrm>
            <a:off x="1048385" y="2023745"/>
            <a:ext cx="8750300" cy="460375"/>
          </a:xfrm>
          <a:prstGeom prst="rect">
            <a:avLst/>
          </a:prstGeom>
          <a:noFill/>
          <a:ln w="9525">
            <a:noFill/>
          </a:ln>
        </p:spPr>
        <p:txBody>
          <a:bodyPr wrap="square">
            <a:spAutoFit/>
          </a:bodyPr>
          <a:p>
            <a:r>
              <a:rPr lang="zh-CN" altLang="zh-CN" sz="2400" dirty="0">
                <a:latin typeface="Arial" panose="020B0604020202020204" pitchFamily="34" charset="0"/>
              </a:rPr>
              <a:t>大数据</a:t>
            </a:r>
            <a:r>
              <a:rPr lang="en-US" altLang="zh-CN" sz="2400" dirty="0">
                <a:latin typeface="Arial" panose="020B0604020202020204" pitchFamily="34" charset="0"/>
              </a:rPr>
              <a:t>Lambda</a:t>
            </a:r>
            <a:r>
              <a:rPr lang="zh-CN" altLang="zh-CN" sz="2400" dirty="0">
                <a:latin typeface="Arial" panose="020B0604020202020204" pitchFamily="34" charset="0"/>
              </a:rPr>
              <a:t>架构主要包含两层，即批处理层和实时处理层</a:t>
            </a:r>
            <a:endParaRPr lang="zh-CN" altLang="zh-CN" sz="2400" dirty="0">
              <a:latin typeface="Arial" panose="020B0604020202020204" pitchFamily="34" charset="0"/>
            </a:endParaRPr>
          </a:p>
        </p:txBody>
      </p:sp>
      <p:sp>
        <p:nvSpPr>
          <p:cNvPr id="3" name="TextBox 5"/>
          <p:cNvSpPr txBox="1"/>
          <p:nvPr>
            <p:custDataLst>
              <p:tags r:id="rId2"/>
            </p:custDataLst>
          </p:nvPr>
        </p:nvSpPr>
        <p:spPr>
          <a:xfrm>
            <a:off x="1103630" y="1507490"/>
            <a:ext cx="6101080" cy="460375"/>
          </a:xfrm>
          <a:prstGeom prst="rect">
            <a:avLst/>
          </a:prstGeom>
          <a:noFill/>
          <a:ln w="9525">
            <a:noFill/>
          </a:ln>
        </p:spPr>
        <p:txBody>
          <a:bodyPr wrap="square">
            <a:spAutoFit/>
          </a:bodyPr>
          <a:p>
            <a:r>
              <a:rPr lang="zh-CN" altLang="en-US" sz="2400" dirty="0">
                <a:latin typeface="Arial" panose="020B0604020202020204" pitchFamily="34" charset="0"/>
              </a:rPr>
              <a:t>数据仓库周期性加载数据，无法满足实时性</a:t>
            </a:r>
            <a:endParaRPr lang="zh-CN" altLang="en-US" sz="2400" dirty="0">
              <a:latin typeface="Arial" panose="020B0604020202020204" pitchFamily="34" charset="0"/>
            </a:endParaRPr>
          </a:p>
        </p:txBody>
      </p:sp>
      <p:sp>
        <p:nvSpPr>
          <p:cNvPr id="4" name="TextBox 5"/>
          <p:cNvSpPr txBox="1"/>
          <p:nvPr>
            <p:custDataLst>
              <p:tags r:id="rId3"/>
            </p:custDataLst>
          </p:nvPr>
        </p:nvSpPr>
        <p:spPr>
          <a:xfrm>
            <a:off x="3839210" y="4790440"/>
            <a:ext cx="3554095" cy="460375"/>
          </a:xfrm>
          <a:prstGeom prst="rect">
            <a:avLst/>
          </a:prstGeom>
          <a:noFill/>
          <a:ln w="9525">
            <a:noFill/>
          </a:ln>
        </p:spPr>
        <p:txBody>
          <a:bodyPr wrap="square">
            <a:spAutoFit/>
          </a:bodyPr>
          <a:p>
            <a:r>
              <a:rPr lang="zh-CN" altLang="en-US" sz="2400" dirty="0">
                <a:solidFill>
                  <a:srgbClr val="FF0000"/>
                </a:solidFill>
                <a:highlight>
                  <a:srgbClr val="C0C0C0"/>
                </a:highlight>
                <a:latin typeface="Arial" panose="020B0604020202020204" pitchFamily="34" charset="0"/>
              </a:rPr>
              <a:t>平台复杂、运维成本高</a:t>
            </a:r>
            <a:endParaRPr lang="zh-CN" altLang="en-US" sz="2400" dirty="0">
              <a:solidFill>
                <a:srgbClr val="FF0000"/>
              </a:solidFill>
              <a:highlight>
                <a:srgbClr val="C0C0C0"/>
              </a:highlight>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1"/>
          <p:cNvSpPr>
            <a:spLocks noGrp="1"/>
          </p:cNvSpPr>
          <p:nvPr>
            <p:ph type="title"/>
          </p:nvPr>
        </p:nvSpPr>
        <p:spPr/>
        <p:txBody>
          <a:bodyPr vert="horz" wrap="square" lIns="91440" tIns="45720" rIns="91440" bIns="45720" anchor="ctr" anchorCtr="0"/>
          <a:p>
            <a:r>
              <a:rPr lang="en-US" altLang="zh-CN" b="1" dirty="0"/>
              <a:t>12.2.3 </a:t>
            </a:r>
            <a:r>
              <a:rPr lang="zh-CN" altLang="zh-CN" b="1" dirty="0"/>
              <a:t>流处理架构</a:t>
            </a:r>
            <a:endParaRPr lang="zh-CN" altLang="en-US" b="1" dirty="0"/>
          </a:p>
        </p:txBody>
      </p:sp>
      <p:pic>
        <p:nvPicPr>
          <p:cNvPr id="11267" name="图片 2"/>
          <p:cNvPicPr>
            <a:picLocks noChangeAspect="1"/>
          </p:cNvPicPr>
          <p:nvPr/>
        </p:nvPicPr>
        <p:blipFill>
          <a:blip r:embed="rId1"/>
          <a:stretch>
            <a:fillRect/>
          </a:stretch>
        </p:blipFill>
        <p:spPr>
          <a:xfrm>
            <a:off x="1753870" y="2848610"/>
            <a:ext cx="7740650" cy="3054985"/>
          </a:xfrm>
          <a:prstGeom prst="rect">
            <a:avLst/>
          </a:prstGeom>
          <a:noFill/>
          <a:ln w="9525">
            <a:noFill/>
          </a:ln>
        </p:spPr>
      </p:pic>
      <p:sp>
        <p:nvSpPr>
          <p:cNvPr id="11268" name="矩形 3"/>
          <p:cNvSpPr/>
          <p:nvPr/>
        </p:nvSpPr>
        <p:spPr>
          <a:xfrm>
            <a:off x="4756785" y="6146800"/>
            <a:ext cx="1916430" cy="600075"/>
          </a:xfrm>
          <a:prstGeom prst="rect">
            <a:avLst/>
          </a:prstGeom>
          <a:noFill/>
          <a:ln w="9525">
            <a:noFill/>
          </a:ln>
        </p:spPr>
        <p:txBody>
          <a:bodyPr wrap="none">
            <a:noAutofit/>
          </a:bodyPr>
          <a:p>
            <a:r>
              <a:rPr lang="zh-CN" altLang="zh-CN" sz="2400" dirty="0">
                <a:latin typeface="Arial" panose="020B0604020202020204" pitchFamily="34" charset="0"/>
              </a:rPr>
              <a:t>流处理架构</a:t>
            </a:r>
            <a:endParaRPr lang="zh-CN" altLang="zh-CN" sz="2400" dirty="0">
              <a:latin typeface="Arial" panose="020B0604020202020204" pitchFamily="34" charset="0"/>
            </a:endParaRPr>
          </a:p>
        </p:txBody>
      </p:sp>
      <p:sp>
        <p:nvSpPr>
          <p:cNvPr id="11269" name="矩形 4"/>
          <p:cNvSpPr/>
          <p:nvPr/>
        </p:nvSpPr>
        <p:spPr>
          <a:xfrm>
            <a:off x="1059180" y="1464945"/>
            <a:ext cx="9130030" cy="460375"/>
          </a:xfrm>
          <a:prstGeom prst="rect">
            <a:avLst/>
          </a:prstGeom>
          <a:noFill/>
          <a:ln w="9525">
            <a:noFill/>
          </a:ln>
        </p:spPr>
        <p:txBody>
          <a:bodyPr wrap="square">
            <a:spAutoFit/>
          </a:bodyPr>
          <a:p>
            <a:r>
              <a:rPr lang="zh-CN" altLang="zh-CN" sz="2400" dirty="0">
                <a:latin typeface="Arial" panose="020B0604020202020204" pitchFamily="34" charset="0"/>
              </a:rPr>
              <a:t>为了高效地实现流处理架构，一般需要设置消息传输层和流处理层</a:t>
            </a:r>
            <a:endParaRPr lang="zh-CN" altLang="zh-CN" sz="2400" dirty="0">
              <a:latin typeface="Arial" panose="020B0604020202020204" pitchFamily="34" charset="0"/>
            </a:endParaRPr>
          </a:p>
        </p:txBody>
      </p:sp>
      <p:sp>
        <p:nvSpPr>
          <p:cNvPr id="4" name="圆角矩形标注 3"/>
          <p:cNvSpPr/>
          <p:nvPr/>
        </p:nvSpPr>
        <p:spPr>
          <a:xfrm>
            <a:off x="3524250" y="2765425"/>
            <a:ext cx="2402205" cy="769620"/>
          </a:xfrm>
          <a:prstGeom prst="wedgeRoundRectCallout">
            <a:avLst>
              <a:gd name="adj1" fmla="val -27160"/>
              <a:gd name="adj2" fmla="val 93151"/>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p>
            <a:pPr algn="ctr"/>
            <a:r>
              <a:rPr lang="zh-CN" altLang="en-US" sz="2400"/>
              <a:t>数据采集</a:t>
            </a:r>
            <a:r>
              <a:rPr lang="en-US" altLang="zh-CN" sz="2400"/>
              <a:t>+</a:t>
            </a:r>
            <a:r>
              <a:rPr lang="zh-CN" altLang="en-US" sz="2400"/>
              <a:t>传输</a:t>
            </a:r>
            <a:endParaRPr lang="zh-CN" altLang="en-US" sz="2400"/>
          </a:p>
        </p:txBody>
      </p:sp>
      <p:sp>
        <p:nvSpPr>
          <p:cNvPr id="5" name="圆角矩形标注 4"/>
          <p:cNvSpPr/>
          <p:nvPr/>
        </p:nvSpPr>
        <p:spPr>
          <a:xfrm>
            <a:off x="7585710" y="2460625"/>
            <a:ext cx="2991485" cy="1074420"/>
          </a:xfrm>
          <a:prstGeom prst="wedgeRoundRectCallout">
            <a:avLst>
              <a:gd name="adj1" fmla="val -29043"/>
              <a:gd name="adj2" fmla="val 89045"/>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p>
            <a:pPr algn="ctr">
              <a:buClrTx/>
              <a:buSzTx/>
              <a:buFontTx/>
            </a:pPr>
            <a:r>
              <a:rPr lang="zh-CN" altLang="en-US" sz="2400">
                <a:sym typeface="+mn-ea"/>
              </a:rPr>
              <a:t>数据移动</a:t>
            </a:r>
            <a:r>
              <a:rPr lang="en-US" altLang="zh-CN" sz="2400">
                <a:sym typeface="+mn-ea"/>
              </a:rPr>
              <a:t>+</a:t>
            </a:r>
            <a:r>
              <a:rPr lang="zh-CN" altLang="en-US" sz="2400">
                <a:sym typeface="+mn-ea"/>
              </a:rPr>
              <a:t>聚合并处理事件</a:t>
            </a:r>
            <a:r>
              <a:rPr lang="en-US" altLang="zh-CN" sz="2400">
                <a:sym typeface="+mn-ea"/>
              </a:rPr>
              <a:t>+</a:t>
            </a:r>
            <a:r>
              <a:rPr lang="zh-CN" altLang="en-US" sz="2400">
                <a:sym typeface="+mn-ea"/>
              </a:rPr>
              <a:t>本地维持应用程序的</a:t>
            </a:r>
            <a:r>
              <a:rPr lang="en-US" altLang="zh-CN" sz="2400">
                <a:sym typeface="+mn-ea"/>
              </a:rPr>
              <a:t>“</a:t>
            </a:r>
            <a:r>
              <a:rPr lang="zh-CN" altLang="en-US" sz="2400">
                <a:solidFill>
                  <a:srgbClr val="FF0000"/>
                </a:solidFill>
                <a:sym typeface="+mn-ea"/>
              </a:rPr>
              <a:t>状态</a:t>
            </a:r>
            <a:r>
              <a:rPr lang="en-US" altLang="zh-CN" sz="2400">
                <a:sym typeface="+mn-ea"/>
              </a:rPr>
              <a:t>”</a:t>
            </a:r>
            <a:endParaRPr lang="en-US" altLang="zh-CN" sz="2400">
              <a:sym typeface="+mn-ea"/>
            </a:endParaRPr>
          </a:p>
        </p:txBody>
      </p:sp>
      <p:sp>
        <p:nvSpPr>
          <p:cNvPr id="2" name="圆角矩形标注 1"/>
          <p:cNvSpPr/>
          <p:nvPr/>
        </p:nvSpPr>
        <p:spPr>
          <a:xfrm>
            <a:off x="9494520" y="3804285"/>
            <a:ext cx="2402205" cy="769620"/>
          </a:xfrm>
          <a:prstGeom prst="wedgeRoundRectCallout">
            <a:avLst>
              <a:gd name="adj1" fmla="val -31522"/>
              <a:gd name="adj2" fmla="val -8811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sz="2400"/>
              <a:t>计算过程中产生的中间计算结果</a:t>
            </a:r>
            <a:endParaRPr lang="zh-CN"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P spid="5" grpId="0" bldLvl="0" animBg="1"/>
      <p:bldP spid="5" grpId="1" animBg="1"/>
      <p:bldP spid="2" grpId="0" bldLvl="0" animBg="1"/>
      <p:bldP spid="2"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标题 1"/>
          <p:cNvSpPr>
            <a:spLocks noGrp="1"/>
          </p:cNvSpPr>
          <p:nvPr>
            <p:ph type="title"/>
          </p:nvPr>
        </p:nvSpPr>
        <p:spPr/>
        <p:txBody>
          <a:bodyPr vert="horz" wrap="square" lIns="91440" tIns="45720" rIns="91440" bIns="45720" anchor="ctr" anchorCtr="0"/>
          <a:p>
            <a:r>
              <a:rPr lang="en-US" altLang="zh-CN" b="1" dirty="0"/>
              <a:t>12.2.3 </a:t>
            </a:r>
            <a:r>
              <a:rPr lang="zh-CN" altLang="zh-CN" b="1" dirty="0"/>
              <a:t>流处理架构</a:t>
            </a:r>
            <a:endParaRPr lang="zh-CN" altLang="en-US" b="1" dirty="0"/>
          </a:p>
        </p:txBody>
      </p:sp>
      <p:sp>
        <p:nvSpPr>
          <p:cNvPr id="12291" name="矩形 2"/>
          <p:cNvSpPr/>
          <p:nvPr/>
        </p:nvSpPr>
        <p:spPr>
          <a:xfrm>
            <a:off x="1018540" y="1356360"/>
            <a:ext cx="10335260" cy="829945"/>
          </a:xfrm>
          <a:prstGeom prst="rect">
            <a:avLst/>
          </a:prstGeom>
          <a:noFill/>
          <a:ln w="9525">
            <a:noFill/>
          </a:ln>
        </p:spPr>
        <p:txBody>
          <a:bodyPr wrap="square">
            <a:spAutoFit/>
          </a:bodyPr>
          <a:p>
            <a:r>
              <a:rPr lang="zh-CN" altLang="zh-CN" sz="2400" dirty="0">
                <a:latin typeface="Arial" panose="020B0604020202020204" pitchFamily="34" charset="0"/>
              </a:rPr>
              <a:t>核心是使各种应用程序互连在一起的消息队列，消息队列连接应用程序，并作为新的共享数据源，这些消息队列取代了从前的大型集中式数据库。</a:t>
            </a:r>
            <a:endParaRPr lang="zh-CN" altLang="zh-CN" sz="2400" dirty="0">
              <a:latin typeface="Arial" panose="020B0604020202020204" pitchFamily="34" charset="0"/>
            </a:endParaRPr>
          </a:p>
        </p:txBody>
      </p:sp>
      <p:pic>
        <p:nvPicPr>
          <p:cNvPr id="12292" name="图片 3"/>
          <p:cNvPicPr>
            <a:picLocks noChangeAspect="1"/>
          </p:cNvPicPr>
          <p:nvPr/>
        </p:nvPicPr>
        <p:blipFill>
          <a:blip r:embed="rId1"/>
          <a:stretch>
            <a:fillRect/>
          </a:stretch>
        </p:blipFill>
        <p:spPr>
          <a:xfrm>
            <a:off x="2520950" y="2346325"/>
            <a:ext cx="7150100" cy="3671570"/>
          </a:xfrm>
          <a:prstGeom prst="rect">
            <a:avLst/>
          </a:prstGeom>
          <a:noFill/>
          <a:ln w="9525">
            <a:noFill/>
          </a:ln>
        </p:spPr>
      </p:pic>
      <p:sp>
        <p:nvSpPr>
          <p:cNvPr id="12293" name="矩形 4"/>
          <p:cNvSpPr/>
          <p:nvPr/>
        </p:nvSpPr>
        <p:spPr>
          <a:xfrm>
            <a:off x="4490720" y="6177915"/>
            <a:ext cx="3535680" cy="460375"/>
          </a:xfrm>
          <a:prstGeom prst="rect">
            <a:avLst/>
          </a:prstGeom>
          <a:noFill/>
          <a:ln w="9525">
            <a:noFill/>
          </a:ln>
        </p:spPr>
        <p:txBody>
          <a:bodyPr wrap="none">
            <a:spAutoFit/>
          </a:bodyPr>
          <a:p>
            <a:r>
              <a:rPr lang="zh-CN" altLang="zh-CN" sz="2400" dirty="0">
                <a:latin typeface="Arial" panose="020B0604020202020204" pitchFamily="34" charset="0"/>
              </a:rPr>
              <a:t>流处理架构中的消息队列</a:t>
            </a:r>
            <a:endParaRPr lang="zh-CN" altLang="zh-CN" sz="2400" dirty="0">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标题 1"/>
          <p:cNvSpPr>
            <a:spLocks noGrp="1"/>
          </p:cNvSpPr>
          <p:nvPr>
            <p:ph type="title"/>
          </p:nvPr>
        </p:nvSpPr>
        <p:spPr/>
        <p:txBody>
          <a:bodyPr vert="horz" wrap="square" lIns="91440" tIns="45720" rIns="91440" bIns="45720" anchor="ctr" anchorCtr="0"/>
          <a:p>
            <a:r>
              <a:rPr lang="en-US" altLang="zh-CN" b="1" dirty="0"/>
              <a:t>12.2.3 </a:t>
            </a:r>
            <a:r>
              <a:rPr lang="zh-CN" altLang="zh-CN" b="1" dirty="0"/>
              <a:t>流处理架构</a:t>
            </a:r>
            <a:endParaRPr lang="zh-CN" altLang="en-US" b="1" dirty="0"/>
          </a:p>
        </p:txBody>
      </p:sp>
      <p:sp>
        <p:nvSpPr>
          <p:cNvPr id="13315" name="矩形 2"/>
          <p:cNvSpPr/>
          <p:nvPr/>
        </p:nvSpPr>
        <p:spPr>
          <a:xfrm>
            <a:off x="1009015" y="1676400"/>
            <a:ext cx="10751820" cy="4624705"/>
          </a:xfrm>
          <a:prstGeom prst="rect">
            <a:avLst/>
          </a:prstGeom>
          <a:noFill/>
          <a:ln w="9525">
            <a:noFill/>
          </a:ln>
        </p:spPr>
        <p:txBody>
          <a:bodyPr>
            <a:noAutofit/>
          </a:bodyPr>
          <a:p>
            <a:pPr indent="0">
              <a:buFont typeface="Arial" panose="020B0604020202020204" pitchFamily="34" charset="0"/>
              <a:buNone/>
            </a:pPr>
            <a:r>
              <a:rPr lang="zh-CN" altLang="zh-CN" sz="2400" dirty="0">
                <a:latin typeface="Arial" panose="020B0604020202020204" pitchFamily="34" charset="0"/>
              </a:rPr>
              <a:t>流处理架构正在逐步取代传统数据处理架构和</a:t>
            </a:r>
            <a:r>
              <a:rPr lang="en-US" altLang="zh-CN" sz="2400" dirty="0">
                <a:latin typeface="Arial" panose="020B0604020202020204" pitchFamily="34" charset="0"/>
              </a:rPr>
              <a:t>Lambda</a:t>
            </a:r>
            <a:r>
              <a:rPr lang="zh-CN" altLang="zh-CN" sz="2400" dirty="0">
                <a:latin typeface="Arial" panose="020B0604020202020204" pitchFamily="34" charset="0"/>
              </a:rPr>
              <a:t>架构，成为大数据处理架构的一种新趋势。</a:t>
            </a:r>
            <a:endParaRPr lang="zh-CN" altLang="zh-CN" sz="2400" dirty="0">
              <a:latin typeface="Arial" panose="020B0604020202020204" pitchFamily="34" charset="0"/>
            </a:endParaRPr>
          </a:p>
          <a:p>
            <a:pPr>
              <a:buFont typeface="Arial" panose="020B0604020202020204" pitchFamily="34" charset="0"/>
              <a:buChar char="•"/>
            </a:pPr>
            <a:endParaRPr lang="en-US" altLang="zh-CN" sz="2400" dirty="0">
              <a:latin typeface="Arial" panose="020B0604020202020204" pitchFamily="34" charset="0"/>
            </a:endParaRPr>
          </a:p>
          <a:p>
            <a:pPr>
              <a:buFont typeface="Arial" panose="020B0604020202020204" pitchFamily="34" charset="0"/>
              <a:buChar char="•"/>
            </a:pPr>
            <a:r>
              <a:rPr lang="zh-CN" altLang="zh-CN" sz="2400" dirty="0">
                <a:latin typeface="Arial" panose="020B0604020202020204" pitchFamily="34" charset="0"/>
              </a:rPr>
              <a:t>一方面，由于流处理架构中不存在一个大型集中式数据库，因此，避免了传统数据处理架构中存在的“数据库不堪重负”的问题。</a:t>
            </a:r>
            <a:endParaRPr lang="zh-CN" altLang="zh-CN" sz="2400" dirty="0">
              <a:latin typeface="Arial" panose="020B0604020202020204" pitchFamily="34" charset="0"/>
            </a:endParaRPr>
          </a:p>
          <a:p>
            <a:pPr>
              <a:buFont typeface="Arial" panose="020B0604020202020204" pitchFamily="34" charset="0"/>
              <a:buChar char="•"/>
            </a:pPr>
            <a:endParaRPr lang="en-US" altLang="zh-CN" sz="2400" dirty="0">
              <a:latin typeface="Arial" panose="020B0604020202020204" pitchFamily="34" charset="0"/>
            </a:endParaRPr>
          </a:p>
          <a:p>
            <a:pPr>
              <a:buFont typeface="Arial" panose="020B0604020202020204" pitchFamily="34" charset="0"/>
              <a:buChar char="•"/>
            </a:pPr>
            <a:r>
              <a:rPr lang="zh-CN" altLang="zh-CN" sz="2400" dirty="0">
                <a:latin typeface="Arial" panose="020B0604020202020204" pitchFamily="34" charset="0"/>
              </a:rPr>
              <a:t>另一方面，在流处理架构中，批处理被看成是流处理的一个子集，因此，就可以用面向流处理的框架进行批处理，这样就可以用一个流处理框架来统一处理流计算和批量计算，避免了</a:t>
            </a:r>
            <a:r>
              <a:rPr lang="en-US" altLang="zh-CN" sz="2400" dirty="0">
                <a:latin typeface="Arial" panose="020B0604020202020204" pitchFamily="34" charset="0"/>
              </a:rPr>
              <a:t>Lambda</a:t>
            </a:r>
            <a:r>
              <a:rPr lang="zh-CN" altLang="zh-CN" sz="2400" dirty="0">
                <a:latin typeface="Arial" panose="020B0604020202020204" pitchFamily="34" charset="0"/>
              </a:rPr>
              <a:t>架构中存在的“多个框架难管理”的问题。</a:t>
            </a:r>
            <a:endParaRPr lang="zh-CN" altLang="zh-CN" sz="2400" dirty="0">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标题 1"/>
          <p:cNvSpPr>
            <a:spLocks noGrp="1"/>
          </p:cNvSpPr>
          <p:nvPr>
            <p:ph type="title"/>
          </p:nvPr>
        </p:nvSpPr>
        <p:spPr/>
        <p:txBody>
          <a:bodyPr vert="horz" wrap="square" lIns="91440" tIns="45720" rIns="91440" bIns="45720" anchor="ctr" anchorCtr="0"/>
          <a:p>
            <a:r>
              <a:rPr lang="en-US" altLang="zh-CN" b="1" dirty="0"/>
              <a:t>12.2.4 Flink</a:t>
            </a:r>
            <a:r>
              <a:rPr lang="zh-CN" altLang="zh-CN" b="1" dirty="0"/>
              <a:t>是理想的流计算框架</a:t>
            </a:r>
            <a:endParaRPr lang="zh-CN" altLang="en-US" b="1" dirty="0"/>
          </a:p>
        </p:txBody>
      </p:sp>
      <p:sp>
        <p:nvSpPr>
          <p:cNvPr id="14339" name="矩形 2"/>
          <p:cNvSpPr/>
          <p:nvPr/>
        </p:nvSpPr>
        <p:spPr>
          <a:xfrm>
            <a:off x="1022985" y="1546225"/>
            <a:ext cx="10606405" cy="4290695"/>
          </a:xfrm>
          <a:prstGeom prst="rect">
            <a:avLst/>
          </a:prstGeom>
          <a:noFill/>
          <a:ln w="9525">
            <a:noFill/>
          </a:ln>
        </p:spPr>
        <p:txBody>
          <a:bodyPr>
            <a:noAutofit/>
          </a:bodyPr>
          <a:p>
            <a:pPr indent="0">
              <a:buFont typeface="Arial" panose="020B0604020202020204" pitchFamily="34" charset="0"/>
              <a:buNone/>
            </a:pPr>
            <a:r>
              <a:rPr lang="zh-CN" altLang="zh-CN" sz="2400" dirty="0">
                <a:latin typeface="Arial" panose="020B0604020202020204" pitchFamily="34" charset="0"/>
              </a:rPr>
              <a:t>流处理架构需要具备</a:t>
            </a:r>
            <a:r>
              <a:rPr lang="zh-CN" altLang="zh-CN" sz="2400" dirty="0">
                <a:solidFill>
                  <a:srgbClr val="FF0000"/>
                </a:solidFill>
                <a:latin typeface="Arial" panose="020B0604020202020204" pitchFamily="34" charset="0"/>
              </a:rPr>
              <a:t>低延迟、高吞吐和高性能</a:t>
            </a:r>
            <a:r>
              <a:rPr lang="zh-CN" altLang="zh-CN" sz="2400" dirty="0">
                <a:latin typeface="Arial" panose="020B0604020202020204" pitchFamily="34" charset="0"/>
              </a:rPr>
              <a:t>的特性，目前只有</a:t>
            </a:r>
            <a:r>
              <a:rPr lang="en-US" altLang="zh-CN" sz="2400" dirty="0">
                <a:latin typeface="Arial" panose="020B0604020202020204" pitchFamily="34" charset="0"/>
              </a:rPr>
              <a:t>Flink</a:t>
            </a:r>
            <a:r>
              <a:rPr lang="zh-CN" altLang="zh-CN" sz="2400" dirty="0">
                <a:latin typeface="Arial" panose="020B0604020202020204" pitchFamily="34" charset="0"/>
              </a:rPr>
              <a:t>可满足。</a:t>
            </a:r>
            <a:endParaRPr lang="zh-CN" altLang="zh-CN" sz="2400" dirty="0">
              <a:latin typeface="Arial" panose="020B0604020202020204" pitchFamily="34" charset="0"/>
            </a:endParaRPr>
          </a:p>
          <a:p>
            <a:pPr>
              <a:buFont typeface="Arial" panose="020B0604020202020204" pitchFamily="34" charset="0"/>
              <a:buChar char="•"/>
            </a:pPr>
            <a:endParaRPr lang="en-US" altLang="zh-CN" sz="2400" dirty="0">
              <a:latin typeface="Arial" panose="020B0604020202020204" pitchFamily="34" charset="0"/>
            </a:endParaRPr>
          </a:p>
          <a:p>
            <a:pPr>
              <a:buFont typeface="Arial" panose="020B0604020202020204" pitchFamily="34" charset="0"/>
              <a:buChar char="•"/>
            </a:pPr>
            <a:r>
              <a:rPr lang="en-US" altLang="zh-CN" sz="2400" dirty="0">
                <a:latin typeface="Arial" panose="020B0604020202020204" pitchFamily="34" charset="0"/>
              </a:rPr>
              <a:t>Storm</a:t>
            </a:r>
            <a:r>
              <a:rPr lang="zh-CN" altLang="zh-CN" sz="2400" dirty="0">
                <a:latin typeface="Arial" panose="020B0604020202020204" pitchFamily="34" charset="0"/>
              </a:rPr>
              <a:t>虽然可以做到低延迟，但是无法实现高吞吐，也不能在故障发生时准确地处理计算状态。</a:t>
            </a:r>
            <a:endParaRPr lang="zh-CN" altLang="zh-CN" sz="2400" dirty="0">
              <a:latin typeface="Arial" panose="020B0604020202020204" pitchFamily="34" charset="0"/>
            </a:endParaRPr>
          </a:p>
          <a:p>
            <a:pPr>
              <a:buFont typeface="Arial" panose="020B0604020202020204" pitchFamily="34" charset="0"/>
              <a:buChar char="•"/>
            </a:pPr>
            <a:endParaRPr lang="en-US" altLang="zh-CN" sz="2400" dirty="0">
              <a:latin typeface="Arial" panose="020B0604020202020204" pitchFamily="34" charset="0"/>
            </a:endParaRPr>
          </a:p>
          <a:p>
            <a:pPr>
              <a:buFont typeface="Arial" panose="020B0604020202020204" pitchFamily="34" charset="0"/>
              <a:buChar char="•"/>
            </a:pPr>
            <a:r>
              <a:rPr lang="en-US" altLang="zh-CN" sz="2400" dirty="0">
                <a:latin typeface="Arial" panose="020B0604020202020204" pitchFamily="34" charset="0"/>
              </a:rPr>
              <a:t>Spark Streaming</a:t>
            </a:r>
            <a:r>
              <a:rPr lang="zh-CN" altLang="zh-CN" sz="2400" dirty="0">
                <a:latin typeface="Arial" panose="020B0604020202020204" pitchFamily="34" charset="0"/>
              </a:rPr>
              <a:t>通过采用微批处理方法实现了高吞吐和容错性，但是牺牲了低延迟和实时处理能力。</a:t>
            </a:r>
            <a:endParaRPr lang="zh-CN" altLang="zh-CN" sz="2400" dirty="0">
              <a:latin typeface="Arial" panose="020B0604020202020204" pitchFamily="34" charset="0"/>
            </a:endParaRPr>
          </a:p>
          <a:p>
            <a:pPr>
              <a:buFont typeface="Arial" panose="020B0604020202020204" pitchFamily="34" charset="0"/>
              <a:buChar char="•"/>
            </a:pPr>
            <a:endParaRPr lang="en-US" altLang="zh-CN" sz="2400" dirty="0">
              <a:latin typeface="Arial" panose="020B0604020202020204" pitchFamily="34" charset="0"/>
            </a:endParaRPr>
          </a:p>
          <a:p>
            <a:pPr>
              <a:buFont typeface="Arial" panose="020B0604020202020204" pitchFamily="34" charset="0"/>
              <a:buChar char="•"/>
            </a:pPr>
            <a:r>
              <a:rPr lang="en-US" altLang="zh-CN" sz="2400" dirty="0">
                <a:latin typeface="Arial" panose="020B0604020202020204" pitchFamily="34" charset="0"/>
              </a:rPr>
              <a:t>Flink</a:t>
            </a:r>
            <a:r>
              <a:rPr lang="zh-CN" altLang="zh-CN" sz="2400" dirty="0">
                <a:latin typeface="Arial" panose="020B0604020202020204" pitchFamily="34" charset="0"/>
              </a:rPr>
              <a:t>实现了</a:t>
            </a:r>
            <a:r>
              <a:rPr lang="en-US" altLang="zh-CN" sz="2400" dirty="0">
                <a:latin typeface="Arial" panose="020B0604020202020204" pitchFamily="34" charset="0"/>
              </a:rPr>
              <a:t>Google Dataflow</a:t>
            </a:r>
            <a:r>
              <a:rPr lang="zh-CN" altLang="zh-CN" sz="2400" dirty="0">
                <a:latin typeface="Arial" panose="020B0604020202020204" pitchFamily="34" charset="0"/>
              </a:rPr>
              <a:t>流计算模型，是一种兼具高吞吐、低延迟和高性能的实时流计算框架，并且同时支持批处理和流处理。此外，</a:t>
            </a:r>
            <a:r>
              <a:rPr lang="en-US" altLang="zh-CN" sz="2400" dirty="0">
                <a:latin typeface="Arial" panose="020B0604020202020204" pitchFamily="34" charset="0"/>
              </a:rPr>
              <a:t>Flink</a:t>
            </a:r>
            <a:r>
              <a:rPr lang="zh-CN" altLang="zh-CN" sz="2400" dirty="0">
                <a:latin typeface="Arial" panose="020B0604020202020204" pitchFamily="34" charset="0"/>
              </a:rPr>
              <a:t>支持高度容错的状态管理，防止状态在计算过程中因为系统异常而出现丢失。</a:t>
            </a:r>
            <a:endParaRPr lang="zh-CN" altLang="zh-CN" sz="2400" dirty="0">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标题 1"/>
          <p:cNvSpPr>
            <a:spLocks noGrp="1"/>
          </p:cNvSpPr>
          <p:nvPr>
            <p:ph type="title"/>
          </p:nvPr>
        </p:nvSpPr>
        <p:spPr/>
        <p:txBody>
          <a:bodyPr vert="horz" wrap="square" lIns="91440" tIns="45720" rIns="91440" bIns="45720" anchor="ctr" anchorCtr="0"/>
          <a:p>
            <a:r>
              <a:rPr lang="en-US" altLang="zh-CN" b="1" dirty="0"/>
              <a:t>12.2.5 Flink</a:t>
            </a:r>
            <a:r>
              <a:rPr lang="zh-CN" altLang="zh-CN" b="1" dirty="0"/>
              <a:t>的优势</a:t>
            </a:r>
            <a:endParaRPr lang="zh-CN" altLang="en-US" b="1" dirty="0"/>
          </a:p>
        </p:txBody>
      </p:sp>
      <p:sp>
        <p:nvSpPr>
          <p:cNvPr id="15363" name="矩形 2"/>
          <p:cNvSpPr/>
          <p:nvPr/>
        </p:nvSpPr>
        <p:spPr>
          <a:xfrm>
            <a:off x="1049020" y="1447800"/>
            <a:ext cx="10139680" cy="5077460"/>
          </a:xfrm>
          <a:prstGeom prst="rect">
            <a:avLst/>
          </a:prstGeom>
          <a:noFill/>
          <a:ln w="9525">
            <a:noFill/>
          </a:ln>
        </p:spPr>
        <p:txBody>
          <a:bodyPr wrap="none">
            <a:spAutoFit/>
          </a:bodyPr>
          <a:p>
            <a:pPr>
              <a:lnSpc>
                <a:spcPct val="150000"/>
              </a:lnSpc>
            </a:pPr>
            <a:r>
              <a:rPr lang="zh-CN" altLang="zh-CN" sz="2400" dirty="0">
                <a:latin typeface="Arial" panose="020B0604020202020204" pitchFamily="34" charset="0"/>
              </a:rPr>
              <a:t>总体而言，</a:t>
            </a:r>
            <a:r>
              <a:rPr lang="en-US" altLang="zh-CN" sz="2400" dirty="0">
                <a:latin typeface="Arial" panose="020B0604020202020204" pitchFamily="34" charset="0"/>
              </a:rPr>
              <a:t>Flink</a:t>
            </a:r>
            <a:r>
              <a:rPr lang="zh-CN" altLang="zh-CN" sz="2400" dirty="0">
                <a:latin typeface="Arial" panose="020B0604020202020204" pitchFamily="34" charset="0"/>
              </a:rPr>
              <a:t>具有以下优势：</a:t>
            </a:r>
            <a:endParaRPr lang="en-US" altLang="zh-CN" sz="2400" dirty="0">
              <a:latin typeface="Arial" panose="020B0604020202020204" pitchFamily="34" charset="0"/>
            </a:endParaRPr>
          </a:p>
          <a:p>
            <a:pPr>
              <a:lnSpc>
                <a:spcPct val="150000"/>
              </a:lnSpc>
            </a:pPr>
            <a:r>
              <a:rPr lang="zh-CN" altLang="zh-CN" sz="2400" dirty="0">
                <a:latin typeface="Arial" panose="020B0604020202020204" pitchFamily="34" charset="0"/>
              </a:rPr>
              <a:t>（</a:t>
            </a:r>
            <a:r>
              <a:rPr lang="en-US" altLang="zh-CN" sz="2400" dirty="0">
                <a:latin typeface="Arial" panose="020B0604020202020204" pitchFamily="34" charset="0"/>
              </a:rPr>
              <a:t>1</a:t>
            </a:r>
            <a:r>
              <a:rPr lang="zh-CN" altLang="zh-CN" sz="2400" dirty="0">
                <a:latin typeface="Arial" panose="020B0604020202020204" pitchFamily="34" charset="0"/>
              </a:rPr>
              <a:t>）同时支持高吞吐、低延迟、高性能</a:t>
            </a:r>
            <a:endParaRPr lang="en-US" altLang="zh-CN" sz="2400" dirty="0">
              <a:latin typeface="Arial" panose="020B0604020202020204" pitchFamily="34" charset="0"/>
            </a:endParaRPr>
          </a:p>
          <a:p>
            <a:pPr>
              <a:lnSpc>
                <a:spcPct val="150000"/>
              </a:lnSpc>
            </a:pPr>
            <a:r>
              <a:rPr lang="zh-CN" altLang="zh-CN" sz="2400" dirty="0">
                <a:latin typeface="Arial" panose="020B0604020202020204" pitchFamily="34" charset="0"/>
              </a:rPr>
              <a:t>（</a:t>
            </a:r>
            <a:r>
              <a:rPr lang="en-US" altLang="zh-CN" sz="2400" dirty="0">
                <a:latin typeface="Arial" panose="020B0604020202020204" pitchFamily="34" charset="0"/>
              </a:rPr>
              <a:t>2</a:t>
            </a:r>
            <a:r>
              <a:rPr lang="zh-CN" altLang="zh-CN" sz="2400" dirty="0">
                <a:latin typeface="Arial" panose="020B0604020202020204" pitchFamily="34" charset="0"/>
              </a:rPr>
              <a:t>）同时支持流处理和批处理</a:t>
            </a:r>
            <a:endParaRPr lang="en-US" altLang="zh-CN" sz="2400" dirty="0">
              <a:latin typeface="Arial" panose="020B0604020202020204" pitchFamily="34" charset="0"/>
            </a:endParaRPr>
          </a:p>
          <a:p>
            <a:pPr>
              <a:lnSpc>
                <a:spcPct val="150000"/>
              </a:lnSpc>
            </a:pPr>
            <a:r>
              <a:rPr lang="zh-CN" altLang="zh-CN" sz="2400" dirty="0">
                <a:latin typeface="Arial" panose="020B0604020202020204" pitchFamily="34" charset="0"/>
              </a:rPr>
              <a:t>（</a:t>
            </a:r>
            <a:r>
              <a:rPr lang="en-US" altLang="zh-CN" sz="2400" dirty="0">
                <a:latin typeface="Arial" panose="020B0604020202020204" pitchFamily="34" charset="0"/>
              </a:rPr>
              <a:t>3</a:t>
            </a:r>
            <a:r>
              <a:rPr lang="zh-CN" altLang="zh-CN" sz="2400" dirty="0">
                <a:latin typeface="Arial" panose="020B0604020202020204" pitchFamily="34" charset="0"/>
              </a:rPr>
              <a:t>）高度灵活的流式窗口</a:t>
            </a:r>
            <a:endParaRPr lang="zh-CN" altLang="zh-CN" sz="2400" dirty="0">
              <a:latin typeface="Arial" panose="020B0604020202020204" pitchFamily="34" charset="0"/>
            </a:endParaRPr>
          </a:p>
          <a:p>
            <a:pPr indent="457200">
              <a:lnSpc>
                <a:spcPct val="150000"/>
              </a:lnSpc>
            </a:pPr>
            <a:r>
              <a:rPr lang="zh-CN" altLang="zh-CN" sz="2400" dirty="0">
                <a:latin typeface="Arial" panose="020B0604020202020204" pitchFamily="34" charset="0"/>
              </a:rPr>
              <a:t>时间驱动、数据驱动；</a:t>
            </a:r>
            <a:endParaRPr lang="zh-CN" altLang="zh-CN" sz="2400" dirty="0">
              <a:latin typeface="Arial" panose="020B0604020202020204" pitchFamily="34" charset="0"/>
            </a:endParaRPr>
          </a:p>
          <a:p>
            <a:pPr indent="457200">
              <a:lnSpc>
                <a:spcPct val="150000"/>
              </a:lnSpc>
            </a:pPr>
            <a:r>
              <a:rPr lang="zh-CN" altLang="zh-CN" sz="2400" dirty="0">
                <a:latin typeface="Arial" panose="020B0604020202020204" pitchFamily="34" charset="0"/>
              </a:rPr>
              <a:t>翻滚窗口，滚动窗口，会话窗口</a:t>
            </a:r>
            <a:endParaRPr lang="en-US" altLang="zh-CN" sz="2400" dirty="0">
              <a:latin typeface="Arial" panose="020B0604020202020204" pitchFamily="34" charset="0"/>
            </a:endParaRPr>
          </a:p>
          <a:p>
            <a:pPr>
              <a:lnSpc>
                <a:spcPct val="150000"/>
              </a:lnSpc>
            </a:pPr>
            <a:r>
              <a:rPr lang="zh-CN" altLang="zh-CN" sz="2400" dirty="0">
                <a:latin typeface="Arial" panose="020B0604020202020204" pitchFamily="34" charset="0"/>
              </a:rPr>
              <a:t>（</a:t>
            </a:r>
            <a:r>
              <a:rPr lang="en-US" altLang="zh-CN" sz="2400" dirty="0">
                <a:latin typeface="Arial" panose="020B0604020202020204" pitchFamily="34" charset="0"/>
              </a:rPr>
              <a:t>4</a:t>
            </a:r>
            <a:r>
              <a:rPr lang="zh-CN" altLang="zh-CN" sz="2400" dirty="0">
                <a:latin typeface="Arial" panose="020B0604020202020204" pitchFamily="34" charset="0"/>
              </a:rPr>
              <a:t>）支持有状态计算</a:t>
            </a:r>
            <a:endParaRPr lang="en-US" altLang="zh-CN" sz="2400" dirty="0">
              <a:latin typeface="Arial" panose="020B0604020202020204" pitchFamily="34" charset="0"/>
            </a:endParaRPr>
          </a:p>
          <a:p>
            <a:pPr>
              <a:lnSpc>
                <a:spcPct val="150000"/>
              </a:lnSpc>
            </a:pPr>
            <a:r>
              <a:rPr lang="zh-CN" altLang="zh-CN" sz="2400" dirty="0">
                <a:latin typeface="Arial" panose="020B0604020202020204" pitchFamily="34" charset="0"/>
              </a:rPr>
              <a:t>无状态：观察每个独立的事件，并根据最后一个事件输出结果，如</a:t>
            </a:r>
            <a:r>
              <a:rPr lang="en-US" altLang="zh-CN" sz="2400" dirty="0">
                <a:latin typeface="Arial" panose="020B0604020202020204" pitchFamily="34" charset="0"/>
              </a:rPr>
              <a:t>Storm</a:t>
            </a:r>
            <a:r>
              <a:rPr lang="zh-CN" altLang="en-US" sz="2400" dirty="0">
                <a:latin typeface="Arial" panose="020B0604020202020204" pitchFamily="34" charset="0"/>
              </a:rPr>
              <a:t>；</a:t>
            </a:r>
            <a:endParaRPr lang="zh-CN" altLang="en-US" sz="2400" dirty="0">
              <a:latin typeface="Arial" panose="020B0604020202020204" pitchFamily="34" charset="0"/>
            </a:endParaRPr>
          </a:p>
          <a:p>
            <a:pPr>
              <a:lnSpc>
                <a:spcPct val="150000"/>
              </a:lnSpc>
            </a:pPr>
            <a:r>
              <a:rPr lang="zh-CN" altLang="en-US" sz="2400" dirty="0">
                <a:latin typeface="Arial" panose="020B0604020202020204" pitchFamily="34" charset="0"/>
              </a:rPr>
              <a:t>有状态：基于多个事件输出结果，实现起来</a:t>
            </a:r>
            <a:r>
              <a:rPr lang="zh-CN" altLang="en-US" sz="2400" dirty="0">
                <a:latin typeface="Arial" panose="020B0604020202020204" pitchFamily="34" charset="0"/>
              </a:rPr>
              <a:t>困难</a:t>
            </a:r>
            <a:endParaRPr lang="zh-CN" altLang="en-US" sz="2400"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36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36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36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36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36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标题 1"/>
          <p:cNvSpPr>
            <a:spLocks noGrp="1"/>
          </p:cNvSpPr>
          <p:nvPr>
            <p:ph type="title"/>
          </p:nvPr>
        </p:nvSpPr>
        <p:spPr/>
        <p:txBody>
          <a:bodyPr vert="horz" wrap="square" lIns="91440" tIns="45720" rIns="91440" bIns="45720" anchor="ctr" anchorCtr="0"/>
          <a:p>
            <a:r>
              <a:rPr lang="en-US" altLang="zh-CN" b="1" dirty="0"/>
              <a:t>12.2.5 Flink</a:t>
            </a:r>
            <a:r>
              <a:rPr lang="zh-CN" altLang="zh-CN" b="1" dirty="0"/>
              <a:t>的优势</a:t>
            </a:r>
            <a:endParaRPr lang="zh-CN" altLang="en-US" b="1" dirty="0"/>
          </a:p>
        </p:txBody>
      </p:sp>
      <mc:AlternateContent xmlns:mc="http://schemas.openxmlformats.org/markup-compatibility/2006">
        <mc:Choice xmlns:a14="http://schemas.microsoft.com/office/drawing/2010/main" Requires="a14">
          <p:sp>
            <p:nvSpPr>
              <p:cNvPr id="15363" name="矩形 2"/>
              <p:cNvSpPr/>
              <p:nvPr/>
            </p:nvSpPr>
            <p:spPr>
              <a:xfrm>
                <a:off x="1049020" y="1447800"/>
                <a:ext cx="10407650" cy="4523105"/>
              </a:xfrm>
              <a:prstGeom prst="rect">
                <a:avLst/>
              </a:prstGeom>
              <a:noFill/>
              <a:ln w="9525">
                <a:noFill/>
              </a:ln>
            </p:spPr>
            <p:txBody>
              <a:bodyPr wrap="square">
                <a:spAutoFit/>
              </a:bodyPr>
              <a:p>
                <a:pPr>
                  <a:lnSpc>
                    <a:spcPct val="100000"/>
                  </a:lnSpc>
                </a:pPr>
                <a:r>
                  <a:rPr lang="zh-CN" altLang="zh-CN" sz="2400" dirty="0">
                    <a:latin typeface="Arial" panose="020B0604020202020204" pitchFamily="34" charset="0"/>
                  </a:rPr>
                  <a:t>（</a:t>
                </a:r>
                <a:r>
                  <a:rPr lang="en-US" altLang="zh-CN" sz="2400" dirty="0">
                    <a:latin typeface="Arial" panose="020B0604020202020204" pitchFamily="34" charset="0"/>
                  </a:rPr>
                  <a:t>5</a:t>
                </a:r>
                <a:r>
                  <a:rPr lang="zh-CN" altLang="zh-CN" sz="2400" dirty="0">
                    <a:latin typeface="Arial" panose="020B0604020202020204" pitchFamily="34" charset="0"/>
                  </a:rPr>
                  <a:t>）具有良好的容错性</a:t>
                </a:r>
                <a:endParaRPr lang="zh-CN" altLang="zh-CN" sz="2400" dirty="0">
                  <a:latin typeface="Arial" panose="020B0604020202020204" pitchFamily="34" charset="0"/>
                </a:endParaRPr>
              </a:p>
              <a:p>
                <a:pPr>
                  <a:lnSpc>
                    <a:spcPct val="100000"/>
                  </a:lnSpc>
                </a:pPr>
                <a:r>
                  <a:rPr lang="zh-CN" altLang="zh-CN" sz="2400" dirty="0">
                    <a:latin typeface="Arial" panose="020B0604020202020204" pitchFamily="34" charset="0"/>
                  </a:rPr>
                  <a:t>一致性：成功处理故障并恢复之后得到的结果，与没发生故障时得到的结果相比，前者有多</a:t>
                </a:r>
                <a:r>
                  <a:rPr lang="zh-CN" altLang="zh-CN" sz="2400" dirty="0">
                    <a:latin typeface="Arial" panose="020B0604020202020204" pitchFamily="34" charset="0"/>
                  </a:rPr>
                  <a:t>正确</a:t>
                </a:r>
                <a:endParaRPr lang="zh-CN" altLang="zh-CN" sz="2400" dirty="0">
                  <a:latin typeface="Arial" panose="020B0604020202020204" pitchFamily="34" charset="0"/>
                </a:endParaRPr>
              </a:p>
              <a:p>
                <a:pPr>
                  <a:lnSpc>
                    <a:spcPct val="100000"/>
                  </a:lnSpc>
                </a:pPr>
                <a:r>
                  <a:rPr lang="en-US" altLang="zh-CN" sz="2400" dirty="0">
                    <a:latin typeface="Arial" panose="020B0604020202020204" pitchFamily="34" charset="0"/>
                  </a:rPr>
                  <a:t>“</a:t>
                </a:r>
                <a:r>
                  <a:rPr lang="zh-CN" altLang="en-US" sz="2400" dirty="0">
                    <a:latin typeface="Arial" panose="020B0604020202020204" pitchFamily="34" charset="0"/>
                  </a:rPr>
                  <a:t>精确一次</a:t>
                </a:r>
                <a:r>
                  <a:rPr lang="en-US" altLang="zh-CN" sz="2400" dirty="0">
                    <a:latin typeface="Arial" panose="020B0604020202020204" pitchFamily="34" charset="0"/>
                  </a:rPr>
                  <a:t>”</a:t>
                </a:r>
                <a:r>
                  <a:rPr lang="zh-CN" altLang="en-US" sz="2400" dirty="0">
                    <a:latin typeface="Arial" panose="020B0604020202020204" pitchFamily="34" charset="0"/>
                  </a:rPr>
                  <a:t>的容错性：该机制确保在发生故障时，程序的状态最终将只反映数据流中的每个记录一次，如</a:t>
                </a:r>
                <a:r>
                  <a:rPr lang="en-US" altLang="zh-CN" sz="2400" dirty="0">
                    <a:latin typeface="Arial" panose="020B0604020202020204" pitchFamily="34" charset="0"/>
                  </a:rPr>
                  <a:t>Spark Streaming</a:t>
                </a:r>
                <a:endParaRPr lang="zh-CN" altLang="zh-CN" sz="2400" dirty="0">
                  <a:latin typeface="Arial" panose="020B0604020202020204" pitchFamily="34" charset="0"/>
                </a:endParaRPr>
              </a:p>
              <a:p>
                <a:pPr>
                  <a:lnSpc>
                    <a:spcPct val="100000"/>
                  </a:lnSpc>
                </a:pPr>
                <a:r>
                  <a:rPr lang="en-US" altLang="zh-CN" sz="2400" dirty="0">
                    <a:latin typeface="Arial" panose="020B0604020202020204" pitchFamily="34" charset="0"/>
                  </a:rPr>
                  <a:t>“</a:t>
                </a:r>
                <a:r>
                  <a:rPr lang="zh-CN" altLang="en-US" sz="2400" dirty="0">
                    <a:latin typeface="Arial" panose="020B0604020202020204" pitchFamily="34" charset="0"/>
                  </a:rPr>
                  <a:t>至少一次</a:t>
                </a:r>
                <a:r>
                  <a:rPr lang="en-US" altLang="zh-CN" sz="2400" dirty="0">
                    <a:latin typeface="Arial" panose="020B0604020202020204" pitchFamily="34" charset="0"/>
                  </a:rPr>
                  <a:t>”</a:t>
                </a:r>
                <a:r>
                  <a:rPr lang="zh-CN" altLang="en-US" sz="2400" dirty="0">
                    <a:latin typeface="Arial" panose="020B0604020202020204" pitchFamily="34" charset="0"/>
                  </a:rPr>
                  <a:t>的容错性，如</a:t>
                </a:r>
                <a:r>
                  <a:rPr lang="en-US" altLang="zh-CN" sz="2400" dirty="0">
                    <a:latin typeface="Arial" panose="020B0604020202020204" pitchFamily="34" charset="0"/>
                  </a:rPr>
                  <a:t>Storm</a:t>
                </a:r>
                <a:endParaRPr lang="en-US" altLang="zh-CN" sz="2400" dirty="0">
                  <a:latin typeface="Arial" panose="020B0604020202020204" pitchFamily="34" charset="0"/>
                </a:endParaRPr>
              </a:p>
              <a:p>
                <a:pPr>
                  <a:lnSpc>
                    <a:spcPct val="100000"/>
                  </a:lnSpc>
                </a:pPr>
                <a:r>
                  <a:rPr lang="zh-CN" altLang="zh-CN" sz="2400" dirty="0">
                    <a:latin typeface="Arial" panose="020B0604020202020204" pitchFamily="34" charset="0"/>
                  </a:rPr>
                  <a:t>（</a:t>
                </a:r>
                <a:r>
                  <a:rPr lang="en-US" altLang="zh-CN" sz="2400" dirty="0">
                    <a:latin typeface="Arial" panose="020B0604020202020204" pitchFamily="34" charset="0"/>
                  </a:rPr>
                  <a:t>6</a:t>
                </a:r>
                <a:r>
                  <a:rPr lang="zh-CN" altLang="zh-CN" sz="2400" dirty="0">
                    <a:latin typeface="Arial" panose="020B0604020202020204" pitchFamily="34" charset="0"/>
                  </a:rPr>
                  <a:t>）具有独立的内存管理</a:t>
                </a:r>
                <a:endParaRPr lang="zh-CN" altLang="zh-CN" sz="2400" dirty="0">
                  <a:latin typeface="Arial" panose="020B0604020202020204" pitchFamily="34" charset="0"/>
                </a:endParaRPr>
              </a:p>
              <a:p>
                <a:pPr>
                  <a:lnSpc>
                    <a:spcPct val="100000"/>
                  </a:lnSpc>
                </a:pPr>
                <a:r>
                  <a:rPr lang="zh-CN" altLang="zh-CN" sz="2400" dirty="0">
                    <a:latin typeface="Arial" panose="020B0604020202020204" pitchFamily="34" charset="0"/>
                  </a:rPr>
                  <a:t>自己管理</a:t>
                </a:r>
                <a:r>
                  <a:rPr lang="en-US" altLang="zh-CN" sz="2400" dirty="0">
                    <a:latin typeface="Arial" panose="020B0604020202020204" pitchFamily="34" charset="0"/>
                  </a:rPr>
                  <a:t>JVM</a:t>
                </a:r>
                <a:r>
                  <a:rPr lang="zh-CN" altLang="en-US" sz="2400" dirty="0">
                    <a:latin typeface="Arial" panose="020B0604020202020204" pitchFamily="34" charset="0"/>
                  </a:rPr>
                  <a:t>内存，</a:t>
                </a:r>
                <a:r>
                  <a:rPr lang="en-US" altLang="zh-CN" sz="2400" dirty="0">
                    <a:latin typeface="Arial" panose="020B0604020202020204" pitchFamily="34" charset="0"/>
                  </a:rPr>
                  <a:t>C</a:t>
                </a:r>
                <a:r>
                  <a:rPr lang="zh-CN" altLang="en-US" sz="2400" dirty="0">
                    <a:latin typeface="Arial" panose="020B0604020202020204" pitchFamily="34" charset="0"/>
                  </a:rPr>
                  <a:t>一样的性能以及避免内存溢出</a:t>
                </a:r>
                <a:endParaRPr lang="zh-CN" altLang="en-US" sz="2400" dirty="0">
                  <a:latin typeface="Arial" panose="020B0604020202020204" pitchFamily="34" charset="0"/>
                </a:endParaRPr>
              </a:p>
              <a:p>
                <a:pPr>
                  <a:lnSpc>
                    <a:spcPct val="100000"/>
                  </a:lnSpc>
                </a:pPr>
                <a:r>
                  <a:rPr lang="zh-CN" altLang="en-US" sz="2400" dirty="0">
                    <a:latin typeface="Arial" panose="020B0604020202020204" pitchFamily="34" charset="0"/>
                  </a:rPr>
                  <a:t>通过序列化和反序列化（数据对象</a:t>
                </a:r>
                <a14:m>
                  <m:oMath xmlns:m="http://schemas.openxmlformats.org/officeDocument/2006/math">
                    <m:r>
                      <a:rPr lang="en-US" altLang="zh-CN" sz="2400" dirty="0">
                        <a:latin typeface="Cambria Math" panose="02040503050406030204" charset="0"/>
                        <a:cs typeface="Cambria Math" panose="02040503050406030204" charset="0"/>
                      </a:rPr>
                      <m:t>↔</m:t>
                    </m:r>
                  </m:oMath>
                </a14:m>
                <a:r>
                  <a:rPr lang="zh-CN" altLang="en-US" sz="2400" dirty="0">
                    <a:latin typeface="Arial" panose="020B0604020202020204" pitchFamily="34" charset="0"/>
                  </a:rPr>
                  <a:t>二进制格式</a:t>
                </a:r>
                <a:r>
                  <a:rPr lang="zh-CN" altLang="en-US" sz="2400" dirty="0">
                    <a:latin typeface="Arial" panose="020B0604020202020204" pitchFamily="34" charset="0"/>
                  </a:rPr>
                  <a:t>）</a:t>
                </a:r>
                <a:endParaRPr lang="en-US" altLang="zh-CN" sz="2400" dirty="0">
                  <a:latin typeface="Arial" panose="020B0604020202020204" pitchFamily="34" charset="0"/>
                </a:endParaRPr>
              </a:p>
              <a:p>
                <a:pPr>
                  <a:lnSpc>
                    <a:spcPct val="100000"/>
                  </a:lnSpc>
                </a:pPr>
                <a:r>
                  <a:rPr lang="zh-CN" altLang="zh-CN" sz="2400" dirty="0">
                    <a:latin typeface="Arial" panose="020B0604020202020204" pitchFamily="34" charset="0"/>
                  </a:rPr>
                  <a:t>（</a:t>
                </a:r>
                <a:r>
                  <a:rPr lang="en-US" altLang="zh-CN" sz="2400" dirty="0">
                    <a:latin typeface="Arial" panose="020B0604020202020204" pitchFamily="34" charset="0"/>
                  </a:rPr>
                  <a:t>7</a:t>
                </a:r>
                <a:r>
                  <a:rPr lang="zh-CN" altLang="zh-CN" sz="2400" dirty="0">
                    <a:latin typeface="Arial" panose="020B0604020202020204" pitchFamily="34" charset="0"/>
                  </a:rPr>
                  <a:t>）支持迭代和增量迭代</a:t>
                </a:r>
                <a:endParaRPr lang="zh-CN" altLang="zh-CN" sz="2400" dirty="0">
                  <a:latin typeface="Arial" panose="020B0604020202020204" pitchFamily="34" charset="0"/>
                </a:endParaRPr>
              </a:p>
              <a:p>
                <a:pPr>
                  <a:lnSpc>
                    <a:spcPct val="100000"/>
                  </a:lnSpc>
                </a:pPr>
                <a:r>
                  <a:rPr lang="zh-CN" altLang="zh-CN" sz="2400" dirty="0">
                    <a:latin typeface="Arial" panose="020B0604020202020204" pitchFamily="34" charset="0"/>
                  </a:rPr>
                  <a:t>增量迭代：单次迭代产生的下一次工作集中的每个元素都需要重新参与下一轮迭代，有时只需要重新计算部分数据同时选择性地更新</a:t>
                </a:r>
                <a:r>
                  <a:rPr lang="zh-CN" altLang="zh-CN" sz="2400" dirty="0">
                    <a:latin typeface="Arial" panose="020B0604020202020204" pitchFamily="34" charset="0"/>
                  </a:rPr>
                  <a:t>解集。</a:t>
                </a:r>
                <a:endParaRPr lang="zh-CN" altLang="zh-CN" sz="2400" dirty="0">
                  <a:latin typeface="Arial" panose="020B0604020202020204" pitchFamily="34" charset="0"/>
                </a:endParaRPr>
              </a:p>
            </p:txBody>
          </p:sp>
        </mc:Choice>
        <mc:Fallback>
          <p:sp>
            <p:nvSpPr>
              <p:cNvPr id="15363" name="矩形 2"/>
              <p:cNvSpPr>
                <a:spLocks noRot="1" noChangeAspect="1" noMove="1" noResize="1" noEditPoints="1" noAdjustHandles="1" noChangeArrowheads="1" noChangeShapeType="1" noTextEdit="1"/>
              </p:cNvSpPr>
              <p:nvPr/>
            </p:nvSpPr>
            <p:spPr>
              <a:xfrm>
                <a:off x="1049020" y="1447800"/>
                <a:ext cx="10407650" cy="4523105"/>
              </a:xfrm>
              <a:prstGeom prst="rect">
                <a:avLst/>
              </a:prstGeom>
              <a:blipFill rotWithShape="1">
                <a:blip r:embed="rId1"/>
                <a:stretch>
                  <a:fillRect/>
                </a:stretch>
              </a:blipFill>
              <a:ln w="9525">
                <a:noFill/>
              </a:ln>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36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36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36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36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标题 1"/>
          <p:cNvSpPr>
            <a:spLocks noGrp="1"/>
          </p:cNvSpPr>
          <p:nvPr>
            <p:ph type="title"/>
          </p:nvPr>
        </p:nvSpPr>
        <p:spPr/>
        <p:txBody>
          <a:bodyPr vert="horz" wrap="square" lIns="91440" tIns="45720" rIns="91440" bIns="45720" anchor="ctr" anchorCtr="0"/>
          <a:p>
            <a:r>
              <a:rPr lang="en-US" altLang="zh-CN" b="1" dirty="0"/>
              <a:t>12.3 Flink</a:t>
            </a:r>
            <a:r>
              <a:rPr lang="zh-CN" altLang="en-US" b="1" dirty="0"/>
              <a:t>应用场景</a:t>
            </a:r>
            <a:endParaRPr lang="zh-CN" altLang="en-US" dirty="0"/>
          </a:p>
        </p:txBody>
      </p:sp>
      <p:sp>
        <p:nvSpPr>
          <p:cNvPr id="16387" name="矩形 2"/>
          <p:cNvSpPr/>
          <p:nvPr/>
        </p:nvSpPr>
        <p:spPr>
          <a:xfrm>
            <a:off x="991235" y="1691005"/>
            <a:ext cx="4876800" cy="2676525"/>
          </a:xfrm>
          <a:prstGeom prst="rect">
            <a:avLst/>
          </a:prstGeom>
          <a:noFill/>
          <a:ln w="9525">
            <a:noFill/>
          </a:ln>
        </p:spPr>
        <p:txBody>
          <a:bodyPr>
            <a:spAutoFit/>
          </a:bodyPr>
          <a:p>
            <a:pPr>
              <a:lnSpc>
                <a:spcPct val="200000"/>
              </a:lnSpc>
            </a:pPr>
            <a:r>
              <a:rPr lang="en-US" altLang="zh-CN" sz="2800" dirty="0">
                <a:latin typeface="Arial" panose="020B0604020202020204" pitchFamily="34" charset="0"/>
              </a:rPr>
              <a:t>12.3.1 </a:t>
            </a:r>
            <a:r>
              <a:rPr lang="zh-CN" altLang="zh-CN" sz="2800" dirty="0">
                <a:latin typeface="Arial" panose="020B0604020202020204" pitchFamily="34" charset="0"/>
              </a:rPr>
              <a:t>事件驱动型应用</a:t>
            </a:r>
            <a:endParaRPr lang="en-US" altLang="zh-CN" sz="2800" dirty="0">
              <a:latin typeface="Arial" panose="020B0604020202020204" pitchFamily="34" charset="0"/>
            </a:endParaRPr>
          </a:p>
          <a:p>
            <a:pPr>
              <a:lnSpc>
                <a:spcPct val="200000"/>
              </a:lnSpc>
            </a:pPr>
            <a:r>
              <a:rPr lang="en-US" altLang="zh-CN" sz="2800" dirty="0">
                <a:latin typeface="Arial" panose="020B0604020202020204" pitchFamily="34" charset="0"/>
              </a:rPr>
              <a:t>12.3.2 </a:t>
            </a:r>
            <a:r>
              <a:rPr lang="zh-CN" altLang="zh-CN" sz="2800" dirty="0">
                <a:latin typeface="Arial" panose="020B0604020202020204" pitchFamily="34" charset="0"/>
              </a:rPr>
              <a:t>数据分析应用</a:t>
            </a:r>
            <a:endParaRPr lang="en-US" altLang="zh-CN" sz="2800" dirty="0">
              <a:latin typeface="Arial" panose="020B0604020202020204" pitchFamily="34" charset="0"/>
            </a:endParaRPr>
          </a:p>
          <a:p>
            <a:pPr>
              <a:lnSpc>
                <a:spcPct val="200000"/>
              </a:lnSpc>
            </a:pPr>
            <a:r>
              <a:rPr lang="en-US" altLang="zh-CN" sz="2800" dirty="0">
                <a:latin typeface="Arial" panose="020B0604020202020204" pitchFamily="34" charset="0"/>
              </a:rPr>
              <a:t>12.3.3 </a:t>
            </a:r>
            <a:r>
              <a:rPr lang="zh-CN" altLang="zh-CN" sz="2800" dirty="0">
                <a:latin typeface="Arial" panose="020B0604020202020204" pitchFamily="34" charset="0"/>
              </a:rPr>
              <a:t>数据流水线应用</a:t>
            </a:r>
            <a:endParaRPr lang="zh-CN" altLang="zh-CN" sz="2800" dirty="0">
              <a:latin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标题 1"/>
          <p:cNvSpPr>
            <a:spLocks noGrp="1"/>
          </p:cNvSpPr>
          <p:nvPr>
            <p:ph type="title"/>
          </p:nvPr>
        </p:nvSpPr>
        <p:spPr/>
        <p:txBody>
          <a:bodyPr vert="horz" wrap="square" lIns="91440" tIns="45720" rIns="91440" bIns="45720" anchor="ctr" anchorCtr="0"/>
          <a:p>
            <a:r>
              <a:rPr lang="en-US" altLang="zh-CN" b="1" dirty="0"/>
              <a:t>12.3.1 </a:t>
            </a:r>
            <a:r>
              <a:rPr lang="zh-CN" altLang="zh-CN" b="1" dirty="0"/>
              <a:t>事件驱动型应用</a:t>
            </a:r>
            <a:endParaRPr lang="zh-CN" altLang="en-US" b="1" dirty="0"/>
          </a:p>
        </p:txBody>
      </p:sp>
      <p:pic>
        <p:nvPicPr>
          <p:cNvPr id="17411" name="图片 2"/>
          <p:cNvPicPr>
            <a:picLocks noChangeAspect="1"/>
          </p:cNvPicPr>
          <p:nvPr/>
        </p:nvPicPr>
        <p:blipFill>
          <a:blip r:embed="rId1"/>
          <a:stretch>
            <a:fillRect/>
          </a:stretch>
        </p:blipFill>
        <p:spPr>
          <a:xfrm>
            <a:off x="1456055" y="2732405"/>
            <a:ext cx="8585200" cy="2514600"/>
          </a:xfrm>
          <a:prstGeom prst="rect">
            <a:avLst/>
          </a:prstGeom>
          <a:noFill/>
          <a:ln w="9525">
            <a:noFill/>
          </a:ln>
        </p:spPr>
      </p:pic>
      <p:sp>
        <p:nvSpPr>
          <p:cNvPr id="17412" name="矩形 3"/>
          <p:cNvSpPr/>
          <p:nvPr/>
        </p:nvSpPr>
        <p:spPr>
          <a:xfrm>
            <a:off x="3230245" y="5323205"/>
            <a:ext cx="4572000" cy="398780"/>
          </a:xfrm>
          <a:prstGeom prst="rect">
            <a:avLst/>
          </a:prstGeom>
          <a:noFill/>
          <a:ln w="9525">
            <a:noFill/>
          </a:ln>
        </p:spPr>
        <p:txBody>
          <a:bodyPr>
            <a:spAutoFit/>
          </a:bodyPr>
          <a:p>
            <a:r>
              <a:rPr lang="zh-CN" altLang="zh-CN" sz="2000" dirty="0">
                <a:latin typeface="Arial" panose="020B0604020202020204" pitchFamily="34" charset="0"/>
              </a:rPr>
              <a:t>传统应用和事件驱动型应用架构的区别</a:t>
            </a:r>
            <a:endParaRPr lang="zh-CN" altLang="zh-CN" sz="2000" dirty="0">
              <a:latin typeface="Arial" panose="020B0604020202020204" pitchFamily="34" charset="0"/>
            </a:endParaRPr>
          </a:p>
        </p:txBody>
      </p:sp>
      <p:sp>
        <p:nvSpPr>
          <p:cNvPr id="17413" name="矩形 4"/>
          <p:cNvSpPr/>
          <p:nvPr/>
        </p:nvSpPr>
        <p:spPr>
          <a:xfrm>
            <a:off x="1007745" y="1395730"/>
            <a:ext cx="10137775" cy="829945"/>
          </a:xfrm>
          <a:prstGeom prst="rect">
            <a:avLst/>
          </a:prstGeom>
          <a:noFill/>
          <a:ln w="9525">
            <a:noFill/>
          </a:ln>
        </p:spPr>
        <p:txBody>
          <a:bodyPr wrap="square">
            <a:spAutoFit/>
          </a:bodyPr>
          <a:p>
            <a:r>
              <a:rPr lang="zh-CN" altLang="zh-CN" sz="2400" dirty="0">
                <a:latin typeface="Arial" panose="020B0604020202020204" pitchFamily="34" charset="0"/>
              </a:rPr>
              <a:t>这是一类具有状态的应用，它从一个或多个事件数据流中读取事件，并根据到来的事件做出反应，包括触发计算、状态更新或其他外部动作等。</a:t>
            </a:r>
            <a:endParaRPr lang="zh-CN" altLang="zh-CN" sz="2400" dirty="0">
              <a:latin typeface="Arial" panose="020B0604020202020204" pitchFamily="34" charset="0"/>
            </a:endParaRPr>
          </a:p>
        </p:txBody>
      </p:sp>
      <p:sp>
        <p:nvSpPr>
          <p:cNvPr id="2" name="圆角矩形标注 1"/>
          <p:cNvSpPr/>
          <p:nvPr/>
        </p:nvSpPr>
        <p:spPr>
          <a:xfrm>
            <a:off x="980440" y="2382520"/>
            <a:ext cx="4020820" cy="713105"/>
          </a:xfrm>
          <a:prstGeom prst="wedgeRoundRectCallout">
            <a:avLst>
              <a:gd name="adj1" fmla="val -8149"/>
              <a:gd name="adj2" fmla="val 82413"/>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p>
            <a:pPr algn="ctr"/>
            <a:r>
              <a:rPr lang="zh-CN" altLang="zh-CN" dirty="0">
                <a:latin typeface="Arial" panose="020B0604020202020204" pitchFamily="34" charset="0"/>
                <a:sym typeface="+mn-ea"/>
              </a:rPr>
              <a:t>具有</a:t>
            </a:r>
            <a:r>
              <a:rPr lang="zh-CN" altLang="zh-CN" dirty="0">
                <a:highlight>
                  <a:srgbClr val="FFFF00"/>
                </a:highlight>
                <a:latin typeface="Arial" panose="020B0604020202020204" pitchFamily="34" charset="0"/>
                <a:sym typeface="+mn-ea"/>
              </a:rPr>
              <a:t>独立</a:t>
            </a:r>
            <a:r>
              <a:rPr lang="zh-CN" altLang="zh-CN" dirty="0">
                <a:latin typeface="Arial" panose="020B0604020202020204" pitchFamily="34" charset="0"/>
                <a:sym typeface="+mn-ea"/>
              </a:rPr>
              <a:t>的计算和数据存储层，应用会从</a:t>
            </a:r>
            <a:r>
              <a:rPr lang="zh-CN" altLang="zh-CN" dirty="0">
                <a:highlight>
                  <a:srgbClr val="FFFF00"/>
                </a:highlight>
                <a:latin typeface="Arial" panose="020B0604020202020204" pitchFamily="34" charset="0"/>
                <a:sym typeface="+mn-ea"/>
              </a:rPr>
              <a:t>远程</a:t>
            </a:r>
            <a:r>
              <a:rPr lang="zh-CN" altLang="zh-CN" dirty="0">
                <a:latin typeface="Arial" panose="020B0604020202020204" pitchFamily="34" charset="0"/>
                <a:sym typeface="+mn-ea"/>
              </a:rPr>
              <a:t>的事务数据库中读写数据</a:t>
            </a:r>
            <a:endParaRPr lang="zh-CN" altLang="en-US"/>
          </a:p>
        </p:txBody>
      </p:sp>
      <p:sp>
        <p:nvSpPr>
          <p:cNvPr id="4" name="圆角矩形标注 3"/>
          <p:cNvSpPr/>
          <p:nvPr/>
        </p:nvSpPr>
        <p:spPr>
          <a:xfrm>
            <a:off x="8169910" y="2189480"/>
            <a:ext cx="3042285" cy="780415"/>
          </a:xfrm>
          <a:prstGeom prst="wedgeRoundRectCallout">
            <a:avLst>
              <a:gd name="adj1" fmla="val -65883"/>
              <a:gd name="adj2" fmla="val 89707"/>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p>
            <a:pPr algn="ctr"/>
            <a:r>
              <a:rPr lang="zh-CN" altLang="zh-CN" dirty="0">
                <a:latin typeface="Arial" panose="020B0604020202020204" pitchFamily="34" charset="0"/>
                <a:sym typeface="+mn-ea"/>
              </a:rPr>
              <a:t>数据和计算放在</a:t>
            </a:r>
            <a:r>
              <a:rPr lang="zh-CN" altLang="zh-CN" dirty="0">
                <a:highlight>
                  <a:srgbClr val="FFFF00"/>
                </a:highlight>
                <a:latin typeface="Arial" panose="020B0604020202020204" pitchFamily="34" charset="0"/>
                <a:sym typeface="+mn-ea"/>
              </a:rPr>
              <a:t>一起</a:t>
            </a:r>
            <a:r>
              <a:rPr lang="zh-CN" altLang="zh-CN" dirty="0">
                <a:latin typeface="Arial" panose="020B0604020202020204" pitchFamily="34" charset="0"/>
                <a:sym typeface="+mn-ea"/>
              </a:rPr>
              <a:t>的，应用访问</a:t>
            </a:r>
            <a:r>
              <a:rPr lang="zh-CN" altLang="zh-CN" dirty="0">
                <a:highlight>
                  <a:srgbClr val="FFFF00"/>
                </a:highlight>
                <a:latin typeface="Arial" panose="020B0604020202020204" pitchFamily="34" charset="0"/>
                <a:sym typeface="+mn-ea"/>
              </a:rPr>
              <a:t>本地</a:t>
            </a:r>
            <a:r>
              <a:rPr lang="zh-CN" altLang="zh-CN" dirty="0">
                <a:latin typeface="Arial" panose="020B0604020202020204" pitchFamily="34" charset="0"/>
                <a:sym typeface="+mn-ea"/>
              </a:rPr>
              <a:t>即可获取数据</a:t>
            </a:r>
            <a:endParaRPr lang="zh-CN" altLang="en-US"/>
          </a:p>
        </p:txBody>
      </p:sp>
      <p:sp>
        <p:nvSpPr>
          <p:cNvPr id="5" name="圆角矩形标注 4"/>
          <p:cNvSpPr/>
          <p:nvPr/>
        </p:nvSpPr>
        <p:spPr>
          <a:xfrm>
            <a:off x="8170545" y="4466590"/>
            <a:ext cx="3443605" cy="780415"/>
          </a:xfrm>
          <a:prstGeom prst="wedgeRoundRectCallout">
            <a:avLst>
              <a:gd name="adj1" fmla="val -60105"/>
              <a:gd name="adj2" fmla="val -37225"/>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p>
            <a:pPr algn="ctr"/>
            <a:r>
              <a:rPr lang="zh-CN" altLang="zh-CN" dirty="0">
                <a:latin typeface="Arial" panose="020B0604020202020204" pitchFamily="34" charset="0"/>
                <a:sym typeface="+mn-ea"/>
              </a:rPr>
              <a:t>系统容错性是通过定期向远程持久化存储写入检查点来实现</a:t>
            </a:r>
            <a:endParaRPr lang="zh-CN" altLang="en-US"/>
          </a:p>
        </p:txBody>
      </p:sp>
      <p:sp>
        <p:nvSpPr>
          <p:cNvPr id="18436" name="矩形 3"/>
          <p:cNvSpPr/>
          <p:nvPr/>
        </p:nvSpPr>
        <p:spPr>
          <a:xfrm>
            <a:off x="980440" y="5920105"/>
            <a:ext cx="10081895" cy="829945"/>
          </a:xfrm>
          <a:prstGeom prst="rect">
            <a:avLst/>
          </a:prstGeom>
          <a:noFill/>
          <a:ln w="9525">
            <a:noFill/>
          </a:ln>
        </p:spPr>
        <p:txBody>
          <a:bodyPr wrap="square">
            <a:spAutoFit/>
          </a:bodyPr>
          <a:p>
            <a:r>
              <a:rPr lang="zh-CN" altLang="zh-CN" sz="2400" dirty="0">
                <a:latin typeface="Arial" panose="020B0604020202020204" pitchFamily="34" charset="0"/>
              </a:rPr>
              <a:t>典型的事件驱动型应用包括反欺诈、异常检测、基于规则的报警、业务流程监控、</a:t>
            </a:r>
            <a:r>
              <a:rPr lang="en-US" altLang="zh-CN" sz="2400" dirty="0">
                <a:latin typeface="Arial" panose="020B0604020202020204" pitchFamily="34" charset="0"/>
              </a:rPr>
              <a:t>Web </a:t>
            </a:r>
            <a:r>
              <a:rPr lang="zh-CN" altLang="zh-CN" sz="2400" dirty="0">
                <a:latin typeface="Arial" panose="020B0604020202020204" pitchFamily="34" charset="0"/>
              </a:rPr>
              <a:t>应用（社交网络）等。</a:t>
            </a:r>
            <a:endParaRPr lang="zh-CN" altLang="zh-CN" sz="2400"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animBg="1"/>
      <p:bldP spid="4" grpId="0" bldLvl="0" animBg="1"/>
      <p:bldP spid="4" grpId="1" animBg="1"/>
      <p:bldP spid="5" grpId="0" bldLvl="0" animBg="1"/>
      <p:bldP spid="5" grpId="1" animBg="1"/>
      <p:bldP spid="18436" grpId="0"/>
      <p:bldP spid="18436"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标题 1"/>
          <p:cNvSpPr>
            <a:spLocks noGrp="1"/>
          </p:cNvSpPr>
          <p:nvPr>
            <p:ph type="title"/>
          </p:nvPr>
        </p:nvSpPr>
        <p:spPr/>
        <p:txBody>
          <a:bodyPr vert="horz" wrap="square" lIns="91440" tIns="45720" rIns="91440" bIns="45720" anchor="ctr" anchorCtr="0"/>
          <a:p>
            <a:r>
              <a:rPr lang="en-US" altLang="zh-CN" b="1" dirty="0"/>
              <a:t>12.3.1 </a:t>
            </a:r>
            <a:r>
              <a:rPr lang="zh-CN" altLang="zh-CN" b="1" dirty="0"/>
              <a:t>事件驱动型应用</a:t>
            </a:r>
            <a:endParaRPr lang="zh-CN" altLang="en-US" b="1" dirty="0"/>
          </a:p>
        </p:txBody>
      </p:sp>
      <p:sp>
        <p:nvSpPr>
          <p:cNvPr id="18435" name="矩形 2"/>
          <p:cNvSpPr/>
          <p:nvPr/>
        </p:nvSpPr>
        <p:spPr>
          <a:xfrm>
            <a:off x="963930" y="1581150"/>
            <a:ext cx="10049510" cy="4523105"/>
          </a:xfrm>
          <a:prstGeom prst="rect">
            <a:avLst/>
          </a:prstGeom>
          <a:noFill/>
          <a:ln w="9525">
            <a:noFill/>
          </a:ln>
        </p:spPr>
        <p:txBody>
          <a:bodyPr wrap="square">
            <a:spAutoFit/>
          </a:bodyPr>
          <a:p>
            <a:r>
              <a:rPr lang="zh-CN" altLang="zh-CN" sz="2400" dirty="0">
                <a:latin typeface="Arial" panose="020B0604020202020204" pitchFamily="34" charset="0"/>
              </a:rPr>
              <a:t>（</a:t>
            </a:r>
            <a:r>
              <a:rPr lang="en-US" altLang="zh-CN" sz="2400" dirty="0">
                <a:latin typeface="Arial" panose="020B0604020202020204" pitchFamily="34" charset="0"/>
              </a:rPr>
              <a:t>2</a:t>
            </a:r>
            <a:r>
              <a:rPr lang="zh-CN" altLang="zh-CN" sz="2400" dirty="0">
                <a:latin typeface="Arial" panose="020B0604020202020204" pitchFamily="34" charset="0"/>
              </a:rPr>
              <a:t>）事件驱动型应用的优势</a:t>
            </a:r>
            <a:endParaRPr lang="zh-CN" altLang="zh-CN" sz="2400" dirty="0">
              <a:latin typeface="Arial" panose="020B0604020202020204" pitchFamily="34" charset="0"/>
            </a:endParaRPr>
          </a:p>
          <a:p>
            <a:pPr marL="342900" indent="-342900">
              <a:buFont typeface="Arial" panose="020B0604020202020204" pitchFamily="34" charset="0"/>
              <a:buChar char="•"/>
            </a:pPr>
            <a:r>
              <a:rPr lang="zh-CN" altLang="zh-CN" sz="2400" dirty="0">
                <a:latin typeface="Arial" panose="020B0604020202020204" pitchFamily="34" charset="0"/>
              </a:rPr>
              <a:t>事件驱动型应用都是</a:t>
            </a:r>
            <a:r>
              <a:rPr lang="zh-CN" altLang="zh-CN" sz="2400" dirty="0">
                <a:highlight>
                  <a:srgbClr val="FFFF00"/>
                </a:highlight>
                <a:latin typeface="Arial" panose="020B0604020202020204" pitchFamily="34" charset="0"/>
              </a:rPr>
              <a:t>访问本地</a:t>
            </a:r>
            <a:r>
              <a:rPr lang="zh-CN" altLang="zh-CN" sz="2400" dirty="0">
                <a:latin typeface="Arial" panose="020B0604020202020204" pitchFamily="34" charset="0"/>
              </a:rPr>
              <a:t>数据，而无需查询远程的数据库，这样，无论是在吞吐量方面，还是在延迟方面，都可以获得更好的性能。</a:t>
            </a:r>
            <a:endParaRPr lang="zh-CN" altLang="zh-CN" sz="2400" dirty="0">
              <a:latin typeface="Arial" panose="020B0604020202020204" pitchFamily="34" charset="0"/>
            </a:endParaRPr>
          </a:p>
          <a:p>
            <a:pPr marL="342900" indent="-342900">
              <a:buFont typeface="Arial" panose="020B0604020202020204" pitchFamily="34" charset="0"/>
              <a:buChar char="•"/>
            </a:pPr>
            <a:endParaRPr lang="zh-CN" altLang="zh-CN" sz="2400" dirty="0">
              <a:latin typeface="Arial" panose="020B0604020202020204" pitchFamily="34" charset="0"/>
            </a:endParaRPr>
          </a:p>
          <a:p>
            <a:pPr marL="342900" indent="-342900">
              <a:buFont typeface="Arial" panose="020B0604020202020204" pitchFamily="34" charset="0"/>
              <a:buChar char="•"/>
            </a:pPr>
            <a:r>
              <a:rPr lang="zh-CN" altLang="zh-CN" sz="2400" dirty="0">
                <a:latin typeface="Arial" panose="020B0604020202020204" pitchFamily="34" charset="0"/>
              </a:rPr>
              <a:t>向一个远程的持久化存储周期性地写入检查点，可以采用异步和增量的方式来实现。因此，对于常规的事件处理</a:t>
            </a:r>
            <a:r>
              <a:rPr lang="zh-CN" altLang="zh-CN" sz="2400" dirty="0">
                <a:highlight>
                  <a:srgbClr val="FFFF00"/>
                </a:highlight>
                <a:latin typeface="Arial" panose="020B0604020202020204" pitchFamily="34" charset="0"/>
                <a:sym typeface="+mn-ea"/>
              </a:rPr>
              <a:t>检查点</a:t>
            </a:r>
            <a:r>
              <a:rPr lang="zh-CN" altLang="zh-CN" sz="2400" dirty="0">
                <a:highlight>
                  <a:srgbClr val="FFFF00"/>
                </a:highlight>
                <a:latin typeface="Arial" panose="020B0604020202020204" pitchFamily="34" charset="0"/>
              </a:rPr>
              <a:t>的影响是很小</a:t>
            </a:r>
            <a:r>
              <a:rPr lang="zh-CN" altLang="zh-CN" sz="2400" dirty="0">
                <a:latin typeface="Arial" panose="020B0604020202020204" pitchFamily="34" charset="0"/>
              </a:rPr>
              <a:t>的。</a:t>
            </a:r>
            <a:endParaRPr lang="zh-CN" altLang="zh-CN" sz="2400" dirty="0">
              <a:latin typeface="Arial" panose="020B0604020202020204" pitchFamily="34" charset="0"/>
            </a:endParaRPr>
          </a:p>
          <a:p>
            <a:endParaRPr lang="zh-CN" altLang="zh-CN" sz="2400" dirty="0">
              <a:latin typeface="Arial" panose="020B0604020202020204" pitchFamily="34" charset="0"/>
            </a:endParaRPr>
          </a:p>
          <a:p>
            <a:pPr marL="342900" indent="-342900">
              <a:buFont typeface="Arial" panose="020B0604020202020204" pitchFamily="34" charset="0"/>
              <a:buChar char="•"/>
            </a:pPr>
            <a:r>
              <a:rPr lang="zh-CN" altLang="zh-CN" sz="2400" dirty="0">
                <a:latin typeface="Arial" panose="020B0604020202020204" pitchFamily="34" charset="0"/>
              </a:rPr>
              <a:t>在传统的分层架构中，多个应用共享相同的数据库，是一个很常见的现象。因此，数据库的任何变化，比如，由于一个应用的更新或服务的升级而导致的数据布局的变化，都需要谨慎协调。由于每个事件驱动型应用都只需要考虑自身的数据，对数据表示方式的改变或者应用的升级，都只需要</a:t>
            </a:r>
            <a:r>
              <a:rPr lang="zh-CN" altLang="zh-CN" sz="2400" dirty="0">
                <a:highlight>
                  <a:srgbClr val="FFFF00"/>
                </a:highlight>
                <a:latin typeface="Arial" panose="020B0604020202020204" pitchFamily="34" charset="0"/>
              </a:rPr>
              <a:t>很少的协调</a:t>
            </a:r>
            <a:r>
              <a:rPr lang="zh-CN" altLang="zh-CN" sz="2400" dirty="0">
                <a:latin typeface="Arial" panose="020B0604020202020204" pitchFamily="34" charset="0"/>
              </a:rPr>
              <a:t>工作。</a:t>
            </a:r>
            <a:endParaRPr lang="zh-CN" altLang="zh-CN" sz="2400" dirty="0">
              <a:latin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标题 1"/>
          <p:cNvSpPr>
            <a:spLocks noGrp="1"/>
          </p:cNvSpPr>
          <p:nvPr>
            <p:ph type="title"/>
          </p:nvPr>
        </p:nvSpPr>
        <p:spPr/>
        <p:txBody>
          <a:bodyPr vert="horz" wrap="square" lIns="91440" tIns="45720" rIns="91440" bIns="45720" anchor="ctr" anchorCtr="0"/>
          <a:p>
            <a:r>
              <a:rPr lang="en-US" altLang="zh-CN" b="1" dirty="0"/>
              <a:t>12.3.1 </a:t>
            </a:r>
            <a:r>
              <a:rPr lang="zh-CN" altLang="zh-CN" b="1" dirty="0"/>
              <a:t>事件驱动型应用</a:t>
            </a:r>
            <a:endParaRPr lang="zh-CN" altLang="en-US" b="1" dirty="0"/>
          </a:p>
        </p:txBody>
      </p:sp>
      <p:sp>
        <p:nvSpPr>
          <p:cNvPr id="19459" name="矩形 2"/>
          <p:cNvSpPr/>
          <p:nvPr/>
        </p:nvSpPr>
        <p:spPr>
          <a:xfrm>
            <a:off x="946785" y="1528445"/>
            <a:ext cx="9693910" cy="4338320"/>
          </a:xfrm>
          <a:prstGeom prst="rect">
            <a:avLst/>
          </a:prstGeom>
          <a:noFill/>
          <a:ln w="9525">
            <a:noFill/>
          </a:ln>
        </p:spPr>
        <p:txBody>
          <a:bodyPr wrap="square">
            <a:spAutoFit/>
          </a:bodyPr>
          <a:p>
            <a:r>
              <a:rPr lang="zh-CN" altLang="zh-CN" sz="2400" dirty="0">
                <a:latin typeface="Arial" panose="020B0604020202020204" pitchFamily="34" charset="0"/>
              </a:rPr>
              <a:t>（</a:t>
            </a:r>
            <a:r>
              <a:rPr lang="en-US" altLang="zh-CN" sz="2400" dirty="0">
                <a:latin typeface="Arial" panose="020B0604020202020204" pitchFamily="34" charset="0"/>
              </a:rPr>
              <a:t>3</a:t>
            </a:r>
            <a:r>
              <a:rPr lang="zh-CN" altLang="zh-CN" sz="2400" dirty="0">
                <a:latin typeface="Arial" panose="020B0604020202020204" pitchFamily="34" charset="0"/>
              </a:rPr>
              <a:t>）</a:t>
            </a:r>
            <a:r>
              <a:rPr lang="en-US" altLang="zh-CN" sz="2400" dirty="0">
                <a:latin typeface="Arial" panose="020B0604020202020204" pitchFamily="34" charset="0"/>
              </a:rPr>
              <a:t>Flink</a:t>
            </a:r>
            <a:r>
              <a:rPr lang="zh-CN" altLang="zh-CN" sz="2400" dirty="0">
                <a:latin typeface="Arial" panose="020B0604020202020204" pitchFamily="34" charset="0"/>
              </a:rPr>
              <a:t>是如何支持事件驱动型应用的</a:t>
            </a:r>
            <a:endParaRPr lang="zh-CN" altLang="zh-CN" sz="2400" dirty="0">
              <a:latin typeface="Arial" panose="020B0604020202020204" pitchFamily="34" charset="0"/>
            </a:endParaRPr>
          </a:p>
          <a:p>
            <a:pPr indent="457200">
              <a:lnSpc>
                <a:spcPct val="150000"/>
              </a:lnSpc>
              <a:buFont typeface="Arial" panose="020B0604020202020204" pitchFamily="34" charset="0"/>
              <a:buNone/>
            </a:pPr>
            <a:r>
              <a:rPr lang="zh-CN" altLang="zh-CN" sz="2400" dirty="0">
                <a:latin typeface="Arial" panose="020B0604020202020204" pitchFamily="34" charset="0"/>
              </a:rPr>
              <a:t>一个流处理器如何能够很好地处理</a:t>
            </a:r>
            <a:r>
              <a:rPr lang="zh-CN" altLang="zh-CN" sz="2400" dirty="0">
                <a:highlight>
                  <a:srgbClr val="FFFF00"/>
                </a:highlight>
                <a:latin typeface="Arial" panose="020B0604020202020204" pitchFamily="34" charset="0"/>
              </a:rPr>
              <a:t>时间和状态</a:t>
            </a:r>
            <a:r>
              <a:rPr lang="zh-CN" altLang="zh-CN" sz="2400" dirty="0">
                <a:latin typeface="Arial" panose="020B0604020202020204" pitchFamily="34" charset="0"/>
              </a:rPr>
              <a:t>，决定了事件驱动型应用的局限性。</a:t>
            </a:r>
            <a:endParaRPr lang="zh-CN" altLang="zh-CN" sz="2400" dirty="0">
              <a:latin typeface="Arial" panose="020B0604020202020204" pitchFamily="34" charset="0"/>
            </a:endParaRPr>
          </a:p>
          <a:p>
            <a:pPr indent="457200">
              <a:lnSpc>
                <a:spcPct val="150000"/>
              </a:lnSpc>
              <a:buFont typeface="Arial" panose="020B0604020202020204" pitchFamily="34" charset="0"/>
              <a:buNone/>
            </a:pPr>
            <a:endParaRPr lang="zh-CN" altLang="zh-CN" sz="2400" dirty="0">
              <a:latin typeface="Arial" panose="020B0604020202020204" pitchFamily="34" charset="0"/>
            </a:endParaRPr>
          </a:p>
          <a:p>
            <a:pPr marL="342900" indent="-342900">
              <a:lnSpc>
                <a:spcPct val="150000"/>
              </a:lnSpc>
              <a:buFont typeface="Arial" panose="020B0604020202020204" pitchFamily="34" charset="0"/>
              <a:buChar char="•"/>
            </a:pPr>
            <a:r>
              <a:rPr lang="en-US" altLang="zh-CN" sz="2400" dirty="0">
                <a:latin typeface="Arial" panose="020B0604020202020204" pitchFamily="34" charset="0"/>
              </a:rPr>
              <a:t>Flink</a:t>
            </a:r>
            <a:r>
              <a:rPr lang="zh-CN" altLang="zh-CN" sz="2400" dirty="0">
                <a:latin typeface="Arial" panose="020B0604020202020204" pitchFamily="34" charset="0"/>
              </a:rPr>
              <a:t>提供了丰富的</a:t>
            </a:r>
            <a:r>
              <a:rPr lang="zh-CN" altLang="zh-CN" sz="2400" dirty="0">
                <a:highlight>
                  <a:srgbClr val="FFFF00"/>
                </a:highlight>
                <a:latin typeface="Arial" panose="020B0604020202020204" pitchFamily="34" charset="0"/>
              </a:rPr>
              <a:t>状态</a:t>
            </a:r>
            <a:r>
              <a:rPr lang="zh-CN" altLang="zh-CN" sz="2400" dirty="0">
                <a:latin typeface="Arial" panose="020B0604020202020204" pitchFamily="34" charset="0"/>
              </a:rPr>
              <a:t>操作原语，它可以管理大量的数据（可以达到</a:t>
            </a:r>
            <a:r>
              <a:rPr lang="en-US" altLang="zh-CN" sz="2400" dirty="0">
                <a:latin typeface="Arial" panose="020B0604020202020204" pitchFamily="34" charset="0"/>
              </a:rPr>
              <a:t>TB</a:t>
            </a:r>
            <a:r>
              <a:rPr lang="zh-CN" altLang="zh-CN" sz="2400" dirty="0">
                <a:latin typeface="Arial" panose="020B0604020202020204" pitchFamily="34" charset="0"/>
              </a:rPr>
              <a:t>级别），并且可以确保“精确一次”的一致性。</a:t>
            </a:r>
            <a:endParaRPr lang="zh-CN" altLang="zh-CN" sz="2400" dirty="0">
              <a:latin typeface="Arial" panose="020B0604020202020204" pitchFamily="34" charset="0"/>
            </a:endParaRPr>
          </a:p>
          <a:p>
            <a:pPr marL="342900" indent="-342900">
              <a:lnSpc>
                <a:spcPct val="150000"/>
              </a:lnSpc>
              <a:buFont typeface="Arial" panose="020B0604020202020204" pitchFamily="34" charset="0"/>
              <a:buChar char="•"/>
            </a:pPr>
            <a:r>
              <a:rPr lang="en-US" altLang="zh-CN" sz="2400" dirty="0">
                <a:latin typeface="Arial" panose="020B0604020202020204" pitchFamily="34" charset="0"/>
              </a:rPr>
              <a:t>Flink</a:t>
            </a:r>
            <a:r>
              <a:rPr lang="zh-CN" altLang="zh-CN" sz="2400" dirty="0">
                <a:latin typeface="Arial" panose="020B0604020202020204" pitchFamily="34" charset="0"/>
              </a:rPr>
              <a:t>还支持事件</a:t>
            </a:r>
            <a:r>
              <a:rPr lang="zh-CN" altLang="zh-CN" sz="2400" dirty="0">
                <a:highlight>
                  <a:srgbClr val="FFFF00"/>
                </a:highlight>
                <a:latin typeface="Arial" panose="020B0604020202020204" pitchFamily="34" charset="0"/>
              </a:rPr>
              <a:t>时间</a:t>
            </a:r>
            <a:r>
              <a:rPr lang="zh-CN" altLang="zh-CN" sz="2400" dirty="0">
                <a:latin typeface="Arial" panose="020B0604020202020204" pitchFamily="34" charset="0"/>
              </a:rPr>
              <a:t>、高度可定制的窗口逻辑和细粒度的</a:t>
            </a:r>
            <a:r>
              <a:rPr lang="zh-CN" altLang="zh-CN" sz="2400" dirty="0">
                <a:highlight>
                  <a:srgbClr val="FFFF00"/>
                </a:highlight>
                <a:latin typeface="Arial" panose="020B0604020202020204" pitchFamily="34" charset="0"/>
              </a:rPr>
              <a:t>时间</a:t>
            </a:r>
            <a:r>
              <a:rPr lang="zh-CN" altLang="zh-CN" sz="2400" dirty="0">
                <a:latin typeface="Arial" panose="020B0604020202020204" pitchFamily="34" charset="0"/>
              </a:rPr>
              <a:t>控制，这些都可以帮助实现高级的商业逻辑。</a:t>
            </a:r>
            <a:endParaRPr lang="zh-CN" altLang="zh-CN" sz="2400"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标题 1"/>
          <p:cNvSpPr>
            <a:spLocks noGrp="1"/>
          </p:cNvSpPr>
          <p:nvPr>
            <p:ph type="title"/>
          </p:nvPr>
        </p:nvSpPr>
        <p:spPr/>
        <p:txBody>
          <a:bodyPr vert="horz" wrap="square" lIns="91440" tIns="45720" rIns="91440" bIns="45720" anchor="ctr" anchorCtr="0"/>
          <a:p>
            <a:r>
              <a:rPr lang="en-US" altLang="zh-CN" b="1" dirty="0"/>
              <a:t>12.3.1 </a:t>
            </a:r>
            <a:r>
              <a:rPr lang="zh-CN" altLang="zh-CN" b="1" dirty="0"/>
              <a:t>事件驱动型应用</a:t>
            </a:r>
            <a:endParaRPr lang="zh-CN" altLang="en-US" b="1" dirty="0"/>
          </a:p>
        </p:txBody>
      </p:sp>
      <p:sp>
        <p:nvSpPr>
          <p:cNvPr id="19459" name="矩形 2"/>
          <p:cNvSpPr/>
          <p:nvPr/>
        </p:nvSpPr>
        <p:spPr>
          <a:xfrm>
            <a:off x="946785" y="1528445"/>
            <a:ext cx="9693910" cy="4154170"/>
          </a:xfrm>
          <a:prstGeom prst="rect">
            <a:avLst/>
          </a:prstGeom>
          <a:noFill/>
          <a:ln w="9525">
            <a:noFill/>
          </a:ln>
        </p:spPr>
        <p:txBody>
          <a:bodyPr wrap="square">
            <a:spAutoFit/>
          </a:bodyPr>
          <a:p>
            <a:r>
              <a:rPr lang="zh-CN" altLang="zh-CN" sz="2400" dirty="0">
                <a:latin typeface="Arial" panose="020B0604020202020204" pitchFamily="34" charset="0"/>
              </a:rPr>
              <a:t>（</a:t>
            </a:r>
            <a:r>
              <a:rPr lang="en-US" altLang="zh-CN" sz="2400" dirty="0">
                <a:latin typeface="Arial" panose="020B0604020202020204" pitchFamily="34" charset="0"/>
              </a:rPr>
              <a:t>3</a:t>
            </a:r>
            <a:r>
              <a:rPr lang="zh-CN" altLang="zh-CN" sz="2400" dirty="0">
                <a:latin typeface="Arial" panose="020B0604020202020204" pitchFamily="34" charset="0"/>
              </a:rPr>
              <a:t>）</a:t>
            </a:r>
            <a:r>
              <a:rPr lang="en-US" altLang="zh-CN" sz="2400" dirty="0">
                <a:latin typeface="Arial" panose="020B0604020202020204" pitchFamily="34" charset="0"/>
              </a:rPr>
              <a:t>Flink</a:t>
            </a:r>
            <a:r>
              <a:rPr lang="zh-CN" altLang="zh-CN" sz="2400" dirty="0">
                <a:latin typeface="Arial" panose="020B0604020202020204" pitchFamily="34" charset="0"/>
              </a:rPr>
              <a:t>是如何支持事件驱动型应用的</a:t>
            </a:r>
            <a:endParaRPr lang="zh-CN" altLang="zh-CN" sz="2400" dirty="0">
              <a:latin typeface="Arial" panose="020B0604020202020204" pitchFamily="34" charset="0"/>
            </a:endParaRPr>
          </a:p>
          <a:p>
            <a:pPr marL="342900" indent="-342900">
              <a:buFont typeface="Arial" panose="020B0604020202020204" pitchFamily="34" charset="0"/>
              <a:buChar char="•"/>
            </a:pPr>
            <a:endParaRPr lang="en-US" altLang="zh-CN" sz="2400" dirty="0">
              <a:latin typeface="Arial" panose="020B0604020202020204" pitchFamily="34" charset="0"/>
            </a:endParaRPr>
          </a:p>
          <a:p>
            <a:pPr marL="342900" indent="-342900">
              <a:lnSpc>
                <a:spcPct val="150000"/>
              </a:lnSpc>
              <a:buFont typeface="Arial" panose="020B0604020202020204" pitchFamily="34" charset="0"/>
              <a:buChar char="•"/>
            </a:pPr>
            <a:r>
              <a:rPr lang="en-US" altLang="zh-CN" sz="2400" dirty="0">
                <a:latin typeface="Arial" panose="020B0604020202020204" pitchFamily="34" charset="0"/>
              </a:rPr>
              <a:t>Flink</a:t>
            </a:r>
            <a:r>
              <a:rPr lang="zh-CN" altLang="zh-CN" sz="2400" dirty="0">
                <a:latin typeface="Arial" panose="020B0604020202020204" pitchFamily="34" charset="0"/>
              </a:rPr>
              <a:t>还拥有一个复杂事件处理（</a:t>
            </a:r>
            <a:r>
              <a:rPr lang="en-US" altLang="zh-CN" sz="2400" dirty="0">
                <a:latin typeface="Arial" panose="020B0604020202020204" pitchFamily="34" charset="0"/>
              </a:rPr>
              <a:t>CEP</a:t>
            </a:r>
            <a:r>
              <a:rPr lang="zh-CN" altLang="zh-CN" sz="2400" dirty="0">
                <a:latin typeface="Arial" panose="020B0604020202020204" pitchFamily="34" charset="0"/>
              </a:rPr>
              <a:t>）类库，可以用来检测数据流中的模式。</a:t>
            </a:r>
            <a:endParaRPr lang="zh-CN" altLang="zh-CN" sz="2400" dirty="0">
              <a:latin typeface="Arial" panose="020B0604020202020204" pitchFamily="34" charset="0"/>
            </a:endParaRPr>
          </a:p>
          <a:p>
            <a:pPr marL="342900" indent="-342900">
              <a:lnSpc>
                <a:spcPct val="150000"/>
              </a:lnSpc>
              <a:buFont typeface="Arial" panose="020B0604020202020204" pitchFamily="34" charset="0"/>
              <a:buChar char="•"/>
            </a:pPr>
            <a:r>
              <a:rPr lang="en-US" altLang="zh-CN" sz="2400" dirty="0">
                <a:latin typeface="Arial" panose="020B0604020202020204" pitchFamily="34" charset="0"/>
              </a:rPr>
              <a:t>Flink</a:t>
            </a:r>
            <a:r>
              <a:rPr lang="zh-CN" altLang="zh-CN" sz="2400" dirty="0">
                <a:latin typeface="Arial" panose="020B0604020202020204" pitchFamily="34" charset="0"/>
              </a:rPr>
              <a:t>中针对事件驱动应用的突出特性当属“保存点”（</a:t>
            </a:r>
            <a:r>
              <a:rPr lang="en-US" altLang="zh-CN" sz="2400" dirty="0">
                <a:latin typeface="Arial" panose="020B0604020202020204" pitchFamily="34" charset="0"/>
              </a:rPr>
              <a:t>savepoint</a:t>
            </a:r>
            <a:r>
              <a:rPr lang="zh-CN" altLang="zh-CN" sz="2400" dirty="0">
                <a:latin typeface="Arial" panose="020B0604020202020204" pitchFamily="34" charset="0"/>
              </a:rPr>
              <a:t>）。保存点是一个一致性的状态镜像，它可以作为许多相互兼容的应用的一个初始化点。给定一个保存点以后，就可放心对应用进行升级或扩容，还可以启动多个版本的应用来完成</a:t>
            </a:r>
            <a:r>
              <a:rPr lang="en-US" altLang="zh-CN" sz="2400" dirty="0">
                <a:latin typeface="Arial" panose="020B0604020202020204" pitchFamily="34" charset="0"/>
              </a:rPr>
              <a:t> A/B </a:t>
            </a:r>
            <a:r>
              <a:rPr lang="zh-CN" altLang="zh-CN" sz="2400" dirty="0">
                <a:latin typeface="Arial" panose="020B0604020202020204" pitchFamily="34" charset="0"/>
              </a:rPr>
              <a:t>测试。</a:t>
            </a:r>
            <a:endParaRPr lang="zh-CN" altLang="zh-CN" sz="2400" dirty="0">
              <a:latin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标题 1"/>
          <p:cNvSpPr>
            <a:spLocks noGrp="1"/>
          </p:cNvSpPr>
          <p:nvPr>
            <p:ph type="title"/>
          </p:nvPr>
        </p:nvSpPr>
        <p:spPr/>
        <p:txBody>
          <a:bodyPr vert="horz" wrap="square" lIns="91440" tIns="45720" rIns="91440" bIns="45720" anchor="ctr" anchorCtr="0"/>
          <a:p>
            <a:r>
              <a:rPr lang="en-US" altLang="zh-CN" b="1" dirty="0"/>
              <a:t>12.3.2 </a:t>
            </a:r>
            <a:r>
              <a:rPr lang="zh-CN" altLang="zh-CN" b="1" dirty="0"/>
              <a:t>数据分析应用</a:t>
            </a:r>
            <a:endParaRPr lang="zh-CN" altLang="en-US" b="1" dirty="0"/>
          </a:p>
        </p:txBody>
      </p:sp>
      <p:pic>
        <p:nvPicPr>
          <p:cNvPr id="20483" name="图片 2"/>
          <p:cNvPicPr>
            <a:picLocks noChangeAspect="1"/>
          </p:cNvPicPr>
          <p:nvPr/>
        </p:nvPicPr>
        <p:blipFill>
          <a:blip r:embed="rId1"/>
          <a:stretch>
            <a:fillRect/>
          </a:stretch>
        </p:blipFill>
        <p:spPr>
          <a:xfrm>
            <a:off x="2759075" y="3046095"/>
            <a:ext cx="7832725" cy="1905000"/>
          </a:xfrm>
          <a:prstGeom prst="rect">
            <a:avLst/>
          </a:prstGeom>
          <a:noFill/>
          <a:ln w="9525">
            <a:noFill/>
          </a:ln>
        </p:spPr>
      </p:pic>
      <p:sp>
        <p:nvSpPr>
          <p:cNvPr id="20484" name="矩形 3"/>
          <p:cNvSpPr/>
          <p:nvPr/>
        </p:nvSpPr>
        <p:spPr>
          <a:xfrm>
            <a:off x="4206875" y="4951095"/>
            <a:ext cx="3929380" cy="368300"/>
          </a:xfrm>
          <a:prstGeom prst="rect">
            <a:avLst/>
          </a:prstGeom>
          <a:noFill/>
          <a:ln w="9525">
            <a:noFill/>
          </a:ln>
        </p:spPr>
        <p:txBody>
          <a:bodyPr wrap="none">
            <a:spAutoFit/>
          </a:bodyPr>
          <a:p>
            <a:r>
              <a:rPr lang="zh-CN" altLang="zh-CN" dirty="0">
                <a:latin typeface="Arial" panose="020B0604020202020204" pitchFamily="34" charset="0"/>
              </a:rPr>
              <a:t>图</a:t>
            </a:r>
            <a:r>
              <a:rPr lang="en-US" altLang="zh-CN" dirty="0">
                <a:latin typeface="Arial" panose="020B0604020202020204" pitchFamily="34" charset="0"/>
              </a:rPr>
              <a:t> Flink</a:t>
            </a:r>
            <a:r>
              <a:rPr lang="zh-CN" altLang="zh-CN" dirty="0">
                <a:latin typeface="Arial" panose="020B0604020202020204" pitchFamily="34" charset="0"/>
              </a:rPr>
              <a:t>同时支持流式及批量分析应用</a:t>
            </a:r>
            <a:endParaRPr lang="zh-CN" altLang="en-US" dirty="0">
              <a:latin typeface="Arial" panose="020B0604020202020204" pitchFamily="34" charset="0"/>
            </a:endParaRPr>
          </a:p>
        </p:txBody>
      </p:sp>
      <p:sp>
        <p:nvSpPr>
          <p:cNvPr id="20485" name="矩形 4"/>
          <p:cNvSpPr/>
          <p:nvPr/>
        </p:nvSpPr>
        <p:spPr>
          <a:xfrm>
            <a:off x="1078865" y="1405890"/>
            <a:ext cx="9575165" cy="829945"/>
          </a:xfrm>
          <a:prstGeom prst="rect">
            <a:avLst/>
          </a:prstGeom>
          <a:noFill/>
          <a:ln w="9525">
            <a:noFill/>
          </a:ln>
        </p:spPr>
        <p:txBody>
          <a:bodyPr wrap="square">
            <a:spAutoFit/>
          </a:bodyPr>
          <a:p>
            <a:r>
              <a:rPr lang="zh-CN" altLang="zh-CN" sz="2400" dirty="0">
                <a:latin typeface="Arial" panose="020B0604020202020204" pitchFamily="34" charset="0"/>
              </a:rPr>
              <a:t>（</a:t>
            </a:r>
            <a:r>
              <a:rPr lang="en-US" altLang="zh-CN" sz="2400" dirty="0">
                <a:latin typeface="Arial" panose="020B0604020202020204" pitchFamily="34" charset="0"/>
              </a:rPr>
              <a:t>1</a:t>
            </a:r>
            <a:r>
              <a:rPr lang="zh-CN" altLang="zh-CN" sz="2400" dirty="0">
                <a:latin typeface="Arial" panose="020B0604020202020204" pitchFamily="34" charset="0"/>
              </a:rPr>
              <a:t>）什么是数据分析应用</a:t>
            </a:r>
            <a:endParaRPr lang="zh-CN" altLang="zh-CN" sz="2400" dirty="0">
              <a:latin typeface="Arial" panose="020B0604020202020204" pitchFamily="34" charset="0"/>
            </a:endParaRPr>
          </a:p>
          <a:p>
            <a:r>
              <a:rPr lang="zh-CN" altLang="zh-CN" sz="2400" dirty="0">
                <a:latin typeface="Arial" panose="020B0604020202020204" pitchFamily="34" charset="0"/>
              </a:rPr>
              <a:t>分析作业会从原始数据中提取信息，并得到富有洞见的观察。</a:t>
            </a:r>
            <a:endParaRPr lang="zh-CN" altLang="zh-CN" sz="2400" dirty="0">
              <a:latin typeface="Arial" panose="020B0604020202020204" pitchFamily="34" charset="0"/>
            </a:endParaRPr>
          </a:p>
        </p:txBody>
      </p:sp>
      <p:sp>
        <p:nvSpPr>
          <p:cNvPr id="3" name="圆角矩形标注 2"/>
          <p:cNvSpPr/>
          <p:nvPr>
            <p:custDataLst>
              <p:tags r:id="rId2"/>
            </p:custDataLst>
          </p:nvPr>
        </p:nvSpPr>
        <p:spPr>
          <a:xfrm>
            <a:off x="1308735" y="2225675"/>
            <a:ext cx="3383915" cy="713105"/>
          </a:xfrm>
          <a:prstGeom prst="wedgeRoundRectCallout">
            <a:avLst>
              <a:gd name="adj1" fmla="val -8149"/>
              <a:gd name="adj2" fmla="val 82413"/>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p>
            <a:pPr algn="ctr"/>
            <a:r>
              <a:rPr lang="zh-CN" altLang="zh-CN" dirty="0">
                <a:latin typeface="Arial" panose="020B0604020202020204" pitchFamily="34" charset="0"/>
                <a:sym typeface="+mn-ea"/>
              </a:rPr>
              <a:t>先对事件进行记录，后在这个</a:t>
            </a:r>
            <a:r>
              <a:rPr lang="zh-CN" altLang="zh-CN" dirty="0">
                <a:highlight>
                  <a:srgbClr val="FFFF00"/>
                </a:highlight>
                <a:latin typeface="Arial" panose="020B0604020202020204" pitchFamily="34" charset="0"/>
                <a:sym typeface="+mn-ea"/>
              </a:rPr>
              <a:t>有界</a:t>
            </a:r>
            <a:r>
              <a:rPr lang="zh-CN" altLang="zh-CN" dirty="0">
                <a:latin typeface="Arial" panose="020B0604020202020204" pitchFamily="34" charset="0"/>
                <a:sym typeface="+mn-ea"/>
              </a:rPr>
              <a:t>的数据集上执行批量查询</a:t>
            </a:r>
            <a:endParaRPr lang="zh-CN" altLang="en-US"/>
          </a:p>
        </p:txBody>
      </p:sp>
      <p:sp>
        <p:nvSpPr>
          <p:cNvPr id="4" name="圆角矩形标注 3"/>
          <p:cNvSpPr/>
          <p:nvPr>
            <p:custDataLst>
              <p:tags r:id="rId3"/>
            </p:custDataLst>
          </p:nvPr>
        </p:nvSpPr>
        <p:spPr>
          <a:xfrm>
            <a:off x="822960" y="4571365"/>
            <a:ext cx="3383915" cy="713105"/>
          </a:xfrm>
          <a:prstGeom prst="wedgeRoundRectCallout">
            <a:avLst>
              <a:gd name="adj1" fmla="val -5545"/>
              <a:gd name="adj2" fmla="val -74309"/>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p>
            <a:pPr algn="ctr"/>
            <a:r>
              <a:rPr lang="zh-CN" altLang="zh-CN" dirty="0">
                <a:latin typeface="Arial" panose="020B0604020202020204" pitchFamily="34" charset="0"/>
                <a:sym typeface="+mn-ea"/>
              </a:rPr>
              <a:t>把最新的数据添加到被分析的数据集中，然后</a:t>
            </a:r>
            <a:r>
              <a:rPr lang="zh-CN" altLang="zh-CN" dirty="0">
                <a:highlight>
                  <a:srgbClr val="FFFF00"/>
                </a:highlight>
                <a:latin typeface="Arial" panose="020B0604020202020204" pitchFamily="34" charset="0"/>
                <a:sym typeface="+mn-ea"/>
              </a:rPr>
              <a:t>重新</a:t>
            </a:r>
            <a:r>
              <a:rPr lang="zh-CN" altLang="zh-CN" dirty="0">
                <a:latin typeface="Arial" panose="020B0604020202020204" pitchFamily="34" charset="0"/>
                <a:sym typeface="+mn-ea"/>
              </a:rPr>
              <a:t>运行查询</a:t>
            </a:r>
            <a:endParaRPr lang="zh-CN" altLang="en-US"/>
          </a:p>
        </p:txBody>
      </p:sp>
      <p:sp>
        <p:nvSpPr>
          <p:cNvPr id="5" name="圆角矩形标注 4"/>
          <p:cNvSpPr/>
          <p:nvPr>
            <p:custDataLst>
              <p:tags r:id="rId4"/>
            </p:custDataLst>
          </p:nvPr>
        </p:nvSpPr>
        <p:spPr>
          <a:xfrm>
            <a:off x="8136255" y="2127885"/>
            <a:ext cx="2746375" cy="713105"/>
          </a:xfrm>
          <a:prstGeom prst="wedgeRoundRectCallout">
            <a:avLst>
              <a:gd name="adj1" fmla="val -25953"/>
              <a:gd name="adj2" fmla="val 71549"/>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p>
            <a:pPr algn="ctr"/>
            <a:r>
              <a:rPr lang="zh-CN" altLang="zh-CN" dirty="0">
                <a:latin typeface="Arial" panose="020B0604020202020204" pitchFamily="34" charset="0"/>
                <a:sym typeface="+mn-ea"/>
              </a:rPr>
              <a:t>获取</a:t>
            </a:r>
            <a:r>
              <a:rPr lang="zh-CN" altLang="zh-CN" dirty="0">
                <a:highlight>
                  <a:srgbClr val="FFFF00"/>
                </a:highlight>
                <a:latin typeface="Arial" panose="020B0604020202020204" pitchFamily="34" charset="0"/>
                <a:sym typeface="+mn-ea"/>
              </a:rPr>
              <a:t>实时</a:t>
            </a:r>
            <a:r>
              <a:rPr lang="zh-CN" altLang="zh-CN" dirty="0">
                <a:latin typeface="Arial" panose="020B0604020202020204" pitchFamily="34" charset="0"/>
                <a:sym typeface="+mn-ea"/>
              </a:rPr>
              <a:t>事件流，并</a:t>
            </a:r>
            <a:r>
              <a:rPr lang="zh-CN" altLang="zh-CN" dirty="0">
                <a:highlight>
                  <a:srgbClr val="FFFF00"/>
                </a:highlight>
                <a:latin typeface="Arial" panose="020B0604020202020204" pitchFamily="34" charset="0"/>
                <a:sym typeface="+mn-ea"/>
              </a:rPr>
              <a:t>连续</a:t>
            </a:r>
            <a:r>
              <a:rPr lang="zh-CN" altLang="zh-CN" dirty="0">
                <a:latin typeface="Arial" panose="020B0604020202020204" pitchFamily="34" charset="0"/>
                <a:sym typeface="+mn-ea"/>
              </a:rPr>
              <a:t>产生和更新查询结果</a:t>
            </a:r>
            <a:endParaRPr lang="zh-CN" altLang="en-US"/>
          </a:p>
        </p:txBody>
      </p:sp>
      <p:sp>
        <p:nvSpPr>
          <p:cNvPr id="6" name="圆角矩形标注 5"/>
          <p:cNvSpPr/>
          <p:nvPr>
            <p:custDataLst>
              <p:tags r:id="rId5"/>
            </p:custDataLst>
          </p:nvPr>
        </p:nvSpPr>
        <p:spPr>
          <a:xfrm>
            <a:off x="5116830" y="2392045"/>
            <a:ext cx="2108835" cy="713105"/>
          </a:xfrm>
          <a:prstGeom prst="wedgeRoundRectCallout">
            <a:avLst>
              <a:gd name="adj1" fmla="val -35124"/>
              <a:gd name="adj2" fmla="val 94790"/>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p>
            <a:pPr algn="ctr"/>
            <a:r>
              <a:rPr lang="zh-CN" altLang="zh-CN" dirty="0">
                <a:latin typeface="Arial" panose="020B0604020202020204" pitchFamily="34" charset="0"/>
                <a:sym typeface="+mn-ea"/>
              </a:rPr>
              <a:t>查询结果写入存储系统或形成报表</a:t>
            </a:r>
            <a:endParaRPr lang="zh-CN" altLang="en-US"/>
          </a:p>
        </p:txBody>
      </p:sp>
      <p:sp>
        <p:nvSpPr>
          <p:cNvPr id="7" name="圆角矩形标注 6"/>
          <p:cNvSpPr/>
          <p:nvPr>
            <p:custDataLst>
              <p:tags r:id="rId6"/>
            </p:custDataLst>
          </p:nvPr>
        </p:nvSpPr>
        <p:spPr>
          <a:xfrm>
            <a:off x="8325485" y="4778375"/>
            <a:ext cx="2266315" cy="713105"/>
          </a:xfrm>
          <a:prstGeom prst="wedgeRoundRectCallout">
            <a:avLst>
              <a:gd name="adj1" fmla="val -33936"/>
              <a:gd name="adj2" fmla="val -100400"/>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p>
            <a:pPr algn="ctr"/>
            <a:r>
              <a:rPr lang="zh-CN" altLang="zh-CN" dirty="0">
                <a:latin typeface="Arial" panose="020B0604020202020204" pitchFamily="34" charset="0"/>
                <a:sym typeface="+mn-ea"/>
              </a:rPr>
              <a:t>结果保存到外部数据库或者内部状态</a:t>
            </a:r>
            <a:endParaRPr lang="zh-CN" altLang="en-US"/>
          </a:p>
        </p:txBody>
      </p:sp>
      <p:sp>
        <p:nvSpPr>
          <p:cNvPr id="21507" name="矩形 2"/>
          <p:cNvSpPr/>
          <p:nvPr/>
        </p:nvSpPr>
        <p:spPr>
          <a:xfrm>
            <a:off x="838200" y="5761355"/>
            <a:ext cx="10044430" cy="829945"/>
          </a:xfrm>
          <a:prstGeom prst="rect">
            <a:avLst/>
          </a:prstGeom>
          <a:noFill/>
          <a:ln w="9525">
            <a:noFill/>
          </a:ln>
        </p:spPr>
        <p:txBody>
          <a:bodyPr wrap="square">
            <a:spAutoFit/>
          </a:bodyPr>
          <a:p>
            <a:r>
              <a:rPr lang="zh-CN" altLang="zh-CN" sz="2400" dirty="0">
                <a:latin typeface="Arial" panose="020B0604020202020204" pitchFamily="34" charset="0"/>
              </a:rPr>
              <a:t>典型的数据分析应用包括电信网络质量监控、移动应用中的产品更新及实验评估分析、消费者技术中的实时数据即席分析、大规模图分析等。</a:t>
            </a:r>
            <a:endParaRPr lang="zh-CN" altLang="zh-CN" sz="2400"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5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P spid="4" grpId="0" bldLvl="0" animBg="1"/>
      <p:bldP spid="4" grpId="1" animBg="1"/>
      <p:bldP spid="5" grpId="0" bldLvl="0" animBg="1"/>
      <p:bldP spid="5" grpId="1" animBg="1"/>
      <p:bldP spid="6" grpId="0" bldLvl="0" animBg="1"/>
      <p:bldP spid="6" grpId="1" animBg="1"/>
      <p:bldP spid="7" grpId="0" bldLvl="0" animBg="1"/>
      <p:bldP spid="7" grpId="1" animBg="1"/>
      <p:bldP spid="21507" grpId="0"/>
      <p:bldP spid="21507"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标题 1"/>
          <p:cNvSpPr>
            <a:spLocks noGrp="1"/>
          </p:cNvSpPr>
          <p:nvPr>
            <p:ph type="title"/>
          </p:nvPr>
        </p:nvSpPr>
        <p:spPr/>
        <p:txBody>
          <a:bodyPr vert="horz" wrap="square" lIns="91440" tIns="45720" rIns="91440" bIns="45720" anchor="ctr" anchorCtr="0"/>
          <a:p>
            <a:r>
              <a:rPr lang="en-US" altLang="zh-CN" b="1" dirty="0"/>
              <a:t>12.3.2 </a:t>
            </a:r>
            <a:r>
              <a:rPr lang="zh-CN" altLang="zh-CN" b="1" dirty="0"/>
              <a:t>数据分析应用</a:t>
            </a:r>
            <a:endParaRPr lang="zh-CN" altLang="en-US" b="1" dirty="0"/>
          </a:p>
        </p:txBody>
      </p:sp>
      <p:sp>
        <p:nvSpPr>
          <p:cNvPr id="21508" name="矩形 3"/>
          <p:cNvSpPr/>
          <p:nvPr/>
        </p:nvSpPr>
        <p:spPr>
          <a:xfrm>
            <a:off x="934720" y="1596390"/>
            <a:ext cx="10208895" cy="4521835"/>
          </a:xfrm>
          <a:prstGeom prst="rect">
            <a:avLst/>
          </a:prstGeom>
          <a:noFill/>
          <a:ln w="9525">
            <a:noFill/>
          </a:ln>
        </p:spPr>
        <p:txBody>
          <a:bodyPr wrap="square">
            <a:spAutoFit/>
          </a:bodyPr>
          <a:p>
            <a:pPr>
              <a:lnSpc>
                <a:spcPct val="120000"/>
              </a:lnSpc>
              <a:spcBef>
                <a:spcPts val="0"/>
              </a:spcBef>
              <a:spcAft>
                <a:spcPts val="0"/>
              </a:spcAft>
            </a:pPr>
            <a:r>
              <a:rPr lang="zh-CN" altLang="zh-CN" sz="2400" dirty="0">
                <a:latin typeface="Arial" panose="020B0604020202020204" pitchFamily="34" charset="0"/>
              </a:rPr>
              <a:t>（</a:t>
            </a:r>
            <a:r>
              <a:rPr lang="en-US" altLang="zh-CN" sz="2400" dirty="0">
                <a:latin typeface="Arial" panose="020B0604020202020204" pitchFamily="34" charset="0"/>
              </a:rPr>
              <a:t>2</a:t>
            </a:r>
            <a:r>
              <a:rPr lang="zh-CN" altLang="zh-CN" sz="2400" dirty="0">
                <a:latin typeface="Arial" panose="020B0604020202020204" pitchFamily="34" charset="0"/>
              </a:rPr>
              <a:t>）流式分析应用的优势</a:t>
            </a:r>
            <a:endParaRPr lang="zh-CN" altLang="zh-CN" sz="2400" dirty="0">
              <a:latin typeface="Arial" panose="020B0604020202020204" pitchFamily="34" charset="0"/>
            </a:endParaRPr>
          </a:p>
          <a:p>
            <a:pPr marL="342900" indent="-342900">
              <a:lnSpc>
                <a:spcPct val="120000"/>
              </a:lnSpc>
              <a:spcBef>
                <a:spcPts val="0"/>
              </a:spcBef>
              <a:spcAft>
                <a:spcPts val="0"/>
              </a:spcAft>
              <a:buFont typeface="Arial" panose="020B0604020202020204" pitchFamily="34" charset="0"/>
              <a:buChar char="•"/>
            </a:pPr>
            <a:r>
              <a:rPr lang="zh-CN" altLang="zh-CN" sz="2400" dirty="0">
                <a:latin typeface="Arial" panose="020B0604020202020204" pitchFamily="34" charset="0"/>
                <a:sym typeface="+mn-ea"/>
              </a:rPr>
              <a:t>延迟更低</a:t>
            </a:r>
            <a:r>
              <a:rPr lang="zh-CN" altLang="zh-CN" sz="2400" dirty="0">
                <a:latin typeface="Arial" panose="020B0604020202020204" pitchFamily="34" charset="0"/>
              </a:rPr>
              <a:t>：</a:t>
            </a:r>
            <a:endParaRPr lang="zh-CN" altLang="zh-CN" sz="2400" dirty="0">
              <a:latin typeface="Arial" panose="020B0604020202020204" pitchFamily="34" charset="0"/>
            </a:endParaRPr>
          </a:p>
          <a:p>
            <a:pPr indent="457200">
              <a:lnSpc>
                <a:spcPct val="120000"/>
              </a:lnSpc>
              <a:spcBef>
                <a:spcPts val="0"/>
              </a:spcBef>
              <a:spcAft>
                <a:spcPts val="0"/>
              </a:spcAft>
              <a:buFont typeface="Arial" panose="020B0604020202020204" pitchFamily="34" charset="0"/>
              <a:buNone/>
            </a:pPr>
            <a:r>
              <a:rPr lang="zh-CN" altLang="zh-CN" sz="2400" dirty="0">
                <a:latin typeface="Arial" panose="020B0604020202020204" pitchFamily="34" charset="0"/>
              </a:rPr>
              <a:t>消除了周期性的导入和查询，</a:t>
            </a:r>
            <a:endParaRPr lang="zh-CN" altLang="zh-CN" sz="2400" dirty="0">
              <a:latin typeface="Arial" panose="020B0604020202020204" pitchFamily="34" charset="0"/>
            </a:endParaRPr>
          </a:p>
          <a:p>
            <a:pPr indent="457200">
              <a:lnSpc>
                <a:spcPct val="120000"/>
              </a:lnSpc>
              <a:spcBef>
                <a:spcPts val="0"/>
              </a:spcBef>
              <a:spcAft>
                <a:spcPts val="0"/>
              </a:spcAft>
              <a:buFont typeface="Arial" panose="020B0604020202020204" pitchFamily="34" charset="0"/>
              <a:buNone/>
            </a:pPr>
            <a:r>
              <a:rPr lang="zh-CN" altLang="zh-CN" sz="2400" dirty="0">
                <a:latin typeface="Arial" panose="020B0604020202020204" pitchFamily="34" charset="0"/>
              </a:rPr>
              <a:t>不需要处理输入数据中的人为产生的边界。</a:t>
            </a:r>
            <a:endParaRPr lang="zh-CN" altLang="zh-CN" sz="2400" dirty="0">
              <a:latin typeface="Arial" panose="020B0604020202020204" pitchFamily="34" charset="0"/>
            </a:endParaRPr>
          </a:p>
          <a:p>
            <a:pPr>
              <a:lnSpc>
                <a:spcPct val="120000"/>
              </a:lnSpc>
              <a:spcBef>
                <a:spcPts val="0"/>
              </a:spcBef>
              <a:spcAft>
                <a:spcPts val="0"/>
              </a:spcAft>
            </a:pPr>
            <a:endParaRPr lang="zh-CN" altLang="zh-CN" sz="2400" dirty="0">
              <a:latin typeface="Arial" panose="020B0604020202020204" pitchFamily="34" charset="0"/>
            </a:endParaRPr>
          </a:p>
          <a:p>
            <a:pPr marL="342900" indent="-342900">
              <a:lnSpc>
                <a:spcPct val="120000"/>
              </a:lnSpc>
              <a:spcBef>
                <a:spcPts val="0"/>
              </a:spcBef>
              <a:spcAft>
                <a:spcPts val="0"/>
              </a:spcAft>
              <a:buFont typeface="Arial" panose="020B0604020202020204" pitchFamily="34" charset="0"/>
              <a:buChar char="•"/>
            </a:pPr>
            <a:r>
              <a:rPr lang="zh-CN" altLang="zh-CN" sz="2400" dirty="0">
                <a:latin typeface="Arial" panose="020B0604020202020204" pitchFamily="34" charset="0"/>
              </a:rPr>
              <a:t>更加简单的应用架构：</a:t>
            </a:r>
            <a:endParaRPr lang="zh-CN" altLang="zh-CN" sz="2400" dirty="0">
              <a:latin typeface="Arial" panose="020B0604020202020204" pitchFamily="34" charset="0"/>
            </a:endParaRPr>
          </a:p>
          <a:p>
            <a:pPr indent="457200">
              <a:lnSpc>
                <a:spcPct val="120000"/>
              </a:lnSpc>
              <a:spcBef>
                <a:spcPts val="0"/>
              </a:spcBef>
              <a:spcAft>
                <a:spcPts val="0"/>
              </a:spcAft>
              <a:buFont typeface="Arial" panose="020B0604020202020204" pitchFamily="34" charset="0"/>
              <a:buNone/>
            </a:pPr>
            <a:r>
              <a:rPr lang="zh-CN" altLang="zh-CN" sz="2400" dirty="0">
                <a:latin typeface="Arial" panose="020B0604020202020204" pitchFamily="34" charset="0"/>
              </a:rPr>
              <a:t>批量分析：复杂的流水线，一个组件的失败就会直接影响到流水线中的其他步骤。</a:t>
            </a:r>
            <a:endParaRPr lang="zh-CN" altLang="zh-CN" sz="2400" dirty="0">
              <a:latin typeface="Arial" panose="020B0604020202020204" pitchFamily="34" charset="0"/>
            </a:endParaRPr>
          </a:p>
          <a:p>
            <a:pPr indent="457200">
              <a:lnSpc>
                <a:spcPct val="120000"/>
              </a:lnSpc>
              <a:spcBef>
                <a:spcPts val="0"/>
              </a:spcBef>
              <a:spcAft>
                <a:spcPts val="0"/>
              </a:spcAft>
              <a:buFont typeface="Arial" panose="020B0604020202020204" pitchFamily="34" charset="0"/>
              <a:buNone/>
            </a:pPr>
            <a:r>
              <a:rPr lang="zh-CN" altLang="zh-CN" sz="2400" dirty="0">
                <a:latin typeface="Arial" panose="020B0604020202020204" pitchFamily="34" charset="0"/>
                <a:sym typeface="+mn-ea"/>
              </a:rPr>
              <a:t>流式分析：</a:t>
            </a:r>
            <a:r>
              <a:rPr lang="zh-CN" altLang="zh-CN" sz="2400" dirty="0">
                <a:latin typeface="Arial" panose="020B0604020202020204" pitchFamily="34" charset="0"/>
              </a:rPr>
              <a:t>运行在高级流处理器（比如</a:t>
            </a:r>
            <a:r>
              <a:rPr lang="en-US" altLang="zh-CN" sz="2400" dirty="0">
                <a:latin typeface="Arial" panose="020B0604020202020204" pitchFamily="34" charset="0"/>
              </a:rPr>
              <a:t>Flink</a:t>
            </a:r>
            <a:r>
              <a:rPr lang="zh-CN" altLang="zh-CN" sz="2400" dirty="0">
                <a:latin typeface="Arial" panose="020B0604020202020204" pitchFamily="34" charset="0"/>
              </a:rPr>
              <a:t>）之上，底层引擎提供故障恢复机制。</a:t>
            </a:r>
            <a:endParaRPr lang="zh-CN" altLang="zh-CN" sz="2400" dirty="0">
              <a:latin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标题 1"/>
          <p:cNvSpPr>
            <a:spLocks noGrp="1"/>
          </p:cNvSpPr>
          <p:nvPr>
            <p:ph type="title"/>
          </p:nvPr>
        </p:nvSpPr>
        <p:spPr/>
        <p:txBody>
          <a:bodyPr vert="horz" wrap="square" lIns="91440" tIns="45720" rIns="91440" bIns="45720" anchor="ctr" anchorCtr="0"/>
          <a:p>
            <a:r>
              <a:rPr lang="en-US" altLang="zh-CN" b="1" dirty="0"/>
              <a:t>12.3.2 </a:t>
            </a:r>
            <a:r>
              <a:rPr lang="zh-CN" altLang="zh-CN" b="1" dirty="0"/>
              <a:t>数据分析应用</a:t>
            </a:r>
            <a:endParaRPr lang="zh-CN" altLang="en-US" b="1" dirty="0"/>
          </a:p>
        </p:txBody>
      </p:sp>
      <p:sp>
        <p:nvSpPr>
          <p:cNvPr id="22531" name="矩形 2"/>
          <p:cNvSpPr/>
          <p:nvPr/>
        </p:nvSpPr>
        <p:spPr>
          <a:xfrm>
            <a:off x="972185" y="1480185"/>
            <a:ext cx="10270490" cy="4213225"/>
          </a:xfrm>
          <a:prstGeom prst="rect">
            <a:avLst/>
          </a:prstGeom>
          <a:noFill/>
          <a:ln w="9525">
            <a:noFill/>
          </a:ln>
        </p:spPr>
        <p:txBody>
          <a:bodyPr wrap="square">
            <a:noAutofit/>
          </a:bodyPr>
          <a:p>
            <a:pPr>
              <a:lnSpc>
                <a:spcPct val="150000"/>
              </a:lnSpc>
            </a:pPr>
            <a:r>
              <a:rPr lang="zh-CN" altLang="zh-CN" sz="2400" dirty="0">
                <a:latin typeface="Arial" panose="020B0604020202020204" pitchFamily="34" charset="0"/>
              </a:rPr>
              <a:t>（</a:t>
            </a:r>
            <a:r>
              <a:rPr lang="en-US" altLang="zh-CN" sz="2400" dirty="0">
                <a:latin typeface="Arial" panose="020B0604020202020204" pitchFamily="34" charset="0"/>
              </a:rPr>
              <a:t>3</a:t>
            </a:r>
            <a:r>
              <a:rPr lang="zh-CN" altLang="zh-CN" sz="2400" dirty="0">
                <a:latin typeface="Arial" panose="020B0604020202020204" pitchFamily="34" charset="0"/>
              </a:rPr>
              <a:t>）</a:t>
            </a:r>
            <a:r>
              <a:rPr lang="en-US" altLang="zh-CN" sz="2400" dirty="0">
                <a:latin typeface="Arial" panose="020B0604020202020204" pitchFamily="34" charset="0"/>
              </a:rPr>
              <a:t>Flink</a:t>
            </a:r>
            <a:r>
              <a:rPr lang="zh-CN" altLang="zh-CN" sz="2400" dirty="0">
                <a:latin typeface="Arial" panose="020B0604020202020204" pitchFamily="34" charset="0"/>
              </a:rPr>
              <a:t>是如何支持数据分析应用的</a:t>
            </a:r>
            <a:endParaRPr lang="zh-CN" altLang="zh-CN" sz="2400" dirty="0">
              <a:latin typeface="Arial" panose="020B0604020202020204" pitchFamily="34" charset="0"/>
            </a:endParaRPr>
          </a:p>
          <a:p>
            <a:pPr>
              <a:lnSpc>
                <a:spcPct val="150000"/>
              </a:lnSpc>
            </a:pPr>
            <a:endParaRPr lang="zh-CN" altLang="zh-CN" sz="2400" dirty="0">
              <a:latin typeface="Arial" panose="020B0604020202020204" pitchFamily="34" charset="0"/>
            </a:endParaRPr>
          </a:p>
          <a:p>
            <a:pPr marL="342900" indent="-342900">
              <a:lnSpc>
                <a:spcPct val="200000"/>
              </a:lnSpc>
              <a:buFont typeface="Wingdings" panose="05000000000000000000" charset="0"/>
              <a:buChar char="ü"/>
            </a:pPr>
            <a:r>
              <a:rPr lang="zh-CN" altLang="zh-CN" sz="2400" dirty="0">
                <a:latin typeface="Arial" panose="020B0604020202020204" pitchFamily="34" charset="0"/>
              </a:rPr>
              <a:t>批处理和流处理一致的语义接口</a:t>
            </a:r>
            <a:endParaRPr lang="zh-CN" altLang="zh-CN" sz="2400" dirty="0">
              <a:latin typeface="Arial" panose="020B0604020202020204" pitchFamily="34" charset="0"/>
            </a:endParaRPr>
          </a:p>
          <a:p>
            <a:pPr marL="342900" indent="-342900">
              <a:lnSpc>
                <a:spcPct val="200000"/>
              </a:lnSpc>
              <a:buFont typeface="Wingdings" panose="05000000000000000000" charset="0"/>
              <a:buChar char="ü"/>
            </a:pPr>
            <a:r>
              <a:rPr lang="zh-CN" altLang="zh-CN" sz="2400" dirty="0">
                <a:latin typeface="Arial" panose="020B0604020202020204" pitchFamily="34" charset="0"/>
              </a:rPr>
              <a:t>丰富的用户自定义函数</a:t>
            </a:r>
            <a:endParaRPr lang="zh-CN" altLang="zh-CN" sz="2400" dirty="0">
              <a:latin typeface="Arial" panose="020B0604020202020204" pitchFamily="34" charset="0"/>
            </a:endParaRPr>
          </a:p>
          <a:p>
            <a:pPr marL="342900" indent="-342900">
              <a:lnSpc>
                <a:spcPct val="200000"/>
              </a:lnSpc>
              <a:buFont typeface="Wingdings" panose="05000000000000000000" charset="0"/>
              <a:buChar char="ü"/>
            </a:pPr>
            <a:r>
              <a:rPr lang="zh-CN" altLang="zh-CN" sz="2400" dirty="0">
                <a:latin typeface="Arial" panose="020B0604020202020204" pitchFamily="34" charset="0"/>
              </a:rPr>
              <a:t>进一步定制处理逻辑，更加底层的控制</a:t>
            </a:r>
            <a:endParaRPr lang="zh-CN" altLang="zh-CN" sz="2400" dirty="0">
              <a:latin typeface="Arial" panose="020B0604020202020204" pitchFamily="34" charset="0"/>
            </a:endParaRPr>
          </a:p>
          <a:p>
            <a:pPr marL="342900" indent="-342900">
              <a:lnSpc>
                <a:spcPct val="200000"/>
              </a:lnSpc>
              <a:buFont typeface="Wingdings" panose="05000000000000000000" charset="0"/>
              <a:buChar char="ü"/>
            </a:pPr>
            <a:r>
              <a:rPr lang="en-US" altLang="zh-CN" sz="2400" dirty="0">
                <a:latin typeface="Arial" panose="020B0604020202020204" pitchFamily="34" charset="0"/>
              </a:rPr>
              <a:t>Flink </a:t>
            </a:r>
            <a:r>
              <a:rPr lang="zh-CN" altLang="zh-CN" sz="2400" dirty="0">
                <a:latin typeface="Arial" panose="020B0604020202020204" pitchFamily="34" charset="0"/>
              </a:rPr>
              <a:t>的</a:t>
            </a:r>
            <a:r>
              <a:rPr lang="en-US" altLang="zh-CN" sz="2400" dirty="0">
                <a:latin typeface="Arial" panose="020B0604020202020204" pitchFamily="34" charset="0"/>
              </a:rPr>
              <a:t> Gelly </a:t>
            </a:r>
            <a:r>
              <a:rPr lang="zh-CN" altLang="zh-CN" sz="2400" dirty="0">
                <a:latin typeface="Arial" panose="020B0604020202020204" pitchFamily="34" charset="0"/>
              </a:rPr>
              <a:t>库：批量数据集的大规模高性能图分析</a:t>
            </a:r>
            <a:endParaRPr lang="zh-CN" altLang="zh-CN" sz="2400" dirty="0">
              <a:latin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标题 1"/>
          <p:cNvSpPr>
            <a:spLocks noGrp="1"/>
          </p:cNvSpPr>
          <p:nvPr>
            <p:ph type="title"/>
          </p:nvPr>
        </p:nvSpPr>
        <p:spPr/>
        <p:txBody>
          <a:bodyPr vert="horz" wrap="square" lIns="91440" tIns="45720" rIns="91440" bIns="45720" anchor="ctr" anchorCtr="0"/>
          <a:p>
            <a:r>
              <a:rPr lang="en-US" altLang="zh-CN" b="1" dirty="0"/>
              <a:t>12.3.3 </a:t>
            </a:r>
            <a:r>
              <a:rPr lang="zh-CN" altLang="zh-CN" b="1" dirty="0"/>
              <a:t>数据流水线应用</a:t>
            </a:r>
            <a:endParaRPr lang="zh-CN" altLang="en-US" b="1" dirty="0"/>
          </a:p>
        </p:txBody>
      </p:sp>
      <p:pic>
        <p:nvPicPr>
          <p:cNvPr id="23555" name="图片 2"/>
          <p:cNvPicPr>
            <a:picLocks noChangeAspect="1"/>
          </p:cNvPicPr>
          <p:nvPr/>
        </p:nvPicPr>
        <p:blipFill>
          <a:blip r:embed="rId1"/>
          <a:stretch>
            <a:fillRect/>
          </a:stretch>
        </p:blipFill>
        <p:spPr>
          <a:xfrm>
            <a:off x="1710055" y="2533650"/>
            <a:ext cx="8486775" cy="1600200"/>
          </a:xfrm>
          <a:prstGeom prst="rect">
            <a:avLst/>
          </a:prstGeom>
          <a:noFill/>
          <a:ln w="9525">
            <a:noFill/>
          </a:ln>
        </p:spPr>
      </p:pic>
      <p:sp>
        <p:nvSpPr>
          <p:cNvPr id="23556" name="矩形 3"/>
          <p:cNvSpPr/>
          <p:nvPr/>
        </p:nvSpPr>
        <p:spPr>
          <a:xfrm>
            <a:off x="3386455" y="4133850"/>
            <a:ext cx="4800600" cy="368300"/>
          </a:xfrm>
          <a:prstGeom prst="rect">
            <a:avLst/>
          </a:prstGeom>
          <a:noFill/>
          <a:ln w="9525">
            <a:noFill/>
          </a:ln>
        </p:spPr>
        <p:txBody>
          <a:bodyPr>
            <a:spAutoFit/>
          </a:bodyPr>
          <a:p>
            <a:r>
              <a:rPr lang="zh-CN" altLang="zh-CN" dirty="0">
                <a:latin typeface="Arial" panose="020B0604020202020204" pitchFamily="34" charset="0"/>
              </a:rPr>
              <a:t>周期性</a:t>
            </a:r>
            <a:r>
              <a:rPr lang="en-US" altLang="zh-CN" dirty="0">
                <a:latin typeface="Arial" panose="020B0604020202020204" pitchFamily="34" charset="0"/>
              </a:rPr>
              <a:t> ETL </a:t>
            </a:r>
            <a:r>
              <a:rPr lang="zh-CN" altLang="zh-CN" dirty="0">
                <a:latin typeface="Arial" panose="020B0604020202020204" pitchFamily="34" charset="0"/>
              </a:rPr>
              <a:t>作业和持续数据流水线的差异</a:t>
            </a:r>
            <a:endParaRPr lang="zh-CN" altLang="en-US" dirty="0">
              <a:latin typeface="Arial" panose="020B0604020202020204" pitchFamily="34" charset="0"/>
            </a:endParaRPr>
          </a:p>
        </p:txBody>
      </p:sp>
      <p:sp>
        <p:nvSpPr>
          <p:cNvPr id="23557" name="矩形 4"/>
          <p:cNvSpPr/>
          <p:nvPr/>
        </p:nvSpPr>
        <p:spPr>
          <a:xfrm>
            <a:off x="1008380" y="1414145"/>
            <a:ext cx="10064750" cy="460375"/>
          </a:xfrm>
          <a:prstGeom prst="rect">
            <a:avLst/>
          </a:prstGeom>
          <a:noFill/>
          <a:ln w="9525">
            <a:noFill/>
          </a:ln>
        </p:spPr>
        <p:txBody>
          <a:bodyPr wrap="square">
            <a:spAutoFit/>
          </a:bodyPr>
          <a:p>
            <a:r>
              <a:rPr lang="zh-CN" altLang="zh-CN" sz="2400" dirty="0">
                <a:latin typeface="Arial" panose="020B0604020202020204" pitchFamily="34" charset="0"/>
              </a:rPr>
              <a:t>（</a:t>
            </a:r>
            <a:r>
              <a:rPr lang="en-US" altLang="zh-CN" sz="2400" dirty="0">
                <a:latin typeface="Arial" panose="020B0604020202020204" pitchFamily="34" charset="0"/>
              </a:rPr>
              <a:t>1</a:t>
            </a:r>
            <a:r>
              <a:rPr lang="zh-CN" altLang="zh-CN" sz="2400" dirty="0">
                <a:latin typeface="Arial" panose="020B0604020202020204" pitchFamily="34" charset="0"/>
              </a:rPr>
              <a:t>）什么是数据流水线</a:t>
            </a:r>
            <a:endParaRPr lang="zh-CN" altLang="zh-CN" sz="2400" dirty="0">
              <a:latin typeface="Arial" panose="020B0604020202020204" pitchFamily="34" charset="0"/>
            </a:endParaRPr>
          </a:p>
        </p:txBody>
      </p:sp>
      <p:sp>
        <p:nvSpPr>
          <p:cNvPr id="6" name="圆角矩形标注 5"/>
          <p:cNvSpPr/>
          <p:nvPr>
            <p:custDataLst>
              <p:tags r:id="rId2"/>
            </p:custDataLst>
          </p:nvPr>
        </p:nvSpPr>
        <p:spPr>
          <a:xfrm>
            <a:off x="2849880" y="1809750"/>
            <a:ext cx="1854835" cy="536575"/>
          </a:xfrm>
          <a:prstGeom prst="wedgeRoundRectCallout">
            <a:avLst>
              <a:gd name="adj1" fmla="val -35124"/>
              <a:gd name="adj2" fmla="val 94790"/>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p>
            <a:pPr algn="ctr"/>
            <a:r>
              <a:rPr lang="zh-CN" altLang="zh-CN" sz="2000" dirty="0">
                <a:latin typeface="Arial" panose="020B0604020202020204" pitchFamily="34" charset="0"/>
                <a:sym typeface="+mn-ea"/>
              </a:rPr>
              <a:t>周期性地触发</a:t>
            </a:r>
            <a:endParaRPr lang="zh-CN" altLang="zh-CN" sz="2000" dirty="0">
              <a:latin typeface="Arial" panose="020B0604020202020204" pitchFamily="34" charset="0"/>
              <a:sym typeface="+mn-ea"/>
            </a:endParaRPr>
          </a:p>
        </p:txBody>
      </p:sp>
      <p:sp>
        <p:nvSpPr>
          <p:cNvPr id="3" name="圆角矩形标注 2"/>
          <p:cNvSpPr/>
          <p:nvPr>
            <p:custDataLst>
              <p:tags r:id="rId3"/>
            </p:custDataLst>
          </p:nvPr>
        </p:nvSpPr>
        <p:spPr>
          <a:xfrm>
            <a:off x="8460105" y="1732915"/>
            <a:ext cx="1736090" cy="715010"/>
          </a:xfrm>
          <a:prstGeom prst="wedgeRoundRectCallout">
            <a:avLst>
              <a:gd name="adj1" fmla="val -45281"/>
              <a:gd name="adj2" fmla="val 76909"/>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p>
            <a:pPr algn="ctr"/>
            <a:r>
              <a:rPr lang="zh-CN" altLang="zh-CN" sz="2000" dirty="0">
                <a:latin typeface="Arial" panose="020B0604020202020204" pitchFamily="34" charset="0"/>
                <a:sym typeface="+mn-ea"/>
              </a:rPr>
              <a:t>以连续的流模式来执行</a:t>
            </a:r>
            <a:endParaRPr lang="zh-CN" altLang="zh-CN" sz="2000" dirty="0">
              <a:latin typeface="Arial" panose="020B0604020202020204" pitchFamily="34" charset="0"/>
              <a:sym typeface="+mn-ea"/>
            </a:endParaRPr>
          </a:p>
        </p:txBody>
      </p:sp>
      <p:sp>
        <p:nvSpPr>
          <p:cNvPr id="5" name="文本框 4"/>
          <p:cNvSpPr txBox="1"/>
          <p:nvPr/>
        </p:nvSpPr>
        <p:spPr>
          <a:xfrm>
            <a:off x="1008380" y="4678045"/>
            <a:ext cx="9558655" cy="1568450"/>
          </a:xfrm>
          <a:prstGeom prst="rect">
            <a:avLst/>
          </a:prstGeom>
          <a:noFill/>
        </p:spPr>
        <p:txBody>
          <a:bodyPr wrap="square" rtlCol="0" anchor="t">
            <a:spAutoFit/>
          </a:bodyPr>
          <a:p>
            <a:r>
              <a:rPr lang="zh-CN" altLang="zh-CN" sz="2400" dirty="0">
                <a:latin typeface="Arial" panose="020B0604020202020204" pitchFamily="34" charset="0"/>
                <a:sym typeface="+mn-ea"/>
              </a:rPr>
              <a:t>比如，一个数据流水线可以对一个文件系统目录进行监控，一旦发现有新的文件生成，就读取文件内容并写入到事件日志中。</a:t>
            </a:r>
            <a:endParaRPr lang="zh-CN" altLang="zh-CN" sz="2400" dirty="0">
              <a:latin typeface="Arial" panose="020B0604020202020204" pitchFamily="34" charset="0"/>
              <a:sym typeface="+mn-ea"/>
            </a:endParaRPr>
          </a:p>
          <a:p>
            <a:endParaRPr lang="zh-CN" altLang="zh-CN" sz="2400" dirty="0">
              <a:latin typeface="Arial" panose="020B0604020202020204" pitchFamily="34" charset="0"/>
            </a:endParaRPr>
          </a:p>
          <a:p>
            <a:r>
              <a:rPr lang="zh-CN" altLang="zh-CN" sz="2400" dirty="0">
                <a:latin typeface="Arial" panose="020B0604020202020204" pitchFamily="34" charset="0"/>
                <a:sym typeface="+mn-ea"/>
              </a:rPr>
              <a:t>再比如，将事件流物化到数据库或增量构建和优化查询索引。</a:t>
            </a:r>
            <a:endParaRPr lang="zh-CN" altLang="zh-CN" sz="2400" dirty="0">
              <a:latin typeface="Arial" panose="020B0604020202020204" pitchFamily="3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6" grpId="1" animBg="1"/>
      <p:bldP spid="3" grpId="0" bldLvl="0" animBg="1"/>
      <p:bldP spid="3" grpId="1" animBg="1"/>
      <p:bldP spid="5" grpId="0"/>
      <p:bldP spid="5" grpId="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标题 1"/>
          <p:cNvSpPr>
            <a:spLocks noGrp="1"/>
          </p:cNvSpPr>
          <p:nvPr>
            <p:ph type="title"/>
          </p:nvPr>
        </p:nvSpPr>
        <p:spPr/>
        <p:txBody>
          <a:bodyPr vert="horz" wrap="square" lIns="91440" tIns="45720" rIns="91440" bIns="45720" anchor="ctr" anchorCtr="0"/>
          <a:p>
            <a:r>
              <a:rPr lang="en-US" altLang="zh-CN" b="1" dirty="0"/>
              <a:t>12.3.3 </a:t>
            </a:r>
            <a:r>
              <a:rPr lang="zh-CN" altLang="zh-CN" b="1" dirty="0"/>
              <a:t>数据流水线应用</a:t>
            </a:r>
            <a:endParaRPr lang="zh-CN" altLang="en-US" b="1" dirty="0"/>
          </a:p>
        </p:txBody>
      </p:sp>
      <p:sp>
        <p:nvSpPr>
          <p:cNvPr id="24579" name="矩形 2"/>
          <p:cNvSpPr/>
          <p:nvPr/>
        </p:nvSpPr>
        <p:spPr>
          <a:xfrm>
            <a:off x="1006475" y="1504950"/>
            <a:ext cx="9956165" cy="1529715"/>
          </a:xfrm>
          <a:prstGeom prst="rect">
            <a:avLst/>
          </a:prstGeom>
          <a:noFill/>
          <a:ln w="9525">
            <a:noFill/>
          </a:ln>
        </p:spPr>
        <p:txBody>
          <a:bodyPr wrap="square">
            <a:spAutoFit/>
          </a:bodyPr>
          <a:p>
            <a:pPr>
              <a:lnSpc>
                <a:spcPct val="130000"/>
              </a:lnSpc>
            </a:pPr>
            <a:r>
              <a:rPr lang="zh-CN" altLang="zh-CN" sz="2400" dirty="0">
                <a:latin typeface="Arial" panose="020B0604020202020204" pitchFamily="34" charset="0"/>
              </a:rPr>
              <a:t>（</a:t>
            </a:r>
            <a:r>
              <a:rPr lang="en-US" altLang="zh-CN" sz="2400" dirty="0">
                <a:latin typeface="Arial" panose="020B0604020202020204" pitchFamily="34" charset="0"/>
              </a:rPr>
              <a:t>2</a:t>
            </a:r>
            <a:r>
              <a:rPr lang="zh-CN" altLang="zh-CN" sz="2400" dirty="0">
                <a:latin typeface="Arial" panose="020B0604020202020204" pitchFamily="34" charset="0"/>
              </a:rPr>
              <a:t>）数据流水线的优势</a:t>
            </a:r>
            <a:endParaRPr lang="zh-CN" altLang="zh-CN" sz="2400" dirty="0">
              <a:latin typeface="Arial" panose="020B0604020202020204" pitchFamily="34" charset="0"/>
            </a:endParaRPr>
          </a:p>
          <a:p>
            <a:pPr marL="342900" indent="-342900">
              <a:lnSpc>
                <a:spcPct val="130000"/>
              </a:lnSpc>
              <a:buFont typeface="Arial" panose="020B0604020202020204" pitchFamily="34" charset="0"/>
              <a:buChar char="•"/>
            </a:pPr>
            <a:r>
              <a:rPr lang="zh-CN" altLang="zh-CN" sz="2400" dirty="0">
                <a:latin typeface="Arial" panose="020B0604020202020204" pitchFamily="34" charset="0"/>
              </a:rPr>
              <a:t>减少了数据转移过程的延迟；</a:t>
            </a:r>
            <a:endParaRPr lang="zh-CN" altLang="zh-CN" sz="2400" dirty="0">
              <a:latin typeface="Arial" panose="020B0604020202020204" pitchFamily="34" charset="0"/>
            </a:endParaRPr>
          </a:p>
          <a:p>
            <a:pPr marL="342900" indent="-342900">
              <a:lnSpc>
                <a:spcPct val="130000"/>
              </a:lnSpc>
              <a:buFont typeface="Arial" panose="020B0604020202020204" pitchFamily="34" charset="0"/>
              <a:buChar char="•"/>
            </a:pPr>
            <a:r>
              <a:rPr lang="zh-CN" altLang="zh-CN" sz="2400" dirty="0">
                <a:latin typeface="Arial" panose="020B0604020202020204" pitchFamily="34" charset="0"/>
              </a:rPr>
              <a:t>能够持续消费和发送数据，因此用途更广，支持用例更多。</a:t>
            </a:r>
            <a:endParaRPr lang="zh-CN" altLang="zh-CN" sz="2400" dirty="0">
              <a:latin typeface="Arial" panose="020B0604020202020204" pitchFamily="34" charset="0"/>
            </a:endParaRPr>
          </a:p>
        </p:txBody>
      </p:sp>
      <p:sp>
        <p:nvSpPr>
          <p:cNvPr id="25603" name="矩形 2"/>
          <p:cNvSpPr/>
          <p:nvPr/>
        </p:nvSpPr>
        <p:spPr>
          <a:xfrm>
            <a:off x="1006475" y="3142615"/>
            <a:ext cx="9783445" cy="3192145"/>
          </a:xfrm>
          <a:prstGeom prst="rect">
            <a:avLst/>
          </a:prstGeom>
          <a:noFill/>
          <a:ln w="9525">
            <a:noFill/>
          </a:ln>
        </p:spPr>
        <p:txBody>
          <a:bodyPr wrap="square">
            <a:spAutoFit/>
          </a:bodyPr>
          <a:p>
            <a:pPr>
              <a:lnSpc>
                <a:spcPct val="140000"/>
              </a:lnSpc>
            </a:pPr>
            <a:r>
              <a:rPr lang="zh-CN" altLang="zh-CN" sz="2400" dirty="0">
                <a:latin typeface="Arial" panose="020B0604020202020204" pitchFamily="34" charset="0"/>
              </a:rPr>
              <a:t>（</a:t>
            </a:r>
            <a:r>
              <a:rPr lang="en-US" altLang="zh-CN" sz="2400" dirty="0">
                <a:latin typeface="Arial" panose="020B0604020202020204" pitchFamily="34" charset="0"/>
              </a:rPr>
              <a:t>3</a:t>
            </a:r>
            <a:r>
              <a:rPr lang="zh-CN" altLang="zh-CN" sz="2400" dirty="0">
                <a:latin typeface="Arial" panose="020B0604020202020204" pitchFamily="34" charset="0"/>
              </a:rPr>
              <a:t>）</a:t>
            </a:r>
            <a:r>
              <a:rPr lang="en-US" altLang="zh-CN" sz="2400" dirty="0">
                <a:latin typeface="Arial" panose="020B0604020202020204" pitchFamily="34" charset="0"/>
              </a:rPr>
              <a:t>Flink</a:t>
            </a:r>
            <a:r>
              <a:rPr lang="zh-CN" altLang="zh-CN" sz="2400" dirty="0">
                <a:latin typeface="Arial" panose="020B0604020202020204" pitchFamily="34" charset="0"/>
              </a:rPr>
              <a:t>如何支持数据流水线应用</a:t>
            </a:r>
            <a:endParaRPr lang="zh-CN" altLang="zh-CN" sz="2400" dirty="0">
              <a:latin typeface="Arial" panose="020B0604020202020204" pitchFamily="34" charset="0"/>
            </a:endParaRPr>
          </a:p>
          <a:p>
            <a:pPr marL="342900" indent="-342900">
              <a:lnSpc>
                <a:spcPct val="140000"/>
              </a:lnSpc>
              <a:buFont typeface="Arial" panose="020B0604020202020204" pitchFamily="34" charset="0"/>
              <a:buChar char="•"/>
            </a:pPr>
            <a:r>
              <a:rPr lang="en-US" altLang="zh-CN" sz="2400" dirty="0">
                <a:highlight>
                  <a:srgbClr val="000000">
                    <a:alpha val="0"/>
                  </a:srgbClr>
                </a:highlight>
                <a:latin typeface="Arial" panose="020B0604020202020204" pitchFamily="34" charset="0"/>
              </a:rPr>
              <a:t>SQL</a:t>
            </a:r>
            <a:r>
              <a:rPr lang="zh-CN" altLang="zh-CN" sz="2400" dirty="0">
                <a:highlight>
                  <a:srgbClr val="000000">
                    <a:alpha val="0"/>
                  </a:srgbClr>
                </a:highlight>
                <a:latin typeface="Arial" panose="020B0604020202020204" pitchFamily="34" charset="0"/>
              </a:rPr>
              <a:t>接口以及丰富的自定义函数，可解决常见的数据转换问题。</a:t>
            </a:r>
            <a:endParaRPr lang="zh-CN" altLang="zh-CN" sz="2400" dirty="0">
              <a:highlight>
                <a:srgbClr val="000000">
                  <a:alpha val="0"/>
                </a:srgbClr>
              </a:highlight>
              <a:latin typeface="Arial" panose="020B0604020202020204" pitchFamily="34" charset="0"/>
            </a:endParaRPr>
          </a:p>
          <a:p>
            <a:pPr marL="342900" indent="-342900">
              <a:lnSpc>
                <a:spcPct val="140000"/>
              </a:lnSpc>
              <a:buFont typeface="Arial" panose="020B0604020202020204" pitchFamily="34" charset="0"/>
              <a:buChar char="•"/>
            </a:pPr>
            <a:r>
              <a:rPr lang="zh-CN" altLang="zh-CN" sz="2400" dirty="0">
                <a:highlight>
                  <a:srgbClr val="000000">
                    <a:alpha val="0"/>
                  </a:srgbClr>
                </a:highlight>
                <a:latin typeface="Arial" panose="020B0604020202020204" pitchFamily="34" charset="0"/>
              </a:rPr>
              <a:t>使用更具通用性的</a:t>
            </a:r>
            <a:r>
              <a:rPr lang="en-US" altLang="zh-CN" sz="2400" dirty="0">
                <a:highlight>
                  <a:srgbClr val="000000">
                    <a:alpha val="0"/>
                  </a:srgbClr>
                </a:highlight>
                <a:latin typeface="Arial" panose="020B0604020202020204" pitchFamily="34" charset="0"/>
              </a:rPr>
              <a:t>DataStream API</a:t>
            </a:r>
            <a:r>
              <a:rPr lang="zh-CN" altLang="zh-CN" sz="2400" dirty="0">
                <a:highlight>
                  <a:srgbClr val="000000">
                    <a:alpha val="0"/>
                  </a:srgbClr>
                </a:highlight>
                <a:latin typeface="Arial" panose="020B0604020202020204" pitchFamily="34" charset="0"/>
              </a:rPr>
              <a:t>，具有更加强大功能的数据流水线。</a:t>
            </a:r>
            <a:endParaRPr lang="zh-CN" altLang="zh-CN" sz="2400" dirty="0">
              <a:highlight>
                <a:srgbClr val="000000">
                  <a:alpha val="0"/>
                </a:srgbClr>
              </a:highlight>
              <a:latin typeface="Arial" panose="020B0604020202020204" pitchFamily="34" charset="0"/>
            </a:endParaRPr>
          </a:p>
          <a:p>
            <a:pPr marL="342900" indent="-342900">
              <a:lnSpc>
                <a:spcPct val="140000"/>
              </a:lnSpc>
              <a:buFont typeface="Arial" panose="020B0604020202020204" pitchFamily="34" charset="0"/>
              <a:buChar char="•"/>
            </a:pPr>
            <a:r>
              <a:rPr lang="zh-CN" altLang="zh-CN" sz="2400" dirty="0">
                <a:highlight>
                  <a:srgbClr val="000000">
                    <a:alpha val="0"/>
                  </a:srgbClr>
                </a:highlight>
                <a:latin typeface="Arial" panose="020B0604020202020204" pitchFamily="34" charset="0"/>
              </a:rPr>
              <a:t>提供大量连接器，可连接到不同类型的数据存储系统。</a:t>
            </a:r>
            <a:endParaRPr lang="zh-CN" altLang="zh-CN" sz="2400" dirty="0">
              <a:highlight>
                <a:srgbClr val="000000">
                  <a:alpha val="0"/>
                </a:srgbClr>
              </a:highlight>
              <a:latin typeface="Arial" panose="020B0604020202020204" pitchFamily="34" charset="0"/>
            </a:endParaRPr>
          </a:p>
          <a:p>
            <a:pPr marL="342900" indent="-342900">
              <a:lnSpc>
                <a:spcPct val="140000"/>
              </a:lnSpc>
              <a:buFont typeface="Arial" panose="020B0604020202020204" pitchFamily="34" charset="0"/>
              <a:buChar char="•"/>
            </a:pPr>
            <a:r>
              <a:rPr lang="zh-CN" altLang="en-US" sz="2400" dirty="0">
                <a:highlight>
                  <a:srgbClr val="000000">
                    <a:alpha val="0"/>
                  </a:srgbClr>
                </a:highlight>
                <a:latin typeface="Arial" panose="020B0604020202020204" pitchFamily="34" charset="0"/>
              </a:rPr>
              <a:t>提</a:t>
            </a:r>
            <a:r>
              <a:rPr lang="zh-CN" altLang="zh-CN" sz="2400" dirty="0">
                <a:highlight>
                  <a:srgbClr val="000000">
                    <a:alpha val="0"/>
                  </a:srgbClr>
                </a:highlight>
                <a:latin typeface="Arial" panose="020B0604020202020204" pitchFamily="34" charset="0"/>
              </a:rPr>
              <a:t>供面向文件系统的连续型数据源，可用来监控目录变化。</a:t>
            </a:r>
            <a:endParaRPr lang="zh-CN" altLang="zh-CN" sz="2400" dirty="0">
              <a:highlight>
                <a:srgbClr val="000000">
                  <a:alpha val="0"/>
                </a:srgbClr>
              </a:highlight>
              <a:latin typeface="Arial" panose="020B0604020202020204" pitchFamily="34" charset="0"/>
            </a:endParaRPr>
          </a:p>
          <a:p>
            <a:pPr marL="342900" indent="-342900">
              <a:lnSpc>
                <a:spcPct val="140000"/>
              </a:lnSpc>
              <a:buFont typeface="Arial" panose="020B0604020202020204" pitchFamily="34" charset="0"/>
              <a:buChar char="•"/>
            </a:pPr>
            <a:r>
              <a:rPr lang="zh-CN" altLang="zh-CN" sz="2400" dirty="0">
                <a:highlight>
                  <a:srgbClr val="000000">
                    <a:alpha val="0"/>
                  </a:srgbClr>
                </a:highlight>
                <a:latin typeface="Arial" panose="020B0604020202020204" pitchFamily="34" charset="0"/>
              </a:rPr>
              <a:t>提供数据槽（</a:t>
            </a:r>
            <a:r>
              <a:rPr lang="en-US" altLang="zh-CN" sz="2400" dirty="0">
                <a:highlight>
                  <a:srgbClr val="000000">
                    <a:alpha val="0"/>
                  </a:srgbClr>
                </a:highlight>
                <a:latin typeface="Arial" panose="020B0604020202020204" pitchFamily="34" charset="0"/>
              </a:rPr>
              <a:t>sink</a:t>
            </a:r>
            <a:r>
              <a:rPr lang="zh-CN" altLang="zh-CN" sz="2400" dirty="0">
                <a:highlight>
                  <a:srgbClr val="000000">
                    <a:alpha val="0"/>
                  </a:srgbClr>
                </a:highlight>
                <a:latin typeface="Arial" panose="020B0604020202020204" pitchFamily="34" charset="0"/>
              </a:rPr>
              <a:t>），支持以时间分区的方式写入文件。</a:t>
            </a:r>
            <a:endParaRPr lang="zh-CN" altLang="zh-CN" sz="2400" dirty="0">
              <a:highlight>
                <a:srgbClr val="000000">
                  <a:alpha val="0"/>
                </a:srgbClr>
              </a:highlight>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6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p:bldP spid="25603"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标题 1"/>
          <p:cNvSpPr>
            <a:spLocks noGrp="1"/>
          </p:cNvSpPr>
          <p:nvPr>
            <p:ph type="title"/>
          </p:nvPr>
        </p:nvSpPr>
        <p:spPr/>
        <p:txBody>
          <a:bodyPr vert="horz" wrap="square" lIns="91440" tIns="45720" rIns="91440" bIns="45720" anchor="ctr" anchorCtr="0"/>
          <a:p>
            <a:r>
              <a:rPr lang="en-US" altLang="zh-CN" b="1" dirty="0"/>
              <a:t>12.4 Flink</a:t>
            </a:r>
            <a:r>
              <a:rPr lang="zh-CN" altLang="en-US" b="1" dirty="0"/>
              <a:t>技术栈</a:t>
            </a:r>
            <a:endParaRPr lang="zh-CN" altLang="en-US" dirty="0"/>
          </a:p>
        </p:txBody>
      </p:sp>
      <p:pic>
        <p:nvPicPr>
          <p:cNvPr id="26627" name="图片 2"/>
          <p:cNvPicPr>
            <a:picLocks noChangeAspect="1"/>
          </p:cNvPicPr>
          <p:nvPr/>
        </p:nvPicPr>
        <p:blipFill>
          <a:blip r:embed="rId1"/>
          <a:stretch>
            <a:fillRect/>
          </a:stretch>
        </p:blipFill>
        <p:spPr>
          <a:xfrm>
            <a:off x="3126105" y="1273175"/>
            <a:ext cx="5939155" cy="5019040"/>
          </a:xfrm>
          <a:prstGeom prst="rect">
            <a:avLst/>
          </a:prstGeom>
          <a:noFill/>
          <a:ln w="9525">
            <a:noFill/>
          </a:ln>
        </p:spPr>
      </p:pic>
      <p:sp>
        <p:nvSpPr>
          <p:cNvPr id="26628" name="矩形 3"/>
          <p:cNvSpPr/>
          <p:nvPr/>
        </p:nvSpPr>
        <p:spPr>
          <a:xfrm>
            <a:off x="5101590" y="6368415"/>
            <a:ext cx="1988820" cy="398780"/>
          </a:xfrm>
          <a:prstGeom prst="rect">
            <a:avLst/>
          </a:prstGeom>
          <a:noFill/>
          <a:ln w="9525">
            <a:noFill/>
          </a:ln>
        </p:spPr>
        <p:txBody>
          <a:bodyPr wrap="none">
            <a:spAutoFit/>
          </a:bodyPr>
          <a:p>
            <a:r>
              <a:rPr lang="en-US" altLang="zh-CN" sz="2000" dirty="0">
                <a:latin typeface="Arial" panose="020B0604020202020204" pitchFamily="34" charset="0"/>
              </a:rPr>
              <a:t>Flink</a:t>
            </a:r>
            <a:r>
              <a:rPr lang="zh-CN" altLang="zh-CN" sz="2000" dirty="0">
                <a:latin typeface="Arial" panose="020B0604020202020204" pitchFamily="34" charset="0"/>
              </a:rPr>
              <a:t>核心组件栈</a:t>
            </a:r>
            <a:endParaRPr lang="zh-CN" altLang="zh-CN" sz="2000" dirty="0">
              <a:latin typeface="Arial" panose="020B0604020202020204" pitchFamily="34" charset="0"/>
            </a:endParaRPr>
          </a:p>
        </p:txBody>
      </p:sp>
      <p:sp>
        <p:nvSpPr>
          <p:cNvPr id="6" name="圆角矩形标注 5"/>
          <p:cNvSpPr/>
          <p:nvPr>
            <p:custDataLst>
              <p:tags r:id="rId2"/>
            </p:custDataLst>
          </p:nvPr>
        </p:nvSpPr>
        <p:spPr>
          <a:xfrm>
            <a:off x="838200" y="5292090"/>
            <a:ext cx="2050415" cy="536575"/>
          </a:xfrm>
          <a:prstGeom prst="wedgeRoundRectCallout">
            <a:avLst>
              <a:gd name="adj1" fmla="val 69582"/>
              <a:gd name="adj2" fmla="val -2189"/>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p>
            <a:pPr algn="ctr"/>
            <a:r>
              <a:rPr lang="zh-CN" altLang="zh-CN" sz="2000" dirty="0">
                <a:latin typeface="Arial" panose="020B0604020202020204" pitchFamily="34" charset="0"/>
                <a:sym typeface="+mn-ea"/>
              </a:rPr>
              <a:t>多种运行模式</a:t>
            </a:r>
            <a:endParaRPr lang="zh-CN" altLang="zh-CN" sz="2000" dirty="0">
              <a:latin typeface="Arial" panose="020B0604020202020204" pitchFamily="34" charset="0"/>
              <a:sym typeface="+mn-ea"/>
            </a:endParaRPr>
          </a:p>
        </p:txBody>
      </p:sp>
      <p:sp>
        <p:nvSpPr>
          <p:cNvPr id="3" name="圆角矩形标注 2"/>
          <p:cNvSpPr/>
          <p:nvPr>
            <p:custDataLst>
              <p:tags r:id="rId3"/>
            </p:custDataLst>
          </p:nvPr>
        </p:nvSpPr>
        <p:spPr>
          <a:xfrm>
            <a:off x="838200" y="3742690"/>
            <a:ext cx="2051050" cy="635000"/>
          </a:xfrm>
          <a:prstGeom prst="wedgeRoundRectCallout">
            <a:avLst>
              <a:gd name="adj1" fmla="val 69582"/>
              <a:gd name="adj2" fmla="val -2189"/>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p>
            <a:pPr algn="ctr"/>
            <a:r>
              <a:rPr lang="zh-CN" altLang="zh-CN" sz="2000" dirty="0">
                <a:latin typeface="Arial" panose="020B0604020202020204" pitchFamily="34" charset="0"/>
                <a:sym typeface="+mn-ea"/>
              </a:rPr>
              <a:t>提供支持流计算和批计算的接口</a:t>
            </a:r>
            <a:endParaRPr lang="zh-CN" altLang="zh-CN" sz="2000" dirty="0">
              <a:latin typeface="Arial" panose="020B0604020202020204" pitchFamily="34" charset="0"/>
              <a:sym typeface="+mn-ea"/>
            </a:endParaRPr>
          </a:p>
        </p:txBody>
      </p:sp>
      <p:sp>
        <p:nvSpPr>
          <p:cNvPr id="4" name="圆角矩形标注 3"/>
          <p:cNvSpPr/>
          <p:nvPr>
            <p:custDataLst>
              <p:tags r:id="rId4"/>
            </p:custDataLst>
          </p:nvPr>
        </p:nvSpPr>
        <p:spPr>
          <a:xfrm>
            <a:off x="838200" y="1838960"/>
            <a:ext cx="2051050" cy="635000"/>
          </a:xfrm>
          <a:prstGeom prst="wedgeRoundRectCallout">
            <a:avLst>
              <a:gd name="adj1" fmla="val 69582"/>
              <a:gd name="adj2" fmla="val -2189"/>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p>
            <a:pPr algn="ctr"/>
            <a:r>
              <a:rPr lang="zh-CN" altLang="zh-CN" sz="2000" dirty="0">
                <a:latin typeface="Arial" panose="020B0604020202020204" pitchFamily="34" charset="0"/>
                <a:sym typeface="+mn-ea"/>
              </a:rPr>
              <a:t>不同应用类型的组件库</a:t>
            </a:r>
            <a:endParaRPr lang="zh-CN" altLang="zh-CN" sz="2000" dirty="0">
              <a:latin typeface="Arial" panose="020B0604020202020204" pitchFamily="3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6" grpId="1" animBg="1"/>
      <p:bldP spid="3" grpId="0" bldLvl="0" animBg="1"/>
      <p:bldP spid="3" grpId="1" animBg="1"/>
      <p:bldP spid="4" grpId="0" bldLvl="0" animBg="1"/>
      <p:bldP spid="4"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标题 1"/>
          <p:cNvSpPr>
            <a:spLocks noGrp="1"/>
          </p:cNvSpPr>
          <p:nvPr>
            <p:ph type="title"/>
          </p:nvPr>
        </p:nvSpPr>
        <p:spPr/>
        <p:txBody>
          <a:bodyPr vert="horz" wrap="square" lIns="91440" tIns="45720" rIns="91440" bIns="45720" anchor="ctr" anchorCtr="0"/>
          <a:p>
            <a:r>
              <a:rPr lang="en-US" altLang="zh-CN" b="1" dirty="0"/>
              <a:t>12.5 Flink</a:t>
            </a:r>
            <a:r>
              <a:rPr lang="zh-CN" altLang="en-US" b="1" dirty="0"/>
              <a:t>体系架构</a:t>
            </a:r>
            <a:endParaRPr lang="zh-CN" altLang="en-US" dirty="0"/>
          </a:p>
        </p:txBody>
      </p:sp>
      <p:pic>
        <p:nvPicPr>
          <p:cNvPr id="27651" name="图片 2"/>
          <p:cNvPicPr>
            <a:picLocks noChangeAspect="1"/>
          </p:cNvPicPr>
          <p:nvPr/>
        </p:nvPicPr>
        <p:blipFill>
          <a:blip r:embed="rId1"/>
          <a:stretch>
            <a:fillRect/>
          </a:stretch>
        </p:blipFill>
        <p:spPr>
          <a:xfrm>
            <a:off x="3200400" y="2817495"/>
            <a:ext cx="5178425" cy="3616960"/>
          </a:xfrm>
          <a:prstGeom prst="rect">
            <a:avLst/>
          </a:prstGeom>
          <a:noFill/>
          <a:ln w="9525">
            <a:noFill/>
          </a:ln>
        </p:spPr>
      </p:pic>
      <p:sp>
        <p:nvSpPr>
          <p:cNvPr id="27652" name="矩形 3"/>
          <p:cNvSpPr/>
          <p:nvPr/>
        </p:nvSpPr>
        <p:spPr>
          <a:xfrm>
            <a:off x="1016000" y="1409700"/>
            <a:ext cx="10083165" cy="1198880"/>
          </a:xfrm>
          <a:prstGeom prst="rect">
            <a:avLst/>
          </a:prstGeom>
          <a:noFill/>
          <a:ln w="9525">
            <a:noFill/>
          </a:ln>
        </p:spPr>
        <p:txBody>
          <a:bodyPr wrap="square">
            <a:spAutoFit/>
          </a:bodyPr>
          <a:p>
            <a:pPr>
              <a:lnSpc>
                <a:spcPct val="150000"/>
              </a:lnSpc>
            </a:pPr>
            <a:r>
              <a:rPr lang="en-US" altLang="zh-CN" sz="2400" dirty="0">
                <a:latin typeface="Arial" panose="020B0604020202020204" pitchFamily="34" charset="0"/>
              </a:rPr>
              <a:t>Flink</a:t>
            </a:r>
            <a:r>
              <a:rPr lang="zh-CN" altLang="zh-CN" sz="2400" dirty="0">
                <a:latin typeface="Arial" panose="020B0604020202020204" pitchFamily="34" charset="0"/>
              </a:rPr>
              <a:t>系统主要由两个组件组成，分别为</a:t>
            </a:r>
            <a:r>
              <a:rPr lang="en-US" altLang="zh-CN" sz="2400" dirty="0">
                <a:latin typeface="Arial" panose="020B0604020202020204" pitchFamily="34" charset="0"/>
              </a:rPr>
              <a:t>JobManager</a:t>
            </a:r>
            <a:r>
              <a:rPr lang="zh-CN" altLang="zh-CN" sz="2400" dirty="0">
                <a:latin typeface="Arial" panose="020B0604020202020204" pitchFamily="34" charset="0"/>
              </a:rPr>
              <a:t>和</a:t>
            </a:r>
            <a:r>
              <a:rPr lang="en-US" altLang="zh-CN" sz="2400" dirty="0">
                <a:latin typeface="Arial" panose="020B0604020202020204" pitchFamily="34" charset="0"/>
              </a:rPr>
              <a:t>TaskManager</a:t>
            </a:r>
            <a:endParaRPr lang="zh-CN" altLang="zh-CN" sz="2400" dirty="0">
              <a:latin typeface="Arial" panose="020B0604020202020204" pitchFamily="34" charset="0"/>
            </a:endParaRPr>
          </a:p>
          <a:p>
            <a:pPr>
              <a:lnSpc>
                <a:spcPct val="150000"/>
              </a:lnSpc>
            </a:pPr>
            <a:r>
              <a:rPr lang="en-US" altLang="zh-CN" sz="2400" dirty="0">
                <a:latin typeface="Arial" panose="020B0604020202020204" pitchFamily="34" charset="0"/>
              </a:rPr>
              <a:t>Flink </a:t>
            </a:r>
            <a:r>
              <a:rPr lang="zh-CN" altLang="zh-CN" sz="2400" dirty="0">
                <a:latin typeface="Arial" panose="020B0604020202020204" pitchFamily="34" charset="0"/>
              </a:rPr>
              <a:t>架构也遵循</a:t>
            </a:r>
            <a:r>
              <a:rPr lang="en-US" altLang="zh-CN" sz="2400" dirty="0">
                <a:latin typeface="Arial" panose="020B0604020202020204" pitchFamily="34" charset="0"/>
              </a:rPr>
              <a:t>Master-Slave</a:t>
            </a:r>
            <a:r>
              <a:rPr lang="zh-CN" altLang="zh-CN" sz="2400" dirty="0">
                <a:latin typeface="Arial" panose="020B0604020202020204" pitchFamily="34" charset="0"/>
              </a:rPr>
              <a:t>架构设计原则</a:t>
            </a:r>
            <a:endParaRPr lang="zh-CN" altLang="zh-CN" sz="2400" dirty="0">
              <a:latin typeface="Arial" panose="020B0604020202020204" pitchFamily="34" charset="0"/>
            </a:endParaRPr>
          </a:p>
        </p:txBody>
      </p:sp>
      <p:sp>
        <p:nvSpPr>
          <p:cNvPr id="3" name="左弧形箭头 2"/>
          <p:cNvSpPr/>
          <p:nvPr/>
        </p:nvSpPr>
        <p:spPr>
          <a:xfrm>
            <a:off x="2961640" y="3614420"/>
            <a:ext cx="382905" cy="1020445"/>
          </a:xfrm>
          <a:prstGeom prst="curvedRightArrow">
            <a:avLst/>
          </a:prstGeom>
        </p:spPr>
        <p:style>
          <a:lnRef idx="1">
            <a:schemeClr val="accent4"/>
          </a:lnRef>
          <a:fillRef idx="2">
            <a:schemeClr val="accent4"/>
          </a:fillRef>
          <a:effectRef idx="1">
            <a:schemeClr val="accent4"/>
          </a:effectRef>
          <a:fontRef idx="minor">
            <a:schemeClr val="dk1"/>
          </a:fontRef>
        </p:style>
        <p:txBody>
          <a:bodyPr rtlCol="0" anchor="ctr"/>
          <a:p>
            <a:pPr algn="ctr"/>
            <a:endParaRPr lang="zh-CN" altLang="en-US">
              <a:solidFill>
                <a:schemeClr val="tx1"/>
              </a:solidFill>
            </a:endParaRPr>
          </a:p>
        </p:txBody>
      </p:sp>
      <p:sp>
        <p:nvSpPr>
          <p:cNvPr id="4" name="圆角矩形 3"/>
          <p:cNvSpPr/>
          <p:nvPr/>
        </p:nvSpPr>
        <p:spPr>
          <a:xfrm>
            <a:off x="1559560" y="3811270"/>
            <a:ext cx="1313180" cy="499745"/>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p>
            <a:pPr algn="ctr"/>
            <a:r>
              <a:rPr lang="zh-CN" altLang="en-US" sz="2000"/>
              <a:t>提交作业</a:t>
            </a:r>
            <a:endParaRPr lang="zh-CN" altLang="en-US" sz="2000"/>
          </a:p>
        </p:txBody>
      </p:sp>
      <p:sp>
        <p:nvSpPr>
          <p:cNvPr id="7" name="圆角矩形标注 6"/>
          <p:cNvSpPr/>
          <p:nvPr/>
        </p:nvSpPr>
        <p:spPr>
          <a:xfrm>
            <a:off x="5439410" y="2817495"/>
            <a:ext cx="1313180" cy="610870"/>
          </a:xfrm>
          <a:prstGeom prst="wedgeRoundRectCallout">
            <a:avLst>
              <a:gd name="adj1" fmla="val 14264"/>
              <a:gd name="adj2" fmla="val 228586"/>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p>
            <a:pPr algn="ctr"/>
            <a:r>
              <a:rPr lang="zh-CN" altLang="en-US" sz="2000"/>
              <a:t>分配资源</a:t>
            </a:r>
            <a:endParaRPr lang="zh-CN" altLang="en-US" sz="2000"/>
          </a:p>
          <a:p>
            <a:pPr algn="ctr"/>
            <a:r>
              <a:rPr lang="zh-CN" altLang="en-US" sz="2000"/>
              <a:t>及任务</a:t>
            </a:r>
            <a:endParaRPr lang="zh-CN" altLang="en-US" sz="2000"/>
          </a:p>
        </p:txBody>
      </p:sp>
      <p:sp>
        <p:nvSpPr>
          <p:cNvPr id="8" name="圆角矩形标注 7"/>
          <p:cNvSpPr/>
          <p:nvPr>
            <p:custDataLst>
              <p:tags r:id="rId2"/>
            </p:custDataLst>
          </p:nvPr>
        </p:nvSpPr>
        <p:spPr>
          <a:xfrm>
            <a:off x="4834890" y="3662680"/>
            <a:ext cx="1313180" cy="499745"/>
          </a:xfrm>
          <a:prstGeom prst="wedgeRoundRectCallout">
            <a:avLst>
              <a:gd name="adj1" fmla="val -23887"/>
              <a:gd name="adj2" fmla="val 132973"/>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p>
            <a:pPr algn="ctr"/>
            <a:r>
              <a:rPr lang="zh-CN" altLang="en-US" sz="2000"/>
              <a:t>提交作业</a:t>
            </a:r>
            <a:endParaRPr lang="zh-CN" altLang="en-US" sz="2000"/>
          </a:p>
        </p:txBody>
      </p:sp>
      <p:sp>
        <p:nvSpPr>
          <p:cNvPr id="9" name="圆角矩形标注 8"/>
          <p:cNvSpPr/>
          <p:nvPr>
            <p:custDataLst>
              <p:tags r:id="rId3"/>
            </p:custDataLst>
          </p:nvPr>
        </p:nvSpPr>
        <p:spPr>
          <a:xfrm>
            <a:off x="5135245" y="5249545"/>
            <a:ext cx="1617345" cy="1282065"/>
          </a:xfrm>
          <a:prstGeom prst="wedgeRoundRectCallout">
            <a:avLst>
              <a:gd name="adj1" fmla="val 20121"/>
              <a:gd name="adj2" fmla="val -48266"/>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p>
            <a:pPr algn="l"/>
            <a:r>
              <a:rPr lang="zh-CN" altLang="en-US" sz="2000"/>
              <a:t>作业状态：</a:t>
            </a:r>
            <a:endParaRPr lang="zh-CN" altLang="en-US" sz="2000"/>
          </a:p>
          <a:p>
            <a:pPr algn="l"/>
            <a:r>
              <a:rPr lang="zh-CN" altLang="en-US" sz="2000"/>
              <a:t>开始执行；</a:t>
            </a:r>
            <a:endParaRPr lang="zh-CN" altLang="en-US" sz="2000"/>
          </a:p>
          <a:p>
            <a:pPr algn="l"/>
            <a:r>
              <a:rPr lang="zh-CN" altLang="en-US" sz="2000"/>
              <a:t>正在进行；</a:t>
            </a:r>
            <a:endParaRPr lang="zh-CN" altLang="en-US" sz="2000"/>
          </a:p>
          <a:p>
            <a:pPr algn="l"/>
            <a:r>
              <a:rPr lang="zh-CN" altLang="en-US" sz="2000"/>
              <a:t>已完成。</a:t>
            </a:r>
            <a:endParaRPr lang="zh-CN" altLang="en-US" sz="2000"/>
          </a:p>
        </p:txBody>
      </p:sp>
      <p:sp>
        <p:nvSpPr>
          <p:cNvPr id="10" name="圆角矩形标注 9"/>
          <p:cNvSpPr/>
          <p:nvPr>
            <p:custDataLst>
              <p:tags r:id="rId4"/>
            </p:custDataLst>
          </p:nvPr>
        </p:nvSpPr>
        <p:spPr>
          <a:xfrm>
            <a:off x="8706485" y="2719705"/>
            <a:ext cx="1783715" cy="610870"/>
          </a:xfrm>
          <a:prstGeom prst="wedgeRoundRectCallout">
            <a:avLst>
              <a:gd name="adj1" fmla="val -78657"/>
              <a:gd name="adj2" fmla="val 15072"/>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p>
            <a:pPr algn="l"/>
            <a:r>
              <a:rPr lang="zh-CN" altLang="en-US" sz="2000"/>
              <a:t>启动一个线程；</a:t>
            </a:r>
            <a:endParaRPr lang="zh-CN" altLang="en-US" sz="2000"/>
          </a:p>
          <a:p>
            <a:pPr algn="l"/>
            <a:r>
              <a:rPr lang="zh-CN" altLang="en-US" sz="2000"/>
              <a:t>开始执行</a:t>
            </a:r>
            <a:r>
              <a:rPr lang="en-US" altLang="zh-CN" sz="2000"/>
              <a:t>...</a:t>
            </a:r>
            <a:endParaRPr lang="zh-CN" altLang="en-US" sz="2000"/>
          </a:p>
        </p:txBody>
      </p:sp>
      <p:sp>
        <p:nvSpPr>
          <p:cNvPr id="11" name="圆角矩形标注 10"/>
          <p:cNvSpPr/>
          <p:nvPr>
            <p:custDataLst>
              <p:tags r:id="rId5"/>
            </p:custDataLst>
          </p:nvPr>
        </p:nvSpPr>
        <p:spPr>
          <a:xfrm>
            <a:off x="8706485" y="3428365"/>
            <a:ext cx="1783715" cy="610870"/>
          </a:xfrm>
          <a:prstGeom prst="wedgeRoundRectCallout">
            <a:avLst>
              <a:gd name="adj1" fmla="val -143022"/>
              <a:gd name="adj2" fmla="val -18711"/>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p>
            <a:pPr algn="l"/>
            <a:r>
              <a:rPr lang="zh-CN" sz="2000"/>
              <a:t>报告状态更改</a:t>
            </a:r>
            <a:endParaRPr lang="zh-CN" sz="2000"/>
          </a:p>
        </p:txBody>
      </p:sp>
      <p:sp>
        <p:nvSpPr>
          <p:cNvPr id="12" name="圆角矩形标注 11"/>
          <p:cNvSpPr/>
          <p:nvPr>
            <p:custDataLst>
              <p:tags r:id="rId6"/>
            </p:custDataLst>
          </p:nvPr>
        </p:nvSpPr>
        <p:spPr>
          <a:xfrm>
            <a:off x="2961640" y="5640705"/>
            <a:ext cx="1313180" cy="499745"/>
          </a:xfrm>
          <a:prstGeom prst="wedgeRoundRectCallout">
            <a:avLst>
              <a:gd name="adj1" fmla="val 101595"/>
              <a:gd name="adj2" fmla="val -237928"/>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p>
            <a:pPr algn="ctr"/>
            <a:r>
              <a:rPr lang="zh-CN" altLang="en-US" sz="2000"/>
              <a:t>发送结果</a:t>
            </a:r>
            <a:endParaRPr lang="zh-CN" alt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up)">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down)">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down)">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down)">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wipe(down)">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ipe(down)">
                                      <p:cBhvr>
                                        <p:cTn id="35" dur="500"/>
                                        <p:tgtEl>
                                          <p:spTgt spid="9"/>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2"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wipe(right)">
                                      <p:cBhvr>
                                        <p:cTn id="4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P spid="3" grpId="1" animBg="1"/>
      <p:bldP spid="4" grpId="1" animBg="1"/>
      <p:bldP spid="7" grpId="0" bldLvl="0" animBg="1"/>
      <p:bldP spid="7" grpId="1" animBg="1"/>
      <p:bldP spid="8" grpId="0" bldLvl="0" animBg="1"/>
      <p:bldP spid="8" grpId="1" animBg="1"/>
      <p:bldP spid="9" grpId="0" bldLvl="0" animBg="1"/>
      <p:bldP spid="9" grpId="1" animBg="1"/>
      <p:bldP spid="10" grpId="0" bldLvl="0" animBg="1"/>
      <p:bldP spid="10" grpId="1" animBg="1"/>
      <p:bldP spid="11" grpId="0" bldLvl="0" animBg="1"/>
      <p:bldP spid="11" grpId="1" animBg="1"/>
      <p:bldP spid="12" grpId="0" bldLvl="0" animBg="1"/>
      <p:bldP spid="12"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标题 1"/>
          <p:cNvSpPr>
            <a:spLocks noGrp="1"/>
          </p:cNvSpPr>
          <p:nvPr>
            <p:ph type="title"/>
          </p:nvPr>
        </p:nvSpPr>
        <p:spPr/>
        <p:txBody>
          <a:bodyPr vert="horz" wrap="square" lIns="91440" tIns="45720" rIns="91440" bIns="45720" anchor="ctr" anchorCtr="0"/>
          <a:p>
            <a:r>
              <a:rPr lang="en-US" altLang="zh-CN" b="1" dirty="0"/>
              <a:t>12.6 Flink</a:t>
            </a:r>
            <a:r>
              <a:rPr lang="zh-CN" altLang="en-US" b="1" dirty="0"/>
              <a:t>编程模型</a:t>
            </a:r>
            <a:endParaRPr lang="zh-CN" altLang="en-US" dirty="0"/>
          </a:p>
        </p:txBody>
      </p:sp>
      <p:sp>
        <p:nvSpPr>
          <p:cNvPr id="28675" name="Rectangle 2"/>
          <p:cNvSpPr/>
          <p:nvPr/>
        </p:nvSpPr>
        <p:spPr>
          <a:xfrm>
            <a:off x="1524000" y="44450"/>
            <a:ext cx="309880" cy="368300"/>
          </a:xfrm>
          <a:prstGeom prst="rect">
            <a:avLst/>
          </a:prstGeom>
          <a:noFill/>
          <a:ln w="9525">
            <a:noFill/>
          </a:ln>
        </p:spPr>
        <p:txBody>
          <a:bodyPr wrap="none" anchor="ctr" anchorCtr="0">
            <a:spAutoFit/>
          </a:bodyPr>
          <a:p>
            <a:endParaRPr lang="zh-CN" altLang="en-US" dirty="0">
              <a:latin typeface="Arial" panose="020B0604020202020204" pitchFamily="34" charset="0"/>
            </a:endParaRPr>
          </a:p>
        </p:txBody>
      </p:sp>
      <p:pic>
        <p:nvPicPr>
          <p:cNvPr id="28676" name="图片 5"/>
          <p:cNvPicPr>
            <a:picLocks noChangeAspect="1"/>
          </p:cNvPicPr>
          <p:nvPr/>
        </p:nvPicPr>
        <p:blipFill>
          <a:blip r:embed="rId1"/>
          <a:stretch>
            <a:fillRect/>
          </a:stretch>
        </p:blipFill>
        <p:spPr>
          <a:xfrm>
            <a:off x="2041525" y="2449830"/>
            <a:ext cx="7470140" cy="3700780"/>
          </a:xfrm>
          <a:prstGeom prst="rect">
            <a:avLst/>
          </a:prstGeom>
          <a:noFill/>
          <a:ln w="9525">
            <a:noFill/>
          </a:ln>
        </p:spPr>
      </p:pic>
      <p:sp>
        <p:nvSpPr>
          <p:cNvPr id="28678" name="矩形 5"/>
          <p:cNvSpPr/>
          <p:nvPr/>
        </p:nvSpPr>
        <p:spPr>
          <a:xfrm>
            <a:off x="1028065" y="1541145"/>
            <a:ext cx="9733915" cy="460375"/>
          </a:xfrm>
          <a:prstGeom prst="rect">
            <a:avLst/>
          </a:prstGeom>
          <a:noFill/>
          <a:ln w="9525">
            <a:noFill/>
          </a:ln>
        </p:spPr>
        <p:txBody>
          <a:bodyPr wrap="square">
            <a:spAutoFit/>
          </a:bodyPr>
          <a:p>
            <a:r>
              <a:rPr lang="en-US" altLang="zh-CN" sz="2400" dirty="0">
                <a:latin typeface="Arial" panose="020B0604020202020204" pitchFamily="34" charset="0"/>
              </a:rPr>
              <a:t>Flink </a:t>
            </a:r>
            <a:r>
              <a:rPr lang="zh-CN" altLang="zh-CN" sz="2400" dirty="0">
                <a:latin typeface="Arial" panose="020B0604020202020204" pitchFamily="34" charset="0"/>
              </a:rPr>
              <a:t>提供了不同级别的抽象，以开发流或批处理作业。</a:t>
            </a:r>
            <a:endParaRPr lang="zh-CN" altLang="zh-CN" sz="2400" dirty="0">
              <a:latin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29698" name="标题 1"/>
          <p:cNvSpPr>
            <a:spLocks noGrp="1"/>
          </p:cNvSpPr>
          <p:nvPr>
            <p:ph type="title"/>
          </p:nvPr>
        </p:nvSpPr>
        <p:spPr/>
        <p:txBody>
          <a:bodyPr vert="horz" wrap="square" lIns="91440" tIns="45720" rIns="91440" bIns="45720" anchor="ctr" anchorCtr="0"/>
          <a:p>
            <a:r>
              <a:rPr lang="en-US" altLang="zh-CN" b="1" dirty="0"/>
              <a:t>12.7 Flink</a:t>
            </a:r>
            <a:r>
              <a:rPr lang="zh-CN" altLang="en-US" b="1" dirty="0"/>
              <a:t>编程实践</a:t>
            </a:r>
            <a:endParaRPr lang="zh-CN" altLang="en-US" dirty="0"/>
          </a:p>
        </p:txBody>
      </p:sp>
      <p:sp>
        <p:nvSpPr>
          <p:cNvPr id="29699" name="TextBox 3"/>
          <p:cNvSpPr txBox="1"/>
          <p:nvPr/>
        </p:nvSpPr>
        <p:spPr>
          <a:xfrm>
            <a:off x="1087120" y="4191000"/>
            <a:ext cx="4805680" cy="645160"/>
          </a:xfrm>
          <a:prstGeom prst="rect">
            <a:avLst/>
          </a:prstGeom>
          <a:noFill/>
          <a:ln w="9525">
            <a:noFill/>
          </a:ln>
        </p:spPr>
        <p:txBody>
          <a:bodyPr wrap="none">
            <a:spAutoFit/>
          </a:bodyPr>
          <a:p>
            <a:r>
              <a:rPr lang="en-US" altLang="zh-CN" dirty="0">
                <a:latin typeface="Arial" panose="020B0604020202020204" pitchFamily="34" charset="0"/>
              </a:rPr>
              <a:t>Flink</a:t>
            </a:r>
            <a:r>
              <a:rPr lang="zh-CN" altLang="en-US" dirty="0">
                <a:latin typeface="Arial" panose="020B0604020202020204" pitchFamily="34" charset="0"/>
              </a:rPr>
              <a:t>上机实践详细过程，</a:t>
            </a:r>
            <a:endParaRPr lang="zh-CN" altLang="en-US" dirty="0">
              <a:latin typeface="Arial" panose="020B0604020202020204" pitchFamily="34" charset="0"/>
            </a:endParaRPr>
          </a:p>
          <a:p>
            <a:r>
              <a:rPr lang="zh-CN" altLang="en-US" dirty="0">
                <a:latin typeface="Arial" panose="020B0604020202020204" pitchFamily="34" charset="0"/>
              </a:rPr>
              <a:t>请参</a:t>
            </a:r>
            <a:r>
              <a:rPr lang="zh-CN" dirty="0">
                <a:latin typeface="Arial" panose="020B0604020202020204" pitchFamily="34" charset="0"/>
              </a:rPr>
              <a:t>考</a:t>
            </a:r>
            <a:r>
              <a:rPr lang="zh-CN" altLang="en-US" dirty="0">
                <a:latin typeface="Arial" panose="020B0604020202020204" pitchFamily="34" charset="0"/>
              </a:rPr>
              <a:t>：</a:t>
            </a:r>
            <a:r>
              <a:rPr lang="en-US" altLang="zh-CN" dirty="0">
                <a:latin typeface="Arial" panose="020B0604020202020204" pitchFamily="34" charset="0"/>
              </a:rPr>
              <a:t>http://dblab.xmu.edu.cn/blog/2507-2/</a:t>
            </a:r>
            <a:endParaRPr lang="zh-CN" altLang="en-US" dirty="0">
              <a:latin typeface="Arial" panose="020B0604020202020204" pitchFamily="34" charset="0"/>
            </a:endParaRPr>
          </a:p>
        </p:txBody>
      </p:sp>
      <p:sp>
        <p:nvSpPr>
          <p:cNvPr id="29701" name="矩形 4"/>
          <p:cNvSpPr/>
          <p:nvPr/>
        </p:nvSpPr>
        <p:spPr>
          <a:xfrm>
            <a:off x="972185" y="1804035"/>
            <a:ext cx="4479290" cy="1568450"/>
          </a:xfrm>
          <a:prstGeom prst="rect">
            <a:avLst/>
          </a:prstGeom>
          <a:noFill/>
          <a:ln w="9525">
            <a:noFill/>
          </a:ln>
        </p:spPr>
        <p:txBody>
          <a:bodyPr wrap="none">
            <a:spAutoFit/>
          </a:bodyPr>
          <a:p>
            <a:pPr>
              <a:lnSpc>
                <a:spcPct val="200000"/>
              </a:lnSpc>
            </a:pPr>
            <a:r>
              <a:rPr lang="en-US" altLang="zh-CN" sz="2400" dirty="0">
                <a:latin typeface="Arial" panose="020B0604020202020204" pitchFamily="34" charset="0"/>
              </a:rPr>
              <a:t>12.7.1 </a:t>
            </a:r>
            <a:r>
              <a:rPr lang="zh-CN" altLang="zh-CN" sz="2400" dirty="0">
                <a:latin typeface="Arial" panose="020B0604020202020204" pitchFamily="34" charset="0"/>
              </a:rPr>
              <a:t>安装</a:t>
            </a:r>
            <a:r>
              <a:rPr lang="en-US" altLang="zh-CN" sz="2400" dirty="0">
                <a:latin typeface="Arial" panose="020B0604020202020204" pitchFamily="34" charset="0"/>
              </a:rPr>
              <a:t>Flink</a:t>
            </a:r>
            <a:endParaRPr lang="en-US" altLang="zh-CN" sz="2400" dirty="0">
              <a:latin typeface="Arial" panose="020B0604020202020204" pitchFamily="34" charset="0"/>
            </a:endParaRPr>
          </a:p>
          <a:p>
            <a:pPr>
              <a:lnSpc>
                <a:spcPct val="200000"/>
              </a:lnSpc>
            </a:pPr>
            <a:r>
              <a:rPr lang="en-US" altLang="zh-CN" sz="2400" dirty="0">
                <a:latin typeface="Arial" panose="020B0604020202020204" pitchFamily="34" charset="0"/>
              </a:rPr>
              <a:t>12.7.2 </a:t>
            </a:r>
            <a:r>
              <a:rPr lang="zh-CN" altLang="zh-CN" sz="2400" dirty="0">
                <a:latin typeface="Arial" panose="020B0604020202020204" pitchFamily="34" charset="0"/>
              </a:rPr>
              <a:t>编程实现</a:t>
            </a:r>
            <a:r>
              <a:rPr lang="en-US" altLang="zh-CN" sz="2400" dirty="0">
                <a:latin typeface="Arial" panose="020B0604020202020204" pitchFamily="34" charset="0"/>
              </a:rPr>
              <a:t>WordCount</a:t>
            </a:r>
            <a:r>
              <a:rPr lang="zh-CN" altLang="zh-CN" sz="2400" dirty="0">
                <a:latin typeface="Arial" panose="020B0604020202020204" pitchFamily="34" charset="0"/>
              </a:rPr>
              <a:t>程序</a:t>
            </a:r>
            <a:endParaRPr lang="zh-CN" altLang="en-US" sz="2400" dirty="0">
              <a:latin typeface="Arial" panose="020B0604020202020204" pitchFamily="34" charset="0"/>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30722" name="标题 1"/>
          <p:cNvSpPr>
            <a:spLocks noGrp="1"/>
          </p:cNvSpPr>
          <p:nvPr>
            <p:ph type="title"/>
          </p:nvPr>
        </p:nvSpPr>
        <p:spPr/>
        <p:txBody>
          <a:bodyPr vert="horz" wrap="square" lIns="91440" tIns="45720" rIns="91440" bIns="45720" anchor="ctr" anchorCtr="0"/>
          <a:p>
            <a:r>
              <a:rPr lang="en-US" altLang="zh-CN" b="1" dirty="0"/>
              <a:t>12.7.1 </a:t>
            </a:r>
            <a:r>
              <a:rPr lang="zh-CN" altLang="zh-CN" b="1" dirty="0"/>
              <a:t>安装</a:t>
            </a:r>
            <a:r>
              <a:rPr lang="en-US" altLang="zh-CN" b="1" dirty="0"/>
              <a:t>Flink</a:t>
            </a:r>
            <a:endParaRPr lang="zh-CN" altLang="en-US" b="1" dirty="0"/>
          </a:p>
        </p:txBody>
      </p:sp>
      <p:sp>
        <p:nvSpPr>
          <p:cNvPr id="30723" name="矩形 2"/>
          <p:cNvSpPr/>
          <p:nvPr/>
        </p:nvSpPr>
        <p:spPr>
          <a:xfrm>
            <a:off x="1018540" y="1491615"/>
            <a:ext cx="9890760" cy="1568450"/>
          </a:xfrm>
          <a:prstGeom prst="rect">
            <a:avLst/>
          </a:prstGeom>
          <a:noFill/>
          <a:ln w="9525">
            <a:noFill/>
          </a:ln>
        </p:spPr>
        <p:txBody>
          <a:bodyPr wrap="square">
            <a:spAutoFit/>
          </a:bodyPr>
          <a:p>
            <a:r>
              <a:rPr lang="en-US" altLang="zh-CN" sz="2400" dirty="0">
                <a:latin typeface="Arial" panose="020B0604020202020204" pitchFamily="34" charset="0"/>
              </a:rPr>
              <a:t>Flink</a:t>
            </a:r>
            <a:r>
              <a:rPr lang="zh-CN" altLang="zh-CN" sz="2400" dirty="0">
                <a:latin typeface="Arial" panose="020B0604020202020204" pitchFamily="34" charset="0"/>
              </a:rPr>
              <a:t>的运行需要</a:t>
            </a:r>
            <a:r>
              <a:rPr lang="en-US" altLang="zh-CN" sz="2400" dirty="0">
                <a:latin typeface="Arial" panose="020B0604020202020204" pitchFamily="34" charset="0"/>
              </a:rPr>
              <a:t>Java</a:t>
            </a:r>
            <a:r>
              <a:rPr lang="zh-CN" altLang="zh-CN" sz="2400" dirty="0">
                <a:latin typeface="Arial" panose="020B0604020202020204" pitchFamily="34" charset="0"/>
              </a:rPr>
              <a:t>环境的支持</a:t>
            </a:r>
            <a:endParaRPr lang="zh-CN" altLang="zh-CN" sz="2400" dirty="0">
              <a:latin typeface="Arial" panose="020B0604020202020204" pitchFamily="34" charset="0"/>
            </a:endParaRPr>
          </a:p>
          <a:p>
            <a:r>
              <a:rPr lang="zh-CN" altLang="zh-CN" sz="2400" dirty="0">
                <a:latin typeface="Arial" panose="020B0604020202020204" pitchFamily="34" charset="0"/>
              </a:rPr>
              <a:t>到</a:t>
            </a:r>
            <a:r>
              <a:rPr lang="en-US" altLang="zh-CN" sz="2400" dirty="0">
                <a:latin typeface="Arial" panose="020B0604020202020204" pitchFamily="34" charset="0"/>
              </a:rPr>
              <a:t>Flink</a:t>
            </a:r>
            <a:r>
              <a:rPr lang="zh-CN" altLang="zh-CN" sz="2400" dirty="0">
                <a:latin typeface="Arial" panose="020B0604020202020204" pitchFamily="34" charset="0"/>
              </a:rPr>
              <a:t>官网（</a:t>
            </a:r>
            <a:r>
              <a:rPr lang="en-US" altLang="zh-CN" sz="2400" dirty="0">
                <a:latin typeface="Arial" panose="020B0604020202020204" pitchFamily="34" charset="0"/>
              </a:rPr>
              <a:t>https://flink.apache.org/downloads.html</a:t>
            </a:r>
            <a:r>
              <a:rPr lang="zh-CN" altLang="zh-CN" sz="2400" dirty="0">
                <a:latin typeface="Arial" panose="020B0604020202020204" pitchFamily="34" charset="0"/>
              </a:rPr>
              <a:t>）下载安装包，</a:t>
            </a:r>
            <a:endParaRPr lang="zh-CN" altLang="zh-CN" sz="2400" dirty="0">
              <a:latin typeface="Arial" panose="020B0604020202020204" pitchFamily="34" charset="0"/>
            </a:endParaRPr>
          </a:p>
          <a:p>
            <a:r>
              <a:rPr lang="zh-CN" altLang="zh-CN" sz="2400" dirty="0">
                <a:latin typeface="Arial" panose="020B0604020202020204" pitchFamily="34" charset="0"/>
              </a:rPr>
              <a:t>比如</a:t>
            </a:r>
            <a:r>
              <a:rPr lang="en-US" altLang="zh-CN" sz="2400" dirty="0">
                <a:latin typeface="Arial" panose="020B0604020202020204" pitchFamily="34" charset="0"/>
              </a:rPr>
              <a:t>flink-1.9.1-bin-scala_2.11.tgz</a:t>
            </a:r>
            <a:endParaRPr lang="en-US" altLang="zh-CN" sz="2400" dirty="0">
              <a:latin typeface="Arial" panose="020B0604020202020204" pitchFamily="34" charset="0"/>
            </a:endParaRPr>
          </a:p>
          <a:p>
            <a:r>
              <a:rPr lang="zh-CN" altLang="zh-CN" sz="2400" dirty="0">
                <a:latin typeface="Arial" panose="020B0604020202020204" pitchFamily="34" charset="0"/>
              </a:rPr>
              <a:t>使用如下命令对安装文件进行解压缩：</a:t>
            </a:r>
            <a:endParaRPr lang="zh-CN" altLang="zh-CN" sz="2400" dirty="0">
              <a:latin typeface="Arial" panose="020B0604020202020204" pitchFamily="34" charset="0"/>
            </a:endParaRPr>
          </a:p>
        </p:txBody>
      </p:sp>
      <p:sp>
        <p:nvSpPr>
          <p:cNvPr id="30724" name="TextBox 4"/>
          <p:cNvSpPr txBox="1"/>
          <p:nvPr/>
        </p:nvSpPr>
        <p:spPr>
          <a:xfrm>
            <a:off x="2438400" y="3340735"/>
            <a:ext cx="6858000" cy="645160"/>
          </a:xfrm>
          <a:prstGeom prst="rect">
            <a:avLst/>
          </a:prstGeom>
          <a:solidFill>
            <a:schemeClr val="tx1"/>
          </a:solidFill>
          <a:ln w="9525">
            <a:noFill/>
          </a:ln>
        </p:spPr>
        <p:txBody>
          <a:bodyPr>
            <a:spAutoFit/>
          </a:bodyPr>
          <a:p>
            <a:r>
              <a:rPr lang="en-US" altLang="zh-CN" dirty="0">
                <a:solidFill>
                  <a:schemeClr val="bg1"/>
                </a:solidFill>
                <a:latin typeface="Arial" panose="020B0604020202020204" pitchFamily="34" charset="0"/>
              </a:rPr>
              <a:t>$ cd /home/hadoop/Downloads</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 sudo tar -zxvf flink-1.9.1-bin-scala_2.11.tgz -C /usr/local</a:t>
            </a:r>
            <a:endParaRPr lang="zh-CN" altLang="zh-CN" dirty="0">
              <a:solidFill>
                <a:schemeClr val="bg1"/>
              </a:solidFill>
              <a:latin typeface="Arial" panose="020B0604020202020204" pitchFamily="34" charset="0"/>
            </a:endParaRPr>
          </a:p>
        </p:txBody>
      </p:sp>
      <p:sp>
        <p:nvSpPr>
          <p:cNvPr id="30725" name="矩形 5"/>
          <p:cNvSpPr/>
          <p:nvPr/>
        </p:nvSpPr>
        <p:spPr>
          <a:xfrm>
            <a:off x="2441575" y="4191000"/>
            <a:ext cx="5669280" cy="460375"/>
          </a:xfrm>
          <a:prstGeom prst="rect">
            <a:avLst/>
          </a:prstGeom>
          <a:noFill/>
          <a:ln w="9525">
            <a:noFill/>
          </a:ln>
        </p:spPr>
        <p:txBody>
          <a:bodyPr wrap="none">
            <a:spAutoFit/>
          </a:bodyPr>
          <a:p>
            <a:r>
              <a:rPr lang="zh-CN" altLang="zh-CN" sz="2400" dirty="0">
                <a:latin typeface="Arial" panose="020B0604020202020204" pitchFamily="34" charset="0"/>
              </a:rPr>
              <a:t>修改目录名称，并设置权限，命令如下：</a:t>
            </a:r>
            <a:endParaRPr lang="zh-CN" altLang="zh-CN" sz="2400" dirty="0">
              <a:latin typeface="Arial" panose="020B0604020202020204" pitchFamily="34" charset="0"/>
            </a:endParaRPr>
          </a:p>
        </p:txBody>
      </p:sp>
      <p:sp>
        <p:nvSpPr>
          <p:cNvPr id="30726" name="TextBox 6"/>
          <p:cNvSpPr txBox="1"/>
          <p:nvPr/>
        </p:nvSpPr>
        <p:spPr>
          <a:xfrm>
            <a:off x="2438400" y="4776153"/>
            <a:ext cx="6858000" cy="922020"/>
          </a:xfrm>
          <a:prstGeom prst="rect">
            <a:avLst/>
          </a:prstGeom>
          <a:solidFill>
            <a:schemeClr val="tx1"/>
          </a:solidFill>
          <a:ln w="9525">
            <a:noFill/>
          </a:ln>
        </p:spPr>
        <p:txBody>
          <a:bodyPr>
            <a:spAutoFit/>
          </a:bodyPr>
          <a:p>
            <a:r>
              <a:rPr lang="en-US" altLang="zh-CN" dirty="0">
                <a:solidFill>
                  <a:schemeClr val="bg1"/>
                </a:solidFill>
                <a:latin typeface="Arial" panose="020B0604020202020204" pitchFamily="34" charset="0"/>
              </a:rPr>
              <a:t>$ cd /usr/local</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 sudo mv ./ flink-1.9.1 ./flink</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 sudo chown -R hadoop:hadoop ./flink</a:t>
            </a:r>
            <a:endParaRPr lang="zh-CN" altLang="zh-CN" dirty="0">
              <a:solidFill>
                <a:schemeClr val="bg1"/>
              </a:solidFill>
              <a:latin typeface="Arial" panose="020B0604020202020204" pitchFamily="34" charset="0"/>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31746" name="标题 1"/>
          <p:cNvSpPr>
            <a:spLocks noGrp="1"/>
          </p:cNvSpPr>
          <p:nvPr>
            <p:ph type="title"/>
          </p:nvPr>
        </p:nvSpPr>
        <p:spPr/>
        <p:txBody>
          <a:bodyPr vert="horz" wrap="square" lIns="91440" tIns="45720" rIns="91440" bIns="45720" anchor="ctr" anchorCtr="0"/>
          <a:p>
            <a:r>
              <a:rPr lang="en-US" altLang="zh-CN" b="1" dirty="0"/>
              <a:t>12.7.1 </a:t>
            </a:r>
            <a:r>
              <a:rPr lang="zh-CN" altLang="zh-CN" b="1" dirty="0"/>
              <a:t>安装</a:t>
            </a:r>
            <a:r>
              <a:rPr lang="en-US" altLang="zh-CN" b="1" dirty="0"/>
              <a:t>Flink</a:t>
            </a:r>
            <a:endParaRPr lang="zh-CN" altLang="en-US" b="1" dirty="0"/>
          </a:p>
        </p:txBody>
      </p:sp>
      <p:sp>
        <p:nvSpPr>
          <p:cNvPr id="31747" name="矩形 2"/>
          <p:cNvSpPr/>
          <p:nvPr/>
        </p:nvSpPr>
        <p:spPr>
          <a:xfrm>
            <a:off x="1097280" y="1414780"/>
            <a:ext cx="9128760" cy="1322070"/>
          </a:xfrm>
          <a:prstGeom prst="rect">
            <a:avLst/>
          </a:prstGeom>
          <a:noFill/>
          <a:ln w="9525">
            <a:noFill/>
          </a:ln>
        </p:spPr>
        <p:txBody>
          <a:bodyPr wrap="square">
            <a:spAutoFit/>
          </a:bodyPr>
          <a:p>
            <a:r>
              <a:rPr lang="en-US" altLang="zh-CN" sz="2000" dirty="0">
                <a:latin typeface="Arial" panose="020B0604020202020204" pitchFamily="34" charset="0"/>
              </a:rPr>
              <a:t>Flink</a:t>
            </a:r>
            <a:r>
              <a:rPr lang="zh-CN" altLang="zh-CN" sz="2000" dirty="0">
                <a:latin typeface="Arial" panose="020B0604020202020204" pitchFamily="34" charset="0"/>
              </a:rPr>
              <a:t>对于本地模式是开箱即用的，如果要修改</a:t>
            </a:r>
            <a:r>
              <a:rPr lang="en-US" altLang="zh-CN" sz="2000" dirty="0">
                <a:latin typeface="Arial" panose="020B0604020202020204" pitchFamily="34" charset="0"/>
              </a:rPr>
              <a:t>Java</a:t>
            </a:r>
            <a:r>
              <a:rPr lang="zh-CN" altLang="zh-CN" sz="2000" dirty="0">
                <a:latin typeface="Arial" panose="020B0604020202020204" pitchFamily="34" charset="0"/>
              </a:rPr>
              <a:t>运行环境，可以修改“</a:t>
            </a:r>
            <a:r>
              <a:rPr lang="en-US" altLang="zh-CN" sz="2000" dirty="0">
                <a:latin typeface="Arial" panose="020B0604020202020204" pitchFamily="34" charset="0"/>
              </a:rPr>
              <a:t>/usr/local/flink/conf/flink-conf.yaml</a:t>
            </a:r>
            <a:r>
              <a:rPr lang="zh-CN" altLang="zh-CN" sz="2000" dirty="0">
                <a:latin typeface="Arial" panose="020B0604020202020204" pitchFamily="34" charset="0"/>
              </a:rPr>
              <a:t>”文件中的</a:t>
            </a:r>
            <a:r>
              <a:rPr lang="en-US" altLang="zh-CN" sz="2000" dirty="0">
                <a:latin typeface="Arial" panose="020B0604020202020204" pitchFamily="34" charset="0"/>
              </a:rPr>
              <a:t>env.java.home</a:t>
            </a:r>
            <a:r>
              <a:rPr lang="zh-CN" altLang="zh-CN" sz="2000" dirty="0">
                <a:latin typeface="Arial" panose="020B0604020202020204" pitchFamily="34" charset="0"/>
              </a:rPr>
              <a:t>参数，</a:t>
            </a:r>
            <a:endParaRPr lang="zh-CN" altLang="zh-CN" sz="2000" dirty="0">
              <a:latin typeface="Arial" panose="020B0604020202020204" pitchFamily="34" charset="0"/>
            </a:endParaRPr>
          </a:p>
          <a:p>
            <a:r>
              <a:rPr lang="zh-CN" altLang="zh-CN" sz="2000" dirty="0">
                <a:latin typeface="Arial" panose="020B0604020202020204" pitchFamily="34" charset="0"/>
              </a:rPr>
              <a:t>设置为本地</a:t>
            </a:r>
            <a:r>
              <a:rPr lang="en-US" altLang="zh-CN" sz="2000" dirty="0">
                <a:latin typeface="Arial" panose="020B0604020202020204" pitchFamily="34" charset="0"/>
              </a:rPr>
              <a:t>Java</a:t>
            </a:r>
            <a:r>
              <a:rPr lang="zh-CN" altLang="zh-CN" sz="2000" dirty="0">
                <a:latin typeface="Arial" panose="020B0604020202020204" pitchFamily="34" charset="0"/>
              </a:rPr>
              <a:t>的绝对路径。</a:t>
            </a:r>
            <a:endParaRPr lang="zh-CN" altLang="zh-CN" sz="2000" dirty="0">
              <a:latin typeface="Arial" panose="020B0604020202020204" pitchFamily="34" charset="0"/>
            </a:endParaRPr>
          </a:p>
          <a:p>
            <a:r>
              <a:rPr lang="zh-CN" altLang="zh-CN" sz="2000" dirty="0">
                <a:latin typeface="Arial" panose="020B0604020202020204" pitchFamily="34" charset="0"/>
              </a:rPr>
              <a:t>使用如下命令添加环境变量：</a:t>
            </a:r>
            <a:endParaRPr lang="zh-CN" altLang="zh-CN" sz="2000" dirty="0">
              <a:latin typeface="Arial" panose="020B0604020202020204" pitchFamily="34" charset="0"/>
            </a:endParaRPr>
          </a:p>
        </p:txBody>
      </p:sp>
      <p:sp>
        <p:nvSpPr>
          <p:cNvPr id="31748" name="TextBox 3"/>
          <p:cNvSpPr txBox="1"/>
          <p:nvPr/>
        </p:nvSpPr>
        <p:spPr>
          <a:xfrm>
            <a:off x="1173480" y="2875280"/>
            <a:ext cx="6858000" cy="398780"/>
          </a:xfrm>
          <a:prstGeom prst="rect">
            <a:avLst/>
          </a:prstGeom>
          <a:solidFill>
            <a:schemeClr val="tx1"/>
          </a:solidFill>
          <a:ln w="9525">
            <a:noFill/>
          </a:ln>
        </p:spPr>
        <p:txBody>
          <a:bodyPr>
            <a:spAutoFit/>
          </a:bodyPr>
          <a:p>
            <a:r>
              <a:rPr lang="en-US" altLang="zh-CN" sz="2000" dirty="0">
                <a:solidFill>
                  <a:schemeClr val="bg1"/>
                </a:solidFill>
                <a:latin typeface="Arial" panose="020B0604020202020204" pitchFamily="34" charset="0"/>
              </a:rPr>
              <a:t>$ vim ~/.bashrc</a:t>
            </a:r>
            <a:endParaRPr lang="en-US" altLang="zh-CN" sz="2000" dirty="0">
              <a:solidFill>
                <a:schemeClr val="bg1"/>
              </a:solidFill>
              <a:latin typeface="Arial" panose="020B0604020202020204" pitchFamily="34" charset="0"/>
            </a:endParaRPr>
          </a:p>
        </p:txBody>
      </p:sp>
      <p:sp>
        <p:nvSpPr>
          <p:cNvPr id="31749" name="矩形 4"/>
          <p:cNvSpPr/>
          <p:nvPr/>
        </p:nvSpPr>
        <p:spPr>
          <a:xfrm>
            <a:off x="1173480" y="3556635"/>
            <a:ext cx="3808730" cy="398780"/>
          </a:xfrm>
          <a:prstGeom prst="rect">
            <a:avLst/>
          </a:prstGeom>
          <a:noFill/>
          <a:ln w="9525">
            <a:noFill/>
          </a:ln>
        </p:spPr>
        <p:txBody>
          <a:bodyPr wrap="none">
            <a:spAutoFit/>
          </a:bodyPr>
          <a:p>
            <a:r>
              <a:rPr lang="zh-CN" altLang="zh-CN" sz="2000" dirty="0">
                <a:latin typeface="Arial" panose="020B0604020202020204" pitchFamily="34" charset="0"/>
              </a:rPr>
              <a:t>在</a:t>
            </a:r>
            <a:r>
              <a:rPr lang="en-US" altLang="zh-CN" sz="2000" dirty="0">
                <a:latin typeface="Arial" panose="020B0604020202020204" pitchFamily="34" charset="0"/>
              </a:rPr>
              <a:t>.bashrc</a:t>
            </a:r>
            <a:r>
              <a:rPr lang="zh-CN" altLang="zh-CN" sz="2000" dirty="0">
                <a:latin typeface="Arial" panose="020B0604020202020204" pitchFamily="34" charset="0"/>
              </a:rPr>
              <a:t>文件中添加如下内容：</a:t>
            </a:r>
            <a:endParaRPr lang="zh-CN" altLang="zh-CN" sz="2000" dirty="0">
              <a:latin typeface="Arial" panose="020B0604020202020204" pitchFamily="34" charset="0"/>
            </a:endParaRPr>
          </a:p>
        </p:txBody>
      </p:sp>
      <p:sp>
        <p:nvSpPr>
          <p:cNvPr id="31750" name="TextBox 5"/>
          <p:cNvSpPr txBox="1"/>
          <p:nvPr/>
        </p:nvSpPr>
        <p:spPr>
          <a:xfrm>
            <a:off x="1173480" y="4024948"/>
            <a:ext cx="6858000" cy="706755"/>
          </a:xfrm>
          <a:prstGeom prst="rect">
            <a:avLst/>
          </a:prstGeom>
          <a:solidFill>
            <a:schemeClr val="tx1"/>
          </a:solidFill>
          <a:ln w="9525">
            <a:noFill/>
          </a:ln>
        </p:spPr>
        <p:txBody>
          <a:bodyPr>
            <a:spAutoFit/>
          </a:bodyPr>
          <a:p>
            <a:r>
              <a:rPr lang="en-US" altLang="zh-CN" sz="2000" dirty="0">
                <a:solidFill>
                  <a:schemeClr val="bg1"/>
                </a:solidFill>
                <a:latin typeface="Arial" panose="020B0604020202020204" pitchFamily="34" charset="0"/>
              </a:rPr>
              <a:t>export FLNK_HOME=/usr/local/flink</a:t>
            </a:r>
            <a:endParaRPr lang="zh-CN" altLang="zh-CN" sz="2000" dirty="0">
              <a:solidFill>
                <a:schemeClr val="bg1"/>
              </a:solidFill>
              <a:latin typeface="Arial" panose="020B0604020202020204" pitchFamily="34" charset="0"/>
            </a:endParaRPr>
          </a:p>
          <a:p>
            <a:r>
              <a:rPr lang="en-US" altLang="zh-CN" sz="2000" dirty="0">
                <a:solidFill>
                  <a:schemeClr val="bg1"/>
                </a:solidFill>
                <a:latin typeface="Arial" panose="020B0604020202020204" pitchFamily="34" charset="0"/>
              </a:rPr>
              <a:t>export PATH=$FLINK_HOME/bin:$PATH</a:t>
            </a:r>
            <a:endParaRPr lang="en-US" altLang="zh-CN" sz="2000" dirty="0">
              <a:solidFill>
                <a:schemeClr val="bg1"/>
              </a:solidFill>
              <a:latin typeface="Arial" panose="020B0604020202020204" pitchFamily="34" charset="0"/>
            </a:endParaRPr>
          </a:p>
        </p:txBody>
      </p:sp>
      <p:sp>
        <p:nvSpPr>
          <p:cNvPr id="31751" name="矩形 6"/>
          <p:cNvSpPr/>
          <p:nvPr/>
        </p:nvSpPr>
        <p:spPr>
          <a:xfrm>
            <a:off x="1173480" y="5026660"/>
            <a:ext cx="6858000" cy="398780"/>
          </a:xfrm>
          <a:prstGeom prst="rect">
            <a:avLst/>
          </a:prstGeom>
          <a:noFill/>
          <a:ln w="9525">
            <a:noFill/>
          </a:ln>
        </p:spPr>
        <p:txBody>
          <a:bodyPr>
            <a:spAutoFit/>
          </a:bodyPr>
          <a:p>
            <a:r>
              <a:rPr lang="zh-CN" altLang="zh-CN" sz="2000" dirty="0">
                <a:latin typeface="Arial" panose="020B0604020202020204" pitchFamily="34" charset="0"/>
              </a:rPr>
              <a:t>保存并退出</a:t>
            </a:r>
            <a:r>
              <a:rPr lang="en-US" altLang="zh-CN" sz="2000" dirty="0">
                <a:latin typeface="Arial" panose="020B0604020202020204" pitchFamily="34" charset="0"/>
              </a:rPr>
              <a:t>.bashrc</a:t>
            </a:r>
            <a:r>
              <a:rPr lang="zh-CN" altLang="zh-CN" sz="2000" dirty="0">
                <a:latin typeface="Arial" panose="020B0604020202020204" pitchFamily="34" charset="0"/>
              </a:rPr>
              <a:t>文件，然后执行如下命令让配置文件生效：</a:t>
            </a:r>
            <a:endParaRPr lang="zh-CN" altLang="zh-CN" sz="2000" dirty="0">
              <a:latin typeface="Arial" panose="020B0604020202020204" pitchFamily="34" charset="0"/>
            </a:endParaRPr>
          </a:p>
        </p:txBody>
      </p:sp>
      <p:sp>
        <p:nvSpPr>
          <p:cNvPr id="31752" name="TextBox 7"/>
          <p:cNvSpPr txBox="1"/>
          <p:nvPr/>
        </p:nvSpPr>
        <p:spPr>
          <a:xfrm>
            <a:off x="1173480" y="5483860"/>
            <a:ext cx="6858000" cy="398780"/>
          </a:xfrm>
          <a:prstGeom prst="rect">
            <a:avLst/>
          </a:prstGeom>
          <a:solidFill>
            <a:schemeClr val="tx1"/>
          </a:solidFill>
          <a:ln w="9525">
            <a:noFill/>
          </a:ln>
        </p:spPr>
        <p:txBody>
          <a:bodyPr>
            <a:spAutoFit/>
          </a:bodyPr>
          <a:p>
            <a:r>
              <a:rPr lang="en-US" altLang="zh-CN" sz="2000" dirty="0">
                <a:solidFill>
                  <a:schemeClr val="bg1"/>
                </a:solidFill>
                <a:latin typeface="Arial" panose="020B0604020202020204" pitchFamily="34" charset="0"/>
              </a:rPr>
              <a:t>$ source ~/.bashrc</a:t>
            </a:r>
            <a:endParaRPr lang="en-US" altLang="zh-CN" sz="2000" dirty="0">
              <a:solidFill>
                <a:schemeClr val="bg1"/>
              </a:solidFill>
              <a:latin typeface="Arial" panose="020B0604020202020204" pitchFamily="34" charset="0"/>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32771" name="矩形 2"/>
          <p:cNvSpPr/>
          <p:nvPr/>
        </p:nvSpPr>
        <p:spPr>
          <a:xfrm>
            <a:off x="2727960" y="1126490"/>
            <a:ext cx="3569970" cy="460375"/>
          </a:xfrm>
          <a:prstGeom prst="rect">
            <a:avLst/>
          </a:prstGeom>
          <a:noFill/>
          <a:ln w="9525">
            <a:noFill/>
          </a:ln>
        </p:spPr>
        <p:txBody>
          <a:bodyPr wrap="none">
            <a:spAutoFit/>
          </a:bodyPr>
          <a:p>
            <a:r>
              <a:rPr lang="zh-CN" altLang="zh-CN" sz="2400" dirty="0">
                <a:latin typeface="Arial" panose="020B0604020202020204" pitchFamily="34" charset="0"/>
              </a:rPr>
              <a:t>使用如下命令启动</a:t>
            </a:r>
            <a:r>
              <a:rPr lang="en-US" altLang="zh-CN" sz="2400" dirty="0">
                <a:latin typeface="Arial" panose="020B0604020202020204" pitchFamily="34" charset="0"/>
              </a:rPr>
              <a:t>Flink</a:t>
            </a:r>
            <a:r>
              <a:rPr lang="zh-CN" altLang="zh-CN" sz="2400" dirty="0">
                <a:latin typeface="Arial" panose="020B0604020202020204" pitchFamily="34" charset="0"/>
              </a:rPr>
              <a:t>：</a:t>
            </a:r>
            <a:endParaRPr lang="zh-CN" altLang="en-US" sz="2400" dirty="0">
              <a:latin typeface="Arial" panose="020B0604020202020204" pitchFamily="34" charset="0"/>
            </a:endParaRPr>
          </a:p>
        </p:txBody>
      </p:sp>
      <p:sp>
        <p:nvSpPr>
          <p:cNvPr id="32772" name="TextBox 3"/>
          <p:cNvSpPr txBox="1"/>
          <p:nvPr/>
        </p:nvSpPr>
        <p:spPr>
          <a:xfrm>
            <a:off x="2804160" y="1659890"/>
            <a:ext cx="6858000" cy="645160"/>
          </a:xfrm>
          <a:prstGeom prst="rect">
            <a:avLst/>
          </a:prstGeom>
          <a:solidFill>
            <a:schemeClr val="tx1"/>
          </a:solidFill>
          <a:ln w="9525">
            <a:noFill/>
          </a:ln>
        </p:spPr>
        <p:txBody>
          <a:bodyPr>
            <a:spAutoFit/>
          </a:bodyPr>
          <a:p>
            <a:r>
              <a:rPr lang="en-US" altLang="zh-CN" dirty="0">
                <a:solidFill>
                  <a:schemeClr val="bg1"/>
                </a:solidFill>
                <a:latin typeface="Arial" panose="020B0604020202020204" pitchFamily="34" charset="0"/>
              </a:rPr>
              <a:t>$ cd /usr/local/flink</a:t>
            </a:r>
            <a:endParaRPr lang="en-US"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 ./bin/start-cluster.sh</a:t>
            </a:r>
            <a:endParaRPr lang="en-US" altLang="zh-CN" dirty="0">
              <a:solidFill>
                <a:schemeClr val="bg1"/>
              </a:solidFill>
              <a:latin typeface="Arial" panose="020B0604020202020204" pitchFamily="34" charset="0"/>
            </a:endParaRPr>
          </a:p>
        </p:txBody>
      </p:sp>
      <p:sp>
        <p:nvSpPr>
          <p:cNvPr id="32773" name="矩形 4"/>
          <p:cNvSpPr/>
          <p:nvPr/>
        </p:nvSpPr>
        <p:spPr>
          <a:xfrm>
            <a:off x="2804160" y="2498090"/>
            <a:ext cx="3315970" cy="460375"/>
          </a:xfrm>
          <a:prstGeom prst="rect">
            <a:avLst/>
          </a:prstGeom>
          <a:noFill/>
          <a:ln w="9525">
            <a:noFill/>
          </a:ln>
        </p:spPr>
        <p:txBody>
          <a:bodyPr wrap="none">
            <a:spAutoFit/>
          </a:bodyPr>
          <a:p>
            <a:r>
              <a:rPr lang="zh-CN" altLang="zh-CN" sz="2400" dirty="0">
                <a:latin typeface="Arial" panose="020B0604020202020204" pitchFamily="34" charset="0"/>
              </a:rPr>
              <a:t>使用</a:t>
            </a:r>
            <a:r>
              <a:rPr lang="en-US" altLang="zh-CN" sz="2400" dirty="0">
                <a:latin typeface="Arial" panose="020B0604020202020204" pitchFamily="34" charset="0"/>
              </a:rPr>
              <a:t>jps</a:t>
            </a:r>
            <a:r>
              <a:rPr lang="zh-CN" altLang="zh-CN" sz="2400" dirty="0">
                <a:latin typeface="Arial" panose="020B0604020202020204" pitchFamily="34" charset="0"/>
              </a:rPr>
              <a:t>命令查看进程：</a:t>
            </a:r>
            <a:endParaRPr lang="zh-CN" altLang="en-US" sz="2400" dirty="0">
              <a:latin typeface="Arial" panose="020B0604020202020204" pitchFamily="34" charset="0"/>
            </a:endParaRPr>
          </a:p>
        </p:txBody>
      </p:sp>
      <p:sp>
        <p:nvSpPr>
          <p:cNvPr id="32774" name="矩形 5"/>
          <p:cNvSpPr/>
          <p:nvPr/>
        </p:nvSpPr>
        <p:spPr>
          <a:xfrm>
            <a:off x="2804160" y="3031490"/>
            <a:ext cx="6858000" cy="1198880"/>
          </a:xfrm>
          <a:prstGeom prst="rect">
            <a:avLst/>
          </a:prstGeom>
          <a:solidFill>
            <a:schemeClr val="tx1"/>
          </a:solidFill>
          <a:ln w="9525">
            <a:noFill/>
          </a:ln>
        </p:spPr>
        <p:txBody>
          <a:bodyPr>
            <a:spAutoFit/>
          </a:bodyPr>
          <a:p>
            <a:r>
              <a:rPr lang="en-US" altLang="zh-CN" dirty="0">
                <a:solidFill>
                  <a:schemeClr val="bg1"/>
                </a:solidFill>
                <a:latin typeface="Arial" panose="020B0604020202020204" pitchFamily="34" charset="0"/>
              </a:rPr>
              <a:t>$ jps</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17942 TaskManagerRunner</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18022 Jps</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17503 StandaloneSessionClusterEntrypoint</a:t>
            </a:r>
            <a:endParaRPr lang="zh-CN" altLang="en-US" dirty="0">
              <a:solidFill>
                <a:schemeClr val="bg1"/>
              </a:solidFill>
              <a:latin typeface="Arial" panose="020B0604020202020204" pitchFamily="34" charset="0"/>
            </a:endParaRPr>
          </a:p>
        </p:txBody>
      </p:sp>
      <p:sp>
        <p:nvSpPr>
          <p:cNvPr id="32775" name="矩形 6"/>
          <p:cNvSpPr/>
          <p:nvPr/>
        </p:nvSpPr>
        <p:spPr>
          <a:xfrm>
            <a:off x="2804160" y="4707890"/>
            <a:ext cx="6934200" cy="645160"/>
          </a:xfrm>
          <a:prstGeom prst="rect">
            <a:avLst/>
          </a:prstGeom>
          <a:noFill/>
          <a:ln w="9525">
            <a:noFill/>
          </a:ln>
        </p:spPr>
        <p:txBody>
          <a:bodyPr>
            <a:spAutoFit/>
          </a:bodyPr>
          <a:p>
            <a:r>
              <a:rPr lang="zh-CN" altLang="zh-CN" dirty="0">
                <a:latin typeface="Arial" panose="020B0604020202020204" pitchFamily="34" charset="0"/>
              </a:rPr>
              <a:t>如果能够看到</a:t>
            </a:r>
            <a:r>
              <a:rPr lang="en-US" altLang="zh-CN" dirty="0">
                <a:latin typeface="Arial" panose="020B0604020202020204" pitchFamily="34" charset="0"/>
              </a:rPr>
              <a:t>TaskManagerRunner</a:t>
            </a:r>
            <a:r>
              <a:rPr lang="zh-CN" altLang="zh-CN" dirty="0">
                <a:latin typeface="Arial" panose="020B0604020202020204" pitchFamily="34" charset="0"/>
              </a:rPr>
              <a:t>和</a:t>
            </a:r>
            <a:r>
              <a:rPr lang="en-US" altLang="zh-CN" dirty="0">
                <a:latin typeface="Arial" panose="020B0604020202020204" pitchFamily="34" charset="0"/>
              </a:rPr>
              <a:t>StandaloneSessionClusterEntrypoint</a:t>
            </a:r>
            <a:r>
              <a:rPr lang="zh-CN" altLang="zh-CN" dirty="0">
                <a:latin typeface="Arial" panose="020B0604020202020204" pitchFamily="34" charset="0"/>
              </a:rPr>
              <a:t>这两个进程，就说明启动成功。</a:t>
            </a:r>
            <a:endParaRPr lang="zh-CN" altLang="en-US" dirty="0">
              <a:latin typeface="Arial" panose="020B0604020202020204" pitchFamily="34" charset="0"/>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33795" name="矩形 2"/>
          <p:cNvSpPr/>
          <p:nvPr/>
        </p:nvSpPr>
        <p:spPr>
          <a:xfrm>
            <a:off x="2438400" y="822325"/>
            <a:ext cx="7315200" cy="1198880"/>
          </a:xfrm>
          <a:prstGeom prst="rect">
            <a:avLst/>
          </a:prstGeom>
          <a:noFill/>
          <a:ln w="9525">
            <a:noFill/>
          </a:ln>
        </p:spPr>
        <p:txBody>
          <a:bodyPr>
            <a:spAutoFit/>
          </a:bodyPr>
          <a:p>
            <a:r>
              <a:rPr lang="en-US" altLang="zh-CN" dirty="0">
                <a:latin typeface="Arial" panose="020B0604020202020204" pitchFamily="34" charset="0"/>
              </a:rPr>
              <a:t>Flink</a:t>
            </a:r>
            <a:r>
              <a:rPr lang="zh-CN" altLang="zh-CN" dirty="0">
                <a:latin typeface="Arial" panose="020B0604020202020204" pitchFamily="34" charset="0"/>
              </a:rPr>
              <a:t>的</a:t>
            </a:r>
            <a:r>
              <a:rPr lang="en-US" altLang="zh-CN" dirty="0">
                <a:latin typeface="Arial" panose="020B0604020202020204" pitchFamily="34" charset="0"/>
              </a:rPr>
              <a:t>JobManager</a:t>
            </a:r>
            <a:r>
              <a:rPr lang="zh-CN" altLang="zh-CN" dirty="0">
                <a:latin typeface="Arial" panose="020B0604020202020204" pitchFamily="34" charset="0"/>
              </a:rPr>
              <a:t>同时会在</a:t>
            </a:r>
            <a:r>
              <a:rPr lang="en-US" altLang="zh-CN" dirty="0">
                <a:latin typeface="Arial" panose="020B0604020202020204" pitchFamily="34" charset="0"/>
              </a:rPr>
              <a:t>8081</a:t>
            </a:r>
            <a:r>
              <a:rPr lang="zh-CN" altLang="zh-CN" dirty="0">
                <a:latin typeface="Arial" panose="020B0604020202020204" pitchFamily="34" charset="0"/>
              </a:rPr>
              <a:t>端口上启动一个</a:t>
            </a:r>
            <a:r>
              <a:rPr lang="en-US" altLang="zh-CN" dirty="0">
                <a:latin typeface="Arial" panose="020B0604020202020204" pitchFamily="34" charset="0"/>
              </a:rPr>
              <a:t>Web</a:t>
            </a:r>
            <a:r>
              <a:rPr lang="zh-CN" altLang="zh-CN" dirty="0">
                <a:latin typeface="Arial" panose="020B0604020202020204" pitchFamily="34" charset="0"/>
              </a:rPr>
              <a:t>前端，可以在浏览器中输入“</a:t>
            </a:r>
            <a:r>
              <a:rPr lang="en-US" altLang="zh-CN" dirty="0">
                <a:latin typeface="Arial" panose="020B0604020202020204" pitchFamily="34" charset="0"/>
              </a:rPr>
              <a:t>http://localhost:8081</a:t>
            </a:r>
            <a:r>
              <a:rPr lang="zh-CN" altLang="zh-CN" dirty="0">
                <a:latin typeface="Arial" panose="020B0604020202020204" pitchFamily="34" charset="0"/>
              </a:rPr>
              <a:t>”来访问。</a:t>
            </a:r>
            <a:endParaRPr lang="zh-CN" altLang="zh-CN" dirty="0">
              <a:latin typeface="Arial" panose="020B0604020202020204" pitchFamily="34" charset="0"/>
            </a:endParaRPr>
          </a:p>
          <a:p>
            <a:r>
              <a:rPr lang="en-US" altLang="zh-CN" dirty="0">
                <a:latin typeface="Arial" panose="020B0604020202020204" pitchFamily="34" charset="0"/>
              </a:rPr>
              <a:t>Flink</a:t>
            </a:r>
            <a:r>
              <a:rPr lang="zh-CN" altLang="zh-CN" dirty="0">
                <a:latin typeface="Arial" panose="020B0604020202020204" pitchFamily="34" charset="0"/>
              </a:rPr>
              <a:t>安装包中自带了测试样例，这里可以运行</a:t>
            </a:r>
            <a:r>
              <a:rPr lang="en-US" altLang="zh-CN" dirty="0">
                <a:latin typeface="Arial" panose="020B0604020202020204" pitchFamily="34" charset="0"/>
              </a:rPr>
              <a:t>WordCount</a:t>
            </a:r>
            <a:r>
              <a:rPr lang="zh-CN" altLang="zh-CN" dirty="0">
                <a:latin typeface="Arial" panose="020B0604020202020204" pitchFamily="34" charset="0"/>
              </a:rPr>
              <a:t>样例程序来测试</a:t>
            </a:r>
            <a:r>
              <a:rPr lang="en-US" altLang="zh-CN" dirty="0">
                <a:latin typeface="Arial" panose="020B0604020202020204" pitchFamily="34" charset="0"/>
              </a:rPr>
              <a:t>Flink</a:t>
            </a:r>
            <a:r>
              <a:rPr lang="zh-CN" altLang="zh-CN" dirty="0">
                <a:latin typeface="Arial" panose="020B0604020202020204" pitchFamily="34" charset="0"/>
              </a:rPr>
              <a:t>的运行效果，具体命令如下：</a:t>
            </a:r>
            <a:endParaRPr lang="zh-CN" altLang="en-US" dirty="0">
              <a:latin typeface="Arial" panose="020B0604020202020204" pitchFamily="34" charset="0"/>
            </a:endParaRPr>
          </a:p>
        </p:txBody>
      </p:sp>
      <p:sp>
        <p:nvSpPr>
          <p:cNvPr id="33796" name="TextBox 3"/>
          <p:cNvSpPr txBox="1"/>
          <p:nvPr/>
        </p:nvSpPr>
        <p:spPr>
          <a:xfrm>
            <a:off x="2514600" y="2193925"/>
            <a:ext cx="6858000" cy="645160"/>
          </a:xfrm>
          <a:prstGeom prst="rect">
            <a:avLst/>
          </a:prstGeom>
          <a:solidFill>
            <a:schemeClr val="tx1"/>
          </a:solidFill>
          <a:ln w="9525">
            <a:noFill/>
          </a:ln>
        </p:spPr>
        <p:txBody>
          <a:bodyPr>
            <a:spAutoFit/>
          </a:bodyPr>
          <a:p>
            <a:r>
              <a:rPr lang="en-US" altLang="zh-CN" dirty="0">
                <a:solidFill>
                  <a:schemeClr val="bg1"/>
                </a:solidFill>
                <a:latin typeface="Arial" panose="020B0604020202020204" pitchFamily="34" charset="0"/>
              </a:rPr>
              <a:t>$ cd /usr/local/flink/bin</a:t>
            </a:r>
            <a:endParaRPr lang="en-US"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 ./flink run /usr/local/flink/examples/batch/WordCount.jar</a:t>
            </a:r>
            <a:endParaRPr lang="en-US" altLang="zh-CN" dirty="0">
              <a:solidFill>
                <a:schemeClr val="bg1"/>
              </a:solidFill>
              <a:latin typeface="Arial" panose="020B0604020202020204" pitchFamily="34" charset="0"/>
            </a:endParaRPr>
          </a:p>
        </p:txBody>
      </p:sp>
      <p:sp>
        <p:nvSpPr>
          <p:cNvPr id="33797" name="矩形 4"/>
          <p:cNvSpPr/>
          <p:nvPr/>
        </p:nvSpPr>
        <p:spPr>
          <a:xfrm>
            <a:off x="2438400" y="2955925"/>
            <a:ext cx="7315200" cy="368300"/>
          </a:xfrm>
          <a:prstGeom prst="rect">
            <a:avLst/>
          </a:prstGeom>
          <a:noFill/>
          <a:ln w="9525">
            <a:noFill/>
          </a:ln>
        </p:spPr>
        <p:txBody>
          <a:bodyPr>
            <a:spAutoFit/>
          </a:bodyPr>
          <a:p>
            <a:r>
              <a:rPr lang="zh-CN" altLang="zh-CN" dirty="0">
                <a:latin typeface="Arial" panose="020B0604020202020204" pitchFamily="34" charset="0"/>
              </a:rPr>
              <a:t>执行上述命令以后，如果执行成功，应该可以看到类似如下的屏幕信息：</a:t>
            </a:r>
            <a:endParaRPr lang="zh-CN" altLang="en-US" dirty="0">
              <a:latin typeface="Arial" panose="020B0604020202020204" pitchFamily="34" charset="0"/>
            </a:endParaRPr>
          </a:p>
        </p:txBody>
      </p:sp>
      <p:sp>
        <p:nvSpPr>
          <p:cNvPr id="33798" name="TextBox 5"/>
          <p:cNvSpPr txBox="1"/>
          <p:nvPr/>
        </p:nvSpPr>
        <p:spPr>
          <a:xfrm>
            <a:off x="2500313" y="3336925"/>
            <a:ext cx="6872287" cy="2584450"/>
          </a:xfrm>
          <a:prstGeom prst="rect">
            <a:avLst/>
          </a:prstGeom>
          <a:solidFill>
            <a:schemeClr val="tx1"/>
          </a:solidFill>
          <a:ln w="9525">
            <a:noFill/>
          </a:ln>
        </p:spPr>
        <p:txBody>
          <a:bodyPr>
            <a:spAutoFit/>
          </a:bodyPr>
          <a:p>
            <a:r>
              <a:rPr lang="en-US" altLang="zh-CN" dirty="0">
                <a:solidFill>
                  <a:schemeClr val="bg1"/>
                </a:solidFill>
                <a:latin typeface="Arial" panose="020B0604020202020204" pitchFamily="34" charset="0"/>
              </a:rPr>
              <a:t>Starting execution of program</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Executing WordCount example with default input data set.</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Use --input to specify file input.</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Printing result to stdout. Use --output to specify output path.</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(a,5)</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(action,1)</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(after,1)</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(against,1)</a:t>
            </a:r>
            <a:endParaRPr lang="zh-CN" altLang="zh-CN" dirty="0">
              <a:solidFill>
                <a:schemeClr val="bg1"/>
              </a:solidFill>
              <a:latin typeface="Arial" panose="020B0604020202020204" pitchFamily="34" charset="0"/>
            </a:endParaRPr>
          </a:p>
          <a:p>
            <a:r>
              <a:rPr lang="en-US" altLang="zh-CN" dirty="0">
                <a:solidFill>
                  <a:schemeClr val="bg1"/>
                </a:solidFill>
                <a:latin typeface="Arial" panose="020B0604020202020204" pitchFamily="34" charset="0"/>
              </a:rPr>
              <a:t>(all,2)</a:t>
            </a:r>
            <a:r>
              <a:rPr lang="zh-CN" altLang="zh-CN" dirty="0">
                <a:solidFill>
                  <a:schemeClr val="bg1"/>
                </a:solidFill>
                <a:latin typeface="Arial" panose="020B0604020202020204" pitchFamily="34" charset="0"/>
              </a:rPr>
              <a:t>……</a:t>
            </a:r>
            <a:endParaRPr lang="zh-CN" altLang="en-US" dirty="0">
              <a:solidFill>
                <a:schemeClr val="bg1"/>
              </a:solidFill>
              <a:latin typeface="Arial" panose="020B0604020202020204" pitchFamily="34" charset="0"/>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34818" name="标题 1"/>
          <p:cNvSpPr>
            <a:spLocks noGrp="1"/>
          </p:cNvSpPr>
          <p:nvPr>
            <p:ph type="title"/>
          </p:nvPr>
        </p:nvSpPr>
        <p:spPr/>
        <p:txBody>
          <a:bodyPr vert="horz" wrap="square" lIns="91440" tIns="45720" rIns="91440" bIns="45720" anchor="ctr" anchorCtr="0"/>
          <a:p>
            <a:r>
              <a:rPr lang="en-US" altLang="zh-CN" b="1" dirty="0"/>
              <a:t>12.7.2 </a:t>
            </a:r>
            <a:r>
              <a:rPr lang="zh-CN" altLang="zh-CN" b="1" dirty="0"/>
              <a:t>编程实现</a:t>
            </a:r>
            <a:r>
              <a:rPr lang="en-US" altLang="zh-CN" b="1" dirty="0"/>
              <a:t>WordCount</a:t>
            </a:r>
            <a:r>
              <a:rPr lang="zh-CN" altLang="zh-CN" b="1" dirty="0"/>
              <a:t>程序</a:t>
            </a:r>
            <a:endParaRPr lang="zh-CN" altLang="en-US" b="1" dirty="0"/>
          </a:p>
        </p:txBody>
      </p:sp>
      <p:sp>
        <p:nvSpPr>
          <p:cNvPr id="34819" name="矩形 3"/>
          <p:cNvSpPr/>
          <p:nvPr/>
        </p:nvSpPr>
        <p:spPr>
          <a:xfrm>
            <a:off x="920750" y="1691005"/>
            <a:ext cx="6858000" cy="3784600"/>
          </a:xfrm>
          <a:prstGeom prst="rect">
            <a:avLst/>
          </a:prstGeom>
          <a:noFill/>
          <a:ln w="9525">
            <a:noFill/>
          </a:ln>
        </p:spPr>
        <p:txBody>
          <a:bodyPr>
            <a:spAutoFit/>
          </a:bodyPr>
          <a:p>
            <a:pPr>
              <a:lnSpc>
                <a:spcPct val="200000"/>
              </a:lnSpc>
            </a:pPr>
            <a:r>
              <a:rPr lang="zh-CN" altLang="zh-CN" sz="2400" dirty="0">
                <a:latin typeface="Arial" panose="020B0604020202020204" pitchFamily="34" charset="0"/>
              </a:rPr>
              <a:t>编写</a:t>
            </a:r>
            <a:r>
              <a:rPr lang="en-US" altLang="zh-CN" sz="2400" dirty="0">
                <a:latin typeface="Arial" panose="020B0604020202020204" pitchFamily="34" charset="0"/>
              </a:rPr>
              <a:t>WordCount</a:t>
            </a:r>
            <a:r>
              <a:rPr lang="zh-CN" altLang="zh-CN" sz="2400" dirty="0">
                <a:latin typeface="Arial" panose="020B0604020202020204" pitchFamily="34" charset="0"/>
              </a:rPr>
              <a:t>程序主要包括以下几个步骤：</a:t>
            </a:r>
            <a:endParaRPr lang="zh-CN" altLang="zh-CN" sz="2400" dirty="0">
              <a:latin typeface="Arial" panose="020B0604020202020204" pitchFamily="34" charset="0"/>
            </a:endParaRPr>
          </a:p>
          <a:p>
            <a:pPr>
              <a:lnSpc>
                <a:spcPct val="200000"/>
              </a:lnSpc>
              <a:buFont typeface="Arial" panose="020B0604020202020204" pitchFamily="34" charset="0"/>
              <a:buChar char="•"/>
            </a:pPr>
            <a:r>
              <a:rPr lang="zh-CN" altLang="zh-CN" sz="2400" dirty="0">
                <a:latin typeface="Arial" panose="020B0604020202020204" pitchFamily="34" charset="0"/>
              </a:rPr>
              <a:t>安装</a:t>
            </a:r>
            <a:r>
              <a:rPr lang="en-US" altLang="zh-CN" sz="2400" dirty="0">
                <a:latin typeface="Arial" panose="020B0604020202020204" pitchFamily="34" charset="0"/>
              </a:rPr>
              <a:t>Maven</a:t>
            </a:r>
            <a:endParaRPr lang="zh-CN" altLang="zh-CN" sz="2400" dirty="0">
              <a:latin typeface="Arial" panose="020B0604020202020204" pitchFamily="34" charset="0"/>
            </a:endParaRPr>
          </a:p>
          <a:p>
            <a:pPr>
              <a:lnSpc>
                <a:spcPct val="200000"/>
              </a:lnSpc>
              <a:buFont typeface="Arial" panose="020B0604020202020204" pitchFamily="34" charset="0"/>
              <a:buChar char="•"/>
            </a:pPr>
            <a:r>
              <a:rPr lang="zh-CN" altLang="zh-CN" sz="2400" dirty="0">
                <a:latin typeface="Arial" panose="020B0604020202020204" pitchFamily="34" charset="0"/>
              </a:rPr>
              <a:t>编写代码</a:t>
            </a:r>
            <a:endParaRPr lang="zh-CN" altLang="zh-CN" sz="2400" dirty="0">
              <a:latin typeface="Arial" panose="020B0604020202020204" pitchFamily="34" charset="0"/>
            </a:endParaRPr>
          </a:p>
          <a:p>
            <a:pPr>
              <a:lnSpc>
                <a:spcPct val="200000"/>
              </a:lnSpc>
              <a:buFont typeface="Arial" panose="020B0604020202020204" pitchFamily="34" charset="0"/>
              <a:buChar char="•"/>
            </a:pPr>
            <a:r>
              <a:rPr lang="zh-CN" altLang="zh-CN" sz="2400" dirty="0">
                <a:latin typeface="Arial" panose="020B0604020202020204" pitchFamily="34" charset="0"/>
              </a:rPr>
              <a:t>使用</a:t>
            </a:r>
            <a:r>
              <a:rPr lang="en-US" altLang="zh-CN" sz="2400" dirty="0">
                <a:latin typeface="Arial" panose="020B0604020202020204" pitchFamily="34" charset="0"/>
              </a:rPr>
              <a:t>Maven</a:t>
            </a:r>
            <a:r>
              <a:rPr lang="zh-CN" altLang="zh-CN" sz="2400" dirty="0">
                <a:latin typeface="Arial" panose="020B0604020202020204" pitchFamily="34" charset="0"/>
              </a:rPr>
              <a:t>打包</a:t>
            </a:r>
            <a:r>
              <a:rPr lang="en-US" altLang="zh-CN" sz="2400" dirty="0">
                <a:latin typeface="Arial" panose="020B0604020202020204" pitchFamily="34" charset="0"/>
              </a:rPr>
              <a:t>Java</a:t>
            </a:r>
            <a:r>
              <a:rPr lang="zh-CN" altLang="zh-CN" sz="2400" dirty="0">
                <a:latin typeface="Arial" panose="020B0604020202020204" pitchFamily="34" charset="0"/>
              </a:rPr>
              <a:t>程序</a:t>
            </a:r>
            <a:endParaRPr lang="zh-CN" altLang="zh-CN" sz="2400" dirty="0">
              <a:latin typeface="Arial" panose="020B0604020202020204" pitchFamily="34" charset="0"/>
            </a:endParaRPr>
          </a:p>
          <a:p>
            <a:pPr>
              <a:lnSpc>
                <a:spcPct val="200000"/>
              </a:lnSpc>
              <a:buFont typeface="Arial" panose="020B0604020202020204" pitchFamily="34" charset="0"/>
              <a:buChar char="•"/>
            </a:pPr>
            <a:r>
              <a:rPr lang="zh-CN" altLang="zh-CN" sz="2400" dirty="0">
                <a:latin typeface="Arial" panose="020B0604020202020204" pitchFamily="34" charset="0"/>
              </a:rPr>
              <a:t>通过</a:t>
            </a:r>
            <a:r>
              <a:rPr lang="en-US" altLang="zh-CN" sz="2400" dirty="0">
                <a:latin typeface="Arial" panose="020B0604020202020204" pitchFamily="34" charset="0"/>
              </a:rPr>
              <a:t>flink run</a:t>
            </a:r>
            <a:r>
              <a:rPr lang="zh-CN" altLang="zh-CN" sz="2400" dirty="0">
                <a:latin typeface="Arial" panose="020B0604020202020204" pitchFamily="34" charset="0"/>
              </a:rPr>
              <a:t>命令运行程序</a:t>
            </a:r>
            <a:endParaRPr lang="zh-CN" altLang="en-US" sz="2400" dirty="0">
              <a:latin typeface="Arial" panose="020B0604020202020204" pitchFamily="34" charset="0"/>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35842" name="标题 1"/>
          <p:cNvSpPr>
            <a:spLocks noGrp="1"/>
          </p:cNvSpPr>
          <p:nvPr>
            <p:ph type="title"/>
          </p:nvPr>
        </p:nvSpPr>
        <p:spPr/>
        <p:txBody>
          <a:bodyPr vert="horz" wrap="square" lIns="91440" tIns="45720" rIns="91440" bIns="45720" anchor="ctr" anchorCtr="0"/>
          <a:p>
            <a:r>
              <a:rPr lang="en-US" altLang="zh-CN" b="1" dirty="0"/>
              <a:t>12.7.2 </a:t>
            </a:r>
            <a:r>
              <a:rPr lang="zh-CN" altLang="zh-CN" b="1" dirty="0"/>
              <a:t>编程实现</a:t>
            </a:r>
            <a:r>
              <a:rPr lang="en-US" altLang="zh-CN" b="1" dirty="0"/>
              <a:t>WordCount</a:t>
            </a:r>
            <a:r>
              <a:rPr lang="zh-CN" altLang="zh-CN" b="1" dirty="0"/>
              <a:t>程序</a:t>
            </a:r>
            <a:endParaRPr lang="zh-CN" altLang="en-US" b="1" dirty="0"/>
          </a:p>
        </p:txBody>
      </p:sp>
      <p:sp>
        <p:nvSpPr>
          <p:cNvPr id="35843" name="矩形 2"/>
          <p:cNvSpPr/>
          <p:nvPr/>
        </p:nvSpPr>
        <p:spPr>
          <a:xfrm>
            <a:off x="1062990" y="1395730"/>
            <a:ext cx="1875155" cy="398780"/>
          </a:xfrm>
          <a:prstGeom prst="rect">
            <a:avLst/>
          </a:prstGeom>
          <a:noFill/>
          <a:ln w="9525">
            <a:noFill/>
          </a:ln>
        </p:spPr>
        <p:txBody>
          <a:bodyPr wrap="none">
            <a:spAutoFit/>
          </a:bodyPr>
          <a:p>
            <a:r>
              <a:rPr lang="en-US" altLang="zh-CN" sz="2000" b="1" dirty="0">
                <a:latin typeface="Arial" panose="020B0604020202020204" pitchFamily="34" charset="0"/>
              </a:rPr>
              <a:t>1</a:t>
            </a:r>
            <a:r>
              <a:rPr lang="zh-CN" altLang="en-US" sz="2000" b="1" dirty="0">
                <a:latin typeface="Arial" panose="020B0604020202020204" pitchFamily="34" charset="0"/>
              </a:rPr>
              <a:t>、</a:t>
            </a:r>
            <a:r>
              <a:rPr lang="zh-CN" altLang="zh-CN" sz="2000" b="1" dirty="0">
                <a:latin typeface="Arial" panose="020B0604020202020204" pitchFamily="34" charset="0"/>
              </a:rPr>
              <a:t>安装</a:t>
            </a:r>
            <a:r>
              <a:rPr lang="en-US" altLang="zh-CN" sz="2000" b="1" dirty="0">
                <a:latin typeface="Arial" panose="020B0604020202020204" pitchFamily="34" charset="0"/>
              </a:rPr>
              <a:t>Maven</a:t>
            </a:r>
            <a:endParaRPr lang="en-US" altLang="zh-CN" sz="2000" b="1" dirty="0">
              <a:latin typeface="Arial" panose="020B0604020202020204" pitchFamily="34" charset="0"/>
            </a:endParaRPr>
          </a:p>
        </p:txBody>
      </p:sp>
      <p:sp>
        <p:nvSpPr>
          <p:cNvPr id="35844" name="矩形 3"/>
          <p:cNvSpPr/>
          <p:nvPr/>
        </p:nvSpPr>
        <p:spPr>
          <a:xfrm>
            <a:off x="1139190" y="1852930"/>
            <a:ext cx="9776460" cy="1014730"/>
          </a:xfrm>
          <a:prstGeom prst="rect">
            <a:avLst/>
          </a:prstGeom>
          <a:noFill/>
          <a:ln w="9525">
            <a:noFill/>
          </a:ln>
        </p:spPr>
        <p:txBody>
          <a:bodyPr wrap="square">
            <a:spAutoFit/>
          </a:bodyPr>
          <a:p>
            <a:r>
              <a:rPr lang="en-US" altLang="zh-CN" sz="2000" dirty="0">
                <a:latin typeface="Arial" panose="020B0604020202020204" pitchFamily="34" charset="0"/>
              </a:rPr>
              <a:t>Ubuntu</a:t>
            </a:r>
            <a:r>
              <a:rPr lang="zh-CN" altLang="zh-CN" sz="2000" dirty="0">
                <a:latin typeface="Arial" panose="020B0604020202020204" pitchFamily="34" charset="0"/>
              </a:rPr>
              <a:t>中没有自带安装</a:t>
            </a:r>
            <a:r>
              <a:rPr lang="en-US" altLang="zh-CN" sz="2000" dirty="0">
                <a:latin typeface="Arial" panose="020B0604020202020204" pitchFamily="34" charset="0"/>
              </a:rPr>
              <a:t>Maven</a:t>
            </a:r>
            <a:r>
              <a:rPr lang="zh-CN" altLang="zh-CN" sz="2000" dirty="0">
                <a:latin typeface="Arial" panose="020B0604020202020204" pitchFamily="34" charset="0"/>
              </a:rPr>
              <a:t>，需要手动安装</a:t>
            </a:r>
            <a:r>
              <a:rPr lang="en-US" altLang="zh-CN" sz="2000" dirty="0">
                <a:latin typeface="Arial" panose="020B0604020202020204" pitchFamily="34" charset="0"/>
              </a:rPr>
              <a:t>Maven</a:t>
            </a:r>
            <a:r>
              <a:rPr lang="zh-CN" altLang="zh-CN" sz="2000" dirty="0">
                <a:latin typeface="Arial" panose="020B0604020202020204" pitchFamily="34" charset="0"/>
              </a:rPr>
              <a:t>。</a:t>
            </a:r>
            <a:endParaRPr lang="zh-CN" altLang="zh-CN" sz="2000" dirty="0">
              <a:latin typeface="Arial" panose="020B0604020202020204" pitchFamily="34" charset="0"/>
            </a:endParaRPr>
          </a:p>
          <a:p>
            <a:r>
              <a:rPr lang="zh-CN" altLang="zh-CN" sz="2000" dirty="0">
                <a:latin typeface="Arial" panose="020B0604020202020204" pitchFamily="34" charset="0"/>
              </a:rPr>
              <a:t>可以访问</a:t>
            </a:r>
            <a:r>
              <a:rPr lang="en-US" altLang="zh-CN" sz="2000" dirty="0">
                <a:latin typeface="Arial" panose="020B0604020202020204" pitchFamily="34" charset="0"/>
              </a:rPr>
              <a:t>Maven</a:t>
            </a:r>
            <a:r>
              <a:rPr lang="zh-CN" altLang="zh-CN" sz="2000" dirty="0">
                <a:latin typeface="Arial" panose="020B0604020202020204" pitchFamily="34" charset="0"/>
              </a:rPr>
              <a:t>官网下载安装文件，下载地址如下：</a:t>
            </a:r>
            <a:endParaRPr lang="en-US" altLang="zh-CN" sz="2000" dirty="0">
              <a:latin typeface="Arial" panose="020B0604020202020204" pitchFamily="34" charset="0"/>
            </a:endParaRPr>
          </a:p>
          <a:p>
            <a:r>
              <a:rPr lang="en-US" altLang="zh-CN" sz="2000" dirty="0">
                <a:latin typeface="Arial" panose="020B0604020202020204" pitchFamily="34" charset="0"/>
              </a:rPr>
              <a:t>http://apache.fayea.com/maven/maven-3/3.3.9/binaries/apache-maven-3.3.9-bin.zip</a:t>
            </a:r>
            <a:endParaRPr lang="en-US" altLang="zh-CN" sz="2000" dirty="0">
              <a:latin typeface="Arial" panose="020B0604020202020204" pitchFamily="34" charset="0"/>
            </a:endParaRPr>
          </a:p>
        </p:txBody>
      </p:sp>
      <p:sp>
        <p:nvSpPr>
          <p:cNvPr id="35845" name="矩形 4"/>
          <p:cNvSpPr/>
          <p:nvPr/>
        </p:nvSpPr>
        <p:spPr>
          <a:xfrm>
            <a:off x="1139190" y="3239135"/>
            <a:ext cx="7162800" cy="706755"/>
          </a:xfrm>
          <a:prstGeom prst="rect">
            <a:avLst/>
          </a:prstGeom>
          <a:noFill/>
          <a:ln w="9525">
            <a:noFill/>
          </a:ln>
        </p:spPr>
        <p:txBody>
          <a:bodyPr>
            <a:spAutoFit/>
          </a:bodyPr>
          <a:p>
            <a:r>
              <a:rPr lang="zh-CN" altLang="zh-CN" sz="2000" dirty="0">
                <a:latin typeface="Arial" panose="020B0604020202020204" pitchFamily="34" charset="0"/>
              </a:rPr>
              <a:t>下载到</a:t>
            </a:r>
            <a:r>
              <a:rPr lang="en-US" altLang="zh-CN" sz="2000" dirty="0">
                <a:latin typeface="Arial" panose="020B0604020202020204" pitchFamily="34" charset="0"/>
              </a:rPr>
              <a:t>Maven</a:t>
            </a:r>
            <a:r>
              <a:rPr lang="zh-CN" altLang="zh-CN" sz="2000" dirty="0">
                <a:latin typeface="Arial" panose="020B0604020202020204" pitchFamily="34" charset="0"/>
              </a:rPr>
              <a:t>安装文件以后，保存到“</a:t>
            </a:r>
            <a:r>
              <a:rPr lang="en-US" altLang="zh-CN" sz="2000" dirty="0">
                <a:latin typeface="Arial" panose="020B0604020202020204" pitchFamily="34" charset="0"/>
              </a:rPr>
              <a:t>~/Downloads</a:t>
            </a:r>
            <a:r>
              <a:rPr lang="zh-CN" altLang="zh-CN" sz="2000" dirty="0">
                <a:latin typeface="Arial" panose="020B0604020202020204" pitchFamily="34" charset="0"/>
              </a:rPr>
              <a:t>”目录下。然后，可以选择安装在“</a:t>
            </a:r>
            <a:r>
              <a:rPr lang="en-US" altLang="zh-CN" sz="2000" dirty="0">
                <a:latin typeface="Arial" panose="020B0604020202020204" pitchFamily="34" charset="0"/>
              </a:rPr>
              <a:t>/usr/local/maven</a:t>
            </a:r>
            <a:r>
              <a:rPr lang="zh-CN" altLang="zh-CN" sz="2000" dirty="0">
                <a:latin typeface="Arial" panose="020B0604020202020204" pitchFamily="34" charset="0"/>
              </a:rPr>
              <a:t>”目录中，命令如下：</a:t>
            </a:r>
            <a:endParaRPr lang="zh-CN" altLang="zh-CN" sz="2000" dirty="0">
              <a:latin typeface="Arial" panose="020B0604020202020204" pitchFamily="34" charset="0"/>
            </a:endParaRPr>
          </a:p>
        </p:txBody>
      </p:sp>
      <p:sp>
        <p:nvSpPr>
          <p:cNvPr id="35846" name="TextBox 6"/>
          <p:cNvSpPr txBox="1"/>
          <p:nvPr/>
        </p:nvSpPr>
        <p:spPr>
          <a:xfrm>
            <a:off x="1139190" y="4251325"/>
            <a:ext cx="7762240" cy="1322070"/>
          </a:xfrm>
          <a:prstGeom prst="rect">
            <a:avLst/>
          </a:prstGeom>
          <a:solidFill>
            <a:schemeClr val="tx1"/>
          </a:solidFill>
          <a:ln w="9525">
            <a:noFill/>
          </a:ln>
        </p:spPr>
        <p:txBody>
          <a:bodyPr wrap="none">
            <a:spAutoFit/>
          </a:bodyPr>
          <a:p>
            <a:r>
              <a:rPr lang="en-US" altLang="zh-CN" sz="2000" dirty="0">
                <a:solidFill>
                  <a:schemeClr val="bg1"/>
                </a:solidFill>
                <a:latin typeface="Arial" panose="020B0604020202020204" pitchFamily="34" charset="0"/>
              </a:rPr>
              <a:t>$ sudo unzip ~/Downloads/apache-maven-3.3.9-bin.zip -d /usr/local</a:t>
            </a:r>
            <a:endParaRPr lang="zh-CN" altLang="zh-CN" sz="2000" dirty="0">
              <a:solidFill>
                <a:schemeClr val="bg1"/>
              </a:solidFill>
              <a:latin typeface="Arial" panose="020B0604020202020204" pitchFamily="34" charset="0"/>
            </a:endParaRPr>
          </a:p>
          <a:p>
            <a:r>
              <a:rPr lang="en-US" altLang="zh-CN" sz="2000" dirty="0">
                <a:solidFill>
                  <a:schemeClr val="bg1"/>
                </a:solidFill>
                <a:latin typeface="Arial" panose="020B0604020202020204" pitchFamily="34" charset="0"/>
              </a:rPr>
              <a:t>$ cd /usr/local</a:t>
            </a:r>
            <a:endParaRPr lang="zh-CN" altLang="zh-CN" sz="2000" dirty="0">
              <a:solidFill>
                <a:schemeClr val="bg1"/>
              </a:solidFill>
              <a:latin typeface="Arial" panose="020B0604020202020204" pitchFamily="34" charset="0"/>
            </a:endParaRPr>
          </a:p>
          <a:p>
            <a:r>
              <a:rPr lang="en-US" altLang="zh-CN" sz="2000" dirty="0">
                <a:solidFill>
                  <a:schemeClr val="bg1"/>
                </a:solidFill>
                <a:latin typeface="Arial" panose="020B0604020202020204" pitchFamily="34" charset="0"/>
              </a:rPr>
              <a:t>$ sudo mv apache-maven-3.3.9/ ./maven</a:t>
            </a:r>
            <a:endParaRPr lang="zh-CN" altLang="zh-CN" sz="2000" dirty="0">
              <a:solidFill>
                <a:schemeClr val="bg1"/>
              </a:solidFill>
              <a:latin typeface="Arial" panose="020B0604020202020204" pitchFamily="34" charset="0"/>
            </a:endParaRPr>
          </a:p>
          <a:p>
            <a:r>
              <a:rPr lang="en-US" altLang="zh-CN" sz="2000" dirty="0">
                <a:solidFill>
                  <a:schemeClr val="bg1"/>
                </a:solidFill>
                <a:latin typeface="Arial" panose="020B0604020202020204" pitchFamily="34" charset="0"/>
              </a:rPr>
              <a:t>$ sudo chown -R hadoop ./maven</a:t>
            </a:r>
            <a:endParaRPr lang="en-US" altLang="zh-CN" sz="2000" dirty="0">
              <a:solidFill>
                <a:schemeClr val="bg1"/>
              </a:solidFill>
              <a:latin typeface="Arial" panose="020B0604020202020204" pitchFamily="34" charset="0"/>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36866" name="标题 1"/>
          <p:cNvSpPr>
            <a:spLocks noGrp="1"/>
          </p:cNvSpPr>
          <p:nvPr>
            <p:ph type="title"/>
          </p:nvPr>
        </p:nvSpPr>
        <p:spPr/>
        <p:txBody>
          <a:bodyPr vert="horz" wrap="square" lIns="91440" tIns="45720" rIns="91440" bIns="45720" anchor="ctr" anchorCtr="0"/>
          <a:p>
            <a:r>
              <a:rPr lang="en-US" altLang="zh-CN" b="1" dirty="0"/>
              <a:t>12.7.2 </a:t>
            </a:r>
            <a:r>
              <a:rPr lang="zh-CN" altLang="zh-CN" b="1" dirty="0"/>
              <a:t>编程实现</a:t>
            </a:r>
            <a:r>
              <a:rPr lang="en-US" altLang="zh-CN" b="1" dirty="0"/>
              <a:t>WordCount</a:t>
            </a:r>
            <a:r>
              <a:rPr lang="zh-CN" altLang="zh-CN" b="1" dirty="0"/>
              <a:t>程序</a:t>
            </a:r>
            <a:endParaRPr lang="zh-CN" altLang="en-US" b="1" dirty="0"/>
          </a:p>
        </p:txBody>
      </p:sp>
      <p:sp>
        <p:nvSpPr>
          <p:cNvPr id="36867" name="矩形 2"/>
          <p:cNvSpPr/>
          <p:nvPr/>
        </p:nvSpPr>
        <p:spPr>
          <a:xfrm>
            <a:off x="1026160" y="1513205"/>
            <a:ext cx="1740535" cy="460375"/>
          </a:xfrm>
          <a:prstGeom prst="rect">
            <a:avLst/>
          </a:prstGeom>
          <a:noFill/>
          <a:ln w="9525">
            <a:noFill/>
          </a:ln>
        </p:spPr>
        <p:txBody>
          <a:bodyPr wrap="none">
            <a:spAutoFit/>
          </a:bodyPr>
          <a:p>
            <a:r>
              <a:rPr lang="en-US" altLang="zh-CN" sz="2400" b="1" dirty="0">
                <a:latin typeface="Arial" panose="020B0604020202020204" pitchFamily="34" charset="0"/>
              </a:rPr>
              <a:t>2. </a:t>
            </a:r>
            <a:r>
              <a:rPr lang="zh-CN" altLang="zh-CN" sz="2400" b="1" dirty="0">
                <a:latin typeface="Arial" panose="020B0604020202020204" pitchFamily="34" charset="0"/>
              </a:rPr>
              <a:t>编写代码</a:t>
            </a:r>
            <a:endParaRPr lang="zh-CN" altLang="zh-CN" sz="2400" b="1" dirty="0">
              <a:latin typeface="Arial" panose="020B0604020202020204" pitchFamily="34" charset="0"/>
            </a:endParaRPr>
          </a:p>
        </p:txBody>
      </p:sp>
      <p:sp>
        <p:nvSpPr>
          <p:cNvPr id="36868" name="矩形 3"/>
          <p:cNvSpPr/>
          <p:nvPr/>
        </p:nvSpPr>
        <p:spPr>
          <a:xfrm>
            <a:off x="1026160" y="1938020"/>
            <a:ext cx="10328275" cy="829945"/>
          </a:xfrm>
          <a:prstGeom prst="rect">
            <a:avLst/>
          </a:prstGeom>
          <a:noFill/>
          <a:ln w="9525">
            <a:noFill/>
          </a:ln>
        </p:spPr>
        <p:txBody>
          <a:bodyPr wrap="square">
            <a:spAutoFit/>
          </a:bodyPr>
          <a:p>
            <a:r>
              <a:rPr lang="zh-CN" altLang="zh-CN" sz="2400" dirty="0">
                <a:latin typeface="Arial" panose="020B0604020202020204" pitchFamily="34" charset="0"/>
              </a:rPr>
              <a:t>在</a:t>
            </a:r>
            <a:r>
              <a:rPr lang="en-US" altLang="zh-CN" sz="2400" dirty="0">
                <a:latin typeface="Arial" panose="020B0604020202020204" pitchFamily="34" charset="0"/>
              </a:rPr>
              <a:t>Linux</a:t>
            </a:r>
            <a:r>
              <a:rPr lang="zh-CN" altLang="zh-CN" sz="2400" dirty="0">
                <a:latin typeface="Arial" panose="020B0604020202020204" pitchFamily="34" charset="0"/>
              </a:rPr>
              <a:t>终端中执行如下命令，在用户主文件夹下创建一个文件夹</a:t>
            </a:r>
            <a:r>
              <a:rPr lang="en-US" altLang="zh-CN" sz="2400" dirty="0">
                <a:latin typeface="Arial" panose="020B0604020202020204" pitchFamily="34" charset="0"/>
              </a:rPr>
              <a:t>flinkapp</a:t>
            </a:r>
            <a:r>
              <a:rPr lang="zh-CN" altLang="zh-CN" sz="2400" dirty="0">
                <a:latin typeface="Arial" panose="020B0604020202020204" pitchFamily="34" charset="0"/>
              </a:rPr>
              <a:t>作为应用程序根目录：</a:t>
            </a:r>
            <a:endParaRPr lang="zh-CN" altLang="zh-CN" sz="2400" dirty="0">
              <a:latin typeface="Arial" panose="020B0604020202020204" pitchFamily="34" charset="0"/>
            </a:endParaRPr>
          </a:p>
        </p:txBody>
      </p:sp>
      <p:sp>
        <p:nvSpPr>
          <p:cNvPr id="36869" name="TextBox 4"/>
          <p:cNvSpPr txBox="1"/>
          <p:nvPr/>
        </p:nvSpPr>
        <p:spPr>
          <a:xfrm>
            <a:off x="1102360" y="3014345"/>
            <a:ext cx="5334000" cy="829945"/>
          </a:xfrm>
          <a:prstGeom prst="rect">
            <a:avLst/>
          </a:prstGeom>
          <a:solidFill>
            <a:schemeClr val="tx1"/>
          </a:solidFill>
          <a:ln w="9525">
            <a:noFill/>
          </a:ln>
        </p:spPr>
        <p:txBody>
          <a:bodyPr>
            <a:spAutoFit/>
          </a:bodyPr>
          <a:p>
            <a:r>
              <a:rPr lang="en-US" altLang="zh-CN" sz="2400" dirty="0">
                <a:solidFill>
                  <a:schemeClr val="bg1"/>
                </a:solidFill>
                <a:latin typeface="Arial" panose="020B0604020202020204" pitchFamily="34" charset="0"/>
              </a:rPr>
              <a:t>$ cd ~ #</a:t>
            </a:r>
            <a:r>
              <a:rPr lang="zh-CN" altLang="en-US" sz="2400" dirty="0">
                <a:solidFill>
                  <a:schemeClr val="bg1"/>
                </a:solidFill>
                <a:latin typeface="Arial" panose="020B0604020202020204" pitchFamily="34" charset="0"/>
              </a:rPr>
              <a:t>进入用户主文件夹</a:t>
            </a:r>
            <a:endParaRPr lang="zh-CN" altLang="en-US" sz="2400" dirty="0">
              <a:solidFill>
                <a:schemeClr val="bg1"/>
              </a:solidFill>
              <a:latin typeface="Arial" panose="020B0604020202020204" pitchFamily="34" charset="0"/>
            </a:endParaRPr>
          </a:p>
          <a:p>
            <a:r>
              <a:rPr lang="en-US" altLang="zh-CN" sz="2400" dirty="0">
                <a:solidFill>
                  <a:schemeClr val="bg1"/>
                </a:solidFill>
                <a:latin typeface="Arial" panose="020B0604020202020204" pitchFamily="34" charset="0"/>
              </a:rPr>
              <a:t>$ mkdir -p ./flinkapp/src/main/java</a:t>
            </a:r>
            <a:endParaRPr lang="en-US" altLang="zh-CN" sz="2400" dirty="0">
              <a:solidFill>
                <a:schemeClr val="bg1"/>
              </a:solidFill>
              <a:latin typeface="Arial" panose="020B0604020202020204" pitchFamily="34" charset="0"/>
            </a:endParaRPr>
          </a:p>
        </p:txBody>
      </p:sp>
      <p:sp>
        <p:nvSpPr>
          <p:cNvPr id="36870" name="TextBox 5"/>
          <p:cNvSpPr txBox="1"/>
          <p:nvPr/>
        </p:nvSpPr>
        <p:spPr>
          <a:xfrm>
            <a:off x="1102360" y="4210685"/>
            <a:ext cx="10251440" cy="829945"/>
          </a:xfrm>
          <a:prstGeom prst="rect">
            <a:avLst/>
          </a:prstGeom>
          <a:noFill/>
          <a:ln w="9525">
            <a:noFill/>
          </a:ln>
        </p:spPr>
        <p:txBody>
          <a:bodyPr wrap="square">
            <a:spAutoFit/>
          </a:bodyPr>
          <a:p>
            <a:r>
              <a:rPr lang="zh-CN" altLang="zh-CN" sz="2400" dirty="0">
                <a:latin typeface="Arial" panose="020B0604020202020204" pitchFamily="34" charset="0"/>
              </a:rPr>
              <a:t>然后，使用</a:t>
            </a:r>
            <a:r>
              <a:rPr lang="en-US" altLang="zh-CN" sz="2400" dirty="0">
                <a:latin typeface="Arial" panose="020B0604020202020204" pitchFamily="34" charset="0"/>
              </a:rPr>
              <a:t>vim</a:t>
            </a:r>
            <a:r>
              <a:rPr lang="zh-CN" altLang="zh-CN" sz="2400" dirty="0">
                <a:latin typeface="Arial" panose="020B0604020202020204" pitchFamily="34" charset="0"/>
              </a:rPr>
              <a:t>编辑器在“</a:t>
            </a:r>
            <a:r>
              <a:rPr lang="en-US" altLang="zh-CN" sz="2400" dirty="0">
                <a:latin typeface="Arial" panose="020B0604020202020204" pitchFamily="34" charset="0"/>
              </a:rPr>
              <a:t>./flinkapp/src/main/java</a:t>
            </a:r>
            <a:r>
              <a:rPr lang="zh-CN" altLang="zh-CN" sz="2400" dirty="0">
                <a:latin typeface="Arial" panose="020B0604020202020204" pitchFamily="34" charset="0"/>
              </a:rPr>
              <a:t>”目录下建立三个代码文件，</a:t>
            </a:r>
            <a:endParaRPr lang="zh-CN" altLang="zh-CN" sz="2400" dirty="0">
              <a:latin typeface="Arial" panose="020B0604020202020204" pitchFamily="34" charset="0"/>
            </a:endParaRPr>
          </a:p>
          <a:p>
            <a:r>
              <a:rPr lang="zh-CN" altLang="zh-CN" sz="2400" dirty="0">
                <a:latin typeface="Arial" panose="020B0604020202020204" pitchFamily="34" charset="0"/>
              </a:rPr>
              <a:t>即</a:t>
            </a:r>
            <a:r>
              <a:rPr lang="en-US" altLang="zh-CN" sz="2400" dirty="0">
                <a:latin typeface="Arial" panose="020B0604020202020204" pitchFamily="34" charset="0"/>
              </a:rPr>
              <a:t>WordCountData.java</a:t>
            </a:r>
            <a:r>
              <a:rPr lang="zh-CN" altLang="zh-CN" sz="2400" dirty="0">
                <a:latin typeface="Arial" panose="020B0604020202020204" pitchFamily="34" charset="0"/>
              </a:rPr>
              <a:t>、</a:t>
            </a:r>
            <a:r>
              <a:rPr lang="en-US" altLang="zh-CN" sz="2400" dirty="0">
                <a:latin typeface="Arial" panose="020B0604020202020204" pitchFamily="34" charset="0"/>
              </a:rPr>
              <a:t>WordCountTokenizer.java</a:t>
            </a:r>
            <a:r>
              <a:rPr lang="zh-CN" altLang="zh-CN" sz="2400" dirty="0">
                <a:latin typeface="Arial" panose="020B0604020202020204" pitchFamily="34" charset="0"/>
              </a:rPr>
              <a:t>和</a:t>
            </a:r>
            <a:r>
              <a:rPr lang="en-US" altLang="zh-CN" sz="2400" dirty="0">
                <a:latin typeface="Arial" panose="020B0604020202020204" pitchFamily="34" charset="0"/>
              </a:rPr>
              <a:t>WordCount.java</a:t>
            </a:r>
            <a:r>
              <a:rPr lang="zh-CN" altLang="zh-CN" sz="2400" dirty="0">
                <a:latin typeface="Arial" panose="020B0604020202020204" pitchFamily="34" charset="0"/>
              </a:rPr>
              <a:t>。</a:t>
            </a:r>
            <a:endParaRPr lang="zh-CN" altLang="zh-CN" sz="2400" dirty="0">
              <a:latin typeface="Arial" panose="020B0604020202020204" pitchFamily="34" charset="0"/>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37890" name="标题 1"/>
          <p:cNvSpPr>
            <a:spLocks noGrp="1"/>
          </p:cNvSpPr>
          <p:nvPr>
            <p:ph type="title"/>
          </p:nvPr>
        </p:nvSpPr>
        <p:spPr/>
        <p:txBody>
          <a:bodyPr vert="horz" wrap="square" lIns="91440" tIns="45720" rIns="91440" bIns="45720" anchor="ctr" anchorCtr="0"/>
          <a:p>
            <a:r>
              <a:rPr lang="en-US" altLang="zh-CN" b="1" dirty="0"/>
              <a:t>12.7.2 </a:t>
            </a:r>
            <a:r>
              <a:rPr lang="zh-CN" altLang="zh-CN" b="1" dirty="0"/>
              <a:t>编程实现</a:t>
            </a:r>
            <a:r>
              <a:rPr lang="en-US" altLang="zh-CN" b="1" dirty="0"/>
              <a:t>WordCount</a:t>
            </a:r>
            <a:r>
              <a:rPr lang="zh-CN" altLang="zh-CN" b="1" dirty="0"/>
              <a:t>程序</a:t>
            </a:r>
            <a:endParaRPr lang="zh-CN" altLang="en-US" b="1" dirty="0"/>
          </a:p>
        </p:txBody>
      </p:sp>
      <p:sp>
        <p:nvSpPr>
          <p:cNvPr id="37891" name="矩形 2"/>
          <p:cNvSpPr/>
          <p:nvPr/>
        </p:nvSpPr>
        <p:spPr>
          <a:xfrm>
            <a:off x="2362200" y="1437005"/>
            <a:ext cx="7467600" cy="398780"/>
          </a:xfrm>
          <a:prstGeom prst="rect">
            <a:avLst/>
          </a:prstGeom>
          <a:noFill/>
          <a:ln w="9525">
            <a:noFill/>
          </a:ln>
        </p:spPr>
        <p:txBody>
          <a:bodyPr>
            <a:spAutoFit/>
          </a:bodyPr>
          <a:p>
            <a:r>
              <a:rPr lang="en-US" altLang="zh-CN" sz="2000" dirty="0">
                <a:latin typeface="Arial" panose="020B0604020202020204" pitchFamily="34" charset="0"/>
              </a:rPr>
              <a:t>WordCountData.java</a:t>
            </a:r>
            <a:r>
              <a:rPr lang="zh-CN" altLang="zh-CN" sz="2000" dirty="0">
                <a:latin typeface="Arial" panose="020B0604020202020204" pitchFamily="34" charset="0"/>
              </a:rPr>
              <a:t>用于提供原始数据，其内容如下：</a:t>
            </a:r>
            <a:endParaRPr lang="zh-CN" altLang="zh-CN" sz="2000" dirty="0">
              <a:latin typeface="Arial" panose="020B0604020202020204" pitchFamily="34" charset="0"/>
            </a:endParaRPr>
          </a:p>
        </p:txBody>
      </p:sp>
      <p:graphicFrame>
        <p:nvGraphicFramePr>
          <p:cNvPr id="4" name="表格 3"/>
          <p:cNvGraphicFramePr>
            <a:graphicFrameLocks noGrp="1"/>
          </p:cNvGraphicFramePr>
          <p:nvPr/>
        </p:nvGraphicFramePr>
        <p:xfrm>
          <a:off x="2438400" y="1894205"/>
          <a:ext cx="7010400" cy="4754880"/>
        </p:xfrm>
        <a:graphic>
          <a:graphicData uri="http://schemas.openxmlformats.org/drawingml/2006/table">
            <a:tbl>
              <a:tblPr/>
              <a:tblGrid>
                <a:gridCol w="7010400"/>
              </a:tblGrid>
              <a:tr h="4064000">
                <a:tc>
                  <a:txBody>
                    <a:bodyPr/>
                    <a:lstStyle/>
                    <a:p>
                      <a:pPr algn="just">
                        <a:spcAft>
                          <a:spcPts val="0"/>
                        </a:spcAft>
                      </a:pPr>
                      <a:r>
                        <a:rPr lang="en-US" sz="1200" kern="100" dirty="0">
                          <a:latin typeface="Calibri" panose="020F0502020204030204"/>
                          <a:ea typeface="宋体" panose="02010600030101010101" pitchFamily="2" charset="-122"/>
                          <a:cs typeface="Times New Roman" panose="02020603050405020304"/>
                        </a:rPr>
                        <a:t>package </a:t>
                      </a:r>
                      <a:r>
                        <a:rPr lang="en-US" sz="1200" kern="100" dirty="0" err="1">
                          <a:latin typeface="Calibri" panose="020F0502020204030204"/>
                          <a:ea typeface="宋体" panose="02010600030101010101" pitchFamily="2" charset="-122"/>
                          <a:cs typeface="Times New Roman" panose="02020603050405020304"/>
                        </a:rPr>
                        <a:t>cn.edu.xmu</a:t>
                      </a:r>
                      <a:r>
                        <a:rPr lang="en-US" sz="1200" kern="100" dirty="0">
                          <a:latin typeface="Calibri" panose="020F0502020204030204"/>
                          <a:ea typeface="宋体" panose="02010600030101010101" pitchFamily="2" charset="-122"/>
                          <a:cs typeface="Times New Roman" panose="02020603050405020304"/>
                        </a:rPr>
                        <a:t>;</a:t>
                      </a:r>
                      <a:endParaRPr lang="zh-CN" sz="1200" kern="100" dirty="0">
                        <a:latin typeface="Calibri" panose="020F0502020204030204"/>
                        <a:ea typeface="宋体" panose="02010600030101010101" pitchFamily="2" charset="-122"/>
                        <a:cs typeface="Times New Roman" panose="02020603050405020304"/>
                      </a:endParaRPr>
                    </a:p>
                    <a:p>
                      <a:pPr algn="just">
                        <a:spcAft>
                          <a:spcPts val="0"/>
                        </a:spcAft>
                      </a:pPr>
                      <a:r>
                        <a:rPr lang="en-US" sz="1200" kern="100" dirty="0">
                          <a:latin typeface="Calibri" panose="020F0502020204030204"/>
                          <a:ea typeface="宋体" panose="02010600030101010101" pitchFamily="2" charset="-122"/>
                          <a:cs typeface="Times New Roman" panose="02020603050405020304"/>
                        </a:rPr>
                        <a:t>import </a:t>
                      </a:r>
                      <a:r>
                        <a:rPr lang="en-US" sz="1200" kern="100" dirty="0" err="1">
                          <a:latin typeface="Calibri" panose="020F0502020204030204"/>
                          <a:ea typeface="宋体" panose="02010600030101010101" pitchFamily="2" charset="-122"/>
                          <a:cs typeface="Times New Roman" panose="02020603050405020304"/>
                        </a:rPr>
                        <a:t>org.apache.flink.api.java.DataSet</a:t>
                      </a:r>
                      <a:r>
                        <a:rPr lang="en-US" sz="1200" kern="100" dirty="0">
                          <a:latin typeface="Calibri" panose="020F0502020204030204"/>
                          <a:ea typeface="宋体" panose="02010600030101010101" pitchFamily="2" charset="-122"/>
                          <a:cs typeface="Times New Roman" panose="02020603050405020304"/>
                        </a:rPr>
                        <a:t>;</a:t>
                      </a:r>
                      <a:endParaRPr lang="zh-CN" sz="1200" kern="100" dirty="0">
                        <a:latin typeface="Calibri" panose="020F0502020204030204"/>
                        <a:ea typeface="宋体" panose="02010600030101010101" pitchFamily="2" charset="-122"/>
                        <a:cs typeface="Times New Roman" panose="02020603050405020304"/>
                      </a:endParaRPr>
                    </a:p>
                    <a:p>
                      <a:pPr algn="just">
                        <a:spcAft>
                          <a:spcPts val="0"/>
                        </a:spcAft>
                      </a:pPr>
                      <a:r>
                        <a:rPr lang="en-US" sz="1200" kern="100" dirty="0">
                          <a:latin typeface="Calibri" panose="020F0502020204030204"/>
                          <a:ea typeface="宋体" panose="02010600030101010101" pitchFamily="2" charset="-122"/>
                          <a:cs typeface="Times New Roman" panose="02020603050405020304"/>
                        </a:rPr>
                        <a:t>import </a:t>
                      </a:r>
                      <a:r>
                        <a:rPr lang="en-US" sz="1200" kern="100" dirty="0" err="1">
                          <a:latin typeface="Calibri" panose="020F0502020204030204"/>
                          <a:ea typeface="宋体" panose="02010600030101010101" pitchFamily="2" charset="-122"/>
                          <a:cs typeface="Times New Roman" panose="02020603050405020304"/>
                        </a:rPr>
                        <a:t>org.apache.flink.api.java.ExecutionEnvironment</a:t>
                      </a:r>
                      <a:r>
                        <a:rPr lang="en-US" sz="1200" kern="100" dirty="0">
                          <a:latin typeface="Calibri" panose="020F0502020204030204"/>
                          <a:ea typeface="宋体" panose="02010600030101010101" pitchFamily="2" charset="-122"/>
                          <a:cs typeface="Times New Roman" panose="02020603050405020304"/>
                        </a:rPr>
                        <a:t>;</a:t>
                      </a:r>
                      <a:endParaRPr lang="zh-CN" sz="1200" kern="100" dirty="0">
                        <a:latin typeface="Calibri" panose="020F0502020204030204"/>
                        <a:ea typeface="宋体" panose="02010600030101010101" pitchFamily="2" charset="-122"/>
                        <a:cs typeface="Times New Roman" panose="02020603050405020304"/>
                      </a:endParaRPr>
                    </a:p>
                    <a:p>
                      <a:pPr algn="just">
                        <a:spcAft>
                          <a:spcPts val="0"/>
                        </a:spcAft>
                      </a:pPr>
                      <a:r>
                        <a:rPr lang="en-US" sz="1200" kern="100" dirty="0">
                          <a:latin typeface="Calibri" panose="020F0502020204030204"/>
                          <a:ea typeface="宋体" panose="02010600030101010101" pitchFamily="2" charset="-122"/>
                          <a:cs typeface="Times New Roman" panose="02020603050405020304"/>
                        </a:rPr>
                        <a:t>public class </a:t>
                      </a:r>
                      <a:r>
                        <a:rPr lang="en-US" sz="1200" kern="100" dirty="0" err="1">
                          <a:latin typeface="Calibri" panose="020F0502020204030204"/>
                          <a:ea typeface="宋体" panose="02010600030101010101" pitchFamily="2" charset="-122"/>
                          <a:cs typeface="Times New Roman" panose="02020603050405020304"/>
                        </a:rPr>
                        <a:t>WordCountData</a:t>
                      </a:r>
                      <a:r>
                        <a:rPr lang="en-US" sz="1200" kern="100" dirty="0">
                          <a:latin typeface="Calibri" panose="020F0502020204030204"/>
                          <a:ea typeface="宋体" panose="02010600030101010101" pitchFamily="2" charset="-122"/>
                          <a:cs typeface="Times New Roman" panose="02020603050405020304"/>
                        </a:rPr>
                        <a:t> {</a:t>
                      </a:r>
                      <a:endParaRPr lang="zh-CN" sz="1200" kern="100" dirty="0">
                        <a:latin typeface="Calibri" panose="020F0502020204030204"/>
                        <a:ea typeface="宋体" panose="02010600030101010101" pitchFamily="2" charset="-122"/>
                        <a:cs typeface="Times New Roman" panose="02020603050405020304"/>
                      </a:endParaRPr>
                    </a:p>
                    <a:p>
                      <a:pPr algn="just">
                        <a:spcAft>
                          <a:spcPts val="0"/>
                        </a:spcAft>
                      </a:pPr>
                      <a:r>
                        <a:rPr lang="en-US" sz="1200" kern="100" dirty="0">
                          <a:latin typeface="Calibri" panose="020F0502020204030204"/>
                          <a:ea typeface="宋体" panose="02010600030101010101" pitchFamily="2" charset="-122"/>
                          <a:cs typeface="Times New Roman" panose="02020603050405020304"/>
                        </a:rPr>
                        <a:t>    public static final String[] WORDS=new String[]{"To be, or not to be,--that is the question:--", "Whether \'tis nobler in the mind to suffer", "The slings and arrows of outrageous fortune", "Or to take arms against a sea of troubles,", "And by opposing end them?--To die,--to sleep,--", "No more; and by a sleep to say we end", "The heartache, and the thousand natural shocks", "That flesh is heir to,--\'tis a consummation", "Devoutly to be wish\'d. To die,--to sleep;--", "To sleep! perchance to dream:--ay, there\'s the rub;", "For in that sleep of death what dreams may come,", "When we have shuffled off this mortal coil,", "Must give us pause: there\'s the respect", "That makes calamity of so long life;", "For who would bear the whips and scorns of time,", "The oppressor\'s wrong, the proud man\'s contumely,", "The pangs of </a:t>
                      </a:r>
                      <a:r>
                        <a:rPr lang="en-US" sz="1200" kern="100" dirty="0" err="1">
                          <a:latin typeface="Calibri" panose="020F0502020204030204"/>
                          <a:ea typeface="宋体" panose="02010600030101010101" pitchFamily="2" charset="-122"/>
                          <a:cs typeface="Times New Roman" panose="02020603050405020304"/>
                        </a:rPr>
                        <a:t>despis</a:t>
                      </a:r>
                      <a:r>
                        <a:rPr lang="en-US" sz="1200" kern="100" dirty="0">
                          <a:latin typeface="Calibri" panose="020F0502020204030204"/>
                          <a:ea typeface="宋体" panose="02010600030101010101" pitchFamily="2" charset="-122"/>
                          <a:cs typeface="Times New Roman" panose="02020603050405020304"/>
                        </a:rPr>
                        <a:t>\'d love, the law\'s delay,", "The insolence of office, and the spurns", "That patient merit of the unworthy takes,", "When he himself might his quietus make", "With a bare bodkin? who would these </a:t>
                      </a:r>
                      <a:r>
                        <a:rPr lang="en-US" sz="1200" kern="100" dirty="0" err="1">
                          <a:latin typeface="Calibri" panose="020F0502020204030204"/>
                          <a:ea typeface="宋体" panose="02010600030101010101" pitchFamily="2" charset="-122"/>
                          <a:cs typeface="Times New Roman" panose="02020603050405020304"/>
                        </a:rPr>
                        <a:t>fardels</a:t>
                      </a:r>
                      <a:r>
                        <a:rPr lang="en-US" sz="1200" kern="100" dirty="0">
                          <a:latin typeface="Calibri" panose="020F0502020204030204"/>
                          <a:ea typeface="宋体" panose="02010600030101010101" pitchFamily="2" charset="-122"/>
                          <a:cs typeface="Times New Roman" panose="02020603050405020304"/>
                        </a:rPr>
                        <a:t> bear,", "To grunt and sweat under a weary life,", "But that the dread of something after death,--", "The </a:t>
                      </a:r>
                      <a:r>
                        <a:rPr lang="en-US" sz="1200" kern="100" dirty="0" err="1">
                          <a:latin typeface="Calibri" panose="020F0502020204030204"/>
                          <a:ea typeface="宋体" panose="02010600030101010101" pitchFamily="2" charset="-122"/>
                          <a:cs typeface="Times New Roman" panose="02020603050405020304"/>
                        </a:rPr>
                        <a:t>undiscover</a:t>
                      </a:r>
                      <a:r>
                        <a:rPr lang="en-US" sz="1200" kern="100" dirty="0">
                          <a:latin typeface="Calibri" panose="020F0502020204030204"/>
                          <a:ea typeface="宋体" panose="02010600030101010101" pitchFamily="2" charset="-122"/>
                          <a:cs typeface="Times New Roman" panose="02020603050405020304"/>
                        </a:rPr>
                        <a:t>\'d country, from whose bourn", "No </a:t>
                      </a:r>
                      <a:r>
                        <a:rPr lang="en-US" sz="1200" kern="100" dirty="0" err="1">
                          <a:latin typeface="Calibri" panose="020F0502020204030204"/>
                          <a:ea typeface="宋体" panose="02010600030101010101" pitchFamily="2" charset="-122"/>
                          <a:cs typeface="Times New Roman" panose="02020603050405020304"/>
                        </a:rPr>
                        <a:t>traveller</a:t>
                      </a:r>
                      <a:r>
                        <a:rPr lang="en-US" sz="1200" kern="100" dirty="0">
                          <a:latin typeface="Calibri" panose="020F0502020204030204"/>
                          <a:ea typeface="宋体" panose="02010600030101010101" pitchFamily="2" charset="-122"/>
                          <a:cs typeface="Times New Roman" panose="02020603050405020304"/>
                        </a:rPr>
                        <a:t> returns,--puzzles the will,", "And makes us rather bear those ills we have", "Than fly to others that we know not of?", "Thus conscience does make cowards of us all;", "And thus the native hue of resolution", "Is </a:t>
                      </a:r>
                      <a:r>
                        <a:rPr lang="en-US" sz="1200" kern="100" dirty="0" err="1">
                          <a:latin typeface="Calibri" panose="020F0502020204030204"/>
                          <a:ea typeface="宋体" panose="02010600030101010101" pitchFamily="2" charset="-122"/>
                          <a:cs typeface="Times New Roman" panose="02020603050405020304"/>
                        </a:rPr>
                        <a:t>sicklied</a:t>
                      </a:r>
                      <a:r>
                        <a:rPr lang="en-US" sz="1200" kern="100" dirty="0">
                          <a:latin typeface="Calibri" panose="020F0502020204030204"/>
                          <a:ea typeface="宋体" panose="02010600030101010101" pitchFamily="2" charset="-122"/>
                          <a:cs typeface="Times New Roman" panose="02020603050405020304"/>
                        </a:rPr>
                        <a:t> o\'</a:t>
                      </a:r>
                      <a:r>
                        <a:rPr lang="en-US" sz="1200" kern="100" dirty="0" err="1">
                          <a:latin typeface="Calibri" panose="020F0502020204030204"/>
                          <a:ea typeface="宋体" panose="02010600030101010101" pitchFamily="2" charset="-122"/>
                          <a:cs typeface="Times New Roman" panose="02020603050405020304"/>
                        </a:rPr>
                        <a:t>er</a:t>
                      </a:r>
                      <a:r>
                        <a:rPr lang="en-US" sz="1200" kern="100" dirty="0">
                          <a:latin typeface="Calibri" panose="020F0502020204030204"/>
                          <a:ea typeface="宋体" panose="02010600030101010101" pitchFamily="2" charset="-122"/>
                          <a:cs typeface="Times New Roman" panose="02020603050405020304"/>
                        </a:rPr>
                        <a:t> with the pale cast of thought;", "And enterprises of great pith and moment,", "With this regard, their currents turn awry,", "And lose the name of action.--Soft you now!", "The fair Ophelia!--Nymph, in thy orisons", "Be all my sins remember\'d."};</a:t>
                      </a:r>
                      <a:endParaRPr lang="zh-CN" sz="1200" kern="100" dirty="0">
                        <a:latin typeface="Calibri" panose="020F0502020204030204"/>
                        <a:ea typeface="宋体" panose="02010600030101010101" pitchFamily="2" charset="-122"/>
                        <a:cs typeface="Times New Roman" panose="02020603050405020304"/>
                      </a:endParaRPr>
                    </a:p>
                    <a:p>
                      <a:pPr algn="just">
                        <a:spcAft>
                          <a:spcPts val="0"/>
                        </a:spcAft>
                      </a:pPr>
                      <a:r>
                        <a:rPr lang="en-US" sz="1200" kern="100" dirty="0">
                          <a:latin typeface="Calibri" panose="020F0502020204030204"/>
                          <a:ea typeface="宋体" panose="02010600030101010101" pitchFamily="2" charset="-122"/>
                          <a:cs typeface="Times New Roman" panose="02020603050405020304"/>
                        </a:rPr>
                        <a:t>    public </a:t>
                      </a:r>
                      <a:r>
                        <a:rPr lang="en-US" sz="1200" kern="100" dirty="0" err="1">
                          <a:latin typeface="Calibri" panose="020F0502020204030204"/>
                          <a:ea typeface="宋体" panose="02010600030101010101" pitchFamily="2" charset="-122"/>
                          <a:cs typeface="Times New Roman" panose="02020603050405020304"/>
                        </a:rPr>
                        <a:t>WordCountData</a:t>
                      </a:r>
                      <a:r>
                        <a:rPr lang="en-US" sz="1200" kern="100" dirty="0">
                          <a:latin typeface="Calibri" panose="020F0502020204030204"/>
                          <a:ea typeface="宋体" panose="02010600030101010101" pitchFamily="2" charset="-122"/>
                          <a:cs typeface="Times New Roman" panose="02020603050405020304"/>
                        </a:rPr>
                        <a:t>() {</a:t>
                      </a:r>
                      <a:endParaRPr lang="zh-CN" sz="1200" kern="100" dirty="0">
                        <a:latin typeface="Calibri" panose="020F0502020204030204"/>
                        <a:ea typeface="宋体" panose="02010600030101010101" pitchFamily="2" charset="-122"/>
                        <a:cs typeface="Times New Roman" panose="02020603050405020304"/>
                      </a:endParaRPr>
                    </a:p>
                    <a:p>
                      <a:pPr algn="just">
                        <a:spcAft>
                          <a:spcPts val="0"/>
                        </a:spcAft>
                      </a:pPr>
                      <a:r>
                        <a:rPr lang="en-US" sz="1200" kern="100" dirty="0">
                          <a:latin typeface="Calibri" panose="020F0502020204030204"/>
                          <a:ea typeface="宋体" panose="02010600030101010101" pitchFamily="2" charset="-122"/>
                          <a:cs typeface="Times New Roman" panose="02020603050405020304"/>
                        </a:rPr>
                        <a:t>    }</a:t>
                      </a:r>
                      <a:endParaRPr lang="zh-CN" sz="1200" kern="100" dirty="0">
                        <a:latin typeface="Calibri" panose="020F0502020204030204"/>
                        <a:ea typeface="宋体" panose="02010600030101010101" pitchFamily="2" charset="-122"/>
                        <a:cs typeface="Times New Roman" panose="02020603050405020304"/>
                      </a:endParaRPr>
                    </a:p>
                    <a:p>
                      <a:pPr algn="just">
                        <a:spcAft>
                          <a:spcPts val="0"/>
                        </a:spcAft>
                      </a:pPr>
                      <a:r>
                        <a:rPr lang="en-US" sz="1200" kern="100" dirty="0">
                          <a:latin typeface="Calibri" panose="020F0502020204030204"/>
                          <a:ea typeface="宋体" panose="02010600030101010101" pitchFamily="2" charset="-122"/>
                          <a:cs typeface="Times New Roman" panose="02020603050405020304"/>
                        </a:rPr>
                        <a:t>    public static </a:t>
                      </a:r>
                      <a:r>
                        <a:rPr lang="en-US" sz="1200" kern="100" dirty="0" err="1">
                          <a:latin typeface="Calibri" panose="020F0502020204030204"/>
                          <a:ea typeface="宋体" panose="02010600030101010101" pitchFamily="2" charset="-122"/>
                          <a:cs typeface="Times New Roman" panose="02020603050405020304"/>
                        </a:rPr>
                        <a:t>DataSet</a:t>
                      </a:r>
                      <a:r>
                        <a:rPr lang="en-US" sz="1200" kern="100" dirty="0">
                          <a:latin typeface="Calibri" panose="020F0502020204030204"/>
                          <a:ea typeface="宋体" panose="02010600030101010101" pitchFamily="2" charset="-122"/>
                          <a:cs typeface="Times New Roman" panose="02020603050405020304"/>
                        </a:rPr>
                        <a:t>&lt;String&gt; </a:t>
                      </a:r>
                      <a:r>
                        <a:rPr lang="en-US" sz="1200" kern="100" dirty="0" err="1">
                          <a:latin typeface="Calibri" panose="020F0502020204030204"/>
                          <a:ea typeface="宋体" panose="02010600030101010101" pitchFamily="2" charset="-122"/>
                          <a:cs typeface="Times New Roman" panose="02020603050405020304"/>
                        </a:rPr>
                        <a:t>getDefaultTextLineDataset</a:t>
                      </a:r>
                      <a:r>
                        <a:rPr lang="en-US" sz="1200" kern="100" dirty="0">
                          <a:latin typeface="Calibri" panose="020F0502020204030204"/>
                          <a:ea typeface="宋体" panose="02010600030101010101" pitchFamily="2" charset="-122"/>
                          <a:cs typeface="Times New Roman" panose="02020603050405020304"/>
                        </a:rPr>
                        <a:t>(</a:t>
                      </a:r>
                      <a:r>
                        <a:rPr lang="en-US" sz="1200" kern="100" dirty="0" err="1">
                          <a:latin typeface="Calibri" panose="020F0502020204030204"/>
                          <a:ea typeface="宋体" panose="02010600030101010101" pitchFamily="2" charset="-122"/>
                          <a:cs typeface="Times New Roman" panose="02020603050405020304"/>
                        </a:rPr>
                        <a:t>ExecutionEnvironment</a:t>
                      </a:r>
                      <a:r>
                        <a:rPr lang="en-US" sz="1200" kern="100" dirty="0">
                          <a:latin typeface="Calibri" panose="020F0502020204030204"/>
                          <a:ea typeface="宋体" panose="02010600030101010101" pitchFamily="2" charset="-122"/>
                          <a:cs typeface="Times New Roman" panose="02020603050405020304"/>
                        </a:rPr>
                        <a:t> </a:t>
                      </a:r>
                      <a:r>
                        <a:rPr lang="en-US" sz="1200" kern="100" dirty="0" err="1">
                          <a:latin typeface="Calibri" panose="020F0502020204030204"/>
                          <a:ea typeface="宋体" panose="02010600030101010101" pitchFamily="2" charset="-122"/>
                          <a:cs typeface="Times New Roman" panose="02020603050405020304"/>
                        </a:rPr>
                        <a:t>env</a:t>
                      </a:r>
                      <a:r>
                        <a:rPr lang="en-US" sz="1200" kern="100" dirty="0">
                          <a:latin typeface="Calibri" panose="020F0502020204030204"/>
                          <a:ea typeface="宋体" panose="02010600030101010101" pitchFamily="2" charset="-122"/>
                          <a:cs typeface="Times New Roman" panose="02020603050405020304"/>
                        </a:rPr>
                        <a:t>){</a:t>
                      </a:r>
                      <a:endParaRPr lang="zh-CN" sz="1200" kern="100" dirty="0">
                        <a:latin typeface="Calibri" panose="020F0502020204030204"/>
                        <a:ea typeface="宋体" panose="02010600030101010101" pitchFamily="2" charset="-122"/>
                        <a:cs typeface="Times New Roman" panose="02020603050405020304"/>
                      </a:endParaRPr>
                    </a:p>
                    <a:p>
                      <a:pPr algn="just">
                        <a:spcAft>
                          <a:spcPts val="0"/>
                        </a:spcAft>
                      </a:pPr>
                      <a:r>
                        <a:rPr lang="en-US" sz="1200" kern="100" dirty="0">
                          <a:latin typeface="Calibri" panose="020F0502020204030204"/>
                          <a:ea typeface="宋体" panose="02010600030101010101" pitchFamily="2" charset="-122"/>
                          <a:cs typeface="Times New Roman" panose="02020603050405020304"/>
                        </a:rPr>
                        <a:t>        return </a:t>
                      </a:r>
                      <a:r>
                        <a:rPr lang="en-US" sz="1200" kern="100" dirty="0" err="1">
                          <a:latin typeface="Calibri" panose="020F0502020204030204"/>
                          <a:ea typeface="宋体" panose="02010600030101010101" pitchFamily="2" charset="-122"/>
                          <a:cs typeface="Times New Roman" panose="02020603050405020304"/>
                        </a:rPr>
                        <a:t>env.fromElements</a:t>
                      </a:r>
                      <a:r>
                        <a:rPr lang="en-US" sz="1200" kern="100" dirty="0">
                          <a:latin typeface="Calibri" panose="020F0502020204030204"/>
                          <a:ea typeface="宋体" panose="02010600030101010101" pitchFamily="2" charset="-122"/>
                          <a:cs typeface="Times New Roman" panose="02020603050405020304"/>
                        </a:rPr>
                        <a:t>(WORDS);</a:t>
                      </a:r>
                      <a:endParaRPr lang="zh-CN" sz="1200" kern="100" dirty="0">
                        <a:latin typeface="Calibri" panose="020F0502020204030204"/>
                        <a:ea typeface="宋体" panose="02010600030101010101" pitchFamily="2" charset="-122"/>
                        <a:cs typeface="Times New Roman" panose="02020603050405020304"/>
                      </a:endParaRPr>
                    </a:p>
                    <a:p>
                      <a:pPr algn="just">
                        <a:spcAft>
                          <a:spcPts val="0"/>
                        </a:spcAft>
                      </a:pPr>
                      <a:r>
                        <a:rPr lang="en-US" sz="1200" kern="100" dirty="0">
                          <a:latin typeface="Calibri" panose="020F0502020204030204"/>
                          <a:ea typeface="宋体" panose="02010600030101010101" pitchFamily="2" charset="-122"/>
                          <a:cs typeface="Times New Roman" panose="02020603050405020304"/>
                        </a:rPr>
                        <a:t>    }</a:t>
                      </a:r>
                      <a:endParaRPr lang="zh-CN" sz="1200" kern="100" dirty="0">
                        <a:latin typeface="Calibri" panose="020F0502020204030204"/>
                        <a:ea typeface="宋体" panose="02010600030101010101" pitchFamily="2" charset="-122"/>
                        <a:cs typeface="Times New Roman" panose="02020603050405020304"/>
                      </a:endParaRPr>
                    </a:p>
                    <a:p>
                      <a:pPr algn="just">
                        <a:spcAft>
                          <a:spcPts val="0"/>
                        </a:spcAft>
                      </a:pPr>
                      <a:r>
                        <a:rPr lang="en-US" sz="1200" kern="100" dirty="0">
                          <a:latin typeface="Calibri" panose="020F0502020204030204"/>
                          <a:ea typeface="宋体" panose="02010600030101010101" pitchFamily="2" charset="-122"/>
                          <a:cs typeface="Times New Roman" panose="02020603050405020304"/>
                        </a:rPr>
                        <a:t>}</a:t>
                      </a:r>
                      <a:endParaRPr lang="en-US" sz="1200" kern="100" dirty="0">
                        <a:latin typeface="Calibri" panose="020F0502020204030204"/>
                        <a:ea typeface="宋体" panose="02010600030101010101" pitchFamily="2" charset="-122"/>
                        <a:cs typeface="Times New Roman" panose="02020603050405020304"/>
                      </a:endParaRPr>
                    </a:p>
                  </a:txBody>
                  <a:tcPr marL="62204" marR="622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38914" name="标题 1"/>
          <p:cNvSpPr>
            <a:spLocks noGrp="1"/>
          </p:cNvSpPr>
          <p:nvPr>
            <p:ph type="title"/>
          </p:nvPr>
        </p:nvSpPr>
        <p:spPr/>
        <p:txBody>
          <a:bodyPr vert="horz" wrap="square" lIns="91440" tIns="45720" rIns="91440" bIns="45720" anchor="ctr" anchorCtr="0"/>
          <a:p>
            <a:r>
              <a:rPr lang="en-US" altLang="zh-CN" b="1" dirty="0"/>
              <a:t>12.7.2 </a:t>
            </a:r>
            <a:r>
              <a:rPr lang="zh-CN" altLang="zh-CN" b="1" dirty="0"/>
              <a:t>编程实现</a:t>
            </a:r>
            <a:r>
              <a:rPr lang="en-US" altLang="zh-CN" b="1" dirty="0"/>
              <a:t>WordCount</a:t>
            </a:r>
            <a:r>
              <a:rPr lang="zh-CN" altLang="zh-CN" b="1" dirty="0"/>
              <a:t>程序</a:t>
            </a:r>
            <a:endParaRPr lang="zh-CN" altLang="en-US" b="1" dirty="0"/>
          </a:p>
        </p:txBody>
      </p:sp>
      <p:sp>
        <p:nvSpPr>
          <p:cNvPr id="38915" name="矩形 2"/>
          <p:cNvSpPr/>
          <p:nvPr/>
        </p:nvSpPr>
        <p:spPr>
          <a:xfrm>
            <a:off x="1995170" y="1412875"/>
            <a:ext cx="7458075" cy="460375"/>
          </a:xfrm>
          <a:prstGeom prst="rect">
            <a:avLst/>
          </a:prstGeom>
          <a:noFill/>
          <a:ln w="9525">
            <a:noFill/>
          </a:ln>
        </p:spPr>
        <p:txBody>
          <a:bodyPr wrap="square">
            <a:spAutoFit/>
          </a:bodyPr>
          <a:p>
            <a:r>
              <a:rPr lang="en-US" altLang="zh-CN" sz="2400" dirty="0">
                <a:latin typeface="Arial" panose="020B0604020202020204" pitchFamily="34" charset="0"/>
              </a:rPr>
              <a:t>WordCountTokenizer.java</a:t>
            </a:r>
            <a:r>
              <a:rPr lang="zh-CN" altLang="zh-CN" sz="2400" dirty="0">
                <a:latin typeface="Arial" panose="020B0604020202020204" pitchFamily="34" charset="0"/>
              </a:rPr>
              <a:t>用于切分句子，其内容如下：</a:t>
            </a:r>
            <a:endParaRPr lang="zh-CN" altLang="zh-CN" sz="2400" dirty="0">
              <a:latin typeface="Arial" panose="020B0604020202020204" pitchFamily="34" charset="0"/>
            </a:endParaRPr>
          </a:p>
        </p:txBody>
      </p:sp>
      <p:graphicFrame>
        <p:nvGraphicFramePr>
          <p:cNvPr id="4" name="表格 3"/>
          <p:cNvGraphicFramePr>
            <a:graphicFrameLocks noGrp="1"/>
          </p:cNvGraphicFramePr>
          <p:nvPr/>
        </p:nvGraphicFramePr>
        <p:xfrm>
          <a:off x="2667000" y="1959610"/>
          <a:ext cx="6705600" cy="2720975"/>
        </p:xfrm>
        <a:graphic>
          <a:graphicData uri="http://schemas.openxmlformats.org/drawingml/2006/table">
            <a:tbl>
              <a:tblPr/>
              <a:tblGrid>
                <a:gridCol w="6705600"/>
              </a:tblGrid>
              <a:tr h="2720975">
                <a:tc>
                  <a:txBody>
                    <a:bodyPr/>
                    <a:lstStyle/>
                    <a:p>
                      <a:pPr algn="just">
                        <a:spcAft>
                          <a:spcPts val="0"/>
                        </a:spcAft>
                      </a:pPr>
                      <a:r>
                        <a:rPr lang="en-US" sz="1600" kern="100" dirty="0">
                          <a:latin typeface="Calibri" panose="020F0502020204030204"/>
                          <a:ea typeface="宋体" panose="02010600030101010101" pitchFamily="2" charset="-122"/>
                          <a:cs typeface="Times New Roman" panose="02020603050405020304"/>
                        </a:rPr>
                        <a:t>package </a:t>
                      </a:r>
                      <a:r>
                        <a:rPr lang="en-US" sz="1600" kern="100" dirty="0" err="1">
                          <a:latin typeface="Calibri" panose="020F0502020204030204"/>
                          <a:ea typeface="宋体" panose="02010600030101010101" pitchFamily="2" charset="-122"/>
                          <a:cs typeface="Times New Roman" panose="02020603050405020304"/>
                        </a:rPr>
                        <a:t>cn.edu.xmu</a:t>
                      </a:r>
                      <a:r>
                        <a:rPr lang="en-US" sz="1600" kern="100" dirty="0">
                          <a:latin typeface="Calibri" panose="020F0502020204030204"/>
                          <a:ea typeface="宋体" panose="02010600030101010101" pitchFamily="2" charset="-122"/>
                          <a:cs typeface="Times New Roman" panose="02020603050405020304"/>
                        </a:rPr>
                        <a:t>;</a:t>
                      </a:r>
                      <a:endParaRPr lang="zh-CN" sz="1600" kern="100" dirty="0">
                        <a:latin typeface="Calibri" panose="020F0502020204030204"/>
                        <a:ea typeface="宋体" panose="02010600030101010101" pitchFamily="2" charset="-122"/>
                        <a:cs typeface="Times New Roman" panose="02020603050405020304"/>
                      </a:endParaRPr>
                    </a:p>
                    <a:p>
                      <a:pPr algn="just">
                        <a:spcAft>
                          <a:spcPts val="0"/>
                        </a:spcAft>
                      </a:pPr>
                      <a:r>
                        <a:rPr lang="en-US" sz="1600" kern="100" dirty="0">
                          <a:latin typeface="Calibri" panose="020F0502020204030204"/>
                          <a:ea typeface="宋体" panose="02010600030101010101" pitchFamily="2" charset="-122"/>
                          <a:cs typeface="Times New Roman" panose="02020603050405020304"/>
                        </a:rPr>
                        <a:t>import </a:t>
                      </a:r>
                      <a:r>
                        <a:rPr lang="en-US" sz="1600" kern="100" dirty="0" err="1">
                          <a:latin typeface="Calibri" panose="020F0502020204030204"/>
                          <a:ea typeface="宋体" panose="02010600030101010101" pitchFamily="2" charset="-122"/>
                          <a:cs typeface="Times New Roman" panose="02020603050405020304"/>
                        </a:rPr>
                        <a:t>org.apache.flink.api.common.functions.FlatMapFunction</a:t>
                      </a:r>
                      <a:r>
                        <a:rPr lang="en-US" sz="1600" kern="100" dirty="0">
                          <a:latin typeface="Calibri" panose="020F0502020204030204"/>
                          <a:ea typeface="宋体" panose="02010600030101010101" pitchFamily="2" charset="-122"/>
                          <a:cs typeface="Times New Roman" panose="02020603050405020304"/>
                        </a:rPr>
                        <a:t>;</a:t>
                      </a:r>
                      <a:endParaRPr lang="zh-CN" sz="1600" kern="100" dirty="0">
                        <a:latin typeface="Calibri" panose="020F0502020204030204"/>
                        <a:ea typeface="宋体" panose="02010600030101010101" pitchFamily="2" charset="-122"/>
                        <a:cs typeface="Times New Roman" panose="02020603050405020304"/>
                      </a:endParaRPr>
                    </a:p>
                    <a:p>
                      <a:pPr algn="just">
                        <a:spcAft>
                          <a:spcPts val="0"/>
                        </a:spcAft>
                      </a:pPr>
                      <a:r>
                        <a:rPr lang="en-US" sz="1600" kern="100" dirty="0">
                          <a:latin typeface="Calibri" panose="020F0502020204030204"/>
                          <a:ea typeface="宋体" panose="02010600030101010101" pitchFamily="2" charset="-122"/>
                          <a:cs typeface="Times New Roman" panose="02020603050405020304"/>
                        </a:rPr>
                        <a:t>import org.apache.flink.api.java.tuple.Tuple2;</a:t>
                      </a:r>
                      <a:endParaRPr lang="zh-CN" sz="1600" kern="100" dirty="0">
                        <a:latin typeface="Calibri" panose="020F0502020204030204"/>
                        <a:ea typeface="宋体" panose="02010600030101010101" pitchFamily="2" charset="-122"/>
                        <a:cs typeface="Times New Roman" panose="02020603050405020304"/>
                      </a:endParaRPr>
                    </a:p>
                    <a:p>
                      <a:pPr algn="just">
                        <a:spcAft>
                          <a:spcPts val="0"/>
                        </a:spcAft>
                      </a:pPr>
                      <a:r>
                        <a:rPr lang="en-US" sz="1600" kern="100" dirty="0">
                          <a:latin typeface="Calibri" panose="020F0502020204030204"/>
                          <a:ea typeface="宋体" panose="02010600030101010101" pitchFamily="2" charset="-122"/>
                          <a:cs typeface="Times New Roman" panose="02020603050405020304"/>
                        </a:rPr>
                        <a:t>import </a:t>
                      </a:r>
                      <a:r>
                        <a:rPr lang="en-US" sz="1600" kern="100" dirty="0" err="1">
                          <a:latin typeface="Calibri" panose="020F0502020204030204"/>
                          <a:ea typeface="宋体" panose="02010600030101010101" pitchFamily="2" charset="-122"/>
                          <a:cs typeface="Times New Roman" panose="02020603050405020304"/>
                        </a:rPr>
                        <a:t>org.apache.flink.util.Collector</a:t>
                      </a:r>
                      <a:r>
                        <a:rPr lang="en-US" sz="1600" kern="100" dirty="0">
                          <a:latin typeface="Calibri" panose="020F0502020204030204"/>
                          <a:ea typeface="宋体" panose="02010600030101010101" pitchFamily="2" charset="-122"/>
                          <a:cs typeface="Times New Roman" panose="02020603050405020304"/>
                        </a:rPr>
                        <a:t>;</a:t>
                      </a:r>
                      <a:endParaRPr lang="zh-CN" sz="1600" kern="100" dirty="0">
                        <a:latin typeface="Calibri" panose="020F0502020204030204"/>
                        <a:ea typeface="宋体" panose="02010600030101010101" pitchFamily="2" charset="-122"/>
                        <a:cs typeface="Times New Roman" panose="02020603050405020304"/>
                      </a:endParaRPr>
                    </a:p>
                    <a:p>
                      <a:pPr algn="just">
                        <a:spcAft>
                          <a:spcPts val="0"/>
                        </a:spcAft>
                      </a:pPr>
                      <a:r>
                        <a:rPr lang="en-US" sz="1600" kern="100" dirty="0">
                          <a:latin typeface="Calibri" panose="020F0502020204030204"/>
                          <a:ea typeface="宋体" panose="02010600030101010101" pitchFamily="2" charset="-122"/>
                          <a:cs typeface="Times New Roman" panose="02020603050405020304"/>
                        </a:rPr>
                        <a:t>public class </a:t>
                      </a:r>
                      <a:r>
                        <a:rPr lang="en-US" sz="1600" kern="100" dirty="0" err="1">
                          <a:latin typeface="Calibri" panose="020F0502020204030204"/>
                          <a:ea typeface="宋体" panose="02010600030101010101" pitchFamily="2" charset="-122"/>
                          <a:cs typeface="Times New Roman" panose="02020603050405020304"/>
                        </a:rPr>
                        <a:t>WordCountTokenizer</a:t>
                      </a:r>
                      <a:r>
                        <a:rPr lang="en-US" sz="1600" kern="100" dirty="0">
                          <a:latin typeface="Calibri" panose="020F0502020204030204"/>
                          <a:ea typeface="宋体" panose="02010600030101010101" pitchFamily="2" charset="-122"/>
                          <a:cs typeface="Times New Roman" panose="02020603050405020304"/>
                        </a:rPr>
                        <a:t> implements </a:t>
                      </a:r>
                      <a:r>
                        <a:rPr lang="en-US" sz="1600" kern="100" dirty="0" err="1">
                          <a:latin typeface="Calibri" panose="020F0502020204030204"/>
                          <a:ea typeface="宋体" panose="02010600030101010101" pitchFamily="2" charset="-122"/>
                          <a:cs typeface="Times New Roman" panose="02020603050405020304"/>
                        </a:rPr>
                        <a:t>FlatMapFunction</a:t>
                      </a:r>
                      <a:r>
                        <a:rPr lang="en-US" sz="1600" kern="100" dirty="0">
                          <a:latin typeface="Calibri" panose="020F0502020204030204"/>
                          <a:ea typeface="宋体" panose="02010600030101010101" pitchFamily="2" charset="-122"/>
                          <a:cs typeface="Times New Roman" panose="02020603050405020304"/>
                        </a:rPr>
                        <a:t>&lt;String, Tuple2&lt;</a:t>
                      </a:r>
                      <a:r>
                        <a:rPr lang="en-US" sz="1600" kern="100" dirty="0" err="1">
                          <a:latin typeface="Calibri" panose="020F0502020204030204"/>
                          <a:ea typeface="宋体" panose="02010600030101010101" pitchFamily="2" charset="-122"/>
                          <a:cs typeface="Times New Roman" panose="02020603050405020304"/>
                        </a:rPr>
                        <a:t>String,Integer</a:t>
                      </a:r>
                      <a:r>
                        <a:rPr lang="en-US" sz="1600" kern="100" dirty="0">
                          <a:latin typeface="Calibri" panose="020F0502020204030204"/>
                          <a:ea typeface="宋体" panose="02010600030101010101" pitchFamily="2" charset="-122"/>
                          <a:cs typeface="Times New Roman" panose="02020603050405020304"/>
                        </a:rPr>
                        <a:t>&gt;&gt;{</a:t>
                      </a:r>
                      <a:endParaRPr lang="zh-CN" sz="1600" kern="100" dirty="0">
                        <a:latin typeface="Calibri" panose="020F0502020204030204"/>
                        <a:ea typeface="宋体" panose="02010600030101010101" pitchFamily="2" charset="-122"/>
                        <a:cs typeface="Times New Roman" panose="02020603050405020304"/>
                      </a:endParaRPr>
                    </a:p>
                    <a:p>
                      <a:pPr algn="just">
                        <a:spcAft>
                          <a:spcPts val="0"/>
                        </a:spcAft>
                      </a:pPr>
                      <a:r>
                        <a:rPr lang="en-US" sz="1600" kern="100" dirty="0">
                          <a:latin typeface="Calibri" panose="020F0502020204030204"/>
                          <a:ea typeface="宋体" panose="02010600030101010101" pitchFamily="2" charset="-122"/>
                          <a:cs typeface="Times New Roman" panose="02020603050405020304"/>
                        </a:rPr>
                        <a:t>    public </a:t>
                      </a:r>
                      <a:r>
                        <a:rPr lang="en-US" sz="1600" kern="100" dirty="0" err="1">
                          <a:latin typeface="Calibri" panose="020F0502020204030204"/>
                          <a:ea typeface="宋体" panose="02010600030101010101" pitchFamily="2" charset="-122"/>
                          <a:cs typeface="Times New Roman" panose="02020603050405020304"/>
                        </a:rPr>
                        <a:t>WordCountTokenizer</a:t>
                      </a:r>
                      <a:r>
                        <a:rPr lang="en-US" sz="1600" kern="100" dirty="0">
                          <a:latin typeface="Calibri" panose="020F0502020204030204"/>
                          <a:ea typeface="宋体" panose="02010600030101010101" pitchFamily="2" charset="-122"/>
                          <a:cs typeface="Times New Roman" panose="02020603050405020304"/>
                        </a:rPr>
                        <a:t>(){}</a:t>
                      </a:r>
                      <a:endParaRPr lang="zh-CN" sz="1600" kern="100" dirty="0">
                        <a:latin typeface="Calibri" panose="020F0502020204030204"/>
                        <a:ea typeface="宋体" panose="02010600030101010101" pitchFamily="2" charset="-122"/>
                        <a:cs typeface="Times New Roman" panose="02020603050405020304"/>
                      </a:endParaRPr>
                    </a:p>
                    <a:p>
                      <a:pPr algn="just">
                        <a:spcAft>
                          <a:spcPts val="0"/>
                        </a:spcAft>
                      </a:pPr>
                      <a:r>
                        <a:rPr lang="en-US" sz="1600" kern="100" dirty="0">
                          <a:latin typeface="Calibri" panose="020F0502020204030204"/>
                          <a:ea typeface="宋体" panose="02010600030101010101" pitchFamily="2" charset="-122"/>
                          <a:cs typeface="Times New Roman" panose="02020603050405020304"/>
                        </a:rPr>
                        <a:t>    public void </a:t>
                      </a:r>
                      <a:r>
                        <a:rPr lang="en-US" sz="1600" kern="100" dirty="0" err="1">
                          <a:highlight>
                            <a:srgbClr val="FFFF00"/>
                          </a:highlight>
                          <a:latin typeface="Calibri" panose="020F0502020204030204"/>
                          <a:ea typeface="宋体" panose="02010600030101010101" pitchFamily="2" charset="-122"/>
                          <a:cs typeface="Times New Roman" panose="02020603050405020304"/>
                        </a:rPr>
                        <a:t>flatMap</a:t>
                      </a:r>
                      <a:r>
                        <a:rPr lang="en-US" sz="1600" kern="100" dirty="0">
                          <a:latin typeface="Calibri" panose="020F0502020204030204"/>
                          <a:ea typeface="宋体" panose="02010600030101010101" pitchFamily="2" charset="-122"/>
                          <a:cs typeface="Times New Roman" panose="02020603050405020304"/>
                        </a:rPr>
                        <a:t>(String value, Collector&lt;Tuple2&lt;String, Integer&gt;&gt; out) throws Exception {</a:t>
                      </a:r>
                      <a:endParaRPr lang="zh-CN" sz="1600" kern="100" dirty="0">
                        <a:latin typeface="Calibri" panose="020F0502020204030204"/>
                        <a:ea typeface="宋体" panose="02010600030101010101" pitchFamily="2" charset="-122"/>
                        <a:cs typeface="Times New Roman" panose="02020603050405020304"/>
                      </a:endParaRPr>
                    </a:p>
                    <a:p>
                      <a:pPr algn="just">
                        <a:spcAft>
                          <a:spcPts val="0"/>
                        </a:spcAft>
                      </a:pPr>
                      <a:r>
                        <a:rPr lang="en-US" sz="1600" kern="100" dirty="0">
                          <a:latin typeface="Calibri" panose="020F0502020204030204"/>
                          <a:ea typeface="宋体" panose="02010600030101010101" pitchFamily="2" charset="-122"/>
                          <a:cs typeface="Times New Roman" panose="02020603050405020304"/>
                        </a:rPr>
                        <a:t>        String[] tokens = </a:t>
                      </a:r>
                      <a:r>
                        <a:rPr lang="en-US" sz="1600" kern="100" dirty="0" err="1">
                          <a:latin typeface="Calibri" panose="020F0502020204030204"/>
                          <a:ea typeface="宋体" panose="02010600030101010101" pitchFamily="2" charset="-122"/>
                          <a:cs typeface="Times New Roman" panose="02020603050405020304"/>
                        </a:rPr>
                        <a:t>value.toLowerCase</a:t>
                      </a:r>
                      <a:r>
                        <a:rPr lang="en-US" sz="1600" kern="100" dirty="0">
                          <a:latin typeface="Calibri" panose="020F0502020204030204"/>
                          <a:ea typeface="宋体" panose="02010600030101010101" pitchFamily="2" charset="-122"/>
                          <a:cs typeface="Times New Roman" panose="02020603050405020304"/>
                        </a:rPr>
                        <a:t>().split("\\W+");</a:t>
                      </a:r>
                      <a:endParaRPr lang="zh-CN" sz="1600" kern="100" dirty="0">
                        <a:latin typeface="Calibri" panose="020F0502020204030204"/>
                        <a:ea typeface="宋体" panose="02010600030101010101" pitchFamily="2" charset="-122"/>
                        <a:cs typeface="Times New Roman" panose="02020603050405020304"/>
                      </a:endParaRPr>
                    </a:p>
                    <a:p>
                      <a:pPr algn="just">
                        <a:spcAft>
                          <a:spcPts val="0"/>
                        </a:spcAft>
                      </a:pPr>
                      <a:r>
                        <a:rPr lang="en-US" sz="1600" kern="100" dirty="0">
                          <a:latin typeface="Calibri" panose="020F0502020204030204"/>
                          <a:ea typeface="宋体" panose="02010600030101010101" pitchFamily="2" charset="-122"/>
                          <a:cs typeface="Times New Roman" panose="02020603050405020304"/>
                        </a:rPr>
                        <a:t>        </a:t>
                      </a:r>
                      <a:r>
                        <a:rPr lang="en-US" sz="1600" kern="100" dirty="0" err="1">
                          <a:latin typeface="Calibri" panose="020F0502020204030204"/>
                          <a:ea typeface="宋体" panose="02010600030101010101" pitchFamily="2" charset="-122"/>
                          <a:cs typeface="Times New Roman" panose="02020603050405020304"/>
                        </a:rPr>
                        <a:t>int</a:t>
                      </a:r>
                      <a:r>
                        <a:rPr lang="en-US" sz="1600" kern="100" dirty="0">
                          <a:latin typeface="Calibri" panose="020F0502020204030204"/>
                          <a:ea typeface="宋体" panose="02010600030101010101" pitchFamily="2" charset="-122"/>
                          <a:cs typeface="Times New Roman" panose="02020603050405020304"/>
                        </a:rPr>
                        <a:t> </a:t>
                      </a:r>
                      <a:r>
                        <a:rPr lang="en-US" sz="1600" kern="100" dirty="0" err="1">
                          <a:latin typeface="Calibri" panose="020F0502020204030204"/>
                          <a:ea typeface="宋体" panose="02010600030101010101" pitchFamily="2" charset="-122"/>
                          <a:cs typeface="Times New Roman" panose="02020603050405020304"/>
                        </a:rPr>
                        <a:t>len</a:t>
                      </a:r>
                      <a:r>
                        <a:rPr lang="en-US" sz="1600" kern="100" dirty="0">
                          <a:latin typeface="Calibri" panose="020F0502020204030204"/>
                          <a:ea typeface="宋体" panose="02010600030101010101" pitchFamily="2" charset="-122"/>
                          <a:cs typeface="Times New Roman" panose="02020603050405020304"/>
                        </a:rPr>
                        <a:t> = </a:t>
                      </a:r>
                      <a:r>
                        <a:rPr lang="en-US" sz="1600" kern="100" dirty="0" err="1">
                          <a:latin typeface="Calibri" panose="020F0502020204030204"/>
                          <a:ea typeface="宋体" panose="02010600030101010101" pitchFamily="2" charset="-122"/>
                          <a:cs typeface="Times New Roman" panose="02020603050405020304"/>
                        </a:rPr>
                        <a:t>tokens.length</a:t>
                      </a:r>
                      <a:r>
                        <a:rPr lang="en-US" sz="1600" kern="100" dirty="0">
                          <a:latin typeface="Calibri" panose="020F0502020204030204"/>
                          <a:ea typeface="宋体" panose="02010600030101010101" pitchFamily="2" charset="-122"/>
                          <a:cs typeface="Times New Roman" panose="02020603050405020304"/>
                        </a:rPr>
                        <a:t>;</a:t>
                      </a:r>
                      <a:endParaRPr lang="zh-CN" sz="1600" kern="100" dirty="0">
                        <a:latin typeface="Calibri" panose="020F0502020204030204"/>
                        <a:ea typeface="宋体" panose="02010600030101010101" pitchFamily="2" charset="-122"/>
                        <a:cs typeface="Times New Roman" panose="02020603050405020304"/>
                      </a:endParaRPr>
                    </a:p>
                    <a:p>
                      <a:pPr algn="just">
                        <a:spcAft>
                          <a:spcPts val="0"/>
                        </a:spcAft>
                      </a:pPr>
                      <a:r>
                        <a:rPr lang="en-US" sz="1600" kern="100" dirty="0">
                          <a:latin typeface="Calibri" panose="020F0502020204030204"/>
                          <a:ea typeface="宋体" panose="02010600030101010101" pitchFamily="2" charset="-122"/>
                          <a:cs typeface="Times New Roman" panose="02020603050405020304"/>
                        </a:rPr>
                        <a:t>        for(</a:t>
                      </a:r>
                      <a:r>
                        <a:rPr lang="en-US" sz="1600" kern="100" dirty="0" err="1">
                          <a:latin typeface="Calibri" panose="020F0502020204030204"/>
                          <a:ea typeface="宋体" panose="02010600030101010101" pitchFamily="2" charset="-122"/>
                          <a:cs typeface="Times New Roman" panose="02020603050405020304"/>
                        </a:rPr>
                        <a:t>int</a:t>
                      </a:r>
                      <a:r>
                        <a:rPr lang="en-US" sz="1600" kern="100" dirty="0">
                          <a:latin typeface="Calibri" panose="020F0502020204030204"/>
                          <a:ea typeface="宋体" panose="02010600030101010101" pitchFamily="2" charset="-122"/>
                          <a:cs typeface="Times New Roman" panose="02020603050405020304"/>
                        </a:rPr>
                        <a:t> </a:t>
                      </a:r>
                      <a:r>
                        <a:rPr lang="en-US" sz="1600" kern="100" dirty="0" err="1">
                          <a:latin typeface="Calibri" panose="020F0502020204030204"/>
                          <a:ea typeface="宋体" panose="02010600030101010101" pitchFamily="2" charset="-122"/>
                          <a:cs typeface="Times New Roman" panose="02020603050405020304"/>
                        </a:rPr>
                        <a:t>i</a:t>
                      </a:r>
                      <a:r>
                        <a:rPr lang="en-US" sz="1600" kern="100" dirty="0">
                          <a:latin typeface="Calibri" panose="020F0502020204030204"/>
                          <a:ea typeface="宋体" panose="02010600030101010101" pitchFamily="2" charset="-122"/>
                          <a:cs typeface="Times New Roman" panose="02020603050405020304"/>
                        </a:rPr>
                        <a:t> = 0; </a:t>
                      </a:r>
                      <a:r>
                        <a:rPr lang="en-US" sz="1600" kern="100" dirty="0" err="1">
                          <a:latin typeface="Calibri" panose="020F0502020204030204"/>
                          <a:ea typeface="宋体" panose="02010600030101010101" pitchFamily="2" charset="-122"/>
                          <a:cs typeface="Times New Roman" panose="02020603050405020304"/>
                        </a:rPr>
                        <a:t>i</a:t>
                      </a:r>
                      <a:r>
                        <a:rPr lang="en-US" sz="1600" kern="100" dirty="0">
                          <a:latin typeface="Calibri" panose="020F0502020204030204"/>
                          <a:ea typeface="宋体" panose="02010600030101010101" pitchFamily="2" charset="-122"/>
                          <a:cs typeface="Times New Roman" panose="02020603050405020304"/>
                        </a:rPr>
                        <a:t>&lt;</a:t>
                      </a:r>
                      <a:r>
                        <a:rPr lang="en-US" sz="1600" kern="100" dirty="0" err="1">
                          <a:latin typeface="Calibri" panose="020F0502020204030204"/>
                          <a:ea typeface="宋体" panose="02010600030101010101" pitchFamily="2" charset="-122"/>
                          <a:cs typeface="Times New Roman" panose="02020603050405020304"/>
                        </a:rPr>
                        <a:t>len;i</a:t>
                      </a:r>
                      <a:r>
                        <a:rPr lang="en-US" sz="1600" kern="100" dirty="0">
                          <a:latin typeface="Calibri" panose="020F0502020204030204"/>
                          <a:ea typeface="宋体" panose="02010600030101010101" pitchFamily="2" charset="-122"/>
                          <a:cs typeface="Times New Roman" panose="02020603050405020304"/>
                        </a:rPr>
                        <a:t>++){</a:t>
                      </a:r>
                      <a:endParaRPr lang="zh-CN" sz="1600" kern="100" dirty="0">
                        <a:latin typeface="Calibri" panose="020F0502020204030204"/>
                        <a:ea typeface="宋体" panose="02010600030101010101" pitchFamily="2" charset="-122"/>
                        <a:cs typeface="Times New Roman" panose="02020603050405020304"/>
                      </a:endParaRPr>
                    </a:p>
                    <a:p>
                      <a:pPr algn="just">
                        <a:spcAft>
                          <a:spcPts val="0"/>
                        </a:spcAft>
                      </a:pPr>
                      <a:r>
                        <a:rPr lang="en-US" sz="1600" kern="100" dirty="0">
                          <a:latin typeface="Calibri" panose="020F0502020204030204"/>
                          <a:ea typeface="宋体" panose="02010600030101010101" pitchFamily="2" charset="-122"/>
                          <a:cs typeface="Times New Roman" panose="02020603050405020304"/>
                        </a:rPr>
                        <a:t>            String </a:t>
                      </a:r>
                      <a:r>
                        <a:rPr lang="en-US" sz="1600" kern="100" dirty="0" err="1">
                          <a:latin typeface="Calibri" panose="020F0502020204030204"/>
                          <a:ea typeface="宋体" panose="02010600030101010101" pitchFamily="2" charset="-122"/>
                          <a:cs typeface="Times New Roman" panose="02020603050405020304"/>
                        </a:rPr>
                        <a:t>tmp</a:t>
                      </a:r>
                      <a:r>
                        <a:rPr lang="en-US" sz="1600" kern="100" dirty="0">
                          <a:latin typeface="Calibri" panose="020F0502020204030204"/>
                          <a:ea typeface="宋体" panose="02010600030101010101" pitchFamily="2" charset="-122"/>
                          <a:cs typeface="Times New Roman" panose="02020603050405020304"/>
                        </a:rPr>
                        <a:t> = tokens[</a:t>
                      </a:r>
                      <a:r>
                        <a:rPr lang="en-US" sz="1600" kern="100" dirty="0" err="1">
                          <a:latin typeface="Calibri" panose="020F0502020204030204"/>
                          <a:ea typeface="宋体" panose="02010600030101010101" pitchFamily="2" charset="-122"/>
                          <a:cs typeface="Times New Roman" panose="02020603050405020304"/>
                        </a:rPr>
                        <a:t>i</a:t>
                      </a:r>
                      <a:r>
                        <a:rPr lang="en-US" sz="1600" kern="100" dirty="0">
                          <a:latin typeface="Calibri" panose="020F0502020204030204"/>
                          <a:ea typeface="宋体" panose="02010600030101010101" pitchFamily="2" charset="-122"/>
                          <a:cs typeface="Times New Roman" panose="02020603050405020304"/>
                        </a:rPr>
                        <a:t>];</a:t>
                      </a:r>
                      <a:endParaRPr lang="zh-CN" sz="1600" kern="100" dirty="0">
                        <a:latin typeface="Calibri" panose="020F0502020204030204"/>
                        <a:ea typeface="宋体" panose="02010600030101010101" pitchFamily="2" charset="-122"/>
                        <a:cs typeface="Times New Roman" panose="02020603050405020304"/>
                      </a:endParaRPr>
                    </a:p>
                    <a:p>
                      <a:pPr algn="just">
                        <a:spcAft>
                          <a:spcPts val="0"/>
                        </a:spcAft>
                      </a:pPr>
                      <a:r>
                        <a:rPr lang="en-US" sz="1600" kern="100" dirty="0">
                          <a:latin typeface="Calibri" panose="020F0502020204030204"/>
                          <a:ea typeface="宋体" panose="02010600030101010101" pitchFamily="2" charset="-122"/>
                          <a:cs typeface="Times New Roman" panose="02020603050405020304"/>
                        </a:rPr>
                        <a:t>            if(</a:t>
                      </a:r>
                      <a:r>
                        <a:rPr lang="en-US" sz="1600" kern="100" dirty="0" err="1">
                          <a:latin typeface="Calibri" panose="020F0502020204030204"/>
                          <a:ea typeface="宋体" panose="02010600030101010101" pitchFamily="2" charset="-122"/>
                          <a:cs typeface="Times New Roman" panose="02020603050405020304"/>
                        </a:rPr>
                        <a:t>tmp.length</a:t>
                      </a:r>
                      <a:r>
                        <a:rPr lang="en-US" sz="1600" kern="100" dirty="0">
                          <a:latin typeface="Calibri" panose="020F0502020204030204"/>
                          <a:ea typeface="宋体" panose="02010600030101010101" pitchFamily="2" charset="-122"/>
                          <a:cs typeface="Times New Roman" panose="02020603050405020304"/>
                        </a:rPr>
                        <a:t>()&gt;0){</a:t>
                      </a:r>
                      <a:endParaRPr lang="zh-CN" sz="1600" kern="100" dirty="0">
                        <a:latin typeface="Calibri" panose="020F0502020204030204"/>
                        <a:ea typeface="宋体" panose="02010600030101010101" pitchFamily="2" charset="-122"/>
                        <a:cs typeface="Times New Roman" panose="02020603050405020304"/>
                      </a:endParaRPr>
                    </a:p>
                    <a:p>
                      <a:pPr algn="just">
                        <a:spcAft>
                          <a:spcPts val="0"/>
                        </a:spcAft>
                      </a:pPr>
                      <a:r>
                        <a:rPr lang="en-US" sz="1600" kern="100" dirty="0">
                          <a:latin typeface="Calibri" panose="020F0502020204030204"/>
                          <a:ea typeface="宋体" panose="02010600030101010101" pitchFamily="2" charset="-122"/>
                          <a:cs typeface="Times New Roman" panose="02020603050405020304"/>
                        </a:rPr>
                        <a:t>                </a:t>
                      </a:r>
                      <a:r>
                        <a:rPr lang="en-US" sz="1600" kern="100" dirty="0" err="1">
                          <a:latin typeface="Calibri" panose="020F0502020204030204"/>
                          <a:ea typeface="宋体" panose="02010600030101010101" pitchFamily="2" charset="-122"/>
                          <a:cs typeface="Times New Roman" panose="02020603050405020304"/>
                        </a:rPr>
                        <a:t>out.collect</a:t>
                      </a:r>
                      <a:r>
                        <a:rPr lang="en-US" sz="1600" kern="100" dirty="0">
                          <a:latin typeface="Calibri" panose="020F0502020204030204"/>
                          <a:ea typeface="宋体" panose="02010600030101010101" pitchFamily="2" charset="-122"/>
                          <a:cs typeface="Times New Roman" panose="02020603050405020304"/>
                        </a:rPr>
                        <a:t>(new Tuple2&lt;String, Integer&gt;(</a:t>
                      </a:r>
                      <a:r>
                        <a:rPr lang="en-US" sz="1600" kern="100" dirty="0" err="1">
                          <a:latin typeface="Calibri" panose="020F0502020204030204"/>
                          <a:ea typeface="宋体" panose="02010600030101010101" pitchFamily="2" charset="-122"/>
                          <a:cs typeface="Times New Roman" panose="02020603050405020304"/>
                        </a:rPr>
                        <a:t>tmp,Integer.valueOf</a:t>
                      </a:r>
                      <a:r>
                        <a:rPr lang="en-US" sz="1600" kern="100" dirty="0">
                          <a:latin typeface="Calibri" panose="020F0502020204030204"/>
                          <a:ea typeface="宋体" panose="02010600030101010101" pitchFamily="2" charset="-122"/>
                          <a:cs typeface="Times New Roman" panose="02020603050405020304"/>
                        </a:rPr>
                        <a:t>(1)));</a:t>
                      </a:r>
                      <a:endParaRPr lang="zh-CN" sz="1600" kern="100" dirty="0">
                        <a:latin typeface="Calibri" panose="020F0502020204030204"/>
                        <a:ea typeface="宋体" panose="02010600030101010101" pitchFamily="2" charset="-122"/>
                        <a:cs typeface="Times New Roman" panose="02020603050405020304"/>
                      </a:endParaRPr>
                    </a:p>
                    <a:p>
                      <a:pPr algn="just">
                        <a:spcAft>
                          <a:spcPts val="0"/>
                        </a:spcAft>
                      </a:pPr>
                      <a:r>
                        <a:rPr lang="en-US" sz="1600" kern="100" dirty="0">
                          <a:latin typeface="Calibri" panose="020F0502020204030204"/>
                          <a:ea typeface="宋体" panose="02010600030101010101" pitchFamily="2" charset="-122"/>
                          <a:cs typeface="Times New Roman" panose="02020603050405020304"/>
                        </a:rPr>
                        <a:t>            }</a:t>
                      </a:r>
                      <a:endParaRPr lang="zh-CN" sz="1600" kern="100" dirty="0">
                        <a:latin typeface="Calibri" panose="020F0502020204030204"/>
                        <a:ea typeface="宋体" panose="02010600030101010101" pitchFamily="2" charset="-122"/>
                        <a:cs typeface="Times New Roman" panose="02020603050405020304"/>
                      </a:endParaRPr>
                    </a:p>
                    <a:p>
                      <a:pPr algn="just">
                        <a:spcAft>
                          <a:spcPts val="0"/>
                        </a:spcAft>
                      </a:pPr>
                      <a:r>
                        <a:rPr lang="en-US" sz="1600" kern="100" dirty="0">
                          <a:latin typeface="Calibri" panose="020F0502020204030204"/>
                          <a:ea typeface="宋体" panose="02010600030101010101" pitchFamily="2" charset="-122"/>
                          <a:cs typeface="Times New Roman" panose="02020603050405020304"/>
                        </a:rPr>
                        <a:t>        }</a:t>
                      </a:r>
                      <a:endParaRPr lang="zh-CN" sz="1600" kern="100" dirty="0">
                        <a:latin typeface="Calibri" panose="020F0502020204030204"/>
                        <a:ea typeface="宋体" panose="02010600030101010101" pitchFamily="2" charset="-122"/>
                        <a:cs typeface="Times New Roman" panose="02020603050405020304"/>
                      </a:endParaRPr>
                    </a:p>
                    <a:p>
                      <a:pPr algn="just">
                        <a:spcAft>
                          <a:spcPts val="0"/>
                        </a:spcAft>
                      </a:pPr>
                      <a:r>
                        <a:rPr lang="en-US" sz="1600" kern="100" dirty="0">
                          <a:latin typeface="Calibri" panose="020F0502020204030204"/>
                          <a:ea typeface="宋体" panose="02010600030101010101" pitchFamily="2" charset="-122"/>
                          <a:cs typeface="Times New Roman" panose="02020603050405020304"/>
                        </a:rPr>
                        <a:t>    }</a:t>
                      </a:r>
                      <a:endParaRPr lang="zh-CN" sz="1600" kern="100" dirty="0">
                        <a:latin typeface="Calibri" panose="020F0502020204030204"/>
                        <a:ea typeface="宋体" panose="02010600030101010101" pitchFamily="2" charset="-122"/>
                        <a:cs typeface="Times New Roman" panose="02020603050405020304"/>
                      </a:endParaRPr>
                    </a:p>
                    <a:p>
                      <a:pPr algn="just">
                        <a:spcAft>
                          <a:spcPts val="0"/>
                        </a:spcAft>
                      </a:pPr>
                      <a:r>
                        <a:rPr lang="en-US" sz="1600" kern="100" dirty="0">
                          <a:latin typeface="Calibri" panose="020F0502020204030204"/>
                          <a:ea typeface="宋体" panose="02010600030101010101" pitchFamily="2" charset="-122"/>
                          <a:cs typeface="Times New Roman" panose="02020603050405020304"/>
                        </a:rPr>
                        <a:t>}</a:t>
                      </a:r>
                      <a:endParaRPr lang="en-US" sz="16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39939" name="矩形 2"/>
          <p:cNvSpPr/>
          <p:nvPr/>
        </p:nvSpPr>
        <p:spPr>
          <a:xfrm>
            <a:off x="273685" y="95885"/>
            <a:ext cx="6020435" cy="460375"/>
          </a:xfrm>
          <a:prstGeom prst="rect">
            <a:avLst/>
          </a:prstGeom>
          <a:noFill/>
          <a:ln w="9525">
            <a:noFill/>
          </a:ln>
        </p:spPr>
        <p:txBody>
          <a:bodyPr wrap="none">
            <a:spAutoFit/>
          </a:bodyPr>
          <a:p>
            <a:r>
              <a:rPr lang="en-US" altLang="zh-CN" sz="2400" dirty="0">
                <a:latin typeface="Arial" panose="020B0604020202020204" pitchFamily="34" charset="0"/>
              </a:rPr>
              <a:t>WordCount.java</a:t>
            </a:r>
            <a:r>
              <a:rPr lang="zh-CN" altLang="zh-CN" sz="2400" dirty="0">
                <a:latin typeface="Arial" panose="020B0604020202020204" pitchFamily="34" charset="0"/>
              </a:rPr>
              <a:t>提供主函数，其内容如下：</a:t>
            </a:r>
            <a:endParaRPr lang="zh-CN" altLang="zh-CN" sz="2400" dirty="0">
              <a:latin typeface="Arial" panose="020B0604020202020204" pitchFamily="34" charset="0"/>
            </a:endParaRPr>
          </a:p>
        </p:txBody>
      </p:sp>
      <p:graphicFrame>
        <p:nvGraphicFramePr>
          <p:cNvPr id="4" name="表格 3"/>
          <p:cNvGraphicFramePr>
            <a:graphicFrameLocks noGrp="1"/>
          </p:cNvGraphicFramePr>
          <p:nvPr/>
        </p:nvGraphicFramePr>
        <p:xfrm>
          <a:off x="1487805" y="556260"/>
          <a:ext cx="8780780" cy="6614160"/>
        </p:xfrm>
        <a:graphic>
          <a:graphicData uri="http://schemas.openxmlformats.org/drawingml/2006/table">
            <a:tbl>
              <a:tblPr/>
              <a:tblGrid>
                <a:gridCol w="8780780"/>
              </a:tblGrid>
              <a:tr h="5832475">
                <a:tc>
                  <a:txBody>
                    <a:bodyPr/>
                    <a:lstStyle/>
                    <a:p>
                      <a:pPr algn="just">
                        <a:spcAft>
                          <a:spcPts val="0"/>
                        </a:spcAft>
                      </a:pPr>
                      <a:r>
                        <a:rPr lang="en-US" sz="1400" kern="100" dirty="0">
                          <a:latin typeface="Calibri" panose="020F0502020204030204"/>
                          <a:ea typeface="宋体" panose="02010600030101010101" pitchFamily="2" charset="-122"/>
                          <a:cs typeface="Times New Roman" panose="02020603050405020304"/>
                        </a:rPr>
                        <a:t>package </a:t>
                      </a:r>
                      <a:r>
                        <a:rPr lang="en-US" sz="1400" kern="100" dirty="0" err="1">
                          <a:latin typeface="Calibri" panose="020F0502020204030204"/>
                          <a:ea typeface="宋体" panose="02010600030101010101" pitchFamily="2" charset="-122"/>
                          <a:cs typeface="Times New Roman" panose="02020603050405020304"/>
                        </a:rPr>
                        <a:t>cn.edu.xmu</a:t>
                      </a:r>
                      <a:r>
                        <a:rPr lang="en-US" sz="1400" kern="100" dirty="0">
                          <a:latin typeface="Calibri" panose="020F0502020204030204"/>
                          <a:ea typeface="宋体" panose="02010600030101010101" pitchFamily="2" charset="-122"/>
                          <a:cs typeface="Times New Roman" panose="02020603050405020304"/>
                        </a:rPr>
                        <a:t>;</a:t>
                      </a:r>
                      <a:endParaRPr lang="zh-CN" sz="1400" kern="100" dirty="0">
                        <a:latin typeface="Calibri" panose="020F0502020204030204"/>
                        <a:ea typeface="宋体" panose="02010600030101010101" pitchFamily="2" charset="-122"/>
                        <a:cs typeface="Times New Roman" panose="02020603050405020304"/>
                      </a:endParaRPr>
                    </a:p>
                    <a:p>
                      <a:pPr algn="just">
                        <a:spcAft>
                          <a:spcPts val="0"/>
                        </a:spcAft>
                      </a:pPr>
                      <a:r>
                        <a:rPr lang="en-US" sz="1400" kern="100" dirty="0">
                          <a:latin typeface="Calibri" panose="020F0502020204030204"/>
                          <a:ea typeface="宋体" panose="02010600030101010101" pitchFamily="2" charset="-122"/>
                          <a:cs typeface="Times New Roman" panose="02020603050405020304"/>
                        </a:rPr>
                        <a:t>import </a:t>
                      </a:r>
                      <a:r>
                        <a:rPr lang="en-US" sz="1400" kern="100" dirty="0" err="1">
                          <a:latin typeface="Calibri" panose="020F0502020204030204"/>
                          <a:ea typeface="宋体" panose="02010600030101010101" pitchFamily="2" charset="-122"/>
                          <a:cs typeface="Times New Roman" panose="02020603050405020304"/>
                        </a:rPr>
                        <a:t>org.apache.flink.api.java.DataSet</a:t>
                      </a:r>
                      <a:r>
                        <a:rPr lang="en-US" sz="1400" kern="100" dirty="0">
                          <a:latin typeface="Calibri" panose="020F0502020204030204"/>
                          <a:ea typeface="宋体" panose="02010600030101010101" pitchFamily="2" charset="-122"/>
                          <a:cs typeface="Times New Roman" panose="02020603050405020304"/>
                        </a:rPr>
                        <a:t>;</a:t>
                      </a:r>
                      <a:endParaRPr lang="zh-CN" sz="1400" kern="100" dirty="0">
                        <a:latin typeface="Calibri" panose="020F0502020204030204"/>
                        <a:ea typeface="宋体" panose="02010600030101010101" pitchFamily="2" charset="-122"/>
                        <a:cs typeface="Times New Roman" panose="02020603050405020304"/>
                      </a:endParaRPr>
                    </a:p>
                    <a:p>
                      <a:pPr algn="just">
                        <a:spcAft>
                          <a:spcPts val="0"/>
                        </a:spcAft>
                      </a:pPr>
                      <a:r>
                        <a:rPr lang="en-US" sz="1400" kern="100" dirty="0">
                          <a:latin typeface="Calibri" panose="020F0502020204030204"/>
                          <a:ea typeface="宋体" panose="02010600030101010101" pitchFamily="2" charset="-122"/>
                          <a:cs typeface="Times New Roman" panose="02020603050405020304"/>
                        </a:rPr>
                        <a:t>import </a:t>
                      </a:r>
                      <a:r>
                        <a:rPr lang="en-US" sz="1400" kern="100" dirty="0" err="1">
                          <a:latin typeface="Calibri" panose="020F0502020204030204"/>
                          <a:ea typeface="宋体" panose="02010600030101010101" pitchFamily="2" charset="-122"/>
                          <a:cs typeface="Times New Roman" panose="02020603050405020304"/>
                        </a:rPr>
                        <a:t>org.apache.flink.api.java.ExecutionEnvironment</a:t>
                      </a:r>
                      <a:r>
                        <a:rPr lang="en-US" sz="1400" kern="100" dirty="0">
                          <a:latin typeface="Calibri" panose="020F0502020204030204"/>
                          <a:ea typeface="宋体" panose="02010600030101010101" pitchFamily="2" charset="-122"/>
                          <a:cs typeface="Times New Roman" panose="02020603050405020304"/>
                        </a:rPr>
                        <a:t>;</a:t>
                      </a:r>
                      <a:endParaRPr lang="zh-CN" sz="1400" kern="100" dirty="0">
                        <a:latin typeface="Calibri" panose="020F0502020204030204"/>
                        <a:ea typeface="宋体" panose="02010600030101010101" pitchFamily="2" charset="-122"/>
                        <a:cs typeface="Times New Roman" panose="02020603050405020304"/>
                      </a:endParaRPr>
                    </a:p>
                    <a:p>
                      <a:pPr algn="just">
                        <a:spcAft>
                          <a:spcPts val="0"/>
                        </a:spcAft>
                      </a:pPr>
                      <a:r>
                        <a:rPr lang="en-US" sz="1400" kern="100" dirty="0">
                          <a:latin typeface="Calibri" panose="020F0502020204030204"/>
                          <a:ea typeface="宋体" panose="02010600030101010101" pitchFamily="2" charset="-122"/>
                          <a:cs typeface="Times New Roman" panose="02020603050405020304"/>
                        </a:rPr>
                        <a:t>import </a:t>
                      </a:r>
                      <a:r>
                        <a:rPr lang="en-US" sz="1400" kern="100" dirty="0" err="1">
                          <a:latin typeface="Calibri" panose="020F0502020204030204"/>
                          <a:ea typeface="宋体" panose="02010600030101010101" pitchFamily="2" charset="-122"/>
                          <a:cs typeface="Times New Roman" panose="02020603050405020304"/>
                        </a:rPr>
                        <a:t>org.apache.flink.api.java.operators.AggregateOperator</a:t>
                      </a:r>
                      <a:r>
                        <a:rPr lang="en-US" sz="1400" kern="100" dirty="0">
                          <a:latin typeface="Calibri" panose="020F0502020204030204"/>
                          <a:ea typeface="宋体" panose="02010600030101010101" pitchFamily="2" charset="-122"/>
                          <a:cs typeface="Times New Roman" panose="02020603050405020304"/>
                        </a:rPr>
                        <a:t>;</a:t>
                      </a:r>
                      <a:endParaRPr lang="zh-CN" sz="1400" kern="100" dirty="0">
                        <a:latin typeface="Calibri" panose="020F0502020204030204"/>
                        <a:ea typeface="宋体" panose="02010600030101010101" pitchFamily="2" charset="-122"/>
                        <a:cs typeface="Times New Roman" panose="02020603050405020304"/>
                      </a:endParaRPr>
                    </a:p>
                    <a:p>
                      <a:pPr algn="just">
                        <a:spcAft>
                          <a:spcPts val="0"/>
                        </a:spcAft>
                      </a:pPr>
                      <a:r>
                        <a:rPr lang="en-US" sz="1400" kern="100" dirty="0">
                          <a:latin typeface="Calibri" panose="020F0502020204030204"/>
                          <a:ea typeface="宋体" panose="02010600030101010101" pitchFamily="2" charset="-122"/>
                          <a:cs typeface="Times New Roman" panose="02020603050405020304"/>
                        </a:rPr>
                        <a:t>import </a:t>
                      </a:r>
                      <a:r>
                        <a:rPr lang="en-US" sz="1400" kern="100" dirty="0" err="1">
                          <a:latin typeface="Calibri" panose="020F0502020204030204"/>
                          <a:ea typeface="宋体" panose="02010600030101010101" pitchFamily="2" charset="-122"/>
                          <a:cs typeface="Times New Roman" panose="02020603050405020304"/>
                        </a:rPr>
                        <a:t>org.apache.flink.api.java.utils.ParameterTool</a:t>
                      </a:r>
                      <a:r>
                        <a:rPr lang="en-US" sz="1400" kern="100" dirty="0">
                          <a:latin typeface="Calibri" panose="020F0502020204030204"/>
                          <a:ea typeface="宋体" panose="02010600030101010101" pitchFamily="2" charset="-122"/>
                          <a:cs typeface="Times New Roman" panose="02020603050405020304"/>
                        </a:rPr>
                        <a:t>;</a:t>
                      </a:r>
                      <a:endParaRPr lang="zh-CN" sz="1400" kern="100" dirty="0">
                        <a:latin typeface="Calibri" panose="020F0502020204030204"/>
                        <a:ea typeface="宋体" panose="02010600030101010101" pitchFamily="2" charset="-122"/>
                        <a:cs typeface="Times New Roman" panose="02020603050405020304"/>
                      </a:endParaRPr>
                    </a:p>
                    <a:p>
                      <a:pPr algn="just">
                        <a:spcAft>
                          <a:spcPts val="0"/>
                        </a:spcAft>
                      </a:pPr>
                      <a:r>
                        <a:rPr lang="en-US" sz="1400" kern="100" dirty="0">
                          <a:latin typeface="Calibri" panose="020F0502020204030204"/>
                          <a:ea typeface="宋体" panose="02010600030101010101" pitchFamily="2" charset="-122"/>
                          <a:cs typeface="Times New Roman" panose="02020603050405020304"/>
                        </a:rPr>
                        <a:t>public class </a:t>
                      </a:r>
                      <a:r>
                        <a:rPr lang="en-US" sz="1400" kern="100" dirty="0" err="1">
                          <a:latin typeface="Calibri" panose="020F0502020204030204"/>
                          <a:ea typeface="宋体" panose="02010600030101010101" pitchFamily="2" charset="-122"/>
                          <a:cs typeface="Times New Roman" panose="02020603050405020304"/>
                        </a:rPr>
                        <a:t>WordCount</a:t>
                      </a:r>
                      <a:r>
                        <a:rPr lang="en-US" sz="1400" kern="100" dirty="0">
                          <a:latin typeface="Calibri" panose="020F0502020204030204"/>
                          <a:ea typeface="宋体" panose="02010600030101010101" pitchFamily="2" charset="-122"/>
                          <a:cs typeface="Times New Roman" panose="02020603050405020304"/>
                        </a:rPr>
                        <a:t> {</a:t>
                      </a:r>
                      <a:endParaRPr lang="zh-CN" sz="1400" kern="100" dirty="0">
                        <a:latin typeface="Calibri" panose="020F0502020204030204"/>
                        <a:ea typeface="宋体" panose="02010600030101010101" pitchFamily="2" charset="-122"/>
                        <a:cs typeface="Times New Roman" panose="02020603050405020304"/>
                      </a:endParaRPr>
                    </a:p>
                    <a:p>
                      <a:pPr algn="just">
                        <a:spcAft>
                          <a:spcPts val="0"/>
                        </a:spcAft>
                      </a:pPr>
                      <a:r>
                        <a:rPr lang="en-US" sz="1400" kern="100" dirty="0">
                          <a:latin typeface="Calibri" panose="020F0502020204030204"/>
                          <a:ea typeface="宋体" panose="02010600030101010101" pitchFamily="2" charset="-122"/>
                          <a:cs typeface="Times New Roman" panose="02020603050405020304"/>
                        </a:rPr>
                        <a:t>    public </a:t>
                      </a:r>
                      <a:r>
                        <a:rPr lang="en-US" sz="1400" kern="100" dirty="0" err="1">
                          <a:latin typeface="Calibri" panose="020F0502020204030204"/>
                          <a:ea typeface="宋体" panose="02010600030101010101" pitchFamily="2" charset="-122"/>
                          <a:cs typeface="Times New Roman" panose="02020603050405020304"/>
                        </a:rPr>
                        <a:t>WordCount</a:t>
                      </a:r>
                      <a:r>
                        <a:rPr lang="en-US" sz="1400" kern="100" dirty="0">
                          <a:latin typeface="Calibri" panose="020F0502020204030204"/>
                          <a:ea typeface="宋体" panose="02010600030101010101" pitchFamily="2" charset="-122"/>
                          <a:cs typeface="Times New Roman" panose="02020603050405020304"/>
                        </a:rPr>
                        <a:t>(){}</a:t>
                      </a:r>
                      <a:endParaRPr lang="zh-CN" sz="1400" kern="100" dirty="0">
                        <a:latin typeface="Calibri" panose="020F0502020204030204"/>
                        <a:ea typeface="宋体" panose="02010600030101010101" pitchFamily="2" charset="-122"/>
                        <a:cs typeface="Times New Roman" panose="02020603050405020304"/>
                      </a:endParaRPr>
                    </a:p>
                    <a:p>
                      <a:pPr algn="just">
                        <a:spcAft>
                          <a:spcPts val="0"/>
                        </a:spcAft>
                      </a:pPr>
                      <a:r>
                        <a:rPr lang="en-US" sz="1400" kern="100" dirty="0">
                          <a:latin typeface="Calibri" panose="020F0502020204030204"/>
                          <a:ea typeface="宋体" panose="02010600030101010101" pitchFamily="2" charset="-122"/>
                          <a:cs typeface="Times New Roman" panose="02020603050405020304"/>
                        </a:rPr>
                        <a:t>    public static void main(String[] </a:t>
                      </a:r>
                      <a:r>
                        <a:rPr lang="en-US" sz="1400" kern="100" dirty="0" err="1">
                          <a:latin typeface="Calibri" panose="020F0502020204030204"/>
                          <a:ea typeface="宋体" panose="02010600030101010101" pitchFamily="2" charset="-122"/>
                          <a:cs typeface="Times New Roman" panose="02020603050405020304"/>
                        </a:rPr>
                        <a:t>args</a:t>
                      </a:r>
                      <a:r>
                        <a:rPr lang="en-US" sz="1400" kern="100" dirty="0">
                          <a:latin typeface="Calibri" panose="020F0502020204030204"/>
                          <a:ea typeface="宋体" panose="02010600030101010101" pitchFamily="2" charset="-122"/>
                          <a:cs typeface="Times New Roman" panose="02020603050405020304"/>
                        </a:rPr>
                        <a:t>) throws Exception {</a:t>
                      </a:r>
                      <a:endParaRPr lang="zh-CN" sz="1400" kern="100" dirty="0">
                        <a:latin typeface="Calibri" panose="020F0502020204030204"/>
                        <a:ea typeface="宋体" panose="02010600030101010101" pitchFamily="2" charset="-122"/>
                        <a:cs typeface="Times New Roman" panose="02020603050405020304"/>
                      </a:endParaRPr>
                    </a:p>
                    <a:p>
                      <a:pPr algn="just">
                        <a:spcAft>
                          <a:spcPts val="0"/>
                        </a:spcAft>
                      </a:pPr>
                      <a:r>
                        <a:rPr lang="en-US" sz="1400" kern="100" dirty="0">
                          <a:latin typeface="Calibri" panose="020F0502020204030204"/>
                          <a:ea typeface="宋体" panose="02010600030101010101" pitchFamily="2" charset="-122"/>
                          <a:cs typeface="Times New Roman" panose="02020603050405020304"/>
                        </a:rPr>
                        <a:t>        </a:t>
                      </a:r>
                      <a:r>
                        <a:rPr lang="en-US" sz="1400" kern="100" dirty="0" err="1">
                          <a:latin typeface="Calibri" panose="020F0502020204030204"/>
                          <a:ea typeface="宋体" panose="02010600030101010101" pitchFamily="2" charset="-122"/>
                          <a:cs typeface="Times New Roman" panose="02020603050405020304"/>
                        </a:rPr>
                        <a:t>ParameterTool</a:t>
                      </a:r>
                      <a:r>
                        <a:rPr lang="en-US" sz="1400" kern="100" dirty="0">
                          <a:latin typeface="Calibri" panose="020F0502020204030204"/>
                          <a:ea typeface="宋体" panose="02010600030101010101" pitchFamily="2" charset="-122"/>
                          <a:cs typeface="Times New Roman" panose="02020603050405020304"/>
                        </a:rPr>
                        <a:t> </a:t>
                      </a:r>
                      <a:r>
                        <a:rPr lang="en-US" sz="1400" kern="100" dirty="0" err="1">
                          <a:latin typeface="Calibri" panose="020F0502020204030204"/>
                          <a:ea typeface="宋体" panose="02010600030101010101" pitchFamily="2" charset="-122"/>
                          <a:cs typeface="Times New Roman" panose="02020603050405020304"/>
                        </a:rPr>
                        <a:t>params</a:t>
                      </a:r>
                      <a:r>
                        <a:rPr lang="en-US" sz="1400" kern="100" dirty="0">
                          <a:latin typeface="Calibri" panose="020F0502020204030204"/>
                          <a:ea typeface="宋体" panose="02010600030101010101" pitchFamily="2" charset="-122"/>
                          <a:cs typeface="Times New Roman" panose="02020603050405020304"/>
                        </a:rPr>
                        <a:t> = </a:t>
                      </a:r>
                      <a:r>
                        <a:rPr lang="en-US" sz="1400" kern="100" dirty="0" err="1">
                          <a:latin typeface="Calibri" panose="020F0502020204030204"/>
                          <a:ea typeface="宋体" panose="02010600030101010101" pitchFamily="2" charset="-122"/>
                          <a:cs typeface="Times New Roman" panose="02020603050405020304"/>
                        </a:rPr>
                        <a:t>ParameterTool.fromArgs</a:t>
                      </a:r>
                      <a:r>
                        <a:rPr lang="en-US" sz="1400" kern="100" dirty="0">
                          <a:latin typeface="Calibri" panose="020F0502020204030204"/>
                          <a:ea typeface="宋体" panose="02010600030101010101" pitchFamily="2" charset="-122"/>
                          <a:cs typeface="Times New Roman" panose="02020603050405020304"/>
                        </a:rPr>
                        <a:t>(</a:t>
                      </a:r>
                      <a:r>
                        <a:rPr lang="en-US" sz="1400" kern="100" dirty="0" err="1">
                          <a:latin typeface="Calibri" panose="020F0502020204030204"/>
                          <a:ea typeface="宋体" panose="02010600030101010101" pitchFamily="2" charset="-122"/>
                          <a:cs typeface="Times New Roman" panose="02020603050405020304"/>
                        </a:rPr>
                        <a:t>args</a:t>
                      </a:r>
                      <a:r>
                        <a:rPr lang="en-US" sz="1400" kern="100" dirty="0">
                          <a:latin typeface="Calibri" panose="020F0502020204030204"/>
                          <a:ea typeface="宋体" panose="02010600030101010101" pitchFamily="2" charset="-122"/>
                          <a:cs typeface="Times New Roman" panose="02020603050405020304"/>
                        </a:rPr>
                        <a:t>);</a:t>
                      </a:r>
                      <a:endParaRPr lang="zh-CN" sz="1400" kern="100" dirty="0">
                        <a:latin typeface="Calibri" panose="020F0502020204030204"/>
                        <a:ea typeface="宋体" panose="02010600030101010101" pitchFamily="2" charset="-122"/>
                        <a:cs typeface="Times New Roman" panose="02020603050405020304"/>
                      </a:endParaRPr>
                    </a:p>
                    <a:p>
                      <a:pPr algn="just">
                        <a:spcAft>
                          <a:spcPts val="0"/>
                        </a:spcAft>
                      </a:pPr>
                      <a:r>
                        <a:rPr lang="en-US" sz="1400" kern="100" dirty="0">
                          <a:latin typeface="Calibri" panose="020F0502020204030204"/>
                          <a:ea typeface="宋体" panose="02010600030101010101" pitchFamily="2" charset="-122"/>
                          <a:cs typeface="Times New Roman" panose="02020603050405020304"/>
                        </a:rPr>
                        <a:t>        </a:t>
                      </a:r>
                      <a:r>
                        <a:rPr lang="en-US" sz="1400" kern="100" dirty="0" err="1">
                          <a:latin typeface="Calibri" panose="020F0502020204030204"/>
                          <a:ea typeface="宋体" panose="02010600030101010101" pitchFamily="2" charset="-122"/>
                          <a:cs typeface="Times New Roman" panose="02020603050405020304"/>
                        </a:rPr>
                        <a:t>ExecutionEnvironment</a:t>
                      </a:r>
                      <a:r>
                        <a:rPr lang="en-US" sz="1400" kern="100" dirty="0">
                          <a:latin typeface="Calibri" panose="020F0502020204030204"/>
                          <a:ea typeface="宋体" panose="02010600030101010101" pitchFamily="2" charset="-122"/>
                          <a:cs typeface="Times New Roman" panose="02020603050405020304"/>
                        </a:rPr>
                        <a:t> </a:t>
                      </a:r>
                      <a:r>
                        <a:rPr lang="en-US" sz="1400" kern="100" dirty="0" err="1">
                          <a:latin typeface="Calibri" panose="020F0502020204030204"/>
                          <a:ea typeface="宋体" panose="02010600030101010101" pitchFamily="2" charset="-122"/>
                          <a:cs typeface="Times New Roman" panose="02020603050405020304"/>
                        </a:rPr>
                        <a:t>env</a:t>
                      </a:r>
                      <a:r>
                        <a:rPr lang="en-US" sz="1400" kern="100" dirty="0">
                          <a:latin typeface="Calibri" panose="020F0502020204030204"/>
                          <a:ea typeface="宋体" panose="02010600030101010101" pitchFamily="2" charset="-122"/>
                          <a:cs typeface="Times New Roman" panose="02020603050405020304"/>
                        </a:rPr>
                        <a:t> = </a:t>
                      </a:r>
                      <a:r>
                        <a:rPr lang="en-US" sz="1400" kern="100" dirty="0" err="1">
                          <a:latin typeface="Calibri" panose="020F0502020204030204"/>
                          <a:ea typeface="宋体" panose="02010600030101010101" pitchFamily="2" charset="-122"/>
                          <a:cs typeface="Times New Roman" panose="02020603050405020304"/>
                        </a:rPr>
                        <a:t>ExecutionEnvironment.getExecutionEnvironment</a:t>
                      </a:r>
                      <a:r>
                        <a:rPr lang="en-US" sz="1400" kern="100" dirty="0">
                          <a:latin typeface="Calibri" panose="020F0502020204030204"/>
                          <a:ea typeface="宋体" panose="02010600030101010101" pitchFamily="2" charset="-122"/>
                          <a:cs typeface="Times New Roman" panose="02020603050405020304"/>
                        </a:rPr>
                        <a:t>();</a:t>
                      </a:r>
                      <a:endParaRPr lang="zh-CN" sz="1400" kern="100" dirty="0">
                        <a:latin typeface="Calibri" panose="020F0502020204030204"/>
                        <a:ea typeface="宋体" panose="02010600030101010101" pitchFamily="2" charset="-122"/>
                        <a:cs typeface="Times New Roman" panose="02020603050405020304"/>
                      </a:endParaRPr>
                    </a:p>
                    <a:p>
                      <a:pPr algn="just">
                        <a:spcAft>
                          <a:spcPts val="0"/>
                        </a:spcAft>
                      </a:pPr>
                      <a:r>
                        <a:rPr lang="en-US" sz="1400" kern="100" dirty="0">
                          <a:latin typeface="Calibri" panose="020F0502020204030204"/>
                          <a:ea typeface="宋体" panose="02010600030101010101" pitchFamily="2" charset="-122"/>
                          <a:cs typeface="Times New Roman" panose="02020603050405020304"/>
                        </a:rPr>
                        <a:t>        </a:t>
                      </a:r>
                      <a:r>
                        <a:rPr lang="en-US" sz="1400" kern="100" dirty="0" err="1">
                          <a:latin typeface="Calibri" panose="020F0502020204030204"/>
                          <a:ea typeface="宋体" panose="02010600030101010101" pitchFamily="2" charset="-122"/>
                          <a:cs typeface="Times New Roman" panose="02020603050405020304"/>
                        </a:rPr>
                        <a:t>env.getConfig</a:t>
                      </a:r>
                      <a:r>
                        <a:rPr lang="en-US" sz="1400" kern="100" dirty="0">
                          <a:latin typeface="Calibri" panose="020F0502020204030204"/>
                          <a:ea typeface="宋体" panose="02010600030101010101" pitchFamily="2" charset="-122"/>
                          <a:cs typeface="Times New Roman" panose="02020603050405020304"/>
                        </a:rPr>
                        <a:t>().</a:t>
                      </a:r>
                      <a:r>
                        <a:rPr lang="en-US" sz="1400" kern="100" dirty="0" err="1">
                          <a:latin typeface="Calibri" panose="020F0502020204030204"/>
                          <a:ea typeface="宋体" panose="02010600030101010101" pitchFamily="2" charset="-122"/>
                          <a:cs typeface="Times New Roman" panose="02020603050405020304"/>
                        </a:rPr>
                        <a:t>setGlobalJobParameters</a:t>
                      </a:r>
                      <a:r>
                        <a:rPr lang="en-US" sz="1400" kern="100" dirty="0">
                          <a:latin typeface="Calibri" panose="020F0502020204030204"/>
                          <a:ea typeface="宋体" panose="02010600030101010101" pitchFamily="2" charset="-122"/>
                          <a:cs typeface="Times New Roman" panose="02020603050405020304"/>
                        </a:rPr>
                        <a:t>(</a:t>
                      </a:r>
                      <a:r>
                        <a:rPr lang="en-US" sz="1400" kern="100" dirty="0" err="1">
                          <a:latin typeface="Calibri" panose="020F0502020204030204"/>
                          <a:ea typeface="宋体" panose="02010600030101010101" pitchFamily="2" charset="-122"/>
                          <a:cs typeface="Times New Roman" panose="02020603050405020304"/>
                        </a:rPr>
                        <a:t>params</a:t>
                      </a:r>
                      <a:r>
                        <a:rPr lang="en-US" sz="1400" kern="100" dirty="0">
                          <a:latin typeface="Calibri" panose="020F0502020204030204"/>
                          <a:ea typeface="宋体" panose="02010600030101010101" pitchFamily="2" charset="-122"/>
                          <a:cs typeface="Times New Roman" panose="02020603050405020304"/>
                        </a:rPr>
                        <a:t>);</a:t>
                      </a:r>
                      <a:endParaRPr lang="zh-CN" sz="1400" kern="100" dirty="0">
                        <a:latin typeface="Calibri" panose="020F0502020204030204"/>
                        <a:ea typeface="宋体" panose="02010600030101010101" pitchFamily="2" charset="-122"/>
                        <a:cs typeface="Times New Roman" panose="02020603050405020304"/>
                      </a:endParaRPr>
                    </a:p>
                    <a:p>
                      <a:pPr algn="just">
                        <a:spcAft>
                          <a:spcPts val="0"/>
                        </a:spcAft>
                      </a:pPr>
                      <a:r>
                        <a:rPr lang="en-US" sz="1400" kern="100" dirty="0">
                          <a:latin typeface="Calibri" panose="020F0502020204030204"/>
                          <a:ea typeface="宋体" panose="02010600030101010101" pitchFamily="2" charset="-122"/>
                          <a:cs typeface="Times New Roman" panose="02020603050405020304"/>
                        </a:rPr>
                        <a:t>        Object text;</a:t>
                      </a:r>
                      <a:endParaRPr lang="zh-CN" sz="1400" kern="100" dirty="0">
                        <a:latin typeface="Calibri" panose="020F0502020204030204"/>
                        <a:ea typeface="宋体" panose="02010600030101010101" pitchFamily="2" charset="-122"/>
                        <a:cs typeface="Times New Roman" panose="02020603050405020304"/>
                      </a:endParaRPr>
                    </a:p>
                    <a:p>
                      <a:pPr algn="just">
                        <a:spcAft>
                          <a:spcPts val="0"/>
                        </a:spcAft>
                      </a:pPr>
                      <a:r>
                        <a:rPr lang="en-US" sz="1400" kern="100" dirty="0">
                          <a:latin typeface="Calibri" panose="020F0502020204030204"/>
                          <a:ea typeface="宋体" panose="02010600030101010101" pitchFamily="2" charset="-122"/>
                          <a:cs typeface="Times New Roman" panose="02020603050405020304"/>
                        </a:rPr>
                        <a:t>        //</a:t>
                      </a:r>
                      <a:r>
                        <a:rPr lang="zh-CN" sz="1400" kern="100" dirty="0">
                          <a:latin typeface="Calibri" panose="020F0502020204030204"/>
                          <a:ea typeface="宋体" panose="02010600030101010101" pitchFamily="2" charset="-122"/>
                          <a:cs typeface="Times New Roman" panose="02020603050405020304"/>
                        </a:rPr>
                        <a:t>如果没有指定输入路径，则默认使用</a:t>
                      </a:r>
                      <a:r>
                        <a:rPr lang="en-US" sz="1400" kern="100" dirty="0" err="1">
                          <a:latin typeface="Calibri" panose="020F0502020204030204"/>
                          <a:ea typeface="宋体" panose="02010600030101010101" pitchFamily="2" charset="-122"/>
                          <a:cs typeface="Times New Roman" panose="02020603050405020304"/>
                        </a:rPr>
                        <a:t>WordCountData</a:t>
                      </a:r>
                      <a:r>
                        <a:rPr lang="zh-CN" sz="1400" kern="100" dirty="0">
                          <a:latin typeface="Calibri" panose="020F0502020204030204"/>
                          <a:ea typeface="宋体" panose="02010600030101010101" pitchFamily="2" charset="-122"/>
                          <a:cs typeface="Times New Roman" panose="02020603050405020304"/>
                        </a:rPr>
                        <a:t>中提供的数据</a:t>
                      </a:r>
                      <a:endParaRPr lang="zh-CN" sz="1400" kern="100" dirty="0">
                        <a:latin typeface="Calibri" panose="020F0502020204030204"/>
                        <a:ea typeface="宋体" panose="02010600030101010101" pitchFamily="2" charset="-122"/>
                        <a:cs typeface="Times New Roman" panose="02020603050405020304"/>
                      </a:endParaRPr>
                    </a:p>
                    <a:p>
                      <a:pPr algn="just">
                        <a:spcAft>
                          <a:spcPts val="0"/>
                        </a:spcAft>
                      </a:pPr>
                      <a:r>
                        <a:rPr lang="en-US" sz="1400" kern="100" dirty="0">
                          <a:latin typeface="Calibri" panose="020F0502020204030204"/>
                          <a:ea typeface="宋体" panose="02010600030101010101" pitchFamily="2" charset="-122"/>
                          <a:cs typeface="Times New Roman" panose="02020603050405020304"/>
                        </a:rPr>
                        <a:t>        if(</a:t>
                      </a:r>
                      <a:r>
                        <a:rPr lang="en-US" sz="1400" kern="100" dirty="0" err="1">
                          <a:latin typeface="Calibri" panose="020F0502020204030204"/>
                          <a:ea typeface="宋体" panose="02010600030101010101" pitchFamily="2" charset="-122"/>
                          <a:cs typeface="Times New Roman" panose="02020603050405020304"/>
                        </a:rPr>
                        <a:t>params.has</a:t>
                      </a:r>
                      <a:r>
                        <a:rPr lang="en-US" sz="1400" kern="100" dirty="0">
                          <a:latin typeface="Calibri" panose="020F0502020204030204"/>
                          <a:ea typeface="宋体" panose="02010600030101010101" pitchFamily="2" charset="-122"/>
                          <a:cs typeface="Times New Roman" panose="02020603050405020304"/>
                        </a:rPr>
                        <a:t>("input")){</a:t>
                      </a:r>
                      <a:endParaRPr lang="zh-CN" sz="1400" kern="100" dirty="0">
                        <a:latin typeface="Calibri" panose="020F0502020204030204"/>
                        <a:ea typeface="宋体" panose="02010600030101010101" pitchFamily="2" charset="-122"/>
                        <a:cs typeface="Times New Roman" panose="02020603050405020304"/>
                      </a:endParaRPr>
                    </a:p>
                    <a:p>
                      <a:pPr algn="just">
                        <a:spcAft>
                          <a:spcPts val="0"/>
                        </a:spcAft>
                      </a:pPr>
                      <a:r>
                        <a:rPr lang="en-US" sz="1400" kern="100" dirty="0">
                          <a:latin typeface="Calibri" panose="020F0502020204030204"/>
                          <a:ea typeface="宋体" panose="02010600030101010101" pitchFamily="2" charset="-122"/>
                          <a:cs typeface="Times New Roman" panose="02020603050405020304"/>
                        </a:rPr>
                        <a:t>            text = </a:t>
                      </a:r>
                      <a:r>
                        <a:rPr lang="en-US" sz="1400" kern="100" dirty="0" err="1">
                          <a:latin typeface="Calibri" panose="020F0502020204030204"/>
                          <a:ea typeface="宋体" panose="02010600030101010101" pitchFamily="2" charset="-122"/>
                          <a:cs typeface="Times New Roman" panose="02020603050405020304"/>
                        </a:rPr>
                        <a:t>env.readTextFile</a:t>
                      </a:r>
                      <a:r>
                        <a:rPr lang="en-US" sz="1400" kern="100" dirty="0">
                          <a:latin typeface="Calibri" panose="020F0502020204030204"/>
                          <a:ea typeface="宋体" panose="02010600030101010101" pitchFamily="2" charset="-122"/>
                          <a:cs typeface="Times New Roman" panose="02020603050405020304"/>
                        </a:rPr>
                        <a:t>(</a:t>
                      </a:r>
                      <a:r>
                        <a:rPr lang="en-US" sz="1400" kern="100" dirty="0" err="1">
                          <a:latin typeface="Calibri" panose="020F0502020204030204"/>
                          <a:ea typeface="宋体" panose="02010600030101010101" pitchFamily="2" charset="-122"/>
                          <a:cs typeface="Times New Roman" panose="02020603050405020304"/>
                        </a:rPr>
                        <a:t>params.get</a:t>
                      </a:r>
                      <a:r>
                        <a:rPr lang="en-US" sz="1400" kern="100" dirty="0">
                          <a:latin typeface="Calibri" panose="020F0502020204030204"/>
                          <a:ea typeface="宋体" panose="02010600030101010101" pitchFamily="2" charset="-122"/>
                          <a:cs typeface="Times New Roman" panose="02020603050405020304"/>
                        </a:rPr>
                        <a:t>("input"));</a:t>
                      </a:r>
                      <a:endParaRPr lang="zh-CN" sz="1400" kern="100" dirty="0">
                        <a:latin typeface="Calibri" panose="020F0502020204030204"/>
                        <a:ea typeface="宋体" panose="02010600030101010101" pitchFamily="2" charset="-122"/>
                        <a:cs typeface="Times New Roman" panose="02020603050405020304"/>
                      </a:endParaRPr>
                    </a:p>
                    <a:p>
                      <a:pPr algn="just">
                        <a:spcAft>
                          <a:spcPts val="0"/>
                        </a:spcAft>
                      </a:pPr>
                      <a:r>
                        <a:rPr lang="en-US" sz="1400" kern="100" dirty="0">
                          <a:latin typeface="Calibri" panose="020F0502020204030204"/>
                          <a:ea typeface="宋体" panose="02010600030101010101" pitchFamily="2" charset="-122"/>
                          <a:cs typeface="Times New Roman" panose="02020603050405020304"/>
                        </a:rPr>
                        <a:t>        }else{</a:t>
                      </a:r>
                      <a:endParaRPr lang="zh-CN" sz="1400" kern="100" dirty="0">
                        <a:latin typeface="Calibri" panose="020F0502020204030204"/>
                        <a:ea typeface="宋体" panose="02010600030101010101" pitchFamily="2" charset="-122"/>
                        <a:cs typeface="Times New Roman" panose="02020603050405020304"/>
                      </a:endParaRPr>
                    </a:p>
                    <a:p>
                      <a:pPr algn="just">
                        <a:spcAft>
                          <a:spcPts val="0"/>
                        </a:spcAft>
                      </a:pPr>
                      <a:r>
                        <a:rPr lang="en-US" sz="1400" kern="100" dirty="0">
                          <a:latin typeface="Calibri" panose="020F0502020204030204"/>
                          <a:ea typeface="宋体" panose="02010600030101010101" pitchFamily="2" charset="-122"/>
                          <a:cs typeface="Times New Roman" panose="02020603050405020304"/>
                        </a:rPr>
                        <a:t>            </a:t>
                      </a:r>
                      <a:r>
                        <a:rPr lang="en-US" sz="1400" kern="100" dirty="0" err="1">
                          <a:latin typeface="Calibri" panose="020F0502020204030204"/>
                          <a:ea typeface="宋体" panose="02010600030101010101" pitchFamily="2" charset="-122"/>
                          <a:cs typeface="Times New Roman" panose="02020603050405020304"/>
                        </a:rPr>
                        <a:t>System.out.println</a:t>
                      </a:r>
                      <a:r>
                        <a:rPr lang="en-US" sz="1400" kern="100" dirty="0">
                          <a:latin typeface="Calibri" panose="020F0502020204030204"/>
                          <a:ea typeface="宋体" panose="02010600030101010101" pitchFamily="2" charset="-122"/>
                          <a:cs typeface="Times New Roman" panose="02020603050405020304"/>
                        </a:rPr>
                        <a:t>("Executing </a:t>
                      </a:r>
                      <a:r>
                        <a:rPr lang="en-US" sz="1400" kern="100" dirty="0" err="1">
                          <a:latin typeface="Calibri" panose="020F0502020204030204"/>
                          <a:ea typeface="宋体" panose="02010600030101010101" pitchFamily="2" charset="-122"/>
                          <a:cs typeface="Times New Roman" panose="02020603050405020304"/>
                        </a:rPr>
                        <a:t>WordCount</a:t>
                      </a:r>
                      <a:r>
                        <a:rPr lang="en-US" sz="1400" kern="100" dirty="0">
                          <a:latin typeface="Calibri" panose="020F0502020204030204"/>
                          <a:ea typeface="宋体" panose="02010600030101010101" pitchFamily="2" charset="-122"/>
                          <a:cs typeface="Times New Roman" panose="02020603050405020304"/>
                        </a:rPr>
                        <a:t> example with default input data set.");</a:t>
                      </a:r>
                      <a:endParaRPr lang="zh-CN" sz="1400" kern="100" dirty="0">
                        <a:latin typeface="Calibri" panose="020F0502020204030204"/>
                        <a:ea typeface="宋体" panose="02010600030101010101" pitchFamily="2" charset="-122"/>
                        <a:cs typeface="Times New Roman" panose="02020603050405020304"/>
                      </a:endParaRPr>
                    </a:p>
                    <a:p>
                      <a:pPr algn="just">
                        <a:spcAft>
                          <a:spcPts val="0"/>
                        </a:spcAft>
                      </a:pPr>
                      <a:r>
                        <a:rPr lang="en-US" sz="1400" kern="100" dirty="0">
                          <a:latin typeface="Calibri" panose="020F0502020204030204"/>
                          <a:ea typeface="宋体" panose="02010600030101010101" pitchFamily="2" charset="-122"/>
                          <a:cs typeface="Times New Roman" panose="02020603050405020304"/>
                        </a:rPr>
                        <a:t>            </a:t>
                      </a:r>
                      <a:r>
                        <a:rPr lang="en-US" sz="1400" kern="100" dirty="0" err="1">
                          <a:latin typeface="Calibri" panose="020F0502020204030204"/>
                          <a:ea typeface="宋体" panose="02010600030101010101" pitchFamily="2" charset="-122"/>
                          <a:cs typeface="Times New Roman" panose="02020603050405020304"/>
                        </a:rPr>
                        <a:t>System.out.println</a:t>
                      </a:r>
                      <a:r>
                        <a:rPr lang="en-US" sz="1400" kern="100" dirty="0">
                          <a:latin typeface="Calibri" panose="020F0502020204030204"/>
                          <a:ea typeface="宋体" panose="02010600030101010101" pitchFamily="2" charset="-122"/>
                          <a:cs typeface="Times New Roman" panose="02020603050405020304"/>
                        </a:rPr>
                        <a:t>("Use -- input to specify file input.");</a:t>
                      </a:r>
                      <a:endParaRPr lang="zh-CN" sz="1400" kern="100" dirty="0">
                        <a:latin typeface="Calibri" panose="020F0502020204030204"/>
                        <a:ea typeface="宋体" panose="02010600030101010101" pitchFamily="2" charset="-122"/>
                        <a:cs typeface="Times New Roman" panose="02020603050405020304"/>
                      </a:endParaRPr>
                    </a:p>
                    <a:p>
                      <a:pPr algn="just">
                        <a:spcAft>
                          <a:spcPts val="0"/>
                        </a:spcAft>
                      </a:pPr>
                      <a:r>
                        <a:rPr lang="en-US" sz="1400" kern="100" dirty="0">
                          <a:latin typeface="Calibri" panose="020F0502020204030204"/>
                          <a:ea typeface="宋体" panose="02010600030101010101" pitchFamily="2" charset="-122"/>
                          <a:cs typeface="Times New Roman" panose="02020603050405020304"/>
                        </a:rPr>
                        <a:t>            text = </a:t>
                      </a:r>
                      <a:r>
                        <a:rPr lang="en-US" sz="1400" kern="100" dirty="0" err="1">
                          <a:latin typeface="Calibri" panose="020F0502020204030204"/>
                          <a:ea typeface="宋体" panose="02010600030101010101" pitchFamily="2" charset="-122"/>
                          <a:cs typeface="Times New Roman" panose="02020603050405020304"/>
                        </a:rPr>
                        <a:t>WordCountData.getDefaultTextLineDataset</a:t>
                      </a:r>
                      <a:r>
                        <a:rPr lang="en-US" sz="1400" kern="100" dirty="0">
                          <a:latin typeface="Calibri" panose="020F0502020204030204"/>
                          <a:ea typeface="宋体" panose="02010600030101010101" pitchFamily="2" charset="-122"/>
                          <a:cs typeface="Times New Roman" panose="02020603050405020304"/>
                        </a:rPr>
                        <a:t>(</a:t>
                      </a:r>
                      <a:r>
                        <a:rPr lang="en-US" sz="1400" kern="100" dirty="0" err="1">
                          <a:latin typeface="Calibri" panose="020F0502020204030204"/>
                          <a:ea typeface="宋体" panose="02010600030101010101" pitchFamily="2" charset="-122"/>
                          <a:cs typeface="Times New Roman" panose="02020603050405020304"/>
                        </a:rPr>
                        <a:t>env</a:t>
                      </a:r>
                      <a:r>
                        <a:rPr lang="en-US" sz="1400" kern="100" dirty="0">
                          <a:latin typeface="Calibri" panose="020F0502020204030204"/>
                          <a:ea typeface="宋体" panose="02010600030101010101" pitchFamily="2" charset="-122"/>
                          <a:cs typeface="Times New Roman" panose="02020603050405020304"/>
                        </a:rPr>
                        <a:t>);</a:t>
                      </a:r>
                      <a:endParaRPr lang="zh-CN" sz="1400" kern="100" dirty="0">
                        <a:latin typeface="Calibri" panose="020F0502020204030204"/>
                        <a:ea typeface="宋体" panose="02010600030101010101" pitchFamily="2" charset="-122"/>
                        <a:cs typeface="Times New Roman" panose="02020603050405020304"/>
                      </a:endParaRPr>
                    </a:p>
                    <a:p>
                      <a:pPr algn="just">
                        <a:spcAft>
                          <a:spcPts val="0"/>
                        </a:spcAft>
                      </a:pPr>
                      <a:r>
                        <a:rPr lang="en-US" sz="1400" kern="100" dirty="0">
                          <a:latin typeface="Calibri" panose="020F0502020204030204"/>
                          <a:ea typeface="宋体" panose="02010600030101010101" pitchFamily="2" charset="-122"/>
                          <a:cs typeface="Times New Roman" panose="02020603050405020304"/>
                        </a:rPr>
                        <a:t>        }</a:t>
                      </a:r>
                      <a:endParaRPr lang="zh-CN" sz="1400" kern="100" dirty="0">
                        <a:latin typeface="Calibri" panose="020F0502020204030204"/>
                        <a:ea typeface="宋体" panose="02010600030101010101" pitchFamily="2" charset="-122"/>
                        <a:cs typeface="Times New Roman" panose="02020603050405020304"/>
                      </a:endParaRPr>
                    </a:p>
                    <a:p>
                      <a:pPr algn="just">
                        <a:spcAft>
                          <a:spcPts val="0"/>
                        </a:spcAft>
                      </a:pPr>
                      <a:r>
                        <a:rPr lang="en-US" sz="1400" kern="100" dirty="0">
                          <a:latin typeface="Calibri" panose="020F0502020204030204"/>
                          <a:ea typeface="宋体" panose="02010600030101010101" pitchFamily="2" charset="-122"/>
                          <a:cs typeface="Times New Roman" panose="02020603050405020304"/>
                        </a:rPr>
                        <a:t>        </a:t>
                      </a:r>
                      <a:r>
                        <a:rPr lang="en-US" sz="1400" kern="100" dirty="0" err="1">
                          <a:latin typeface="Calibri" panose="020F0502020204030204"/>
                          <a:ea typeface="宋体" panose="02010600030101010101" pitchFamily="2" charset="-122"/>
                          <a:cs typeface="Times New Roman" panose="02020603050405020304"/>
                        </a:rPr>
                        <a:t>AggregateOperator</a:t>
                      </a:r>
                      <a:r>
                        <a:rPr lang="en-US" sz="1400" kern="100" dirty="0">
                          <a:latin typeface="Calibri" panose="020F0502020204030204"/>
                          <a:ea typeface="宋体" panose="02010600030101010101" pitchFamily="2" charset="-122"/>
                          <a:cs typeface="Times New Roman" panose="02020603050405020304"/>
                        </a:rPr>
                        <a:t> counts = ((</a:t>
                      </a:r>
                      <a:r>
                        <a:rPr lang="en-US" sz="1400" kern="100" dirty="0" err="1">
                          <a:latin typeface="Calibri" panose="020F0502020204030204"/>
                          <a:ea typeface="宋体" panose="02010600030101010101" pitchFamily="2" charset="-122"/>
                          <a:cs typeface="Times New Roman" panose="02020603050405020304"/>
                        </a:rPr>
                        <a:t>DataSet</a:t>
                      </a:r>
                      <a:r>
                        <a:rPr lang="en-US" sz="1400" kern="100" dirty="0">
                          <a:latin typeface="Calibri" panose="020F0502020204030204"/>
                          <a:ea typeface="宋体" panose="02010600030101010101" pitchFamily="2" charset="-122"/>
                          <a:cs typeface="Times New Roman" panose="02020603050405020304"/>
                        </a:rPr>
                        <a:t>)text).</a:t>
                      </a:r>
                      <a:r>
                        <a:rPr lang="en-US" sz="1400" kern="100" dirty="0" err="1">
                          <a:highlight>
                            <a:srgbClr val="FFFF00"/>
                          </a:highlight>
                          <a:latin typeface="Calibri" panose="020F0502020204030204"/>
                          <a:ea typeface="宋体" panose="02010600030101010101" pitchFamily="2" charset="-122"/>
                          <a:cs typeface="Times New Roman" panose="02020603050405020304"/>
                        </a:rPr>
                        <a:t>flatMap</a:t>
                      </a:r>
                      <a:r>
                        <a:rPr lang="en-US" sz="1400" kern="100" dirty="0">
                          <a:latin typeface="Calibri" panose="020F0502020204030204"/>
                          <a:ea typeface="宋体" panose="02010600030101010101" pitchFamily="2" charset="-122"/>
                          <a:cs typeface="Times New Roman" panose="02020603050405020304"/>
                        </a:rPr>
                        <a:t>(new </a:t>
                      </a:r>
                      <a:r>
                        <a:rPr lang="en-US" sz="1400" kern="100" dirty="0" err="1">
                          <a:latin typeface="Calibri" panose="020F0502020204030204"/>
                          <a:ea typeface="宋体" panose="02010600030101010101" pitchFamily="2" charset="-122"/>
                          <a:cs typeface="Times New Roman" panose="02020603050405020304"/>
                        </a:rPr>
                        <a:t>WordCountTokenizer</a:t>
                      </a:r>
                      <a:r>
                        <a:rPr lang="en-US" sz="1400" kern="100" dirty="0">
                          <a:latin typeface="Calibri" panose="020F0502020204030204"/>
                          <a:ea typeface="宋体" panose="02010600030101010101" pitchFamily="2" charset="-122"/>
                          <a:cs typeface="Times New Roman" panose="02020603050405020304"/>
                        </a:rPr>
                        <a:t>()).</a:t>
                      </a:r>
                      <a:r>
                        <a:rPr lang="en-US" sz="1400" kern="100" dirty="0" err="1">
                          <a:latin typeface="Calibri" panose="020F0502020204030204"/>
                          <a:ea typeface="宋体" panose="02010600030101010101" pitchFamily="2" charset="-122"/>
                          <a:cs typeface="Times New Roman" panose="02020603050405020304"/>
                        </a:rPr>
                        <a:t>groupBy</a:t>
                      </a:r>
                      <a:r>
                        <a:rPr lang="en-US" sz="1400" kern="100" dirty="0">
                          <a:latin typeface="Calibri" panose="020F0502020204030204"/>
                          <a:ea typeface="宋体" panose="02010600030101010101" pitchFamily="2" charset="-122"/>
                          <a:cs typeface="Times New Roman" panose="02020603050405020304"/>
                        </a:rPr>
                        <a:t>(new </a:t>
                      </a:r>
                      <a:r>
                        <a:rPr lang="en-US" sz="1400" kern="100" dirty="0" err="1">
                          <a:latin typeface="Calibri" panose="020F0502020204030204"/>
                          <a:ea typeface="宋体" panose="02010600030101010101" pitchFamily="2" charset="-122"/>
                          <a:cs typeface="Times New Roman" panose="02020603050405020304"/>
                        </a:rPr>
                        <a:t>int</a:t>
                      </a:r>
                      <a:r>
                        <a:rPr lang="en-US" sz="1400" kern="100" dirty="0">
                          <a:latin typeface="Calibri" panose="020F0502020204030204"/>
                          <a:ea typeface="宋体" panose="02010600030101010101" pitchFamily="2" charset="-122"/>
                          <a:cs typeface="Times New Roman" panose="02020603050405020304"/>
                        </a:rPr>
                        <a:t>[]{0}).sum(1);</a:t>
                      </a:r>
                      <a:endParaRPr lang="zh-CN" sz="1400" kern="100" dirty="0">
                        <a:latin typeface="Calibri" panose="020F0502020204030204"/>
                        <a:ea typeface="宋体" panose="02010600030101010101" pitchFamily="2" charset="-122"/>
                        <a:cs typeface="Times New Roman" panose="02020603050405020304"/>
                      </a:endParaRPr>
                    </a:p>
                    <a:p>
                      <a:pPr algn="just">
                        <a:spcAft>
                          <a:spcPts val="0"/>
                        </a:spcAft>
                      </a:pPr>
                      <a:r>
                        <a:rPr lang="en-US" sz="1400" kern="100" dirty="0">
                          <a:latin typeface="Calibri" panose="020F0502020204030204"/>
                          <a:ea typeface="宋体" panose="02010600030101010101" pitchFamily="2" charset="-122"/>
                          <a:cs typeface="Times New Roman" panose="02020603050405020304"/>
                        </a:rPr>
                        <a:t>        //</a:t>
                      </a:r>
                      <a:r>
                        <a:rPr lang="zh-CN" sz="1400" kern="100" dirty="0">
                          <a:latin typeface="Calibri" panose="020F0502020204030204"/>
                          <a:ea typeface="宋体" panose="02010600030101010101" pitchFamily="2" charset="-122"/>
                          <a:cs typeface="Times New Roman" panose="02020603050405020304"/>
                        </a:rPr>
                        <a:t>如果没有指定输出，则默认打印到控制台</a:t>
                      </a:r>
                      <a:endParaRPr lang="zh-CN" sz="1400" kern="100" dirty="0">
                        <a:latin typeface="Calibri" panose="020F0502020204030204"/>
                        <a:ea typeface="宋体" panose="02010600030101010101" pitchFamily="2" charset="-122"/>
                        <a:cs typeface="Times New Roman" panose="02020603050405020304"/>
                      </a:endParaRPr>
                    </a:p>
                    <a:p>
                      <a:pPr algn="just">
                        <a:spcAft>
                          <a:spcPts val="0"/>
                        </a:spcAft>
                      </a:pPr>
                      <a:r>
                        <a:rPr lang="en-US" sz="1400" kern="100" dirty="0">
                          <a:latin typeface="Calibri" panose="020F0502020204030204"/>
                          <a:ea typeface="宋体" panose="02010600030101010101" pitchFamily="2" charset="-122"/>
                          <a:cs typeface="Times New Roman" panose="02020603050405020304"/>
                        </a:rPr>
                        <a:t>        if(</a:t>
                      </a:r>
                      <a:r>
                        <a:rPr lang="en-US" sz="1400" kern="100" dirty="0" err="1">
                          <a:latin typeface="Calibri" panose="020F0502020204030204"/>
                          <a:ea typeface="宋体" panose="02010600030101010101" pitchFamily="2" charset="-122"/>
                          <a:cs typeface="Times New Roman" panose="02020603050405020304"/>
                        </a:rPr>
                        <a:t>params.has</a:t>
                      </a:r>
                      <a:r>
                        <a:rPr lang="en-US" sz="1400" kern="100" dirty="0">
                          <a:latin typeface="Calibri" panose="020F0502020204030204"/>
                          <a:ea typeface="宋体" panose="02010600030101010101" pitchFamily="2" charset="-122"/>
                          <a:cs typeface="Times New Roman" panose="02020603050405020304"/>
                        </a:rPr>
                        <a:t>("output")){</a:t>
                      </a:r>
                      <a:endParaRPr lang="zh-CN" sz="1400" kern="100" dirty="0">
                        <a:latin typeface="Calibri" panose="020F0502020204030204"/>
                        <a:ea typeface="宋体" panose="02010600030101010101" pitchFamily="2" charset="-122"/>
                        <a:cs typeface="Times New Roman" panose="02020603050405020304"/>
                      </a:endParaRPr>
                    </a:p>
                    <a:p>
                      <a:pPr algn="just">
                        <a:spcAft>
                          <a:spcPts val="0"/>
                        </a:spcAft>
                      </a:pPr>
                      <a:r>
                        <a:rPr lang="en-US" sz="1400" kern="100" dirty="0">
                          <a:latin typeface="Calibri" panose="020F0502020204030204"/>
                          <a:ea typeface="宋体" panose="02010600030101010101" pitchFamily="2" charset="-122"/>
                          <a:cs typeface="Times New Roman" panose="02020603050405020304"/>
                        </a:rPr>
                        <a:t>            </a:t>
                      </a:r>
                      <a:r>
                        <a:rPr lang="en-US" sz="1400" kern="100" dirty="0" err="1">
                          <a:latin typeface="Calibri" panose="020F0502020204030204"/>
                          <a:ea typeface="宋体" panose="02010600030101010101" pitchFamily="2" charset="-122"/>
                          <a:cs typeface="Times New Roman" panose="02020603050405020304"/>
                        </a:rPr>
                        <a:t>counts.writeAsCsv</a:t>
                      </a:r>
                      <a:r>
                        <a:rPr lang="en-US" sz="1400" kern="100" dirty="0">
                          <a:latin typeface="Calibri" panose="020F0502020204030204"/>
                          <a:ea typeface="宋体" panose="02010600030101010101" pitchFamily="2" charset="-122"/>
                          <a:cs typeface="Times New Roman" panose="02020603050405020304"/>
                        </a:rPr>
                        <a:t>(</a:t>
                      </a:r>
                      <a:r>
                        <a:rPr lang="en-US" sz="1400" kern="100" dirty="0" err="1">
                          <a:latin typeface="Calibri" panose="020F0502020204030204"/>
                          <a:ea typeface="宋体" panose="02010600030101010101" pitchFamily="2" charset="-122"/>
                          <a:cs typeface="Times New Roman" panose="02020603050405020304"/>
                        </a:rPr>
                        <a:t>params.get</a:t>
                      </a:r>
                      <a:r>
                        <a:rPr lang="en-US" sz="1400" kern="100" dirty="0">
                          <a:latin typeface="Calibri" panose="020F0502020204030204"/>
                          <a:ea typeface="宋体" panose="02010600030101010101" pitchFamily="2" charset="-122"/>
                          <a:cs typeface="Times New Roman" panose="02020603050405020304"/>
                        </a:rPr>
                        <a:t>("output"),"\n", " ");</a:t>
                      </a:r>
                      <a:endParaRPr lang="zh-CN" sz="1400" kern="100" dirty="0">
                        <a:latin typeface="Calibri" panose="020F0502020204030204"/>
                        <a:ea typeface="宋体" panose="02010600030101010101" pitchFamily="2" charset="-122"/>
                        <a:cs typeface="Times New Roman" panose="02020603050405020304"/>
                      </a:endParaRPr>
                    </a:p>
                    <a:p>
                      <a:pPr algn="just">
                        <a:spcAft>
                          <a:spcPts val="0"/>
                        </a:spcAft>
                      </a:pPr>
                      <a:r>
                        <a:rPr lang="en-US" sz="1400" kern="100" dirty="0">
                          <a:latin typeface="Calibri" panose="020F0502020204030204"/>
                          <a:ea typeface="宋体" panose="02010600030101010101" pitchFamily="2" charset="-122"/>
                          <a:cs typeface="Times New Roman" panose="02020603050405020304"/>
                        </a:rPr>
                        <a:t>            </a:t>
                      </a:r>
                      <a:r>
                        <a:rPr lang="en-US" sz="1400" kern="100" dirty="0" err="1">
                          <a:latin typeface="Calibri" panose="020F0502020204030204"/>
                          <a:ea typeface="宋体" panose="02010600030101010101" pitchFamily="2" charset="-122"/>
                          <a:cs typeface="Times New Roman" panose="02020603050405020304"/>
                        </a:rPr>
                        <a:t>env.execute</a:t>
                      </a:r>
                      <a:r>
                        <a:rPr lang="en-US" sz="1400" kern="100" dirty="0">
                          <a:latin typeface="Calibri" panose="020F0502020204030204"/>
                          <a:ea typeface="宋体" panose="02010600030101010101" pitchFamily="2" charset="-122"/>
                          <a:cs typeface="Times New Roman" panose="02020603050405020304"/>
                        </a:rPr>
                        <a:t>();</a:t>
                      </a:r>
                      <a:endParaRPr lang="zh-CN" sz="1400" kern="100" dirty="0">
                        <a:latin typeface="Calibri" panose="020F0502020204030204"/>
                        <a:ea typeface="宋体" panose="02010600030101010101" pitchFamily="2" charset="-122"/>
                        <a:cs typeface="Times New Roman" panose="02020603050405020304"/>
                      </a:endParaRPr>
                    </a:p>
                    <a:p>
                      <a:pPr algn="just">
                        <a:spcAft>
                          <a:spcPts val="0"/>
                        </a:spcAft>
                      </a:pPr>
                      <a:r>
                        <a:rPr lang="en-US" sz="1400" kern="100" dirty="0">
                          <a:latin typeface="Calibri" panose="020F0502020204030204"/>
                          <a:ea typeface="宋体" panose="02010600030101010101" pitchFamily="2" charset="-122"/>
                          <a:cs typeface="Times New Roman" panose="02020603050405020304"/>
                        </a:rPr>
                        <a:t>        }else{</a:t>
                      </a:r>
                      <a:endParaRPr lang="zh-CN" sz="1400" kern="100" dirty="0">
                        <a:latin typeface="Calibri" panose="020F0502020204030204"/>
                        <a:ea typeface="宋体" panose="02010600030101010101" pitchFamily="2" charset="-122"/>
                        <a:cs typeface="Times New Roman" panose="02020603050405020304"/>
                      </a:endParaRPr>
                    </a:p>
                    <a:p>
                      <a:pPr algn="just">
                        <a:spcAft>
                          <a:spcPts val="0"/>
                        </a:spcAft>
                      </a:pPr>
                      <a:r>
                        <a:rPr lang="en-US" sz="1400" kern="100" dirty="0">
                          <a:latin typeface="Calibri" panose="020F0502020204030204"/>
                          <a:ea typeface="宋体" panose="02010600030101010101" pitchFamily="2" charset="-122"/>
                          <a:cs typeface="Times New Roman" panose="02020603050405020304"/>
                        </a:rPr>
                        <a:t>            </a:t>
                      </a:r>
                      <a:r>
                        <a:rPr lang="en-US" sz="1400" kern="100" dirty="0" err="1">
                          <a:latin typeface="Calibri" panose="020F0502020204030204"/>
                          <a:ea typeface="宋体" panose="02010600030101010101" pitchFamily="2" charset="-122"/>
                          <a:cs typeface="Times New Roman" panose="02020603050405020304"/>
                        </a:rPr>
                        <a:t>System.out.println</a:t>
                      </a:r>
                      <a:r>
                        <a:rPr lang="en-US" sz="1400" kern="100" dirty="0">
                          <a:latin typeface="Calibri" panose="020F0502020204030204"/>
                          <a:ea typeface="宋体" panose="02010600030101010101" pitchFamily="2" charset="-122"/>
                          <a:cs typeface="Times New Roman" panose="02020603050405020304"/>
                        </a:rPr>
                        <a:t>("Printing result to </a:t>
                      </a:r>
                      <a:r>
                        <a:rPr lang="en-US" sz="1400" kern="100" dirty="0" err="1">
                          <a:latin typeface="Calibri" panose="020F0502020204030204"/>
                          <a:ea typeface="宋体" panose="02010600030101010101" pitchFamily="2" charset="-122"/>
                          <a:cs typeface="Times New Roman" panose="02020603050405020304"/>
                        </a:rPr>
                        <a:t>stdout</a:t>
                      </a:r>
                      <a:r>
                        <a:rPr lang="en-US" sz="1400" kern="100" dirty="0">
                          <a:latin typeface="Calibri" panose="020F0502020204030204"/>
                          <a:ea typeface="宋体" panose="02010600030101010101" pitchFamily="2" charset="-122"/>
                          <a:cs typeface="Times New Roman" panose="02020603050405020304"/>
                        </a:rPr>
                        <a:t>. Use --output to specify output path.");</a:t>
                      </a:r>
                      <a:endParaRPr lang="zh-CN" sz="1400" kern="100" dirty="0">
                        <a:latin typeface="Calibri" panose="020F0502020204030204"/>
                        <a:ea typeface="宋体" panose="02010600030101010101" pitchFamily="2" charset="-122"/>
                        <a:cs typeface="Times New Roman" panose="02020603050405020304"/>
                      </a:endParaRPr>
                    </a:p>
                    <a:p>
                      <a:pPr algn="just">
                        <a:spcAft>
                          <a:spcPts val="0"/>
                        </a:spcAft>
                      </a:pPr>
                      <a:r>
                        <a:rPr lang="en-US" sz="1400" kern="100" dirty="0">
                          <a:latin typeface="Calibri" panose="020F0502020204030204"/>
                          <a:ea typeface="宋体" panose="02010600030101010101" pitchFamily="2" charset="-122"/>
                          <a:cs typeface="Times New Roman" panose="02020603050405020304"/>
                        </a:rPr>
                        <a:t>            </a:t>
                      </a:r>
                      <a:r>
                        <a:rPr lang="en-US" sz="1400" kern="100" dirty="0" err="1">
                          <a:latin typeface="Calibri" panose="020F0502020204030204"/>
                          <a:ea typeface="宋体" panose="02010600030101010101" pitchFamily="2" charset="-122"/>
                          <a:cs typeface="Times New Roman" panose="02020603050405020304"/>
                        </a:rPr>
                        <a:t>counts.print</a:t>
                      </a:r>
                      <a:r>
                        <a:rPr lang="en-US" sz="1400" kern="100" dirty="0">
                          <a:latin typeface="Calibri" panose="020F0502020204030204"/>
                          <a:ea typeface="宋体" panose="02010600030101010101" pitchFamily="2" charset="-122"/>
                          <a:cs typeface="Times New Roman" panose="02020603050405020304"/>
                        </a:rPr>
                        <a:t>();        }    }</a:t>
                      </a:r>
                      <a:endParaRPr lang="zh-CN" sz="1400" kern="100" dirty="0">
                        <a:latin typeface="Calibri" panose="020F0502020204030204"/>
                        <a:ea typeface="宋体" panose="02010600030101010101" pitchFamily="2" charset="-122"/>
                        <a:cs typeface="Times New Roman" panose="02020603050405020304"/>
                      </a:endParaRPr>
                    </a:p>
                    <a:p>
                      <a:pPr algn="just">
                        <a:spcAft>
                          <a:spcPts val="0"/>
                        </a:spcAft>
                      </a:pPr>
                      <a:r>
                        <a:rPr lang="en-US" sz="1400" kern="100" dirty="0">
                          <a:latin typeface="Calibri" panose="020F0502020204030204"/>
                          <a:ea typeface="宋体" panose="02010600030101010101" pitchFamily="2" charset="-122"/>
                          <a:cs typeface="Times New Roman" panose="02020603050405020304"/>
                        </a:rPr>
                        <a:t>}</a:t>
                      </a:r>
                      <a:endParaRPr lang="en-US" sz="1400" kern="100" dirty="0">
                        <a:latin typeface="Calibri" panose="020F0502020204030204"/>
                        <a:ea typeface="宋体" panose="02010600030101010101" pitchFamily="2" charset="-122"/>
                        <a:cs typeface="Times New Roman" panose="02020603050405020304"/>
                      </a:endParaRPr>
                    </a:p>
                  </a:txBody>
                  <a:tcPr marL="54429" marR="544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40962" name="标题 1"/>
          <p:cNvSpPr>
            <a:spLocks noGrp="1"/>
          </p:cNvSpPr>
          <p:nvPr>
            <p:ph type="title"/>
          </p:nvPr>
        </p:nvSpPr>
        <p:spPr/>
        <p:txBody>
          <a:bodyPr vert="horz" wrap="square" lIns="91440" tIns="45720" rIns="91440" bIns="45720" anchor="ctr" anchorCtr="0"/>
          <a:p>
            <a:r>
              <a:rPr lang="en-US" altLang="zh-CN" b="1" dirty="0"/>
              <a:t>12.7.2 </a:t>
            </a:r>
            <a:r>
              <a:rPr lang="zh-CN" altLang="zh-CN" b="1" dirty="0"/>
              <a:t>编程实现</a:t>
            </a:r>
            <a:r>
              <a:rPr lang="en-US" altLang="zh-CN" b="1" dirty="0"/>
              <a:t>WordCount</a:t>
            </a:r>
            <a:r>
              <a:rPr lang="zh-CN" altLang="zh-CN" b="1" dirty="0"/>
              <a:t>程序</a:t>
            </a:r>
            <a:endParaRPr lang="zh-CN" altLang="en-US" b="1" dirty="0"/>
          </a:p>
        </p:txBody>
      </p:sp>
      <p:sp>
        <p:nvSpPr>
          <p:cNvPr id="40963" name="TextBox 2"/>
          <p:cNvSpPr txBox="1"/>
          <p:nvPr/>
        </p:nvSpPr>
        <p:spPr>
          <a:xfrm>
            <a:off x="1069975" y="1307465"/>
            <a:ext cx="9971405" cy="1014730"/>
          </a:xfrm>
          <a:prstGeom prst="rect">
            <a:avLst/>
          </a:prstGeom>
          <a:noFill/>
          <a:ln w="9525">
            <a:noFill/>
          </a:ln>
        </p:spPr>
        <p:txBody>
          <a:bodyPr wrap="square">
            <a:spAutoFit/>
          </a:bodyPr>
          <a:p>
            <a:r>
              <a:rPr lang="zh-CN" altLang="zh-CN" sz="2000" dirty="0">
                <a:latin typeface="Arial" panose="020B0604020202020204" pitchFamily="34" charset="0"/>
              </a:rPr>
              <a:t>该程序依赖</a:t>
            </a:r>
            <a:r>
              <a:rPr lang="en-US" altLang="zh-CN" sz="2000" dirty="0">
                <a:latin typeface="Arial" panose="020B0604020202020204" pitchFamily="34" charset="0"/>
              </a:rPr>
              <a:t>Flink Java API</a:t>
            </a:r>
            <a:r>
              <a:rPr lang="zh-CN" altLang="zh-CN" sz="2000" dirty="0">
                <a:latin typeface="Arial" panose="020B0604020202020204" pitchFamily="34" charset="0"/>
              </a:rPr>
              <a:t>，因此，我们需要通过</a:t>
            </a:r>
            <a:r>
              <a:rPr lang="en-US" altLang="zh-CN" sz="2000" dirty="0">
                <a:latin typeface="Arial" panose="020B0604020202020204" pitchFamily="34" charset="0"/>
              </a:rPr>
              <a:t>Maven</a:t>
            </a:r>
            <a:r>
              <a:rPr lang="zh-CN" altLang="zh-CN" sz="2000" dirty="0">
                <a:latin typeface="Arial" panose="020B0604020202020204" pitchFamily="34" charset="0"/>
              </a:rPr>
              <a:t>进行编译打包。需要新建文件</a:t>
            </a:r>
            <a:r>
              <a:rPr lang="en-US" altLang="zh-CN" sz="2000" dirty="0">
                <a:latin typeface="Arial" panose="020B0604020202020204" pitchFamily="34" charset="0"/>
              </a:rPr>
              <a:t>pom.xml</a:t>
            </a:r>
            <a:r>
              <a:rPr lang="zh-CN" altLang="zh-CN" sz="2000" dirty="0">
                <a:latin typeface="Arial" panose="020B0604020202020204" pitchFamily="34" charset="0"/>
              </a:rPr>
              <a:t>，然后，在</a:t>
            </a:r>
            <a:r>
              <a:rPr lang="en-US" altLang="zh-CN" sz="2000" dirty="0">
                <a:latin typeface="Arial" panose="020B0604020202020204" pitchFamily="34" charset="0"/>
              </a:rPr>
              <a:t>pom.xml</a:t>
            </a:r>
            <a:r>
              <a:rPr lang="zh-CN" altLang="zh-CN" sz="2000" dirty="0">
                <a:latin typeface="Arial" panose="020B0604020202020204" pitchFamily="34" charset="0"/>
              </a:rPr>
              <a:t>文件中添加如下内容，用来声明该独立应用程序的信息以及与</a:t>
            </a:r>
            <a:r>
              <a:rPr lang="en-US" altLang="zh-CN" sz="2000" dirty="0">
                <a:latin typeface="Arial" panose="020B0604020202020204" pitchFamily="34" charset="0"/>
              </a:rPr>
              <a:t>Flink</a:t>
            </a:r>
            <a:r>
              <a:rPr lang="zh-CN" altLang="zh-CN" sz="2000" dirty="0">
                <a:latin typeface="Arial" panose="020B0604020202020204" pitchFamily="34" charset="0"/>
              </a:rPr>
              <a:t>的依赖关系：</a:t>
            </a:r>
            <a:endParaRPr lang="zh-CN" altLang="zh-CN" sz="2000" dirty="0">
              <a:latin typeface="Arial" panose="020B0604020202020204" pitchFamily="34" charset="0"/>
            </a:endParaRPr>
          </a:p>
        </p:txBody>
      </p:sp>
      <p:graphicFrame>
        <p:nvGraphicFramePr>
          <p:cNvPr id="4" name="表格 3"/>
          <p:cNvGraphicFramePr>
            <a:graphicFrameLocks noGrp="1"/>
          </p:cNvGraphicFramePr>
          <p:nvPr/>
        </p:nvGraphicFramePr>
        <p:xfrm>
          <a:off x="3665220" y="1981200"/>
          <a:ext cx="4294505" cy="4064000"/>
        </p:xfrm>
        <a:graphic>
          <a:graphicData uri="http://schemas.openxmlformats.org/drawingml/2006/table">
            <a:tbl>
              <a:tblPr/>
              <a:tblGrid>
                <a:gridCol w="4294505"/>
              </a:tblGrid>
              <a:tr h="4064000">
                <a:tc>
                  <a:txBody>
                    <a:bodyPr/>
                    <a:lstStyle/>
                    <a:p>
                      <a:pPr algn="just">
                        <a:spcAft>
                          <a:spcPts val="0"/>
                        </a:spcAft>
                      </a:pPr>
                      <a:r>
                        <a:rPr lang="en-US" sz="1000" kern="100" dirty="0">
                          <a:latin typeface="Calibri" panose="020F0502020204030204"/>
                          <a:ea typeface="宋体" panose="02010600030101010101" pitchFamily="2" charset="-122"/>
                          <a:cs typeface="Times New Roman" panose="02020603050405020304"/>
                        </a:rPr>
                        <a:t>&lt;project&gt;</a:t>
                      </a:r>
                      <a:endParaRPr lang="zh-CN" sz="1000" kern="100" dirty="0">
                        <a:latin typeface="Calibri" panose="020F0502020204030204"/>
                        <a:ea typeface="宋体" panose="02010600030101010101" pitchFamily="2" charset="-122"/>
                        <a:cs typeface="Times New Roman" panose="02020603050405020304"/>
                      </a:endParaRPr>
                    </a:p>
                    <a:p>
                      <a:pPr algn="just">
                        <a:spcAft>
                          <a:spcPts val="0"/>
                        </a:spcAft>
                      </a:pPr>
                      <a:r>
                        <a:rPr lang="en-US" sz="1000" kern="100" dirty="0">
                          <a:latin typeface="Calibri" panose="020F0502020204030204"/>
                          <a:ea typeface="宋体" panose="02010600030101010101" pitchFamily="2" charset="-122"/>
                          <a:cs typeface="Times New Roman" panose="02020603050405020304"/>
                        </a:rPr>
                        <a:t>    &lt;</a:t>
                      </a:r>
                      <a:r>
                        <a:rPr lang="en-US" sz="1000" kern="100" dirty="0" err="1">
                          <a:latin typeface="Calibri" panose="020F0502020204030204"/>
                          <a:ea typeface="宋体" panose="02010600030101010101" pitchFamily="2" charset="-122"/>
                          <a:cs typeface="Times New Roman" panose="02020603050405020304"/>
                        </a:rPr>
                        <a:t>groupId</a:t>
                      </a:r>
                      <a:r>
                        <a:rPr lang="en-US" sz="1000" kern="100" dirty="0">
                          <a:latin typeface="Calibri" panose="020F0502020204030204"/>
                          <a:ea typeface="宋体" panose="02010600030101010101" pitchFamily="2" charset="-122"/>
                          <a:cs typeface="Times New Roman" panose="02020603050405020304"/>
                        </a:rPr>
                        <a:t>&gt;</a:t>
                      </a:r>
                      <a:r>
                        <a:rPr lang="en-US" sz="1000" kern="100" dirty="0" err="1">
                          <a:latin typeface="Calibri" panose="020F0502020204030204"/>
                          <a:ea typeface="宋体" panose="02010600030101010101" pitchFamily="2" charset="-122"/>
                          <a:cs typeface="Times New Roman" panose="02020603050405020304"/>
                        </a:rPr>
                        <a:t>cn.edu.xmu</a:t>
                      </a:r>
                      <a:r>
                        <a:rPr lang="en-US" sz="1000" kern="100" dirty="0">
                          <a:latin typeface="Calibri" panose="020F0502020204030204"/>
                          <a:ea typeface="宋体" panose="02010600030101010101" pitchFamily="2" charset="-122"/>
                          <a:cs typeface="Times New Roman" panose="02020603050405020304"/>
                        </a:rPr>
                        <a:t>&lt;/</a:t>
                      </a:r>
                      <a:r>
                        <a:rPr lang="en-US" sz="1000" kern="100" dirty="0" err="1">
                          <a:latin typeface="Calibri" panose="020F0502020204030204"/>
                          <a:ea typeface="宋体" panose="02010600030101010101" pitchFamily="2" charset="-122"/>
                          <a:cs typeface="Times New Roman" panose="02020603050405020304"/>
                        </a:rPr>
                        <a:t>groupId</a:t>
                      </a:r>
                      <a:r>
                        <a:rPr lang="en-US" sz="1000" kern="100" dirty="0">
                          <a:latin typeface="Calibri" panose="020F0502020204030204"/>
                          <a:ea typeface="宋体" panose="02010600030101010101" pitchFamily="2" charset="-122"/>
                          <a:cs typeface="Times New Roman" panose="02020603050405020304"/>
                        </a:rPr>
                        <a:t>&gt;</a:t>
                      </a:r>
                      <a:endParaRPr lang="zh-CN" sz="1000" kern="100" dirty="0">
                        <a:latin typeface="Calibri" panose="020F0502020204030204"/>
                        <a:ea typeface="宋体" panose="02010600030101010101" pitchFamily="2" charset="-122"/>
                        <a:cs typeface="Times New Roman" panose="02020603050405020304"/>
                      </a:endParaRPr>
                    </a:p>
                    <a:p>
                      <a:pPr algn="just">
                        <a:spcAft>
                          <a:spcPts val="0"/>
                        </a:spcAft>
                      </a:pPr>
                      <a:r>
                        <a:rPr lang="en-US" sz="1000" kern="100" dirty="0">
                          <a:latin typeface="Calibri" panose="020F0502020204030204"/>
                          <a:ea typeface="宋体" panose="02010600030101010101" pitchFamily="2" charset="-122"/>
                          <a:cs typeface="Times New Roman" panose="02020603050405020304"/>
                        </a:rPr>
                        <a:t>    &lt;</a:t>
                      </a:r>
                      <a:r>
                        <a:rPr lang="en-US" sz="1000" kern="100" dirty="0" err="1">
                          <a:latin typeface="Calibri" panose="020F0502020204030204"/>
                          <a:ea typeface="宋体" panose="02010600030101010101" pitchFamily="2" charset="-122"/>
                          <a:cs typeface="Times New Roman" panose="02020603050405020304"/>
                        </a:rPr>
                        <a:t>artifactId</a:t>
                      </a:r>
                      <a:r>
                        <a:rPr lang="en-US" sz="1000" kern="100" dirty="0">
                          <a:latin typeface="Calibri" panose="020F0502020204030204"/>
                          <a:ea typeface="宋体" panose="02010600030101010101" pitchFamily="2" charset="-122"/>
                          <a:cs typeface="Times New Roman" panose="02020603050405020304"/>
                        </a:rPr>
                        <a:t>&gt;simple-project&lt;/</a:t>
                      </a:r>
                      <a:r>
                        <a:rPr lang="en-US" sz="1000" kern="100" dirty="0" err="1">
                          <a:latin typeface="Calibri" panose="020F0502020204030204"/>
                          <a:ea typeface="宋体" panose="02010600030101010101" pitchFamily="2" charset="-122"/>
                          <a:cs typeface="Times New Roman" panose="02020603050405020304"/>
                        </a:rPr>
                        <a:t>artifactId</a:t>
                      </a:r>
                      <a:r>
                        <a:rPr lang="en-US" sz="1000" kern="100" dirty="0">
                          <a:latin typeface="Calibri" panose="020F0502020204030204"/>
                          <a:ea typeface="宋体" panose="02010600030101010101" pitchFamily="2" charset="-122"/>
                          <a:cs typeface="Times New Roman" panose="02020603050405020304"/>
                        </a:rPr>
                        <a:t>&gt;</a:t>
                      </a:r>
                      <a:endParaRPr lang="zh-CN" sz="1000" kern="100" dirty="0">
                        <a:latin typeface="Calibri" panose="020F0502020204030204"/>
                        <a:ea typeface="宋体" panose="02010600030101010101" pitchFamily="2" charset="-122"/>
                        <a:cs typeface="Times New Roman" panose="02020603050405020304"/>
                      </a:endParaRPr>
                    </a:p>
                    <a:p>
                      <a:pPr algn="just">
                        <a:spcAft>
                          <a:spcPts val="0"/>
                        </a:spcAft>
                      </a:pPr>
                      <a:r>
                        <a:rPr lang="en-US" sz="1000" kern="100" dirty="0">
                          <a:latin typeface="Calibri" panose="020F0502020204030204"/>
                          <a:ea typeface="宋体" panose="02010600030101010101" pitchFamily="2" charset="-122"/>
                          <a:cs typeface="Times New Roman" panose="02020603050405020304"/>
                        </a:rPr>
                        <a:t>    &lt;</a:t>
                      </a:r>
                      <a:r>
                        <a:rPr lang="en-US" sz="1000" kern="100" dirty="0" err="1">
                          <a:latin typeface="Calibri" panose="020F0502020204030204"/>
                          <a:ea typeface="宋体" panose="02010600030101010101" pitchFamily="2" charset="-122"/>
                          <a:cs typeface="Times New Roman" panose="02020603050405020304"/>
                        </a:rPr>
                        <a:t>modelVersion</a:t>
                      </a:r>
                      <a:r>
                        <a:rPr lang="en-US" sz="1000" kern="100" dirty="0">
                          <a:latin typeface="Calibri" panose="020F0502020204030204"/>
                          <a:ea typeface="宋体" panose="02010600030101010101" pitchFamily="2" charset="-122"/>
                          <a:cs typeface="Times New Roman" panose="02020603050405020304"/>
                        </a:rPr>
                        <a:t>&gt;4.0.0&lt;/</a:t>
                      </a:r>
                      <a:r>
                        <a:rPr lang="en-US" sz="1000" kern="100" dirty="0" err="1">
                          <a:latin typeface="Calibri" panose="020F0502020204030204"/>
                          <a:ea typeface="宋体" panose="02010600030101010101" pitchFamily="2" charset="-122"/>
                          <a:cs typeface="Times New Roman" panose="02020603050405020304"/>
                        </a:rPr>
                        <a:t>modelVersion</a:t>
                      </a:r>
                      <a:r>
                        <a:rPr lang="en-US" sz="1000" kern="100" dirty="0">
                          <a:latin typeface="Calibri" panose="020F0502020204030204"/>
                          <a:ea typeface="宋体" panose="02010600030101010101" pitchFamily="2" charset="-122"/>
                          <a:cs typeface="Times New Roman" panose="02020603050405020304"/>
                        </a:rPr>
                        <a:t>&gt;</a:t>
                      </a:r>
                      <a:endParaRPr lang="zh-CN" sz="1000" kern="100" dirty="0">
                        <a:latin typeface="Calibri" panose="020F0502020204030204"/>
                        <a:ea typeface="宋体" panose="02010600030101010101" pitchFamily="2" charset="-122"/>
                        <a:cs typeface="Times New Roman" panose="02020603050405020304"/>
                      </a:endParaRPr>
                    </a:p>
                    <a:p>
                      <a:pPr algn="just">
                        <a:spcAft>
                          <a:spcPts val="0"/>
                        </a:spcAft>
                      </a:pPr>
                      <a:r>
                        <a:rPr lang="en-US" sz="1000" kern="100" dirty="0">
                          <a:latin typeface="Calibri" panose="020F0502020204030204"/>
                          <a:ea typeface="宋体" panose="02010600030101010101" pitchFamily="2" charset="-122"/>
                          <a:cs typeface="Times New Roman" panose="02020603050405020304"/>
                        </a:rPr>
                        <a:t>    &lt;name&gt;Simple Project&lt;/name&gt;</a:t>
                      </a:r>
                      <a:endParaRPr lang="zh-CN" sz="1000" kern="100" dirty="0">
                        <a:latin typeface="Calibri" panose="020F0502020204030204"/>
                        <a:ea typeface="宋体" panose="02010600030101010101" pitchFamily="2" charset="-122"/>
                        <a:cs typeface="Times New Roman" panose="02020603050405020304"/>
                      </a:endParaRPr>
                    </a:p>
                    <a:p>
                      <a:pPr algn="just">
                        <a:spcAft>
                          <a:spcPts val="0"/>
                        </a:spcAft>
                      </a:pPr>
                      <a:r>
                        <a:rPr lang="en-US" sz="1000" kern="100" dirty="0">
                          <a:latin typeface="Calibri" panose="020F0502020204030204"/>
                          <a:ea typeface="宋体" panose="02010600030101010101" pitchFamily="2" charset="-122"/>
                          <a:cs typeface="Times New Roman" panose="02020603050405020304"/>
                        </a:rPr>
                        <a:t>    &lt;packaging&gt;jar&lt;/packaging&gt;</a:t>
                      </a:r>
                      <a:endParaRPr lang="zh-CN" sz="1000" kern="100" dirty="0">
                        <a:latin typeface="Calibri" panose="020F0502020204030204"/>
                        <a:ea typeface="宋体" panose="02010600030101010101" pitchFamily="2" charset="-122"/>
                        <a:cs typeface="Times New Roman" panose="02020603050405020304"/>
                      </a:endParaRPr>
                    </a:p>
                    <a:p>
                      <a:pPr algn="just">
                        <a:spcAft>
                          <a:spcPts val="0"/>
                        </a:spcAft>
                      </a:pPr>
                      <a:r>
                        <a:rPr lang="en-US" sz="1000" kern="100" dirty="0">
                          <a:latin typeface="Calibri" panose="020F0502020204030204"/>
                          <a:ea typeface="宋体" panose="02010600030101010101" pitchFamily="2" charset="-122"/>
                          <a:cs typeface="Times New Roman" panose="02020603050405020304"/>
                        </a:rPr>
                        <a:t>    &lt;version&gt;1.0&lt;/version&gt;</a:t>
                      </a:r>
                      <a:endParaRPr lang="zh-CN" sz="1000" kern="100" dirty="0">
                        <a:latin typeface="Calibri" panose="020F0502020204030204"/>
                        <a:ea typeface="宋体" panose="02010600030101010101" pitchFamily="2" charset="-122"/>
                        <a:cs typeface="Times New Roman" panose="02020603050405020304"/>
                      </a:endParaRPr>
                    </a:p>
                    <a:p>
                      <a:pPr algn="just">
                        <a:spcAft>
                          <a:spcPts val="0"/>
                        </a:spcAft>
                      </a:pPr>
                      <a:r>
                        <a:rPr lang="en-US" sz="1000" kern="100" dirty="0">
                          <a:latin typeface="Calibri" panose="020F0502020204030204"/>
                          <a:ea typeface="宋体" panose="02010600030101010101" pitchFamily="2" charset="-122"/>
                          <a:cs typeface="Times New Roman" panose="02020603050405020304"/>
                        </a:rPr>
                        <a:t>    &lt;repositories&gt;</a:t>
                      </a:r>
                      <a:endParaRPr lang="zh-CN" sz="1000" kern="100" dirty="0">
                        <a:latin typeface="Calibri" panose="020F0502020204030204"/>
                        <a:ea typeface="宋体" panose="02010600030101010101" pitchFamily="2" charset="-122"/>
                        <a:cs typeface="Times New Roman" panose="02020603050405020304"/>
                      </a:endParaRPr>
                    </a:p>
                    <a:p>
                      <a:pPr algn="just">
                        <a:spcAft>
                          <a:spcPts val="0"/>
                        </a:spcAft>
                      </a:pPr>
                      <a:r>
                        <a:rPr lang="en-US" sz="1000" kern="100" dirty="0">
                          <a:latin typeface="Calibri" panose="020F0502020204030204"/>
                          <a:ea typeface="宋体" panose="02010600030101010101" pitchFamily="2" charset="-122"/>
                          <a:cs typeface="Times New Roman" panose="02020603050405020304"/>
                        </a:rPr>
                        <a:t>        &lt;repository&gt;</a:t>
                      </a:r>
                      <a:endParaRPr lang="zh-CN" sz="1000" kern="100" dirty="0">
                        <a:latin typeface="Calibri" panose="020F0502020204030204"/>
                        <a:ea typeface="宋体" panose="02010600030101010101" pitchFamily="2" charset="-122"/>
                        <a:cs typeface="Times New Roman" panose="02020603050405020304"/>
                      </a:endParaRPr>
                    </a:p>
                    <a:p>
                      <a:pPr algn="just">
                        <a:spcAft>
                          <a:spcPts val="0"/>
                        </a:spcAft>
                      </a:pPr>
                      <a:r>
                        <a:rPr lang="en-US" sz="1000" kern="100" dirty="0">
                          <a:latin typeface="Calibri" panose="020F0502020204030204"/>
                          <a:ea typeface="宋体" panose="02010600030101010101" pitchFamily="2" charset="-122"/>
                          <a:cs typeface="Times New Roman" panose="02020603050405020304"/>
                        </a:rPr>
                        <a:t>            &lt;id&gt;</a:t>
                      </a:r>
                      <a:r>
                        <a:rPr lang="en-US" sz="1000" kern="100" dirty="0" err="1">
                          <a:latin typeface="Calibri" panose="020F0502020204030204"/>
                          <a:ea typeface="宋体" panose="02010600030101010101" pitchFamily="2" charset="-122"/>
                          <a:cs typeface="Times New Roman" panose="02020603050405020304"/>
                        </a:rPr>
                        <a:t>jboss</a:t>
                      </a:r>
                      <a:r>
                        <a:rPr lang="en-US" sz="1000" kern="100" dirty="0">
                          <a:latin typeface="Calibri" panose="020F0502020204030204"/>
                          <a:ea typeface="宋体" panose="02010600030101010101" pitchFamily="2" charset="-122"/>
                          <a:cs typeface="Times New Roman" panose="02020603050405020304"/>
                        </a:rPr>
                        <a:t>&lt;/id&gt;</a:t>
                      </a:r>
                      <a:endParaRPr lang="zh-CN" sz="1000" kern="100" dirty="0">
                        <a:latin typeface="Calibri" panose="020F0502020204030204"/>
                        <a:ea typeface="宋体" panose="02010600030101010101" pitchFamily="2" charset="-122"/>
                        <a:cs typeface="Times New Roman" panose="02020603050405020304"/>
                      </a:endParaRPr>
                    </a:p>
                    <a:p>
                      <a:pPr algn="just">
                        <a:spcAft>
                          <a:spcPts val="0"/>
                        </a:spcAft>
                      </a:pPr>
                      <a:r>
                        <a:rPr lang="en-US" sz="1000" kern="100" dirty="0">
                          <a:latin typeface="Calibri" panose="020F0502020204030204"/>
                          <a:ea typeface="宋体" panose="02010600030101010101" pitchFamily="2" charset="-122"/>
                          <a:cs typeface="Times New Roman" panose="02020603050405020304"/>
                        </a:rPr>
                        <a:t>            &lt;name&gt;</a:t>
                      </a:r>
                      <a:r>
                        <a:rPr lang="en-US" sz="1000" kern="100" dirty="0" err="1">
                          <a:latin typeface="Calibri" panose="020F0502020204030204"/>
                          <a:ea typeface="宋体" panose="02010600030101010101" pitchFamily="2" charset="-122"/>
                          <a:cs typeface="Times New Roman" panose="02020603050405020304"/>
                        </a:rPr>
                        <a:t>JBoss</a:t>
                      </a:r>
                      <a:r>
                        <a:rPr lang="en-US" sz="1000" kern="100" dirty="0">
                          <a:latin typeface="Calibri" panose="020F0502020204030204"/>
                          <a:ea typeface="宋体" panose="02010600030101010101" pitchFamily="2" charset="-122"/>
                          <a:cs typeface="Times New Roman" panose="02020603050405020304"/>
                        </a:rPr>
                        <a:t> Repository&lt;/name&gt;</a:t>
                      </a:r>
                      <a:endParaRPr lang="zh-CN" sz="1000" kern="100" dirty="0">
                        <a:latin typeface="Calibri" panose="020F0502020204030204"/>
                        <a:ea typeface="宋体" panose="02010600030101010101" pitchFamily="2" charset="-122"/>
                        <a:cs typeface="Times New Roman" panose="02020603050405020304"/>
                      </a:endParaRPr>
                    </a:p>
                    <a:p>
                      <a:pPr algn="just">
                        <a:spcAft>
                          <a:spcPts val="0"/>
                        </a:spcAft>
                      </a:pPr>
                      <a:r>
                        <a:rPr lang="en-US" sz="1000" kern="100" dirty="0">
                          <a:latin typeface="Calibri" panose="020F0502020204030204"/>
                          <a:ea typeface="宋体" panose="02010600030101010101" pitchFamily="2" charset="-122"/>
                          <a:cs typeface="Times New Roman" panose="02020603050405020304"/>
                        </a:rPr>
                        <a:t>            &lt;</a:t>
                      </a:r>
                      <a:r>
                        <a:rPr lang="en-US" sz="1000" kern="100" dirty="0" err="1">
                          <a:latin typeface="Calibri" panose="020F0502020204030204"/>
                          <a:ea typeface="宋体" panose="02010600030101010101" pitchFamily="2" charset="-122"/>
                          <a:cs typeface="Times New Roman" panose="02020603050405020304"/>
                        </a:rPr>
                        <a:t>url</a:t>
                      </a:r>
                      <a:r>
                        <a:rPr lang="en-US" sz="1000" kern="100" dirty="0">
                          <a:latin typeface="Calibri" panose="020F0502020204030204"/>
                          <a:ea typeface="宋体" panose="02010600030101010101" pitchFamily="2" charset="-122"/>
                          <a:cs typeface="Times New Roman" panose="02020603050405020304"/>
                        </a:rPr>
                        <a:t>&gt;http://repository.jboss.com/maven2/&lt;/url&gt;</a:t>
                      </a:r>
                      <a:endParaRPr lang="zh-CN" sz="1000" kern="100" dirty="0">
                        <a:latin typeface="Calibri" panose="020F0502020204030204"/>
                        <a:ea typeface="宋体" panose="02010600030101010101" pitchFamily="2" charset="-122"/>
                        <a:cs typeface="Times New Roman" panose="02020603050405020304"/>
                      </a:endParaRPr>
                    </a:p>
                    <a:p>
                      <a:pPr algn="just">
                        <a:spcAft>
                          <a:spcPts val="0"/>
                        </a:spcAft>
                      </a:pPr>
                      <a:r>
                        <a:rPr lang="en-US" sz="1000" kern="100" dirty="0">
                          <a:latin typeface="Calibri" panose="020F0502020204030204"/>
                          <a:ea typeface="宋体" panose="02010600030101010101" pitchFamily="2" charset="-122"/>
                          <a:cs typeface="Times New Roman" panose="02020603050405020304"/>
                        </a:rPr>
                        <a:t>        &lt;/repository&gt;</a:t>
                      </a:r>
                      <a:endParaRPr lang="zh-CN" sz="1000" kern="100" dirty="0">
                        <a:latin typeface="Calibri" panose="020F0502020204030204"/>
                        <a:ea typeface="宋体" panose="02010600030101010101" pitchFamily="2" charset="-122"/>
                        <a:cs typeface="Times New Roman" panose="02020603050405020304"/>
                      </a:endParaRPr>
                    </a:p>
                    <a:p>
                      <a:pPr algn="just">
                        <a:spcAft>
                          <a:spcPts val="0"/>
                        </a:spcAft>
                      </a:pPr>
                      <a:r>
                        <a:rPr lang="en-US" sz="1000" kern="100" dirty="0">
                          <a:latin typeface="Calibri" panose="020F0502020204030204"/>
                          <a:ea typeface="宋体" panose="02010600030101010101" pitchFamily="2" charset="-122"/>
                          <a:cs typeface="Times New Roman" panose="02020603050405020304"/>
                        </a:rPr>
                        <a:t>    &lt;/repositories&gt;</a:t>
                      </a:r>
                      <a:endParaRPr lang="zh-CN" sz="1000" kern="100" dirty="0">
                        <a:latin typeface="Calibri" panose="020F0502020204030204"/>
                        <a:ea typeface="宋体" panose="02010600030101010101" pitchFamily="2" charset="-122"/>
                        <a:cs typeface="Times New Roman" panose="02020603050405020304"/>
                      </a:endParaRPr>
                    </a:p>
                    <a:p>
                      <a:pPr algn="just">
                        <a:spcAft>
                          <a:spcPts val="0"/>
                        </a:spcAft>
                      </a:pPr>
                      <a:r>
                        <a:rPr lang="en-US" sz="1000" kern="100" dirty="0">
                          <a:latin typeface="Calibri" panose="020F0502020204030204"/>
                          <a:ea typeface="宋体" panose="02010600030101010101" pitchFamily="2" charset="-122"/>
                          <a:cs typeface="Times New Roman" panose="02020603050405020304"/>
                        </a:rPr>
                        <a:t>    &lt;dependencies&gt;</a:t>
                      </a:r>
                      <a:endParaRPr lang="zh-CN" sz="1000" kern="100" dirty="0">
                        <a:latin typeface="Calibri" panose="020F0502020204030204"/>
                        <a:ea typeface="宋体" panose="02010600030101010101" pitchFamily="2" charset="-122"/>
                        <a:cs typeface="Times New Roman" panose="02020603050405020304"/>
                      </a:endParaRPr>
                    </a:p>
                    <a:p>
                      <a:pPr algn="just">
                        <a:spcAft>
                          <a:spcPts val="0"/>
                        </a:spcAft>
                      </a:pPr>
                      <a:r>
                        <a:rPr lang="en-US" sz="1000" kern="100" dirty="0">
                          <a:latin typeface="Calibri" panose="020F0502020204030204"/>
                          <a:ea typeface="宋体" panose="02010600030101010101" pitchFamily="2" charset="-122"/>
                          <a:cs typeface="Times New Roman" panose="02020603050405020304"/>
                        </a:rPr>
                        <a:t>        &lt;dependency&gt;</a:t>
                      </a:r>
                      <a:endParaRPr lang="zh-CN" sz="1000" kern="100" dirty="0">
                        <a:latin typeface="Calibri" panose="020F0502020204030204"/>
                        <a:ea typeface="宋体" panose="02010600030101010101" pitchFamily="2" charset="-122"/>
                        <a:cs typeface="Times New Roman" panose="02020603050405020304"/>
                      </a:endParaRPr>
                    </a:p>
                    <a:p>
                      <a:pPr algn="just">
                        <a:spcAft>
                          <a:spcPts val="0"/>
                        </a:spcAft>
                      </a:pPr>
                      <a:r>
                        <a:rPr lang="en-US" sz="1000" kern="100" dirty="0">
                          <a:latin typeface="Calibri" panose="020F0502020204030204"/>
                          <a:ea typeface="宋体" panose="02010600030101010101" pitchFamily="2" charset="-122"/>
                          <a:cs typeface="Times New Roman" panose="02020603050405020304"/>
                        </a:rPr>
                        <a:t>            &lt;</a:t>
                      </a:r>
                      <a:r>
                        <a:rPr lang="en-US" sz="1000" kern="100" dirty="0" err="1">
                          <a:latin typeface="Calibri" panose="020F0502020204030204"/>
                          <a:ea typeface="宋体" panose="02010600030101010101" pitchFamily="2" charset="-122"/>
                          <a:cs typeface="Times New Roman" panose="02020603050405020304"/>
                        </a:rPr>
                        <a:t>groupId</a:t>
                      </a:r>
                      <a:r>
                        <a:rPr lang="en-US" sz="1000" kern="100" dirty="0">
                          <a:latin typeface="Calibri" panose="020F0502020204030204"/>
                          <a:ea typeface="宋体" panose="02010600030101010101" pitchFamily="2" charset="-122"/>
                          <a:cs typeface="Times New Roman" panose="02020603050405020304"/>
                        </a:rPr>
                        <a:t>&gt;</a:t>
                      </a:r>
                      <a:r>
                        <a:rPr lang="en-US" sz="1000" kern="100" dirty="0" err="1">
                          <a:latin typeface="Calibri" panose="020F0502020204030204"/>
                          <a:ea typeface="宋体" panose="02010600030101010101" pitchFamily="2" charset="-122"/>
                          <a:cs typeface="Times New Roman" panose="02020603050405020304"/>
                        </a:rPr>
                        <a:t>org.apache.flink</a:t>
                      </a:r>
                      <a:r>
                        <a:rPr lang="en-US" sz="1000" kern="100" dirty="0">
                          <a:latin typeface="Calibri" panose="020F0502020204030204"/>
                          <a:ea typeface="宋体" panose="02010600030101010101" pitchFamily="2" charset="-122"/>
                          <a:cs typeface="Times New Roman" panose="02020603050405020304"/>
                        </a:rPr>
                        <a:t>&lt;/</a:t>
                      </a:r>
                      <a:r>
                        <a:rPr lang="en-US" sz="1000" kern="100" dirty="0" err="1">
                          <a:latin typeface="Calibri" panose="020F0502020204030204"/>
                          <a:ea typeface="宋体" panose="02010600030101010101" pitchFamily="2" charset="-122"/>
                          <a:cs typeface="Times New Roman" panose="02020603050405020304"/>
                        </a:rPr>
                        <a:t>groupId</a:t>
                      </a:r>
                      <a:r>
                        <a:rPr lang="en-US" sz="1000" kern="100" dirty="0">
                          <a:latin typeface="Calibri" panose="020F0502020204030204"/>
                          <a:ea typeface="宋体" panose="02010600030101010101" pitchFamily="2" charset="-122"/>
                          <a:cs typeface="Times New Roman" panose="02020603050405020304"/>
                        </a:rPr>
                        <a:t>&gt;</a:t>
                      </a:r>
                      <a:endParaRPr lang="zh-CN" sz="1000" kern="100" dirty="0">
                        <a:latin typeface="Calibri" panose="020F0502020204030204"/>
                        <a:ea typeface="宋体" panose="02010600030101010101" pitchFamily="2" charset="-122"/>
                        <a:cs typeface="Times New Roman" panose="02020603050405020304"/>
                      </a:endParaRPr>
                    </a:p>
                    <a:p>
                      <a:pPr algn="just">
                        <a:spcAft>
                          <a:spcPts val="0"/>
                        </a:spcAft>
                      </a:pPr>
                      <a:r>
                        <a:rPr lang="en-US" sz="1000" kern="100" dirty="0">
                          <a:latin typeface="Calibri" panose="020F0502020204030204"/>
                          <a:ea typeface="宋体" panose="02010600030101010101" pitchFamily="2" charset="-122"/>
                          <a:cs typeface="Times New Roman" panose="02020603050405020304"/>
                        </a:rPr>
                        <a:t>            &lt;</a:t>
                      </a:r>
                      <a:r>
                        <a:rPr lang="en-US" sz="1000" kern="100" dirty="0" err="1">
                          <a:latin typeface="Calibri" panose="020F0502020204030204"/>
                          <a:ea typeface="宋体" panose="02010600030101010101" pitchFamily="2" charset="-122"/>
                          <a:cs typeface="Times New Roman" panose="02020603050405020304"/>
                        </a:rPr>
                        <a:t>artifactId</a:t>
                      </a:r>
                      <a:r>
                        <a:rPr lang="en-US" sz="1000" kern="100" dirty="0">
                          <a:latin typeface="Calibri" panose="020F0502020204030204"/>
                          <a:ea typeface="宋体" panose="02010600030101010101" pitchFamily="2" charset="-122"/>
                          <a:cs typeface="Times New Roman" panose="02020603050405020304"/>
                        </a:rPr>
                        <a:t>&gt;</a:t>
                      </a:r>
                      <a:r>
                        <a:rPr lang="en-US" sz="1000" kern="100" dirty="0" err="1">
                          <a:latin typeface="Calibri" panose="020F0502020204030204"/>
                          <a:ea typeface="宋体" panose="02010600030101010101" pitchFamily="2" charset="-122"/>
                          <a:cs typeface="Times New Roman" panose="02020603050405020304"/>
                        </a:rPr>
                        <a:t>flink</a:t>
                      </a:r>
                      <a:r>
                        <a:rPr lang="en-US" sz="1000" kern="100" dirty="0">
                          <a:latin typeface="Calibri" panose="020F0502020204030204"/>
                          <a:ea typeface="宋体" panose="02010600030101010101" pitchFamily="2" charset="-122"/>
                          <a:cs typeface="Times New Roman" panose="02020603050405020304"/>
                        </a:rPr>
                        <a:t>-java&lt;/</a:t>
                      </a:r>
                      <a:r>
                        <a:rPr lang="en-US" sz="1000" kern="100" dirty="0" err="1">
                          <a:latin typeface="Calibri" panose="020F0502020204030204"/>
                          <a:ea typeface="宋体" panose="02010600030101010101" pitchFamily="2" charset="-122"/>
                          <a:cs typeface="Times New Roman" panose="02020603050405020304"/>
                        </a:rPr>
                        <a:t>artifactId</a:t>
                      </a:r>
                      <a:r>
                        <a:rPr lang="en-US" sz="1000" kern="100" dirty="0">
                          <a:latin typeface="Calibri" panose="020F0502020204030204"/>
                          <a:ea typeface="宋体" panose="02010600030101010101" pitchFamily="2" charset="-122"/>
                          <a:cs typeface="Times New Roman" panose="02020603050405020304"/>
                        </a:rPr>
                        <a:t>&gt;</a:t>
                      </a:r>
                      <a:endParaRPr lang="zh-CN" sz="1000" kern="100" dirty="0">
                        <a:latin typeface="Calibri" panose="020F0502020204030204"/>
                        <a:ea typeface="宋体" panose="02010600030101010101" pitchFamily="2" charset="-122"/>
                        <a:cs typeface="Times New Roman" panose="02020603050405020304"/>
                      </a:endParaRPr>
                    </a:p>
                    <a:p>
                      <a:pPr algn="just">
                        <a:spcAft>
                          <a:spcPts val="0"/>
                        </a:spcAft>
                      </a:pPr>
                      <a:r>
                        <a:rPr lang="en-US" sz="1000" kern="100" dirty="0">
                          <a:latin typeface="Calibri" panose="020F0502020204030204"/>
                          <a:ea typeface="宋体" panose="02010600030101010101" pitchFamily="2" charset="-122"/>
                          <a:cs typeface="Times New Roman" panose="02020603050405020304"/>
                        </a:rPr>
                        <a:t>            &lt;version&gt;1.9.1&lt;/version&gt;</a:t>
                      </a:r>
                      <a:endParaRPr lang="zh-CN" sz="1000" kern="100" dirty="0">
                        <a:latin typeface="Calibri" panose="020F0502020204030204"/>
                        <a:ea typeface="宋体" panose="02010600030101010101" pitchFamily="2" charset="-122"/>
                        <a:cs typeface="Times New Roman" panose="02020603050405020304"/>
                      </a:endParaRPr>
                    </a:p>
                    <a:p>
                      <a:pPr algn="just">
                        <a:spcAft>
                          <a:spcPts val="0"/>
                        </a:spcAft>
                      </a:pPr>
                      <a:r>
                        <a:rPr lang="en-US" sz="1000" kern="100" dirty="0">
                          <a:latin typeface="Calibri" panose="020F0502020204030204"/>
                          <a:ea typeface="宋体" panose="02010600030101010101" pitchFamily="2" charset="-122"/>
                          <a:cs typeface="Times New Roman" panose="02020603050405020304"/>
                        </a:rPr>
                        <a:t>        &lt;/dependency&gt;</a:t>
                      </a:r>
                      <a:endParaRPr lang="zh-CN" sz="1000" kern="100" dirty="0">
                        <a:latin typeface="Calibri" panose="020F0502020204030204"/>
                        <a:ea typeface="宋体" panose="02010600030101010101" pitchFamily="2" charset="-122"/>
                        <a:cs typeface="Times New Roman" panose="02020603050405020304"/>
                      </a:endParaRPr>
                    </a:p>
                    <a:p>
                      <a:pPr algn="just">
                        <a:spcAft>
                          <a:spcPts val="0"/>
                        </a:spcAft>
                      </a:pPr>
                      <a:r>
                        <a:rPr lang="en-US" sz="1000" kern="100" dirty="0">
                          <a:latin typeface="Calibri" panose="020F0502020204030204"/>
                          <a:ea typeface="宋体" panose="02010600030101010101" pitchFamily="2" charset="-122"/>
                          <a:cs typeface="Times New Roman" panose="02020603050405020304"/>
                        </a:rPr>
                        <a:t>        &lt;dependency&gt;</a:t>
                      </a:r>
                      <a:endParaRPr lang="zh-CN" sz="1000" kern="100" dirty="0">
                        <a:latin typeface="Calibri" panose="020F0502020204030204"/>
                        <a:ea typeface="宋体" panose="02010600030101010101" pitchFamily="2" charset="-122"/>
                        <a:cs typeface="Times New Roman" panose="02020603050405020304"/>
                      </a:endParaRPr>
                    </a:p>
                    <a:p>
                      <a:pPr algn="just">
                        <a:spcAft>
                          <a:spcPts val="0"/>
                        </a:spcAft>
                      </a:pPr>
                      <a:r>
                        <a:rPr lang="en-US" sz="1000" kern="100" dirty="0">
                          <a:latin typeface="Calibri" panose="020F0502020204030204"/>
                          <a:ea typeface="宋体" panose="02010600030101010101" pitchFamily="2" charset="-122"/>
                          <a:cs typeface="Times New Roman" panose="02020603050405020304"/>
                        </a:rPr>
                        <a:t>            &lt;</a:t>
                      </a:r>
                      <a:r>
                        <a:rPr lang="en-US" sz="1000" kern="100" dirty="0" err="1">
                          <a:latin typeface="Calibri" panose="020F0502020204030204"/>
                          <a:ea typeface="宋体" panose="02010600030101010101" pitchFamily="2" charset="-122"/>
                          <a:cs typeface="Times New Roman" panose="02020603050405020304"/>
                        </a:rPr>
                        <a:t>groupId</a:t>
                      </a:r>
                      <a:r>
                        <a:rPr lang="en-US" sz="1000" kern="100" dirty="0">
                          <a:latin typeface="Calibri" panose="020F0502020204030204"/>
                          <a:ea typeface="宋体" panose="02010600030101010101" pitchFamily="2" charset="-122"/>
                          <a:cs typeface="Times New Roman" panose="02020603050405020304"/>
                        </a:rPr>
                        <a:t>&gt;</a:t>
                      </a:r>
                      <a:r>
                        <a:rPr lang="en-US" sz="1000" kern="100" dirty="0" err="1">
                          <a:latin typeface="Calibri" panose="020F0502020204030204"/>
                          <a:ea typeface="宋体" panose="02010600030101010101" pitchFamily="2" charset="-122"/>
                          <a:cs typeface="Times New Roman" panose="02020603050405020304"/>
                        </a:rPr>
                        <a:t>org.apache.flink</a:t>
                      </a:r>
                      <a:r>
                        <a:rPr lang="en-US" sz="1000" kern="100" dirty="0">
                          <a:latin typeface="Calibri" panose="020F0502020204030204"/>
                          <a:ea typeface="宋体" panose="02010600030101010101" pitchFamily="2" charset="-122"/>
                          <a:cs typeface="Times New Roman" panose="02020603050405020304"/>
                        </a:rPr>
                        <a:t>&lt;/</a:t>
                      </a:r>
                      <a:r>
                        <a:rPr lang="en-US" sz="1000" kern="100" dirty="0" err="1">
                          <a:latin typeface="Calibri" panose="020F0502020204030204"/>
                          <a:ea typeface="宋体" panose="02010600030101010101" pitchFamily="2" charset="-122"/>
                          <a:cs typeface="Times New Roman" panose="02020603050405020304"/>
                        </a:rPr>
                        <a:t>groupId</a:t>
                      </a:r>
                      <a:r>
                        <a:rPr lang="en-US" sz="1000" kern="100" dirty="0">
                          <a:latin typeface="Calibri" panose="020F0502020204030204"/>
                          <a:ea typeface="宋体" panose="02010600030101010101" pitchFamily="2" charset="-122"/>
                          <a:cs typeface="Times New Roman" panose="02020603050405020304"/>
                        </a:rPr>
                        <a:t>&gt;</a:t>
                      </a:r>
                      <a:endParaRPr lang="zh-CN" sz="1000" kern="100" dirty="0">
                        <a:latin typeface="Calibri" panose="020F0502020204030204"/>
                        <a:ea typeface="宋体" panose="02010600030101010101" pitchFamily="2" charset="-122"/>
                        <a:cs typeface="Times New Roman" panose="02020603050405020304"/>
                      </a:endParaRPr>
                    </a:p>
                    <a:p>
                      <a:pPr algn="just">
                        <a:spcAft>
                          <a:spcPts val="0"/>
                        </a:spcAft>
                      </a:pPr>
                      <a:r>
                        <a:rPr lang="en-US" sz="1000" kern="100" dirty="0">
                          <a:latin typeface="Calibri" panose="020F0502020204030204"/>
                          <a:ea typeface="宋体" panose="02010600030101010101" pitchFamily="2" charset="-122"/>
                          <a:cs typeface="Times New Roman" panose="02020603050405020304"/>
                        </a:rPr>
                        <a:t>            &lt;</a:t>
                      </a:r>
                      <a:r>
                        <a:rPr lang="en-US" sz="1000" kern="100" dirty="0" err="1">
                          <a:latin typeface="Calibri" panose="020F0502020204030204"/>
                          <a:ea typeface="宋体" panose="02010600030101010101" pitchFamily="2" charset="-122"/>
                          <a:cs typeface="Times New Roman" panose="02020603050405020304"/>
                        </a:rPr>
                        <a:t>artifactId</a:t>
                      </a:r>
                      <a:r>
                        <a:rPr lang="en-US" sz="1000" kern="100" dirty="0">
                          <a:latin typeface="Calibri" panose="020F0502020204030204"/>
                          <a:ea typeface="宋体" panose="02010600030101010101" pitchFamily="2" charset="-122"/>
                          <a:cs typeface="Times New Roman" panose="02020603050405020304"/>
                        </a:rPr>
                        <a:t>&gt;flink-streaming-java_2.11&lt;/</a:t>
                      </a:r>
                      <a:r>
                        <a:rPr lang="en-US" sz="1000" kern="100" dirty="0" err="1">
                          <a:latin typeface="Calibri" panose="020F0502020204030204"/>
                          <a:ea typeface="宋体" panose="02010600030101010101" pitchFamily="2" charset="-122"/>
                          <a:cs typeface="Times New Roman" panose="02020603050405020304"/>
                        </a:rPr>
                        <a:t>artifactId</a:t>
                      </a:r>
                      <a:r>
                        <a:rPr lang="en-US" sz="1000" kern="100" dirty="0">
                          <a:latin typeface="Calibri" panose="020F0502020204030204"/>
                          <a:ea typeface="宋体" panose="02010600030101010101" pitchFamily="2" charset="-122"/>
                          <a:cs typeface="Times New Roman" panose="02020603050405020304"/>
                        </a:rPr>
                        <a:t>&gt;</a:t>
                      </a:r>
                      <a:endParaRPr lang="zh-CN" sz="1000" kern="100" dirty="0">
                        <a:latin typeface="Calibri" panose="020F0502020204030204"/>
                        <a:ea typeface="宋体" panose="02010600030101010101" pitchFamily="2" charset="-122"/>
                        <a:cs typeface="Times New Roman" panose="02020603050405020304"/>
                      </a:endParaRPr>
                    </a:p>
                    <a:p>
                      <a:pPr indent="800100" algn="just">
                        <a:spcAft>
                          <a:spcPts val="0"/>
                        </a:spcAft>
                      </a:pPr>
                      <a:r>
                        <a:rPr lang="en-US" sz="1000" kern="100" dirty="0">
                          <a:latin typeface="Calibri" panose="020F0502020204030204"/>
                          <a:ea typeface="宋体" panose="02010600030101010101" pitchFamily="2" charset="-122"/>
                          <a:cs typeface="Times New Roman" panose="02020603050405020304"/>
                        </a:rPr>
                        <a:t>&lt;version&gt;1.9.1&lt;/version&gt;</a:t>
                      </a:r>
                      <a:endParaRPr lang="zh-CN" sz="1000" kern="100" dirty="0">
                        <a:latin typeface="Calibri" panose="020F0502020204030204"/>
                        <a:ea typeface="宋体" panose="02010600030101010101" pitchFamily="2" charset="-122"/>
                        <a:cs typeface="Times New Roman" panose="02020603050405020304"/>
                      </a:endParaRPr>
                    </a:p>
                    <a:p>
                      <a:pPr algn="just">
                        <a:spcAft>
                          <a:spcPts val="0"/>
                        </a:spcAft>
                      </a:pPr>
                      <a:r>
                        <a:rPr lang="en-US" sz="1000" kern="100" dirty="0">
                          <a:latin typeface="Calibri" panose="020F0502020204030204"/>
                          <a:ea typeface="宋体" panose="02010600030101010101" pitchFamily="2" charset="-122"/>
                          <a:cs typeface="Times New Roman" panose="02020603050405020304"/>
                        </a:rPr>
                        <a:t>        &lt;/dependency&gt;</a:t>
                      </a:r>
                      <a:endParaRPr lang="zh-CN" sz="1000" kern="100" dirty="0">
                        <a:latin typeface="Calibri" panose="020F0502020204030204"/>
                        <a:ea typeface="宋体" panose="02010600030101010101" pitchFamily="2" charset="-122"/>
                        <a:cs typeface="Times New Roman" panose="02020603050405020304"/>
                      </a:endParaRPr>
                    </a:p>
                    <a:p>
                      <a:pPr algn="just">
                        <a:spcAft>
                          <a:spcPts val="0"/>
                        </a:spcAft>
                      </a:pPr>
                      <a:r>
                        <a:rPr lang="en-US" sz="1000" kern="100" dirty="0">
                          <a:latin typeface="Calibri" panose="020F0502020204030204"/>
                          <a:ea typeface="宋体" panose="02010600030101010101" pitchFamily="2" charset="-122"/>
                          <a:cs typeface="Times New Roman" panose="02020603050405020304"/>
                        </a:rPr>
                        <a:t>        &lt;dependency&gt;</a:t>
                      </a:r>
                      <a:endParaRPr lang="zh-CN" sz="1000" kern="100" dirty="0">
                        <a:latin typeface="Calibri" panose="020F0502020204030204"/>
                        <a:ea typeface="宋体" panose="02010600030101010101" pitchFamily="2" charset="-122"/>
                        <a:cs typeface="Times New Roman" panose="02020603050405020304"/>
                      </a:endParaRPr>
                    </a:p>
                    <a:p>
                      <a:pPr algn="just">
                        <a:spcAft>
                          <a:spcPts val="0"/>
                        </a:spcAft>
                      </a:pPr>
                      <a:r>
                        <a:rPr lang="en-US" sz="1000" kern="100" dirty="0">
                          <a:latin typeface="Calibri" panose="020F0502020204030204"/>
                          <a:ea typeface="宋体" panose="02010600030101010101" pitchFamily="2" charset="-122"/>
                          <a:cs typeface="Times New Roman" panose="02020603050405020304"/>
                        </a:rPr>
                        <a:t>            &lt;</a:t>
                      </a:r>
                      <a:r>
                        <a:rPr lang="en-US" sz="1000" kern="100" dirty="0" err="1">
                          <a:latin typeface="Calibri" panose="020F0502020204030204"/>
                          <a:ea typeface="宋体" panose="02010600030101010101" pitchFamily="2" charset="-122"/>
                          <a:cs typeface="Times New Roman" panose="02020603050405020304"/>
                        </a:rPr>
                        <a:t>groupId</a:t>
                      </a:r>
                      <a:r>
                        <a:rPr lang="en-US" sz="1000" kern="100" dirty="0">
                          <a:latin typeface="Calibri" panose="020F0502020204030204"/>
                          <a:ea typeface="宋体" panose="02010600030101010101" pitchFamily="2" charset="-122"/>
                          <a:cs typeface="Times New Roman" panose="02020603050405020304"/>
                        </a:rPr>
                        <a:t>&gt;</a:t>
                      </a:r>
                      <a:r>
                        <a:rPr lang="en-US" sz="1000" kern="100" dirty="0" err="1">
                          <a:latin typeface="Calibri" panose="020F0502020204030204"/>
                          <a:ea typeface="宋体" panose="02010600030101010101" pitchFamily="2" charset="-122"/>
                          <a:cs typeface="Times New Roman" panose="02020603050405020304"/>
                        </a:rPr>
                        <a:t>org.apache.flink</a:t>
                      </a:r>
                      <a:r>
                        <a:rPr lang="en-US" sz="1000" kern="100" dirty="0">
                          <a:latin typeface="Calibri" panose="020F0502020204030204"/>
                          <a:ea typeface="宋体" panose="02010600030101010101" pitchFamily="2" charset="-122"/>
                          <a:cs typeface="Times New Roman" panose="02020603050405020304"/>
                        </a:rPr>
                        <a:t>&lt;/</a:t>
                      </a:r>
                      <a:r>
                        <a:rPr lang="en-US" sz="1000" kern="100" dirty="0" err="1">
                          <a:latin typeface="Calibri" panose="020F0502020204030204"/>
                          <a:ea typeface="宋体" panose="02010600030101010101" pitchFamily="2" charset="-122"/>
                          <a:cs typeface="Times New Roman" panose="02020603050405020304"/>
                        </a:rPr>
                        <a:t>groupId</a:t>
                      </a:r>
                      <a:r>
                        <a:rPr lang="en-US" sz="1000" kern="100" dirty="0">
                          <a:latin typeface="Calibri" panose="020F0502020204030204"/>
                          <a:ea typeface="宋体" panose="02010600030101010101" pitchFamily="2" charset="-122"/>
                          <a:cs typeface="Times New Roman" panose="02020603050405020304"/>
                        </a:rPr>
                        <a:t>&gt;</a:t>
                      </a:r>
                      <a:endParaRPr lang="zh-CN" sz="1000" kern="100" dirty="0">
                        <a:latin typeface="Calibri" panose="020F0502020204030204"/>
                        <a:ea typeface="宋体" panose="02010600030101010101" pitchFamily="2" charset="-122"/>
                        <a:cs typeface="Times New Roman" panose="02020603050405020304"/>
                      </a:endParaRPr>
                    </a:p>
                    <a:p>
                      <a:pPr algn="just">
                        <a:spcAft>
                          <a:spcPts val="0"/>
                        </a:spcAft>
                      </a:pPr>
                      <a:r>
                        <a:rPr lang="en-US" sz="1000" kern="100" dirty="0">
                          <a:latin typeface="Calibri" panose="020F0502020204030204"/>
                          <a:ea typeface="宋体" panose="02010600030101010101" pitchFamily="2" charset="-122"/>
                          <a:cs typeface="Times New Roman" panose="02020603050405020304"/>
                        </a:rPr>
                        <a:t>            &lt;</a:t>
                      </a:r>
                      <a:r>
                        <a:rPr lang="en-US" sz="1000" kern="100" dirty="0" err="1">
                          <a:latin typeface="Calibri" panose="020F0502020204030204"/>
                          <a:ea typeface="宋体" panose="02010600030101010101" pitchFamily="2" charset="-122"/>
                          <a:cs typeface="Times New Roman" panose="02020603050405020304"/>
                        </a:rPr>
                        <a:t>artifactId</a:t>
                      </a:r>
                      <a:r>
                        <a:rPr lang="en-US" sz="1000" kern="100" dirty="0">
                          <a:latin typeface="Calibri" panose="020F0502020204030204"/>
                          <a:ea typeface="宋体" panose="02010600030101010101" pitchFamily="2" charset="-122"/>
                          <a:cs typeface="Times New Roman" panose="02020603050405020304"/>
                        </a:rPr>
                        <a:t>&gt;flink-clients_2.11&lt;/</a:t>
                      </a:r>
                      <a:r>
                        <a:rPr lang="en-US" sz="1000" kern="100" dirty="0" err="1">
                          <a:latin typeface="Calibri" panose="020F0502020204030204"/>
                          <a:ea typeface="宋体" panose="02010600030101010101" pitchFamily="2" charset="-122"/>
                          <a:cs typeface="Times New Roman" panose="02020603050405020304"/>
                        </a:rPr>
                        <a:t>artifactId</a:t>
                      </a:r>
                      <a:r>
                        <a:rPr lang="en-US" sz="1000" kern="100" dirty="0">
                          <a:latin typeface="Calibri" panose="020F0502020204030204"/>
                          <a:ea typeface="宋体" panose="02010600030101010101" pitchFamily="2" charset="-122"/>
                          <a:cs typeface="Times New Roman" panose="02020603050405020304"/>
                        </a:rPr>
                        <a:t>&gt;</a:t>
                      </a:r>
                      <a:endParaRPr lang="zh-CN" sz="1000" kern="100" dirty="0">
                        <a:latin typeface="Calibri" panose="020F0502020204030204"/>
                        <a:ea typeface="宋体" panose="02010600030101010101" pitchFamily="2" charset="-122"/>
                        <a:cs typeface="Times New Roman" panose="02020603050405020304"/>
                      </a:endParaRPr>
                    </a:p>
                    <a:p>
                      <a:pPr algn="just">
                        <a:spcAft>
                          <a:spcPts val="0"/>
                        </a:spcAft>
                      </a:pPr>
                      <a:r>
                        <a:rPr lang="en-US" sz="1000" kern="100" dirty="0">
                          <a:latin typeface="Calibri" panose="020F0502020204030204"/>
                          <a:ea typeface="宋体" panose="02010600030101010101" pitchFamily="2" charset="-122"/>
                          <a:cs typeface="Times New Roman" panose="02020603050405020304"/>
                        </a:rPr>
                        <a:t>            &lt;version&gt;1.9.1&lt;/version&gt;</a:t>
                      </a:r>
                      <a:endParaRPr lang="zh-CN" sz="1000" kern="100" dirty="0">
                        <a:latin typeface="Calibri" panose="020F0502020204030204"/>
                        <a:ea typeface="宋体" panose="02010600030101010101" pitchFamily="2" charset="-122"/>
                        <a:cs typeface="Times New Roman" panose="02020603050405020304"/>
                      </a:endParaRPr>
                    </a:p>
                    <a:p>
                      <a:pPr algn="just">
                        <a:spcAft>
                          <a:spcPts val="0"/>
                        </a:spcAft>
                      </a:pPr>
                      <a:r>
                        <a:rPr lang="en-US" sz="1000" kern="100" dirty="0">
                          <a:latin typeface="Calibri" panose="020F0502020204030204"/>
                          <a:ea typeface="宋体" panose="02010600030101010101" pitchFamily="2" charset="-122"/>
                          <a:cs typeface="Times New Roman" panose="02020603050405020304"/>
                        </a:rPr>
                        <a:t>        &lt;/dependency&gt;</a:t>
                      </a:r>
                      <a:endParaRPr lang="zh-CN" sz="1000" kern="100" dirty="0">
                        <a:latin typeface="Calibri" panose="020F0502020204030204"/>
                        <a:ea typeface="宋体" panose="02010600030101010101" pitchFamily="2" charset="-122"/>
                        <a:cs typeface="Times New Roman" panose="02020603050405020304"/>
                      </a:endParaRPr>
                    </a:p>
                    <a:p>
                      <a:pPr algn="just">
                        <a:spcAft>
                          <a:spcPts val="0"/>
                        </a:spcAft>
                      </a:pPr>
                      <a:r>
                        <a:rPr lang="en-US" sz="1000" kern="100" dirty="0">
                          <a:latin typeface="Calibri" panose="020F0502020204030204"/>
                          <a:ea typeface="宋体" panose="02010600030101010101" pitchFamily="2" charset="-122"/>
                          <a:cs typeface="Times New Roman" panose="02020603050405020304"/>
                        </a:rPr>
                        <a:t>    &lt;/dependencies&gt;</a:t>
                      </a:r>
                      <a:endParaRPr lang="zh-CN" sz="1000" kern="100" dirty="0">
                        <a:latin typeface="Calibri" panose="020F0502020204030204"/>
                        <a:ea typeface="宋体" panose="02010600030101010101" pitchFamily="2" charset="-122"/>
                        <a:cs typeface="Times New Roman" panose="02020603050405020304"/>
                      </a:endParaRPr>
                    </a:p>
                    <a:p>
                      <a:pPr algn="just">
                        <a:spcAft>
                          <a:spcPts val="0"/>
                        </a:spcAft>
                      </a:pPr>
                      <a:r>
                        <a:rPr lang="en-US" sz="1000" kern="100" dirty="0">
                          <a:latin typeface="Calibri" panose="020F0502020204030204"/>
                          <a:ea typeface="宋体" panose="02010600030101010101" pitchFamily="2" charset="-122"/>
                          <a:cs typeface="Times New Roman" panose="02020603050405020304"/>
                        </a:rPr>
                        <a:t>&lt;/project&gt;</a:t>
                      </a:r>
                      <a:endParaRPr lang="en-US" sz="1000" kern="100" dirty="0">
                        <a:latin typeface="Calibri" panose="020F0502020204030204"/>
                        <a:ea typeface="宋体" panose="02010600030101010101" pitchFamily="2" charset="-122"/>
                        <a:cs typeface="Times New Roman" panose="02020603050405020304"/>
                      </a:endParaRPr>
                    </a:p>
                  </a:txBody>
                  <a:tcPr marL="54429" marR="544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41986" name="标题 1"/>
          <p:cNvSpPr>
            <a:spLocks noGrp="1"/>
          </p:cNvSpPr>
          <p:nvPr>
            <p:ph type="title"/>
          </p:nvPr>
        </p:nvSpPr>
        <p:spPr/>
        <p:txBody>
          <a:bodyPr vert="horz" wrap="square" lIns="91440" tIns="45720" rIns="91440" bIns="45720" anchor="ctr" anchorCtr="0"/>
          <a:p>
            <a:r>
              <a:rPr lang="en-US" altLang="zh-CN" b="1" dirty="0"/>
              <a:t>12.7.2 </a:t>
            </a:r>
            <a:r>
              <a:rPr lang="zh-CN" altLang="zh-CN" b="1" dirty="0"/>
              <a:t>编程实现</a:t>
            </a:r>
            <a:r>
              <a:rPr lang="en-US" altLang="zh-CN" b="1" dirty="0"/>
              <a:t>WordCount</a:t>
            </a:r>
            <a:r>
              <a:rPr lang="zh-CN" altLang="zh-CN" b="1" dirty="0"/>
              <a:t>程序</a:t>
            </a:r>
            <a:endParaRPr lang="zh-CN" altLang="en-US" b="1" dirty="0"/>
          </a:p>
        </p:txBody>
      </p:sp>
      <p:sp>
        <p:nvSpPr>
          <p:cNvPr id="41987" name="矩形 2"/>
          <p:cNvSpPr/>
          <p:nvPr/>
        </p:nvSpPr>
        <p:spPr>
          <a:xfrm>
            <a:off x="1117918" y="1444625"/>
            <a:ext cx="3271520" cy="398780"/>
          </a:xfrm>
          <a:prstGeom prst="rect">
            <a:avLst/>
          </a:prstGeom>
          <a:noFill/>
          <a:ln w="9525">
            <a:noFill/>
          </a:ln>
        </p:spPr>
        <p:txBody>
          <a:bodyPr wrap="none">
            <a:spAutoFit/>
          </a:bodyPr>
          <a:p>
            <a:r>
              <a:rPr lang="en-US" altLang="zh-CN" sz="2000" b="1" dirty="0">
                <a:latin typeface="Arial" panose="020B0604020202020204" pitchFamily="34" charset="0"/>
              </a:rPr>
              <a:t>3.</a:t>
            </a:r>
            <a:r>
              <a:rPr lang="zh-CN" altLang="zh-CN" sz="2000" b="1" dirty="0">
                <a:latin typeface="Arial" panose="020B0604020202020204" pitchFamily="34" charset="0"/>
              </a:rPr>
              <a:t>使用</a:t>
            </a:r>
            <a:r>
              <a:rPr lang="en-US" altLang="zh-CN" sz="2000" b="1" dirty="0">
                <a:latin typeface="Arial" panose="020B0604020202020204" pitchFamily="34" charset="0"/>
              </a:rPr>
              <a:t>Maven</a:t>
            </a:r>
            <a:r>
              <a:rPr lang="zh-CN" altLang="zh-CN" sz="2000" b="1" dirty="0">
                <a:latin typeface="Arial" panose="020B0604020202020204" pitchFamily="34" charset="0"/>
              </a:rPr>
              <a:t>打包</a:t>
            </a:r>
            <a:r>
              <a:rPr lang="en-US" altLang="zh-CN" sz="2000" b="1" dirty="0">
                <a:latin typeface="Arial" panose="020B0604020202020204" pitchFamily="34" charset="0"/>
              </a:rPr>
              <a:t>Java</a:t>
            </a:r>
            <a:r>
              <a:rPr lang="zh-CN" altLang="zh-CN" sz="2000" b="1" dirty="0">
                <a:latin typeface="Arial" panose="020B0604020202020204" pitchFamily="34" charset="0"/>
              </a:rPr>
              <a:t>程序</a:t>
            </a:r>
            <a:endParaRPr lang="zh-CN" altLang="zh-CN" sz="2000" b="1" dirty="0">
              <a:latin typeface="Arial" panose="020B0604020202020204" pitchFamily="34" charset="0"/>
            </a:endParaRPr>
          </a:p>
        </p:txBody>
      </p:sp>
      <p:sp>
        <p:nvSpPr>
          <p:cNvPr id="41988" name="矩形 3"/>
          <p:cNvSpPr/>
          <p:nvPr/>
        </p:nvSpPr>
        <p:spPr>
          <a:xfrm>
            <a:off x="1071880" y="1901825"/>
            <a:ext cx="9070340" cy="398780"/>
          </a:xfrm>
          <a:prstGeom prst="rect">
            <a:avLst/>
          </a:prstGeom>
          <a:noFill/>
          <a:ln w="9525">
            <a:noFill/>
          </a:ln>
        </p:spPr>
        <p:txBody>
          <a:bodyPr wrap="square">
            <a:spAutoFit/>
          </a:bodyPr>
          <a:p>
            <a:r>
              <a:rPr lang="zh-CN" altLang="zh-CN" sz="2000" dirty="0">
                <a:latin typeface="Arial" panose="020B0604020202020204" pitchFamily="34" charset="0"/>
              </a:rPr>
              <a:t>为了保证</a:t>
            </a:r>
            <a:r>
              <a:rPr lang="en-US" altLang="zh-CN" sz="2000" dirty="0">
                <a:latin typeface="Arial" panose="020B0604020202020204" pitchFamily="34" charset="0"/>
              </a:rPr>
              <a:t>Maven</a:t>
            </a:r>
            <a:r>
              <a:rPr lang="zh-CN" altLang="zh-CN" sz="2000" dirty="0">
                <a:latin typeface="Arial" panose="020B0604020202020204" pitchFamily="34" charset="0"/>
              </a:rPr>
              <a:t>能够正常运行，先执行如下命令检查整个应用程序的文件结构：</a:t>
            </a:r>
            <a:endParaRPr lang="zh-CN" altLang="zh-CN" sz="2000" dirty="0">
              <a:latin typeface="Arial" panose="020B0604020202020204" pitchFamily="34" charset="0"/>
            </a:endParaRPr>
          </a:p>
        </p:txBody>
      </p:sp>
      <p:sp>
        <p:nvSpPr>
          <p:cNvPr id="41989" name="TextBox 4"/>
          <p:cNvSpPr txBox="1"/>
          <p:nvPr/>
        </p:nvSpPr>
        <p:spPr>
          <a:xfrm>
            <a:off x="1224280" y="2435225"/>
            <a:ext cx="5334000" cy="706755"/>
          </a:xfrm>
          <a:prstGeom prst="rect">
            <a:avLst/>
          </a:prstGeom>
          <a:solidFill>
            <a:schemeClr val="tx1"/>
          </a:solidFill>
          <a:ln w="9525">
            <a:noFill/>
          </a:ln>
        </p:spPr>
        <p:txBody>
          <a:bodyPr>
            <a:spAutoFit/>
          </a:bodyPr>
          <a:p>
            <a:r>
              <a:rPr lang="en-US" altLang="zh-CN" sz="2000" dirty="0">
                <a:solidFill>
                  <a:schemeClr val="bg1"/>
                </a:solidFill>
                <a:latin typeface="Arial" panose="020B0604020202020204" pitchFamily="34" charset="0"/>
              </a:rPr>
              <a:t>$ cd ~/flinkapp</a:t>
            </a:r>
            <a:endParaRPr lang="en-US" altLang="zh-CN" sz="2000" dirty="0">
              <a:solidFill>
                <a:schemeClr val="bg1"/>
              </a:solidFill>
              <a:latin typeface="Arial" panose="020B0604020202020204" pitchFamily="34" charset="0"/>
            </a:endParaRPr>
          </a:p>
          <a:p>
            <a:r>
              <a:rPr lang="en-US" altLang="zh-CN" sz="2000" dirty="0">
                <a:solidFill>
                  <a:schemeClr val="bg1"/>
                </a:solidFill>
                <a:latin typeface="Arial" panose="020B0604020202020204" pitchFamily="34" charset="0"/>
              </a:rPr>
              <a:t>$ find .</a:t>
            </a:r>
            <a:endParaRPr lang="en-US" altLang="zh-CN" sz="2000" dirty="0">
              <a:solidFill>
                <a:schemeClr val="bg1"/>
              </a:solidFill>
              <a:latin typeface="Arial" panose="020B0604020202020204" pitchFamily="34" charset="0"/>
            </a:endParaRPr>
          </a:p>
        </p:txBody>
      </p:sp>
      <p:sp>
        <p:nvSpPr>
          <p:cNvPr id="41990" name="矩形 5"/>
          <p:cNvSpPr/>
          <p:nvPr/>
        </p:nvSpPr>
        <p:spPr>
          <a:xfrm>
            <a:off x="1224280" y="3273425"/>
            <a:ext cx="3992880" cy="398780"/>
          </a:xfrm>
          <a:prstGeom prst="rect">
            <a:avLst/>
          </a:prstGeom>
          <a:noFill/>
          <a:ln w="9525">
            <a:noFill/>
          </a:ln>
        </p:spPr>
        <p:txBody>
          <a:bodyPr wrap="none">
            <a:spAutoFit/>
          </a:bodyPr>
          <a:p>
            <a:r>
              <a:rPr lang="zh-CN" altLang="zh-CN" sz="2000" dirty="0">
                <a:latin typeface="Arial" panose="020B0604020202020204" pitchFamily="34" charset="0"/>
              </a:rPr>
              <a:t>文件结构应该是类似如下的内容：</a:t>
            </a:r>
            <a:endParaRPr lang="zh-CN" altLang="zh-CN" sz="2000" dirty="0">
              <a:latin typeface="Arial" panose="020B0604020202020204" pitchFamily="34" charset="0"/>
            </a:endParaRPr>
          </a:p>
        </p:txBody>
      </p:sp>
      <p:graphicFrame>
        <p:nvGraphicFramePr>
          <p:cNvPr id="7" name="表格 6"/>
          <p:cNvGraphicFramePr>
            <a:graphicFrameLocks noGrp="1"/>
          </p:cNvGraphicFramePr>
          <p:nvPr/>
        </p:nvGraphicFramePr>
        <p:xfrm>
          <a:off x="1224280" y="3806825"/>
          <a:ext cx="5411470" cy="2194560"/>
        </p:xfrm>
        <a:graphic>
          <a:graphicData uri="http://schemas.openxmlformats.org/drawingml/2006/table">
            <a:tbl>
              <a:tblPr/>
              <a:tblGrid>
                <a:gridCol w="5411470"/>
              </a:tblGrid>
              <a:tr h="2194560">
                <a:tc>
                  <a:txBody>
                    <a:bodyPr/>
                    <a:lstStyle/>
                    <a:p>
                      <a:pPr algn="just">
                        <a:spcAft>
                          <a:spcPts val="0"/>
                        </a:spcAft>
                      </a:pPr>
                      <a:r>
                        <a:rPr lang="en-US" sz="2000" kern="100" dirty="0">
                          <a:latin typeface="Times New Roman" panose="02020603050405020304"/>
                          <a:ea typeface="宋体" panose="02010600030101010101" pitchFamily="2" charset="-122"/>
                          <a:cs typeface="Times New Roman" panose="02020603050405020304"/>
                        </a:rPr>
                        <a:t>.</a:t>
                      </a:r>
                      <a:endParaRPr lang="zh-CN" sz="2000" kern="100" dirty="0">
                        <a:latin typeface="Calibri" panose="020F0502020204030204"/>
                        <a:ea typeface="宋体" panose="02010600030101010101" pitchFamily="2" charset="-122"/>
                        <a:cs typeface="Times New Roman" panose="02020603050405020304"/>
                      </a:endParaRPr>
                    </a:p>
                    <a:p>
                      <a:pPr algn="just">
                        <a:spcAft>
                          <a:spcPts val="0"/>
                        </a:spcAft>
                      </a:pPr>
                      <a:r>
                        <a:rPr lang="en-US" sz="2000" kern="100" dirty="0">
                          <a:latin typeface="Calibri" panose="020F0502020204030204"/>
                          <a:ea typeface="宋体" panose="02010600030101010101" pitchFamily="2" charset="-122"/>
                          <a:cs typeface="Times New Roman" panose="02020603050405020304"/>
                        </a:rPr>
                        <a:t>./</a:t>
                      </a:r>
                      <a:r>
                        <a:rPr lang="en-US" sz="2000" kern="100" dirty="0" err="1">
                          <a:latin typeface="Calibri" panose="020F0502020204030204"/>
                          <a:ea typeface="宋体" panose="02010600030101010101" pitchFamily="2" charset="-122"/>
                          <a:cs typeface="Times New Roman" panose="02020603050405020304"/>
                        </a:rPr>
                        <a:t>src</a:t>
                      </a:r>
                      <a:endParaRPr lang="zh-CN" sz="2000" kern="100" dirty="0">
                        <a:latin typeface="Calibri" panose="020F0502020204030204"/>
                        <a:ea typeface="宋体" panose="02010600030101010101" pitchFamily="2" charset="-122"/>
                        <a:cs typeface="Times New Roman" panose="02020603050405020304"/>
                      </a:endParaRPr>
                    </a:p>
                    <a:p>
                      <a:pPr algn="just">
                        <a:spcAft>
                          <a:spcPts val="0"/>
                        </a:spcAft>
                      </a:pPr>
                      <a:r>
                        <a:rPr lang="en-US" sz="2000" kern="100" dirty="0">
                          <a:latin typeface="Calibri" panose="020F0502020204030204"/>
                          <a:ea typeface="宋体" panose="02010600030101010101" pitchFamily="2" charset="-122"/>
                          <a:cs typeface="Times New Roman" panose="02020603050405020304"/>
                        </a:rPr>
                        <a:t>./</a:t>
                      </a:r>
                      <a:r>
                        <a:rPr lang="en-US" sz="2000" kern="100" dirty="0" err="1">
                          <a:latin typeface="Calibri" panose="020F0502020204030204"/>
                          <a:ea typeface="宋体" panose="02010600030101010101" pitchFamily="2" charset="-122"/>
                          <a:cs typeface="Times New Roman" panose="02020603050405020304"/>
                        </a:rPr>
                        <a:t>src</a:t>
                      </a:r>
                      <a:r>
                        <a:rPr lang="en-US" sz="2000" kern="100" dirty="0">
                          <a:latin typeface="Calibri" panose="020F0502020204030204"/>
                          <a:ea typeface="宋体" panose="02010600030101010101" pitchFamily="2" charset="-122"/>
                          <a:cs typeface="Times New Roman" panose="02020603050405020304"/>
                        </a:rPr>
                        <a:t>/main</a:t>
                      </a:r>
                      <a:endParaRPr lang="zh-CN" sz="2000" kern="100" dirty="0">
                        <a:latin typeface="Calibri" panose="020F0502020204030204"/>
                        <a:ea typeface="宋体" panose="02010600030101010101" pitchFamily="2" charset="-122"/>
                        <a:cs typeface="Times New Roman" panose="02020603050405020304"/>
                      </a:endParaRPr>
                    </a:p>
                    <a:p>
                      <a:pPr algn="just">
                        <a:spcAft>
                          <a:spcPts val="0"/>
                        </a:spcAft>
                      </a:pPr>
                      <a:r>
                        <a:rPr lang="en-US" sz="2000" kern="100" dirty="0">
                          <a:latin typeface="Calibri" panose="020F0502020204030204"/>
                          <a:ea typeface="宋体" panose="02010600030101010101" pitchFamily="2" charset="-122"/>
                          <a:cs typeface="Times New Roman" panose="02020603050405020304"/>
                        </a:rPr>
                        <a:t>./</a:t>
                      </a:r>
                      <a:r>
                        <a:rPr lang="en-US" sz="2000" kern="100" dirty="0" err="1">
                          <a:latin typeface="Calibri" panose="020F0502020204030204"/>
                          <a:ea typeface="宋体" panose="02010600030101010101" pitchFamily="2" charset="-122"/>
                          <a:cs typeface="Times New Roman" panose="02020603050405020304"/>
                        </a:rPr>
                        <a:t>src</a:t>
                      </a:r>
                      <a:r>
                        <a:rPr lang="en-US" sz="2000" kern="100" dirty="0">
                          <a:latin typeface="Calibri" panose="020F0502020204030204"/>
                          <a:ea typeface="宋体" panose="02010600030101010101" pitchFamily="2" charset="-122"/>
                          <a:cs typeface="Times New Roman" panose="02020603050405020304"/>
                        </a:rPr>
                        <a:t>/main/java</a:t>
                      </a:r>
                      <a:endParaRPr lang="zh-CN" sz="2000" kern="100" dirty="0">
                        <a:latin typeface="Calibri" panose="020F0502020204030204"/>
                        <a:ea typeface="宋体" panose="02010600030101010101" pitchFamily="2" charset="-122"/>
                        <a:cs typeface="Times New Roman" panose="02020603050405020304"/>
                      </a:endParaRPr>
                    </a:p>
                    <a:p>
                      <a:pPr algn="just">
                        <a:spcAft>
                          <a:spcPts val="0"/>
                        </a:spcAft>
                      </a:pPr>
                      <a:r>
                        <a:rPr lang="en-US" sz="2000" kern="100" dirty="0">
                          <a:latin typeface="Calibri" panose="020F0502020204030204"/>
                          <a:ea typeface="宋体" panose="02010600030101010101" pitchFamily="2" charset="-122"/>
                          <a:cs typeface="Times New Roman" panose="02020603050405020304"/>
                        </a:rPr>
                        <a:t>./</a:t>
                      </a:r>
                      <a:r>
                        <a:rPr lang="en-US" sz="2000" kern="100" dirty="0" err="1">
                          <a:latin typeface="Calibri" panose="020F0502020204030204"/>
                          <a:ea typeface="宋体" panose="02010600030101010101" pitchFamily="2" charset="-122"/>
                          <a:cs typeface="Times New Roman" panose="02020603050405020304"/>
                        </a:rPr>
                        <a:t>src</a:t>
                      </a:r>
                      <a:r>
                        <a:rPr lang="en-US" sz="2000" kern="100" dirty="0">
                          <a:latin typeface="Calibri" panose="020F0502020204030204"/>
                          <a:ea typeface="宋体" panose="02010600030101010101" pitchFamily="2" charset="-122"/>
                          <a:cs typeface="Times New Roman" panose="02020603050405020304"/>
                        </a:rPr>
                        <a:t>/main/java/WordCountData.java</a:t>
                      </a:r>
                      <a:endParaRPr lang="zh-CN" sz="2000" kern="100" dirty="0">
                        <a:latin typeface="Calibri" panose="020F0502020204030204"/>
                        <a:ea typeface="宋体" panose="02010600030101010101" pitchFamily="2" charset="-122"/>
                        <a:cs typeface="Times New Roman" panose="02020603050405020304"/>
                      </a:endParaRPr>
                    </a:p>
                    <a:p>
                      <a:pPr algn="just">
                        <a:spcAft>
                          <a:spcPts val="0"/>
                        </a:spcAft>
                      </a:pPr>
                      <a:r>
                        <a:rPr lang="en-US" sz="2000" kern="100" dirty="0">
                          <a:latin typeface="Calibri" panose="020F0502020204030204"/>
                          <a:ea typeface="宋体" panose="02010600030101010101" pitchFamily="2" charset="-122"/>
                          <a:cs typeface="Times New Roman" panose="02020603050405020304"/>
                        </a:rPr>
                        <a:t>./</a:t>
                      </a:r>
                      <a:r>
                        <a:rPr lang="en-US" sz="2000" kern="100" dirty="0" err="1">
                          <a:latin typeface="Calibri" panose="020F0502020204030204"/>
                          <a:ea typeface="宋体" panose="02010600030101010101" pitchFamily="2" charset="-122"/>
                          <a:cs typeface="Times New Roman" panose="02020603050405020304"/>
                        </a:rPr>
                        <a:t>src</a:t>
                      </a:r>
                      <a:r>
                        <a:rPr lang="en-US" sz="2000" kern="100" dirty="0">
                          <a:latin typeface="Calibri" panose="020F0502020204030204"/>
                          <a:ea typeface="宋体" panose="02010600030101010101" pitchFamily="2" charset="-122"/>
                          <a:cs typeface="Times New Roman" panose="02020603050405020304"/>
                        </a:rPr>
                        <a:t>/main/java/WordCount.java</a:t>
                      </a:r>
                      <a:endParaRPr lang="zh-CN" sz="2000" kern="100" dirty="0">
                        <a:latin typeface="Calibri" panose="020F0502020204030204"/>
                        <a:ea typeface="宋体" panose="02010600030101010101" pitchFamily="2" charset="-122"/>
                        <a:cs typeface="Times New Roman" panose="02020603050405020304"/>
                      </a:endParaRPr>
                    </a:p>
                    <a:p>
                      <a:pPr algn="just">
                        <a:spcAft>
                          <a:spcPts val="0"/>
                        </a:spcAft>
                      </a:pPr>
                      <a:r>
                        <a:rPr lang="en-US" sz="2000" kern="100" dirty="0">
                          <a:latin typeface="Calibri" panose="020F0502020204030204"/>
                          <a:ea typeface="宋体" panose="02010600030101010101" pitchFamily="2" charset="-122"/>
                          <a:cs typeface="Times New Roman" panose="02020603050405020304"/>
                        </a:rPr>
                        <a:t>./</a:t>
                      </a:r>
                      <a:r>
                        <a:rPr lang="en-US" sz="2000" kern="100" dirty="0" err="1">
                          <a:latin typeface="Calibri" panose="020F0502020204030204"/>
                          <a:ea typeface="宋体" panose="02010600030101010101" pitchFamily="2" charset="-122"/>
                          <a:cs typeface="Times New Roman" panose="02020603050405020304"/>
                        </a:rPr>
                        <a:t>src</a:t>
                      </a:r>
                      <a:r>
                        <a:rPr lang="en-US" sz="2000" kern="100" dirty="0">
                          <a:latin typeface="Calibri" panose="020F0502020204030204"/>
                          <a:ea typeface="宋体" panose="02010600030101010101" pitchFamily="2" charset="-122"/>
                          <a:cs typeface="Times New Roman" panose="02020603050405020304"/>
                        </a:rPr>
                        <a:t>/main/java/WordCountTokenizer.java</a:t>
                      </a:r>
                      <a:endParaRPr lang="zh-CN" sz="2000" kern="100" dirty="0">
                        <a:latin typeface="Calibri" panose="020F0502020204030204"/>
                        <a:ea typeface="宋体" panose="02010600030101010101" pitchFamily="2" charset="-122"/>
                        <a:cs typeface="Times New Roman" panose="02020603050405020304"/>
                      </a:endParaRPr>
                    </a:p>
                    <a:p>
                      <a:pPr algn="just">
                        <a:spcAft>
                          <a:spcPts val="0"/>
                        </a:spcAft>
                      </a:pPr>
                      <a:r>
                        <a:rPr lang="en-US" sz="2000" kern="100" dirty="0">
                          <a:latin typeface="Calibri" panose="020F0502020204030204"/>
                          <a:ea typeface="宋体" panose="02010600030101010101" pitchFamily="2" charset="-122"/>
                          <a:cs typeface="Times New Roman" panose="02020603050405020304"/>
                        </a:rPr>
                        <a:t>./pom.xml</a:t>
                      </a:r>
                      <a:endParaRPr lang="en-US" sz="2000" kern="100" dirty="0">
                        <a:latin typeface="Calibri" panose="020F05020202040302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43010" name="标题 1"/>
          <p:cNvSpPr>
            <a:spLocks noGrp="1"/>
          </p:cNvSpPr>
          <p:nvPr>
            <p:ph type="title"/>
          </p:nvPr>
        </p:nvSpPr>
        <p:spPr/>
        <p:txBody>
          <a:bodyPr vert="horz" wrap="square" lIns="91440" tIns="45720" rIns="91440" bIns="45720" anchor="ctr" anchorCtr="0"/>
          <a:p>
            <a:r>
              <a:rPr lang="en-US" altLang="zh-CN" b="1" dirty="0"/>
              <a:t>12.7.2 </a:t>
            </a:r>
            <a:r>
              <a:rPr lang="zh-CN" altLang="zh-CN" b="1" dirty="0"/>
              <a:t>编程实现</a:t>
            </a:r>
            <a:r>
              <a:rPr lang="en-US" altLang="zh-CN" b="1" dirty="0"/>
              <a:t>WordCount</a:t>
            </a:r>
            <a:r>
              <a:rPr lang="zh-CN" altLang="zh-CN" b="1" dirty="0"/>
              <a:t>程序</a:t>
            </a:r>
            <a:endParaRPr lang="zh-CN" altLang="en-US" b="1" dirty="0"/>
          </a:p>
        </p:txBody>
      </p:sp>
      <p:sp>
        <p:nvSpPr>
          <p:cNvPr id="43011" name="矩形 2"/>
          <p:cNvSpPr/>
          <p:nvPr/>
        </p:nvSpPr>
        <p:spPr>
          <a:xfrm>
            <a:off x="1153795" y="1440180"/>
            <a:ext cx="9757410" cy="1014730"/>
          </a:xfrm>
          <a:prstGeom prst="rect">
            <a:avLst/>
          </a:prstGeom>
          <a:noFill/>
          <a:ln w="9525">
            <a:noFill/>
          </a:ln>
        </p:spPr>
        <p:txBody>
          <a:bodyPr wrap="square">
            <a:spAutoFit/>
          </a:bodyPr>
          <a:p>
            <a:r>
              <a:rPr lang="zh-CN" altLang="zh-CN" sz="2000" dirty="0">
                <a:latin typeface="Arial" panose="020B0604020202020204" pitchFamily="34" charset="0"/>
              </a:rPr>
              <a:t>接下来，我们可以通过如下代码将整个应用程序打包成</a:t>
            </a:r>
            <a:r>
              <a:rPr lang="en-US" altLang="zh-CN" sz="2000" dirty="0">
                <a:latin typeface="Arial" panose="020B0604020202020204" pitchFamily="34" charset="0"/>
              </a:rPr>
              <a:t>JAR</a:t>
            </a:r>
            <a:r>
              <a:rPr lang="zh-CN" altLang="zh-CN" sz="2000" dirty="0">
                <a:latin typeface="Arial" panose="020B0604020202020204" pitchFamily="34" charset="0"/>
              </a:rPr>
              <a:t>包（注意：计算机需要保持连接网络的状态，而且首次运行打包命令时，</a:t>
            </a:r>
            <a:r>
              <a:rPr lang="en-US" altLang="zh-CN" sz="2000" dirty="0">
                <a:latin typeface="Arial" panose="020B0604020202020204" pitchFamily="34" charset="0"/>
              </a:rPr>
              <a:t>Maven</a:t>
            </a:r>
            <a:r>
              <a:rPr lang="zh-CN" altLang="zh-CN" sz="2000" dirty="0">
                <a:latin typeface="Arial" panose="020B0604020202020204" pitchFamily="34" charset="0"/>
              </a:rPr>
              <a:t>会自动下载依赖包，需要消耗几分钟的时间）：</a:t>
            </a:r>
            <a:endParaRPr lang="zh-CN" altLang="zh-CN" sz="2000" dirty="0">
              <a:latin typeface="Arial" panose="020B0604020202020204" pitchFamily="34" charset="0"/>
            </a:endParaRPr>
          </a:p>
        </p:txBody>
      </p:sp>
      <p:sp>
        <p:nvSpPr>
          <p:cNvPr id="43012" name="TextBox 3"/>
          <p:cNvSpPr txBox="1"/>
          <p:nvPr/>
        </p:nvSpPr>
        <p:spPr>
          <a:xfrm>
            <a:off x="1266825" y="2722245"/>
            <a:ext cx="8058785" cy="706755"/>
          </a:xfrm>
          <a:prstGeom prst="rect">
            <a:avLst/>
          </a:prstGeom>
          <a:solidFill>
            <a:schemeClr val="tx1"/>
          </a:solidFill>
          <a:ln w="9525">
            <a:noFill/>
          </a:ln>
        </p:spPr>
        <p:txBody>
          <a:bodyPr wrap="square">
            <a:spAutoFit/>
          </a:bodyPr>
          <a:p>
            <a:r>
              <a:rPr lang="en-US" altLang="zh-CN" sz="2000" dirty="0">
                <a:solidFill>
                  <a:schemeClr val="bg1"/>
                </a:solidFill>
                <a:latin typeface="Arial" panose="020B0604020202020204" pitchFamily="34" charset="0"/>
              </a:rPr>
              <a:t>$ cd ~/flinkapp    #</a:t>
            </a:r>
            <a:r>
              <a:rPr lang="zh-CN" altLang="en-US" sz="2000" dirty="0">
                <a:solidFill>
                  <a:schemeClr val="bg1"/>
                </a:solidFill>
                <a:latin typeface="Arial" panose="020B0604020202020204" pitchFamily="34" charset="0"/>
              </a:rPr>
              <a:t>一定把这个目录设置为当前目录</a:t>
            </a:r>
            <a:endParaRPr lang="zh-CN" altLang="en-US" sz="2000" dirty="0">
              <a:solidFill>
                <a:schemeClr val="bg1"/>
              </a:solidFill>
              <a:latin typeface="Arial" panose="020B0604020202020204" pitchFamily="34" charset="0"/>
            </a:endParaRPr>
          </a:p>
          <a:p>
            <a:r>
              <a:rPr lang="en-US" altLang="zh-CN" sz="2000" dirty="0">
                <a:solidFill>
                  <a:schemeClr val="bg1"/>
                </a:solidFill>
                <a:latin typeface="Arial" panose="020B0604020202020204" pitchFamily="34" charset="0"/>
              </a:rPr>
              <a:t>$ /usr/local/maven/bin/mvn package</a:t>
            </a:r>
            <a:endParaRPr lang="en-US" altLang="zh-CN" sz="2000" dirty="0">
              <a:solidFill>
                <a:schemeClr val="bg1"/>
              </a:solidFill>
              <a:latin typeface="Arial" panose="020B0604020202020204" pitchFamily="34" charset="0"/>
            </a:endParaRPr>
          </a:p>
        </p:txBody>
      </p:sp>
      <p:sp>
        <p:nvSpPr>
          <p:cNvPr id="43013" name="矩形 4"/>
          <p:cNvSpPr/>
          <p:nvPr/>
        </p:nvSpPr>
        <p:spPr>
          <a:xfrm>
            <a:off x="1229995" y="4029710"/>
            <a:ext cx="9681845" cy="398780"/>
          </a:xfrm>
          <a:prstGeom prst="rect">
            <a:avLst/>
          </a:prstGeom>
          <a:noFill/>
          <a:ln w="9525">
            <a:noFill/>
          </a:ln>
        </p:spPr>
        <p:txBody>
          <a:bodyPr wrap="square">
            <a:spAutoFit/>
          </a:bodyPr>
          <a:p>
            <a:r>
              <a:rPr lang="zh-CN" altLang="zh-CN" sz="2000" dirty="0">
                <a:latin typeface="Arial" panose="020B0604020202020204" pitchFamily="34" charset="0"/>
              </a:rPr>
              <a:t>如果屏幕返回的信息中包含“</a:t>
            </a:r>
            <a:r>
              <a:rPr lang="en-US" altLang="zh-CN" sz="2000" dirty="0">
                <a:latin typeface="Arial" panose="020B0604020202020204" pitchFamily="34" charset="0"/>
              </a:rPr>
              <a:t>BUILD SUCCESS</a:t>
            </a:r>
            <a:r>
              <a:rPr lang="zh-CN" altLang="zh-CN" sz="2000" dirty="0">
                <a:latin typeface="Arial" panose="020B0604020202020204" pitchFamily="34" charset="0"/>
              </a:rPr>
              <a:t>”，则说明生成</a:t>
            </a:r>
            <a:r>
              <a:rPr lang="en-US" altLang="zh-CN" sz="2000" dirty="0">
                <a:latin typeface="Arial" panose="020B0604020202020204" pitchFamily="34" charset="0"/>
              </a:rPr>
              <a:t>JAR</a:t>
            </a:r>
            <a:r>
              <a:rPr lang="zh-CN" altLang="zh-CN" sz="2000" dirty="0">
                <a:latin typeface="Arial" panose="020B0604020202020204" pitchFamily="34" charset="0"/>
              </a:rPr>
              <a:t>包成功。</a:t>
            </a:r>
            <a:endParaRPr lang="zh-CN" altLang="zh-CN" sz="2000" dirty="0">
              <a:latin typeface="Arial" panose="020B0604020202020204" pitchFamily="34" charset="0"/>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44034" name="标题 1"/>
          <p:cNvSpPr>
            <a:spLocks noGrp="1"/>
          </p:cNvSpPr>
          <p:nvPr>
            <p:ph type="title"/>
          </p:nvPr>
        </p:nvSpPr>
        <p:spPr/>
        <p:txBody>
          <a:bodyPr vert="horz" wrap="square" lIns="91440" tIns="45720" rIns="91440" bIns="45720" anchor="ctr" anchorCtr="0"/>
          <a:p>
            <a:r>
              <a:rPr lang="en-US" altLang="zh-CN" b="1" dirty="0"/>
              <a:t>12.7.2 </a:t>
            </a:r>
            <a:r>
              <a:rPr lang="zh-CN" altLang="zh-CN" b="1" dirty="0"/>
              <a:t>编程实现</a:t>
            </a:r>
            <a:r>
              <a:rPr lang="en-US" altLang="zh-CN" b="1" dirty="0"/>
              <a:t>WordCount</a:t>
            </a:r>
            <a:r>
              <a:rPr lang="zh-CN" altLang="zh-CN" b="1" dirty="0"/>
              <a:t>程序</a:t>
            </a:r>
            <a:endParaRPr lang="zh-CN" altLang="en-US" b="1" dirty="0"/>
          </a:p>
        </p:txBody>
      </p:sp>
      <p:sp>
        <p:nvSpPr>
          <p:cNvPr id="44035" name="矩形 2"/>
          <p:cNvSpPr/>
          <p:nvPr/>
        </p:nvSpPr>
        <p:spPr>
          <a:xfrm>
            <a:off x="1043305" y="1368425"/>
            <a:ext cx="4568190" cy="521970"/>
          </a:xfrm>
          <a:prstGeom prst="rect">
            <a:avLst/>
          </a:prstGeom>
          <a:noFill/>
          <a:ln w="9525">
            <a:noFill/>
          </a:ln>
        </p:spPr>
        <p:txBody>
          <a:bodyPr wrap="none">
            <a:spAutoFit/>
          </a:bodyPr>
          <a:p>
            <a:r>
              <a:rPr lang="en-US" altLang="zh-CN" sz="2800" dirty="0">
                <a:latin typeface="Arial" panose="020B0604020202020204" pitchFamily="34" charset="0"/>
              </a:rPr>
              <a:t>4.</a:t>
            </a:r>
            <a:r>
              <a:rPr lang="zh-CN" altLang="zh-CN" sz="2800" dirty="0">
                <a:latin typeface="Arial" panose="020B0604020202020204" pitchFamily="34" charset="0"/>
              </a:rPr>
              <a:t>通过</a:t>
            </a:r>
            <a:r>
              <a:rPr lang="en-US" altLang="zh-CN" sz="2800" dirty="0">
                <a:latin typeface="Arial" panose="020B0604020202020204" pitchFamily="34" charset="0"/>
              </a:rPr>
              <a:t>flink run</a:t>
            </a:r>
            <a:r>
              <a:rPr lang="zh-CN" altLang="zh-CN" sz="2800" dirty="0">
                <a:latin typeface="Arial" panose="020B0604020202020204" pitchFamily="34" charset="0"/>
              </a:rPr>
              <a:t>命令运行程序</a:t>
            </a:r>
            <a:endParaRPr lang="zh-CN" altLang="zh-CN" sz="2800" dirty="0">
              <a:latin typeface="Arial" panose="020B0604020202020204" pitchFamily="34" charset="0"/>
            </a:endParaRPr>
          </a:p>
        </p:txBody>
      </p:sp>
      <p:sp>
        <p:nvSpPr>
          <p:cNvPr id="44036" name="矩形 3"/>
          <p:cNvSpPr/>
          <p:nvPr/>
        </p:nvSpPr>
        <p:spPr>
          <a:xfrm>
            <a:off x="1043305" y="1978025"/>
            <a:ext cx="10406380" cy="706755"/>
          </a:xfrm>
          <a:prstGeom prst="rect">
            <a:avLst/>
          </a:prstGeom>
          <a:noFill/>
          <a:ln w="9525">
            <a:noFill/>
          </a:ln>
        </p:spPr>
        <p:txBody>
          <a:bodyPr wrap="square">
            <a:spAutoFit/>
          </a:bodyPr>
          <a:p>
            <a:r>
              <a:rPr lang="zh-CN" altLang="zh-CN" sz="2000" dirty="0">
                <a:latin typeface="Arial" panose="020B0604020202020204" pitchFamily="34" charset="0"/>
              </a:rPr>
              <a:t>最后，可以将生成的</a:t>
            </a:r>
            <a:r>
              <a:rPr lang="en-US" altLang="zh-CN" sz="2000" dirty="0">
                <a:latin typeface="Arial" panose="020B0604020202020204" pitchFamily="34" charset="0"/>
              </a:rPr>
              <a:t>JAR</a:t>
            </a:r>
            <a:r>
              <a:rPr lang="zh-CN" altLang="zh-CN" sz="2000" dirty="0">
                <a:latin typeface="Arial" panose="020B0604020202020204" pitchFamily="34" charset="0"/>
              </a:rPr>
              <a:t>包通过</a:t>
            </a:r>
            <a:r>
              <a:rPr lang="en-US" altLang="zh-CN" sz="2000" dirty="0">
                <a:latin typeface="Arial" panose="020B0604020202020204" pitchFamily="34" charset="0"/>
              </a:rPr>
              <a:t>flink run</a:t>
            </a:r>
            <a:r>
              <a:rPr lang="zh-CN" altLang="zh-CN" sz="2000" dirty="0">
                <a:latin typeface="Arial" panose="020B0604020202020204" pitchFamily="34" charset="0"/>
              </a:rPr>
              <a:t>命令提交到</a:t>
            </a:r>
            <a:r>
              <a:rPr lang="en-US" altLang="zh-CN" sz="2000" dirty="0">
                <a:latin typeface="Arial" panose="020B0604020202020204" pitchFamily="34" charset="0"/>
              </a:rPr>
              <a:t>Flink</a:t>
            </a:r>
            <a:r>
              <a:rPr lang="zh-CN" altLang="zh-CN" sz="2000" dirty="0">
                <a:latin typeface="Arial" panose="020B0604020202020204" pitchFamily="34" charset="0"/>
              </a:rPr>
              <a:t>中运行（请确认已经启动</a:t>
            </a:r>
            <a:r>
              <a:rPr lang="en-US" altLang="zh-CN" sz="2000" dirty="0">
                <a:latin typeface="Arial" panose="020B0604020202020204" pitchFamily="34" charset="0"/>
              </a:rPr>
              <a:t>Flink</a:t>
            </a:r>
            <a:r>
              <a:rPr lang="zh-CN" altLang="zh-CN" sz="2000" dirty="0">
                <a:latin typeface="Arial" panose="020B0604020202020204" pitchFamily="34" charset="0"/>
              </a:rPr>
              <a:t>），</a:t>
            </a:r>
            <a:endParaRPr lang="zh-CN" altLang="zh-CN" sz="2000" dirty="0">
              <a:latin typeface="Arial" panose="020B0604020202020204" pitchFamily="34" charset="0"/>
            </a:endParaRPr>
          </a:p>
          <a:p>
            <a:r>
              <a:rPr lang="zh-CN" altLang="zh-CN" sz="2000" dirty="0">
                <a:latin typeface="Arial" panose="020B0604020202020204" pitchFamily="34" charset="0"/>
              </a:rPr>
              <a:t>命令如下：</a:t>
            </a:r>
            <a:endParaRPr lang="zh-CN" altLang="zh-CN" sz="2000" dirty="0">
              <a:latin typeface="Arial" panose="020B0604020202020204" pitchFamily="34" charset="0"/>
            </a:endParaRPr>
          </a:p>
        </p:txBody>
      </p:sp>
      <p:sp>
        <p:nvSpPr>
          <p:cNvPr id="44037" name="TextBox 4"/>
          <p:cNvSpPr txBox="1"/>
          <p:nvPr/>
        </p:nvSpPr>
        <p:spPr>
          <a:xfrm>
            <a:off x="1119505" y="3075940"/>
            <a:ext cx="7239000" cy="706755"/>
          </a:xfrm>
          <a:prstGeom prst="rect">
            <a:avLst/>
          </a:prstGeom>
          <a:solidFill>
            <a:schemeClr val="tx1"/>
          </a:solidFill>
          <a:ln w="9525">
            <a:noFill/>
          </a:ln>
        </p:spPr>
        <p:txBody>
          <a:bodyPr>
            <a:spAutoFit/>
          </a:bodyPr>
          <a:p>
            <a:r>
              <a:rPr lang="en-US" altLang="zh-CN" sz="2000" dirty="0">
                <a:solidFill>
                  <a:schemeClr val="bg1"/>
                </a:solidFill>
                <a:latin typeface="Arial" panose="020B0604020202020204" pitchFamily="34" charset="0"/>
              </a:rPr>
              <a:t>$ /usr/local/flink/bin/flink run --class cn.edu.xmu.WordCount ~/flinkapp/target/simple-project-1.0.jar</a:t>
            </a:r>
            <a:endParaRPr lang="en-US" altLang="zh-CN" sz="2000" dirty="0">
              <a:solidFill>
                <a:schemeClr val="bg1"/>
              </a:solidFill>
              <a:latin typeface="Arial" panose="020B0604020202020204" pitchFamily="34" charset="0"/>
            </a:endParaRPr>
          </a:p>
        </p:txBody>
      </p:sp>
      <p:sp>
        <p:nvSpPr>
          <p:cNvPr id="44038" name="矩形 5"/>
          <p:cNvSpPr/>
          <p:nvPr/>
        </p:nvSpPr>
        <p:spPr>
          <a:xfrm>
            <a:off x="1119505" y="4495800"/>
            <a:ext cx="7239000" cy="398780"/>
          </a:xfrm>
          <a:prstGeom prst="rect">
            <a:avLst/>
          </a:prstGeom>
          <a:noFill/>
          <a:ln w="9525">
            <a:noFill/>
          </a:ln>
        </p:spPr>
        <p:txBody>
          <a:bodyPr>
            <a:spAutoFit/>
          </a:bodyPr>
          <a:p>
            <a:r>
              <a:rPr lang="zh-CN" altLang="zh-CN" sz="2000" dirty="0">
                <a:latin typeface="Arial" panose="020B0604020202020204" pitchFamily="34" charset="0"/>
              </a:rPr>
              <a:t>执行成功后，可以在屏幕上看到词频统计结果。</a:t>
            </a:r>
            <a:endParaRPr lang="zh-CN" altLang="zh-CN" sz="2000" dirty="0">
              <a:latin typeface="Arial" panose="020B0604020202020204" pitchFamily="34" charset="0"/>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b="1"/>
              <a:t>本章小结</a:t>
            </a:r>
            <a:endParaRPr lang="zh-CN" altLang="en-US" b="1"/>
          </a:p>
        </p:txBody>
      </p:sp>
      <p:sp>
        <p:nvSpPr>
          <p:cNvPr id="3" name="内容占位符 2"/>
          <p:cNvSpPr>
            <a:spLocks noGrp="1"/>
          </p:cNvSpPr>
          <p:nvPr>
            <p:ph idx="1"/>
          </p:nvPr>
        </p:nvSpPr>
        <p:spPr/>
        <p:txBody>
          <a:bodyPr>
            <a:normAutofit fontScale="90000" lnSpcReduction="10000"/>
          </a:bodyPr>
          <a:p>
            <a:pPr>
              <a:lnSpc>
                <a:spcPct val="130000"/>
              </a:lnSpc>
            </a:pPr>
            <a:r>
              <a:rPr lang="en-US" altLang="zh-CN"/>
              <a:t>Apache Flink</a:t>
            </a:r>
            <a:r>
              <a:rPr lang="zh-CN" altLang="en-US"/>
              <a:t>是一个分布式处理引擎，用于对无界和有界数据流进行有状态计算。</a:t>
            </a:r>
            <a:endParaRPr lang="zh-CN" altLang="en-US"/>
          </a:p>
          <a:p>
            <a:pPr>
              <a:lnSpc>
                <a:spcPct val="130000"/>
              </a:lnSpc>
            </a:pPr>
            <a:r>
              <a:rPr lang="en-US" altLang="zh-CN"/>
              <a:t>Flink</a:t>
            </a:r>
            <a:r>
              <a:rPr lang="zh-CN" altLang="en-US"/>
              <a:t>以数据并行和流水线方式执行任意流数据程序，</a:t>
            </a:r>
            <a:r>
              <a:rPr lang="en-US" altLang="zh-CN"/>
              <a:t>Flink</a:t>
            </a:r>
            <a:r>
              <a:rPr lang="zh-CN" altLang="en-US"/>
              <a:t>的流水线运行</a:t>
            </a:r>
            <a:r>
              <a:rPr lang="zh-CN" altLang="en-US">
                <a:sym typeface="+mn-ea"/>
              </a:rPr>
              <a:t>式</a:t>
            </a:r>
            <a:r>
              <a:rPr lang="zh-CN" altLang="en-US"/>
              <a:t>系统可以执行批处理和流处理程序。此外，</a:t>
            </a:r>
            <a:r>
              <a:rPr lang="en-US" altLang="zh-CN"/>
              <a:t>Flink</a:t>
            </a:r>
            <a:r>
              <a:rPr lang="zh-CN" altLang="en-US"/>
              <a:t>支持迭代算法的执行。</a:t>
            </a:r>
            <a:endParaRPr lang="zh-CN" altLang="en-US"/>
          </a:p>
          <a:p>
            <a:pPr>
              <a:lnSpc>
                <a:spcPct val="130000"/>
              </a:lnSpc>
            </a:pPr>
            <a:r>
              <a:rPr lang="zh-CN" altLang="en-US"/>
              <a:t>近来年，数据架构设计开始由传统数据处理架构、大数据</a:t>
            </a:r>
            <a:r>
              <a:rPr lang="en-US" altLang="zh-CN"/>
              <a:t>Lambda</a:t>
            </a:r>
            <a:r>
              <a:rPr lang="zh-CN" altLang="en-US"/>
              <a:t>架构向流处理架构演变。这种转变使得</a:t>
            </a:r>
            <a:r>
              <a:rPr lang="en-US" altLang="zh-CN"/>
              <a:t>Flink</a:t>
            </a:r>
            <a:r>
              <a:rPr lang="zh-CN" altLang="en-US"/>
              <a:t>可以在大数据应用场景中大显身手。</a:t>
            </a:r>
            <a:endParaRPr lang="zh-CN" altLang="en-US"/>
          </a:p>
          <a:p>
            <a:pPr>
              <a:lnSpc>
                <a:spcPct val="130000"/>
              </a:lnSpc>
            </a:pPr>
            <a:r>
              <a:rPr lang="zh-CN" altLang="en-US"/>
              <a:t>典型应用场景包括：事件驱动型应用、数据分析型应用和数据流水线应用。</a:t>
            </a:r>
            <a:endParaRPr lang="zh-CN" altLang="en-US"/>
          </a:p>
        </p:txBody>
      </p:sp>
      <p:sp>
        <p:nvSpPr>
          <p:cNvPr id="4" name="灯片编号占位符 3"/>
          <p:cNvSpPr>
            <a:spLocks noGrp="1"/>
          </p:cNvSpPr>
          <p:nvPr>
            <p:ph type="sldNum" sz="quarter" idx="12"/>
          </p:nvPr>
        </p:nvSpPr>
        <p:spPr/>
        <p:txBody>
          <a:bodyPr/>
          <a:p>
            <a:fld id="{7E57CE09-A6DF-4F65-B9AD-CB157D51E68C}" type="slidenum">
              <a:rPr lang="zh-CN" altLang="en-US" smtClean="0"/>
            </a:fld>
            <a:endParaRPr lang="zh-CN" altLang="en-US"/>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PP_MARK_KEY" val="b6b11f8e-c8aa-4790-a55d-ceede10e912b"/>
  <p:tag name="COMMONDATA" val="eyJoZGlkIjoiOTRkNmFmZjRjMzI3MTQ3ZWFlYjhlZWM3YzFkOWNmN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12057</Words>
  <Application>WPS 演示</Application>
  <PresentationFormat>宽屏</PresentationFormat>
  <Paragraphs>544</Paragraphs>
  <Slides>42</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42</vt:i4>
      </vt:variant>
    </vt:vector>
  </HeadingPairs>
  <TitlesOfParts>
    <vt:vector size="55" baseType="lpstr">
      <vt:lpstr>Arial</vt:lpstr>
      <vt:lpstr>宋体</vt:lpstr>
      <vt:lpstr>Wingdings</vt:lpstr>
      <vt:lpstr>黑体</vt:lpstr>
      <vt:lpstr>等线</vt:lpstr>
      <vt:lpstr>微软雅黑</vt:lpstr>
      <vt:lpstr>Arial Unicode MS</vt:lpstr>
      <vt:lpstr>等线 Light</vt:lpstr>
      <vt:lpstr>Cambria Math</vt:lpstr>
      <vt:lpstr>Calibri</vt:lpstr>
      <vt:lpstr>Times New Roman</vt:lpstr>
      <vt:lpstr>Wingdings</vt:lpstr>
      <vt:lpstr>Office 主题​​</vt:lpstr>
      <vt:lpstr>第12章	Flink</vt:lpstr>
      <vt:lpstr>第12章	Flink</vt:lpstr>
      <vt:lpstr>12.1 Flink简介</vt:lpstr>
      <vt:lpstr>12.1 Flink简介</vt:lpstr>
      <vt:lpstr>12.2 为什么选择Flink</vt:lpstr>
      <vt:lpstr>12.2.1 传统数据处理架构</vt:lpstr>
      <vt:lpstr>12.2.2 大数据Lambda架构</vt:lpstr>
      <vt:lpstr>12.2.3 流处理架构</vt:lpstr>
      <vt:lpstr>12.2.3 流处理架构</vt:lpstr>
      <vt:lpstr>12.2.3 流处理架构</vt:lpstr>
      <vt:lpstr>12.2.4 Flink是理想的流计算框架</vt:lpstr>
      <vt:lpstr>12.2.5 Flink的优势</vt:lpstr>
      <vt:lpstr>12.2.5 Flink的优势</vt:lpstr>
      <vt:lpstr>12.3 Flink应用场景</vt:lpstr>
      <vt:lpstr>12.3.1 事件驱动型应用</vt:lpstr>
      <vt:lpstr>12.3.1 事件驱动型应用</vt:lpstr>
      <vt:lpstr>12.3.1 事件驱动型应用</vt:lpstr>
      <vt:lpstr>12.3.1 事件驱动型应用</vt:lpstr>
      <vt:lpstr>12.3.2 数据分析应用</vt:lpstr>
      <vt:lpstr>12.3.2 数据分析应用</vt:lpstr>
      <vt:lpstr>12.3.2 数据分析应用</vt:lpstr>
      <vt:lpstr>12.3.3 数据流水线应用</vt:lpstr>
      <vt:lpstr>12.3.3 数据流水线应用</vt:lpstr>
      <vt:lpstr>12.4 Flink技术栈</vt:lpstr>
      <vt:lpstr>12.5 Flink体系架构</vt:lpstr>
      <vt:lpstr>12.6 Flink编程模型</vt:lpstr>
      <vt:lpstr>12.7 Flink编程实践</vt:lpstr>
      <vt:lpstr>12.7.1 安装Flink</vt:lpstr>
      <vt:lpstr>12.7.1 安装Flink</vt:lpstr>
      <vt:lpstr>PowerPoint 演示文稿</vt:lpstr>
      <vt:lpstr>PowerPoint 演示文稿</vt:lpstr>
      <vt:lpstr>12.7.2 编程实现WordCount程序</vt:lpstr>
      <vt:lpstr>12.7.2 编程实现WordCount程序</vt:lpstr>
      <vt:lpstr>12.7.2 编程实现WordCount程序</vt:lpstr>
      <vt:lpstr>12.7.2 编程实现WordCount程序</vt:lpstr>
      <vt:lpstr>12.7.2 编程实现WordCount程序</vt:lpstr>
      <vt:lpstr>PowerPoint 演示文稿</vt:lpstr>
      <vt:lpstr>12.7.2 编程实现WordCount程序</vt:lpstr>
      <vt:lpstr>12.7.2 编程实现WordCount程序</vt:lpstr>
      <vt:lpstr>12.7.2 编程实现WordCount程序</vt:lpstr>
      <vt:lpstr>12.7.2 编程实现WordCount程序</vt:lpstr>
      <vt:lpstr>本章小结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大数据管理</dc:title>
  <dc:creator>zitong chen</dc:creator>
  <cp:lastModifiedBy>大洋儿</cp:lastModifiedBy>
  <cp:revision>272</cp:revision>
  <dcterms:created xsi:type="dcterms:W3CDTF">2023-01-31T13:03:00Z</dcterms:created>
  <dcterms:modified xsi:type="dcterms:W3CDTF">2026-05-25T17:35:19Z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6AD4B01DF5B2472AA4EC8B15CC842DFA_13</vt:lpwstr>
  </property>
  <property fmtid="{D5CDD505-2E9C-101B-9397-08002B2CF9AE}" pid="3" name="KSOProductBuildVer">
    <vt:lpwstr>2052-12.1.0.26375</vt:lpwstr>
  </property>
</Properties>
</file>