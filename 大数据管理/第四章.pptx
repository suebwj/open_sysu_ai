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460" r:id="rId3"/>
    <p:sldId id="461" r:id="rId4"/>
    <p:sldId id="420" r:id="rId5"/>
    <p:sldId id="393" r:id="rId6"/>
    <p:sldId id="431" r:id="rId7"/>
    <p:sldId id="359" r:id="rId8"/>
    <p:sldId id="462" r:id="rId9"/>
    <p:sldId id="362" r:id="rId10"/>
    <p:sldId id="463" r:id="rId11"/>
    <p:sldId id="364" r:id="rId12"/>
    <p:sldId id="394" r:id="rId13"/>
    <p:sldId id="365" r:id="rId14"/>
    <p:sldId id="366" r:id="rId15"/>
    <p:sldId id="464" r:id="rId16"/>
    <p:sldId id="465" r:id="rId17"/>
    <p:sldId id="368" r:id="rId18"/>
    <p:sldId id="369" r:id="rId19"/>
    <p:sldId id="370" r:id="rId20"/>
    <p:sldId id="372" r:id="rId21"/>
    <p:sldId id="395" r:id="rId22"/>
    <p:sldId id="373" r:id="rId23"/>
    <p:sldId id="374" r:id="rId24"/>
    <p:sldId id="375" r:id="rId25"/>
    <p:sldId id="533" r:id="rId26"/>
    <p:sldId id="376" r:id="rId28"/>
    <p:sldId id="401" r:id="rId29"/>
    <p:sldId id="532" r:id="rId30"/>
    <p:sldId id="402" r:id="rId31"/>
    <p:sldId id="396" r:id="rId32"/>
    <p:sldId id="378" r:id="rId33"/>
    <p:sldId id="379" r:id="rId34"/>
    <p:sldId id="429" r:id="rId35"/>
    <p:sldId id="380" r:id="rId36"/>
    <p:sldId id="403" r:id="rId37"/>
    <p:sldId id="404" r:id="rId38"/>
    <p:sldId id="405" r:id="rId39"/>
    <p:sldId id="535" r:id="rId40"/>
    <p:sldId id="381" r:id="rId41"/>
    <p:sldId id="406" r:id="rId42"/>
    <p:sldId id="407" r:id="rId43"/>
    <p:sldId id="416" r:id="rId44"/>
    <p:sldId id="385" r:id="rId45"/>
    <p:sldId id="386" r:id="rId46"/>
    <p:sldId id="387" r:id="rId47"/>
    <p:sldId id="388" r:id="rId48"/>
    <p:sldId id="583" r:id="rId49"/>
    <p:sldId id="459" r:id="rId50"/>
    <p:sldId id="456" r:id="rId51"/>
    <p:sldId id="455" r:id="rId52"/>
    <p:sldId id="453" r:id="rId53"/>
    <p:sldId id="454" r:id="rId54"/>
    <p:sldId id="421" r:id="rId55"/>
    <p:sldId id="422" r:id="rId56"/>
    <p:sldId id="423" r:id="rId57"/>
    <p:sldId id="424" r:id="rId58"/>
    <p:sldId id="425" r:id="rId59"/>
    <p:sldId id="426" r:id="rId60"/>
    <p:sldId id="427" r:id="rId61"/>
    <p:sldId id="392" r:id="rId62"/>
  </p:sldIdLst>
  <p:sldSz cx="12192000" cy="6858000"/>
  <p:notesSz cx="6858000" cy="9144000"/>
  <p:custDataLst>
    <p:tags r:id="rId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4E6C89C-9196-434D-84E5-02BA7FC5199B}">
          <p14:sldIdLst>
            <p14:sldId id="460"/>
            <p14:sldId id="461"/>
            <p14:sldId id="420"/>
            <p14:sldId id="393"/>
            <p14:sldId id="431"/>
            <p14:sldId id="359"/>
            <p14:sldId id="462"/>
            <p14:sldId id="362"/>
            <p14:sldId id="463"/>
            <p14:sldId id="364"/>
            <p14:sldId id="394"/>
            <p14:sldId id="365"/>
            <p14:sldId id="366"/>
            <p14:sldId id="464"/>
            <p14:sldId id="465"/>
            <p14:sldId id="368"/>
            <p14:sldId id="369"/>
            <p14:sldId id="370"/>
            <p14:sldId id="372"/>
            <p14:sldId id="395"/>
            <p14:sldId id="373"/>
            <p14:sldId id="374"/>
            <p14:sldId id="375"/>
            <p14:sldId id="533"/>
            <p14:sldId id="376"/>
            <p14:sldId id="401"/>
            <p14:sldId id="532"/>
            <p14:sldId id="402"/>
            <p14:sldId id="396"/>
            <p14:sldId id="378"/>
            <p14:sldId id="379"/>
            <p14:sldId id="429"/>
            <p14:sldId id="380"/>
            <p14:sldId id="403"/>
            <p14:sldId id="404"/>
            <p14:sldId id="405"/>
            <p14:sldId id="535"/>
            <p14:sldId id="381"/>
            <p14:sldId id="406"/>
            <p14:sldId id="407"/>
            <p14:sldId id="416"/>
            <p14:sldId id="385"/>
            <p14:sldId id="386"/>
            <p14:sldId id="387"/>
            <p14:sldId id="388"/>
            <p14:sldId id="583"/>
            <p14:sldId id="459"/>
            <p14:sldId id="456"/>
            <p14:sldId id="455"/>
            <p14:sldId id="453"/>
            <p14:sldId id="454"/>
            <p14:sldId id="421"/>
            <p14:sldId id="422"/>
            <p14:sldId id="423"/>
            <p14:sldId id="424"/>
            <p14:sldId id="425"/>
            <p14:sldId id="426"/>
            <p14:sldId id="427"/>
            <p14:sldId id="39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A6CD9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3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gs" Target="tags/tag122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A424B-F2C7-4EC9-8DA2-5CFAACF65E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60B0A-E707-4489-B72C-209A0C1058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图片展示的实例：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）利用命令</a:t>
            </a:r>
            <a:r>
              <a:rPr lang="en-US" altLang="zh-CN">
                <a:latin typeface="Arial" panose="020B0604020202020204" pitchFamily="34" charset="0"/>
              </a:rPr>
              <a:t>create</a:t>
            </a:r>
            <a:r>
              <a:rPr lang="zh-CN" altLang="en-US">
                <a:latin typeface="Arial" panose="020B0604020202020204" pitchFamily="34" charset="0"/>
              </a:rPr>
              <a:t>创建表</a:t>
            </a:r>
            <a:r>
              <a:rPr lang="en-US" altLang="zh-CN">
                <a:latin typeface="Arial" panose="020B0604020202020204" pitchFamily="34" charset="0"/>
              </a:rPr>
              <a:t>tempTable</a:t>
            </a:r>
            <a:r>
              <a:rPr lang="zh-CN" altLang="en-US">
                <a:latin typeface="Arial" panose="020B0604020202020204" pitchFamily="34" charset="0"/>
              </a:rPr>
              <a:t>，表中有</a:t>
            </a:r>
            <a:r>
              <a:rPr lang="en-US" altLang="zh-CN">
                <a:latin typeface="Arial" panose="020B0604020202020204" pitchFamily="34" charset="0"/>
              </a:rPr>
              <a:t>f1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f2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f3</a:t>
            </a:r>
            <a:r>
              <a:rPr lang="zh-CN" altLang="en-US">
                <a:latin typeface="Arial" panose="020B0604020202020204" pitchFamily="34" charset="0"/>
              </a:rPr>
              <a:t>三个列族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）利用</a:t>
            </a:r>
            <a:r>
              <a:rPr lang="en-US" altLang="zh-CN">
                <a:latin typeface="Arial" panose="020B0604020202020204" pitchFamily="34" charset="0"/>
              </a:rPr>
              <a:t>list</a:t>
            </a:r>
            <a:r>
              <a:rPr lang="zh-CN" altLang="en-US">
                <a:latin typeface="Arial" panose="020B0604020202020204" pitchFamily="34" charset="0"/>
              </a:rPr>
              <a:t>列出</a:t>
            </a:r>
            <a:r>
              <a:rPr lang="en-US" altLang="zh-CN">
                <a:latin typeface="Arial" panose="020B0604020202020204" pitchFamily="34" charset="0"/>
              </a:rPr>
              <a:t>Hbase</a:t>
            </a:r>
            <a:r>
              <a:rPr lang="zh-CN" altLang="en-US">
                <a:latin typeface="Arial" panose="020B0604020202020204" pitchFamily="34" charset="0"/>
              </a:rPr>
              <a:t>中所有的表信息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AF8287E-14A0-41F3-8223-C5D903BD857F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图片展示的实例：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）利用</a:t>
            </a:r>
            <a:r>
              <a:rPr lang="en-US" altLang="zh-CN">
                <a:latin typeface="Arial" panose="020B0604020202020204" pitchFamily="34" charset="0"/>
              </a:rPr>
              <a:t>put</a:t>
            </a:r>
            <a:r>
              <a:rPr lang="zh-CN" altLang="en-US">
                <a:latin typeface="Arial" panose="020B0604020202020204" pitchFamily="34" charset="0"/>
              </a:rPr>
              <a:t>命令向表</a:t>
            </a:r>
            <a:r>
              <a:rPr lang="en-US" altLang="zh-CN">
                <a:latin typeface="Arial" panose="020B0604020202020204" pitchFamily="34" charset="0"/>
              </a:rPr>
              <a:t>tempTalble</a:t>
            </a:r>
            <a:r>
              <a:rPr lang="zh-CN" altLang="en-US">
                <a:latin typeface="Arial" panose="020B0604020202020204" pitchFamily="34" charset="0"/>
              </a:rPr>
              <a:t>，行</a:t>
            </a:r>
            <a:r>
              <a:rPr lang="en-US" altLang="zh-CN">
                <a:latin typeface="Arial" panose="020B0604020202020204" pitchFamily="34" charset="0"/>
              </a:rPr>
              <a:t>r1</a:t>
            </a:r>
            <a:r>
              <a:rPr lang="zh-CN" altLang="en-US">
                <a:latin typeface="Arial" panose="020B0604020202020204" pitchFamily="34" charset="0"/>
              </a:rPr>
              <a:t>，列</a:t>
            </a:r>
            <a:r>
              <a:rPr lang="en-US" altLang="zh-CN">
                <a:latin typeface="Arial" panose="020B0604020202020204" pitchFamily="34" charset="0"/>
              </a:rPr>
              <a:t>f1:c1</a:t>
            </a:r>
            <a:r>
              <a:rPr lang="zh-CN" altLang="en-US">
                <a:latin typeface="Arial" panose="020B0604020202020204" pitchFamily="34" charset="0"/>
              </a:rPr>
              <a:t>中插入数据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）利用</a:t>
            </a:r>
            <a:r>
              <a:rPr lang="en-US" altLang="zh-CN">
                <a:latin typeface="Arial" panose="020B0604020202020204" pitchFamily="34" charset="0"/>
              </a:rPr>
              <a:t>scan</a:t>
            </a:r>
            <a:r>
              <a:rPr lang="zh-CN" altLang="en-US">
                <a:latin typeface="Arial" panose="020B0604020202020204" pitchFamily="34" charset="0"/>
              </a:rPr>
              <a:t>命令浏览表</a:t>
            </a:r>
            <a:r>
              <a:rPr lang="en-US" altLang="zh-CN">
                <a:latin typeface="Arial" panose="020B0604020202020204" pitchFamily="34" charset="0"/>
              </a:rPr>
              <a:t>tempTable</a:t>
            </a:r>
            <a:r>
              <a:rPr lang="zh-CN" altLang="en-US">
                <a:latin typeface="Arial" panose="020B0604020202020204" pitchFamily="34" charset="0"/>
              </a:rPr>
              <a:t>的相关信息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4212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5F199C23-3DD4-4A7D-93A8-1B09D68240CC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图片展示的实例：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利用</a:t>
            </a:r>
            <a:r>
              <a:rPr lang="en-US" altLang="zh-CN">
                <a:latin typeface="Arial" panose="020B0604020202020204" pitchFamily="34" charset="0"/>
              </a:rPr>
              <a:t>get</a:t>
            </a:r>
            <a:r>
              <a:rPr lang="zh-CN" altLang="en-US">
                <a:latin typeface="Arial" panose="020B0604020202020204" pitchFamily="34" charset="0"/>
              </a:rPr>
              <a:t>命令获取表</a:t>
            </a:r>
            <a:r>
              <a:rPr lang="en-US" altLang="zh-CN">
                <a:latin typeface="Arial" panose="020B0604020202020204" pitchFamily="34" charset="0"/>
              </a:rPr>
              <a:t>tempTable</a:t>
            </a:r>
            <a:r>
              <a:rPr lang="zh-CN" altLang="en-US">
                <a:latin typeface="Arial" panose="020B0604020202020204" pitchFamily="34" charset="0"/>
              </a:rPr>
              <a:t>，行</a:t>
            </a:r>
            <a:r>
              <a:rPr lang="en-US" altLang="zh-CN">
                <a:latin typeface="Arial" panose="020B0604020202020204" pitchFamily="34" charset="0"/>
              </a:rPr>
              <a:t>r1</a:t>
            </a:r>
            <a:r>
              <a:rPr lang="zh-CN" altLang="en-US">
                <a:latin typeface="Arial" panose="020B0604020202020204" pitchFamily="34" charset="0"/>
              </a:rPr>
              <a:t>中单元格分别为“</a:t>
            </a:r>
            <a:r>
              <a:rPr lang="en-US" altLang="zh-CN">
                <a:latin typeface="Arial" panose="020B0604020202020204" pitchFamily="34" charset="0"/>
              </a:rPr>
              <a:t>f1:c1</a:t>
            </a:r>
            <a:r>
              <a:rPr lang="zh-CN" altLang="en-US">
                <a:latin typeface="Arial" panose="020B0604020202020204" pitchFamily="34" charset="0"/>
              </a:rPr>
              <a:t>”，“</a:t>
            </a:r>
            <a:r>
              <a:rPr lang="en-US" altLang="zh-CN">
                <a:latin typeface="Arial" panose="020B0604020202020204" pitchFamily="34" charset="0"/>
              </a:rPr>
              <a:t>f1:c3</a:t>
            </a:r>
            <a:r>
              <a:rPr lang="zh-CN" altLang="en-US">
                <a:latin typeface="Arial" panose="020B0604020202020204" pitchFamily="34" charset="0"/>
              </a:rPr>
              <a:t>”的数据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5236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803CC99-A0E3-409D-A5B5-89A87E8E9C4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图片展示的实例：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）利用</a:t>
            </a:r>
            <a:r>
              <a:rPr lang="en-US" altLang="zh-CN">
                <a:latin typeface="Arial" panose="020B0604020202020204" pitchFamily="34" charset="0"/>
              </a:rPr>
              <a:t>disable</a:t>
            </a:r>
            <a:r>
              <a:rPr lang="zh-CN" altLang="en-US">
                <a:latin typeface="Arial" panose="020B0604020202020204" pitchFamily="34" charset="0"/>
              </a:rPr>
              <a:t>命令使表</a:t>
            </a:r>
            <a:r>
              <a:rPr lang="en-US" altLang="zh-CN">
                <a:latin typeface="Arial" panose="020B0604020202020204" pitchFamily="34" charset="0"/>
              </a:rPr>
              <a:t>tempTable</a:t>
            </a:r>
            <a:r>
              <a:rPr lang="zh-CN" altLang="en-US">
                <a:latin typeface="Arial" panose="020B0604020202020204" pitchFamily="34" charset="0"/>
              </a:rPr>
              <a:t>无效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）利用</a:t>
            </a:r>
            <a:r>
              <a:rPr lang="en-US" altLang="zh-CN">
                <a:latin typeface="Arial" panose="020B0604020202020204" pitchFamily="34" charset="0"/>
              </a:rPr>
              <a:t>drop</a:t>
            </a:r>
            <a:r>
              <a:rPr lang="zh-CN" altLang="en-US">
                <a:latin typeface="Arial" panose="020B0604020202020204" pitchFamily="34" charset="0"/>
              </a:rPr>
              <a:t>命令删除表</a:t>
            </a:r>
            <a:r>
              <a:rPr lang="en-US" altLang="zh-CN">
                <a:latin typeface="Arial" panose="020B0604020202020204" pitchFamily="34" charset="0"/>
              </a:rPr>
              <a:t>tempTable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3</a:t>
            </a:r>
            <a:r>
              <a:rPr lang="zh-CN" altLang="en-US">
                <a:latin typeface="Arial" panose="020B0604020202020204" pitchFamily="34" charset="0"/>
              </a:rPr>
              <a:t>）利用</a:t>
            </a:r>
            <a:r>
              <a:rPr lang="en-US" altLang="zh-CN">
                <a:latin typeface="Arial" panose="020B0604020202020204" pitchFamily="34" charset="0"/>
              </a:rPr>
              <a:t>list</a:t>
            </a:r>
            <a:r>
              <a:rPr lang="zh-CN" altLang="en-US">
                <a:latin typeface="Arial" panose="020B0604020202020204" pitchFamily="34" charset="0"/>
              </a:rPr>
              <a:t>命令展示删除表</a:t>
            </a:r>
            <a:r>
              <a:rPr lang="en-US" altLang="zh-CN">
                <a:latin typeface="Arial" panose="020B0604020202020204" pitchFamily="34" charset="0"/>
              </a:rPr>
              <a:t>tempTable</a:t>
            </a:r>
            <a:r>
              <a:rPr lang="zh-CN" altLang="en-US">
                <a:latin typeface="Arial" panose="020B0604020202020204" pitchFamily="34" charset="0"/>
              </a:rPr>
              <a:t>后的效果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6260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3E84A2CA-FB8A-49E3-A403-83C0E84D912E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1371601"/>
            <a:ext cx="10871200" cy="47545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image" Target="../media/image1.png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.xml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tags" Target="../tags/tag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tags" Target="../tags/tag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33.xml"/><Relationship Id="rId22" Type="http://schemas.openxmlformats.org/officeDocument/2006/relationships/image" Target="../media/image10.png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58.xml"/><Relationship Id="rId24" Type="http://schemas.openxmlformats.org/officeDocument/2006/relationships/image" Target="../media/image10.png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tags" Target="../tags/tag36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image" Target="../media/image14.png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tags" Target="../tags/tag10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9.xml"/><Relationship Id="rId17" Type="http://schemas.openxmlformats.org/officeDocument/2006/relationships/image" Target="../media/image10.png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37290" cy="2387600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zh-CN" altLang="en-US" sz="6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6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6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章	分布式数据库</a:t>
            </a:r>
            <a:r>
              <a:rPr lang="en-US" altLang="zh-CN" sz="6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HBase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470" y="3927102"/>
            <a:ext cx="5671369" cy="172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圆角矩形 4"/>
          <p:cNvSpPr/>
          <p:nvPr/>
        </p:nvSpPr>
        <p:spPr>
          <a:xfrm>
            <a:off x="1144751" y="516905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分布式文件系统</a:t>
            </a:r>
            <a:endParaRPr lang="zh-CN" altLang="en-US" sz="2800" dirty="0"/>
          </a:p>
        </p:txBody>
      </p:sp>
      <p:sp>
        <p:nvSpPr>
          <p:cNvPr id="10" name="圆角矩形 4"/>
          <p:cNvSpPr/>
          <p:nvPr/>
        </p:nvSpPr>
        <p:spPr>
          <a:xfrm>
            <a:off x="1144751" y="2138940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分布式数据库</a:t>
            </a:r>
            <a:endParaRPr lang="zh-CN" altLang="en-US" sz="2800" dirty="0"/>
          </a:p>
        </p:txBody>
      </p:sp>
      <p:sp>
        <p:nvSpPr>
          <p:cNvPr id="16" name="箭头: 上 15"/>
          <p:cNvSpPr/>
          <p:nvPr/>
        </p:nvSpPr>
        <p:spPr>
          <a:xfrm flipV="1">
            <a:off x="2219954" y="1271906"/>
            <a:ext cx="637243" cy="69275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87536" y="2996142"/>
            <a:ext cx="4314677" cy="11988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dirty="0"/>
              <a:t>大规模数据处理需求：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hadoop</a:t>
            </a:r>
            <a:r>
              <a:rPr lang="zh-CN" altLang="en-US" sz="2400" dirty="0"/>
              <a:t>离线批处理</a:t>
            </a:r>
            <a:r>
              <a:rPr lang="en-US" altLang="zh-CN" sz="2400" dirty="0"/>
              <a:t>	</a:t>
            </a:r>
            <a:r>
              <a:rPr lang="en-US" altLang="zh-CN" sz="2400" dirty="0" err="1"/>
              <a:t>mapreduce</a:t>
            </a:r>
            <a:r>
              <a:rPr lang="zh-CN" altLang="en-US" sz="2400" dirty="0"/>
              <a:t>高延迟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487536" y="4432284"/>
            <a:ext cx="4314677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dirty="0"/>
              <a:t>随机访问模式：</a:t>
            </a:r>
            <a:endParaRPr lang="en-US" altLang="zh-CN" sz="2400" dirty="0"/>
          </a:p>
          <a:p>
            <a:r>
              <a:rPr lang="en-US" altLang="zh-CN" sz="2400" dirty="0"/>
              <a:t>	HDFS</a:t>
            </a:r>
            <a:r>
              <a:rPr lang="zh-CN" altLang="en-US" sz="2400" dirty="0"/>
              <a:t>面向批量访问模式</a:t>
            </a:r>
            <a:endParaRPr lang="zh-CN" altLang="en-US" sz="2400" dirty="0"/>
          </a:p>
        </p:txBody>
      </p:sp>
      <p:sp>
        <p:nvSpPr>
          <p:cNvPr id="21" name="圆角矩形 4"/>
          <p:cNvSpPr/>
          <p:nvPr/>
        </p:nvSpPr>
        <p:spPr>
          <a:xfrm>
            <a:off x="6759475" y="1413436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文件系统</a:t>
            </a:r>
            <a:endParaRPr lang="zh-CN" altLang="en-US" sz="2800" dirty="0"/>
          </a:p>
        </p:txBody>
      </p:sp>
      <p:sp>
        <p:nvSpPr>
          <p:cNvPr id="22" name="圆角矩形 4"/>
          <p:cNvSpPr/>
          <p:nvPr/>
        </p:nvSpPr>
        <p:spPr>
          <a:xfrm>
            <a:off x="6759475" y="3026964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数据库</a:t>
            </a:r>
            <a:endParaRPr lang="zh-CN" altLang="en-US" sz="2800" dirty="0"/>
          </a:p>
        </p:txBody>
      </p:sp>
      <p:sp>
        <p:nvSpPr>
          <p:cNvPr id="24" name="文本框 23"/>
          <p:cNvSpPr txBox="1"/>
          <p:nvPr/>
        </p:nvSpPr>
        <p:spPr>
          <a:xfrm>
            <a:off x="6684611" y="4170674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/>
              <a:t>例如：聊天记录</a:t>
            </a:r>
            <a:endParaRPr lang="zh-CN" altLang="en-US" sz="2800" dirty="0"/>
          </a:p>
        </p:txBody>
      </p:sp>
      <p:sp>
        <p:nvSpPr>
          <p:cNvPr id="25" name="对话气泡: 圆角矩形 24"/>
          <p:cNvSpPr/>
          <p:nvPr/>
        </p:nvSpPr>
        <p:spPr>
          <a:xfrm>
            <a:off x="9851923" y="3739380"/>
            <a:ext cx="1769806" cy="612648"/>
          </a:xfrm>
          <a:prstGeom prst="wedgeRoundRectCallout">
            <a:avLst>
              <a:gd name="adj1" fmla="val -80664"/>
              <a:gd name="adj2" fmla="val 64105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安全性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684611" y="5018360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/>
              <a:t>例如：储蓄表</a:t>
            </a:r>
            <a:endParaRPr lang="zh-CN" altLang="en-US" sz="2800" dirty="0"/>
          </a:p>
        </p:txBody>
      </p:sp>
      <p:sp>
        <p:nvSpPr>
          <p:cNvPr id="27" name="对话气泡: 圆角矩形 26"/>
          <p:cNvSpPr/>
          <p:nvPr/>
        </p:nvSpPr>
        <p:spPr>
          <a:xfrm>
            <a:off x="9851922" y="4754170"/>
            <a:ext cx="1769807" cy="612648"/>
          </a:xfrm>
          <a:prstGeom prst="wedgeRoundRectCallout">
            <a:avLst>
              <a:gd name="adj1" fmla="val -83207"/>
              <a:gd name="adj2" fmla="val 38427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并发访问</a:t>
            </a:r>
            <a:endParaRPr lang="zh-CN" altLang="en-US" sz="2800" dirty="0"/>
          </a:p>
        </p:txBody>
      </p:sp>
      <p:sp>
        <p:nvSpPr>
          <p:cNvPr id="29" name="文本框 28"/>
          <p:cNvSpPr txBox="1"/>
          <p:nvPr/>
        </p:nvSpPr>
        <p:spPr>
          <a:xfrm>
            <a:off x="487535" y="5521146"/>
            <a:ext cx="9059589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/>
              <a:t>传统的通用关系型数据库：</a:t>
            </a:r>
            <a:endParaRPr lang="en-US" altLang="zh-CN" sz="2400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400" dirty="0"/>
              <a:t>无法应对在数据规模剧增时导致的系统扩展性和性能问题</a:t>
            </a:r>
            <a:endParaRPr lang="en-US" altLang="zh-CN" sz="2400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400" dirty="0"/>
              <a:t>在数据结构变化时一般需要停机维护；空列浪费存储空间</a:t>
            </a:r>
            <a:endParaRPr lang="en-US" altLang="zh-CN" sz="2400" dirty="0"/>
          </a:p>
        </p:txBody>
      </p:sp>
      <p:sp>
        <p:nvSpPr>
          <p:cNvPr id="2" name="箭头: 上 15"/>
          <p:cNvSpPr/>
          <p:nvPr/>
        </p:nvSpPr>
        <p:spPr>
          <a:xfrm flipV="1">
            <a:off x="7834624" y="2169161"/>
            <a:ext cx="637243" cy="69275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4"/>
          <p:cNvSpPr/>
          <p:nvPr/>
        </p:nvSpPr>
        <p:spPr>
          <a:xfrm>
            <a:off x="8538845" y="2169160"/>
            <a:ext cx="2350135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结构化数据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 bldLvl="0" animBg="1"/>
      <p:bldP spid="20" grpId="0" animBg="1"/>
      <p:bldP spid="21" grpId="0" animBg="1"/>
      <p:bldP spid="21" grpId="1" animBg="1"/>
      <p:bldP spid="22" grpId="0" animBg="1"/>
      <p:bldP spid="22" grpId="1" animBg="1"/>
      <p:bldP spid="24" grpId="0"/>
      <p:bldP spid="25" grpId="0" animBg="1"/>
      <p:bldP spid="26" grpId="0"/>
      <p:bldP spid="27" grpId="0" animBg="1"/>
      <p:bldP spid="29" grpId="0" animBg="1"/>
      <p:bldP spid="2" grpId="0" bldLvl="0" animBg="1"/>
      <p:bldP spid="9" grpId="0" animBg="1"/>
      <p:bldP spid="9" grpId="1" animBg="1"/>
      <p:bldP spid="3" grpId="0" animBg="1"/>
      <p:bldP spid="3" grpId="1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20403" y="5349276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4.4 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实现原理</a:t>
            </a:r>
            <a:endParaRPr lang="zh-CN" altLang="en-US" sz="2800" b="1" dirty="0"/>
          </a:p>
        </p:txBody>
      </p:sp>
      <p:sp>
        <p:nvSpPr>
          <p:cNvPr id="13" name="圆角矩形 4"/>
          <p:cNvSpPr/>
          <p:nvPr/>
        </p:nvSpPr>
        <p:spPr>
          <a:xfrm>
            <a:off x="9146243" y="1745937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4.5 </a:t>
            </a:r>
            <a:r>
              <a:rPr lang="zh-CN" altLang="en-US" sz="2800" b="1" dirty="0"/>
              <a:t>运行机制</a:t>
            </a:r>
            <a:endParaRPr lang="zh-CN" altLang="en-US" sz="2800" b="1" dirty="0"/>
          </a:p>
        </p:txBody>
      </p:sp>
      <p:sp>
        <p:nvSpPr>
          <p:cNvPr id="16" name="标题 1"/>
          <p:cNvSpPr txBox="1"/>
          <p:nvPr/>
        </p:nvSpPr>
        <p:spPr>
          <a:xfrm>
            <a:off x="395748" y="275858"/>
            <a:ext cx="10515600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0"/>
              </a:spcAft>
            </a:pPr>
            <a:r>
              <a:rPr lang="zh-CN" altLang="en-US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章	分布式数据库</a:t>
            </a:r>
            <a:r>
              <a:rPr lang="en-US" altLang="zh-CN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HBase</a:t>
            </a:r>
            <a:endParaRPr lang="zh-CN" altLang="en-US" sz="4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圆角矩形 4"/>
          <p:cNvSpPr/>
          <p:nvPr/>
        </p:nvSpPr>
        <p:spPr>
          <a:xfrm>
            <a:off x="520403" y="1745937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4.2 </a:t>
            </a:r>
            <a:r>
              <a:rPr kumimoji="1"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访问接口</a:t>
            </a:r>
            <a:endParaRPr lang="zh-CN" altLang="en-US" sz="2800" dirty="0"/>
          </a:p>
        </p:txBody>
      </p:sp>
      <p:sp>
        <p:nvSpPr>
          <p:cNvPr id="9" name="圆角矩形 5"/>
          <p:cNvSpPr/>
          <p:nvPr/>
        </p:nvSpPr>
        <p:spPr>
          <a:xfrm>
            <a:off x="520403" y="3547606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4.3  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数据模型</a:t>
            </a:r>
            <a:endParaRPr lang="zh-CN" altLang="en-US" sz="2800" b="1" dirty="0"/>
          </a:p>
        </p:txBody>
      </p:sp>
      <p:sp>
        <p:nvSpPr>
          <p:cNvPr id="12" name="圆角矩形 4"/>
          <p:cNvSpPr/>
          <p:nvPr/>
        </p:nvSpPr>
        <p:spPr>
          <a:xfrm>
            <a:off x="9146243" y="5349276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4.6 </a:t>
            </a:r>
            <a:r>
              <a:rPr lang="zh-CN" altLang="en-US" sz="2800" b="1" dirty="0"/>
              <a:t>编程实践</a:t>
            </a:r>
            <a:endParaRPr lang="zh-CN" altLang="en-US" sz="2800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41" y="2041212"/>
            <a:ext cx="4717948" cy="342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4613685" y="1745937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4.1	</a:t>
            </a:r>
            <a:r>
              <a:rPr kumimoji="1"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概述</a:t>
            </a:r>
            <a:endParaRPr kumimoji="1" lang="zh-CN" altLang="en-US" sz="2400" b="1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3" grpId="0" animBg="1"/>
      <p:bldP spid="13" grpId="1" animBg="1"/>
      <p:bldP spid="8" grpId="0" animBg="1"/>
      <p:bldP spid="8" grpId="1" animBg="1"/>
      <p:bldP spid="9" grpId="0" animBg="1"/>
      <p:bldP spid="9" grpId="1" animBg="1"/>
      <p:bldP spid="12" grpId="0" animBg="1"/>
      <p:bldP spid="12" grpId="1" animBg="1"/>
      <p:bldP spid="5" grpId="0" animBg="1"/>
      <p:bldP spid="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4.1	</a:t>
            </a:r>
            <a:r>
              <a:rPr lang="zh-CN" altLang="en-US" b="1" dirty="0"/>
              <a:t>概述</a:t>
            </a:r>
            <a:endParaRPr lang="zh-CN" altLang="en-US" b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altLang="zh-CN" dirty="0"/>
              <a:t>4.1.1	</a:t>
            </a:r>
            <a:r>
              <a:rPr lang="zh-CN" altLang="en-US" dirty="0"/>
              <a:t>从</a:t>
            </a:r>
            <a:r>
              <a:rPr lang="en-US" altLang="zh-CN" dirty="0" err="1"/>
              <a:t>BigTable</a:t>
            </a:r>
            <a:r>
              <a:rPr lang="zh-CN" altLang="en-US" dirty="0"/>
              <a:t>说起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en-US" altLang="zh-CN" dirty="0"/>
              <a:t>4.1.2	HBase</a:t>
            </a:r>
            <a:r>
              <a:rPr lang="zh-CN" altLang="en-US" dirty="0"/>
              <a:t>简介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en-US" altLang="zh-CN" dirty="0"/>
              <a:t>4.1.3	HBase</a:t>
            </a:r>
            <a:r>
              <a:rPr lang="zh-CN" altLang="en-US" dirty="0"/>
              <a:t>与传统关系数据库的对比分析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4.1.1	</a:t>
            </a:r>
            <a:r>
              <a:rPr lang="zh-CN" altLang="en-US" b="1" dirty="0"/>
              <a:t>从</a:t>
            </a:r>
            <a:r>
              <a:rPr lang="en-US" altLang="zh-CN" b="1" dirty="0" err="1"/>
              <a:t>BigTable</a:t>
            </a:r>
            <a:r>
              <a:rPr lang="zh-CN" altLang="en-US" b="1" dirty="0"/>
              <a:t>说起</a:t>
            </a:r>
            <a:endParaRPr lang="zh-CN" altLang="en-US" b="1" dirty="0"/>
          </a:p>
        </p:txBody>
      </p:sp>
      <p:sp>
        <p:nvSpPr>
          <p:cNvPr id="6147" name="矩形 3"/>
          <p:cNvSpPr>
            <a:spLocks noChangeArrowheads="1"/>
          </p:cNvSpPr>
          <p:nvPr/>
        </p:nvSpPr>
        <p:spPr bwMode="auto">
          <a:xfrm>
            <a:off x="1076631" y="1582534"/>
            <a:ext cx="7418439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zh-CN" sz="2800" dirty="0"/>
              <a:t>BigTable是一个分布式存储系统</a:t>
            </a:r>
            <a:endParaRPr lang="en-US" altLang="zh-CN" sz="2800" dirty="0"/>
          </a:p>
          <a:p>
            <a:pPr eaLnBrk="1" hangingPunct="1">
              <a:spcBef>
                <a:spcPts val="0"/>
              </a:spcBef>
            </a:pPr>
            <a:r>
              <a:rPr lang="zh-CN" altLang="zh-CN" sz="2800" dirty="0"/>
              <a:t>BigTable</a:t>
            </a:r>
            <a:r>
              <a:rPr lang="zh-CN" altLang="en-US" sz="2800" dirty="0"/>
              <a:t>起初用于解决典型的互联网搜索问题</a:t>
            </a:r>
            <a:endParaRPr lang="zh-CN" altLang="en-US" sz="2800" dirty="0"/>
          </a:p>
        </p:txBody>
      </p:sp>
      <p:sp>
        <p:nvSpPr>
          <p:cNvPr id="6148" name="矩形 4"/>
          <p:cNvSpPr>
            <a:spLocks noChangeArrowheads="1"/>
          </p:cNvSpPr>
          <p:nvPr/>
        </p:nvSpPr>
        <p:spPr bwMode="auto">
          <a:xfrm>
            <a:off x="1076631" y="2782890"/>
            <a:ext cx="9689692" cy="3538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/>
              <a:t>建立互联网索引</a:t>
            </a:r>
            <a:endParaRPr lang="zh-CN" altLang="en-US" sz="2800" b="1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/>
              <a:t>1</a:t>
            </a:r>
            <a:r>
              <a:rPr lang="zh-CN" altLang="en-US" sz="2800" dirty="0"/>
              <a:t> 爬虫不断抓新页，每页一行地存储到</a:t>
            </a:r>
            <a:r>
              <a:rPr lang="en-US" altLang="zh-CN" sz="2800" dirty="0" err="1"/>
              <a:t>BigTable</a:t>
            </a:r>
            <a:endParaRPr lang="zh-CN" altLang="en-US" sz="2800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/>
              <a:t>2 MapReduce</a:t>
            </a:r>
            <a:r>
              <a:rPr lang="zh-CN" altLang="en-US" sz="2800" dirty="0"/>
              <a:t>计算作业运行在整张表上，生成索引</a:t>
            </a:r>
            <a:endParaRPr lang="en-US" altLang="zh-CN" sz="2800" dirty="0"/>
          </a:p>
          <a:p>
            <a:pPr eaLnBrk="1" hangingPunct="1"/>
            <a:endParaRPr lang="zh-CN" altLang="en-US" sz="2800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/>
              <a:t>搜索互联网</a:t>
            </a:r>
            <a:endParaRPr lang="zh-CN" altLang="en-US" sz="2800" b="1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/>
              <a:t>3</a:t>
            </a:r>
            <a:r>
              <a:rPr lang="zh-CN" altLang="en-US" sz="2800" dirty="0"/>
              <a:t> 用户发起搜索</a:t>
            </a:r>
            <a:endParaRPr lang="zh-CN" altLang="en-US" sz="2800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/>
              <a:t>4</a:t>
            </a:r>
            <a:r>
              <a:rPr lang="zh-CN" altLang="en-US" sz="2800" dirty="0"/>
              <a:t> 利用索引，从</a:t>
            </a:r>
            <a:r>
              <a:rPr lang="en-US" altLang="zh-CN" sz="2800" dirty="0" err="1"/>
              <a:t>BigTable</a:t>
            </a:r>
            <a:r>
              <a:rPr lang="zh-CN" altLang="en-US" sz="2800" dirty="0"/>
              <a:t>得到网页</a:t>
            </a:r>
            <a:endParaRPr lang="zh-CN" altLang="en-US" sz="2800" dirty="0"/>
          </a:p>
          <a:p>
            <a:pPr eaLnBrk="1" hangingPunct="1">
              <a:spcBef>
                <a:spcPts val="0"/>
              </a:spcBef>
            </a:pPr>
            <a:r>
              <a:rPr lang="en-US" altLang="zh-CN" sz="2800" dirty="0"/>
              <a:t>5</a:t>
            </a:r>
            <a:r>
              <a:rPr lang="zh-CN" altLang="en-US" sz="2800" dirty="0"/>
              <a:t> 返回给用户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4800" y="2133139"/>
            <a:ext cx="5201265" cy="3746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70" name="标题 2"/>
          <p:cNvSpPr>
            <a:spLocks noGrp="1"/>
          </p:cNvSpPr>
          <p:nvPr>
            <p:ph type="title"/>
          </p:nvPr>
        </p:nvSpPr>
        <p:spPr>
          <a:xfrm>
            <a:off x="838200" y="370040"/>
            <a:ext cx="10515600" cy="132556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4.1.1	</a:t>
            </a:r>
            <a:r>
              <a:rPr lang="zh-CN" altLang="en-US" b="1" dirty="0"/>
              <a:t>从</a:t>
            </a:r>
            <a:r>
              <a:rPr lang="en-US" altLang="zh-CN" b="1" dirty="0" err="1"/>
              <a:t>BigTable</a:t>
            </a:r>
            <a:r>
              <a:rPr lang="zh-CN" altLang="en-US" b="1" dirty="0"/>
              <a:t>说起</a:t>
            </a:r>
            <a:endParaRPr lang="zh-CN" altLang="en-US" b="1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466235" y="1695603"/>
            <a:ext cx="2878394" cy="80624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chemeClr val="tx1"/>
                </a:solidFill>
              </a:rPr>
              <a:t>分布式存储系统</a:t>
            </a:r>
            <a:r>
              <a:rPr kumimoji="0" lang="en-US" altLang="zh-CN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BigTable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流程图: 可选过程 4"/>
          <p:cNvSpPr/>
          <p:nvPr/>
        </p:nvSpPr>
        <p:spPr>
          <a:xfrm>
            <a:off x="639099" y="2791900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文件</a:t>
            </a:r>
            <a:r>
              <a:rPr lang="zh-CN" altLang="zh-CN" sz="2800" dirty="0">
                <a:solidFill>
                  <a:schemeClr val="tx1"/>
                </a:solidFill>
              </a:rPr>
              <a:t>存储系统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GFS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可选过程 5"/>
          <p:cNvSpPr/>
          <p:nvPr/>
        </p:nvSpPr>
        <p:spPr>
          <a:xfrm>
            <a:off x="639098" y="3774125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海量数据处理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639098" y="4764189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协同服务管理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en-US" altLang="zh-CN" sz="2800" b="1" dirty="0">
                <a:solidFill>
                  <a:schemeClr val="tx1"/>
                </a:solidFill>
              </a:rPr>
              <a:t>Chubby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箭头: 右 7"/>
          <p:cNvSpPr/>
          <p:nvPr/>
        </p:nvSpPr>
        <p:spPr>
          <a:xfrm>
            <a:off x="5722374" y="3774125"/>
            <a:ext cx="1122107" cy="8062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特性</a:t>
            </a:r>
            <a:endParaRPr lang="zh-CN" altLang="en-US" sz="2800" dirty="0"/>
          </a:p>
        </p:txBody>
      </p:sp>
      <p:sp>
        <p:nvSpPr>
          <p:cNvPr id="10" name="流程图: 可选过程 9"/>
          <p:cNvSpPr/>
          <p:nvPr/>
        </p:nvSpPr>
        <p:spPr>
          <a:xfrm>
            <a:off x="7148050" y="1714806"/>
            <a:ext cx="4572002" cy="806245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支持大规模海量数据</a:t>
            </a:r>
            <a:r>
              <a:rPr lang="en-US" altLang="zh-CN" sz="2800" dirty="0">
                <a:solidFill>
                  <a:schemeClr val="tx1"/>
                </a:solidFill>
              </a:rPr>
              <a:t>PB</a:t>
            </a:r>
            <a:r>
              <a:rPr lang="zh-CN" altLang="en-US" sz="2800" dirty="0">
                <a:solidFill>
                  <a:schemeClr val="tx1"/>
                </a:solidFill>
              </a:rPr>
              <a:t>级别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流程图: 可选过程 10"/>
          <p:cNvSpPr/>
          <p:nvPr/>
        </p:nvSpPr>
        <p:spPr>
          <a:xfrm>
            <a:off x="7148050" y="2741506"/>
            <a:ext cx="4572002" cy="806245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分布式并发处理效率极高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流程图: 可选过程 11"/>
          <p:cNvSpPr/>
          <p:nvPr/>
        </p:nvSpPr>
        <p:spPr>
          <a:xfrm>
            <a:off x="7148050" y="3833344"/>
            <a:ext cx="4572002" cy="107663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易于扩展且支持动态伸缩，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适用于廉价设备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流程图: 可选过程 13"/>
          <p:cNvSpPr/>
          <p:nvPr/>
        </p:nvSpPr>
        <p:spPr>
          <a:xfrm>
            <a:off x="7148050" y="5167311"/>
            <a:ext cx="4572002" cy="806245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适合读不适合写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4800" y="2133139"/>
            <a:ext cx="5201265" cy="3746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70" name="标题 2"/>
          <p:cNvSpPr>
            <a:spLocks noGrp="1"/>
          </p:cNvSpPr>
          <p:nvPr>
            <p:ph type="title"/>
          </p:nvPr>
        </p:nvSpPr>
        <p:spPr>
          <a:xfrm>
            <a:off x="838200" y="370040"/>
            <a:ext cx="10515600" cy="132556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4.1.2	</a:t>
            </a:r>
            <a:r>
              <a:rPr lang="en-US" altLang="en-US" b="1" dirty="0"/>
              <a:t> </a:t>
            </a:r>
            <a:r>
              <a:rPr lang="en-US" altLang="en-US" b="1" dirty="0" err="1"/>
              <a:t>HBase简介</a:t>
            </a:r>
            <a:endParaRPr lang="zh-CN" altLang="en-US" b="1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466235" y="1695603"/>
            <a:ext cx="2878394" cy="80624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chemeClr val="tx1"/>
                </a:solidFill>
              </a:rPr>
              <a:t>分布式</a:t>
            </a:r>
            <a:r>
              <a:rPr lang="zh-CN" altLang="en-US" sz="2800" dirty="0">
                <a:solidFill>
                  <a:schemeClr val="tx1"/>
                </a:solidFill>
              </a:rPr>
              <a:t>数据库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流程图: 可选过程 4"/>
          <p:cNvSpPr/>
          <p:nvPr/>
        </p:nvSpPr>
        <p:spPr>
          <a:xfrm>
            <a:off x="639099" y="2791900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文件</a:t>
            </a:r>
            <a:r>
              <a:rPr lang="zh-CN" altLang="zh-CN" sz="2800" dirty="0">
                <a:solidFill>
                  <a:schemeClr val="tx1"/>
                </a:solidFill>
              </a:rPr>
              <a:t>存储系统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可选过程 5"/>
          <p:cNvSpPr/>
          <p:nvPr/>
        </p:nvSpPr>
        <p:spPr>
          <a:xfrm>
            <a:off x="639098" y="3774125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海量数据处理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 MapReduce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639098" y="4764189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协同服务管理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en-US" altLang="zh-CN" sz="2800" b="1" dirty="0" err="1">
                <a:solidFill>
                  <a:schemeClr val="tx1"/>
                </a:solidFill>
              </a:rPr>
              <a:t>ZooKeeper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箭头: 右 7"/>
          <p:cNvSpPr/>
          <p:nvPr/>
        </p:nvSpPr>
        <p:spPr>
          <a:xfrm>
            <a:off x="5722374" y="3774125"/>
            <a:ext cx="1122107" cy="8062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特性</a:t>
            </a:r>
            <a:endParaRPr lang="zh-CN" altLang="en-US" sz="2800" dirty="0"/>
          </a:p>
        </p:txBody>
      </p:sp>
      <p:sp>
        <p:nvSpPr>
          <p:cNvPr id="10" name="流程图: 可选过程 9"/>
          <p:cNvSpPr/>
          <p:nvPr/>
        </p:nvSpPr>
        <p:spPr>
          <a:xfrm>
            <a:off x="7148050" y="1714806"/>
            <a:ext cx="4572002" cy="806245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高可靠、高性能、面向列、可伸缩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流程图: 可选过程 10"/>
          <p:cNvSpPr/>
          <p:nvPr/>
        </p:nvSpPr>
        <p:spPr>
          <a:xfrm>
            <a:off x="7148050" y="2741506"/>
            <a:ext cx="4572002" cy="806245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存储非结构化和半结构化的松散数据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流程图: 可选过程 11"/>
          <p:cNvSpPr/>
          <p:nvPr/>
        </p:nvSpPr>
        <p:spPr>
          <a:xfrm>
            <a:off x="7148050" y="3833344"/>
            <a:ext cx="4572002" cy="127943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利用廉价计算机集群处理由超过</a:t>
            </a:r>
            <a:r>
              <a:rPr lang="en-US" altLang="zh-CN" sz="2800" dirty="0">
                <a:solidFill>
                  <a:schemeClr val="tx1"/>
                </a:solidFill>
              </a:rPr>
              <a:t>10</a:t>
            </a:r>
            <a:r>
              <a:rPr lang="zh-CN" altLang="en-US" sz="2800" dirty="0">
                <a:solidFill>
                  <a:schemeClr val="tx1"/>
                </a:solidFill>
              </a:rPr>
              <a:t>亿行数据和数百万列元素组成的数据表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7148050" y="5308496"/>
            <a:ext cx="4572002" cy="806245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数据库管理系统</a:t>
            </a:r>
            <a:r>
              <a:rPr lang="en-US" altLang="zh-CN" sz="2800" dirty="0"/>
              <a:t>Sqoop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4.1.3	HBase VS </a:t>
            </a:r>
            <a:r>
              <a:rPr lang="zh-CN" altLang="en-US" b="1" dirty="0"/>
              <a:t>传统关系数据库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975121" y="2674663"/>
            <a:ext cx="1759975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数据类型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7787147" y="1690228"/>
            <a:ext cx="2969343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传统关系数据库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1025012" y="1690228"/>
            <a:ext cx="2969343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b="1" dirty="0"/>
              <a:t>HBase</a:t>
            </a:r>
            <a:endParaRPr lang="zh-CN" altLang="en-US" sz="1100" dirty="0"/>
          </a:p>
        </p:txBody>
      </p:sp>
      <p:sp>
        <p:nvSpPr>
          <p:cNvPr id="8" name="文本框 7"/>
          <p:cNvSpPr txBox="1"/>
          <p:nvPr/>
        </p:nvSpPr>
        <p:spPr>
          <a:xfrm>
            <a:off x="7787147" y="2521514"/>
            <a:ext cx="311191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关系模型，丰富的数据类型和存储方式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1214283" y="2497164"/>
            <a:ext cx="259080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数据存储为未经解释的字符串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975121" y="3920248"/>
            <a:ext cx="1759975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数据操作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787147" y="3767099"/>
            <a:ext cx="311191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包含了丰富的操作，支持复杂的多表连接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214283" y="3742749"/>
            <a:ext cx="259080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不存在表与表之间的复杂关系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975121" y="5102728"/>
            <a:ext cx="1759975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数据存储</a:t>
            </a:r>
            <a:endParaRPr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7787147" y="4949579"/>
            <a:ext cx="311191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基于行，元组或行连续存储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214283" y="4925229"/>
            <a:ext cx="2590802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基于列，每个列族都由几个文件保存，不同列族的文件是分离的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4.1.3	HBase VS </a:t>
            </a:r>
            <a:r>
              <a:rPr lang="zh-CN" altLang="en-US" b="1" dirty="0"/>
              <a:t>传统关系数据库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975121" y="2674663"/>
            <a:ext cx="1759975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数据索引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7787147" y="1690228"/>
            <a:ext cx="2969343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传统关系数据库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1025012" y="1690228"/>
            <a:ext cx="2969343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b="1" dirty="0"/>
              <a:t>HBase</a:t>
            </a:r>
            <a:endParaRPr lang="zh-CN" altLang="en-US" sz="1100" dirty="0"/>
          </a:p>
        </p:txBody>
      </p:sp>
      <p:sp>
        <p:nvSpPr>
          <p:cNvPr id="8" name="文本框 7"/>
          <p:cNvSpPr txBox="1"/>
          <p:nvPr/>
        </p:nvSpPr>
        <p:spPr>
          <a:xfrm>
            <a:off x="7787147" y="2521514"/>
            <a:ext cx="311191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可针对不同列构建复杂的多个索引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1214283" y="2497164"/>
            <a:ext cx="259080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只有一个索引</a:t>
            </a:r>
            <a:r>
              <a:rPr lang="en-US" altLang="zh-CN" sz="2400" dirty="0"/>
              <a:t>--</a:t>
            </a:r>
            <a:r>
              <a:rPr lang="zh-CN" altLang="en-US" sz="2400" dirty="0"/>
              <a:t>行键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975121" y="3920248"/>
            <a:ext cx="1759975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数据维护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787147" y="3767099"/>
            <a:ext cx="311191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新值直接覆盖旧值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214283" y="3742749"/>
            <a:ext cx="259080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生成新版本，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zh-CN" altLang="en-US" sz="2400" dirty="0"/>
              <a:t>旧版仍然保留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975121" y="5102728"/>
            <a:ext cx="1759975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可伸缩性</a:t>
            </a:r>
            <a:endParaRPr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7787147" y="4949579"/>
            <a:ext cx="311191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横向扩展难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zh-CN" altLang="en-US" sz="2400" dirty="0"/>
              <a:t>纵向扩展有限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214283" y="4925229"/>
            <a:ext cx="259080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横向扩展易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4.2	HBase</a:t>
            </a:r>
            <a:r>
              <a:rPr lang="zh-CN" altLang="en-US" b="1" dirty="0"/>
              <a:t>访问接口</a:t>
            </a:r>
            <a:endParaRPr lang="zh-CN" altLang="en-US" b="1" dirty="0"/>
          </a:p>
        </p:txBody>
      </p:sp>
      <p:graphicFrame>
        <p:nvGraphicFramePr>
          <p:cNvPr id="16530" name="Group 146"/>
          <p:cNvGraphicFramePr>
            <a:graphicFrameLocks noGrp="1"/>
          </p:cNvGraphicFramePr>
          <p:nvPr/>
        </p:nvGraphicFramePr>
        <p:xfrm>
          <a:off x="2057400" y="1890714"/>
          <a:ext cx="8077200" cy="4511675"/>
        </p:xfrm>
        <a:graphic>
          <a:graphicData uri="http://schemas.openxmlformats.org/drawingml/2006/table">
            <a:tbl>
              <a:tblPr/>
              <a:tblGrid>
                <a:gridCol w="2133600"/>
                <a:gridCol w="2743200"/>
                <a:gridCol w="32004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特点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场合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Native Java API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最常规和高效的访问方式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Hadoop MapReduce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作业并行批处理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表数据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 Shell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的命令行工具，最简单的接口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管理使用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Thrift Gateway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利用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Thrift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序列化技术，支持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C++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PHP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等多种语言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适合其他异构系统在线访问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表数据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REST Gateway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解除了语言限制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支持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REST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风格的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Http API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访问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Pig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Pig Latin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流式编程语言来处理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中的数据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适合做数据统计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Hive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简单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当需要以类似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SQL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语言方式来访问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HBase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的时候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	HBase</a:t>
            </a:r>
            <a:r>
              <a:rPr lang="zh-CN" altLang="en-US" b="1" dirty="0"/>
              <a:t>数据模型</a:t>
            </a:r>
            <a:endParaRPr lang="zh-CN" altLang="en-US" b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dirty="0"/>
              <a:t>4.3.1	</a:t>
            </a:r>
            <a:r>
              <a:rPr lang="zh-CN" altLang="en-US" dirty="0"/>
              <a:t>数据模型概述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4.3.2	</a:t>
            </a:r>
            <a:r>
              <a:rPr lang="zh-CN" altLang="en-US" dirty="0"/>
              <a:t>数据模型相关概念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4.3.3	</a:t>
            </a:r>
            <a:r>
              <a:rPr lang="zh-CN" altLang="en-US" dirty="0"/>
              <a:t>数据坐标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4.3.4	</a:t>
            </a:r>
            <a:r>
              <a:rPr lang="zh-CN" altLang="en-US" dirty="0"/>
              <a:t>概念视图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4.3.5	</a:t>
            </a:r>
            <a:r>
              <a:rPr lang="zh-CN" altLang="en-US" dirty="0"/>
              <a:t>物理视图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4.3.6	</a:t>
            </a:r>
            <a:r>
              <a:rPr lang="zh-CN" altLang="en-US" dirty="0"/>
              <a:t>面向列的存储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4.3.1	</a:t>
            </a:r>
            <a:r>
              <a:rPr lang="zh-CN" altLang="en-US" b="1" dirty="0"/>
              <a:t>数据模型概述</a:t>
            </a:r>
            <a:endParaRPr lang="zh-CN" altLang="en-US" b="1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858" y="4974175"/>
            <a:ext cx="9819968" cy="141929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zh-CN" altLang="en-US" sz="2400" dirty="0"/>
              <a:t>列族内支持动态扩展</a:t>
            </a:r>
            <a:endParaRPr lang="en-US" altLang="zh-CN" sz="2400" dirty="0"/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zh-CN" sz="2400" dirty="0"/>
              <a:t>HBase</a:t>
            </a:r>
            <a:r>
              <a:rPr lang="zh-CN" altLang="en-US" sz="2400" dirty="0"/>
              <a:t>中执行更新操作时，生成一个新的版本，旧有的版本仍然保留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（这是和</a:t>
            </a:r>
            <a:r>
              <a:rPr lang="en-US" altLang="zh-CN" sz="2400" dirty="0"/>
              <a:t>HDFS</a:t>
            </a:r>
            <a:r>
              <a:rPr lang="zh-CN" altLang="en-US" sz="2400" dirty="0"/>
              <a:t>只允许追加不允许修改的特性相关的）</a:t>
            </a:r>
            <a:endParaRPr lang="zh-CN" altLang="en-US" sz="2400" dirty="0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737032" y="4183178"/>
          <a:ext cx="59517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949"/>
                <a:gridCol w="1487949"/>
                <a:gridCol w="1487949"/>
                <a:gridCol w="1487949"/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400" dirty="0"/>
                        <a:t>行键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列族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列限定符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时间戳</a:t>
                      </a:r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1737031" y="2420956"/>
          <a:ext cx="834103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2298"/>
                <a:gridCol w="2418735"/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800" dirty="0"/>
                        <a:t>Key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Value</a:t>
                      </a:r>
                      <a:endParaRPr lang="zh-CN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52052" y="1638377"/>
            <a:ext cx="6843251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HBase</a:t>
            </a:r>
            <a:r>
              <a:rPr lang="zh-CN" altLang="en-US" sz="2800" dirty="0"/>
              <a:t>是一个稀疏、多维度、排序的映射表</a:t>
            </a:r>
            <a:endParaRPr lang="zh-CN" altLang="en-US" sz="2800" dirty="0"/>
          </a:p>
        </p:txBody>
      </p:sp>
      <p:sp>
        <p:nvSpPr>
          <p:cNvPr id="6" name="对话气泡: 圆角矩形 5"/>
          <p:cNvSpPr/>
          <p:nvPr/>
        </p:nvSpPr>
        <p:spPr>
          <a:xfrm>
            <a:off x="1809135" y="3429000"/>
            <a:ext cx="1347020" cy="602226"/>
          </a:xfrm>
          <a:prstGeom prst="wedgeRoundRectCallout">
            <a:avLst>
              <a:gd name="adj1" fmla="val -19373"/>
              <a:gd name="adj2" fmla="val 82092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定位行</a:t>
            </a:r>
            <a:endParaRPr lang="zh-CN" altLang="en-US" sz="2400" dirty="0"/>
          </a:p>
        </p:txBody>
      </p:sp>
      <p:sp>
        <p:nvSpPr>
          <p:cNvPr id="7" name="左大括号 6"/>
          <p:cNvSpPr/>
          <p:nvPr/>
        </p:nvSpPr>
        <p:spPr>
          <a:xfrm rot="5400000">
            <a:off x="4483510" y="2478836"/>
            <a:ext cx="457199" cy="292509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4038599" y="3127887"/>
            <a:ext cx="1347020" cy="60222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定位列</a:t>
            </a:r>
            <a:endParaRPr lang="zh-CN" altLang="en-US" sz="2400" dirty="0"/>
          </a:p>
        </p:txBody>
      </p:sp>
      <p:sp>
        <p:nvSpPr>
          <p:cNvPr id="9" name="对话气泡: 圆角矩形 8"/>
          <p:cNvSpPr/>
          <p:nvPr/>
        </p:nvSpPr>
        <p:spPr>
          <a:xfrm>
            <a:off x="6223819" y="3432698"/>
            <a:ext cx="1496962" cy="602226"/>
          </a:xfrm>
          <a:prstGeom prst="wedgeRoundRectCallout">
            <a:avLst>
              <a:gd name="adj1" fmla="val -19373"/>
              <a:gd name="adj2" fmla="val 82092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定位版本</a:t>
            </a:r>
            <a:endParaRPr lang="zh-CN" altLang="en-US" sz="2400" dirty="0"/>
          </a:p>
        </p:txBody>
      </p:sp>
      <p:sp>
        <p:nvSpPr>
          <p:cNvPr id="10" name="对话气泡: 圆角矩形 9"/>
          <p:cNvSpPr/>
          <p:nvPr/>
        </p:nvSpPr>
        <p:spPr>
          <a:xfrm>
            <a:off x="8146024" y="3198475"/>
            <a:ext cx="1932041" cy="1511177"/>
          </a:xfrm>
          <a:prstGeom prst="wedgeRoundRectCallout">
            <a:avLst>
              <a:gd name="adj1" fmla="val -24627"/>
              <a:gd name="adj2" fmla="val -74303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未经解释的字符串</a:t>
            </a:r>
            <a:endParaRPr lang="en-US" altLang="zh-CN" sz="2400" dirty="0"/>
          </a:p>
          <a:p>
            <a:pPr algn="ctr">
              <a:spcBef>
                <a:spcPts val="0"/>
              </a:spcBef>
            </a:pPr>
            <a:r>
              <a:rPr lang="zh-CN" altLang="en-US" sz="2400" dirty="0">
                <a:sym typeface="+mn-ea"/>
              </a:rPr>
              <a:t>字节数组</a:t>
            </a:r>
            <a:r>
              <a:rPr lang="en-US" altLang="zh-CN" sz="2400" dirty="0">
                <a:sym typeface="+mn-ea"/>
              </a:rPr>
              <a:t>byte[]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15363" grpId="1" build="p"/>
      <p:bldP spid="6" grpId="0" animBg="1"/>
      <p:bldP spid="7" grpId="0" bldLvl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4.3.2	</a:t>
            </a:r>
            <a:r>
              <a:rPr lang="zh-CN" altLang="en-US" b="1" dirty="0"/>
              <a:t>数据模型相关概念</a:t>
            </a:r>
            <a:endParaRPr lang="zh-CN" altLang="en-US" b="1" dirty="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224116" y="2486014"/>
          <a:ext cx="9743768" cy="28380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4485"/>
                <a:gridCol w="1268214"/>
                <a:gridCol w="1080811"/>
                <a:gridCol w="1594711"/>
                <a:gridCol w="1129119"/>
                <a:gridCol w="1268214"/>
                <a:gridCol w="1268214"/>
              </a:tblGrid>
              <a:tr h="4917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800" dirty="0"/>
                        <a:t>行键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个人信息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hMerge="1">
                  <a:tcPr anchor="ctr"/>
                </a:tc>
                <a:tc hMerge="1"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教育经历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hMerge="1">
                  <a:tcPr anchor="ctr"/>
                </a:tc>
                <a:tc hMerge="1">
                  <a:tcPr anchor="ctr"/>
                </a:tc>
              </a:tr>
              <a:tr h="491796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姓名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性别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现居地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小学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中学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大学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4917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20260317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张三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男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珠海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无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/>
                    </a:p>
                  </a:txBody>
                  <a:tcPr anchor="ctr">
                    <a:noFill/>
                  </a:tcPr>
                </a:tc>
              </a:tr>
              <a:tr h="12836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20260318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李四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女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highlight>
                            <a:srgbClr val="FFFF00"/>
                          </a:highlight>
                        </a:rPr>
                        <a:t>ts1</a:t>
                      </a:r>
                      <a:r>
                        <a:rPr lang="en-US" altLang="zh-CN" sz="2800" dirty="0"/>
                        <a:t>:</a:t>
                      </a:r>
                      <a:r>
                        <a:rPr lang="zh-CN" altLang="en-US" sz="2800" dirty="0"/>
                        <a:t>广州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en-US" altLang="zh-CN" sz="2800" dirty="0">
                          <a:highlight>
                            <a:srgbClr val="FFFF00"/>
                          </a:highlight>
                        </a:rPr>
                        <a:t>ts2</a:t>
                      </a:r>
                      <a:r>
                        <a:rPr lang="en-US" altLang="zh-CN" sz="2800" dirty="0"/>
                        <a:t>:</a:t>
                      </a:r>
                      <a:r>
                        <a:rPr lang="zh-CN" altLang="en-US" sz="2800" dirty="0"/>
                        <a:t>珠海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华附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华附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中大</a:t>
                      </a:r>
                      <a:endParaRPr lang="zh-CN" altLang="en-US" sz="28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3083" y="1565131"/>
            <a:ext cx="894080" cy="52197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/>
              <a:t>列族</a:t>
            </a:r>
            <a:endParaRPr lang="zh-CN" altLang="en-US" sz="2800" dirty="0"/>
          </a:p>
        </p:txBody>
      </p:sp>
      <p:cxnSp>
        <p:nvCxnSpPr>
          <p:cNvPr id="7" name="直接箭头连接符 6"/>
          <p:cNvCxnSpPr>
            <a:stCxn id="5" idx="1"/>
          </p:cNvCxnSpPr>
          <p:nvPr/>
        </p:nvCxnSpPr>
        <p:spPr>
          <a:xfrm flipH="1">
            <a:off x="5997677" y="1826106"/>
            <a:ext cx="855406" cy="8378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3"/>
          </p:cNvCxnSpPr>
          <p:nvPr/>
        </p:nvCxnSpPr>
        <p:spPr>
          <a:xfrm>
            <a:off x="7747004" y="1826106"/>
            <a:ext cx="798171" cy="7394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126658" y="2963882"/>
            <a:ext cx="7993626" cy="61506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11774" y="1508321"/>
            <a:ext cx="1727144" cy="52197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/>
              <a:t>列限定符</a:t>
            </a:r>
            <a:endParaRPr lang="zh-CN" altLang="en-US" sz="2800" dirty="0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3255177" y="1995948"/>
            <a:ext cx="815378" cy="9679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126658" y="5721758"/>
            <a:ext cx="17271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800" dirty="0"/>
              <a:t>单元格</a:t>
            </a:r>
            <a:endParaRPr lang="zh-CN" altLang="en-US" sz="2800" dirty="0"/>
          </a:p>
        </p:txBody>
      </p:sp>
      <p:cxnSp>
        <p:nvCxnSpPr>
          <p:cNvPr id="21" name="直接箭头连接符 20"/>
          <p:cNvCxnSpPr>
            <a:stCxn id="20" idx="0"/>
          </p:cNvCxnSpPr>
          <p:nvPr/>
        </p:nvCxnSpPr>
        <p:spPr>
          <a:xfrm flipV="1">
            <a:off x="3990230" y="4994787"/>
            <a:ext cx="0" cy="726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134105" y="5746266"/>
            <a:ext cx="17271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800" dirty="0">
                <a:highlight>
                  <a:srgbClr val="FFFF00"/>
                </a:highlight>
              </a:rPr>
              <a:t>时间戳</a:t>
            </a:r>
            <a:endParaRPr lang="zh-CN" altLang="en-US" sz="2800" dirty="0">
              <a:highlight>
                <a:srgbClr val="FFFF00"/>
              </a:highlight>
            </a:endParaRPr>
          </a:p>
        </p:txBody>
      </p:sp>
      <p:cxnSp>
        <p:nvCxnSpPr>
          <p:cNvPr id="25" name="直接箭头连接符 24"/>
          <p:cNvCxnSpPr>
            <a:stCxn id="24" idx="0"/>
          </p:cNvCxnSpPr>
          <p:nvPr/>
        </p:nvCxnSpPr>
        <p:spPr>
          <a:xfrm flipV="1">
            <a:off x="5997677" y="5019295"/>
            <a:ext cx="0" cy="726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4.3.2	</a:t>
            </a:r>
            <a:r>
              <a:rPr lang="zh-CN" altLang="en-US" b="1" dirty="0"/>
              <a:t>数据模型相关概念</a:t>
            </a:r>
            <a:endParaRPr lang="zh-CN" altLang="en-US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1848463"/>
            <a:ext cx="10419735" cy="4513007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zh-CN" altLang="en-US" dirty="0"/>
              <a:t>行键：</a:t>
            </a:r>
            <a:endParaRPr lang="en-US" altLang="zh-CN" dirty="0"/>
          </a:p>
          <a:p>
            <a:pPr lvl="1"/>
            <a:r>
              <a:rPr lang="zh-CN" altLang="en-US" dirty="0"/>
              <a:t>访问表中的行只有</a:t>
            </a:r>
            <a:r>
              <a:rPr lang="en-US" altLang="zh-CN" dirty="0"/>
              <a:t>3</a:t>
            </a:r>
            <a:r>
              <a:rPr lang="zh-CN" altLang="en-US" dirty="0"/>
              <a:t>种方式：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通过单个行键访问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通过一个行键区间访问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全表扫描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可以是任意字符串，最大</a:t>
            </a:r>
            <a:r>
              <a:rPr lang="en-US" altLang="zh-CN" dirty="0"/>
              <a:t>64KB</a:t>
            </a:r>
            <a:r>
              <a:rPr lang="zh-CN" altLang="en-US" dirty="0"/>
              <a:t>，一般</a:t>
            </a:r>
            <a:r>
              <a:rPr lang="en-US" altLang="zh-CN" dirty="0"/>
              <a:t>10~100B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保存为字节数组时，数据按照字典序存储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设计时，将经常一起读取的行存储在一起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4.3.2	</a:t>
            </a:r>
            <a:r>
              <a:rPr lang="zh-CN" altLang="en-US" b="1" dirty="0"/>
              <a:t>数据模型相关概念</a:t>
            </a:r>
            <a:endParaRPr lang="zh-CN" altLang="en-US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1848463"/>
            <a:ext cx="10419735" cy="4513007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列族：一个</a:t>
            </a:r>
            <a:r>
              <a:rPr lang="en-US" altLang="zh-CN" sz="2400" dirty="0"/>
              <a:t>HBase</a:t>
            </a:r>
            <a:r>
              <a:rPr lang="zh-CN" altLang="en-US" sz="2400" dirty="0"/>
              <a:t>表的所有列被分组成许多“列族”（</a:t>
            </a:r>
            <a:r>
              <a:rPr lang="en-US" altLang="zh-CN" sz="2400" dirty="0"/>
              <a:t>Column Family</a:t>
            </a:r>
            <a:r>
              <a:rPr lang="zh-CN" altLang="en-US" sz="2400" dirty="0"/>
              <a:t>）的集合。</a:t>
            </a:r>
            <a:endParaRPr lang="en-US" altLang="zh-CN" sz="2400" dirty="0"/>
          </a:p>
          <a:p>
            <a:pPr lvl="1"/>
            <a:r>
              <a:rPr lang="zh-CN" altLang="en-US" sz="2000" dirty="0"/>
              <a:t>需要在建表时定义好，数量不能太多</a:t>
            </a:r>
            <a:endParaRPr lang="en-US" altLang="zh-CN" sz="2000" dirty="0"/>
          </a:p>
          <a:p>
            <a:pPr lvl="1"/>
            <a:r>
              <a:rPr lang="zh-CN" altLang="en-US" sz="2000" dirty="0"/>
              <a:t>它是基本的访问控制单元。访问控制、磁盘和内存的使用统计都是在列族层面进行。</a:t>
            </a:r>
            <a:endParaRPr lang="en-US" altLang="zh-CN" sz="2000" dirty="0"/>
          </a:p>
          <a:p>
            <a:pPr lvl="1"/>
            <a:r>
              <a:rPr lang="zh-CN" altLang="en-US" sz="2000" dirty="0"/>
              <a:t>存储在列族中的所有数据，通常是同一类型，可获较高压缩率。</a:t>
            </a:r>
            <a:endParaRPr lang="en-US" altLang="zh-CN" sz="2000" dirty="0"/>
          </a:p>
          <a:p>
            <a:pPr lvl="1"/>
            <a:r>
              <a:rPr lang="zh-CN" altLang="en-US" sz="2000" dirty="0"/>
              <a:t>列名都以列族做为前缀。</a:t>
            </a:r>
            <a:endParaRPr lang="en-US" altLang="zh-CN" sz="2000" dirty="0"/>
          </a:p>
          <a:p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列限定符：列族里的数据通过列限定符（或列）来定位</a:t>
            </a:r>
            <a:endParaRPr lang="en-US" altLang="zh-CN" sz="2400" dirty="0"/>
          </a:p>
          <a:p>
            <a:pPr lvl="1"/>
            <a:r>
              <a:rPr lang="zh-CN" altLang="en-US" sz="2000" dirty="0"/>
              <a:t>无需事先定义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时间戳：每个单元格都保存着同一份数据的多个版本，这些版本采用时间戳进行索引，降序存储。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4.3.3	</a:t>
            </a:r>
            <a:r>
              <a:rPr lang="zh-CN" altLang="en-US" b="1" dirty="0"/>
              <a:t>数据坐标</a:t>
            </a:r>
            <a:endParaRPr lang="zh-CN" altLang="en-US" b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74175" y="1947785"/>
            <a:ext cx="7135762" cy="628267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dirty="0"/>
              <a:t>“四维坐标”：</a:t>
            </a:r>
            <a:r>
              <a:rPr lang="en-US" altLang="zh-CN" dirty="0"/>
              <a:t>[</a:t>
            </a:r>
            <a:r>
              <a:rPr lang="zh-CN" altLang="en-US" dirty="0"/>
              <a:t>行键</a:t>
            </a:r>
            <a:r>
              <a:rPr lang="en-US" altLang="zh-CN" dirty="0"/>
              <a:t>, </a:t>
            </a:r>
            <a:r>
              <a:rPr lang="zh-CN" altLang="en-US" dirty="0"/>
              <a:t>列族</a:t>
            </a:r>
            <a:r>
              <a:rPr lang="en-US" altLang="zh-CN" dirty="0"/>
              <a:t>, </a:t>
            </a:r>
            <a:r>
              <a:rPr lang="zh-CN" altLang="en-US" dirty="0"/>
              <a:t>列限定符</a:t>
            </a:r>
            <a:r>
              <a:rPr lang="en-US" altLang="zh-CN" dirty="0"/>
              <a:t>, </a:t>
            </a:r>
            <a:r>
              <a:rPr lang="zh-CN" altLang="en-US" dirty="0"/>
              <a:t>时间戳</a:t>
            </a:r>
            <a:r>
              <a:rPr lang="en-US" altLang="zh-CN" dirty="0"/>
              <a:t>]</a:t>
            </a:r>
            <a:endParaRPr lang="zh-CN" altLang="en-US" dirty="0"/>
          </a:p>
        </p:txBody>
      </p:sp>
      <p:graphicFrame>
        <p:nvGraphicFramePr>
          <p:cNvPr id="20525" name="Group 45"/>
          <p:cNvGraphicFramePr>
            <a:graphicFrameLocks noGrp="1"/>
          </p:cNvGraphicFramePr>
          <p:nvPr>
            <p:ph sz="half" idx="4294967295"/>
          </p:nvPr>
        </p:nvGraphicFramePr>
        <p:xfrm>
          <a:off x="1074174" y="3084870"/>
          <a:ext cx="9367683" cy="2106562"/>
        </p:xfrm>
        <a:graphic>
          <a:graphicData uri="http://schemas.openxmlformats.org/drawingml/2006/table">
            <a:tbl>
              <a:tblPr/>
              <a:tblGrid>
                <a:gridCol w="6053644"/>
                <a:gridCol w="3314039"/>
              </a:tblGrid>
              <a:tr h="45796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键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值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43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201505003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Info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email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fr-F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1174184619081]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xie@qq.com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43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201505003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Info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email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1174184620720]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you@163.com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4.3.4	</a:t>
            </a:r>
            <a:r>
              <a:rPr lang="zh-CN" altLang="en-US" b="1" dirty="0"/>
              <a:t>概念视图</a:t>
            </a:r>
            <a:endParaRPr lang="zh-CN" altLang="en-US" b="1" dirty="0"/>
          </a:p>
        </p:txBody>
      </p:sp>
      <p:graphicFrame>
        <p:nvGraphicFramePr>
          <p:cNvPr id="22681" name="Group 153"/>
          <p:cNvGraphicFramePr>
            <a:graphicFrameLocks noGrp="1"/>
          </p:cNvGraphicFramePr>
          <p:nvPr/>
        </p:nvGraphicFramePr>
        <p:xfrm>
          <a:off x="1514168" y="1809135"/>
          <a:ext cx="9173497" cy="4683742"/>
        </p:xfrm>
        <a:graphic>
          <a:graphicData uri="http://schemas.openxmlformats.org/drawingml/2006/table">
            <a:tbl>
              <a:tblPr/>
              <a:tblGrid>
                <a:gridCol w="1288026"/>
                <a:gridCol w="897243"/>
                <a:gridCol w="2907840"/>
                <a:gridCol w="4080388"/>
              </a:tblGrid>
              <a:tr h="12075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行键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时间戳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列族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列族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anchor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692"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com.baidu.www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anchor:xmu.edu.cn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”BAIDU”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69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anchor:pku.edu.cn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="BAIDU.com"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161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contents:html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="&lt;html&gt;..."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161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contents:html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="&lt;html&gt;..."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161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contents:html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="&lt;html&gt;..."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4.3.5	</a:t>
            </a:r>
            <a:r>
              <a:rPr lang="zh-CN" altLang="en-US" b="1" dirty="0"/>
              <a:t>物理视图</a:t>
            </a:r>
            <a:endParaRPr lang="zh-CN" altLang="en-US" b="1" dirty="0"/>
          </a:p>
        </p:txBody>
      </p:sp>
      <p:graphicFrame>
        <p:nvGraphicFramePr>
          <p:cNvPr id="23689" name="Group 13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99335" y="2345055"/>
          <a:ext cx="7946390" cy="1889760"/>
        </p:xfrm>
        <a:graphic>
          <a:graphicData uri="http://schemas.openxmlformats.org/drawingml/2006/table">
            <a:tbl>
              <a:tblPr/>
              <a:tblGrid>
                <a:gridCol w="2266950"/>
                <a:gridCol w="1014095"/>
                <a:gridCol w="4665345"/>
              </a:tblGrid>
              <a:tr h="7008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行键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时间戳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列族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07">
                <a:tc row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com.baidu.www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contents:html="&lt;html&gt;..."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0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contents:html="&lt;html&gt;..."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0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contents:html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="&lt;html&gt;..."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691" name="Group 13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364105" y="4526280"/>
          <a:ext cx="7881620" cy="1745615"/>
        </p:xfrm>
        <a:graphic>
          <a:graphicData uri="http://schemas.openxmlformats.org/drawingml/2006/table">
            <a:tbl>
              <a:tblPr/>
              <a:tblGrid>
                <a:gridCol w="2192655"/>
                <a:gridCol w="982980"/>
                <a:gridCol w="4705985"/>
              </a:tblGrid>
              <a:tr h="701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行键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时间戳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列族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anchor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com.baidu.www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anchor:cnnsi.com=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BAIDU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3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anchor:my.look.ca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="BAIDU.com"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: 圆角 1"/>
          <p:cNvSpPr/>
          <p:nvPr/>
        </p:nvSpPr>
        <p:spPr>
          <a:xfrm>
            <a:off x="1250315" y="1531620"/>
            <a:ext cx="3319780" cy="5937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基于列的存储方式</a:t>
            </a:r>
            <a:endParaRPr lang="zh-CN" altLang="en-US" sz="2800" dirty="0"/>
          </a:p>
        </p:txBody>
      </p:sp>
      <p:sp>
        <p:nvSpPr>
          <p:cNvPr id="3" name="矩形: 圆角 2"/>
          <p:cNvSpPr/>
          <p:nvPr/>
        </p:nvSpPr>
        <p:spPr>
          <a:xfrm>
            <a:off x="7571740" y="1513205"/>
            <a:ext cx="3090545" cy="6121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空值不会被存储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4.3.6	</a:t>
            </a:r>
            <a:r>
              <a:rPr lang="zh-CN" altLang="en-US" b="1" dirty="0"/>
              <a:t>面向列的存储</a:t>
            </a:r>
            <a:endParaRPr lang="zh-CN" altLang="en-US" b="1" dirty="0"/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1524001" y="1074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1510" name="Picture 7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" t="32986" b="40227"/>
          <a:stretch>
            <a:fillRect/>
          </a:stretch>
        </p:blipFill>
        <p:spPr bwMode="auto">
          <a:xfrm>
            <a:off x="3009564" y="1457632"/>
            <a:ext cx="5800254" cy="2494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7" y="3953128"/>
            <a:ext cx="5867399" cy="2299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" t="72662"/>
          <a:stretch>
            <a:fillRect/>
          </a:stretch>
        </p:blipFill>
        <p:spPr bwMode="auto">
          <a:xfrm>
            <a:off x="5948680" y="3952875"/>
            <a:ext cx="5867400" cy="229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305428" y="2223698"/>
            <a:ext cx="2316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行</a:t>
            </a:r>
            <a:r>
              <a:rPr lang="en-US" altLang="zh-CN" sz="2400" dirty="0"/>
              <a:t>--</a:t>
            </a:r>
            <a:r>
              <a:rPr lang="zh-CN" altLang="en-US" sz="2400" dirty="0"/>
              <a:t>优势：</a:t>
            </a:r>
            <a:endParaRPr lang="zh-CN" altLang="en-US" sz="2400" dirty="0"/>
          </a:p>
          <a:p>
            <a:pPr>
              <a:spcBef>
                <a:spcPts val="0"/>
              </a:spcBef>
            </a:pPr>
            <a:r>
              <a:rPr lang="zh-CN" altLang="en-US" sz="2400" dirty="0"/>
              <a:t>小批量数据处理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8892540" y="885190"/>
            <a:ext cx="29946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列</a:t>
            </a:r>
            <a:r>
              <a:rPr lang="en-US" altLang="zh-CN" sz="2400" dirty="0"/>
              <a:t>--</a:t>
            </a:r>
            <a:r>
              <a:rPr lang="zh-CN" altLang="en-US" sz="2400" dirty="0"/>
              <a:t>优势：</a:t>
            </a:r>
            <a:endParaRPr lang="zh-CN" altLang="en-US" sz="2400" dirty="0"/>
          </a:p>
          <a:p>
            <a:pPr>
              <a:spcBef>
                <a:spcPts val="0"/>
              </a:spcBef>
            </a:pPr>
            <a:r>
              <a:rPr lang="zh-CN" altLang="en-US" sz="2400" dirty="0"/>
              <a:t>降低</a:t>
            </a:r>
            <a:r>
              <a:rPr lang="en-US" altLang="zh-CN" sz="2400" dirty="0"/>
              <a:t>I/O</a:t>
            </a:r>
            <a:r>
              <a:rPr lang="zh-CN" altLang="en-US" sz="2400" dirty="0"/>
              <a:t>，支持大量并发查询，数据处理速度快，较高压缩比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8893175" y="2752090"/>
            <a:ext cx="2994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列</a:t>
            </a:r>
            <a:r>
              <a:rPr lang="en-US" altLang="zh-CN" sz="2400" dirty="0"/>
              <a:t>--</a:t>
            </a:r>
            <a:r>
              <a:rPr lang="zh-CN" altLang="en-US" sz="2400" dirty="0"/>
              <a:t>劣势：</a:t>
            </a:r>
            <a:endParaRPr lang="zh-CN" altLang="en-US" sz="2400" dirty="0"/>
          </a:p>
          <a:p>
            <a:pPr>
              <a:spcBef>
                <a:spcPts val="0"/>
              </a:spcBef>
            </a:pPr>
            <a:r>
              <a:rPr lang="zh-CN" altLang="en-US" sz="2400" dirty="0"/>
              <a:t>元组重构代价大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542290" y="6311900"/>
            <a:ext cx="514667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200"/>
              <a:t>行存储模型</a:t>
            </a:r>
            <a:r>
              <a:rPr lang="en-US" altLang="zh-CN" sz="2200"/>
              <a:t>(N-ary Storage Model, </a:t>
            </a:r>
            <a:r>
              <a:rPr lang="en-US" altLang="zh-CN" sz="2200" b="1"/>
              <a:t>NSM</a:t>
            </a:r>
            <a:r>
              <a:rPr lang="en-US" altLang="zh-CN" sz="2200"/>
              <a:t>)</a:t>
            </a:r>
            <a:endParaRPr lang="en-US" altLang="zh-CN" sz="2200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948680" y="6301740"/>
            <a:ext cx="614108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200" dirty="0"/>
              <a:t>列存储模型</a:t>
            </a:r>
            <a:r>
              <a:rPr lang="en-US" altLang="zh-CN" sz="2200" dirty="0"/>
              <a:t>(Decomposition Storage Model, </a:t>
            </a:r>
            <a:r>
              <a:rPr lang="en-US" altLang="zh-CN" sz="2200" b="1" dirty="0"/>
              <a:t>DSM</a:t>
            </a:r>
            <a:r>
              <a:rPr lang="en-US" altLang="zh-CN" sz="2200" dirty="0"/>
              <a:t>)</a:t>
            </a:r>
            <a:endParaRPr lang="en-US" altLang="zh-C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4.4	HBase</a:t>
            </a:r>
            <a:r>
              <a:rPr lang="zh-CN" altLang="en-US" b="1" dirty="0"/>
              <a:t>的实现原理</a:t>
            </a:r>
            <a:endParaRPr lang="zh-CN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altLang="zh-CN" sz="3200" dirty="0"/>
              <a:t>4.4.1	HBase</a:t>
            </a:r>
            <a:r>
              <a:rPr lang="zh-CN" altLang="en-US" sz="3200" dirty="0"/>
              <a:t>功能组件</a:t>
            </a:r>
            <a:endParaRPr lang="zh-CN" altLang="en-US" sz="3200" dirty="0"/>
          </a:p>
          <a:p>
            <a:pPr>
              <a:lnSpc>
                <a:spcPct val="200000"/>
              </a:lnSpc>
            </a:pPr>
            <a:r>
              <a:rPr lang="en-US" altLang="zh-CN" sz="3200" dirty="0"/>
              <a:t>4.4.2	</a:t>
            </a:r>
            <a:r>
              <a:rPr lang="zh-CN" altLang="en-US" sz="3200" dirty="0"/>
              <a:t>表和</a:t>
            </a:r>
            <a:r>
              <a:rPr lang="en-US" altLang="zh-CN" sz="3200" dirty="0"/>
              <a:t>Region</a:t>
            </a:r>
            <a:endParaRPr lang="en-US" altLang="zh-CN" sz="3200" dirty="0"/>
          </a:p>
          <a:p>
            <a:pPr>
              <a:lnSpc>
                <a:spcPct val="200000"/>
              </a:lnSpc>
            </a:pPr>
            <a:r>
              <a:rPr lang="en-US" altLang="zh-CN" sz="3200" dirty="0"/>
              <a:t>4.4.3	Region</a:t>
            </a:r>
            <a:r>
              <a:rPr lang="zh-CN" altLang="en-US" sz="3200" dirty="0"/>
              <a:t>的定位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4.4.1	HBase</a:t>
            </a:r>
            <a:r>
              <a:rPr lang="zh-CN" altLang="en-US" b="1"/>
              <a:t>功能组件</a:t>
            </a:r>
            <a:endParaRPr lang="zh-CN" altLang="en-US" b="1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04800" y="2133139"/>
            <a:ext cx="5201265" cy="3746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可选过程 2"/>
          <p:cNvSpPr/>
          <p:nvPr>
            <p:custDataLst>
              <p:tags r:id="rId2"/>
            </p:custDataLst>
          </p:nvPr>
        </p:nvSpPr>
        <p:spPr>
          <a:xfrm>
            <a:off x="1466235" y="1695603"/>
            <a:ext cx="2878394" cy="80624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ym typeface="+mn-ea"/>
              </a:rPr>
              <a:t>三主要功能组件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流程图: 可选过程 4"/>
          <p:cNvSpPr/>
          <p:nvPr>
            <p:custDataLst>
              <p:tags r:id="rId3"/>
            </p:custDataLst>
          </p:nvPr>
        </p:nvSpPr>
        <p:spPr>
          <a:xfrm>
            <a:off x="639099" y="2791900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ym typeface="+mn-ea"/>
              </a:rPr>
              <a:t>库函数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可选过程 5"/>
          <p:cNvSpPr/>
          <p:nvPr>
            <p:custDataLst>
              <p:tags r:id="rId4"/>
            </p:custDataLst>
          </p:nvPr>
        </p:nvSpPr>
        <p:spPr>
          <a:xfrm>
            <a:off x="639098" y="3774125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zh-CN" altLang="en-US" sz="2800" dirty="0">
                <a:sym typeface="+mn-ea"/>
              </a:rPr>
              <a:t>一个</a:t>
            </a:r>
            <a:r>
              <a:rPr lang="en-US" altLang="zh-CN" sz="2800" dirty="0">
                <a:sym typeface="+mn-ea"/>
              </a:rPr>
              <a:t>Master</a:t>
            </a:r>
            <a:r>
              <a:rPr lang="zh-CN" altLang="en-US" sz="2800" dirty="0">
                <a:sym typeface="+mn-ea"/>
              </a:rPr>
              <a:t>主服务器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流程图: 可选过程 6"/>
          <p:cNvSpPr/>
          <p:nvPr>
            <p:custDataLst>
              <p:tags r:id="rId5"/>
            </p:custDataLst>
          </p:nvPr>
        </p:nvSpPr>
        <p:spPr>
          <a:xfrm>
            <a:off x="639098" y="4764189"/>
            <a:ext cx="4444180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zh-CN" altLang="en-US" sz="2800" dirty="0">
                <a:sym typeface="+mn-ea"/>
              </a:rPr>
              <a:t>许多个</a:t>
            </a:r>
            <a:r>
              <a:rPr lang="en-US" altLang="zh-CN" sz="2800" dirty="0">
                <a:sym typeface="+mn-ea"/>
              </a:rPr>
              <a:t>Region</a:t>
            </a:r>
            <a:r>
              <a:rPr lang="zh-CN" altLang="en-US" sz="2800" dirty="0">
                <a:sym typeface="+mn-ea"/>
              </a:rPr>
              <a:t>服务器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8170" y="3555365"/>
            <a:ext cx="4599305" cy="119888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400" dirty="0">
                <a:sym typeface="+mn-ea"/>
              </a:rPr>
              <a:t>HBase表的分区信息</a:t>
            </a:r>
            <a:endParaRPr lang="zh-CN" altLang="zh-CN" sz="2400" dirty="0"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服务器列表</a:t>
            </a:r>
            <a:endParaRPr lang="zh-CN" altLang="en-US" sz="2400" dirty="0"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400" dirty="0">
                <a:sym typeface="+mn-ea"/>
              </a:rPr>
              <a:t>分配</a:t>
            </a: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使得负载均衡</a:t>
            </a:r>
            <a:endParaRPr lang="zh-CN" altLang="en-US" sz="2400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78170" y="4748530"/>
            <a:ext cx="4599940" cy="82994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400" dirty="0">
                <a:sym typeface="+mn-ea"/>
              </a:rPr>
              <a:t>存储和维护分配给自己的Region</a:t>
            </a:r>
            <a:endParaRPr lang="zh-CN" altLang="zh-CN" sz="2400" dirty="0"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zh-CN" sz="2400" dirty="0">
                <a:sym typeface="+mn-ea"/>
              </a:rPr>
              <a:t>处理来自客户端的读写请求</a:t>
            </a:r>
            <a:endParaRPr lang="zh-CN" altLang="zh-CN" sz="2400" dirty="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78170" y="2883535"/>
            <a:ext cx="1123315" cy="4559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客户端</a:t>
            </a:r>
            <a:endParaRPr lang="zh-CN" altLang="en-US" sz="2400" dirty="0">
              <a:sym typeface="+mn-ea"/>
            </a:endParaRPr>
          </a:p>
        </p:txBody>
      </p:sp>
      <p:cxnSp>
        <p:nvCxnSpPr>
          <p:cNvPr id="10" name="直接箭头连接符 9"/>
          <p:cNvCxnSpPr>
            <a:stCxn id="5" idx="3"/>
            <a:endCxn id="9" idx="1"/>
          </p:cNvCxnSpPr>
          <p:nvPr/>
        </p:nvCxnSpPr>
        <p:spPr>
          <a:xfrm flipV="1">
            <a:off x="5083175" y="3111500"/>
            <a:ext cx="594995" cy="8382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396480" y="2792095"/>
            <a:ext cx="4477385" cy="4559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CN" sz="2400" dirty="0">
                <a:sym typeface="+mn-ea"/>
              </a:rPr>
              <a:t>Zookeeper</a:t>
            </a:r>
            <a:r>
              <a:rPr lang="zh-CN" altLang="en-US" sz="2400" dirty="0">
                <a:sym typeface="+mn-ea"/>
              </a:rPr>
              <a:t>获得</a:t>
            </a: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位置信息</a:t>
            </a:r>
            <a:endParaRPr lang="zh-CN" altLang="en-US" sz="2400" dirty="0">
              <a:sym typeface="+mn-ea"/>
            </a:endParaRPr>
          </a:p>
        </p:txBody>
      </p:sp>
      <p:cxnSp>
        <p:nvCxnSpPr>
          <p:cNvPr id="12" name="直接箭头连接符 11"/>
          <p:cNvCxnSpPr>
            <a:endCxn id="11" idx="1"/>
          </p:cNvCxnSpPr>
          <p:nvPr/>
        </p:nvCxnSpPr>
        <p:spPr>
          <a:xfrm flipV="1">
            <a:off x="6801485" y="3020060"/>
            <a:ext cx="594995" cy="8382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8769350" y="3248025"/>
            <a:ext cx="0" cy="7556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9469120" y="3255645"/>
            <a:ext cx="1524000" cy="21278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右大括号 14"/>
          <p:cNvSpPr/>
          <p:nvPr/>
        </p:nvSpPr>
        <p:spPr>
          <a:xfrm>
            <a:off x="8414385" y="3696970"/>
            <a:ext cx="201295" cy="59436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标注 15"/>
          <p:cNvSpPr/>
          <p:nvPr/>
        </p:nvSpPr>
        <p:spPr>
          <a:xfrm>
            <a:off x="5838825" y="1984375"/>
            <a:ext cx="962660" cy="80772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zh-CN" sz="2400" dirty="0">
                <a:sym typeface="+mn-ea"/>
              </a:rPr>
              <a:t>读写请求</a:t>
            </a:r>
            <a:endParaRPr lang="zh-CN" altLang="zh-CN" sz="24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  <p:bldP spid="5" grpId="0" bldLvl="0" animBg="1"/>
      <p:bldP spid="6" grpId="0" bldLvl="0" animBg="1"/>
      <p:bldP spid="7" grpId="0" bldLvl="0" animBg="1"/>
      <p:bldP spid="2" grpId="0" animBg="1"/>
      <p:bldP spid="2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4.4.2	</a:t>
            </a:r>
            <a:r>
              <a:rPr lang="zh-CN" altLang="en-US" b="1"/>
              <a:t>表和</a:t>
            </a:r>
            <a:r>
              <a:rPr lang="en-US" altLang="zh-CN" b="1"/>
              <a:t>Region</a:t>
            </a:r>
            <a:endParaRPr lang="zh-CN" altLang="en-US" b="1"/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1524001" y="21505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616586" y="5263199"/>
            <a:ext cx="44735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4-5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HBase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表被划分成多个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lang="en-US" altLang="zh-CN" sz="2000"/>
          </a:p>
        </p:txBody>
      </p:sp>
      <p:sp>
        <p:nvSpPr>
          <p:cNvPr id="26629" name="Rectangle 8"/>
          <p:cNvSpPr>
            <a:spLocks noChangeArrowheads="1"/>
          </p:cNvSpPr>
          <p:nvPr/>
        </p:nvSpPr>
        <p:spPr bwMode="auto">
          <a:xfrm>
            <a:off x="1524001" y="20076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0" name="Rectangle 9"/>
          <p:cNvSpPr>
            <a:spLocks noChangeArrowheads="1"/>
          </p:cNvSpPr>
          <p:nvPr/>
        </p:nvSpPr>
        <p:spPr bwMode="auto">
          <a:xfrm>
            <a:off x="6414295" y="5410519"/>
            <a:ext cx="484695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4-6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会分裂成多个新的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lang="en-US" altLang="zh-CN" sz="2000"/>
          </a:p>
        </p:txBody>
      </p:sp>
      <p:pic>
        <p:nvPicPr>
          <p:cNvPr id="26631" name="Picture 10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360" y="2232025"/>
            <a:ext cx="3048000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690" y="2074545"/>
            <a:ext cx="4725035" cy="3189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矩形 8"/>
          <p:cNvSpPr>
            <a:spLocks noChangeArrowheads="1"/>
          </p:cNvSpPr>
          <p:nvPr/>
        </p:nvSpPr>
        <p:spPr bwMode="auto">
          <a:xfrm>
            <a:off x="7473315" y="1177925"/>
            <a:ext cx="318516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2400"/>
              <a:t>开始只有一个</a:t>
            </a:r>
            <a:r>
              <a:rPr lang="en-US" altLang="zh-CN" sz="2400"/>
              <a:t>Region</a:t>
            </a:r>
            <a:endParaRPr lang="en-US" altLang="zh-CN" sz="2400"/>
          </a:p>
          <a:p>
            <a:pPr indent="0" eaLnBrk="1" hangingPunct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400"/>
              <a:t>后来不断分裂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/>
      <p:bldP spid="26630" grpId="1"/>
      <p:bldP spid="26633" grpId="0"/>
      <p:bldP spid="2663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4.4.2	</a:t>
            </a:r>
            <a:r>
              <a:rPr lang="zh-CN" altLang="en-US" b="1"/>
              <a:t>表和</a:t>
            </a:r>
            <a:r>
              <a:rPr lang="en-US" altLang="zh-CN" b="1"/>
              <a:t>Region</a:t>
            </a:r>
            <a:endParaRPr lang="zh-CN" altLang="en-US" b="1"/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1524001" y="21981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3036730" y="6231574"/>
            <a:ext cx="611695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4-7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不同的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可以分布在不同的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服务器上</a:t>
            </a:r>
            <a:endParaRPr lang="zh-CN" altLang="en-US" sz="2000"/>
          </a:p>
        </p:txBody>
      </p:sp>
      <p:pic>
        <p:nvPicPr>
          <p:cNvPr id="27653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607" y="2200212"/>
            <a:ext cx="6553200" cy="400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93130" y="1498740"/>
            <a:ext cx="8035757" cy="521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Region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HBase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中负载均衡和数据分发的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基本单位</a:t>
            </a:r>
            <a:endParaRPr lang="zh-CN" altLang="en-US" sz="28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61302" y="3396822"/>
            <a:ext cx="2109106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Aft>
                <a:spcPts val="0"/>
              </a:spcAft>
            </a:pPr>
            <a:r>
              <a:rPr lang="zh-CN" altLang="en-US" sz="2400" dirty="0"/>
              <a:t>通常每个</a:t>
            </a:r>
            <a:r>
              <a:rPr lang="en-US" altLang="zh-CN" sz="2400" dirty="0"/>
              <a:t>Region</a:t>
            </a:r>
            <a:r>
              <a:rPr lang="zh-CN" altLang="en-US" sz="2400" dirty="0"/>
              <a:t>服务器</a:t>
            </a:r>
            <a:endParaRPr lang="en-US" altLang="zh-CN" sz="2400" dirty="0"/>
          </a:p>
          <a:p>
            <a:pPr algn="l" eaLnBrk="1" hangingPunct="1">
              <a:spcBef>
                <a:spcPts val="0"/>
              </a:spcBef>
            </a:pPr>
            <a:r>
              <a:rPr lang="zh-CN" altLang="en-US" sz="2400" dirty="0"/>
              <a:t>存储</a:t>
            </a:r>
            <a:r>
              <a:rPr lang="en-US" altLang="zh-CN" sz="2400" dirty="0"/>
              <a:t>10-1000</a:t>
            </a:r>
            <a:r>
              <a:rPr lang="zh-CN" altLang="en-US" sz="2400" dirty="0"/>
              <a:t>个</a:t>
            </a:r>
            <a:r>
              <a:rPr lang="en-US" altLang="zh-CN" sz="2400" dirty="0"/>
              <a:t>Region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92286" y="4181652"/>
            <a:ext cx="2336826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400" dirty="0"/>
              <a:t>2006</a:t>
            </a:r>
            <a:r>
              <a:rPr lang="zh-CN" altLang="en-US" sz="2400" dirty="0"/>
              <a:t>年以前</a:t>
            </a:r>
            <a:endParaRPr lang="en-US" altLang="zh-CN" sz="2400" dirty="0"/>
          </a:p>
          <a:p>
            <a:pPr algn="ctr">
              <a:spcBef>
                <a:spcPts val="0"/>
              </a:spcBef>
            </a:pPr>
            <a:r>
              <a:rPr lang="en-US" altLang="zh-CN" sz="2400" dirty="0"/>
              <a:t>100MB</a:t>
            </a:r>
            <a:r>
              <a:rPr lang="zh-CN" altLang="en-US" sz="2400" dirty="0"/>
              <a:t>到</a:t>
            </a:r>
            <a:r>
              <a:rPr lang="en-US" altLang="zh-CN" sz="2400" dirty="0"/>
              <a:t>200MB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386712" y="5359260"/>
            <a:ext cx="1747973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400" dirty="0"/>
              <a:t>2013</a:t>
            </a:r>
            <a:r>
              <a:rPr lang="zh-CN" altLang="en-US" sz="2400" dirty="0"/>
              <a:t>年以后</a:t>
            </a:r>
            <a:endParaRPr lang="en-US" altLang="zh-CN" sz="2400" dirty="0"/>
          </a:p>
          <a:p>
            <a:pPr algn="ctr">
              <a:spcBef>
                <a:spcPts val="0"/>
              </a:spcBef>
            </a:pPr>
            <a:r>
              <a:rPr lang="en-US" altLang="zh-CN" sz="2400" dirty="0"/>
              <a:t>1GB-2GB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92286" y="2469289"/>
            <a:ext cx="266445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eaLnBrk="1" hangingPunct="1">
              <a:spcAft>
                <a:spcPts val="0"/>
              </a:spcAft>
            </a:pP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最佳大小取决于单台服务器的有效处理能力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HBase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，下列说法错误的是（）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同一个表的不同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Region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可以位于同一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Region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同一个表的不同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Region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可以位于不同一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Region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服务器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Region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可以拆开到不同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Region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8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10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12827000" y="1270000"/>
            <a:ext cx="3331845" cy="101473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Region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HBase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负载均衡和数据分发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0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基本单位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" name="组合 25"/>
          <p:cNvGrpSpPr/>
          <p:nvPr>
            <p:custDataLst>
              <p:tags r:id="rId12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23" name="RemarkBack"/>
            <p:cNvSpPr/>
            <p:nvPr>
              <p:custDataLst>
                <p:tags r:id="rId13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/>
            <p:cNvSpPr/>
            <p:nvPr>
              <p:custDataLst>
                <p:tags r:id="rId14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/>
            <p:cNvSpPr txBox="1"/>
            <p:nvPr>
              <p:custDataLst>
                <p:tags r:id="rId15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6" name="TitleBackground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20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 descr="tmp1CF4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4.4.3	Region</a:t>
            </a:r>
            <a:r>
              <a:rPr lang="zh-CN" altLang="en-US" b="1"/>
              <a:t>的定位</a:t>
            </a:r>
            <a:endParaRPr lang="zh-CN" altLang="en-US" b="1"/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1524001" y="33300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4633596" y="6199189"/>
            <a:ext cx="27870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4-8 HBase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的三层结构</a:t>
            </a:r>
            <a:endParaRPr lang="zh-CN" altLang="en-US" sz="2000"/>
          </a:p>
        </p:txBody>
      </p:sp>
      <p:pic>
        <p:nvPicPr>
          <p:cNvPr id="28677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720" y="3016885"/>
            <a:ext cx="9423400" cy="286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标注 1"/>
          <p:cNvSpPr/>
          <p:nvPr/>
        </p:nvSpPr>
        <p:spPr>
          <a:xfrm>
            <a:off x="2794000" y="1691005"/>
            <a:ext cx="3757930" cy="1200150"/>
          </a:xfrm>
          <a:prstGeom prst="wedgeRoundRectCallout">
            <a:avLst>
              <a:gd name="adj1" fmla="val 49138"/>
              <a:gd name="adj2" fmla="val 11396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ym typeface="+mn-ea"/>
              </a:rPr>
              <a:t>元数据表，又名</a:t>
            </a:r>
            <a:r>
              <a:rPr lang="en-US" altLang="zh-CN" sz="2400">
                <a:sym typeface="+mn-ea"/>
              </a:rPr>
              <a:t>.META.</a:t>
            </a:r>
            <a:r>
              <a:rPr lang="zh-CN" altLang="en-US" sz="2400">
                <a:sym typeface="+mn-ea"/>
              </a:rPr>
              <a:t>表，</a:t>
            </a:r>
            <a:endParaRPr lang="zh-CN" altLang="en-US" sz="2400">
              <a:sym typeface="+mn-ea"/>
            </a:endParaRPr>
          </a:p>
          <a:p>
            <a:pPr algn="ctr"/>
            <a:r>
              <a:rPr lang="zh-CN" altLang="en-US" sz="2400">
                <a:sym typeface="+mn-ea"/>
              </a:rPr>
              <a:t>存储了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en-US" sz="2400">
                <a:sym typeface="+mn-ea"/>
              </a:rPr>
              <a:t>和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en-US" sz="2400">
                <a:sym typeface="+mn-ea"/>
              </a:rPr>
              <a:t>服务器的映射关系</a:t>
            </a:r>
            <a:endParaRPr lang="zh-CN" altLang="en-US" sz="2400">
              <a:sym typeface="+mn-ea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005205" y="3173730"/>
            <a:ext cx="4081780" cy="1200150"/>
          </a:xfrm>
          <a:prstGeom prst="wedgeRoundRectCallout">
            <a:avLst>
              <a:gd name="adj1" fmla="val 32249"/>
              <a:gd name="adj2" fmla="val 7391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indent="0" eaLnBrk="1" hangingPunct="1">
              <a:buNone/>
            </a:pPr>
            <a:r>
              <a:rPr lang="zh-CN" altLang="en-US" sz="2400">
                <a:sym typeface="+mn-ea"/>
              </a:rPr>
              <a:t>根数据表，又名</a:t>
            </a:r>
            <a:r>
              <a:rPr lang="en-US" altLang="zh-CN" sz="2400">
                <a:sym typeface="+mn-ea"/>
              </a:rPr>
              <a:t>-ROOT-</a:t>
            </a:r>
            <a:r>
              <a:rPr lang="zh-CN" altLang="en-US" sz="2400">
                <a:sym typeface="+mn-ea"/>
              </a:rPr>
              <a:t>表，</a:t>
            </a:r>
            <a:endParaRPr lang="zh-CN" altLang="en-US" sz="2400">
              <a:sym typeface="+mn-ea"/>
            </a:endParaRPr>
          </a:p>
          <a:p>
            <a:pPr indent="0" eaLnBrk="1" hangingPunct="1">
              <a:buNone/>
            </a:pPr>
            <a:r>
              <a:rPr lang="zh-CN" altLang="en-US" sz="2400">
                <a:sym typeface="+mn-ea"/>
              </a:rPr>
              <a:t>记录所有元数据的具体位置。</a:t>
            </a:r>
            <a:endParaRPr lang="en-US" altLang="zh-CN" sz="2400">
              <a:sym typeface="+mn-ea"/>
            </a:endParaRPr>
          </a:p>
          <a:p>
            <a:pPr indent="0" eaLnBrk="1" hangingPunct="1">
              <a:buNone/>
            </a:pPr>
            <a:r>
              <a:rPr lang="zh-CN" altLang="en-US" sz="2400">
                <a:sym typeface="+mn-ea"/>
              </a:rPr>
              <a:t>该表</a:t>
            </a:r>
            <a:r>
              <a:rPr lang="zh-CN" altLang="en-US" sz="2400">
                <a:highlight>
                  <a:srgbClr val="FFFF00"/>
                </a:highlight>
                <a:sym typeface="+mn-ea"/>
              </a:rPr>
              <a:t>只有一个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en-US" sz="2400">
                <a:sym typeface="+mn-ea"/>
              </a:rPr>
              <a:t>。</a:t>
            </a:r>
            <a:endParaRPr lang="zh-CN" altLang="en-US" sz="2400">
              <a:sym typeface="+mn-ea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494030" y="5499735"/>
            <a:ext cx="3794760" cy="700405"/>
          </a:xfrm>
          <a:prstGeom prst="wedgeRoundRectCallout">
            <a:avLst>
              <a:gd name="adj1" fmla="val -11897"/>
              <a:gd name="adj2" fmla="val -9660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indent="0" eaLnBrk="1" hangingPunct="1">
              <a:buNone/>
            </a:pPr>
            <a:r>
              <a:rPr lang="zh-CN" altLang="en-US" sz="2400">
                <a:sym typeface="+mn-ea"/>
              </a:rPr>
              <a:t>记录了</a:t>
            </a:r>
            <a:r>
              <a:rPr lang="en-US" altLang="zh-CN" sz="2400">
                <a:sym typeface="+mn-ea"/>
              </a:rPr>
              <a:t>-ROOT-</a:t>
            </a:r>
            <a:r>
              <a:rPr lang="zh-CN" altLang="en-US" sz="2400">
                <a:sym typeface="+mn-ea"/>
              </a:rPr>
              <a:t>表的位置</a:t>
            </a:r>
            <a:endParaRPr lang="zh-CN" altLang="en-US" sz="24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924675" y="1541780"/>
          <a:ext cx="414845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05"/>
                <a:gridCol w="867410"/>
                <a:gridCol w="1476375"/>
                <a:gridCol w="1231265"/>
              </a:tblGrid>
              <a:tr h="457200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/>
                        <a:t>Region</a:t>
                      </a:r>
                      <a:r>
                        <a:rPr lang="zh-CN" altLang="en-US" sz="2400"/>
                        <a:t>标识符</a:t>
                      </a:r>
                      <a:endParaRPr lang="zh-CN" altLang="en-US" sz="2400"/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Region</a:t>
                      </a:r>
                      <a:endParaRPr lang="en-US" altLang="zh-CN" sz="2400"/>
                    </a:p>
                    <a:p>
                      <a:pPr>
                        <a:buNone/>
                      </a:pPr>
                      <a:r>
                        <a:rPr lang="zh-CN" altLang="en-US" sz="2400"/>
                        <a:t>服务器</a:t>
                      </a:r>
                      <a:endParaRPr lang="zh-CN" altLang="en-US" sz="2400"/>
                    </a:p>
                    <a:p>
                      <a:pPr>
                        <a:buNone/>
                      </a:pPr>
                      <a:r>
                        <a:rPr lang="zh-CN" altLang="en-US" sz="2400"/>
                        <a:t>标识符</a:t>
                      </a:r>
                      <a:endParaRPr lang="zh-CN" altLang="en-US" sz="2400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表名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开始主键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RegionID</a:t>
                      </a:r>
                      <a:endParaRPr lang="en-US" altLang="zh-CN" sz="2400"/>
                    </a:p>
                  </a:txBody>
                  <a:tcPr anchor="ctr"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96412" y="1406013"/>
            <a:ext cx="2311216" cy="1093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回忆：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使用虚存时，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zh-CN" altLang="en-US" sz="2400" dirty="0"/>
              <a:t>两级层次页表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bldLvl="0" animBg="1"/>
      <p:bldP spid="3" grpId="1" animBg="1"/>
      <p:bldP spid="5" grpId="0" animBg="1"/>
      <p:bldP spid="5" grpId="1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4.4.3	Region</a:t>
            </a:r>
            <a:r>
              <a:rPr lang="zh-CN" altLang="en-US" b="1"/>
              <a:t>的定位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034415" y="1508760"/>
            <a:ext cx="90805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1" hangingPunct="1">
              <a:spcAft>
                <a:spcPts val="0"/>
              </a:spcAft>
              <a:buNone/>
            </a:pPr>
            <a:r>
              <a:rPr lang="zh-CN" altLang="zh-CN" sz="2400">
                <a:sym typeface="+mn-ea"/>
              </a:rPr>
              <a:t>为了加快访问速度，</a:t>
            </a:r>
            <a:r>
              <a:rPr lang="en-US" altLang="zh-CN" sz="2400">
                <a:sym typeface="+mn-ea"/>
              </a:rPr>
              <a:t>.META.</a:t>
            </a:r>
            <a:r>
              <a:rPr lang="zh-CN" altLang="zh-CN" sz="2400">
                <a:sym typeface="+mn-ea"/>
              </a:rPr>
              <a:t>表的全部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zh-CN" sz="2400">
                <a:sym typeface="+mn-ea"/>
              </a:rPr>
              <a:t>都会被保存在内存中</a:t>
            </a:r>
            <a:endParaRPr lang="zh-CN" altLang="zh-CN" sz="24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6485" y="2045970"/>
            <a:ext cx="88036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400">
                <a:sym typeface="+mn-ea"/>
              </a:rPr>
              <a:t>假设一个映射条目在内存中大约占用</a:t>
            </a:r>
            <a:r>
              <a:rPr lang="en-US" altLang="zh-CN" sz="2400">
                <a:sym typeface="+mn-ea"/>
              </a:rPr>
              <a:t>1KB</a:t>
            </a:r>
            <a:r>
              <a:rPr lang="zh-CN" altLang="zh-CN" sz="2400">
                <a:sym typeface="+mn-ea"/>
              </a:rPr>
              <a:t>，</a:t>
            </a:r>
            <a:endParaRPr lang="zh-CN" altLang="zh-CN" sz="2400"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zh-CN" sz="2400">
                <a:sym typeface="+mn-ea"/>
              </a:rPr>
              <a:t>并且每个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zh-CN" sz="2400">
                <a:sym typeface="+mn-ea"/>
              </a:rPr>
              <a:t>限制为</a:t>
            </a:r>
            <a:r>
              <a:rPr lang="en-US" altLang="zh-CN" sz="2400">
                <a:sym typeface="+mn-ea"/>
              </a:rPr>
              <a:t>128MB</a:t>
            </a:r>
            <a:r>
              <a:rPr lang="zh-CN" altLang="zh-CN" sz="2400">
                <a:sym typeface="+mn-ea"/>
              </a:rPr>
              <a:t>，那么，</a:t>
            </a:r>
            <a:endParaRPr lang="zh-CN" altLang="zh-CN" sz="2400"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zh-CN" sz="2400">
                <a:sym typeface="+mn-ea"/>
              </a:rPr>
              <a:t>上面的三层结构可以保存的用户数据表的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zh-CN" sz="2400">
                <a:sym typeface="+mn-ea"/>
              </a:rPr>
              <a:t>数目</a:t>
            </a:r>
            <a:r>
              <a:rPr lang="zh-CN" sz="2400">
                <a:sym typeface="+mn-ea"/>
              </a:rPr>
              <a:t>是？</a:t>
            </a:r>
            <a:endParaRPr lang="zh-CN" altLang="en-US" sz="24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6810" y="3811270"/>
            <a:ext cx="363982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1" hangingPunct="1">
              <a:spcAft>
                <a:spcPts val="0"/>
              </a:spcAft>
              <a:buNone/>
            </a:pPr>
            <a:r>
              <a:rPr lang="zh-CN" altLang="zh-CN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-ROOT-</a:t>
            </a:r>
            <a:r>
              <a:rPr lang="zh-CN" altLang="zh-CN" sz="2400">
                <a:sym typeface="+mn-ea"/>
              </a:rPr>
              <a:t>表能够寻址的</a:t>
            </a:r>
            <a:r>
              <a:rPr lang="en-US" altLang="zh-CN" sz="2400">
                <a:sym typeface="+mn-ea"/>
              </a:rPr>
              <a:t>.META.</a:t>
            </a:r>
            <a:r>
              <a:rPr lang="zh-CN" altLang="zh-CN" sz="2400">
                <a:sym typeface="+mn-ea"/>
              </a:rPr>
              <a:t>表的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zh-CN" sz="2400">
                <a:sym typeface="+mn-ea"/>
              </a:rPr>
              <a:t>个数）</a:t>
            </a:r>
            <a:endParaRPr lang="zh-CN" altLang="zh-CN" sz="2400">
              <a:sym typeface="+mn-ea"/>
            </a:endParaRPr>
          </a:p>
          <a:p>
            <a:pPr indent="0" algn="ctr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ym typeface="+mn-ea"/>
              </a:rPr>
              <a:t>×</a:t>
            </a:r>
            <a:endParaRPr lang="zh-CN" altLang="zh-CN" sz="2400">
              <a:sym typeface="+mn-ea"/>
            </a:endParaRPr>
          </a:p>
          <a:p>
            <a:pPr indent="0" eaLnBrk="1" hangingPunct="1">
              <a:spcBef>
                <a:spcPts val="0"/>
              </a:spcBef>
              <a:buNone/>
            </a:pPr>
            <a:r>
              <a:rPr lang="zh-CN" altLang="zh-CN" sz="2400">
                <a:sym typeface="+mn-ea"/>
              </a:rPr>
              <a:t>（每个</a:t>
            </a:r>
            <a:r>
              <a:rPr lang="en-US" altLang="zh-CN" sz="2400">
                <a:sym typeface="+mn-ea"/>
              </a:rPr>
              <a:t>.META.</a:t>
            </a:r>
            <a:r>
              <a:rPr lang="zh-CN" altLang="zh-CN" sz="2400">
                <a:sym typeface="+mn-ea"/>
              </a:rPr>
              <a:t>表的</a:t>
            </a:r>
            <a:r>
              <a:rPr lang="en-US" altLang="zh-CN" sz="2400">
                <a:sym typeface="+mn-ea"/>
              </a:rPr>
              <a:t> Region</a:t>
            </a:r>
            <a:r>
              <a:rPr lang="zh-CN" altLang="zh-CN" sz="2400">
                <a:sym typeface="+mn-ea"/>
              </a:rPr>
              <a:t>可以寻址的用户数据表的</a:t>
            </a:r>
            <a:r>
              <a:rPr lang="en-US" altLang="zh-CN" sz="2400">
                <a:sym typeface="+mn-ea"/>
              </a:rPr>
              <a:t>Region</a:t>
            </a:r>
            <a:r>
              <a:rPr lang="zh-CN" altLang="zh-CN" sz="2400">
                <a:sym typeface="+mn-ea"/>
              </a:rPr>
              <a:t>个数）</a:t>
            </a:r>
            <a:endParaRPr lang="zh-CN" altLang="zh-CN" sz="24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50965" y="4017645"/>
            <a:ext cx="24422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400">
                <a:sym typeface="+mn-ea"/>
              </a:rPr>
              <a:t>128MB/1KB=2</a:t>
            </a:r>
            <a:r>
              <a:rPr lang="en-US" altLang="zh-CN" sz="2400" baseline="30000">
                <a:sym typeface="+mn-ea"/>
              </a:rPr>
              <a:t>17</a:t>
            </a:r>
            <a:endParaRPr lang="en-US" altLang="zh-CN" sz="2400" baseline="300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540" y="5987415"/>
            <a:ext cx="22237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1" hangingPunct="1">
              <a:spcAft>
                <a:spcPts val="0"/>
              </a:spcAft>
              <a:buNone/>
            </a:pPr>
            <a:r>
              <a:rPr lang="en-US" altLang="zh-CN" sz="2400">
                <a:sym typeface="+mn-ea"/>
              </a:rPr>
              <a:t>= 2</a:t>
            </a:r>
            <a:r>
              <a:rPr lang="en-US" altLang="zh-CN" sz="2400" baseline="30000">
                <a:sym typeface="+mn-ea"/>
              </a:rPr>
              <a:t>34</a:t>
            </a:r>
            <a:r>
              <a:rPr lang="zh-CN" altLang="zh-CN" sz="2400">
                <a:sym typeface="+mn-ea"/>
              </a:rPr>
              <a:t>个</a:t>
            </a:r>
            <a:r>
              <a:rPr lang="en-US" altLang="zh-CN" sz="2400">
                <a:sym typeface="+mn-ea"/>
              </a:rPr>
              <a:t>Region</a:t>
            </a:r>
            <a:endParaRPr lang="en-US" altLang="zh-CN" sz="24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50965" y="5125085"/>
            <a:ext cx="24422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400">
                <a:sym typeface="+mn-ea"/>
              </a:rPr>
              <a:t>128MB/1KB=2</a:t>
            </a:r>
            <a:r>
              <a:rPr lang="en-US" altLang="zh-CN" sz="2400" baseline="30000">
                <a:sym typeface="+mn-ea"/>
              </a:rPr>
              <a:t>17</a:t>
            </a:r>
            <a:endParaRPr lang="en-US" altLang="zh-CN" sz="2400" baseline="300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40905" y="4571365"/>
            <a:ext cx="4362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400">
                <a:sym typeface="+mn-ea"/>
              </a:rPr>
              <a:t>×</a:t>
            </a:r>
            <a:endParaRPr lang="zh-CN" altLang="zh-CN"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en-US" altLang="zh-CN" sz="2600" dirty="0">
                <a:sym typeface="+mn-ea"/>
              </a:rPr>
              <a:t>HBase</a:t>
            </a:r>
            <a:r>
              <a:rPr lang="zh-CN" altLang="en-US" sz="2600" dirty="0">
                <a:sym typeface="+mn-ea"/>
              </a:rPr>
              <a:t>的</a:t>
            </a:r>
            <a:r>
              <a:rPr lang="zh-CN" altLang="zh-CN" sz="2600" dirty="0">
                <a:sym typeface="+mn-ea"/>
              </a:rPr>
              <a:t>三层结构中，假设一个映射条目在内存中大约占用</a:t>
            </a:r>
            <a:r>
              <a:rPr lang="en-US" altLang="zh-CN" sz="2600" dirty="0">
                <a:sym typeface="+mn-ea"/>
              </a:rPr>
              <a:t>4KB</a:t>
            </a:r>
            <a:r>
              <a:rPr lang="zh-CN" altLang="zh-CN" sz="2600" dirty="0">
                <a:sym typeface="+mn-ea"/>
              </a:rPr>
              <a:t>，</a:t>
            </a:r>
            <a:endParaRPr lang="zh-CN" altLang="zh-CN" sz="2600" dirty="0">
              <a:sym typeface="+mn-ea"/>
            </a:endParaRPr>
          </a:p>
          <a:p>
            <a:pPr lvl="0">
              <a:spcBef>
                <a:spcPts val="0"/>
              </a:spcBef>
            </a:pPr>
            <a:r>
              <a:rPr lang="zh-CN" altLang="zh-CN" sz="2600" dirty="0">
                <a:sym typeface="+mn-ea"/>
              </a:rPr>
              <a:t>并且每个</a:t>
            </a:r>
            <a:r>
              <a:rPr lang="en-US" altLang="zh-CN" sz="2600" dirty="0">
                <a:sym typeface="+mn-ea"/>
              </a:rPr>
              <a:t>Region</a:t>
            </a:r>
            <a:r>
              <a:rPr lang="zh-CN" altLang="zh-CN" sz="2600" dirty="0">
                <a:sym typeface="+mn-ea"/>
              </a:rPr>
              <a:t>限制为</a:t>
            </a:r>
            <a:r>
              <a:rPr lang="en-US" altLang="zh-CN" sz="2600" dirty="0">
                <a:sym typeface="+mn-ea"/>
              </a:rPr>
              <a:t>256MB</a:t>
            </a:r>
            <a:r>
              <a:rPr lang="zh-CN" altLang="zh-CN" sz="2600" dirty="0">
                <a:sym typeface="+mn-ea"/>
              </a:rPr>
              <a:t>，那么，可以保存的用户数据表的</a:t>
            </a:r>
            <a:r>
              <a:rPr lang="zh-CN" altLang="zh-CN" sz="2600" dirty="0">
                <a:highlight>
                  <a:srgbClr val="FFFF00"/>
                </a:highlight>
                <a:sym typeface="+mn-ea"/>
              </a:rPr>
              <a:t>数据大小</a:t>
            </a:r>
            <a:r>
              <a:rPr lang="zh-CN" altLang="en-US" sz="2600" dirty="0">
                <a:sym typeface="+mn-ea"/>
              </a:rPr>
              <a:t>上限</a:t>
            </a:r>
            <a:r>
              <a:rPr lang="zh-CN" altLang="zh-CN" sz="2600" dirty="0">
                <a:sym typeface="+mn-ea"/>
              </a:rPr>
              <a:t>是（）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1GB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1TB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1PB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1EB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12827000" y="1270000"/>
            <a:ext cx="3331845" cy="31692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256MB/4KB=64K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故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64K*64*K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Region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每个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256MB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故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64K*64K*256MB=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2^(6+6+8)KKMB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=2^20KGB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=2^20TB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=1KKTB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=1KPB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spcBef>
                <a:spcPts val="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=1EB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14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22" name="RemarkBack"/>
            <p:cNvSpPr/>
            <p:nvPr>
              <p:custDataLst>
                <p:tags r:id="rId15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RemarkBlock"/>
            <p:cNvSpPr/>
            <p:nvPr>
              <p:custDataLst>
                <p:tags r:id="rId16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TitleText"/>
            <p:cNvSpPr txBox="1"/>
            <p:nvPr>
              <p:custDataLst>
                <p:tags r:id="rId17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1CF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4.4.3	Region</a:t>
            </a:r>
            <a:r>
              <a:rPr lang="zh-CN" altLang="en-US" b="1"/>
              <a:t>的定位</a:t>
            </a:r>
            <a:endParaRPr lang="zh-CN" altLang="en-US" b="1"/>
          </a:p>
        </p:txBody>
      </p:sp>
      <p:sp>
        <p:nvSpPr>
          <p:cNvPr id="31747" name="TextBox 3"/>
          <p:cNvSpPr txBox="1">
            <a:spLocks noChangeArrowheads="1"/>
          </p:cNvSpPr>
          <p:nvPr/>
        </p:nvSpPr>
        <p:spPr bwMode="auto">
          <a:xfrm>
            <a:off x="1209675" y="1425575"/>
            <a:ext cx="1022985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400" dirty="0"/>
              <a:t>客户端访问数据时的“三级寻址”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marL="342900" indent="-34290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/>
              <a:t>寻址过程客户端只需要询问</a:t>
            </a:r>
            <a:r>
              <a:rPr lang="en-US" altLang="zh-CN" sz="2400" dirty="0"/>
              <a:t>Zookeeper</a:t>
            </a:r>
            <a:r>
              <a:rPr lang="zh-CN" altLang="en-US" sz="2400" dirty="0"/>
              <a:t>服务器，不需要连接</a:t>
            </a:r>
            <a:r>
              <a:rPr lang="en-US" altLang="zh-CN" sz="2400" dirty="0"/>
              <a:t>Master</a:t>
            </a:r>
            <a:r>
              <a:rPr lang="zh-CN" altLang="en-US" sz="2400" dirty="0"/>
              <a:t>服务器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为了加速寻址，客户端会缓存位置信息，同时，需要解决缓存失效问题</a:t>
            </a:r>
            <a:endParaRPr lang="zh-CN" altLang="en-US" dirty="0"/>
          </a:p>
        </p:txBody>
      </p:sp>
      <p:pic>
        <p:nvPicPr>
          <p:cNvPr id="31748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920" y="3691256"/>
            <a:ext cx="7010400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988695" y="3556819"/>
            <a:ext cx="3805083" cy="11766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/>
              <a:t>使用虚存时为页表项提供了一个特殊的高速缓存</a:t>
            </a:r>
            <a:endParaRPr lang="en-US" altLang="zh-CN" sz="2400" dirty="0"/>
          </a:p>
          <a:p>
            <a:pPr algn="ctr">
              <a:spcBef>
                <a:spcPts val="0"/>
              </a:spcBef>
            </a:pPr>
            <a:r>
              <a:rPr lang="zh-CN" altLang="en-US" sz="2400" dirty="0"/>
              <a:t>转换检测缓冲区</a:t>
            </a:r>
            <a:r>
              <a:rPr lang="en-US" altLang="zh-CN" sz="2400" dirty="0"/>
              <a:t>TLB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	HBase</a:t>
            </a:r>
            <a:r>
              <a:rPr lang="zh-CN" altLang="en-US" b="1"/>
              <a:t>运行机制</a:t>
            </a:r>
            <a:endParaRPr lang="zh-CN" altLang="en-US" b="1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altLang="zh-CN"/>
              <a:t>4.5.1	HBase</a:t>
            </a:r>
            <a:r>
              <a:rPr lang="zh-CN" altLang="en-US"/>
              <a:t>系统架构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4.5.2	Region</a:t>
            </a:r>
            <a:r>
              <a:rPr lang="zh-CN" altLang="en-US"/>
              <a:t>服务器工作原理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4.5.3	Store</a:t>
            </a:r>
            <a:r>
              <a:rPr lang="zh-CN" altLang="en-US"/>
              <a:t>工作原理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4.5.4	HLog</a:t>
            </a:r>
            <a:r>
              <a:rPr lang="zh-CN" altLang="en-US"/>
              <a:t>工作原理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4.5.1	HBase</a:t>
            </a:r>
            <a:r>
              <a:rPr lang="zh-CN" altLang="en-US" b="1"/>
              <a:t>系统架构</a:t>
            </a:r>
            <a:endParaRPr lang="zh-CN" altLang="en-US" b="1"/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1524001" y="17219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4680268" y="6155374"/>
            <a:ext cx="27870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4-9 HBase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的系统架构</a:t>
            </a:r>
            <a:endParaRPr lang="zh-CN" altLang="en-US" sz="2000"/>
          </a:p>
        </p:txBody>
      </p:sp>
      <p:pic>
        <p:nvPicPr>
          <p:cNvPr id="33797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075" y="1335405"/>
            <a:ext cx="895985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4.5.1	HBase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52837" y="1805025"/>
            <a:ext cx="3833084" cy="27166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可选过程 2"/>
          <p:cNvSpPr/>
          <p:nvPr>
            <p:custDataLst>
              <p:tags r:id="rId2"/>
            </p:custDataLst>
          </p:nvPr>
        </p:nvSpPr>
        <p:spPr>
          <a:xfrm>
            <a:off x="1114295" y="1442990"/>
            <a:ext cx="2208426" cy="80624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客户端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流程图: 可选过程 3"/>
          <p:cNvSpPr/>
          <p:nvPr>
            <p:custDataLst>
              <p:tags r:id="rId3"/>
            </p:custDataLst>
          </p:nvPr>
        </p:nvSpPr>
        <p:spPr>
          <a:xfrm>
            <a:off x="687135" y="2463786"/>
            <a:ext cx="3062746" cy="806245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访问</a:t>
            </a:r>
            <a:r>
              <a:rPr lang="en-US" altLang="zh-CN" sz="2800" dirty="0"/>
              <a:t>HBase</a:t>
            </a:r>
            <a:r>
              <a:rPr lang="zh-CN" altLang="en-US" sz="2800" dirty="0"/>
              <a:t>的接口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可选过程 5"/>
          <p:cNvSpPr/>
          <p:nvPr>
            <p:custDataLst>
              <p:tags r:id="rId4"/>
            </p:custDataLst>
          </p:nvPr>
        </p:nvSpPr>
        <p:spPr>
          <a:xfrm>
            <a:off x="687135" y="3425456"/>
            <a:ext cx="3062746" cy="95608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缓存已访问过的</a:t>
            </a:r>
            <a:endParaRPr lang="zh-CN" altLang="en-US" sz="2800" dirty="0"/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/>
              <a:t>Region</a:t>
            </a:r>
            <a:r>
              <a:rPr lang="zh-CN" altLang="en-US" sz="2800" dirty="0"/>
              <a:t>位置信息</a:t>
            </a:r>
            <a:endParaRPr lang="zh-CN" altLang="en-US" sz="2800" dirty="0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5374641" y="1805024"/>
            <a:ext cx="6421120" cy="4778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可选过程 7"/>
          <p:cNvSpPr/>
          <p:nvPr>
            <p:custDataLst>
              <p:tags r:id="rId6"/>
            </p:custDataLst>
          </p:nvPr>
        </p:nvSpPr>
        <p:spPr>
          <a:xfrm>
            <a:off x="6517192" y="1328239"/>
            <a:ext cx="4188622" cy="80624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/>
              <a:t>Zookeeper</a:t>
            </a:r>
            <a:r>
              <a:rPr lang="zh-CN" altLang="en-US" sz="2800" dirty="0"/>
              <a:t>服务器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流程图: 可选过程 8"/>
          <p:cNvSpPr/>
          <p:nvPr>
            <p:custDataLst>
              <p:tags r:id="rId7"/>
            </p:custDataLst>
          </p:nvPr>
        </p:nvSpPr>
        <p:spPr>
          <a:xfrm>
            <a:off x="5672989" y="4206877"/>
            <a:ext cx="5879912" cy="667084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选举出一个</a:t>
            </a:r>
            <a:r>
              <a:rPr lang="en-US" altLang="zh-CN" sz="2800" dirty="0"/>
              <a:t>Master</a:t>
            </a:r>
            <a:r>
              <a:rPr lang="zh-CN" altLang="en-US" sz="2800" dirty="0"/>
              <a:t>作为集群的总管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流程图: 可选过程 9"/>
          <p:cNvSpPr/>
          <p:nvPr>
            <p:custDataLst>
              <p:tags r:id="rId8"/>
            </p:custDataLst>
          </p:nvPr>
        </p:nvSpPr>
        <p:spPr>
          <a:xfrm>
            <a:off x="5667029" y="3425456"/>
            <a:ext cx="5885871" cy="66708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保证总有唯一一个</a:t>
            </a:r>
            <a:r>
              <a:rPr lang="en-US" altLang="zh-CN" sz="2800" dirty="0"/>
              <a:t>Master</a:t>
            </a:r>
            <a:r>
              <a:rPr lang="zh-CN" altLang="en-US" sz="2800" dirty="0"/>
              <a:t>在工作</a:t>
            </a:r>
            <a:endParaRPr lang="zh-CN" altLang="en-US" sz="2800" dirty="0"/>
          </a:p>
        </p:txBody>
      </p:sp>
      <p:sp>
        <p:nvSpPr>
          <p:cNvPr id="13" name="流程图: 过程 12"/>
          <p:cNvSpPr/>
          <p:nvPr/>
        </p:nvSpPr>
        <p:spPr>
          <a:xfrm>
            <a:off x="5730240" y="2364228"/>
            <a:ext cx="1625600" cy="779742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Master1</a:t>
            </a:r>
            <a:endParaRPr lang="zh-CN" altLang="en-US" sz="2800" dirty="0"/>
          </a:p>
        </p:txBody>
      </p:sp>
      <p:sp>
        <p:nvSpPr>
          <p:cNvPr id="14" name="流程图: 过程 13"/>
          <p:cNvSpPr/>
          <p:nvPr/>
        </p:nvSpPr>
        <p:spPr>
          <a:xfrm>
            <a:off x="9927300" y="2364228"/>
            <a:ext cx="1625600" cy="779742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/>
              <a:t>Mastern</a:t>
            </a:r>
            <a:endParaRPr lang="zh-CN" altLang="en-US" sz="2800" dirty="0"/>
          </a:p>
        </p:txBody>
      </p:sp>
      <p:sp>
        <p:nvSpPr>
          <p:cNvPr id="15" name="流程图: 过程 14"/>
          <p:cNvSpPr/>
          <p:nvPr/>
        </p:nvSpPr>
        <p:spPr>
          <a:xfrm>
            <a:off x="7863839" y="2364228"/>
            <a:ext cx="1625600" cy="779742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Master2</a:t>
            </a:r>
            <a:endParaRPr lang="zh-CN" altLang="en-US" sz="2800" dirty="0"/>
          </a:p>
        </p:txBody>
      </p:sp>
      <p:sp>
        <p:nvSpPr>
          <p:cNvPr id="16" name="矩形 15"/>
          <p:cNvSpPr/>
          <p:nvPr/>
        </p:nvSpPr>
        <p:spPr>
          <a:xfrm>
            <a:off x="5862320" y="4795520"/>
            <a:ext cx="5405120" cy="1625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 dirty="0"/>
              <a:t>每个</a:t>
            </a:r>
            <a:r>
              <a:rPr lang="en-US" altLang="zh-CN" sz="2000" dirty="0"/>
              <a:t>Master</a:t>
            </a:r>
            <a:r>
              <a:rPr lang="zh-CN" altLang="en-US" sz="2000" dirty="0"/>
              <a:t>都周期性报名，</a:t>
            </a:r>
            <a:endParaRPr lang="en-US" altLang="zh-CN" sz="20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最早报名的成为总管，</a:t>
            </a:r>
            <a:endParaRPr lang="en-US" altLang="zh-CN" sz="20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下轮，总管有报名就继任，</a:t>
            </a:r>
            <a:endParaRPr lang="en-US" altLang="zh-CN" sz="20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无则选择下一个最早报名的，</a:t>
            </a:r>
            <a:endParaRPr lang="en-US" altLang="zh-CN" sz="2000" dirty="0"/>
          </a:p>
          <a:p>
            <a:pPr algn="ctr">
              <a:spcBef>
                <a:spcPts val="0"/>
              </a:spcBef>
            </a:pPr>
            <a:r>
              <a:rPr lang="zh-CN" altLang="en-US" sz="2000" dirty="0"/>
              <a:t>前任总管正常后重新参与选举</a:t>
            </a:r>
            <a:endParaRPr lang="zh-CN" altLang="en-US" sz="2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352837" y="5023126"/>
            <a:ext cx="4165601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>
                <a:solidFill>
                  <a:srgbClr val="71777D"/>
                </a:solidFill>
                <a:latin typeface="Arial" panose="020B0604020202020204" pitchFamily="34" charset="0"/>
              </a:rPr>
              <a:t>单点失效：</a:t>
            </a:r>
            <a:r>
              <a:rPr lang="zh-CN" altLang="en-US" sz="2800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整个系统的工作流不会因为一个</a:t>
            </a:r>
            <a:r>
              <a:rPr lang="zh-CN" altLang="en-US" sz="2800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单点</a:t>
            </a:r>
            <a:r>
              <a:rPr lang="zh-CN" altLang="en-US" sz="2800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的失败而停止整个工作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animBg="1"/>
      <p:bldP spid="13" grpId="0" animBg="1"/>
      <p:bldP spid="14" grpId="0" animBg="1"/>
      <p:bldP spid="15" grpId="0" animBg="1"/>
      <p:bldP spid="16" grpId="0" animBg="1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4.5.1	HBase</a:t>
            </a:r>
            <a:r>
              <a:rPr lang="zh-CN" altLang="en-US" b="1"/>
              <a:t>系统架构</a:t>
            </a:r>
            <a:endParaRPr lang="zh-CN" altLang="en-US" b="1"/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625602" y="1728332"/>
            <a:ext cx="8940796" cy="2488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流程图: 可选过程 3"/>
          <p:cNvSpPr/>
          <p:nvPr>
            <p:custDataLst>
              <p:tags r:id="rId2"/>
            </p:custDataLst>
          </p:nvPr>
        </p:nvSpPr>
        <p:spPr>
          <a:xfrm>
            <a:off x="4334614" y="1370702"/>
            <a:ext cx="3092346" cy="553584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主服务器</a:t>
            </a:r>
            <a:r>
              <a:rPr lang="en-US" altLang="zh-CN" sz="2800" dirty="0"/>
              <a:t>Master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可选过程 5"/>
          <p:cNvSpPr/>
          <p:nvPr>
            <p:custDataLst>
              <p:tags r:id="rId3"/>
            </p:custDataLst>
          </p:nvPr>
        </p:nvSpPr>
        <p:spPr>
          <a:xfrm>
            <a:off x="1774253" y="2443935"/>
            <a:ext cx="8792145" cy="1772912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</a:pPr>
            <a:r>
              <a:rPr lang="zh-CN" altLang="en-US" sz="2400" dirty="0">
                <a:sym typeface="+mn-ea"/>
              </a:rPr>
              <a:t>管理用户对表的增加、删除、修改、查询等操作</a:t>
            </a:r>
            <a:endParaRPr lang="zh-CN" altLang="en-US" sz="2400" dirty="0"/>
          </a:p>
          <a:p>
            <a:pPr lvl="1">
              <a:lnSpc>
                <a:spcPct val="90000"/>
              </a:lnSpc>
              <a:spcBef>
                <a:spcPts val="20"/>
              </a:spcBef>
              <a:spcAft>
                <a:spcPts val="0"/>
              </a:spcAft>
              <a:buFontTx/>
              <a:buChar char="–"/>
            </a:pPr>
            <a:r>
              <a:rPr lang="zh-CN" altLang="en-US" sz="2400" dirty="0">
                <a:sym typeface="+mn-ea"/>
              </a:rPr>
              <a:t>实现不同</a:t>
            </a: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服务器之间的负载均衡</a:t>
            </a:r>
            <a:endParaRPr lang="zh-CN" altLang="en-US" sz="2400" dirty="0"/>
          </a:p>
          <a:p>
            <a:pPr lvl="1">
              <a:lnSpc>
                <a:spcPct val="90000"/>
              </a:lnSpc>
              <a:spcBef>
                <a:spcPts val="20"/>
              </a:spcBef>
              <a:spcAft>
                <a:spcPts val="0"/>
              </a:spcAft>
              <a:buFontTx/>
              <a:buChar char="–"/>
            </a:pPr>
            <a:r>
              <a:rPr lang="zh-CN" altLang="en-US" sz="2400" dirty="0">
                <a:sym typeface="+mn-ea"/>
              </a:rPr>
              <a:t>在</a:t>
            </a: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分裂或合并后，负责重新调整</a:t>
            </a: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的分布</a:t>
            </a:r>
            <a:endParaRPr lang="zh-CN" altLang="en-US" sz="2400" dirty="0"/>
          </a:p>
          <a:p>
            <a:pPr lvl="1">
              <a:lnSpc>
                <a:spcPct val="90000"/>
              </a:lnSpc>
              <a:spcBef>
                <a:spcPts val="20"/>
              </a:spcBef>
              <a:buFontTx/>
              <a:buChar char="–"/>
            </a:pPr>
            <a:r>
              <a:rPr lang="zh-CN" altLang="en-US" sz="2400" dirty="0">
                <a:sym typeface="+mn-ea"/>
              </a:rPr>
              <a:t>对发生故障失效的</a:t>
            </a: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服务器上的</a:t>
            </a: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进行迁移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774253" y="1993499"/>
            <a:ext cx="540886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/>
              <a:t>主要负责表和</a:t>
            </a:r>
            <a:r>
              <a:rPr lang="en-US" altLang="zh-CN" sz="2800" dirty="0"/>
              <a:t>Region</a:t>
            </a:r>
            <a:r>
              <a:rPr lang="zh-CN" altLang="en-US" sz="2800" dirty="0"/>
              <a:t>的管理工作</a:t>
            </a:r>
            <a:endParaRPr lang="zh-CN" altLang="en-US" sz="2800" dirty="0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625602" y="4948928"/>
            <a:ext cx="8940796" cy="1770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>
            <p:custDataLst>
              <p:tags r:id="rId5"/>
            </p:custDataLst>
          </p:nvPr>
        </p:nvSpPr>
        <p:spPr>
          <a:xfrm>
            <a:off x="4334614" y="4667284"/>
            <a:ext cx="3092346" cy="576648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/>
              <a:t>Region</a:t>
            </a:r>
            <a:r>
              <a:rPr lang="zh-CN" altLang="en-US" sz="2800" dirty="0"/>
              <a:t>服务器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74253" y="5431636"/>
            <a:ext cx="8477187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HBase</a:t>
            </a:r>
            <a:r>
              <a:rPr lang="zh-CN" altLang="en-US" sz="2800" dirty="0"/>
              <a:t>中最核心模块，负责维护分配给自己的</a:t>
            </a:r>
            <a:r>
              <a:rPr lang="en-US" altLang="zh-CN" sz="2800" dirty="0"/>
              <a:t>Region</a:t>
            </a:r>
            <a:r>
              <a:rPr lang="zh-CN" altLang="en-US" sz="2800" dirty="0"/>
              <a:t>，并响应用户的读写请求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4.5.2	Region</a:t>
            </a:r>
            <a:r>
              <a:rPr lang="zh-CN" altLang="en-US" b="1"/>
              <a:t>服务器工作原理</a:t>
            </a:r>
            <a:endParaRPr lang="zh-CN" altLang="en-US" b="1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425677" y="1356852"/>
            <a:ext cx="9153832" cy="5338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多文档 2"/>
          <p:cNvSpPr/>
          <p:nvPr/>
        </p:nvSpPr>
        <p:spPr>
          <a:xfrm>
            <a:off x="3175818" y="1445343"/>
            <a:ext cx="5506064" cy="5161934"/>
          </a:xfrm>
          <a:prstGeom prst="flowChartMulti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05117" y="1445343"/>
            <a:ext cx="157439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Region</a:t>
            </a:r>
            <a:endParaRPr lang="en-US" altLang="zh-CN" sz="2800" dirty="0"/>
          </a:p>
          <a:p>
            <a:pPr>
              <a:spcBef>
                <a:spcPts val="0"/>
              </a:spcBef>
            </a:pPr>
            <a:r>
              <a:rPr lang="zh-CN" altLang="en-US" sz="2800" dirty="0"/>
              <a:t>服务器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3243411" y="2304867"/>
            <a:ext cx="12695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Region</a:t>
            </a:r>
            <a:endParaRPr lang="en-US" altLang="zh-CN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566646" y="1876230"/>
            <a:ext cx="12695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b="1" dirty="0"/>
              <a:t>…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039825" y="1368092"/>
            <a:ext cx="12695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Region</a:t>
            </a:r>
            <a:endParaRPr lang="en-US" altLang="zh-CN" sz="2800" dirty="0"/>
          </a:p>
        </p:txBody>
      </p:sp>
      <p:sp>
        <p:nvSpPr>
          <p:cNvPr id="9" name="矩形 8"/>
          <p:cNvSpPr/>
          <p:nvPr/>
        </p:nvSpPr>
        <p:spPr>
          <a:xfrm>
            <a:off x="1731087" y="1791324"/>
            <a:ext cx="1161436" cy="46327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altLang="zh-CN" sz="2800" dirty="0" err="1"/>
              <a:t>Hlog</a:t>
            </a:r>
            <a:endParaRPr lang="en-US" altLang="zh-CN" sz="2800" dirty="0"/>
          </a:p>
          <a:p>
            <a:pPr algn="ctr">
              <a:spcBef>
                <a:spcPts val="0"/>
              </a:spcBef>
            </a:pPr>
            <a:r>
              <a:rPr lang="zh-CN" altLang="en-US" sz="2800" dirty="0"/>
              <a:t>记录所有更新操作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3402570" y="3012257"/>
            <a:ext cx="1720035" cy="25233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altLang="zh-CN" sz="2800" dirty="0"/>
              <a:t>Store</a:t>
            </a:r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5928850" y="2988815"/>
            <a:ext cx="1802371" cy="2546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altLang="zh-CN" sz="2800" dirty="0"/>
              <a:t>Store</a:t>
            </a:r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280532" y="3822182"/>
            <a:ext cx="501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3200" b="1" dirty="0"/>
              <a:t>…</a:t>
            </a:r>
            <a:endParaRPr lang="zh-CN" altLang="en-US" sz="3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566646" y="3759154"/>
            <a:ext cx="1389428" cy="156845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400" dirty="0"/>
              <a:t>对应表中的一个列族的存储</a:t>
            </a:r>
            <a:endParaRPr lang="en-US" altLang="zh-CN" sz="2400" dirty="0"/>
          </a:p>
        </p:txBody>
      </p:sp>
      <p:sp>
        <p:nvSpPr>
          <p:cNvPr id="16" name="流程图: 可选过程 15"/>
          <p:cNvSpPr/>
          <p:nvPr>
            <p:custDataLst>
              <p:tags r:id="rId2"/>
            </p:custDataLst>
          </p:nvPr>
        </p:nvSpPr>
        <p:spPr>
          <a:xfrm>
            <a:off x="6142650" y="3487060"/>
            <a:ext cx="1460192" cy="39898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/>
              <a:t>MemStore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流程图: 可选过程 16"/>
          <p:cNvSpPr/>
          <p:nvPr>
            <p:custDataLst>
              <p:tags r:id="rId3"/>
            </p:custDataLst>
          </p:nvPr>
        </p:nvSpPr>
        <p:spPr>
          <a:xfrm>
            <a:off x="6142650" y="3953706"/>
            <a:ext cx="1460192" cy="39898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/>
              <a:t>StoreFile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流程图: 可选过程 17"/>
          <p:cNvSpPr/>
          <p:nvPr>
            <p:custDataLst>
              <p:tags r:id="rId4"/>
            </p:custDataLst>
          </p:nvPr>
        </p:nvSpPr>
        <p:spPr>
          <a:xfrm>
            <a:off x="6142650" y="4447784"/>
            <a:ext cx="1460192" cy="39898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b="1" dirty="0"/>
              <a:t>…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流程图: 可选过程 18"/>
          <p:cNvSpPr/>
          <p:nvPr>
            <p:custDataLst>
              <p:tags r:id="rId5"/>
            </p:custDataLst>
          </p:nvPr>
        </p:nvSpPr>
        <p:spPr>
          <a:xfrm>
            <a:off x="6142650" y="4917544"/>
            <a:ext cx="1460192" cy="39898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/>
              <a:t>StoreFile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对话气泡: 圆角矩形 19"/>
          <p:cNvSpPr/>
          <p:nvPr/>
        </p:nvSpPr>
        <p:spPr>
          <a:xfrm>
            <a:off x="7602842" y="2649830"/>
            <a:ext cx="2494886" cy="833839"/>
          </a:xfrm>
          <a:prstGeom prst="wedgeRoundRectCallout">
            <a:avLst>
              <a:gd name="adj1" fmla="val -53969"/>
              <a:gd name="adj2" fmla="val 707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内存中的缓存</a:t>
            </a:r>
            <a:endParaRPr lang="en-US" altLang="zh-CN" sz="2400" dirty="0"/>
          </a:p>
          <a:p>
            <a:pPr algn="ctr"/>
            <a:r>
              <a:rPr lang="zh-CN" altLang="en-US" sz="2400" dirty="0"/>
              <a:t>保存最近更新</a:t>
            </a:r>
            <a:endParaRPr lang="zh-CN" altLang="en-US" sz="2400" dirty="0"/>
          </a:p>
        </p:txBody>
      </p:sp>
      <p:sp>
        <p:nvSpPr>
          <p:cNvPr id="21" name="对话气泡: 圆角矩形 20"/>
          <p:cNvSpPr/>
          <p:nvPr/>
        </p:nvSpPr>
        <p:spPr>
          <a:xfrm>
            <a:off x="7659607" y="4211633"/>
            <a:ext cx="2438121" cy="833839"/>
          </a:xfrm>
          <a:prstGeom prst="wedgeRoundRectCallout">
            <a:avLst>
              <a:gd name="adj1" fmla="val -53969"/>
              <a:gd name="adj2" fmla="val 707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缓存更新周期性存入磁盘文件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8" grpId="0"/>
      <p:bldP spid="9" grpId="0" animBg="1"/>
      <p:bldP spid="11" grpId="0" animBg="1"/>
      <p:bldP spid="12" grpId="0" animBg="1"/>
      <p:bldP spid="13" grpId="0"/>
      <p:bldP spid="15" grpId="0" bldLvl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4.5.2	Region</a:t>
            </a:r>
            <a:r>
              <a:rPr lang="zh-CN" altLang="en-US" b="1"/>
              <a:t>服务器工作原理</a:t>
            </a:r>
            <a:endParaRPr lang="zh-CN" altLang="en-US" b="1"/>
          </a:p>
        </p:txBody>
      </p:sp>
      <p:sp>
        <p:nvSpPr>
          <p:cNvPr id="37891" name="Rectangle 7"/>
          <p:cNvSpPr>
            <a:spLocks noChangeArrowheads="1"/>
          </p:cNvSpPr>
          <p:nvPr/>
        </p:nvSpPr>
        <p:spPr bwMode="auto">
          <a:xfrm>
            <a:off x="1200150" y="1589248"/>
            <a:ext cx="35375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800" b="1"/>
              <a:t>1. </a:t>
            </a:r>
            <a:r>
              <a:rPr lang="zh-CN" altLang="en-US" sz="2800" b="1"/>
              <a:t>用户读写数据过程</a:t>
            </a:r>
            <a:r>
              <a:rPr lang="zh-CN" altLang="en-US" sz="2800"/>
              <a:t> </a:t>
            </a:r>
            <a:endParaRPr lang="zh-CN" altLang="en-US" sz="2800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733550" y="2390775"/>
            <a:ext cx="937196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/>
              <a:t>用户写入数据时，被分配到相应</a:t>
            </a:r>
            <a:r>
              <a:rPr lang="en-US" altLang="zh-CN" sz="2800" dirty="0"/>
              <a:t>Region</a:t>
            </a:r>
            <a:r>
              <a:rPr lang="zh-CN" altLang="en-US" sz="2800" dirty="0"/>
              <a:t>服务器去执行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/>
              <a:t>用户数据首先被写入到</a:t>
            </a:r>
            <a:r>
              <a:rPr lang="en-US" altLang="zh-CN" sz="2800" dirty="0" err="1"/>
              <a:t>Hlog</a:t>
            </a:r>
            <a:r>
              <a:rPr lang="zh-CN" altLang="en-US" sz="2800" dirty="0">
                <a:sym typeface="+mn-ea"/>
              </a:rPr>
              <a:t>和</a:t>
            </a:r>
            <a:r>
              <a:rPr lang="en-US" altLang="zh-CN" sz="2800" dirty="0" err="1">
                <a:sym typeface="+mn-ea"/>
              </a:rPr>
              <a:t>MemStore</a:t>
            </a:r>
            <a:r>
              <a:rPr lang="zh-CN" altLang="en-US" sz="2800" dirty="0"/>
              <a:t>中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/>
              <a:t>只有当操作写入</a:t>
            </a:r>
            <a:r>
              <a:rPr lang="en-US" altLang="zh-CN" sz="2800" dirty="0" err="1"/>
              <a:t>Hlog</a:t>
            </a:r>
            <a:r>
              <a:rPr lang="zh-CN" altLang="en-US" sz="2800" dirty="0"/>
              <a:t>之后，</a:t>
            </a:r>
            <a:r>
              <a:rPr lang="en-US" altLang="zh-CN" sz="2800" dirty="0"/>
              <a:t>commit()</a:t>
            </a:r>
            <a:r>
              <a:rPr lang="zh-CN" altLang="en-US" sz="2800" dirty="0"/>
              <a:t>调用才会将其返回给客户端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800" dirty="0"/>
              <a:t>当用户读取数据时，</a:t>
            </a:r>
            <a:r>
              <a:rPr lang="en-US" altLang="zh-CN" sz="2800" dirty="0"/>
              <a:t>Region</a:t>
            </a:r>
            <a:r>
              <a:rPr lang="zh-CN" altLang="en-US" sz="2800" dirty="0"/>
              <a:t>服务器会首先访问</a:t>
            </a:r>
            <a:r>
              <a:rPr lang="en-US" altLang="zh-CN" sz="2800" dirty="0" err="1"/>
              <a:t>MemStore</a:t>
            </a:r>
            <a:r>
              <a:rPr lang="zh-CN" altLang="en-US" sz="2800" dirty="0"/>
              <a:t>缓存，如果找不到，再去磁盘上面的</a:t>
            </a:r>
            <a:r>
              <a:rPr lang="en-US" altLang="zh-CN" sz="2800" dirty="0" err="1"/>
              <a:t>StoreFile</a:t>
            </a:r>
            <a:r>
              <a:rPr lang="zh-CN" altLang="en-US" sz="2800" dirty="0"/>
              <a:t>中寻找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4.5.2	Region</a:t>
            </a:r>
            <a:r>
              <a:rPr lang="zh-CN" altLang="en-US" b="1"/>
              <a:t>服务器工作原理</a:t>
            </a:r>
            <a:endParaRPr lang="zh-CN" altLang="en-US" b="1"/>
          </a:p>
        </p:txBody>
      </p:sp>
      <p:sp>
        <p:nvSpPr>
          <p:cNvPr id="38915" name="Rectangle 8"/>
          <p:cNvSpPr>
            <a:spLocks noChangeArrowheads="1"/>
          </p:cNvSpPr>
          <p:nvPr/>
        </p:nvSpPr>
        <p:spPr bwMode="auto">
          <a:xfrm>
            <a:off x="981075" y="1586073"/>
            <a:ext cx="23660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800" b="1"/>
              <a:t>2. </a:t>
            </a:r>
            <a:r>
              <a:rPr lang="zh-CN" altLang="en-US" sz="2800" b="1"/>
              <a:t>缓存的刷新</a:t>
            </a:r>
            <a:endParaRPr lang="zh-CN" altLang="en-US" sz="2800" b="1"/>
          </a:p>
        </p:txBody>
      </p:sp>
      <p:sp>
        <p:nvSpPr>
          <p:cNvPr id="38916" name="TextBox 4"/>
          <p:cNvSpPr txBox="1">
            <a:spLocks noChangeArrowheads="1"/>
          </p:cNvSpPr>
          <p:nvPr/>
        </p:nvSpPr>
        <p:spPr bwMode="auto">
          <a:xfrm>
            <a:off x="1628775" y="2305050"/>
            <a:ext cx="896239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/>
              <a:t>系统会周期性地把</a:t>
            </a:r>
            <a:r>
              <a:rPr lang="en-US" altLang="zh-CN" sz="2400"/>
              <a:t>MemStore</a:t>
            </a:r>
            <a:r>
              <a:rPr lang="zh-CN" altLang="en-US" sz="2400"/>
              <a:t>缓存里的内容刷写到磁盘的</a:t>
            </a:r>
            <a:r>
              <a:rPr lang="en-US" altLang="zh-CN" sz="2400"/>
              <a:t>StoreFile</a:t>
            </a:r>
            <a:r>
              <a:rPr lang="zh-CN" altLang="en-US" sz="2400"/>
              <a:t>文件中，清空缓存，并在</a:t>
            </a:r>
            <a:r>
              <a:rPr lang="en-US" altLang="zh-CN" sz="2400"/>
              <a:t>Hlog</a:t>
            </a:r>
            <a:r>
              <a:rPr lang="zh-CN" altLang="en-US" sz="2400"/>
              <a:t>里面写入一个标记</a:t>
            </a:r>
            <a:endParaRPr lang="zh-CN" altLang="en-US" sz="240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/>
              <a:t>每次刷写都生成一个新的</a:t>
            </a:r>
            <a:r>
              <a:rPr lang="en-US" altLang="zh-CN" sz="2400"/>
              <a:t>StoreFile</a:t>
            </a:r>
            <a:r>
              <a:rPr lang="zh-CN" altLang="en-US" sz="2400"/>
              <a:t>文件，因此，每个</a:t>
            </a:r>
            <a:r>
              <a:rPr lang="en-US" altLang="zh-CN" sz="2400"/>
              <a:t>Store</a:t>
            </a:r>
            <a:r>
              <a:rPr lang="zh-CN" altLang="en-US" sz="2400"/>
              <a:t>包含多个</a:t>
            </a:r>
            <a:r>
              <a:rPr lang="en-US" altLang="zh-CN" sz="2400"/>
              <a:t>StoreFile</a:t>
            </a:r>
            <a:r>
              <a:rPr lang="zh-CN" altLang="en-US" sz="2400"/>
              <a:t>文件</a:t>
            </a:r>
            <a:endParaRPr lang="en-US" altLang="zh-CN" sz="240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/>
              <a:t>每个</a:t>
            </a:r>
            <a:r>
              <a:rPr lang="en-US" altLang="zh-CN" sz="2400"/>
              <a:t>Region</a:t>
            </a:r>
            <a:r>
              <a:rPr lang="zh-CN" altLang="en-US" sz="2400"/>
              <a:t>服务器都有一个自己的</a:t>
            </a:r>
            <a:r>
              <a:rPr lang="en-US" altLang="zh-CN" sz="2400"/>
              <a:t>HLog </a:t>
            </a:r>
            <a:r>
              <a:rPr lang="zh-CN" altLang="en-US" sz="2400"/>
              <a:t>文件，每次启动都检查该文件，确认最近一次执行缓存刷新操作之后是否发生新的写入操作；如果发现更新，则先写入</a:t>
            </a:r>
            <a:r>
              <a:rPr lang="en-US" altLang="zh-CN" sz="2400"/>
              <a:t>MemStore</a:t>
            </a:r>
            <a:r>
              <a:rPr lang="zh-CN" altLang="en-US" sz="2400"/>
              <a:t>，再刷写到</a:t>
            </a:r>
            <a:r>
              <a:rPr lang="en-US" altLang="zh-CN" sz="2400"/>
              <a:t>StoreFile</a:t>
            </a:r>
            <a:r>
              <a:rPr lang="zh-CN" altLang="en-US" sz="2400"/>
              <a:t>，最后删除旧的</a:t>
            </a:r>
            <a:r>
              <a:rPr lang="en-US" altLang="zh-CN" sz="2400"/>
              <a:t>Hlog</a:t>
            </a:r>
            <a:r>
              <a:rPr lang="zh-CN" altLang="en-US" sz="2400"/>
              <a:t>文件，开始为用户提供服务</a:t>
            </a:r>
            <a:endParaRPr lang="zh-CN" alt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4.5.2	Region</a:t>
            </a:r>
            <a:r>
              <a:rPr lang="zh-CN" altLang="en-US" b="1"/>
              <a:t>服务器工作原理</a:t>
            </a:r>
            <a:endParaRPr lang="zh-CN" altLang="en-US" b="1"/>
          </a:p>
        </p:txBody>
      </p:sp>
      <p:sp>
        <p:nvSpPr>
          <p:cNvPr id="39939" name="Rectangle 9"/>
          <p:cNvSpPr>
            <a:spLocks noChangeArrowheads="1"/>
          </p:cNvSpPr>
          <p:nvPr/>
        </p:nvSpPr>
        <p:spPr bwMode="auto">
          <a:xfrm>
            <a:off x="971551" y="1614013"/>
            <a:ext cx="31724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800" b="1"/>
              <a:t>3. StoreFile</a:t>
            </a:r>
            <a:r>
              <a:rPr lang="zh-CN" altLang="en-US" sz="2800" b="1"/>
              <a:t>的合并</a:t>
            </a:r>
            <a:endParaRPr lang="zh-CN" altLang="en-US" sz="2800" b="1"/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43050" y="2315846"/>
            <a:ext cx="8519795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/>
              <a:t>每次刷写都生成一个新的</a:t>
            </a:r>
            <a:r>
              <a:rPr lang="en-US" altLang="zh-CN" sz="2400"/>
              <a:t>StoreFile</a:t>
            </a:r>
            <a:r>
              <a:rPr lang="zh-CN" altLang="en-US" sz="2400"/>
              <a:t>，数量太多，影响查找速度</a:t>
            </a:r>
            <a:endParaRPr lang="zh-CN" altLang="en-US" sz="240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/>
              <a:t>调用</a:t>
            </a:r>
            <a:r>
              <a:rPr lang="en-US" altLang="zh-CN" sz="2400"/>
              <a:t>Store.compact()</a:t>
            </a:r>
            <a:r>
              <a:rPr lang="zh-CN" altLang="en-US" sz="2400"/>
              <a:t>把多个合并成一个</a:t>
            </a:r>
            <a:endParaRPr lang="zh-CN" altLang="en-US" sz="240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/>
              <a:t>合并操作比较耗费资源，只有数量达到一个阈值才启动合并</a:t>
            </a:r>
            <a:endParaRPr lang="zh-CN" alt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>
            <p:custDataLst>
              <p:tags r:id="rId1"/>
            </p:custDataLst>
          </p:nvPr>
        </p:nvSpPr>
        <p:spPr>
          <a:xfrm>
            <a:off x="1268362" y="1425678"/>
            <a:ext cx="7443019" cy="53389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4.5.2	Region</a:t>
            </a:r>
            <a:r>
              <a:rPr lang="zh-CN" altLang="en-US" b="1"/>
              <a:t>服务器工作原理</a:t>
            </a:r>
            <a:endParaRPr lang="zh-CN" altLang="en-US" b="1"/>
          </a:p>
        </p:txBody>
      </p:sp>
      <p:sp>
        <p:nvSpPr>
          <p:cNvPr id="29" name="流程图: 多文档 28"/>
          <p:cNvSpPr/>
          <p:nvPr/>
        </p:nvSpPr>
        <p:spPr>
          <a:xfrm>
            <a:off x="1510483" y="1514169"/>
            <a:ext cx="6872747" cy="5161934"/>
          </a:xfrm>
          <a:prstGeom prst="flowChartMultidocument">
            <a:avLst/>
          </a:prstGeom>
          <a:solidFill>
            <a:srgbClr val="F2F2F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401383" y="6125776"/>
            <a:ext cx="32239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Region</a:t>
            </a:r>
            <a:r>
              <a:rPr lang="zh-CN" altLang="en-US" sz="2800" dirty="0"/>
              <a:t>服务器集群</a:t>
            </a:r>
            <a:endParaRPr lang="zh-CN" altLang="en-US" sz="2800" dirty="0"/>
          </a:p>
        </p:txBody>
      </p:sp>
      <p:sp>
        <p:nvSpPr>
          <p:cNvPr id="31" name="文本框 30"/>
          <p:cNvSpPr txBox="1"/>
          <p:nvPr/>
        </p:nvSpPr>
        <p:spPr>
          <a:xfrm>
            <a:off x="6956640" y="1922465"/>
            <a:ext cx="6507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b="1" dirty="0"/>
              <a:t>…</a:t>
            </a:r>
            <a:endParaRPr lang="zh-CN" altLang="en-US" sz="2800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6553198" y="1534879"/>
            <a:ext cx="183003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dirty="0"/>
              <a:t>Region</a:t>
            </a:r>
            <a:r>
              <a:rPr lang="zh-CN" altLang="en-US" sz="2000" dirty="0"/>
              <a:t>服务器</a:t>
            </a:r>
            <a:endParaRPr lang="zh-CN" altLang="en-US" sz="20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1621191" y="2430739"/>
            <a:ext cx="5698150" cy="3362851"/>
            <a:chOff x="1268362" y="1425678"/>
            <a:chExt cx="9006346" cy="5338916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1268362" y="1425678"/>
              <a:ext cx="8947354" cy="5338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3" name="流程图: 多文档 2"/>
            <p:cNvSpPr/>
            <p:nvPr/>
          </p:nvSpPr>
          <p:spPr>
            <a:xfrm>
              <a:off x="3018503" y="1514169"/>
              <a:ext cx="5506064" cy="5161934"/>
            </a:xfrm>
            <a:prstGeom prst="flowChartMultidocumen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671439" y="1514169"/>
              <a:ext cx="1603269" cy="1026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Region</a:t>
              </a:r>
              <a:endParaRPr lang="en-US" altLang="zh-CN" dirty="0"/>
            </a:p>
            <a:p>
              <a:r>
                <a:rPr lang="zh-CN" altLang="en-US" dirty="0"/>
                <a:t>服务器</a:t>
              </a:r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86097" y="2373692"/>
              <a:ext cx="1269591" cy="48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Region</a:t>
              </a:r>
              <a:endParaRPr lang="en-US" altLang="zh-CN" sz="1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409331" y="1945056"/>
              <a:ext cx="1269592" cy="52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…</a:t>
              </a:r>
              <a:endParaRPr lang="zh-CN" altLang="en-US" sz="1600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82509" y="1436919"/>
              <a:ext cx="1269591" cy="48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Region</a:t>
              </a:r>
              <a:endParaRPr lang="en-US" altLang="zh-CN" sz="14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1573772" y="1860150"/>
              <a:ext cx="1161436" cy="463272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Hlog</a:t>
              </a:r>
              <a:endParaRPr lang="en-US" altLang="zh-CN" sz="16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245255" y="3081083"/>
              <a:ext cx="1720035" cy="25233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Store</a:t>
              </a:r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zh-CN" altLang="en-US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5771535" y="3057641"/>
              <a:ext cx="1802371" cy="25467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Store</a:t>
              </a:r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en-US" altLang="zh-CN" sz="1600" dirty="0"/>
            </a:p>
            <a:p>
              <a:pPr algn="ctr"/>
              <a:endParaRPr lang="en-US" altLang="zh-CN" sz="160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123217" y="3891008"/>
              <a:ext cx="501446" cy="576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6" name="流程图: 可选过程 15"/>
            <p:cNvSpPr/>
            <p:nvPr>
              <p:custDataLst>
                <p:tags r:id="rId3"/>
              </p:custDataLst>
            </p:nvPr>
          </p:nvSpPr>
          <p:spPr>
            <a:xfrm>
              <a:off x="5985335" y="3555886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200" dirty="0" err="1"/>
                <a:t>MemStore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流程图: 可选过程 16"/>
            <p:cNvSpPr/>
            <p:nvPr>
              <p:custDataLst>
                <p:tags r:id="rId4"/>
              </p:custDataLst>
            </p:nvPr>
          </p:nvSpPr>
          <p:spPr>
            <a:xfrm>
              <a:off x="5985335" y="4022532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200" dirty="0" err="1"/>
                <a:t>StoreFile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流程图: 可选过程 17"/>
            <p:cNvSpPr/>
            <p:nvPr>
              <p:custDataLst>
                <p:tags r:id="rId5"/>
              </p:custDataLst>
            </p:nvPr>
          </p:nvSpPr>
          <p:spPr>
            <a:xfrm>
              <a:off x="5985335" y="4516610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流程图: 可选过程 18"/>
            <p:cNvSpPr/>
            <p:nvPr>
              <p:custDataLst>
                <p:tags r:id="rId6"/>
              </p:custDataLst>
            </p:nvPr>
          </p:nvSpPr>
          <p:spPr>
            <a:xfrm>
              <a:off x="5985335" y="4986370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200" dirty="0" err="1"/>
                <a:t>StoreFile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流程图: 可选过程 22"/>
            <p:cNvSpPr/>
            <p:nvPr>
              <p:custDataLst>
                <p:tags r:id="rId7"/>
              </p:custDataLst>
            </p:nvPr>
          </p:nvSpPr>
          <p:spPr>
            <a:xfrm>
              <a:off x="3357612" y="3589221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200" dirty="0" err="1"/>
                <a:t>MemStore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流程图: 可选过程 23"/>
            <p:cNvSpPr/>
            <p:nvPr>
              <p:custDataLst>
                <p:tags r:id="rId8"/>
              </p:custDataLst>
            </p:nvPr>
          </p:nvSpPr>
          <p:spPr>
            <a:xfrm>
              <a:off x="3357612" y="4055867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200" dirty="0" err="1"/>
                <a:t>StoreFile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流程图: 可选过程 24"/>
            <p:cNvSpPr/>
            <p:nvPr>
              <p:custDataLst>
                <p:tags r:id="rId9"/>
              </p:custDataLst>
            </p:nvPr>
          </p:nvSpPr>
          <p:spPr>
            <a:xfrm>
              <a:off x="3357612" y="4549945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流程图: 可选过程 25"/>
            <p:cNvSpPr/>
            <p:nvPr>
              <p:custDataLst>
                <p:tags r:id="rId10"/>
              </p:custDataLst>
            </p:nvPr>
          </p:nvSpPr>
          <p:spPr>
            <a:xfrm>
              <a:off x="3357612" y="5019705"/>
              <a:ext cx="1460192" cy="398980"/>
            </a:xfrm>
            <a:prstGeom prst="flowChartAlternateProcess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1200" dirty="0" err="1"/>
                <a:t>StoreFile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3" name="表格 33"/>
          <p:cNvGraphicFramePr>
            <a:graphicFrameLocks noGrp="1"/>
          </p:cNvGraphicFramePr>
          <p:nvPr/>
        </p:nvGraphicFramePr>
        <p:xfrm>
          <a:off x="10018737" y="1534879"/>
          <a:ext cx="1692163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1275603"/>
                <a:gridCol w="208280"/>
              </a:tblGrid>
              <a:tr h="511412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HDFS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 anchor="ctr"/>
                </a:tc>
                <a:tc hMerge="1">
                  <a:tcPr anchor="ctr"/>
                </a:tc>
              </a:tr>
              <a:tr h="511412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HFile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D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HFile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D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 err="1"/>
                        <a:t>HFile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D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…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D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  <a:tr h="5114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对话气泡: 圆角矩形 33"/>
          <p:cNvSpPr/>
          <p:nvPr/>
        </p:nvSpPr>
        <p:spPr>
          <a:xfrm>
            <a:off x="8408372" y="1649094"/>
            <a:ext cx="1830031" cy="835417"/>
          </a:xfrm>
          <a:prstGeom prst="wedgeRoundRectCallout">
            <a:avLst>
              <a:gd name="adj1" fmla="val 62911"/>
              <a:gd name="adj2" fmla="val 9074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Hadoop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的二进制格式文件</a:t>
            </a:r>
            <a:endParaRPr lang="zh-CN" altLang="en-US" sz="2000" dirty="0"/>
          </a:p>
        </p:txBody>
      </p:sp>
      <p:cxnSp>
        <p:nvCxnSpPr>
          <p:cNvPr id="36" name="直接箭头连接符 35"/>
          <p:cNvCxnSpPr>
            <a:stCxn id="17" idx="3"/>
          </p:cNvCxnSpPr>
          <p:nvPr/>
        </p:nvCxnSpPr>
        <p:spPr>
          <a:xfrm flipV="1">
            <a:off x="5529370" y="2900204"/>
            <a:ext cx="4705945" cy="12918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5529370" y="3898158"/>
            <a:ext cx="4705945" cy="9010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5" idx="3"/>
          </p:cNvCxnSpPr>
          <p:nvPr/>
        </p:nvCxnSpPr>
        <p:spPr>
          <a:xfrm>
            <a:off x="3866858" y="4524291"/>
            <a:ext cx="6371545" cy="13937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  <p:bldP spid="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4.5.3	Store</a:t>
            </a:r>
            <a:r>
              <a:rPr lang="zh-CN" altLang="en-US" b="1"/>
              <a:t>工作原理</a:t>
            </a:r>
            <a:endParaRPr lang="zh-CN" altLang="en-US" b="1"/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745" y="3334385"/>
            <a:ext cx="9532620" cy="2319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5"/>
          <p:cNvSpPr>
            <a:spLocks noChangeArrowheads="1"/>
          </p:cNvSpPr>
          <p:nvPr/>
        </p:nvSpPr>
        <p:spPr bwMode="auto">
          <a:xfrm>
            <a:off x="4037330" y="5768182"/>
            <a:ext cx="4902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zh-CN" altLang="en-US" sz="2400"/>
              <a:t>图</a:t>
            </a:r>
            <a:r>
              <a:rPr lang="en-US" altLang="zh-CN" sz="2400"/>
              <a:t>4-11 StoreFile</a:t>
            </a:r>
            <a:r>
              <a:rPr lang="zh-CN" altLang="en-US" sz="2400"/>
              <a:t>的合并和分裂过程 </a:t>
            </a:r>
            <a:endParaRPr lang="zh-CN" altLang="en-US" sz="2400"/>
          </a:p>
        </p:txBody>
      </p:sp>
      <p:sp>
        <p:nvSpPr>
          <p:cNvPr id="40965" name="TextBox 4"/>
          <p:cNvSpPr txBox="1">
            <a:spLocks noChangeArrowheads="1"/>
          </p:cNvSpPr>
          <p:nvPr/>
        </p:nvSpPr>
        <p:spPr bwMode="auto">
          <a:xfrm>
            <a:off x="838200" y="1541591"/>
            <a:ext cx="11455399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Store</a:t>
            </a:r>
            <a:r>
              <a:rPr lang="zh-CN" altLang="en-US" sz="2400" dirty="0"/>
              <a:t>是</a:t>
            </a:r>
            <a:r>
              <a:rPr lang="en-US" altLang="zh-CN" sz="2400" dirty="0"/>
              <a:t>Region</a:t>
            </a:r>
            <a:r>
              <a:rPr lang="zh-CN" altLang="en-US" sz="2400" dirty="0"/>
              <a:t>服务器的核心</a:t>
            </a:r>
            <a:endParaRPr lang="en-US" altLang="zh-CN" sz="2400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err="1"/>
              <a:t>StoreFile</a:t>
            </a:r>
            <a:r>
              <a:rPr lang="zh-CN" altLang="en-US" sz="2400" dirty="0"/>
              <a:t>数量过多触发合并</a:t>
            </a:r>
            <a:endParaRPr lang="en-US" altLang="zh-CN" sz="24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单个</a:t>
            </a:r>
            <a:r>
              <a:rPr lang="en-US" altLang="zh-CN" sz="2400" dirty="0" err="1"/>
              <a:t>StoreFile</a:t>
            </a:r>
            <a:r>
              <a:rPr lang="zh-CN" altLang="en-US" sz="2400" dirty="0"/>
              <a:t>过大时，又触发文件分裂操作，同时</a:t>
            </a:r>
            <a:r>
              <a:rPr lang="zh-CN" altLang="en-US" sz="2400" dirty="0">
                <a:highlight>
                  <a:srgbClr val="FFFF00"/>
                </a:highlight>
              </a:rPr>
              <a:t>父</a:t>
            </a:r>
            <a:r>
              <a:rPr lang="en-US" altLang="zh-CN" sz="2400" dirty="0">
                <a:highlight>
                  <a:srgbClr val="FFFF00"/>
                </a:highlight>
              </a:rPr>
              <a:t>Region</a:t>
            </a:r>
            <a:r>
              <a:rPr lang="zh-CN" altLang="en-US" sz="2400" dirty="0"/>
              <a:t>分裂成两个子</a:t>
            </a:r>
            <a:r>
              <a:rPr lang="en-US" altLang="zh-CN" sz="2400" dirty="0"/>
              <a:t>Region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4.5.4	HLog</a:t>
            </a:r>
            <a:r>
              <a:rPr lang="zh-CN" altLang="en-US" b="1"/>
              <a:t>工作原理</a:t>
            </a:r>
            <a:endParaRPr lang="zh-CN" altLang="en-US" b="1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1381" y="1533525"/>
            <a:ext cx="9281651" cy="178977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zh-CN" altLang="en-US" sz="2400" dirty="0"/>
              <a:t>分布式环境必须要考虑系统出错。</a:t>
            </a:r>
            <a:r>
              <a:rPr lang="en-US" altLang="zh-CN" sz="2400" dirty="0"/>
              <a:t>HBase</a:t>
            </a:r>
            <a:r>
              <a:rPr lang="zh-CN" altLang="en-US" sz="2400" dirty="0"/>
              <a:t>采用</a:t>
            </a:r>
            <a:r>
              <a:rPr lang="en-US" altLang="zh-CN" sz="2400" dirty="0" err="1"/>
              <a:t>HLog</a:t>
            </a:r>
            <a:r>
              <a:rPr lang="zh-CN" altLang="en-US" sz="2400" dirty="0"/>
              <a:t>保证系统恢复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HBase</a:t>
            </a:r>
            <a:r>
              <a:rPr lang="zh-CN" altLang="en-US" sz="2400" dirty="0"/>
              <a:t>系统为每个</a:t>
            </a:r>
            <a:r>
              <a:rPr lang="en-US" altLang="zh-CN" sz="2400" dirty="0"/>
              <a:t>Region</a:t>
            </a:r>
            <a:r>
              <a:rPr lang="zh-CN" altLang="en-US" sz="2400" dirty="0"/>
              <a:t>服务器配置了</a:t>
            </a:r>
            <a:r>
              <a:rPr lang="zh-CN" altLang="en-US" sz="2400" dirty="0">
                <a:highlight>
                  <a:srgbClr val="FFFF00"/>
                </a:highlight>
              </a:rPr>
              <a:t>一个</a:t>
            </a:r>
            <a:r>
              <a:rPr lang="en-US" altLang="zh-CN" sz="2400" dirty="0" err="1">
                <a:highlight>
                  <a:srgbClr val="FFFF00"/>
                </a:highlight>
              </a:rPr>
              <a:t>HLog</a:t>
            </a:r>
            <a:r>
              <a:rPr lang="zh-CN" altLang="en-US" sz="2400" dirty="0">
                <a:highlight>
                  <a:srgbClr val="FFFF00"/>
                </a:highlight>
              </a:rPr>
              <a:t>文件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它是一种预写式日志（</a:t>
            </a:r>
            <a:r>
              <a:rPr lang="en-US" altLang="zh-CN" sz="2400" dirty="0"/>
              <a:t>Write Ahead Log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sp>
        <p:nvSpPr>
          <p:cNvPr id="2" name="流程图: 可选过程 1"/>
          <p:cNvSpPr/>
          <p:nvPr>
            <p:custDataLst>
              <p:tags r:id="rId1"/>
            </p:custDataLst>
          </p:nvPr>
        </p:nvSpPr>
        <p:spPr>
          <a:xfrm>
            <a:off x="1637415" y="4812048"/>
            <a:ext cx="1673674" cy="812818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用户更新数据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流程图: 可选过程 2"/>
          <p:cNvSpPr/>
          <p:nvPr>
            <p:custDataLst>
              <p:tags r:id="rId2"/>
            </p:custDataLst>
          </p:nvPr>
        </p:nvSpPr>
        <p:spPr>
          <a:xfrm>
            <a:off x="4161450" y="4292213"/>
            <a:ext cx="1919801" cy="39898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 err="1"/>
              <a:t>HLog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流程图: 可选过程 3"/>
          <p:cNvSpPr/>
          <p:nvPr>
            <p:custDataLst>
              <p:tags r:id="rId3"/>
            </p:custDataLst>
          </p:nvPr>
        </p:nvSpPr>
        <p:spPr>
          <a:xfrm>
            <a:off x="6931614" y="3743651"/>
            <a:ext cx="1919801" cy="39898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 err="1"/>
              <a:t>MemStore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流程图: 可选过程 4"/>
          <p:cNvSpPr/>
          <p:nvPr>
            <p:custDataLst>
              <p:tags r:id="rId4"/>
            </p:custDataLst>
          </p:nvPr>
        </p:nvSpPr>
        <p:spPr>
          <a:xfrm>
            <a:off x="4161450" y="5775246"/>
            <a:ext cx="1919801" cy="39898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磁盘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可选过程 5"/>
          <p:cNvSpPr/>
          <p:nvPr>
            <p:custDataLst>
              <p:tags r:id="rId5"/>
            </p:custDataLst>
          </p:nvPr>
        </p:nvSpPr>
        <p:spPr>
          <a:xfrm>
            <a:off x="6931615" y="5775246"/>
            <a:ext cx="1919801" cy="39898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磁盘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>
            <a:stCxn id="2" idx="3"/>
            <a:endCxn id="3" idx="1"/>
          </p:cNvCxnSpPr>
          <p:nvPr/>
        </p:nvCxnSpPr>
        <p:spPr>
          <a:xfrm flipV="1">
            <a:off x="3311089" y="4491703"/>
            <a:ext cx="850361" cy="7267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/>
          <p:cNvCxnSpPr>
            <a:stCxn id="2" idx="0"/>
            <a:endCxn id="4" idx="1"/>
          </p:cNvCxnSpPr>
          <p:nvPr/>
        </p:nvCxnSpPr>
        <p:spPr>
          <a:xfrm rot="5400000" flipH="1" flipV="1">
            <a:off x="4268480" y="2148914"/>
            <a:ext cx="868907" cy="445736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3" idx="2"/>
            <a:endCxn id="5" idx="0"/>
          </p:cNvCxnSpPr>
          <p:nvPr/>
        </p:nvCxnSpPr>
        <p:spPr>
          <a:xfrm>
            <a:off x="5121351" y="4691193"/>
            <a:ext cx="0" cy="10840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" idx="2"/>
            <a:endCxn id="6" idx="0"/>
          </p:cNvCxnSpPr>
          <p:nvPr/>
        </p:nvCxnSpPr>
        <p:spPr>
          <a:xfrm>
            <a:off x="7891515" y="4142631"/>
            <a:ext cx="1" cy="1632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631350" y="4798056"/>
            <a:ext cx="4083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3200" b="1" dirty="0"/>
              <a:t>1</a:t>
            </a:r>
            <a:endParaRPr lang="zh-CN" altLang="en-US" sz="32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4915204" y="3479396"/>
            <a:ext cx="4083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3200" b="1" dirty="0"/>
              <a:t>2</a:t>
            </a:r>
            <a:endParaRPr lang="zh-CN" altLang="en-US" sz="32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5154920" y="4926070"/>
            <a:ext cx="4083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3200" b="1" dirty="0"/>
              <a:t>3</a:t>
            </a:r>
            <a:endParaRPr lang="zh-CN" altLang="en-US" sz="32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7960507" y="4708898"/>
            <a:ext cx="4083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3200" b="1" dirty="0"/>
              <a:t>4</a:t>
            </a:r>
            <a:endParaRPr lang="zh-CN" altLang="en-US" sz="3200" b="1" dirty="0"/>
          </a:p>
        </p:txBody>
      </p:sp>
      <p:sp>
        <p:nvSpPr>
          <p:cNvPr id="33" name="对话气泡: 圆角矩形 32"/>
          <p:cNvSpPr/>
          <p:nvPr/>
        </p:nvSpPr>
        <p:spPr>
          <a:xfrm>
            <a:off x="9436509" y="1973595"/>
            <a:ext cx="2379407" cy="1066801"/>
          </a:xfrm>
          <a:prstGeom prst="wedgeRoundRectCallout">
            <a:avLst>
              <a:gd name="adj1" fmla="val -146039"/>
              <a:gd name="adj2" fmla="val -2937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kern="0" dirty="0"/>
              <a:t>共用日志优点：</a:t>
            </a:r>
            <a:endParaRPr lang="en-US" altLang="zh-CN" sz="2400" kern="0" dirty="0"/>
          </a:p>
          <a:p>
            <a:pPr algn="ctr"/>
            <a:r>
              <a:rPr lang="zh-CN" altLang="en-US" sz="2400" kern="0" dirty="0"/>
              <a:t>提高对表的写操作性能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22" grpId="0"/>
      <p:bldP spid="23" grpId="0"/>
      <p:bldP spid="26" grpId="0"/>
      <p:bldP spid="27" grpId="0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4.5.4	HLog</a:t>
            </a:r>
            <a:r>
              <a:rPr lang="zh-CN" altLang="en-US" b="1"/>
              <a:t>工作原理</a:t>
            </a:r>
            <a:endParaRPr lang="zh-CN" altLang="en-US" b="1"/>
          </a:p>
        </p:txBody>
      </p:sp>
      <p:sp>
        <p:nvSpPr>
          <p:cNvPr id="2" name="流程图: 可选过程 1"/>
          <p:cNvSpPr/>
          <p:nvPr>
            <p:custDataLst>
              <p:tags r:id="rId1"/>
            </p:custDataLst>
          </p:nvPr>
        </p:nvSpPr>
        <p:spPr>
          <a:xfrm>
            <a:off x="4198374" y="1690688"/>
            <a:ext cx="3048000" cy="62972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/>
              <a:t>Zookeeper</a:t>
            </a:r>
            <a:r>
              <a:rPr lang="zh-CN" altLang="en-US" sz="2800" dirty="0"/>
              <a:t>服务器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4902102" y="4787272"/>
            <a:ext cx="1625600" cy="779742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Master</a:t>
            </a:r>
            <a:endParaRPr lang="zh-CN" altLang="en-US" sz="28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13" y="4083971"/>
            <a:ext cx="3379758" cy="2166681"/>
          </a:xfrm>
          <a:prstGeom prst="rect">
            <a:avLst/>
          </a:prstGeom>
        </p:spPr>
      </p:pic>
      <p:sp>
        <p:nvSpPr>
          <p:cNvPr id="28" name="流程图: 可选过程 27"/>
          <p:cNvSpPr/>
          <p:nvPr>
            <p:custDataLst>
              <p:tags r:id="rId3"/>
            </p:custDataLst>
          </p:nvPr>
        </p:nvSpPr>
        <p:spPr>
          <a:xfrm rot="20091172">
            <a:off x="2785052" y="2701389"/>
            <a:ext cx="1761569" cy="629725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监测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流程图: 可选过程 28"/>
          <p:cNvSpPr/>
          <p:nvPr>
            <p:custDataLst>
              <p:tags r:id="rId4"/>
            </p:custDataLst>
          </p:nvPr>
        </p:nvSpPr>
        <p:spPr>
          <a:xfrm>
            <a:off x="3912262" y="4547418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追责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0" name="直接箭头连接符 29"/>
          <p:cNvCxnSpPr>
            <a:stCxn id="2" idx="2"/>
            <a:endCxn id="27" idx="0"/>
          </p:cNvCxnSpPr>
          <p:nvPr/>
        </p:nvCxnSpPr>
        <p:spPr>
          <a:xfrm flipH="1">
            <a:off x="2233192" y="2320413"/>
            <a:ext cx="3489182" cy="1763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" idx="2"/>
            <a:endCxn id="6" idx="0"/>
          </p:cNvCxnSpPr>
          <p:nvPr/>
        </p:nvCxnSpPr>
        <p:spPr>
          <a:xfrm flipH="1">
            <a:off x="5714902" y="2320413"/>
            <a:ext cx="7472" cy="24668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6" idx="1"/>
            <a:endCxn id="27" idx="3"/>
          </p:cNvCxnSpPr>
          <p:nvPr/>
        </p:nvCxnSpPr>
        <p:spPr>
          <a:xfrm flipH="1" flipV="1">
            <a:off x="3923071" y="5167312"/>
            <a:ext cx="979031" cy="9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854459" y="4074139"/>
            <a:ext cx="3301181" cy="2217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流程图: 可选过程 40"/>
          <p:cNvSpPr/>
          <p:nvPr>
            <p:custDataLst>
              <p:tags r:id="rId5"/>
            </p:custDataLst>
          </p:nvPr>
        </p:nvSpPr>
        <p:spPr>
          <a:xfrm>
            <a:off x="7992215" y="4093803"/>
            <a:ext cx="3025668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服务器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流程图: 可选过程 41"/>
          <p:cNvSpPr/>
          <p:nvPr>
            <p:custDataLst>
              <p:tags r:id="rId6"/>
            </p:custDataLst>
          </p:nvPr>
        </p:nvSpPr>
        <p:spPr>
          <a:xfrm>
            <a:off x="6572948" y="4547418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恢复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3" name="直接箭头连接符 42"/>
          <p:cNvCxnSpPr>
            <a:stCxn id="6" idx="3"/>
            <a:endCxn id="40" idx="1"/>
          </p:cNvCxnSpPr>
          <p:nvPr/>
        </p:nvCxnSpPr>
        <p:spPr>
          <a:xfrm>
            <a:off x="6527702" y="5177143"/>
            <a:ext cx="1326757" cy="5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/>
          <p:cNvCxnSpPr>
            <a:stCxn id="29" idx="0"/>
          </p:cNvCxnSpPr>
          <p:nvPr/>
        </p:nvCxnSpPr>
        <p:spPr>
          <a:xfrm rot="16200000" flipH="1" flipV="1">
            <a:off x="2410636" y="2974982"/>
            <a:ext cx="467034" cy="3611906"/>
          </a:xfrm>
          <a:prstGeom prst="curvedConnector4">
            <a:avLst>
              <a:gd name="adj1" fmla="val -48947"/>
              <a:gd name="adj2" fmla="val 57445"/>
            </a:avLst>
          </a:prstGeom>
          <a:ln w="381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可选过程 56"/>
          <p:cNvSpPr/>
          <p:nvPr>
            <p:custDataLst>
              <p:tags r:id="rId7"/>
            </p:custDataLst>
          </p:nvPr>
        </p:nvSpPr>
        <p:spPr>
          <a:xfrm>
            <a:off x="5686072" y="3238980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通知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流程图: 文档 57"/>
          <p:cNvSpPr/>
          <p:nvPr/>
        </p:nvSpPr>
        <p:spPr>
          <a:xfrm>
            <a:off x="8775625" y="4743192"/>
            <a:ext cx="1567910" cy="1501875"/>
          </a:xfrm>
          <a:prstGeom prst="flowChartDocumen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重做日志的</a:t>
            </a:r>
            <a:r>
              <a:rPr lang="en-US" altLang="zh-CN" sz="2400" dirty="0">
                <a:sym typeface="+mn-ea"/>
              </a:rPr>
              <a:t>Region</a:t>
            </a:r>
            <a:endParaRPr lang="zh-CN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7850892" y="1021805"/>
            <a:ext cx="3301181" cy="2217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流程图: 可选过程 59"/>
          <p:cNvSpPr/>
          <p:nvPr>
            <p:custDataLst>
              <p:tags r:id="rId8"/>
            </p:custDataLst>
          </p:nvPr>
        </p:nvSpPr>
        <p:spPr>
          <a:xfrm>
            <a:off x="7988648" y="1041469"/>
            <a:ext cx="3025668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服务器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流程图: 可选过程 60"/>
          <p:cNvSpPr/>
          <p:nvPr>
            <p:custDataLst>
              <p:tags r:id="rId9"/>
            </p:custDataLst>
          </p:nvPr>
        </p:nvSpPr>
        <p:spPr>
          <a:xfrm>
            <a:off x="9021736" y="3341697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en-US" altLang="zh-CN" sz="4000" b="1" dirty="0">
                <a:sym typeface="+mn-ea"/>
              </a:rPr>
              <a:t>…</a:t>
            </a:r>
            <a:endParaRPr kumimoji="0" lang="en-US" altLang="zh-CN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3" name="直接箭头连接符 62"/>
          <p:cNvCxnSpPr>
            <a:stCxn id="2" idx="3"/>
            <a:endCxn id="59" idx="1"/>
          </p:cNvCxnSpPr>
          <p:nvPr/>
        </p:nvCxnSpPr>
        <p:spPr>
          <a:xfrm>
            <a:off x="7246374" y="2005551"/>
            <a:ext cx="604518" cy="124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11" name="直接箭头连接符 43010"/>
          <p:cNvCxnSpPr>
            <a:stCxn id="2" idx="3"/>
          </p:cNvCxnSpPr>
          <p:nvPr/>
        </p:nvCxnSpPr>
        <p:spPr>
          <a:xfrm>
            <a:off x="7246374" y="2005551"/>
            <a:ext cx="604518" cy="2048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14" name="直接箭头连接符 43013"/>
          <p:cNvCxnSpPr>
            <a:stCxn id="2" idx="3"/>
            <a:endCxn id="61" idx="1"/>
          </p:cNvCxnSpPr>
          <p:nvPr/>
        </p:nvCxnSpPr>
        <p:spPr>
          <a:xfrm>
            <a:off x="7246374" y="2005551"/>
            <a:ext cx="1775362" cy="1651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9" name="流程图: 可选过程 43018"/>
          <p:cNvSpPr/>
          <p:nvPr>
            <p:custDataLst>
              <p:tags r:id="rId10"/>
            </p:custDataLst>
          </p:nvPr>
        </p:nvSpPr>
        <p:spPr>
          <a:xfrm>
            <a:off x="7700499" y="4091008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可用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0" name="对话气泡: 圆角矩形 43019"/>
          <p:cNvSpPr/>
          <p:nvPr>
            <p:custDataLst>
              <p:tags r:id="rId11"/>
            </p:custDataLst>
          </p:nvPr>
        </p:nvSpPr>
        <p:spPr>
          <a:xfrm>
            <a:off x="101107" y="3117667"/>
            <a:ext cx="1075687" cy="872350"/>
          </a:xfrm>
          <a:prstGeom prst="wedgeRoundRectCallout">
            <a:avLst>
              <a:gd name="adj1" fmla="val 22127"/>
              <a:gd name="adj2" fmla="val 154922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分拆日志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1" name="对话气泡: 圆角矩形 43020"/>
          <p:cNvSpPr/>
          <p:nvPr/>
        </p:nvSpPr>
        <p:spPr>
          <a:xfrm>
            <a:off x="823203" y="2228722"/>
            <a:ext cx="2121913" cy="648093"/>
          </a:xfrm>
          <a:prstGeom prst="wedgeRoundRectCallout">
            <a:avLst>
              <a:gd name="adj1" fmla="val -38461"/>
              <a:gd name="adj2" fmla="val 97057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kern="0" dirty="0"/>
              <a:t>共用日志缺点</a:t>
            </a:r>
            <a:endParaRPr lang="en-US" altLang="zh-CN" sz="2400" kern="0" dirty="0"/>
          </a:p>
        </p:txBody>
      </p:sp>
      <p:sp>
        <p:nvSpPr>
          <p:cNvPr id="3" name="流程图: 可选过程 2"/>
          <p:cNvSpPr/>
          <p:nvPr/>
        </p:nvSpPr>
        <p:spPr>
          <a:xfrm>
            <a:off x="2836572" y="5617393"/>
            <a:ext cx="1075687" cy="629725"/>
          </a:xfrm>
          <a:prstGeom prst="flowChartAlternateProcess">
            <a:avLst/>
          </a:prstGeom>
          <a:ln w="57150"/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故障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/>
      <p:bldP spid="42" grpId="0"/>
      <p:bldP spid="57" grpId="0"/>
      <p:bldP spid="58" grpId="0" animBg="1"/>
      <p:bldP spid="43019" grpId="0"/>
      <p:bldP spid="43020" grpId="0" animBg="1"/>
      <p:bldP spid="43021" grpId="0" animBg="1"/>
      <p:bldP spid="3" grpId="0" animBg="1"/>
      <p:bldP spid="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4.6 HBase</a:t>
            </a:r>
            <a:r>
              <a:rPr lang="zh-CN" altLang="en-US" b="1" dirty="0"/>
              <a:t>编程实践</a:t>
            </a:r>
            <a:endParaRPr lang="zh-CN" altLang="en-US" b="1" dirty="0"/>
          </a:p>
        </p:txBody>
      </p:sp>
      <p:sp>
        <p:nvSpPr>
          <p:cNvPr id="59395" name="矩形 1"/>
          <p:cNvSpPr>
            <a:spLocks noChangeArrowheads="1"/>
          </p:cNvSpPr>
          <p:nvPr/>
        </p:nvSpPr>
        <p:spPr bwMode="auto">
          <a:xfrm>
            <a:off x="1369142" y="1295605"/>
            <a:ext cx="8001000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200000"/>
              </a:lnSpc>
              <a:spcAft>
                <a:spcPts val="0"/>
              </a:spcAft>
            </a:pPr>
            <a:r>
              <a:rPr lang="en-US" altLang="zh-CN" sz="2800" dirty="0"/>
              <a:t>4.6.1	HBase</a:t>
            </a:r>
            <a:r>
              <a:rPr lang="zh-CN" altLang="en-US" sz="2800" dirty="0"/>
              <a:t>常用</a:t>
            </a:r>
            <a:r>
              <a:rPr lang="en-US" altLang="zh-CN" sz="2800" dirty="0"/>
              <a:t>Shell</a:t>
            </a:r>
            <a:r>
              <a:rPr lang="zh-CN" altLang="en-US" sz="2800" dirty="0"/>
              <a:t>命令</a:t>
            </a:r>
            <a:endParaRPr lang="zh-CN" altLang="en-US" sz="2800" dirty="0"/>
          </a:p>
          <a:p>
            <a:pPr algn="just" eaLnBrk="1" hangingPunct="1">
              <a:lnSpc>
                <a:spcPct val="200000"/>
              </a:lnSpc>
              <a:spcBef>
                <a:spcPts val="0"/>
              </a:spcBef>
            </a:pPr>
            <a:r>
              <a:rPr lang="en-US" altLang="zh-CN" sz="2800" dirty="0"/>
              <a:t>4.6.2	HBase</a:t>
            </a:r>
            <a:r>
              <a:rPr lang="zh-CN" altLang="en-US" sz="2800" dirty="0"/>
              <a:t>常用</a:t>
            </a:r>
            <a:r>
              <a:rPr lang="en-US" altLang="zh-CN" sz="2800" dirty="0"/>
              <a:t>Java API</a:t>
            </a:r>
            <a:r>
              <a:rPr lang="zh-CN" altLang="en-US" sz="2800" dirty="0"/>
              <a:t>及应用实例</a:t>
            </a:r>
            <a:endParaRPr lang="en-US" altLang="zh-CN" sz="2800" dirty="0"/>
          </a:p>
        </p:txBody>
      </p:sp>
      <p:sp>
        <p:nvSpPr>
          <p:cNvPr id="2" name="矩形 4"/>
          <p:cNvSpPr>
            <a:spLocks noChangeArrowheads="1"/>
          </p:cNvSpPr>
          <p:nvPr/>
        </p:nvSpPr>
        <p:spPr bwMode="auto">
          <a:xfrm>
            <a:off x="1369142" y="3442765"/>
            <a:ext cx="66294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dirty="0"/>
              <a:t>下载安装包</a:t>
            </a:r>
            <a:r>
              <a:rPr lang="en-US" altLang="zh-CN" sz="2000" dirty="0"/>
              <a:t>hbase-2.2.2-bin.tar.gz</a:t>
            </a:r>
            <a:endParaRPr lang="en-US" altLang="zh-CN" sz="2000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解压安装包</a:t>
            </a:r>
            <a:r>
              <a:rPr lang="en-US" altLang="zh-CN" sz="2000" dirty="0"/>
              <a:t>hbase-2.2.2-bin.tar.gz</a:t>
            </a:r>
            <a:r>
              <a:rPr lang="zh-CN" altLang="en-US" sz="2000" dirty="0"/>
              <a:t>至路径 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/local</a:t>
            </a:r>
            <a:endParaRPr lang="en-US" altLang="zh-CN" sz="2000" dirty="0"/>
          </a:p>
          <a:p>
            <a:pPr eaLnBrk="1" hangingPunct="1">
              <a:spcBef>
                <a:spcPts val="0"/>
              </a:spcBef>
            </a:pPr>
            <a:r>
              <a:rPr lang="zh-CN" altLang="en-US" sz="2000" dirty="0"/>
              <a:t>配置系统环境</a:t>
            </a:r>
            <a:r>
              <a:rPr lang="en-US" altLang="zh-CN" sz="2000" dirty="0"/>
              <a:t>,</a:t>
            </a:r>
            <a:r>
              <a:rPr lang="zh-CN" altLang="en-US" sz="2000" dirty="0"/>
              <a:t>将</a:t>
            </a:r>
            <a:r>
              <a:rPr lang="en-US" altLang="zh-CN" sz="2000" dirty="0" err="1"/>
              <a:t>hbase</a:t>
            </a:r>
            <a:r>
              <a:rPr lang="zh-CN" altLang="en-US" sz="2000" dirty="0"/>
              <a:t>下的</a:t>
            </a:r>
            <a:r>
              <a:rPr lang="en-US" altLang="zh-CN" sz="2000" dirty="0"/>
              <a:t>bin</a:t>
            </a:r>
            <a:r>
              <a:rPr lang="zh-CN" altLang="en-US" sz="2000" dirty="0"/>
              <a:t>目录添加到系统的</a:t>
            </a:r>
            <a:r>
              <a:rPr lang="en-US" altLang="zh-CN" sz="2000" dirty="0"/>
              <a:t>path</a:t>
            </a:r>
            <a:r>
              <a:rPr lang="zh-CN" altLang="en-US" sz="2000" dirty="0"/>
              <a:t>中</a:t>
            </a:r>
            <a:endParaRPr lang="zh-CN" altLang="en-US" sz="2000" dirty="0"/>
          </a:p>
        </p:txBody>
      </p:sp>
      <p:sp>
        <p:nvSpPr>
          <p:cNvPr id="3" name="矩形 9"/>
          <p:cNvSpPr>
            <a:spLocks noChangeArrowheads="1"/>
          </p:cNvSpPr>
          <p:nvPr/>
        </p:nvSpPr>
        <p:spPr bwMode="auto">
          <a:xfrm>
            <a:off x="1369142" y="4573300"/>
            <a:ext cx="71628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dirty="0"/>
              <a:t>启动关闭</a:t>
            </a:r>
            <a:r>
              <a:rPr lang="en-US" altLang="zh-CN" sz="2000" dirty="0"/>
              <a:t>Hadoop</a:t>
            </a:r>
            <a:r>
              <a:rPr lang="zh-CN" altLang="en-US" sz="2000" dirty="0"/>
              <a:t>和</a:t>
            </a:r>
            <a:r>
              <a:rPr lang="en-US" altLang="zh-CN" sz="2000" dirty="0"/>
              <a:t>HBase</a:t>
            </a:r>
            <a:r>
              <a:rPr lang="zh-CN" altLang="en-US" sz="2000" dirty="0"/>
              <a:t>的顺序一定是：</a:t>
            </a:r>
            <a:br>
              <a:rPr lang="zh-CN" altLang="en-US" sz="2000" dirty="0"/>
            </a:br>
            <a:r>
              <a:rPr lang="zh-CN" altLang="en-US" sz="2000" dirty="0"/>
              <a:t>启动</a:t>
            </a:r>
            <a:r>
              <a:rPr lang="en-US" altLang="zh-CN" sz="2000" dirty="0"/>
              <a:t>Hadoop—&gt;</a:t>
            </a:r>
            <a:r>
              <a:rPr lang="zh-CN" altLang="en-US" sz="2000" dirty="0"/>
              <a:t>启动</a:t>
            </a:r>
            <a:r>
              <a:rPr lang="en-US" altLang="zh-CN" sz="2000" dirty="0"/>
              <a:t>HBase—&gt;</a:t>
            </a:r>
            <a:r>
              <a:rPr lang="zh-CN" altLang="en-US" sz="2000" dirty="0"/>
              <a:t>关闭</a:t>
            </a:r>
            <a:r>
              <a:rPr lang="en-US" altLang="zh-CN" sz="2000" dirty="0"/>
              <a:t>HBase—&gt;</a:t>
            </a:r>
            <a:r>
              <a:rPr lang="zh-CN" altLang="en-US" sz="2000" dirty="0"/>
              <a:t>关闭</a:t>
            </a:r>
            <a:r>
              <a:rPr lang="en-US" altLang="zh-CN" sz="2000" dirty="0"/>
              <a:t>Hadoop</a:t>
            </a:r>
            <a:endParaRPr lang="zh-CN" altLang="en-US" sz="2000" dirty="0"/>
          </a:p>
        </p:txBody>
      </p:sp>
      <p:sp>
        <p:nvSpPr>
          <p:cNvPr id="4" name="矩形 9"/>
          <p:cNvSpPr>
            <a:spLocks noChangeArrowheads="1"/>
          </p:cNvSpPr>
          <p:nvPr/>
        </p:nvSpPr>
        <p:spPr bwMode="auto">
          <a:xfrm>
            <a:off x="1369142" y="5519278"/>
            <a:ext cx="801878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dirty="0"/>
              <a:t> HBASE_MANAGES_ZK=true</a:t>
            </a:r>
            <a:r>
              <a:rPr lang="zh-CN" altLang="en-US" sz="2000" dirty="0"/>
              <a:t>，则由</a:t>
            </a:r>
            <a:r>
              <a:rPr lang="en-US" altLang="zh-CN" sz="2000" dirty="0"/>
              <a:t>HBase</a:t>
            </a:r>
            <a:r>
              <a:rPr lang="zh-CN" altLang="en-US" sz="2000" dirty="0"/>
              <a:t>自己管理</a:t>
            </a:r>
            <a:r>
              <a:rPr lang="en-US" altLang="zh-CN" sz="2000" dirty="0"/>
              <a:t>Zookeeper</a:t>
            </a:r>
            <a:endParaRPr lang="en-US" altLang="zh-CN" sz="2000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否则，启动独立的</a:t>
            </a:r>
            <a:r>
              <a:rPr lang="en-US" altLang="zh-CN" sz="2000" dirty="0"/>
              <a:t>Zookeeper</a:t>
            </a:r>
            <a:endParaRPr lang="en-US" altLang="zh-CN" sz="2000" dirty="0"/>
          </a:p>
          <a:p>
            <a:pPr eaLnBrk="1" hangingPunct="1">
              <a:spcBef>
                <a:spcPts val="0"/>
              </a:spcBef>
            </a:pPr>
            <a:r>
              <a:rPr lang="zh-CN" altLang="en-US" sz="1600" dirty="0"/>
              <a:t>建议：单机版</a:t>
            </a:r>
            <a:r>
              <a:rPr lang="en-US" altLang="zh-CN" sz="1600" dirty="0"/>
              <a:t>HBase</a:t>
            </a:r>
            <a:r>
              <a:rPr lang="zh-CN" altLang="en-US" sz="1600" dirty="0"/>
              <a:t>，使用自带</a:t>
            </a:r>
            <a:r>
              <a:rPr lang="en-US" altLang="zh-CN" sz="1600" dirty="0"/>
              <a:t>Zookeeper</a:t>
            </a:r>
            <a:r>
              <a:rPr lang="zh-CN" altLang="en-US" sz="1600" dirty="0"/>
              <a:t>；集群安装</a:t>
            </a:r>
            <a:r>
              <a:rPr lang="en-US" altLang="zh-CN" sz="1600" dirty="0"/>
              <a:t>HBase</a:t>
            </a:r>
            <a:r>
              <a:rPr lang="zh-CN" altLang="en-US" sz="1600" dirty="0"/>
              <a:t>则采用单独</a:t>
            </a:r>
            <a:r>
              <a:rPr lang="en-US" altLang="zh-CN" sz="1600" dirty="0"/>
              <a:t>Zookeeper</a:t>
            </a:r>
            <a:r>
              <a:rPr lang="zh-CN" altLang="en-US" sz="1600" dirty="0"/>
              <a:t>集群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/>
              <a:t>4.6.1	</a:t>
            </a:r>
            <a:r>
              <a:rPr lang="en-US" altLang="en-US" b="1" dirty="0" err="1"/>
              <a:t>HBase常用Shell命令</a:t>
            </a:r>
            <a:endParaRPr lang="zh-CN" altLang="en-US" b="1" dirty="0"/>
          </a:p>
        </p:txBody>
      </p:sp>
      <p:sp>
        <p:nvSpPr>
          <p:cNvPr id="61443" name="Rectangle 5"/>
          <p:cNvSpPr>
            <a:spLocks noChangeArrowheads="1"/>
          </p:cNvSpPr>
          <p:nvPr/>
        </p:nvSpPr>
        <p:spPr bwMode="auto">
          <a:xfrm>
            <a:off x="2667000" y="1691005"/>
            <a:ext cx="4625340" cy="91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/>
              <a:t>create</a:t>
            </a:r>
            <a:r>
              <a:rPr lang="zh-CN" altLang="zh-CN" sz="2400"/>
              <a:t>：创建表</a:t>
            </a:r>
            <a:endParaRPr lang="zh-CN" altLang="zh-CN" sz="240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/>
              <a:t>list</a:t>
            </a:r>
            <a:r>
              <a:rPr lang="zh-CN" altLang="zh-CN" sz="2400"/>
              <a:t>：列出</a:t>
            </a:r>
            <a:r>
              <a:rPr lang="en-US" altLang="zh-CN" sz="2400"/>
              <a:t>HBase</a:t>
            </a:r>
            <a:r>
              <a:rPr lang="zh-CN" altLang="zh-CN" sz="2400"/>
              <a:t>中所有的表信息</a:t>
            </a:r>
            <a:endParaRPr lang="zh-CN" altLang="zh-CN" sz="2400"/>
          </a:p>
        </p:txBody>
      </p:sp>
      <p:pic>
        <p:nvPicPr>
          <p:cNvPr id="61444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345" y="3808095"/>
            <a:ext cx="71008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TextBox 4"/>
          <p:cNvSpPr txBox="1">
            <a:spLocks noChangeArrowheads="1"/>
          </p:cNvSpPr>
          <p:nvPr/>
        </p:nvSpPr>
        <p:spPr bwMode="auto">
          <a:xfrm>
            <a:off x="2606676" y="2843530"/>
            <a:ext cx="785685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/>
              <a:t>例子</a:t>
            </a:r>
            <a:r>
              <a:rPr lang="en-US" altLang="zh-CN" sz="2000" dirty="0"/>
              <a:t>1</a:t>
            </a:r>
            <a:r>
              <a:rPr lang="zh-CN" altLang="en-US" sz="2000" dirty="0"/>
              <a:t>：创建一个表，该表名称为</a:t>
            </a:r>
            <a:r>
              <a:rPr lang="en-US" altLang="zh-CN" sz="2000" dirty="0" err="1"/>
              <a:t>tempTable</a:t>
            </a:r>
            <a:r>
              <a:rPr lang="zh-CN" altLang="en-US" sz="2000" dirty="0"/>
              <a:t>，包含</a:t>
            </a:r>
            <a:r>
              <a:rPr lang="en-US" altLang="zh-CN" sz="2000" dirty="0"/>
              <a:t>3</a:t>
            </a:r>
            <a:r>
              <a:rPr lang="zh-CN" altLang="en-US" sz="2000" dirty="0"/>
              <a:t>个列族</a:t>
            </a:r>
            <a:r>
              <a:rPr lang="en-US" altLang="zh-CN" sz="2000" dirty="0"/>
              <a:t>f1</a:t>
            </a:r>
            <a:r>
              <a:rPr lang="zh-CN" altLang="en-US" sz="2000" dirty="0"/>
              <a:t>，</a:t>
            </a:r>
            <a:r>
              <a:rPr lang="en-US" altLang="zh-CN" sz="2000" dirty="0"/>
              <a:t>f2</a:t>
            </a:r>
            <a:r>
              <a:rPr lang="zh-CN" altLang="en-US" sz="2000" dirty="0"/>
              <a:t>和</a:t>
            </a:r>
            <a:r>
              <a:rPr lang="en-US" altLang="zh-CN" sz="2000" dirty="0"/>
              <a:t>f3</a:t>
            </a:r>
            <a:endParaRPr lang="en-US" altLang="zh-CN" sz="2000" dirty="0"/>
          </a:p>
        </p:txBody>
      </p:sp>
      <p:sp>
        <p:nvSpPr>
          <p:cNvPr id="61446" name="TextBox 5"/>
          <p:cNvSpPr txBox="1">
            <a:spLocks noChangeArrowheads="1"/>
          </p:cNvSpPr>
          <p:nvPr/>
        </p:nvSpPr>
        <p:spPr bwMode="auto">
          <a:xfrm>
            <a:off x="2819401" y="6237605"/>
            <a:ext cx="429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备注：后面的例子都在此基础上继续操作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797550" y="1469390"/>
            <a:ext cx="4064000" cy="14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60345" y="3325495"/>
            <a:ext cx="780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0"/>
              </a:spcAft>
            </a:pPr>
            <a:r>
              <a:rPr lang="en-US" altLang="zh-CN" sz="2000"/>
              <a:t>create ‘tempTable’, {NAME =&gt; ‘f1’}, {NAME =&gt; ‘f2’}, {NAME =&gt; ‘f3’}</a:t>
            </a:r>
            <a:endParaRPr lang="en-US" altLang="zh-CN"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/>
              <a:t>4.6.1	HBase常用Shell命令</a:t>
            </a:r>
            <a:endParaRPr lang="zh-CN" altLang="en-US" b="1"/>
          </a:p>
        </p:txBody>
      </p:sp>
      <p:sp>
        <p:nvSpPr>
          <p:cNvPr id="62467" name="Rectangle 5"/>
          <p:cNvSpPr>
            <a:spLocks noChangeArrowheads="1"/>
          </p:cNvSpPr>
          <p:nvPr/>
        </p:nvSpPr>
        <p:spPr bwMode="auto">
          <a:xfrm>
            <a:off x="1544320" y="1460977"/>
            <a:ext cx="815340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/>
              <a:t> put</a:t>
            </a:r>
            <a:r>
              <a:rPr lang="zh-CN" altLang="zh-CN" sz="2400"/>
              <a:t>：向表、行、列指定的单元格添加数据</a:t>
            </a:r>
            <a:endParaRPr lang="en-US" altLang="zh-CN" sz="240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/>
              <a:t>          一次只能为一个表的一行数据的一个列添加一个数据</a:t>
            </a:r>
            <a:endParaRPr lang="zh-CN" altLang="zh-CN" sz="240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/>
              <a:t> scan</a:t>
            </a:r>
            <a:r>
              <a:rPr lang="zh-CN" altLang="zh-CN" sz="2400"/>
              <a:t>：浏览表的相关信息</a:t>
            </a:r>
            <a:endParaRPr lang="zh-CN" altLang="zh-CN" sz="2400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320" y="3851910"/>
            <a:ext cx="9026525" cy="2087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TextBox 4"/>
          <p:cNvSpPr txBox="1">
            <a:spLocks noChangeArrowheads="1"/>
          </p:cNvSpPr>
          <p:nvPr/>
        </p:nvSpPr>
        <p:spPr bwMode="auto">
          <a:xfrm>
            <a:off x="1544321" y="3348990"/>
            <a:ext cx="98456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/>
              <a:t>例子</a:t>
            </a:r>
            <a:r>
              <a:rPr lang="en-US" altLang="zh-CN" sz="2000"/>
              <a:t>2</a:t>
            </a:r>
            <a:r>
              <a:rPr lang="zh-CN" altLang="en-US" sz="2000"/>
              <a:t>：继续向表</a:t>
            </a:r>
            <a:r>
              <a:rPr lang="en-US" altLang="zh-CN" sz="2000"/>
              <a:t>tempTable</a:t>
            </a:r>
            <a:r>
              <a:rPr lang="zh-CN" altLang="en-US" sz="2000"/>
              <a:t>中的第</a:t>
            </a:r>
            <a:r>
              <a:rPr lang="en-US" altLang="zh-CN" sz="2000"/>
              <a:t>r1</a:t>
            </a:r>
            <a:r>
              <a:rPr lang="zh-CN" altLang="en-US" sz="2000"/>
              <a:t>行、第“</a:t>
            </a:r>
            <a:r>
              <a:rPr lang="en-US" altLang="zh-CN" sz="2000"/>
              <a:t>f1:c1</a:t>
            </a:r>
            <a:r>
              <a:rPr lang="zh-CN" altLang="en-US" sz="2000"/>
              <a:t>”列，添加数据值为“</a:t>
            </a:r>
            <a:r>
              <a:rPr lang="en-US" altLang="zh-CN" sz="2000"/>
              <a:t>hello,dblab</a:t>
            </a:r>
            <a:r>
              <a:rPr lang="zh-CN" altLang="en-US" sz="2000"/>
              <a:t>”</a:t>
            </a:r>
            <a:endParaRPr lang="zh-CN" altLang="en-US" sz="2000"/>
          </a:p>
        </p:txBody>
      </p:sp>
      <p:sp>
        <p:nvSpPr>
          <p:cNvPr id="62470" name="矩形 5"/>
          <p:cNvSpPr>
            <a:spLocks noChangeArrowheads="1"/>
          </p:cNvSpPr>
          <p:nvPr/>
        </p:nvSpPr>
        <p:spPr bwMode="auto">
          <a:xfrm>
            <a:off x="2286000" y="6054090"/>
            <a:ext cx="75438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/>
              <a:t>在添加数据时，</a:t>
            </a:r>
            <a:r>
              <a:rPr lang="en-US" altLang="zh-CN" sz="2000"/>
              <a:t>HBase</a:t>
            </a:r>
            <a:r>
              <a:rPr lang="zh-CN" altLang="en-US" sz="2000"/>
              <a:t>会自动为添加的数据添加一个时间戳，</a:t>
            </a:r>
            <a:endParaRPr lang="zh-CN" altLang="en-US" sz="2000"/>
          </a:p>
          <a:p>
            <a:pPr eaLnBrk="1" hangingPunct="1">
              <a:spcBef>
                <a:spcPts val="0"/>
              </a:spcBef>
            </a:pPr>
            <a:r>
              <a:rPr lang="zh-CN" altLang="en-US" sz="2000"/>
              <a:t>当然，也可以在添加数据时人工指定时间戳的值</a:t>
            </a:r>
            <a:endParaRPr lang="zh-CN" altLang="en-US"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4.6.1	HBase常用Shell命令</a:t>
            </a:r>
            <a:endParaRPr lang="zh-CN" altLang="en-US"/>
          </a:p>
        </p:txBody>
      </p:sp>
      <p:sp>
        <p:nvSpPr>
          <p:cNvPr id="63491" name="Rectangle 5"/>
          <p:cNvSpPr>
            <a:spLocks noChangeArrowheads="1"/>
          </p:cNvSpPr>
          <p:nvPr/>
        </p:nvSpPr>
        <p:spPr bwMode="auto">
          <a:xfrm>
            <a:off x="1318261" y="1498443"/>
            <a:ext cx="104444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/>
              <a:t> get</a:t>
            </a:r>
            <a:r>
              <a:rPr lang="zh-CN" altLang="zh-CN" sz="2400"/>
              <a:t>：通过表名、行、列、时间戳、时间范围和版本号来获得相应单元格的值</a:t>
            </a:r>
            <a:endParaRPr lang="zh-CN" altLang="zh-CN" sz="2400"/>
          </a:p>
        </p:txBody>
      </p:sp>
      <p:pic>
        <p:nvPicPr>
          <p:cNvPr id="6349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305" y="3717290"/>
            <a:ext cx="8567738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3" name="TextBox 4"/>
          <p:cNvSpPr txBox="1">
            <a:spLocks noChangeArrowheads="1"/>
          </p:cNvSpPr>
          <p:nvPr/>
        </p:nvSpPr>
        <p:spPr bwMode="auto">
          <a:xfrm>
            <a:off x="2033271" y="2269490"/>
            <a:ext cx="633285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/>
              <a:t>例子</a:t>
            </a:r>
            <a:r>
              <a:rPr lang="en-US" altLang="zh-CN" sz="2000"/>
              <a:t>3</a:t>
            </a:r>
            <a:r>
              <a:rPr lang="zh-CN" altLang="en-US" sz="2000"/>
              <a:t>：</a:t>
            </a:r>
            <a:endParaRPr lang="en-US" altLang="zh-CN" sz="20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）从</a:t>
            </a:r>
            <a:r>
              <a:rPr lang="en-US" altLang="zh-CN" sz="2000"/>
              <a:t>tempTable</a:t>
            </a:r>
            <a:r>
              <a:rPr lang="zh-CN" altLang="en-US" sz="2000"/>
              <a:t>中，获取第</a:t>
            </a:r>
            <a:r>
              <a:rPr lang="en-US" altLang="zh-CN" sz="2000"/>
              <a:t>r1</a:t>
            </a:r>
            <a:r>
              <a:rPr lang="zh-CN" altLang="en-US" sz="2000"/>
              <a:t>行、第“</a:t>
            </a:r>
            <a:r>
              <a:rPr lang="en-US" altLang="zh-CN" sz="2000"/>
              <a:t>f1:c1</a:t>
            </a:r>
            <a:r>
              <a:rPr lang="zh-CN" altLang="en-US" sz="2000"/>
              <a:t>”列的值</a:t>
            </a:r>
            <a:endParaRPr lang="en-US" altLang="zh-CN" sz="2000"/>
          </a:p>
          <a:p>
            <a:pPr eaLnBrk="1" hangingPunct="1">
              <a:spcBef>
                <a:spcPts val="0"/>
              </a:spcBef>
            </a:pP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）从</a:t>
            </a:r>
            <a:r>
              <a:rPr lang="en-US" altLang="zh-CN" sz="2000"/>
              <a:t>tempTable</a:t>
            </a:r>
            <a:r>
              <a:rPr lang="zh-CN" altLang="en-US" sz="2000"/>
              <a:t>中，获取第</a:t>
            </a:r>
            <a:r>
              <a:rPr lang="en-US" altLang="zh-CN" sz="2000"/>
              <a:t>r1</a:t>
            </a:r>
            <a:r>
              <a:rPr lang="zh-CN" altLang="en-US" sz="2000"/>
              <a:t>行、第“</a:t>
            </a:r>
            <a:r>
              <a:rPr lang="en-US" altLang="zh-CN" sz="2000"/>
              <a:t>f1:c3</a:t>
            </a:r>
            <a:r>
              <a:rPr lang="zh-CN" altLang="en-US" sz="2000"/>
              <a:t>”列的值</a:t>
            </a:r>
            <a:endParaRPr lang="en-US" altLang="zh-CN" sz="2000"/>
          </a:p>
          <a:p>
            <a:pPr eaLnBrk="1" hangingPunct="1"/>
            <a:endParaRPr lang="en-US" altLang="zh-CN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4.6.1	HBase常用Shell命令</a:t>
            </a:r>
            <a:endParaRPr lang="zh-CN" altLang="en-US"/>
          </a:p>
        </p:txBody>
      </p:sp>
      <p:sp>
        <p:nvSpPr>
          <p:cNvPr id="64515" name="Rectangle 5"/>
          <p:cNvSpPr>
            <a:spLocks noChangeArrowheads="1"/>
          </p:cNvSpPr>
          <p:nvPr/>
        </p:nvSpPr>
        <p:spPr bwMode="auto">
          <a:xfrm>
            <a:off x="1962785" y="1403034"/>
            <a:ext cx="469455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/>
              <a:t>enable/disable</a:t>
            </a:r>
            <a:r>
              <a:rPr lang="zh-CN" altLang="zh-CN" sz="2400"/>
              <a:t>：使表有效或无效</a:t>
            </a:r>
            <a:endParaRPr lang="zh-CN" altLang="zh-CN" sz="240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/>
              <a:t>drop</a:t>
            </a:r>
            <a:r>
              <a:rPr lang="zh-CN" altLang="zh-CN" sz="2400"/>
              <a:t>：删除表</a:t>
            </a:r>
            <a:r>
              <a:rPr lang="en-US" altLang="zh-CN" sz="2400"/>
              <a:t>, </a:t>
            </a:r>
            <a:r>
              <a:rPr lang="zh-CN" altLang="en-US" sz="2400"/>
              <a:t>必须先</a:t>
            </a:r>
            <a:r>
              <a:rPr lang="en-US" altLang="zh-CN" sz="2400"/>
              <a:t>disable</a:t>
            </a:r>
            <a:endParaRPr lang="en-US" altLang="zh-CN" sz="2400"/>
          </a:p>
        </p:txBody>
      </p:sp>
      <p:pic>
        <p:nvPicPr>
          <p:cNvPr id="6451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50" y="3126105"/>
            <a:ext cx="5867400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TextBox 4"/>
          <p:cNvSpPr txBox="1">
            <a:spLocks noChangeArrowheads="1"/>
          </p:cNvSpPr>
          <p:nvPr/>
        </p:nvSpPr>
        <p:spPr bwMode="auto">
          <a:xfrm>
            <a:off x="2115820" y="2664460"/>
            <a:ext cx="454152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/>
              <a:t>例子</a:t>
            </a:r>
            <a:r>
              <a:rPr lang="en-US" altLang="zh-CN" sz="2000"/>
              <a:t>4</a:t>
            </a:r>
            <a:r>
              <a:rPr lang="zh-CN" altLang="en-US" sz="2000"/>
              <a:t>：使表</a:t>
            </a:r>
            <a:r>
              <a:rPr lang="en-US" altLang="zh-CN" sz="2000"/>
              <a:t>tempTable</a:t>
            </a:r>
            <a:r>
              <a:rPr lang="zh-CN" altLang="en-US" sz="2000"/>
              <a:t>无效、删除该表</a:t>
            </a:r>
            <a:endParaRPr lang="zh-CN" altLang="en-US"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spcAft>
                <a:spcPts val="0"/>
              </a:spcAft>
            </a:pPr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Hbase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中访问某个数据坐标使用的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Shell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命令是（）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put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list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get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spcAft>
                <a:spcPts val="0"/>
              </a:spcAft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scan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15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/>
              <a:t>4.6.2	HBase常用Java API及应用实例</a:t>
            </a:r>
            <a:endParaRPr lang="en-US" altLang="en-US" b="1"/>
          </a:p>
        </p:txBody>
      </p:sp>
      <p:sp>
        <p:nvSpPr>
          <p:cNvPr id="65539" name="TextBox 2"/>
          <p:cNvSpPr txBox="1">
            <a:spLocks noChangeArrowheads="1"/>
          </p:cNvSpPr>
          <p:nvPr/>
        </p:nvSpPr>
        <p:spPr bwMode="auto">
          <a:xfrm>
            <a:off x="1530985" y="1773555"/>
            <a:ext cx="797115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400"/>
              <a:t>HBase</a:t>
            </a:r>
            <a:r>
              <a:rPr lang="zh-CN" altLang="en-US" sz="2400"/>
              <a:t>是</a:t>
            </a:r>
            <a:r>
              <a:rPr lang="en-US" altLang="zh-CN" sz="2400"/>
              <a:t>Java</a:t>
            </a:r>
            <a:r>
              <a:rPr lang="zh-CN" altLang="en-US" sz="2400"/>
              <a:t>编写的，它的原生的</a:t>
            </a:r>
            <a:r>
              <a:rPr lang="en-US" altLang="zh-CN" sz="2400"/>
              <a:t>API</a:t>
            </a:r>
            <a:r>
              <a:rPr lang="zh-CN" altLang="en-US" sz="2400"/>
              <a:t>也是</a:t>
            </a:r>
            <a:r>
              <a:rPr lang="en-US" altLang="zh-CN" sz="2400"/>
              <a:t>Java</a:t>
            </a:r>
            <a:r>
              <a:rPr lang="zh-CN" altLang="en-US" sz="2400"/>
              <a:t>开发的，不过，可以使用</a:t>
            </a:r>
            <a:r>
              <a:rPr lang="en-US" altLang="zh-CN" sz="2400"/>
              <a:t>Java</a:t>
            </a:r>
            <a:r>
              <a:rPr lang="zh-CN" altLang="en-US" sz="2400"/>
              <a:t>或其他语言调用</a:t>
            </a:r>
            <a:r>
              <a:rPr lang="en-US" altLang="zh-CN" sz="2400"/>
              <a:t>API</a:t>
            </a:r>
            <a:r>
              <a:rPr lang="zh-CN" altLang="en-US" sz="2400"/>
              <a:t>来访问</a:t>
            </a:r>
            <a:r>
              <a:rPr lang="en-US" altLang="zh-CN" sz="2400"/>
              <a:t>HBase</a:t>
            </a:r>
            <a:endParaRPr lang="en-US" altLang="zh-CN" sz="2400"/>
          </a:p>
        </p:txBody>
      </p:sp>
      <p:sp>
        <p:nvSpPr>
          <p:cNvPr id="65540" name="矩形 4"/>
          <p:cNvSpPr>
            <a:spLocks noChangeArrowheads="1"/>
          </p:cNvSpPr>
          <p:nvPr/>
        </p:nvSpPr>
        <p:spPr bwMode="auto">
          <a:xfrm>
            <a:off x="1565910" y="3106420"/>
            <a:ext cx="7988935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400"/>
              <a:t>首先要在工程中导入一下</a:t>
            </a:r>
            <a:r>
              <a:rPr lang="en-US" altLang="zh-CN" sz="2400"/>
              <a:t>jar</a:t>
            </a:r>
            <a:r>
              <a:rPr lang="zh-CN" altLang="en-US" sz="2400"/>
              <a:t>包：</a:t>
            </a:r>
            <a:br>
              <a:rPr lang="zh-CN" altLang="en-US" sz="2400"/>
            </a:br>
            <a:r>
              <a:rPr lang="zh-CN" altLang="en-US" sz="2400"/>
              <a:t>这里只需要导入</a:t>
            </a:r>
            <a:r>
              <a:rPr lang="en-US" altLang="zh-CN" sz="2400"/>
              <a:t>hbase</a:t>
            </a:r>
            <a:r>
              <a:rPr lang="zh-CN" altLang="en-US" sz="2400"/>
              <a:t>安装目录中的</a:t>
            </a:r>
            <a:r>
              <a:rPr lang="en-US" altLang="zh-CN" sz="2400"/>
              <a:t>lib</a:t>
            </a:r>
            <a:r>
              <a:rPr lang="zh-CN" altLang="en-US" sz="2400"/>
              <a:t>目录下的所有</a:t>
            </a:r>
            <a:r>
              <a:rPr lang="en-US" altLang="zh-CN" sz="2400"/>
              <a:t>jar</a:t>
            </a:r>
            <a:r>
              <a:rPr lang="zh-CN" altLang="en-US" sz="2400"/>
              <a:t>包，并且导入</a:t>
            </a:r>
            <a:r>
              <a:rPr lang="zh-CN" altLang="zh-CN" sz="2400"/>
              <a:t>“</a:t>
            </a:r>
            <a:r>
              <a:rPr lang="en-US" altLang="zh-CN" sz="2400"/>
              <a:t>lib/client-facing-thirdparty</a:t>
            </a:r>
            <a:r>
              <a:rPr lang="zh-CN" altLang="zh-CN" sz="2400"/>
              <a:t>”目录下</a:t>
            </a:r>
            <a:r>
              <a:rPr lang="zh-CN" altLang="en-US" sz="2400"/>
              <a:t>的所有</a:t>
            </a:r>
            <a:r>
              <a:rPr lang="en-US" altLang="zh-CN" sz="2400"/>
              <a:t>jar</a:t>
            </a:r>
            <a:r>
              <a:rPr lang="zh-CN" altLang="en-US" sz="2400"/>
              <a:t>包。此处不用再导入第</a:t>
            </a:r>
            <a:r>
              <a:rPr lang="en-US" altLang="zh-CN" sz="2400"/>
              <a:t>3</a:t>
            </a:r>
            <a:r>
              <a:rPr lang="zh-CN" altLang="en-US" sz="2400"/>
              <a:t>章</a:t>
            </a:r>
            <a:r>
              <a:rPr lang="en-US" altLang="zh-CN" sz="2400"/>
              <a:t>Hadoop</a:t>
            </a:r>
            <a:r>
              <a:rPr lang="zh-CN" altLang="en-US" sz="2400"/>
              <a:t>中的</a:t>
            </a:r>
            <a:r>
              <a:rPr lang="en-US" altLang="zh-CN" sz="2400"/>
              <a:t>jar</a:t>
            </a:r>
            <a:r>
              <a:rPr lang="zh-CN" altLang="en-US" sz="2400"/>
              <a:t>包，</a:t>
            </a:r>
            <a:endParaRPr lang="zh-CN" altLang="en-US" sz="2400"/>
          </a:p>
          <a:p>
            <a:pPr eaLnBrk="1" hangingPunct="1">
              <a:spcBef>
                <a:spcPts val="0"/>
              </a:spcBef>
            </a:pPr>
            <a:r>
              <a:rPr lang="zh-CN" altLang="en-US" sz="2400"/>
              <a:t>避免由于</a:t>
            </a:r>
            <a:r>
              <a:rPr lang="en-US" altLang="zh-CN" sz="2400"/>
              <a:t>Hadoop</a:t>
            </a:r>
            <a:r>
              <a:rPr lang="zh-CN" altLang="en-US" sz="2400"/>
              <a:t>和</a:t>
            </a:r>
            <a:r>
              <a:rPr lang="en-US" altLang="zh-CN" sz="2400"/>
              <a:t>HBase</a:t>
            </a:r>
            <a:r>
              <a:rPr lang="zh-CN" altLang="en-US" sz="2400"/>
              <a:t>的版本冲突引起错误。</a:t>
            </a:r>
            <a:endParaRPr lang="zh-CN" altLang="en-US" sz="2400"/>
          </a:p>
        </p:txBody>
      </p:sp>
      <p:sp>
        <p:nvSpPr>
          <p:cNvPr id="65541" name="TextBox 5"/>
          <p:cNvSpPr txBox="1">
            <a:spLocks noChangeArrowheads="1"/>
          </p:cNvSpPr>
          <p:nvPr/>
        </p:nvSpPr>
        <p:spPr bwMode="auto">
          <a:xfrm>
            <a:off x="1565911" y="5816600"/>
            <a:ext cx="404876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/>
              <a:t>备注：</a:t>
            </a:r>
            <a:r>
              <a:rPr lang="zh-CN" altLang="zh-CN" sz="2000"/>
              <a:t>使用的</a:t>
            </a:r>
            <a:r>
              <a:rPr lang="en-US" altLang="zh-CN" sz="2000"/>
              <a:t>HBase</a:t>
            </a:r>
            <a:r>
              <a:rPr lang="zh-CN" altLang="zh-CN" sz="2000"/>
              <a:t>版本号为</a:t>
            </a:r>
            <a:r>
              <a:rPr lang="en-US" altLang="zh-CN" sz="2000"/>
              <a:t>2.2.2</a:t>
            </a:r>
            <a:endParaRPr lang="en-US" altLang="zh-CN" sz="2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0" y="3589338"/>
          <a:ext cx="7467600" cy="609600"/>
        </p:xfrm>
        <a:graphic>
          <a:graphicData uri="http://schemas.openxmlformats.org/drawingml/2006/table">
            <a:tbl>
              <a:tblPr/>
              <a:tblGrid>
                <a:gridCol w="2579688"/>
                <a:gridCol w="1804987"/>
                <a:gridCol w="1506538"/>
                <a:gridCol w="1576387"/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name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score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3048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English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Math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Computer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577" name="矩形 6"/>
          <p:cNvSpPr>
            <a:spLocks noChangeArrowheads="1"/>
          </p:cNvSpPr>
          <p:nvPr/>
        </p:nvSpPr>
        <p:spPr bwMode="auto">
          <a:xfrm>
            <a:off x="4586289" y="3162300"/>
            <a:ext cx="29895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zh-CN"/>
              <a:t>表</a:t>
            </a:r>
            <a:r>
              <a:rPr lang="en-US" altLang="zh-CN"/>
              <a:t>4-18 </a:t>
            </a:r>
            <a:r>
              <a:rPr lang="zh-CN" altLang="zh-CN"/>
              <a:t>学生信息表的表结构</a:t>
            </a:r>
            <a:endParaRPr lang="zh-CN" altLang="en-US"/>
          </a:p>
        </p:txBody>
      </p:sp>
      <p:sp>
        <p:nvSpPr>
          <p:cNvPr id="66578" name="Rectangle 4"/>
          <p:cNvSpPr>
            <a:spLocks noChangeArrowheads="1"/>
          </p:cNvSpPr>
          <p:nvPr/>
        </p:nvSpPr>
        <p:spPr bwMode="auto">
          <a:xfrm>
            <a:off x="1423670" y="1342390"/>
            <a:ext cx="91122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任务要求：创建表、插入数据、浏览数据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zh-C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创建一个学生信息表，用来存储学生姓名（姓名作为行键，并且假设姓名不会重复）以及考试成绩，其中，考试成绩是一个列族，分别存储了各个科目的考试成绩。逻辑视图如表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4-18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所示。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52800" y="5149850"/>
          <a:ext cx="5334000" cy="1219200"/>
        </p:xfrm>
        <a:graphic>
          <a:graphicData uri="http://schemas.openxmlformats.org/drawingml/2006/table">
            <a:tbl>
              <a:tblPr/>
              <a:tblGrid>
                <a:gridCol w="1396119"/>
                <a:gridCol w="1396118"/>
                <a:gridCol w="1283769"/>
                <a:gridCol w="1257993"/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name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score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English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Math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Computer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zhangsan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69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86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lisi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55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88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603" name="矩形 5"/>
          <p:cNvSpPr>
            <a:spLocks noChangeArrowheads="1"/>
          </p:cNvSpPr>
          <p:nvPr/>
        </p:nvSpPr>
        <p:spPr bwMode="auto">
          <a:xfrm>
            <a:off x="4495801" y="4676775"/>
            <a:ext cx="2532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zh-CN"/>
              <a:t>表</a:t>
            </a:r>
            <a:r>
              <a:rPr lang="en-US" altLang="zh-CN"/>
              <a:t>4-19 </a:t>
            </a:r>
            <a:r>
              <a:rPr lang="zh-CN" altLang="zh-CN"/>
              <a:t>需要添加的数据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67587" name="矩形 2"/>
          <p:cNvSpPr>
            <a:spLocks noChangeArrowheads="1"/>
          </p:cNvSpPr>
          <p:nvPr/>
        </p:nvSpPr>
        <p:spPr bwMode="auto">
          <a:xfrm>
            <a:off x="2895600" y="1214438"/>
            <a:ext cx="63246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400" b="1"/>
              <a:t>import </a:t>
            </a:r>
            <a:r>
              <a:rPr lang="en-US" altLang="zh-CN" sz="1400"/>
              <a:t>org.apache.hadoop.conf.Configuration;</a:t>
            </a:r>
            <a:br>
              <a:rPr lang="en-US" altLang="zh-CN" sz="1400"/>
            </a:br>
            <a:r>
              <a:rPr lang="en-US" altLang="zh-CN" sz="1400" b="1"/>
              <a:t>import </a:t>
            </a:r>
            <a:r>
              <a:rPr lang="en-US" altLang="zh-CN" sz="1400"/>
              <a:t>org.apache.hadoop.hbase.*;</a:t>
            </a:r>
            <a:br>
              <a:rPr lang="en-US" altLang="zh-CN" sz="1400"/>
            </a:br>
            <a:r>
              <a:rPr lang="en-US" altLang="zh-CN" sz="1400" b="1"/>
              <a:t>import </a:t>
            </a:r>
            <a:r>
              <a:rPr lang="en-US" altLang="zh-CN" sz="1400"/>
              <a:t>org.apache.hadoop.hbase.client.*;</a:t>
            </a:r>
            <a:br>
              <a:rPr lang="en-US" altLang="zh-CN" sz="1400"/>
            </a:br>
            <a:r>
              <a:rPr lang="en-US" altLang="zh-CN" sz="1400" b="1"/>
              <a:t>import </a:t>
            </a:r>
            <a:r>
              <a:rPr lang="en-US" altLang="zh-CN" sz="1400"/>
              <a:t>org.apache.hadoop.hbase.util.Bytes;</a:t>
            </a:r>
            <a:br>
              <a:rPr lang="en-US" altLang="zh-CN" sz="1400"/>
            </a:br>
            <a:r>
              <a:rPr lang="en-US" altLang="zh-CN" sz="1400" b="1"/>
              <a:t>import </a:t>
            </a:r>
            <a:r>
              <a:rPr lang="en-US" altLang="zh-CN" sz="1400"/>
              <a:t>java.io.IOException;</a:t>
            </a:r>
            <a:br>
              <a:rPr lang="en-US" altLang="zh-CN" sz="1400"/>
            </a:br>
            <a:r>
              <a:rPr lang="en-US" altLang="zh-CN" sz="1400" b="1"/>
              <a:t>public class </a:t>
            </a:r>
            <a:r>
              <a:rPr lang="en-US" altLang="zh-CN" sz="1400"/>
              <a:t>Chapter4{</a:t>
            </a:r>
            <a:br>
              <a:rPr lang="en-US" altLang="zh-CN" sz="1400"/>
            </a:br>
            <a:r>
              <a:rPr lang="en-US" altLang="zh-CN" sz="1400"/>
              <a:t>    </a:t>
            </a:r>
            <a:r>
              <a:rPr lang="en-US" altLang="zh-CN" sz="1400" b="1"/>
              <a:t>public static </a:t>
            </a:r>
            <a:r>
              <a:rPr lang="en-US" altLang="zh-CN" sz="1400"/>
              <a:t>Configuration </a:t>
            </a:r>
            <a:r>
              <a:rPr lang="en-US" altLang="zh-CN" sz="1400" i="1"/>
              <a:t>configuration</a:t>
            </a:r>
            <a:r>
              <a:rPr lang="en-US" altLang="zh-CN" sz="1400"/>
              <a:t>;</a:t>
            </a:r>
            <a:br>
              <a:rPr lang="en-US" altLang="zh-CN" sz="1400"/>
            </a:br>
            <a:r>
              <a:rPr lang="en-US" altLang="zh-CN" sz="1400"/>
              <a:t>    </a:t>
            </a:r>
            <a:r>
              <a:rPr lang="en-US" altLang="zh-CN" sz="1400" b="1"/>
              <a:t>public static </a:t>
            </a:r>
            <a:r>
              <a:rPr lang="en-US" altLang="zh-CN" sz="1400"/>
              <a:t>Connection </a:t>
            </a:r>
            <a:r>
              <a:rPr lang="en-US" altLang="zh-CN" sz="1400" i="1"/>
              <a:t>connection</a:t>
            </a:r>
            <a:r>
              <a:rPr lang="en-US" altLang="zh-CN" sz="1400"/>
              <a:t>;</a:t>
            </a:r>
            <a:br>
              <a:rPr lang="en-US" altLang="zh-CN" sz="1400"/>
            </a:br>
            <a:r>
              <a:rPr lang="en-US" altLang="zh-CN" sz="1400"/>
              <a:t>    </a:t>
            </a:r>
            <a:r>
              <a:rPr lang="en-US" altLang="zh-CN" sz="1400" b="1"/>
              <a:t>public static </a:t>
            </a:r>
            <a:r>
              <a:rPr lang="en-US" altLang="zh-CN" sz="1400"/>
              <a:t>Admin </a:t>
            </a:r>
            <a:r>
              <a:rPr lang="en-US" altLang="zh-CN" sz="1400" i="1"/>
              <a:t>admin</a:t>
            </a:r>
            <a:r>
              <a:rPr lang="en-US" altLang="zh-CN" sz="1400"/>
              <a:t>;</a:t>
            </a:r>
            <a:br>
              <a:rPr lang="en-US" altLang="zh-CN" sz="1400"/>
            </a:br>
            <a:br>
              <a:rPr lang="en-US" altLang="zh-CN" sz="1400"/>
            </a:br>
            <a:r>
              <a:rPr lang="en-US" altLang="zh-CN" sz="1400"/>
              <a:t>    </a:t>
            </a:r>
            <a:r>
              <a:rPr lang="en-US" altLang="zh-CN" sz="1400" b="1"/>
              <a:t>public static void </a:t>
            </a:r>
            <a:r>
              <a:rPr lang="en-US" altLang="zh-CN" sz="1400"/>
              <a:t>main(String[] args)</a:t>
            </a:r>
            <a:r>
              <a:rPr lang="en-US" altLang="zh-CN" sz="1400" b="1"/>
              <a:t>throws </a:t>
            </a:r>
            <a:r>
              <a:rPr lang="en-US" altLang="zh-CN" sz="1400"/>
              <a:t>IOException{</a:t>
            </a:r>
            <a:br>
              <a:rPr lang="en-US" altLang="zh-CN" sz="1400"/>
            </a:br>
            <a:r>
              <a:rPr lang="en-US" altLang="zh-CN" sz="1400"/>
              <a:t>        createTable(</a:t>
            </a:r>
            <a:r>
              <a:rPr lang="en-US" altLang="zh-CN" sz="1400" b="1"/>
              <a:t>“student”</a:t>
            </a:r>
            <a:r>
              <a:rPr lang="en-US" altLang="zh-CN" sz="1400"/>
              <a:t>,</a:t>
            </a:r>
            <a:r>
              <a:rPr lang="en-US" altLang="zh-CN" sz="1400" b="1"/>
              <a:t>new </a:t>
            </a:r>
            <a:r>
              <a:rPr lang="en-US" altLang="zh-CN" sz="1400"/>
              <a:t>String[]{</a:t>
            </a:r>
            <a:r>
              <a:rPr lang="en-US" altLang="zh-CN" sz="1400" b="1"/>
              <a:t>“score”</a:t>
            </a:r>
            <a:r>
              <a:rPr lang="en-US" altLang="zh-CN" sz="1400"/>
              <a:t>});</a:t>
            </a:r>
            <a:br>
              <a:rPr lang="en-US" altLang="zh-CN" sz="1400"/>
            </a:br>
            <a:r>
              <a:rPr lang="en-US" altLang="zh-CN" sz="1400"/>
              <a:t>        </a:t>
            </a:r>
            <a:r>
              <a:rPr lang="en-US" altLang="zh-CN" sz="1400" i="1"/>
              <a:t>insertData</a:t>
            </a:r>
            <a:r>
              <a:rPr lang="en-US" altLang="zh-CN" sz="1400"/>
              <a:t>(</a:t>
            </a:r>
            <a:r>
              <a:rPr lang="en-US" altLang="zh-CN" sz="1400" b="1"/>
              <a:t>“student”</a:t>
            </a:r>
            <a:r>
              <a:rPr lang="en-US" altLang="zh-CN" sz="1400"/>
              <a:t>,</a:t>
            </a:r>
            <a:r>
              <a:rPr lang="en-US" altLang="zh-CN" sz="1400" b="1"/>
              <a:t>“zhangsan”</a:t>
            </a:r>
            <a:r>
              <a:rPr lang="en-US" altLang="zh-CN" sz="1400"/>
              <a:t>,</a:t>
            </a:r>
            <a:r>
              <a:rPr lang="en-US" altLang="zh-CN" sz="1400" b="1"/>
              <a:t>“score”</a:t>
            </a:r>
            <a:r>
              <a:rPr lang="en-US" altLang="zh-CN" sz="1400"/>
              <a:t>,</a:t>
            </a:r>
            <a:r>
              <a:rPr lang="en-US" altLang="zh-CN" sz="1400" b="1"/>
              <a:t>“English”</a:t>
            </a:r>
            <a:r>
              <a:rPr lang="en-US" altLang="zh-CN" sz="1400"/>
              <a:t>,</a:t>
            </a:r>
            <a:r>
              <a:rPr lang="en-US" altLang="zh-CN" sz="1400" b="1"/>
              <a:t>“69”</a:t>
            </a:r>
            <a:r>
              <a:rPr lang="en-US" altLang="zh-CN" sz="1400"/>
              <a:t>);</a:t>
            </a:r>
            <a:br>
              <a:rPr lang="en-US" altLang="zh-CN" sz="1400"/>
            </a:br>
            <a:r>
              <a:rPr lang="en-US" altLang="zh-CN" sz="1400"/>
              <a:t>        </a:t>
            </a:r>
            <a:r>
              <a:rPr lang="en-US" altLang="zh-CN" sz="1400" i="1"/>
              <a:t>insertData</a:t>
            </a:r>
            <a:r>
              <a:rPr lang="en-US" altLang="zh-CN" sz="1400"/>
              <a:t>(</a:t>
            </a:r>
            <a:r>
              <a:rPr lang="en-US" altLang="zh-CN" sz="1400" b="1"/>
              <a:t>“student”</a:t>
            </a:r>
            <a:r>
              <a:rPr lang="en-US" altLang="zh-CN" sz="1400"/>
              <a:t>,</a:t>
            </a:r>
            <a:r>
              <a:rPr lang="en-US" altLang="zh-CN" sz="1400" b="1"/>
              <a:t>“zhangsan”</a:t>
            </a:r>
            <a:r>
              <a:rPr lang="en-US" altLang="zh-CN" sz="1400"/>
              <a:t>,</a:t>
            </a:r>
            <a:r>
              <a:rPr lang="en-US" altLang="zh-CN" sz="1400" b="1"/>
              <a:t>“score”</a:t>
            </a:r>
            <a:r>
              <a:rPr lang="en-US" altLang="zh-CN" sz="1400"/>
              <a:t>,</a:t>
            </a:r>
            <a:r>
              <a:rPr lang="en-US" altLang="zh-CN" sz="1400" b="1"/>
              <a:t>“Math”</a:t>
            </a:r>
            <a:r>
              <a:rPr lang="en-US" altLang="zh-CN" sz="1400"/>
              <a:t>,</a:t>
            </a:r>
            <a:r>
              <a:rPr lang="en-US" altLang="zh-CN" sz="1400" b="1"/>
              <a:t>“86”</a:t>
            </a:r>
            <a:r>
              <a:rPr lang="en-US" altLang="zh-CN" sz="1400"/>
              <a:t>);</a:t>
            </a:r>
            <a:br>
              <a:rPr lang="en-US" altLang="zh-CN" sz="1400"/>
            </a:br>
            <a:r>
              <a:rPr lang="en-US" altLang="zh-CN" sz="1400"/>
              <a:t>        </a:t>
            </a:r>
            <a:r>
              <a:rPr lang="en-US" altLang="zh-CN" sz="1400" i="1"/>
              <a:t>insertData</a:t>
            </a:r>
            <a:r>
              <a:rPr lang="en-US" altLang="zh-CN" sz="1400"/>
              <a:t>(</a:t>
            </a:r>
            <a:r>
              <a:rPr lang="en-US" altLang="zh-CN" sz="1400" b="1"/>
              <a:t>“student”</a:t>
            </a:r>
            <a:r>
              <a:rPr lang="en-US" altLang="zh-CN" sz="1400"/>
              <a:t>,</a:t>
            </a:r>
            <a:r>
              <a:rPr lang="en-US" altLang="zh-CN" sz="1400" b="1"/>
              <a:t>“zhangsan”</a:t>
            </a:r>
            <a:r>
              <a:rPr lang="en-US" altLang="zh-CN" sz="1400"/>
              <a:t>,</a:t>
            </a:r>
            <a:r>
              <a:rPr lang="en-US" altLang="zh-CN" sz="1400" b="1"/>
              <a:t>“score”</a:t>
            </a:r>
            <a:r>
              <a:rPr lang="en-US" altLang="zh-CN" sz="1400"/>
              <a:t>,</a:t>
            </a:r>
            <a:r>
              <a:rPr lang="en-US" altLang="zh-CN" sz="1400" b="1"/>
              <a:t>“Computer”</a:t>
            </a:r>
            <a:r>
              <a:rPr lang="en-US" altLang="zh-CN" sz="1400"/>
              <a:t>,</a:t>
            </a:r>
            <a:r>
              <a:rPr lang="en-US" altLang="zh-CN" sz="1400" b="1"/>
              <a:t>“77”</a:t>
            </a:r>
            <a:r>
              <a:rPr lang="en-US" altLang="zh-CN" sz="1400"/>
              <a:t>);</a:t>
            </a:r>
            <a:br>
              <a:rPr lang="en-US" altLang="zh-CN" sz="1400"/>
            </a:br>
            <a:r>
              <a:rPr lang="en-US" altLang="zh-CN" sz="1400"/>
              <a:t>        </a:t>
            </a:r>
            <a:r>
              <a:rPr lang="en-US" altLang="zh-CN" sz="1400" i="1"/>
              <a:t>getData</a:t>
            </a:r>
            <a:r>
              <a:rPr lang="en-US" altLang="zh-CN" sz="1400"/>
              <a:t>(</a:t>
            </a:r>
            <a:r>
              <a:rPr lang="en-US" altLang="zh-CN" sz="1400" b="1"/>
              <a:t>“student”</a:t>
            </a:r>
            <a:r>
              <a:rPr lang="en-US" altLang="zh-CN" sz="1400"/>
              <a:t>, </a:t>
            </a:r>
            <a:r>
              <a:rPr lang="en-US" altLang="zh-CN" sz="1400" b="1"/>
              <a:t>“zhangsan”</a:t>
            </a:r>
            <a:r>
              <a:rPr lang="en-US" altLang="zh-CN" sz="1400"/>
              <a:t>, </a:t>
            </a:r>
            <a:r>
              <a:rPr lang="en-US" altLang="zh-CN" sz="1400" b="1"/>
              <a:t>“score”</a:t>
            </a:r>
            <a:r>
              <a:rPr lang="en-US" altLang="zh-CN" sz="1400"/>
              <a:t>, </a:t>
            </a:r>
            <a:r>
              <a:rPr lang="en-US" altLang="zh-CN" sz="1400" b="1"/>
              <a:t>“English”</a:t>
            </a:r>
            <a:r>
              <a:rPr lang="en-US" altLang="zh-CN" sz="1400"/>
              <a:t>);</a:t>
            </a:r>
            <a:br>
              <a:rPr lang="en-US" altLang="zh-CN" sz="1400"/>
            </a:br>
            <a:r>
              <a:rPr lang="en-US" altLang="zh-CN" sz="1400"/>
              <a:t>    }</a:t>
            </a:r>
            <a:endParaRPr lang="en-US" altLang="zh-CN" sz="14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……</a:t>
            </a:r>
            <a:endParaRPr lang="en-US" altLang="zh-CN" sz="14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public static void init(){……}//</a:t>
            </a:r>
            <a:r>
              <a:rPr lang="zh-CN" altLang="en-US" sz="1400"/>
              <a:t>建立连接</a:t>
            </a:r>
            <a:endParaRPr lang="en-US" altLang="zh-CN" sz="14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public static void close(){……}//</a:t>
            </a:r>
            <a:r>
              <a:rPr lang="zh-CN" altLang="en-US" sz="1400"/>
              <a:t>关闭连接</a:t>
            </a:r>
            <a:endParaRPr lang="en-US" altLang="zh-CN" sz="14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public static void createTable(){……}//</a:t>
            </a:r>
            <a:r>
              <a:rPr lang="zh-CN" altLang="en-US" sz="1400"/>
              <a:t>创建表</a:t>
            </a:r>
            <a:endParaRPr lang="en-US" altLang="zh-CN" sz="14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public static void insertData() {……}//</a:t>
            </a:r>
            <a:r>
              <a:rPr lang="zh-CN" altLang="en-US" sz="1400"/>
              <a:t>插入数据</a:t>
            </a:r>
            <a:endParaRPr lang="en-US" altLang="zh-CN" sz="14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public static void getData{……}//</a:t>
            </a:r>
            <a:r>
              <a:rPr lang="zh-CN" altLang="en-US" sz="1400"/>
              <a:t>浏览数据</a:t>
            </a:r>
            <a:endParaRPr lang="en-US" altLang="zh-CN" sz="1400"/>
          </a:p>
          <a:p>
            <a:pPr eaLnBrk="1" hangingPunct="1">
              <a:spcBef>
                <a:spcPts val="0"/>
              </a:spcBef>
            </a:pPr>
            <a:r>
              <a:rPr lang="en-US" altLang="zh-CN" sz="1400"/>
              <a:t>}</a:t>
            </a:r>
            <a:endParaRPr lang="zh-CN" altLang="en-US"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68612" name="矩形 3"/>
          <p:cNvSpPr>
            <a:spLocks noChangeArrowheads="1"/>
          </p:cNvSpPr>
          <p:nvPr/>
        </p:nvSpPr>
        <p:spPr bwMode="auto">
          <a:xfrm>
            <a:off x="2362200" y="1676401"/>
            <a:ext cx="7543800" cy="3138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/>
              <a:t>//</a:t>
            </a:r>
            <a:r>
              <a:rPr lang="zh-CN" altLang="zh-CN"/>
              <a:t>建立连接</a:t>
            </a:r>
            <a:br>
              <a:rPr lang="en-US" altLang="zh-CN"/>
            </a:br>
            <a:r>
              <a:rPr lang="en-US" altLang="zh-CN"/>
              <a:t>    public static void init(){</a:t>
            </a:r>
            <a:br>
              <a:rPr lang="en-US" altLang="zh-CN"/>
            </a:br>
            <a:r>
              <a:rPr lang="en-US" altLang="zh-CN"/>
              <a:t>        configuration  = HBaseConfiguration.create();</a:t>
            </a:r>
            <a:br>
              <a:rPr lang="en-US" altLang="zh-CN"/>
            </a:br>
            <a:r>
              <a:rPr lang="en-US" altLang="zh-CN"/>
              <a:t>        configuration.set("hbase.rootdir","hdfs://localhost:9000/hbase");</a:t>
            </a:r>
            <a:br>
              <a:rPr lang="en-US" altLang="zh-CN"/>
            </a:br>
            <a:r>
              <a:rPr lang="en-US" altLang="zh-CN"/>
              <a:t>        try{</a:t>
            </a:r>
            <a:br>
              <a:rPr lang="en-US" altLang="zh-CN"/>
            </a:br>
            <a:r>
              <a:rPr lang="en-US" altLang="zh-CN"/>
              <a:t>            connection = ConnectionFactory.createConnection(configuration);</a:t>
            </a:r>
            <a:br>
              <a:rPr lang="en-US" altLang="zh-CN"/>
            </a:br>
            <a:r>
              <a:rPr lang="en-US" altLang="zh-CN"/>
              <a:t>            admin = connection.getAdmin();</a:t>
            </a:r>
            <a:br>
              <a:rPr lang="en-US" altLang="zh-CN"/>
            </a:br>
            <a:r>
              <a:rPr lang="en-US" altLang="zh-CN"/>
              <a:t>        }catch (IOException e){</a:t>
            </a:r>
            <a:br>
              <a:rPr lang="en-US" altLang="zh-CN"/>
            </a:br>
            <a:r>
              <a:rPr lang="en-US" altLang="zh-CN"/>
              <a:t>            e.printStackTrace();</a:t>
            </a:r>
            <a:br>
              <a:rPr lang="en-US" altLang="zh-CN"/>
            </a:br>
            <a:r>
              <a:rPr lang="en-US" altLang="zh-CN"/>
              <a:t>        }</a:t>
            </a:r>
            <a:br>
              <a:rPr lang="en-US" altLang="zh-CN"/>
            </a:br>
            <a:r>
              <a:rPr lang="en-US" altLang="zh-CN"/>
              <a:t>    }</a:t>
            </a:r>
            <a:endParaRPr lang="zh-CN" altLang="en-US"/>
          </a:p>
        </p:txBody>
      </p:sp>
      <p:sp>
        <p:nvSpPr>
          <p:cNvPr id="68613" name="矩形 5"/>
          <p:cNvSpPr>
            <a:spLocks noChangeArrowheads="1"/>
          </p:cNvSpPr>
          <p:nvPr/>
        </p:nvSpPr>
        <p:spPr bwMode="auto">
          <a:xfrm>
            <a:off x="5715000" y="4495800"/>
            <a:ext cx="1656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/>
              <a:t>hbase-site.xml</a:t>
            </a:r>
            <a:endParaRPr lang="zh-CN" altLang="en-US"/>
          </a:p>
        </p:txBody>
      </p:sp>
      <p:sp>
        <p:nvSpPr>
          <p:cNvPr id="68614" name="Rectangle 2"/>
          <p:cNvSpPr>
            <a:spLocks noChangeArrowheads="1"/>
          </p:cNvSpPr>
          <p:nvPr/>
        </p:nvSpPr>
        <p:spPr bwMode="auto">
          <a:xfrm>
            <a:off x="5105400" y="4829494"/>
            <a:ext cx="5410200" cy="1723390"/>
          </a:xfrm>
          <a:prstGeom prst="rect">
            <a:avLst/>
          </a:prstGeom>
          <a:solidFill>
            <a:srgbClr val="F7F7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  <a:t>&lt;configuration&gt;</a:t>
            </a:r>
            <a:b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</a:br>
            <a: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  <a:t>&lt;property&gt;</a:t>
            </a:r>
            <a:b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</a:br>
            <a: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  <a:t>&lt;name&gt;hbase.rootdir&lt;/name&gt;</a:t>
            </a:r>
            <a:b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</a:br>
            <a: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  <a:t>&lt;value&gt;hdfs://localhost:9000/hbase&lt;/value&gt;</a:t>
            </a:r>
            <a:b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</a:br>
            <a:r>
              <a:rPr lang="zh-CN" altLang="zh-CN" sz="1600">
                <a:solidFill>
                  <a:srgbClr val="4D4D4C"/>
                </a:solidFill>
                <a:latin typeface="Arial Unicode MS" pitchFamily="34" charset="-122"/>
              </a:rPr>
              <a:t>&lt;/property&gt; </a:t>
            </a:r>
            <a:endParaRPr lang="en-US" altLang="zh-CN" sz="1600">
              <a:solidFill>
                <a:srgbClr val="4D4D4C"/>
              </a:solidFill>
              <a:latin typeface="Arial Unicode MS" pitchFamily="34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4D4D4C"/>
                </a:solidFill>
                <a:latin typeface="Arial Unicode MS" pitchFamily="34" charset="-122"/>
              </a:rPr>
              <a:t>&lt;/configuration&gt;</a:t>
            </a:r>
            <a:br>
              <a:rPr lang="en-US" altLang="zh-CN" sz="1600"/>
            </a:br>
            <a:endParaRPr lang="zh-CN" altLang="zh-CN" sz="1600"/>
          </a:p>
        </p:txBody>
      </p:sp>
      <p:sp>
        <p:nvSpPr>
          <p:cNvPr id="68615" name="TextBox 9"/>
          <p:cNvSpPr txBox="1">
            <a:spLocks noChangeArrowheads="1"/>
          </p:cNvSpPr>
          <p:nvPr/>
        </p:nvSpPr>
        <p:spPr bwMode="auto">
          <a:xfrm>
            <a:off x="5029200" y="4495800"/>
            <a:ext cx="868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备注：</a:t>
            </a:r>
            <a:endParaRPr lang="zh-CN" altLang="en-US"/>
          </a:p>
        </p:txBody>
      </p:sp>
      <p:sp>
        <p:nvSpPr>
          <p:cNvPr id="68616" name="矩形 10"/>
          <p:cNvSpPr>
            <a:spLocks noChangeArrowheads="1"/>
          </p:cNvSpPr>
          <p:nvPr/>
        </p:nvSpPr>
        <p:spPr bwMode="auto">
          <a:xfrm>
            <a:off x="7315200" y="6248401"/>
            <a:ext cx="307149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1400"/>
              <a:t>（单机版）</a:t>
            </a:r>
            <a:r>
              <a:rPr lang="en-US" altLang="zh-CN" sz="1400"/>
              <a:t>file:///DIRECTORY/hbase</a:t>
            </a:r>
            <a:endParaRPr lang="zh-CN" altLang="en-US" sz="140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467600" y="5791200"/>
            <a:ext cx="60960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69635" name="矩形 3"/>
          <p:cNvSpPr>
            <a:spLocks noChangeArrowheads="1"/>
          </p:cNvSpPr>
          <p:nvPr/>
        </p:nvSpPr>
        <p:spPr bwMode="auto">
          <a:xfrm>
            <a:off x="2362200" y="1828801"/>
            <a:ext cx="4572000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/>
              <a:t>//</a:t>
            </a:r>
            <a:r>
              <a:rPr lang="zh-CN" altLang="zh-CN"/>
              <a:t>关闭连接</a:t>
            </a:r>
            <a:br>
              <a:rPr lang="en-US" altLang="zh-CN"/>
            </a:br>
            <a:r>
              <a:rPr lang="en-US" altLang="zh-CN"/>
              <a:t>    public static void close(){</a:t>
            </a:r>
            <a:br>
              <a:rPr lang="en-US" altLang="zh-CN"/>
            </a:br>
            <a:r>
              <a:rPr lang="en-US" altLang="zh-CN"/>
              <a:t>        try{</a:t>
            </a:r>
            <a:br>
              <a:rPr lang="en-US" altLang="zh-CN"/>
            </a:br>
            <a:r>
              <a:rPr lang="en-US" altLang="zh-CN"/>
              <a:t>            if(admin != null){</a:t>
            </a:r>
            <a:br>
              <a:rPr lang="en-US" altLang="zh-CN"/>
            </a:br>
            <a:r>
              <a:rPr lang="en-US" altLang="zh-CN"/>
              <a:t>                admin.close();</a:t>
            </a:r>
            <a:br>
              <a:rPr lang="en-US" altLang="zh-CN"/>
            </a:br>
            <a:r>
              <a:rPr lang="en-US" altLang="zh-CN"/>
              <a:t>            }</a:t>
            </a:r>
            <a:br>
              <a:rPr lang="en-US" altLang="zh-CN"/>
            </a:br>
            <a:r>
              <a:rPr lang="en-US" altLang="zh-CN"/>
              <a:t>            if(null != connection){</a:t>
            </a:r>
            <a:br>
              <a:rPr lang="en-US" altLang="zh-CN"/>
            </a:br>
            <a:r>
              <a:rPr lang="en-US" altLang="zh-CN"/>
              <a:t>                connection.close();</a:t>
            </a:r>
            <a:br>
              <a:rPr lang="en-US" altLang="zh-CN"/>
            </a:br>
            <a:r>
              <a:rPr lang="en-US" altLang="zh-CN"/>
              <a:t>            }</a:t>
            </a:r>
            <a:br>
              <a:rPr lang="en-US" altLang="zh-CN"/>
            </a:br>
            <a:r>
              <a:rPr lang="en-US" altLang="zh-CN"/>
              <a:t>        }catch (IOException e){</a:t>
            </a:r>
            <a:br>
              <a:rPr lang="en-US" altLang="zh-CN"/>
            </a:br>
            <a:r>
              <a:rPr lang="en-US" altLang="zh-CN"/>
              <a:t>            e.printStackTrace();</a:t>
            </a:r>
            <a:br>
              <a:rPr lang="en-US" altLang="zh-CN"/>
            </a:br>
            <a:r>
              <a:rPr lang="en-US" altLang="zh-CN"/>
              <a:t>        }</a:t>
            </a:r>
            <a:br>
              <a:rPr lang="en-US" altLang="zh-CN"/>
            </a:br>
            <a:r>
              <a:rPr lang="en-US" altLang="zh-CN"/>
              <a:t>    }</a:t>
            </a:r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2057400" y="2272349"/>
            <a:ext cx="76962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zh-CN" altLang="zh-CN" sz="2000" b="1">
                <a:latin typeface="Calibri" panose="020F0502020204030204" charset="0"/>
                <a:cs typeface="Times New Roman" panose="02020603050405020304" pitchFamily="18" charset="0"/>
              </a:rPr>
              <a:t>①</a:t>
            </a:r>
            <a:r>
              <a: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创建表</a:t>
            </a:r>
            <a:endParaRPr lang="zh-CN" altLang="zh-CN" sz="2000"/>
          </a:p>
          <a:p>
            <a:pPr>
              <a:spcBef>
                <a:spcPts val="0"/>
              </a:spcBef>
            </a:pPr>
            <a:r>
              <a: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创建一个学生信息表，用来存储学生姓名（姓名作为行键，并且假设姓名不会重复）以及考试成绩，其中，考试成绩是一个列族，分别存储了各个科目的考试成绩。逻辑视图如表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4-18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所示。</a:t>
            </a:r>
            <a:endParaRPr lang="zh-CN" altLang="en-US" sz="200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0" y="4222433"/>
          <a:ext cx="7467600" cy="609600"/>
        </p:xfrm>
        <a:graphic>
          <a:graphicData uri="http://schemas.openxmlformats.org/drawingml/2006/table">
            <a:tbl>
              <a:tblPr/>
              <a:tblGrid>
                <a:gridCol w="2579688"/>
                <a:gridCol w="1804987"/>
                <a:gridCol w="1506538"/>
                <a:gridCol w="1576387"/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name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score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English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Math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Computer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674" name="矩形 6"/>
          <p:cNvSpPr>
            <a:spLocks noChangeArrowheads="1"/>
          </p:cNvSpPr>
          <p:nvPr/>
        </p:nvSpPr>
        <p:spPr bwMode="auto">
          <a:xfrm>
            <a:off x="4586289" y="3795395"/>
            <a:ext cx="29895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zh-CN"/>
              <a:t>表</a:t>
            </a:r>
            <a:r>
              <a:rPr lang="en-US" altLang="zh-CN"/>
              <a:t>4-18 </a:t>
            </a:r>
            <a:r>
              <a:rPr lang="zh-CN" altLang="zh-CN"/>
              <a:t>学生信息表的表结构</a:t>
            </a:r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71683" name="Rectangle 1"/>
          <p:cNvSpPr>
            <a:spLocks noChangeArrowheads="1"/>
          </p:cNvSpPr>
          <p:nvPr/>
        </p:nvSpPr>
        <p:spPr bwMode="auto">
          <a:xfrm>
            <a:off x="1600200" y="1501300"/>
            <a:ext cx="9525000" cy="5015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indent="514350" eaLnBrk="0" hangingPunct="0">
              <a:spcAft>
                <a:spcPts val="0"/>
              </a:spcAft>
              <a:defRPr/>
            </a:pPr>
            <a:r>
              <a:rPr lang="en-US" altLang="zh-CN" sz="1600" dirty="0"/>
              <a:t>/*</a:t>
            </a:r>
            <a:r>
              <a:rPr lang="zh-CN" altLang="en-US" sz="1600" dirty="0"/>
              <a:t>创建表*</a:t>
            </a:r>
            <a:r>
              <a:rPr lang="en-US" altLang="zh-CN" sz="1600" dirty="0"/>
              <a:t>/</a:t>
            </a:r>
            <a:endParaRPr lang="en-US" altLang="zh-CN" sz="1600" dirty="0"/>
          </a:p>
          <a:p>
            <a:pPr indent="5143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/**</a:t>
            </a:r>
            <a:endParaRPr lang="en-US" altLang="zh-CN" sz="1600" dirty="0"/>
          </a:p>
          <a:p>
            <a:pPr indent="5143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* @</a:t>
            </a:r>
            <a:r>
              <a:rPr lang="en-US" altLang="zh-CN" sz="1600" dirty="0" err="1"/>
              <a:t>param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myTableName</a:t>
            </a:r>
            <a:r>
              <a:rPr lang="en-US" altLang="zh-CN" sz="1600" dirty="0"/>
              <a:t> </a:t>
            </a:r>
            <a:r>
              <a:rPr lang="zh-CN" altLang="en-US" sz="1600" dirty="0"/>
              <a:t>表名</a:t>
            </a:r>
            <a:endParaRPr lang="zh-CN" altLang="en-US" sz="1600" dirty="0"/>
          </a:p>
          <a:p>
            <a:pPr indent="5143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/>
              <a:t>   * </a:t>
            </a:r>
            <a:r>
              <a:rPr lang="en-US" altLang="zh-CN" sz="1600" dirty="0"/>
              <a:t>@</a:t>
            </a:r>
            <a:r>
              <a:rPr lang="en-US" altLang="zh-CN" sz="1600" dirty="0" err="1"/>
              <a:t>param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colFamily</a:t>
            </a:r>
            <a:r>
              <a:rPr lang="zh-CN" altLang="en-US" sz="1600" dirty="0"/>
              <a:t>列族数组</a:t>
            </a:r>
            <a:endParaRPr lang="zh-CN" altLang="en-US" sz="1600" dirty="0"/>
          </a:p>
          <a:p>
            <a:pPr indent="5143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/>
              <a:t>   * </a:t>
            </a:r>
            <a:r>
              <a:rPr lang="en-US" altLang="zh-CN" sz="1600" dirty="0"/>
              <a:t>@throws Exception</a:t>
            </a:r>
            <a:endParaRPr lang="en-US" altLang="zh-CN" sz="1600" dirty="0"/>
          </a:p>
          <a:p>
            <a:pPr indent="5143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*/</a:t>
            </a:r>
            <a:endParaRPr lang="en-US" altLang="zh-CN" sz="1600" dirty="0"/>
          </a:p>
          <a:p>
            <a:pPr indent="5143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public static void </a:t>
            </a:r>
            <a:r>
              <a:rPr lang="en-US" altLang="zh-CN" sz="1600" dirty="0" err="1"/>
              <a:t>createTable</a:t>
            </a:r>
            <a:r>
              <a:rPr lang="en-US" altLang="zh-CN" sz="1600" dirty="0"/>
              <a:t>(String </a:t>
            </a:r>
            <a:r>
              <a:rPr lang="en-US" altLang="zh-CN" sz="1600" dirty="0" err="1"/>
              <a:t>myTableName,String</a:t>
            </a:r>
            <a:r>
              <a:rPr lang="en-US" altLang="zh-CN" sz="1600" dirty="0"/>
              <a:t>[] </a:t>
            </a:r>
            <a:r>
              <a:rPr lang="en-US" altLang="zh-CN" sz="1600" dirty="0" err="1"/>
              <a:t>colFamily</a:t>
            </a:r>
            <a:r>
              <a:rPr lang="en-US" altLang="zh-CN" sz="1600" dirty="0"/>
              <a:t>) throws </a:t>
            </a:r>
            <a:r>
              <a:rPr lang="en-US" altLang="zh-CN" sz="1600" dirty="0" err="1"/>
              <a:t>IOException</a:t>
            </a:r>
            <a:r>
              <a:rPr lang="en-US" altLang="zh-CN" sz="1600" dirty="0"/>
              <a:t> {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TableName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tableName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TableName.valueOf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myTableName</a:t>
            </a:r>
            <a:r>
              <a:rPr lang="en-US" altLang="zh-CN" sz="1600" dirty="0"/>
              <a:t>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if(</a:t>
            </a:r>
            <a:r>
              <a:rPr lang="en-US" altLang="zh-CN" sz="1600" dirty="0" err="1"/>
              <a:t>admin.tableExists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tableName</a:t>
            </a:r>
            <a:r>
              <a:rPr lang="en-US" altLang="zh-CN" sz="1600" dirty="0"/>
              <a:t>)){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</a:t>
            </a:r>
            <a:r>
              <a:rPr lang="en-US" altLang="zh-CN" sz="1600" dirty="0" err="1"/>
              <a:t>talbe</a:t>
            </a:r>
            <a:r>
              <a:rPr lang="en-US" altLang="zh-CN" sz="1600" dirty="0"/>
              <a:t> is exists!");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}else {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TableDescriptorBuilder</a:t>
            </a:r>
            <a:r>
              <a:rPr lang="en-US" altLang="zh-CN" sz="1600" dirty="0"/>
              <a:t> </a:t>
            </a:r>
            <a:r>
              <a:rPr lang="en-US" altLang="zh-CN" sz="1600" dirty="0" err="1"/>
              <a:t>tableDescriptor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TableDescriptorBuilder.newBuilder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tableName</a:t>
            </a:r>
            <a:r>
              <a:rPr lang="en-US" altLang="zh-CN" sz="1600" dirty="0"/>
              <a:t>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    for(String </a:t>
            </a:r>
            <a:r>
              <a:rPr lang="en-US" altLang="zh-CN" sz="1600" dirty="0" err="1"/>
              <a:t>str:colFamily</a:t>
            </a:r>
            <a:r>
              <a:rPr lang="en-US" altLang="zh-CN" sz="1600" dirty="0"/>
              <a:t>){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        </a:t>
            </a:r>
            <a:r>
              <a:rPr lang="en-US" altLang="zh-CN" sz="1600" dirty="0" err="1"/>
              <a:t>ColumnFamilyDescriptor</a:t>
            </a:r>
            <a:r>
              <a:rPr lang="en-US" altLang="zh-CN" sz="1600" dirty="0"/>
              <a:t> family = 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 err="1"/>
              <a:t>ColumnFamilyDescriptorBuilder.newBuilder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Bytes.toBytes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)).build();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        </a:t>
            </a:r>
            <a:r>
              <a:rPr lang="en-US" altLang="zh-CN" sz="1600" dirty="0" err="1"/>
              <a:t>tableDescriptor.setColumnFamily</a:t>
            </a:r>
            <a:r>
              <a:rPr lang="en-US" altLang="zh-CN" sz="1600" dirty="0"/>
              <a:t>(family);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    }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admin.createTable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tableDescriptor.build</a:t>
            </a:r>
            <a:r>
              <a:rPr lang="en-US" altLang="zh-CN" sz="1600" dirty="0"/>
              <a:t>());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} </a:t>
            </a:r>
            <a:endParaRPr lang="zh-CN" altLang="zh-CN" sz="1600" dirty="0"/>
          </a:p>
          <a:p>
            <a:pPr>
              <a:spcBef>
                <a:spcPts val="0"/>
              </a:spcBef>
              <a:defRPr/>
            </a:pPr>
            <a:r>
              <a:rPr lang="en-US" altLang="zh-CN" sz="1600" dirty="0"/>
              <a:t>    }</a:t>
            </a:r>
            <a:endParaRPr lang="en-US" altLang="zh-C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5715000" y="1501140"/>
            <a:ext cx="4724400" cy="11988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dirty="0"/>
              <a:t>在运行程序时，需要指定参数</a:t>
            </a:r>
            <a:r>
              <a:rPr lang="en-US" altLang="zh-CN" dirty="0" err="1"/>
              <a:t>myTableName</a:t>
            </a:r>
            <a:r>
              <a:rPr lang="zh-CN" altLang="en-US" dirty="0"/>
              <a:t>为“</a:t>
            </a:r>
            <a:r>
              <a:rPr lang="en-US" altLang="zh-CN" dirty="0"/>
              <a:t>student</a:t>
            </a:r>
            <a:r>
              <a:rPr lang="zh-CN" altLang="en-US" dirty="0"/>
              <a:t>”，</a:t>
            </a:r>
            <a:r>
              <a:rPr lang="en-US" altLang="zh-CN" dirty="0" err="1"/>
              <a:t>colFamily</a:t>
            </a:r>
            <a:r>
              <a:rPr lang="zh-CN" altLang="en-US" dirty="0"/>
              <a:t>为“</a:t>
            </a:r>
            <a:r>
              <a:rPr lang="en-US" altLang="zh-CN" dirty="0"/>
              <a:t>{“score”}</a:t>
            </a:r>
            <a:r>
              <a:rPr lang="zh-CN" altLang="en-US" dirty="0"/>
              <a:t>”</a:t>
            </a:r>
            <a:endParaRPr lang="en-US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程序的运行效果与如下</a:t>
            </a:r>
            <a:r>
              <a:rPr lang="en-US" altLang="zh-CN" dirty="0" err="1"/>
              <a:t>HBase</a:t>
            </a:r>
            <a:r>
              <a:rPr lang="en-US" altLang="zh-CN" dirty="0"/>
              <a:t>  Shell</a:t>
            </a:r>
            <a:r>
              <a:rPr lang="zh-CN" altLang="en-US" dirty="0"/>
              <a:t>命令等效：</a:t>
            </a:r>
            <a:endParaRPr lang="en-US" altLang="zh-CN" dirty="0"/>
          </a:p>
          <a:p>
            <a:pPr>
              <a:spcBef>
                <a:spcPts val="0"/>
              </a:spcBef>
              <a:defRPr/>
            </a:pPr>
            <a:r>
              <a:rPr lang="en-US" altLang="zh-CN" dirty="0"/>
              <a:t>create ‘student’, ‘score’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352800" y="3368675"/>
          <a:ext cx="5334000" cy="1219200"/>
        </p:xfrm>
        <a:graphic>
          <a:graphicData uri="http://schemas.openxmlformats.org/drawingml/2006/table">
            <a:tbl>
              <a:tblPr/>
              <a:tblGrid>
                <a:gridCol w="1396119"/>
                <a:gridCol w="1396118"/>
                <a:gridCol w="1283769"/>
                <a:gridCol w="1257993"/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name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score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English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Math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Computer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zhangsan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69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86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77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lisi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55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100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88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731" name="Rectangle 1"/>
          <p:cNvSpPr>
            <a:spLocks noChangeArrowheads="1"/>
          </p:cNvSpPr>
          <p:nvPr/>
        </p:nvSpPr>
        <p:spPr bwMode="auto">
          <a:xfrm>
            <a:off x="1752600" y="1759269"/>
            <a:ext cx="693420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zh-CN" altLang="zh-CN" b="1">
                <a:latin typeface="Calibri" panose="020F0502020204030204" charset="0"/>
                <a:cs typeface="Times New Roman" panose="02020603050405020304" pitchFamily="18" charset="0"/>
              </a:rPr>
              <a:t>②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添加数据</a:t>
            </a:r>
            <a:endParaRPr lang="zh-CN" altLang="zh-CN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现在向表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中添加如表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4-19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所示的数据。</a:t>
            </a:r>
            <a:endParaRPr lang="zh-CN" altLang="en-US"/>
          </a:p>
          <a:p>
            <a:pPr>
              <a:spcBef>
                <a:spcPts val="0"/>
              </a:spcBef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4-19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需要添加的数据</a:t>
            </a:r>
            <a:endParaRPr lang="zh-CN" altLang="en-US"/>
          </a:p>
        </p:txBody>
      </p:sp>
      <p:sp>
        <p:nvSpPr>
          <p:cNvPr id="72732" name="矩形 5"/>
          <p:cNvSpPr>
            <a:spLocks noChangeArrowheads="1"/>
          </p:cNvSpPr>
          <p:nvPr/>
        </p:nvSpPr>
        <p:spPr bwMode="auto">
          <a:xfrm>
            <a:off x="4495801" y="2895600"/>
            <a:ext cx="2532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zh-CN"/>
              <a:t>表</a:t>
            </a:r>
            <a:r>
              <a:rPr lang="en-US" altLang="zh-CN"/>
              <a:t>4-19 </a:t>
            </a:r>
            <a:r>
              <a:rPr lang="zh-CN" altLang="zh-CN"/>
              <a:t>需要添加的数据</a:t>
            </a:r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73731" name="Rectangle 1"/>
          <p:cNvSpPr>
            <a:spLocks noChangeArrowheads="1"/>
          </p:cNvSpPr>
          <p:nvPr/>
        </p:nvSpPr>
        <p:spPr bwMode="auto">
          <a:xfrm>
            <a:off x="2209800" y="1665289"/>
            <a:ext cx="830580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indent="285750" eaLnBrk="0" hangingPunct="0">
              <a:spcAft>
                <a:spcPts val="0"/>
              </a:spcAft>
              <a:defRPr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添加数据*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* @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tableName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表名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*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rowKey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行键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*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colFamily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列族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*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列限定符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*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*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@throws Exception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57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*/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public static void </a:t>
            </a:r>
            <a:r>
              <a:rPr lang="en-US" altLang="zh-CN" sz="1600" dirty="0" err="1"/>
              <a:t>insertData</a:t>
            </a:r>
            <a:r>
              <a:rPr lang="en-US" altLang="zh-CN" sz="1600" dirty="0"/>
              <a:t>(String </a:t>
            </a:r>
            <a:r>
              <a:rPr lang="en-US" altLang="zh-CN" sz="1600" dirty="0" err="1"/>
              <a:t>tableName,String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rowKey,String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colFamily,String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col,String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val</a:t>
            </a:r>
            <a:r>
              <a:rPr lang="en-US" altLang="zh-CN" sz="1600" dirty="0"/>
              <a:t>) throws </a:t>
            </a:r>
            <a:r>
              <a:rPr lang="en-US" altLang="zh-CN" sz="1600" dirty="0" err="1"/>
              <a:t>IOException</a:t>
            </a:r>
            <a:r>
              <a:rPr lang="en-US" altLang="zh-CN" sz="1600" dirty="0"/>
              <a:t> { 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Table </a:t>
            </a:r>
            <a:r>
              <a:rPr lang="en-US" altLang="zh-CN" sz="1600" dirty="0" err="1"/>
              <a:t>table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connection.getTable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TableName.valueOf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tableName</a:t>
            </a:r>
            <a:r>
              <a:rPr lang="en-US" altLang="zh-CN" sz="1600" dirty="0"/>
              <a:t>));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Put </a:t>
            </a:r>
            <a:r>
              <a:rPr lang="en-US" altLang="zh-CN" sz="1600" dirty="0" err="1"/>
              <a:t>put</a:t>
            </a:r>
            <a:r>
              <a:rPr lang="en-US" altLang="zh-CN" sz="1600" dirty="0"/>
              <a:t> = new Put(</a:t>
            </a:r>
            <a:r>
              <a:rPr lang="en-US" altLang="zh-CN" sz="1600" dirty="0" err="1"/>
              <a:t>rowKey.getBytes</a:t>
            </a:r>
            <a:r>
              <a:rPr lang="en-US" altLang="zh-CN" sz="1600" dirty="0"/>
              <a:t>());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put.addColumn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colFamily.getBytes</a:t>
            </a:r>
            <a:r>
              <a:rPr lang="en-US" altLang="zh-CN" sz="1600" dirty="0"/>
              <a:t>(),</a:t>
            </a:r>
            <a:r>
              <a:rPr lang="en-US" altLang="zh-CN" sz="1600" dirty="0" err="1"/>
              <a:t>col.getBytes</a:t>
            </a:r>
            <a:r>
              <a:rPr lang="en-US" altLang="zh-CN" sz="1600" dirty="0"/>
              <a:t>(), </a:t>
            </a:r>
            <a:r>
              <a:rPr lang="en-US" altLang="zh-CN" sz="1600" dirty="0" err="1"/>
              <a:t>val.getBytes</a:t>
            </a:r>
            <a:r>
              <a:rPr lang="en-US" altLang="zh-CN" sz="1600" dirty="0"/>
              <a:t>());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table.put</a:t>
            </a:r>
            <a:r>
              <a:rPr lang="en-US" altLang="zh-CN" sz="1600" dirty="0"/>
              <a:t>(put);</a:t>
            </a:r>
            <a:endParaRPr lang="zh-CN" altLang="zh-CN" sz="1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table.close</a:t>
            </a:r>
            <a:r>
              <a:rPr lang="en-US" altLang="zh-CN" sz="1600" dirty="0"/>
              <a:t>(); </a:t>
            </a:r>
            <a:endParaRPr lang="zh-CN" altLang="zh-CN" sz="1600" dirty="0"/>
          </a:p>
          <a:p>
            <a:pPr>
              <a:spcBef>
                <a:spcPts val="0"/>
              </a:spcBef>
              <a:defRPr/>
            </a:pPr>
            <a:r>
              <a:rPr lang="en-US" altLang="zh-CN" sz="1600" dirty="0"/>
              <a:t>    }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74755" name="TextBox 2"/>
          <p:cNvSpPr txBox="1">
            <a:spLocks noChangeArrowheads="1"/>
          </p:cNvSpPr>
          <p:nvPr/>
        </p:nvSpPr>
        <p:spPr bwMode="auto">
          <a:xfrm>
            <a:off x="1969135" y="1691005"/>
            <a:ext cx="83058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/>
              <a:t>添加数据时，需要分别设置参数</a:t>
            </a:r>
            <a:r>
              <a:rPr lang="en-US" altLang="zh-CN" sz="2000"/>
              <a:t>myTableName</a:t>
            </a:r>
            <a:r>
              <a:rPr lang="zh-CN" altLang="en-US" sz="2000"/>
              <a:t>、</a:t>
            </a:r>
            <a:r>
              <a:rPr lang="en-US" altLang="zh-CN" sz="2000"/>
              <a:t>rowkey</a:t>
            </a:r>
            <a:r>
              <a:rPr lang="zh-CN" altLang="en-US" sz="2000"/>
              <a:t>、</a:t>
            </a:r>
            <a:r>
              <a:rPr lang="en-US" altLang="zh-CN" sz="2000"/>
              <a:t>colFamily</a:t>
            </a:r>
            <a:r>
              <a:rPr lang="zh-CN" altLang="en-US" sz="2000"/>
              <a:t>、</a:t>
            </a:r>
            <a:r>
              <a:rPr lang="en-US" altLang="zh-CN" sz="2000"/>
              <a:t>col</a:t>
            </a:r>
            <a:r>
              <a:rPr lang="zh-CN" altLang="en-US" sz="2000"/>
              <a:t>、</a:t>
            </a:r>
            <a:r>
              <a:rPr lang="en-US" altLang="zh-CN" sz="2000"/>
              <a:t>val</a:t>
            </a:r>
            <a:r>
              <a:rPr lang="zh-CN" altLang="en-US" sz="2000"/>
              <a:t>的值，然后运行上述代码</a:t>
            </a:r>
            <a:endParaRPr lang="en-US" altLang="zh-CN" sz="2000"/>
          </a:p>
          <a:p>
            <a:pPr eaLnBrk="1" hangingPunct="1">
              <a:spcBef>
                <a:spcPts val="0"/>
              </a:spcBef>
            </a:pPr>
            <a:r>
              <a:rPr lang="zh-CN" altLang="zh-CN" sz="2000"/>
              <a:t>例如添加表</a:t>
            </a:r>
            <a:r>
              <a:rPr lang="en-US" altLang="zh-CN" sz="2000"/>
              <a:t>4-19</a:t>
            </a:r>
            <a:r>
              <a:rPr lang="zh-CN" altLang="zh-CN" sz="2000"/>
              <a:t>第一行数据时，为</a:t>
            </a:r>
            <a:r>
              <a:rPr lang="en-US" altLang="zh-CN" sz="2000"/>
              <a:t>insertData()</a:t>
            </a:r>
            <a:r>
              <a:rPr lang="zh-CN" altLang="zh-CN" sz="2000"/>
              <a:t>方法指定相应参数，并运行如下</a:t>
            </a:r>
            <a:r>
              <a:rPr lang="en-US" altLang="zh-CN" sz="2000"/>
              <a:t>3</a:t>
            </a:r>
            <a:r>
              <a:rPr lang="zh-CN" altLang="zh-CN" sz="2000"/>
              <a:t>行代码： </a:t>
            </a:r>
            <a:endParaRPr lang="zh-CN" altLang="zh-CN" sz="2000"/>
          </a:p>
        </p:txBody>
      </p:sp>
      <p:sp>
        <p:nvSpPr>
          <p:cNvPr id="74756" name="Rectangle 1"/>
          <p:cNvSpPr>
            <a:spLocks noChangeArrowheads="1"/>
          </p:cNvSpPr>
          <p:nvPr/>
        </p:nvSpPr>
        <p:spPr bwMode="auto">
          <a:xfrm>
            <a:off x="1969135" y="3428683"/>
            <a:ext cx="67564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insertData("student","zhangsan","score","English","69");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insertData("student","zhangsan","score","Math","86");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insertData("student","zhangsan","score","Computer","77");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7" name="矩形 4"/>
          <p:cNvSpPr>
            <a:spLocks noChangeArrowheads="1"/>
          </p:cNvSpPr>
          <p:nvPr/>
        </p:nvSpPr>
        <p:spPr bwMode="auto">
          <a:xfrm>
            <a:off x="1943100" y="4989514"/>
            <a:ext cx="4627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zh-CN" sz="2000"/>
              <a:t>上述代码与如下</a:t>
            </a:r>
            <a:r>
              <a:rPr lang="en-US" altLang="zh-CN" sz="2000"/>
              <a:t>HBase Shell</a:t>
            </a:r>
            <a:r>
              <a:rPr lang="zh-CN" altLang="zh-CN" sz="2000"/>
              <a:t>命令等效：</a:t>
            </a:r>
            <a:endParaRPr lang="zh-CN" altLang="zh-CN" sz="2000"/>
          </a:p>
        </p:txBody>
      </p:sp>
      <p:sp>
        <p:nvSpPr>
          <p:cNvPr id="74758" name="Rectangle 2"/>
          <p:cNvSpPr>
            <a:spLocks noChangeArrowheads="1"/>
          </p:cNvSpPr>
          <p:nvPr/>
        </p:nvSpPr>
        <p:spPr bwMode="auto">
          <a:xfrm>
            <a:off x="1905000" y="5474654"/>
            <a:ext cx="64008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put 'student',’zhangsan’,’score:English’,’69’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put 'student',’zhangsan’,’score:Math’,’86’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put 'student',’zhangsan’,’score:Computer’,’77’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75779" name="Rectangle 1"/>
          <p:cNvSpPr>
            <a:spLocks noChangeArrowheads="1"/>
          </p:cNvSpPr>
          <p:nvPr/>
        </p:nvSpPr>
        <p:spPr bwMode="auto">
          <a:xfrm>
            <a:off x="1336675" y="1482249"/>
            <a:ext cx="830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zh-CN" altLang="zh-CN" b="1">
                <a:latin typeface="Calibri" panose="020F0502020204030204" charset="0"/>
                <a:cs typeface="Times New Roman" panose="02020603050405020304" pitchFamily="18" charset="0"/>
              </a:rPr>
              <a:t>③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浏览数据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80" name="Rectangle 2"/>
          <p:cNvSpPr>
            <a:spLocks noChangeArrowheads="1"/>
          </p:cNvSpPr>
          <p:nvPr/>
        </p:nvSpPr>
        <p:spPr bwMode="auto">
          <a:xfrm>
            <a:off x="1752600" y="1850074"/>
            <a:ext cx="8686800" cy="4523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indent="400050" eaLnBrk="0" hangingPunct="0">
              <a:spcAft>
                <a:spcPts val="0"/>
              </a:spcAft>
              <a:defRPr/>
            </a:pPr>
            <a:r>
              <a:rPr lang="en-US" altLang="zh-CN" dirty="0"/>
              <a:t>/*</a:t>
            </a:r>
            <a:r>
              <a:rPr lang="zh-CN" altLang="en-US" dirty="0"/>
              <a:t>获取某单元格数据*</a:t>
            </a:r>
            <a:r>
              <a:rPr lang="en-US" altLang="zh-CN" dirty="0"/>
              <a:t>/</a:t>
            </a:r>
            <a:endParaRPr lang="en-US" altLang="zh-CN" dirty="0"/>
          </a:p>
          <a:p>
            <a:pPr indent="4000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/**	   * @</a:t>
            </a:r>
            <a:r>
              <a:rPr lang="en-US" altLang="zh-CN" dirty="0" err="1"/>
              <a:t>param</a:t>
            </a:r>
            <a:r>
              <a:rPr lang="en-US" altLang="zh-CN" dirty="0"/>
              <a:t> </a:t>
            </a:r>
            <a:r>
              <a:rPr lang="en-US" altLang="zh-CN" dirty="0" err="1"/>
              <a:t>tableName</a:t>
            </a:r>
            <a:r>
              <a:rPr lang="en-US" altLang="zh-CN" dirty="0"/>
              <a:t> </a:t>
            </a:r>
            <a:r>
              <a:rPr lang="zh-CN" altLang="en-US" dirty="0"/>
              <a:t>表名</a:t>
            </a:r>
            <a:endParaRPr lang="zh-CN" altLang="en-US" dirty="0"/>
          </a:p>
          <a:p>
            <a:pPr indent="4000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	   * </a:t>
            </a:r>
            <a:r>
              <a:rPr lang="en-US" altLang="zh-CN" dirty="0"/>
              <a:t>@</a:t>
            </a:r>
            <a:r>
              <a:rPr lang="en-US" altLang="zh-CN" dirty="0" err="1"/>
              <a:t>param</a:t>
            </a:r>
            <a:r>
              <a:rPr lang="en-US" altLang="zh-CN" dirty="0"/>
              <a:t> </a:t>
            </a:r>
            <a:r>
              <a:rPr lang="en-US" altLang="zh-CN" dirty="0" err="1"/>
              <a:t>rowKey</a:t>
            </a:r>
            <a:r>
              <a:rPr lang="en-US" altLang="zh-CN" dirty="0"/>
              <a:t> </a:t>
            </a:r>
            <a:r>
              <a:rPr lang="zh-CN" altLang="en-US" dirty="0"/>
              <a:t>行键</a:t>
            </a:r>
            <a:endParaRPr lang="zh-CN" altLang="en-US" dirty="0"/>
          </a:p>
          <a:p>
            <a:pPr indent="4000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	   * </a:t>
            </a:r>
            <a:r>
              <a:rPr lang="en-US" altLang="zh-CN" dirty="0"/>
              <a:t>@</a:t>
            </a:r>
            <a:r>
              <a:rPr lang="en-US" altLang="zh-CN" dirty="0" err="1"/>
              <a:t>param</a:t>
            </a:r>
            <a:r>
              <a:rPr lang="en-US" altLang="zh-CN" dirty="0"/>
              <a:t> </a:t>
            </a:r>
            <a:r>
              <a:rPr lang="en-US" altLang="zh-CN" dirty="0" err="1"/>
              <a:t>colFamily</a:t>
            </a:r>
            <a:r>
              <a:rPr lang="en-US" altLang="zh-CN" dirty="0"/>
              <a:t> </a:t>
            </a:r>
            <a:r>
              <a:rPr lang="zh-CN" altLang="en-US" dirty="0"/>
              <a:t>列族</a:t>
            </a:r>
            <a:endParaRPr lang="zh-CN" altLang="en-US" dirty="0"/>
          </a:p>
          <a:p>
            <a:pPr indent="4000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	   * </a:t>
            </a:r>
            <a:r>
              <a:rPr lang="en-US" altLang="zh-CN" dirty="0"/>
              <a:t>@</a:t>
            </a:r>
            <a:r>
              <a:rPr lang="en-US" altLang="zh-CN" dirty="0" err="1"/>
              <a:t>param</a:t>
            </a:r>
            <a:r>
              <a:rPr lang="en-US" altLang="zh-CN" dirty="0"/>
              <a:t> </a:t>
            </a:r>
            <a:r>
              <a:rPr lang="en-US" altLang="zh-CN" dirty="0" err="1"/>
              <a:t>col</a:t>
            </a:r>
            <a:r>
              <a:rPr lang="en-US" altLang="zh-CN" dirty="0"/>
              <a:t> </a:t>
            </a:r>
            <a:r>
              <a:rPr lang="zh-CN" altLang="en-US" dirty="0"/>
              <a:t>列限定符</a:t>
            </a:r>
            <a:endParaRPr lang="zh-CN" altLang="en-US" dirty="0"/>
          </a:p>
          <a:p>
            <a:pPr indent="400050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       * </a:t>
            </a:r>
            <a:r>
              <a:rPr lang="en-US" altLang="zh-CN" dirty="0"/>
              <a:t>@throws </a:t>
            </a:r>
            <a:r>
              <a:rPr lang="en-US" altLang="zh-CN" dirty="0" err="1"/>
              <a:t>IOException</a:t>
            </a:r>
            <a:r>
              <a:rPr lang="en-US" altLang="zh-CN" dirty="0"/>
              <a:t>     */</a:t>
            </a:r>
            <a:endParaRPr lang="en-US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     public static void </a:t>
            </a:r>
            <a:r>
              <a:rPr lang="en-US" altLang="zh-CN" dirty="0" err="1"/>
              <a:t>getData</a:t>
            </a:r>
            <a:r>
              <a:rPr lang="en-US" altLang="zh-CN" dirty="0"/>
              <a:t>(String </a:t>
            </a:r>
            <a:r>
              <a:rPr lang="en-US" altLang="zh-CN" dirty="0" err="1"/>
              <a:t>tableName,String</a:t>
            </a:r>
            <a:r>
              <a:rPr lang="en-US" altLang="zh-CN" dirty="0"/>
              <a:t> </a:t>
            </a:r>
            <a:r>
              <a:rPr lang="en-US" altLang="zh-CN" dirty="0" err="1"/>
              <a:t>rowKey,String</a:t>
            </a:r>
            <a:r>
              <a:rPr lang="en-US" altLang="zh-CN" dirty="0"/>
              <a:t> </a:t>
            </a:r>
            <a:r>
              <a:rPr lang="en-US" altLang="zh-CN" dirty="0" err="1"/>
              <a:t>colFamily</a:t>
            </a:r>
            <a:r>
              <a:rPr lang="en-US" altLang="zh-CN" dirty="0"/>
              <a:t>, String </a:t>
            </a:r>
            <a:r>
              <a:rPr lang="en-US" altLang="zh-CN" dirty="0" err="1"/>
              <a:t>col</a:t>
            </a:r>
            <a:r>
              <a:rPr lang="en-US" altLang="zh-CN" dirty="0"/>
              <a:t>)throws  </a:t>
            </a:r>
            <a:r>
              <a:rPr lang="en-US" altLang="zh-CN" dirty="0" err="1"/>
              <a:t>IOException</a:t>
            </a:r>
            <a:r>
              <a:rPr lang="en-US" altLang="zh-CN" dirty="0"/>
              <a:t>{ </a:t>
            </a:r>
            <a:endParaRPr lang="zh-CN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        Table </a:t>
            </a:r>
            <a:r>
              <a:rPr lang="en-US" altLang="zh-CN" dirty="0" err="1"/>
              <a:t>table</a:t>
            </a:r>
            <a:r>
              <a:rPr lang="en-US" altLang="zh-CN" dirty="0"/>
              <a:t> = </a:t>
            </a:r>
            <a:r>
              <a:rPr lang="en-US" altLang="zh-CN" dirty="0" err="1"/>
              <a:t>connection.getTable</a:t>
            </a:r>
            <a:r>
              <a:rPr lang="en-US" altLang="zh-CN" dirty="0"/>
              <a:t>(</a:t>
            </a:r>
            <a:r>
              <a:rPr lang="en-US" altLang="zh-CN" dirty="0" err="1"/>
              <a:t>TableName.valueOf</a:t>
            </a:r>
            <a:r>
              <a:rPr lang="en-US" altLang="zh-CN" dirty="0"/>
              <a:t>(</a:t>
            </a:r>
            <a:r>
              <a:rPr lang="en-US" altLang="zh-CN" dirty="0" err="1"/>
              <a:t>tableName</a:t>
            </a:r>
            <a:r>
              <a:rPr lang="en-US" altLang="zh-CN" dirty="0"/>
              <a:t>));</a:t>
            </a:r>
            <a:endParaRPr lang="zh-CN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        Get </a:t>
            </a:r>
            <a:r>
              <a:rPr lang="en-US" altLang="zh-CN" dirty="0" err="1"/>
              <a:t>get</a:t>
            </a:r>
            <a:r>
              <a:rPr lang="en-US" altLang="zh-CN" dirty="0"/>
              <a:t> = new Get(</a:t>
            </a:r>
            <a:r>
              <a:rPr lang="en-US" altLang="zh-CN" dirty="0" err="1"/>
              <a:t>rowKey.getBytes</a:t>
            </a:r>
            <a:r>
              <a:rPr lang="en-US" altLang="zh-CN" dirty="0"/>
              <a:t>());</a:t>
            </a:r>
            <a:endParaRPr lang="zh-CN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        </a:t>
            </a:r>
            <a:r>
              <a:rPr lang="en-US" altLang="zh-CN" dirty="0" err="1"/>
              <a:t>get.addColumn</a:t>
            </a:r>
            <a:r>
              <a:rPr lang="en-US" altLang="zh-CN" dirty="0"/>
              <a:t>(</a:t>
            </a:r>
            <a:r>
              <a:rPr lang="en-US" altLang="zh-CN" dirty="0" err="1"/>
              <a:t>colFamily.getBytes</a:t>
            </a:r>
            <a:r>
              <a:rPr lang="en-US" altLang="zh-CN" dirty="0"/>
              <a:t>(),</a:t>
            </a:r>
            <a:r>
              <a:rPr lang="en-US" altLang="zh-CN" dirty="0" err="1"/>
              <a:t>col.getBytes</a:t>
            </a:r>
            <a:r>
              <a:rPr lang="en-US" altLang="zh-CN" dirty="0"/>
              <a:t>());</a:t>
            </a:r>
            <a:endParaRPr lang="zh-CN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        Result </a:t>
            </a:r>
            <a:r>
              <a:rPr lang="en-US" altLang="zh-CN" dirty="0" err="1"/>
              <a:t>result</a:t>
            </a:r>
            <a:r>
              <a:rPr lang="en-US" altLang="zh-CN" dirty="0"/>
              <a:t> = </a:t>
            </a:r>
            <a:r>
              <a:rPr lang="en-US" altLang="zh-CN" dirty="0" err="1"/>
              <a:t>table.get</a:t>
            </a:r>
            <a:r>
              <a:rPr lang="en-US" altLang="zh-CN" dirty="0"/>
              <a:t>(get);</a:t>
            </a:r>
            <a:endParaRPr lang="zh-CN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(new String(</a:t>
            </a:r>
            <a:r>
              <a:rPr lang="en-US" altLang="zh-CN" dirty="0" err="1"/>
              <a:t>result.getValue</a:t>
            </a:r>
            <a:r>
              <a:rPr lang="en-US" altLang="zh-CN" dirty="0"/>
              <a:t>(</a:t>
            </a:r>
            <a:r>
              <a:rPr lang="en-US" altLang="zh-CN" dirty="0" err="1"/>
              <a:t>colFamily.getBytes</a:t>
            </a:r>
            <a:r>
              <a:rPr lang="en-US" altLang="zh-CN" dirty="0"/>
              <a:t>(),</a:t>
            </a:r>
            <a:r>
              <a:rPr lang="en-US" altLang="zh-CN" dirty="0" err="1"/>
              <a:t>col</a:t>
            </a:r>
            <a:r>
              <a:rPr lang="en-US" altLang="zh-CN" dirty="0"/>
              <a:t>==</a:t>
            </a:r>
            <a:r>
              <a:rPr lang="en-US" altLang="zh-CN" dirty="0" err="1"/>
              <a:t>null?null:col.getBytes</a:t>
            </a:r>
            <a:r>
              <a:rPr lang="en-US" altLang="zh-CN" dirty="0"/>
              <a:t>())));</a:t>
            </a:r>
            <a:endParaRPr lang="zh-CN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        </a:t>
            </a:r>
            <a:r>
              <a:rPr lang="en-US" altLang="zh-CN" dirty="0" err="1"/>
              <a:t>table.close</a:t>
            </a:r>
            <a:r>
              <a:rPr lang="en-US" altLang="zh-CN" dirty="0"/>
              <a:t>(); </a:t>
            </a:r>
            <a:endParaRPr lang="zh-CN" altLang="zh-CN" dirty="0"/>
          </a:p>
          <a:p>
            <a:pPr>
              <a:spcBef>
                <a:spcPts val="0"/>
              </a:spcBef>
              <a:defRPr/>
            </a:pPr>
            <a:r>
              <a:rPr lang="en-US" altLang="zh-CN" dirty="0"/>
              <a:t>    }</a:t>
            </a:r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>
                <a:sym typeface="+mn-ea"/>
              </a:rPr>
              <a:t>4.6.2	HBase常用Java API及应用实例</a:t>
            </a:r>
            <a:endParaRPr lang="zh-CN" altLang="en-US"/>
          </a:p>
        </p:txBody>
      </p:sp>
      <p:sp>
        <p:nvSpPr>
          <p:cNvPr id="76803" name="矩形 2"/>
          <p:cNvSpPr>
            <a:spLocks noChangeArrowheads="1"/>
          </p:cNvSpPr>
          <p:nvPr/>
        </p:nvSpPr>
        <p:spPr bwMode="auto">
          <a:xfrm>
            <a:off x="1731010" y="1691005"/>
            <a:ext cx="8153400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zh-CN" sz="2000"/>
              <a:t>比如，现在要获取姓名为“</a:t>
            </a:r>
            <a:r>
              <a:rPr lang="en-US" altLang="zh-CN" sz="2000"/>
              <a:t>zhangsan</a:t>
            </a:r>
            <a:r>
              <a:rPr lang="zh-CN" altLang="zh-CN" sz="2000"/>
              <a:t>”在“</a:t>
            </a:r>
            <a:r>
              <a:rPr lang="en-US" altLang="zh-CN" sz="2000"/>
              <a:t>English</a:t>
            </a:r>
            <a:r>
              <a:rPr lang="zh-CN" altLang="zh-CN" sz="2000"/>
              <a:t>”上的数据，就可以在运行上述代码时，指定参数</a:t>
            </a:r>
            <a:r>
              <a:rPr lang="en-US" altLang="zh-CN" sz="2000"/>
              <a:t>tableName</a:t>
            </a:r>
            <a:r>
              <a:rPr lang="zh-CN" altLang="zh-CN" sz="2000"/>
              <a:t>为“</a:t>
            </a:r>
            <a:r>
              <a:rPr lang="en-US" altLang="zh-CN" sz="2000"/>
              <a:t>student</a:t>
            </a:r>
            <a:r>
              <a:rPr lang="zh-CN" altLang="zh-CN" sz="2000"/>
              <a:t>”、</a:t>
            </a:r>
            <a:r>
              <a:rPr lang="en-US" altLang="zh-CN" sz="2000"/>
              <a:t>rowKey</a:t>
            </a:r>
            <a:r>
              <a:rPr lang="zh-CN" altLang="zh-CN" sz="2000"/>
              <a:t>为“</a:t>
            </a:r>
            <a:r>
              <a:rPr lang="en-US" altLang="zh-CN" sz="2000"/>
              <a:t>zhangsan</a:t>
            </a:r>
            <a:r>
              <a:rPr lang="zh-CN" altLang="zh-CN" sz="2000"/>
              <a:t>”、</a:t>
            </a:r>
            <a:r>
              <a:rPr lang="en-US" altLang="zh-CN" sz="2000"/>
              <a:t>colFamily</a:t>
            </a:r>
            <a:r>
              <a:rPr lang="zh-CN" altLang="zh-CN" sz="2000"/>
              <a:t>为“</a:t>
            </a:r>
            <a:r>
              <a:rPr lang="en-US" altLang="zh-CN" sz="2000"/>
              <a:t>score</a:t>
            </a:r>
            <a:r>
              <a:rPr lang="zh-CN" altLang="zh-CN" sz="2000"/>
              <a:t>”、</a:t>
            </a:r>
            <a:r>
              <a:rPr lang="en-US" altLang="zh-CN" sz="2000"/>
              <a:t>col</a:t>
            </a:r>
            <a:r>
              <a:rPr lang="zh-CN" altLang="zh-CN" sz="2000"/>
              <a:t>为“</a:t>
            </a:r>
            <a:r>
              <a:rPr lang="en-US" altLang="zh-CN" sz="2000"/>
              <a:t>English</a:t>
            </a:r>
            <a:r>
              <a:rPr lang="zh-CN" altLang="zh-CN" sz="2000"/>
              <a:t>”。</a:t>
            </a:r>
            <a:endParaRPr lang="en-US" altLang="zh-CN" sz="2000"/>
          </a:p>
          <a:p>
            <a:pPr eaLnBrk="1" hangingPunct="1"/>
            <a:endParaRPr lang="en-US" altLang="zh-CN" sz="200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getData("student", "zhangsan", "score", "English");</a:t>
            </a:r>
            <a:endParaRPr lang="en-US" altLang="zh-CN" sz="2000"/>
          </a:p>
          <a:p>
            <a:pPr eaLnBrk="1" hangingPunct="1"/>
            <a:endParaRPr lang="en-US" altLang="zh-CN" sz="2000"/>
          </a:p>
          <a:p>
            <a:pPr eaLnBrk="1" hangingPunct="1">
              <a:spcBef>
                <a:spcPts val="0"/>
              </a:spcBef>
            </a:pPr>
            <a:r>
              <a:rPr lang="zh-CN" altLang="zh-CN" sz="2000"/>
              <a:t>上述代码与如下</a:t>
            </a:r>
            <a:r>
              <a:rPr lang="en-US" altLang="zh-CN" sz="2000"/>
              <a:t>HBase Shell</a:t>
            </a:r>
            <a:r>
              <a:rPr lang="zh-CN" altLang="zh-CN" sz="2000"/>
              <a:t>命令等效：</a:t>
            </a:r>
            <a:endParaRPr lang="zh-CN" altLang="zh-CN" sz="2000"/>
          </a:p>
        </p:txBody>
      </p:sp>
      <p:sp>
        <p:nvSpPr>
          <p:cNvPr id="76804" name="矩形 3"/>
          <p:cNvSpPr>
            <a:spLocks noChangeArrowheads="1"/>
          </p:cNvSpPr>
          <p:nvPr/>
        </p:nvSpPr>
        <p:spPr bwMode="auto">
          <a:xfrm>
            <a:off x="1783715" y="4101149"/>
            <a:ext cx="78486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/>
              <a:t>get ‘student','zhangsan',{COLUMN=&gt;'score:English'}”</a:t>
            </a:r>
            <a:endParaRPr lang="en-US" altLang="zh-CN" sz="2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zh-CN" altLang="en-US" b="1"/>
              <a:t>本章小结</a:t>
            </a:r>
            <a:endParaRPr lang="zh-CN" altLang="en-US" b="1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19555"/>
            <a:ext cx="10515600" cy="4523105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altLang="zh-CN" sz="2000"/>
              <a:t>HBase</a:t>
            </a:r>
            <a:r>
              <a:rPr lang="zh-CN" altLang="en-US" sz="2000"/>
              <a:t>数据库是</a:t>
            </a:r>
            <a:r>
              <a:rPr lang="en-US" altLang="zh-CN" sz="2000"/>
              <a:t>BigTable</a:t>
            </a:r>
            <a:r>
              <a:rPr lang="zh-CN" altLang="en-US" sz="2000"/>
              <a:t>的开源实现，和</a:t>
            </a:r>
            <a:r>
              <a:rPr lang="en-US" altLang="zh-CN" sz="2000"/>
              <a:t>BigTable</a:t>
            </a:r>
            <a:r>
              <a:rPr lang="zh-CN" altLang="en-US" sz="2000"/>
              <a:t>一样，支持大规模海量数据，分布式并发数据处理效率极高，易于扩展且支持动态伸缩，适用于廉价设备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en-US" altLang="zh-CN" sz="2000"/>
              <a:t>HBase</a:t>
            </a:r>
            <a:r>
              <a:rPr lang="zh-CN" altLang="en-US" sz="2000"/>
              <a:t>实际上就是一个稀疏、多维、持久化存储的映射表，它采用</a:t>
            </a:r>
            <a:r>
              <a:rPr lang="zh-CN" altLang="en-US" sz="2000">
                <a:highlight>
                  <a:srgbClr val="FFFF00"/>
                </a:highlight>
              </a:rPr>
              <a:t>行键、列族：列限定符和时间戳</a:t>
            </a:r>
            <a:r>
              <a:rPr lang="zh-CN" altLang="en-US" sz="2000"/>
              <a:t>进行索引，每个值都是未经解释的字符串。介绍了</a:t>
            </a:r>
            <a:r>
              <a:rPr lang="en-US" altLang="zh-CN" sz="2000"/>
              <a:t>HBase</a:t>
            </a:r>
            <a:r>
              <a:rPr lang="zh-CN" altLang="en-US" sz="2000"/>
              <a:t>数据在概念视图和物理视图中的差别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en-US" altLang="zh-CN" sz="2000"/>
              <a:t>HBase</a:t>
            </a:r>
            <a:r>
              <a:rPr lang="zh-CN" altLang="en-US" sz="2000"/>
              <a:t>采用</a:t>
            </a:r>
            <a:r>
              <a:rPr lang="zh-CN" altLang="en-US" sz="2000">
                <a:highlight>
                  <a:srgbClr val="FFFF00"/>
                </a:highlight>
              </a:rPr>
              <a:t>分区存储</a:t>
            </a:r>
            <a:r>
              <a:rPr lang="zh-CN" altLang="en-US" sz="2000"/>
              <a:t>，一个大的表会被分拆许多个</a:t>
            </a:r>
            <a:r>
              <a:rPr lang="en-US" altLang="zh-CN" sz="2000"/>
              <a:t>Region</a:t>
            </a:r>
            <a:r>
              <a:rPr lang="zh-CN" altLang="en-US" sz="2000"/>
              <a:t>，这些</a:t>
            </a:r>
            <a:r>
              <a:rPr lang="en-US" altLang="zh-CN" sz="2000"/>
              <a:t>Region</a:t>
            </a:r>
            <a:r>
              <a:rPr lang="zh-CN" altLang="en-US" sz="2000"/>
              <a:t>会被分发到不同的服务器上实现分布式存储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en-US" altLang="zh-CN" sz="2000"/>
              <a:t>HBase</a:t>
            </a:r>
            <a:r>
              <a:rPr lang="zh-CN" altLang="en-US" sz="2000"/>
              <a:t>的</a:t>
            </a:r>
            <a:r>
              <a:rPr lang="zh-CN" altLang="en-US" sz="2000">
                <a:highlight>
                  <a:srgbClr val="FFFF00"/>
                </a:highlight>
              </a:rPr>
              <a:t>系统架构</a:t>
            </a:r>
            <a:r>
              <a:rPr lang="zh-CN" altLang="en-US" sz="2000"/>
              <a:t>包括客户端、</a:t>
            </a:r>
            <a:r>
              <a:rPr lang="en-US" altLang="zh-CN" sz="2000"/>
              <a:t>Zookeeper</a:t>
            </a:r>
            <a:r>
              <a:rPr lang="zh-CN" altLang="en-US" sz="2000"/>
              <a:t>服务器、</a:t>
            </a:r>
            <a:r>
              <a:rPr lang="en-US" altLang="zh-CN" sz="2000"/>
              <a:t>Master</a:t>
            </a:r>
            <a:r>
              <a:rPr lang="zh-CN" altLang="en-US" sz="2000"/>
              <a:t>主服务器、</a:t>
            </a:r>
            <a:r>
              <a:rPr lang="en-US" altLang="zh-CN" sz="2000"/>
              <a:t>Region</a:t>
            </a:r>
            <a:r>
              <a:rPr lang="zh-CN" altLang="en-US" sz="2000"/>
              <a:t>服务器。客户端包含访问</a:t>
            </a:r>
            <a:r>
              <a:rPr lang="en-US" altLang="zh-CN" sz="2000"/>
              <a:t>HBase</a:t>
            </a:r>
            <a:r>
              <a:rPr lang="zh-CN" altLang="en-US" sz="2000"/>
              <a:t>的接口；</a:t>
            </a:r>
            <a:r>
              <a:rPr lang="en-US" altLang="zh-CN" sz="2000"/>
              <a:t>Zookeeper</a:t>
            </a:r>
            <a:r>
              <a:rPr lang="zh-CN" altLang="en-US" sz="2000"/>
              <a:t>服务器负责提供稳定可靠的协同服务；</a:t>
            </a:r>
            <a:r>
              <a:rPr lang="en-US" altLang="zh-CN" sz="2000"/>
              <a:t>Master</a:t>
            </a:r>
            <a:r>
              <a:rPr lang="zh-CN" altLang="en-US" sz="2000"/>
              <a:t>主服务器主要负责表和</a:t>
            </a:r>
            <a:r>
              <a:rPr lang="en-US" altLang="zh-CN" sz="2000"/>
              <a:t>Region</a:t>
            </a:r>
            <a:r>
              <a:rPr lang="zh-CN" altLang="en-US" sz="2000"/>
              <a:t>的管理工作；</a:t>
            </a:r>
            <a:r>
              <a:rPr lang="en-US" altLang="zh-CN" sz="2000"/>
              <a:t>Region</a:t>
            </a:r>
            <a:r>
              <a:rPr lang="zh-CN" altLang="en-US" sz="2000"/>
              <a:t>服务器负责维护分配给自己的</a:t>
            </a:r>
            <a:r>
              <a:rPr lang="en-US" altLang="zh-CN" sz="2000"/>
              <a:t>Region</a:t>
            </a:r>
            <a:r>
              <a:rPr lang="zh-CN" altLang="en-US" sz="2000"/>
              <a:t>，并响应用户的读写请求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介绍了</a:t>
            </a:r>
            <a:r>
              <a:rPr lang="en-US" altLang="zh-CN" sz="2000"/>
              <a:t>HBase</a:t>
            </a:r>
            <a:r>
              <a:rPr lang="zh-CN" altLang="en-US" sz="2000">
                <a:highlight>
                  <a:srgbClr val="FFFF00"/>
                </a:highlight>
              </a:rPr>
              <a:t>运行机制</a:t>
            </a:r>
            <a:endParaRPr lang="zh-CN" altLang="en-US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b9c3927d-6b1a-4650-8a67-fa17890d985c}"/>
  <p:tag name="TABLE_ENDDRAG_ORIGIN_RECT" val="625*148"/>
  <p:tag name="TABLE_ENDDRAG_RECT" val="181*184*625*148"/>
</p:tagLst>
</file>

<file path=ppt/tags/tag2.xml><?xml version="1.0" encoding="utf-8"?>
<p:tagLst xmlns:p="http://schemas.openxmlformats.org/presentationml/2006/main">
  <p:tag name="TABLE_ENDDRAG_ORIGIN_RECT" val="653*130"/>
  <p:tag name="TABLE_ENDDRAG_RECT" val="186*356*653*130"/>
</p:tagLst>
</file>

<file path=ppt/tags/tag3.xml><?xml version="1.0" encoding="utf-8"?>
<p:tagLst xmlns:p="http://schemas.openxmlformats.org/presentationml/2006/main">
  <p:tag name="KSO_WM_UNIT_PLACING_PICTURE_USER_VIEWPORT" val="{&quot;height&quot;:3929.0330708661418,&quot;width&quot;:9134.258267716536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PLACING_PICTURE_USER_VIEWPORT" val="{&quot;height&quot;:4452.500787401575,&quot;width&quot;:4800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RAINPROBLEM" val="ProblemBody"/>
</p:tagLst>
</file>

<file path=ppt/tags/tag13.xml><?xml version="1.0" encoding="utf-8"?>
<p:tagLst xmlns:p="http://schemas.openxmlformats.org/presentationml/2006/main">
  <p:tag name="RAINPROBLEM" val="ProblemItem"/>
</p:tagLst>
</file>

<file path=ppt/tags/tag14.xml><?xml version="1.0" encoding="utf-8"?>
<p:tagLst xmlns:p="http://schemas.openxmlformats.org/presentationml/2006/main">
  <p:tag name="RAINPROBLEM" val="ProblemItem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p="http://schemas.openxmlformats.org/presentationml/2006/main">
  <p:tag name="RAINPROBLEM" val="ProblemSubmit"/>
  <p:tag name="RAINPROBLEMTYPE" val="MultipleChoice"/>
</p:tagLst>
</file>

<file path=ppt/tags/tag20.xml><?xml version="1.0" encoding="utf-8"?>
<p:tagLst xmlns:p="http://schemas.openxmlformats.org/presentationml/2006/main">
  <p:tag name="RAINPROBLEM" val="ProblemRemarkBoard"/>
</p:tagLst>
</file>

<file path=ppt/tags/tag21.xml><?xml version="1.0" encoding="utf-8"?>
<p:tagLst xmlns:p="http://schemas.openxmlformats.org/presentationml/2006/main">
  <p:tag name="PROBLEMREMARKTITLE" val="ProblemRemarkBoardTip"/>
</p:tagLst>
</file>

<file path=ppt/tags/tag22.xml><?xml version="1.0" encoding="utf-8"?>
<p:tagLst xmlns:p="http://schemas.openxmlformats.org/presentationml/2006/main">
  <p:tag name="RAINPROBLEM" val="ProblemRemark"/>
</p:tagLst>
</file>

<file path=ppt/tags/tag23.xml><?xml version="1.0" encoding="utf-8"?>
<p:tagLst xmlns:p="http://schemas.openxmlformats.org/presentationml/2006/main">
  <p:tag name="PROBLEMREMARKTITLE" val="ProblemRemarkBoardTitle"/>
</p:tagLst>
</file>

<file path=ppt/tags/tag24.xml><?xml version="1.0" encoding="utf-8"?>
<p:tagLst xmlns:p="http://schemas.openxmlformats.org/presentationml/2006/main">
  <p:tag name="PROBLEMREMARKTITLE" val="ProblemRemarkBoardTitle"/>
</p:tagLst>
</file>

<file path=ppt/tags/tag25.xml><?xml version="1.0" encoding="utf-8"?>
<p:tagLst xmlns:p="http://schemas.openxmlformats.org/presentationml/2006/main">
  <p:tag name="PROBLEMREMARKTITLE" val="ProblemRemarkBoardTitle"/>
</p:tagLst>
</file>

<file path=ppt/tags/tag26.xml><?xml version="1.0" encoding="utf-8"?>
<p:tagLst xmlns:p="http://schemas.openxmlformats.org/presentationml/2006/main">
  <p:tag name="PROBLEMREMARKTITLE" val="ProblemRemarkBoardTitle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p="http://schemas.openxmlformats.org/presentationml/2006/main">
  <p:tag name="RAINPROBLEM" val="MultipleChoice"/>
  <p:tag name="PROBLEMSCORE" val="1.0"/>
  <p:tag name="PROBLEMHASREMARK" val="True"/>
  <p:tag name="PROBLEMREMARK" val="Region 是HBase中&#13;负载均衡和数据分发&#13;的基本单位"/>
</p:tagLst>
</file>

<file path=ppt/tags/tag34.xml><?xml version="1.0" encoding="utf-8"?>
<p:tagLst xmlns:p="http://schemas.openxmlformats.org/presentationml/2006/main">
  <p:tag name="KSO_WM_UNIT_TABLE_BEAUTIFY" val="smartTable{a413486c-dd62-4055-8ee4-69bd2e0b1116}"/>
  <p:tag name="TABLE_ENDDRAG_ORIGIN_RECT" val="427*60"/>
  <p:tag name="TABLE_ENDDRAG_RECT" val="144*240*427*6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p="http://schemas.openxmlformats.org/presentationml/2006/main">
  <p:tag name="RAINPROBLEM" val="ProblemRemarkBoard"/>
</p:tagLst>
</file>

<file path=ppt/tags/tag46.xml><?xml version="1.0" encoding="utf-8"?>
<p:tagLst xmlns:p="http://schemas.openxmlformats.org/presentationml/2006/main">
  <p:tag name="PROBLEMREMARKTITLE" val="ProblemRemarkBoardTip"/>
</p:tagLst>
</file>

<file path=ppt/tags/tag47.xml><?xml version="1.0" encoding="utf-8"?>
<p:tagLst xmlns:p="http://schemas.openxmlformats.org/presentationml/2006/main">
  <p:tag name="RAINPROBLEM" val="ProblemRemark"/>
</p:tagLst>
</file>

<file path=ppt/tags/tag48.xml><?xml version="1.0" encoding="utf-8"?>
<p:tagLst xmlns:p="http://schemas.openxmlformats.org/presentationml/2006/main">
  <p:tag name="PROBLEMREMARKTITLE" val="ProblemRemarkBoardTitle"/>
</p:tagLst>
</file>

<file path=ppt/tags/tag49.xml><?xml version="1.0" encoding="utf-8"?>
<p:tagLst xmlns:p="http://schemas.openxmlformats.org/presentationml/2006/main">
  <p:tag name="PROBLEMREMARKTITLE" val="ProblemRemarkBoardTitle"/>
</p:tagLst>
</file>

<file path=ppt/tags/tag50.xml><?xml version="1.0" encoding="utf-8"?>
<p:tagLst xmlns:p="http://schemas.openxmlformats.org/presentationml/2006/main">
  <p:tag name="PROBLEMREMARKTITLE" val="ProblemRemarkBoardTitle"/>
</p:tagLst>
</file>

<file path=ppt/tags/tag51.xml><?xml version="1.0" encoding="utf-8"?>
<p:tagLst xmlns:p="http://schemas.openxmlformats.org/presentationml/2006/main">
  <p:tag name="PROBLEMREMARKTITLE" val="ProblemRemarkBoardTitle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" val="ProblemSetting"/>
  <p:tag name="RAINPROBLEMTYPE" val="MultipleChoice"/>
</p:tagLst>
</file>

<file path=ppt/tags/tag58.xml><?xml version="1.0" encoding="utf-8"?>
<p:tagLst xmlns:p="http://schemas.openxmlformats.org/presentationml/2006/main">
  <p:tag name="RAINPROBLEM" val="MultipleChoice"/>
  <p:tag name="PROBLEMSCORE" val="1.0"/>
  <p:tag name="PROBLEMHASREMARK" val="True"/>
  <p:tag name="PROBLEMREMARK" val="256MB/4KB=64K&#13;故64K*64*K个Region&#13;每个256MB&#13;故64K*64K*256MB=&#13;2^(6+6+8)KKMB&#13;=2^20KGB&#13;=2^20TB&#13;=1KKTB&#13;=1KPB&#13;=1EB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UNIT_PLACING_PICTURE_USER_VIEWPORT" val="{&quot;height&quot;:3600,&quot;width&quot;:11182.500787401576}"/>
</p:tagLst>
</file>

<file path=ppt/tags/tag103.xml><?xml version="1.0" encoding="utf-8"?>
<p:tagLst xmlns:p="http://schemas.openxmlformats.org/presentationml/2006/main">
  <p:tag name="RAINPROBLEM" val="ProblemBody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p="http://schemas.openxmlformats.org/presentationml/2006/main">
  <p:tag name="RAINPROBLEM" val="ProblemSubmit"/>
  <p:tag name="RAINPROBLEMTYPE" val="MultipleChoice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" val="ProblemSetting"/>
  <p:tag name="RAINPROBLEMTYPE" val="MultipleChoice"/>
</p:tagLst>
</file>

<file path=ppt/tags/tag119.xml><?xml version="1.0" encoding="utf-8"?>
<p:tagLst xmlns:p="http://schemas.openxmlformats.org/presentationml/2006/main">
  <p:tag name="RAINPROBLEM" val="MultipleChoice"/>
  <p:tag name="PROBLEMSCORE" val="1.0"/>
</p:tagLst>
</file>

<file path=ppt/tags/tag120.xml><?xml version="1.0" encoding="utf-8"?>
<p:tagLst xmlns:p="http://schemas.openxmlformats.org/presentationml/2006/main">
  <p:tag name="KSO_WM_UNIT_TABLE_BEAUTIFY" val="smartTable{ebc1ec3b-3498-4783-b92e-8e1027a010ea}"/>
</p:tagLst>
</file>

<file path=ppt/tags/tag121.xml><?xml version="1.0" encoding="utf-8"?>
<p:tagLst xmlns:p="http://schemas.openxmlformats.org/presentationml/2006/main">
  <p:tag name="KSO_WM_UNIT_TABLE_BEAUTIFY" val="smartTable{39ce8beb-1b39-4fce-b677-f60b47f23ec1}"/>
</p:tagLst>
</file>

<file path=ppt/tags/tag122.xml><?xml version="1.0" encoding="utf-8"?>
<p:tagLst xmlns:p="http://schemas.openxmlformats.org/presentationml/2006/main">
  <p:tag name="KSO_WPP_MARK_KEY" val="ec9b75fa-4624-433a-a047-25b87419e232"/>
  <p:tag name="COMMONDATA" val="eyJoZGlkIjoiOTRkNmFmZjRjMzI3MTQ3ZWFlYjhlZWM3YzFkOWNm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12648</Words>
  <Application>WPS 演示</Application>
  <PresentationFormat>宽屏</PresentationFormat>
  <Paragraphs>1245</Paragraphs>
  <Slides>59</Slides>
  <Notes>4</Notes>
  <HiddenSlides>15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6" baseType="lpstr">
      <vt:lpstr>Arial</vt:lpstr>
      <vt:lpstr>宋体</vt:lpstr>
      <vt:lpstr>Wingdings</vt:lpstr>
      <vt:lpstr>黑体</vt:lpstr>
      <vt:lpstr>Times New Roman</vt:lpstr>
      <vt:lpstr>等线 Light</vt:lpstr>
      <vt:lpstr>等线</vt:lpstr>
      <vt:lpstr>微软雅黑</vt:lpstr>
      <vt:lpstr>Arial Unicode MS</vt:lpstr>
      <vt:lpstr>Arial</vt:lpstr>
      <vt:lpstr>-apple-system</vt:lpstr>
      <vt:lpstr>Segoe Print</vt:lpstr>
      <vt:lpstr>Calibri</vt:lpstr>
      <vt:lpstr>Arial Unicode MS</vt:lpstr>
      <vt:lpstr>-apple-system</vt:lpstr>
      <vt:lpstr>Be Happy</vt:lpstr>
      <vt:lpstr>Office 主题​​</vt:lpstr>
      <vt:lpstr>第4章	分布式数据库HBase</vt:lpstr>
      <vt:lpstr>PowerPoint 演示文稿</vt:lpstr>
      <vt:lpstr>PowerPoint 演示文稿</vt:lpstr>
      <vt:lpstr>4.1	概述</vt:lpstr>
      <vt:lpstr>4.1.1	从BigTable说起</vt:lpstr>
      <vt:lpstr>4.1.1	从BigTable说起</vt:lpstr>
      <vt:lpstr>4.1.2	 HBase简介</vt:lpstr>
      <vt:lpstr>4.1.3	HBase VS 传统关系数据库</vt:lpstr>
      <vt:lpstr>4.1.3	HBase VS 传统关系数据库</vt:lpstr>
      <vt:lpstr>4.2	HBase访问接口</vt:lpstr>
      <vt:lpstr>4.3	HBase数据模型</vt:lpstr>
      <vt:lpstr>4.3.1	数据模型概述</vt:lpstr>
      <vt:lpstr>4.3.2	数据模型相关概念</vt:lpstr>
      <vt:lpstr>4.3.2	数据模型相关概念</vt:lpstr>
      <vt:lpstr>4.3.2	数据模型相关概念</vt:lpstr>
      <vt:lpstr>4.3.3	数据坐标</vt:lpstr>
      <vt:lpstr>4.3.4	概念视图</vt:lpstr>
      <vt:lpstr>4.3.5	物理视图</vt:lpstr>
      <vt:lpstr>4.3.6	面向列的存储</vt:lpstr>
      <vt:lpstr>4.4	HBase的实现原理</vt:lpstr>
      <vt:lpstr>4.4.1	HBase功能组件</vt:lpstr>
      <vt:lpstr>4.4.2	表和Region</vt:lpstr>
      <vt:lpstr>4.4.2	表和Region</vt:lpstr>
      <vt:lpstr>PowerPoint 演示文稿</vt:lpstr>
      <vt:lpstr>4.4.3	Region的定位</vt:lpstr>
      <vt:lpstr>4.4.3	Region的定位</vt:lpstr>
      <vt:lpstr>PowerPoint 演示文稿</vt:lpstr>
      <vt:lpstr>4.4.3	Region的定位</vt:lpstr>
      <vt:lpstr>4.5	HBase运行机制</vt:lpstr>
      <vt:lpstr>4.5.1	HBase系统架构</vt:lpstr>
      <vt:lpstr>4.5.1	HBase系统架构</vt:lpstr>
      <vt:lpstr>4.5.1	HBase系统架构</vt:lpstr>
      <vt:lpstr>4.5.2	Region服务器工作原理</vt:lpstr>
      <vt:lpstr>4.5.2	Region服务器工作原理</vt:lpstr>
      <vt:lpstr>4.5.2	Region服务器工作原理</vt:lpstr>
      <vt:lpstr>4.5.2	Region服务器工作原理</vt:lpstr>
      <vt:lpstr>4.5.2	Region服务器工作原理</vt:lpstr>
      <vt:lpstr>4.5.3	Store工作原理</vt:lpstr>
      <vt:lpstr>4.5.4	HLog工作原理</vt:lpstr>
      <vt:lpstr>4.5.4	HLog工作原理</vt:lpstr>
      <vt:lpstr>4.6 HBase编程实践</vt:lpstr>
      <vt:lpstr>4.6.1	HBase常用Shell命令</vt:lpstr>
      <vt:lpstr>4.6.1	HBase常用Shell命令</vt:lpstr>
      <vt:lpstr>4.6.1	HBase常用Shell命令</vt:lpstr>
      <vt:lpstr>4.6.1	HBase常用Shell命令</vt:lpstr>
      <vt:lpstr>PowerPoint 演示文稿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4.6.2	HBase常用Java API及应用实例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大数据管理</dc:title>
  <dc:creator>zitong chen</dc:creator>
  <cp:lastModifiedBy>大洋儿</cp:lastModifiedBy>
  <cp:revision>115</cp:revision>
  <dcterms:created xsi:type="dcterms:W3CDTF">2023-01-31T13:03:00Z</dcterms:created>
  <dcterms:modified xsi:type="dcterms:W3CDTF">2026-03-16T14:13:11Z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B543B239FCCB47D9BD4DD3FBB26E7D98</vt:lpwstr>
  </property>
  <property fmtid="{D5CDD505-2E9C-101B-9397-08002B2CF9AE}" pid="3" name="KSOProductBuildVer">
    <vt:lpwstr>2052-12.1.0.25225</vt:lpwstr>
  </property>
</Properties>
</file>