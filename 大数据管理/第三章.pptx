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1.svg" ContentType="image/svg+xml"/>
  <Override PartName="/ppt/media/image1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539" r:id="rId3"/>
    <p:sldId id="538" r:id="rId4"/>
    <p:sldId id="420" r:id="rId5"/>
    <p:sldId id="491" r:id="rId6"/>
    <p:sldId id="360" r:id="rId7"/>
    <p:sldId id="551" r:id="rId8"/>
    <p:sldId id="361" r:id="rId9"/>
    <p:sldId id="550" r:id="rId10"/>
    <p:sldId id="713" r:id="rId11"/>
    <p:sldId id="492" r:id="rId12"/>
    <p:sldId id="552" r:id="rId13"/>
    <p:sldId id="493" r:id="rId14"/>
    <p:sldId id="553" r:id="rId15"/>
    <p:sldId id="494" r:id="rId16"/>
    <p:sldId id="495" r:id="rId17"/>
    <p:sldId id="554" r:id="rId18"/>
    <p:sldId id="409" r:id="rId19"/>
    <p:sldId id="410" r:id="rId20"/>
    <p:sldId id="403" r:id="rId21"/>
    <p:sldId id="371" r:id="rId22"/>
    <p:sldId id="497" r:id="rId23"/>
    <p:sldId id="498" r:id="rId24"/>
    <p:sldId id="499" r:id="rId25"/>
    <p:sldId id="376" r:id="rId26"/>
    <p:sldId id="500" r:id="rId27"/>
    <p:sldId id="377" r:id="rId28"/>
    <p:sldId id="379" r:id="rId29"/>
    <p:sldId id="380" r:id="rId30"/>
    <p:sldId id="620" r:id="rId32"/>
    <p:sldId id="382" r:id="rId33"/>
    <p:sldId id="621" r:id="rId34"/>
    <p:sldId id="383" r:id="rId35"/>
    <p:sldId id="501" r:id="rId36"/>
    <p:sldId id="504" r:id="rId37"/>
    <p:sldId id="669" r:id="rId38"/>
    <p:sldId id="502" r:id="rId39"/>
    <p:sldId id="670" r:id="rId40"/>
    <p:sldId id="503" r:id="rId41"/>
    <p:sldId id="507" r:id="rId42"/>
    <p:sldId id="394" r:id="rId43"/>
    <p:sldId id="395" r:id="rId44"/>
    <p:sldId id="508" r:id="rId45"/>
    <p:sldId id="400" r:id="rId46"/>
    <p:sldId id="398" r:id="rId47"/>
    <p:sldId id="711" r:id="rId48"/>
    <p:sldId id="712" r:id="rId49"/>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二篇" id="{3E72D914-66BA-4579-8F52-77CB28085651}">
          <p14:sldIdLst>
            <p14:sldId id="539"/>
            <p14:sldId id="538"/>
            <p14:sldId id="420"/>
            <p14:sldId id="491"/>
            <p14:sldId id="360"/>
            <p14:sldId id="551"/>
            <p14:sldId id="361"/>
            <p14:sldId id="550"/>
            <p14:sldId id="713"/>
            <p14:sldId id="492"/>
            <p14:sldId id="552"/>
            <p14:sldId id="493"/>
            <p14:sldId id="553"/>
            <p14:sldId id="494"/>
            <p14:sldId id="495"/>
            <p14:sldId id="554"/>
            <p14:sldId id="409"/>
            <p14:sldId id="410"/>
            <p14:sldId id="403"/>
            <p14:sldId id="371"/>
            <p14:sldId id="497"/>
            <p14:sldId id="498"/>
            <p14:sldId id="499"/>
            <p14:sldId id="376"/>
            <p14:sldId id="500"/>
            <p14:sldId id="377"/>
            <p14:sldId id="379"/>
            <p14:sldId id="380"/>
            <p14:sldId id="620"/>
            <p14:sldId id="382"/>
            <p14:sldId id="621"/>
            <p14:sldId id="383"/>
            <p14:sldId id="501"/>
            <p14:sldId id="504"/>
            <p14:sldId id="669"/>
            <p14:sldId id="502"/>
            <p14:sldId id="670"/>
            <p14:sldId id="503"/>
            <p14:sldId id="507"/>
            <p14:sldId id="394"/>
            <p14:sldId id="395"/>
            <p14:sldId id="508"/>
            <p14:sldId id="400"/>
            <p14:sldId id="398"/>
            <p14:sldId id="711"/>
            <p14:sldId id="71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38" autoAdjust="0"/>
  </p:normalViewPr>
  <p:slideViewPr>
    <p:cSldViewPr snapToGrid="0">
      <p:cViewPr varScale="1">
        <p:scale>
          <a:sx n="75" d="100"/>
          <a:sy n="75" d="100"/>
        </p:scale>
        <p:origin x="38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gs" Target="tags/tag71.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507485E-3580-4F51-9850-04B7A0455BE0}" type="doc">
      <dgm:prSet loTypeId="urn:microsoft.com/office/officeart/2005/8/layout/orgChart1#1" loCatId="hierarchy" qsTypeId="urn:microsoft.com/office/officeart/2005/8/quickstyle/3d3#1" qsCatId="3D" csTypeId="urn:microsoft.com/office/officeart/2005/8/colors/colorful1#1" csCatId="colorful" phldr="1"/>
      <dgm:spPr/>
      <dgm:t>
        <a:bodyPr/>
        <a:lstStyle/>
        <a:p>
          <a:endParaRPr lang="zh-CN" altLang="en-US"/>
        </a:p>
      </dgm:t>
    </dgm:pt>
    <dgm:pt modelId="{34ABDE0F-9B8A-4237-B412-E154AAFC5E3E}">
      <dgm:prSet phldrT="[文本]" custT="1"/>
      <dgm:spPr/>
      <dgm:t>
        <a:bodyPr/>
        <a:lstStyle/>
        <a:p>
          <a:r>
            <a:rPr lang="zh-CN" altLang="en-US" sz="2800" dirty="0"/>
            <a:t>服务器</a:t>
          </a:r>
        </a:p>
      </dgm:t>
    </dgm:pt>
    <dgm:pt modelId="{3F299211-CF9E-406E-AE7D-A0D1E5181F8F}" cxnId="{F0641C9B-ADFB-435D-BE23-02D905ECF718}" type="parTrans">
      <dgm:prSet/>
      <dgm:spPr/>
      <dgm:t>
        <a:bodyPr/>
        <a:lstStyle/>
        <a:p>
          <a:endParaRPr lang="zh-CN" altLang="en-US"/>
        </a:p>
      </dgm:t>
    </dgm:pt>
    <dgm:pt modelId="{9257CAA1-226C-453C-AD5B-227227F7C5FD}" cxnId="{F0641C9B-ADFB-435D-BE23-02D905ECF718}" type="sibTrans">
      <dgm:prSet/>
      <dgm:spPr/>
      <dgm:t>
        <a:bodyPr/>
        <a:lstStyle/>
        <a:p>
          <a:endParaRPr lang="zh-CN" altLang="en-US"/>
        </a:p>
      </dgm:t>
    </dgm:pt>
    <dgm:pt modelId="{48C7EA45-C840-4155-A22D-BC81A15B6773}" type="asst">
      <dgm:prSet phldrT="[文本]"/>
      <dgm:spPr>
        <a:solidFill>
          <a:srgbClr val="92D050"/>
        </a:solidFill>
      </dgm:spPr>
      <dgm:t>
        <a:bodyPr/>
        <a:lstStyle/>
        <a:p>
          <a:r>
            <a:rPr lang="zh-CN" altLang="en-US" dirty="0"/>
            <a:t>特定的</a:t>
          </a:r>
          <a:endParaRPr lang="en-US" altLang="zh-CN" dirty="0"/>
        </a:p>
        <a:p>
          <a:r>
            <a:rPr lang="zh-CN" altLang="en-US" dirty="0"/>
            <a:t>通信协议</a:t>
          </a:r>
        </a:p>
      </dgm:t>
    </dgm:pt>
    <dgm:pt modelId="{BD3CD2DB-BA20-421E-945A-D42B953665F7}" cxnId="{317D7255-81E7-4524-B202-BDCC39F35332}" type="parTrans">
      <dgm:prSet/>
      <dgm:spPr/>
      <dgm:t>
        <a:bodyPr/>
        <a:lstStyle/>
        <a:p>
          <a:endParaRPr lang="zh-CN" altLang="en-US"/>
        </a:p>
      </dgm:t>
    </dgm:pt>
    <dgm:pt modelId="{376F340C-FA64-4C3F-BA29-AE63C50559F2}" cxnId="{317D7255-81E7-4524-B202-BDCC39F35332}" type="sibTrans">
      <dgm:prSet/>
      <dgm:spPr/>
      <dgm:t>
        <a:bodyPr/>
        <a:lstStyle/>
        <a:p>
          <a:endParaRPr lang="zh-CN" altLang="en-US"/>
        </a:p>
      </dgm:t>
    </dgm:pt>
    <dgm:pt modelId="{469C2C08-5D1B-47FC-A8D0-12B06764C46F}">
      <dgm:prSet phldrT="[文本]" custT="1"/>
      <dgm:spPr/>
      <dgm:t>
        <a:bodyPr/>
        <a:lstStyle/>
        <a:p>
          <a:r>
            <a:rPr lang="zh-CN" altLang="en-US" sz="2800" dirty="0"/>
            <a:t>客户端</a:t>
          </a:r>
        </a:p>
      </dgm:t>
    </dgm:pt>
    <dgm:pt modelId="{68DFCDE3-A342-4B72-962D-372E6A1A5270}" cxnId="{01ED6C2B-B3BD-481A-A307-EEDF779E1CF7}" type="parTrans">
      <dgm:prSet/>
      <dgm:spPr/>
      <dgm:t>
        <a:bodyPr/>
        <a:lstStyle/>
        <a:p>
          <a:endParaRPr lang="zh-CN" altLang="en-US"/>
        </a:p>
      </dgm:t>
    </dgm:pt>
    <dgm:pt modelId="{B14040E5-0BE4-4670-88D3-5F0730E56FAD}" cxnId="{01ED6C2B-B3BD-481A-A307-EEDF779E1CF7}" type="sibTrans">
      <dgm:prSet/>
      <dgm:spPr/>
      <dgm:t>
        <a:bodyPr/>
        <a:lstStyle/>
        <a:p>
          <a:endParaRPr lang="zh-CN" altLang="en-US"/>
        </a:p>
      </dgm:t>
    </dgm:pt>
    <dgm:pt modelId="{865D54E3-A46E-4CB7-BD96-8278EAADA41D}">
      <dgm:prSet phldrT="[文本]" custT="1"/>
      <dgm:spPr/>
      <dgm:t>
        <a:bodyPr/>
        <a:lstStyle/>
        <a:p>
          <a:r>
            <a:rPr lang="zh-CN" altLang="en-US" sz="2800" dirty="0"/>
            <a:t>客户端</a:t>
          </a:r>
        </a:p>
      </dgm:t>
    </dgm:pt>
    <dgm:pt modelId="{729D9324-DCEF-4EF8-BF0D-1348C7EF90FC}" cxnId="{25C1003A-45D5-40E7-BF8A-FDEF896AFF17}" type="parTrans">
      <dgm:prSet/>
      <dgm:spPr/>
      <dgm:t>
        <a:bodyPr/>
        <a:lstStyle/>
        <a:p>
          <a:endParaRPr lang="zh-CN" altLang="en-US"/>
        </a:p>
      </dgm:t>
    </dgm:pt>
    <dgm:pt modelId="{853AE398-ACAA-4B4E-B60C-62D7728CE82C}" cxnId="{25C1003A-45D5-40E7-BF8A-FDEF896AFF17}" type="sibTrans">
      <dgm:prSet/>
      <dgm:spPr/>
      <dgm:t>
        <a:bodyPr/>
        <a:lstStyle/>
        <a:p>
          <a:endParaRPr lang="zh-CN" altLang="en-US"/>
        </a:p>
      </dgm:t>
    </dgm:pt>
    <dgm:pt modelId="{F68F6638-2A09-48B3-B775-1349E80BC0E5}">
      <dgm:prSet phldrT="[文本]" custT="1"/>
      <dgm:spPr/>
      <dgm:t>
        <a:bodyPr/>
        <a:lstStyle/>
        <a:p>
          <a:r>
            <a:rPr lang="zh-CN" altLang="en-US" sz="2800" dirty="0"/>
            <a:t>客户端</a:t>
          </a:r>
        </a:p>
      </dgm:t>
    </dgm:pt>
    <dgm:pt modelId="{3D2BCF7D-7028-4B13-B185-6D5EFB1ECA73}" cxnId="{0197A7A0-30CF-4445-9E04-7242DE79AFE6}" type="parTrans">
      <dgm:prSet/>
      <dgm:spPr/>
      <dgm:t>
        <a:bodyPr/>
        <a:lstStyle/>
        <a:p>
          <a:endParaRPr lang="zh-CN" altLang="en-US"/>
        </a:p>
      </dgm:t>
    </dgm:pt>
    <dgm:pt modelId="{F4E702CF-0103-425C-A034-07D7B7CF85BB}" cxnId="{0197A7A0-30CF-4445-9E04-7242DE79AFE6}" type="sibTrans">
      <dgm:prSet/>
      <dgm:spPr/>
      <dgm:t>
        <a:bodyPr/>
        <a:lstStyle/>
        <a:p>
          <a:endParaRPr lang="zh-CN" altLang="en-US"/>
        </a:p>
      </dgm:t>
    </dgm:pt>
    <dgm:pt modelId="{ED4DA8FC-F883-455F-91C9-A082BB1DFCC2}" type="pres">
      <dgm:prSet presAssocID="{A507485E-3580-4F51-9850-04B7A0455BE0}" presName="hierChild1" presStyleCnt="0">
        <dgm:presLayoutVars>
          <dgm:orgChart val="1"/>
          <dgm:chPref val="1"/>
          <dgm:dir/>
          <dgm:animOne val="branch"/>
          <dgm:animLvl val="lvl"/>
          <dgm:resizeHandles/>
        </dgm:presLayoutVars>
      </dgm:prSet>
      <dgm:spPr/>
    </dgm:pt>
    <dgm:pt modelId="{F70D26EE-9327-43A0-97D8-4A29D5F0E574}" type="pres">
      <dgm:prSet presAssocID="{34ABDE0F-9B8A-4237-B412-E154AAFC5E3E}" presName="hierRoot1" presStyleCnt="0">
        <dgm:presLayoutVars>
          <dgm:hierBranch val="init"/>
        </dgm:presLayoutVars>
      </dgm:prSet>
      <dgm:spPr/>
    </dgm:pt>
    <dgm:pt modelId="{6CA76BA9-BB12-4C51-9E87-DD173C1113D8}" type="pres">
      <dgm:prSet presAssocID="{34ABDE0F-9B8A-4237-B412-E154AAFC5E3E}" presName="rootComposite1" presStyleCnt="0"/>
      <dgm:spPr/>
    </dgm:pt>
    <dgm:pt modelId="{9F7BFF4F-1C21-4915-8B72-E1E522E95F73}" type="pres">
      <dgm:prSet presAssocID="{34ABDE0F-9B8A-4237-B412-E154AAFC5E3E}" presName="rootText1" presStyleLbl="node0" presStyleIdx="0" presStyleCnt="1">
        <dgm:presLayoutVars>
          <dgm:chPref val="3"/>
        </dgm:presLayoutVars>
      </dgm:prSet>
      <dgm:spPr/>
    </dgm:pt>
    <dgm:pt modelId="{F4641409-5564-4C36-ACEC-D57AC4392EA8}" type="pres">
      <dgm:prSet presAssocID="{34ABDE0F-9B8A-4237-B412-E154AAFC5E3E}" presName="rootConnector1" presStyleLbl="node1" presStyleIdx="0" presStyleCnt="0"/>
      <dgm:spPr/>
    </dgm:pt>
    <dgm:pt modelId="{53B4EA6C-0F8A-427B-A461-9CB3A02591DB}" type="pres">
      <dgm:prSet presAssocID="{34ABDE0F-9B8A-4237-B412-E154AAFC5E3E}" presName="hierChild2" presStyleCnt="0"/>
      <dgm:spPr/>
    </dgm:pt>
    <dgm:pt modelId="{F1D301A0-0306-4480-903A-D489DD929426}" type="pres">
      <dgm:prSet presAssocID="{68DFCDE3-A342-4B72-962D-372E6A1A5270}" presName="Name37" presStyleLbl="parChTrans1D2" presStyleIdx="0" presStyleCnt="4"/>
      <dgm:spPr/>
    </dgm:pt>
    <dgm:pt modelId="{A382F0DC-6C93-4B23-A51E-9EC3F77DB6BC}" type="pres">
      <dgm:prSet presAssocID="{469C2C08-5D1B-47FC-A8D0-12B06764C46F}" presName="hierRoot2" presStyleCnt="0">
        <dgm:presLayoutVars>
          <dgm:hierBranch val="init"/>
        </dgm:presLayoutVars>
      </dgm:prSet>
      <dgm:spPr/>
    </dgm:pt>
    <dgm:pt modelId="{078DAC71-4794-47B8-BAB0-7F9AFAC18E78}" type="pres">
      <dgm:prSet presAssocID="{469C2C08-5D1B-47FC-A8D0-12B06764C46F}" presName="rootComposite" presStyleCnt="0"/>
      <dgm:spPr/>
    </dgm:pt>
    <dgm:pt modelId="{651C66E4-F2EB-47D3-9B08-75170E4FF120}" type="pres">
      <dgm:prSet presAssocID="{469C2C08-5D1B-47FC-A8D0-12B06764C46F}" presName="rootText" presStyleLbl="node2" presStyleIdx="0" presStyleCnt="3">
        <dgm:presLayoutVars>
          <dgm:chPref val="3"/>
        </dgm:presLayoutVars>
      </dgm:prSet>
      <dgm:spPr/>
    </dgm:pt>
    <dgm:pt modelId="{DB3A16BE-5864-4525-9E0F-8AB014AA0A1F}" type="pres">
      <dgm:prSet presAssocID="{469C2C08-5D1B-47FC-A8D0-12B06764C46F}" presName="rootConnector" presStyleLbl="node2" presStyleIdx="0" presStyleCnt="3"/>
      <dgm:spPr/>
    </dgm:pt>
    <dgm:pt modelId="{5E1A739A-EEA3-47D5-ACB8-870A8D078045}" type="pres">
      <dgm:prSet presAssocID="{469C2C08-5D1B-47FC-A8D0-12B06764C46F}" presName="hierChild4" presStyleCnt="0"/>
      <dgm:spPr/>
    </dgm:pt>
    <dgm:pt modelId="{9194FAA3-8F18-48D2-A994-DC7F42AC521F}" type="pres">
      <dgm:prSet presAssocID="{469C2C08-5D1B-47FC-A8D0-12B06764C46F}" presName="hierChild5" presStyleCnt="0"/>
      <dgm:spPr/>
    </dgm:pt>
    <dgm:pt modelId="{D687DD1B-BB20-48A1-A1E0-65818A4362E3}" type="pres">
      <dgm:prSet presAssocID="{729D9324-DCEF-4EF8-BF0D-1348C7EF90FC}" presName="Name37" presStyleLbl="parChTrans1D2" presStyleIdx="1" presStyleCnt="4"/>
      <dgm:spPr/>
    </dgm:pt>
    <dgm:pt modelId="{36CDE23B-676F-4D7D-8F6D-B106ACAD8EB4}" type="pres">
      <dgm:prSet presAssocID="{865D54E3-A46E-4CB7-BD96-8278EAADA41D}" presName="hierRoot2" presStyleCnt="0">
        <dgm:presLayoutVars>
          <dgm:hierBranch val="init"/>
        </dgm:presLayoutVars>
      </dgm:prSet>
      <dgm:spPr/>
    </dgm:pt>
    <dgm:pt modelId="{9FB85CC4-0A67-4849-9C4D-5098C30159C2}" type="pres">
      <dgm:prSet presAssocID="{865D54E3-A46E-4CB7-BD96-8278EAADA41D}" presName="rootComposite" presStyleCnt="0"/>
      <dgm:spPr/>
    </dgm:pt>
    <dgm:pt modelId="{03DF1179-00E0-4890-A5BB-4CCFE548BDD1}" type="pres">
      <dgm:prSet presAssocID="{865D54E3-A46E-4CB7-BD96-8278EAADA41D}" presName="rootText" presStyleLbl="node2" presStyleIdx="1" presStyleCnt="3">
        <dgm:presLayoutVars>
          <dgm:chPref val="3"/>
        </dgm:presLayoutVars>
      </dgm:prSet>
      <dgm:spPr/>
    </dgm:pt>
    <dgm:pt modelId="{F897F8F4-F0E9-4929-A3D0-643CC3D30149}" type="pres">
      <dgm:prSet presAssocID="{865D54E3-A46E-4CB7-BD96-8278EAADA41D}" presName="rootConnector" presStyleLbl="node2" presStyleIdx="1" presStyleCnt="3"/>
      <dgm:spPr/>
    </dgm:pt>
    <dgm:pt modelId="{F4C202E4-1596-4329-AEB4-752882F23B55}" type="pres">
      <dgm:prSet presAssocID="{865D54E3-A46E-4CB7-BD96-8278EAADA41D}" presName="hierChild4" presStyleCnt="0"/>
      <dgm:spPr/>
    </dgm:pt>
    <dgm:pt modelId="{01E1276C-7D65-4FB1-9971-CE73C1818E3F}" type="pres">
      <dgm:prSet presAssocID="{865D54E3-A46E-4CB7-BD96-8278EAADA41D}" presName="hierChild5" presStyleCnt="0"/>
      <dgm:spPr/>
    </dgm:pt>
    <dgm:pt modelId="{5666AAFE-EE9F-4AD1-B856-6E78A77B3F52}" type="pres">
      <dgm:prSet presAssocID="{3D2BCF7D-7028-4B13-B185-6D5EFB1ECA73}" presName="Name37" presStyleLbl="parChTrans1D2" presStyleIdx="2" presStyleCnt="4"/>
      <dgm:spPr/>
    </dgm:pt>
    <dgm:pt modelId="{7B6C9E45-3E62-4F0E-8680-8C025FA4E570}" type="pres">
      <dgm:prSet presAssocID="{F68F6638-2A09-48B3-B775-1349E80BC0E5}" presName="hierRoot2" presStyleCnt="0">
        <dgm:presLayoutVars>
          <dgm:hierBranch val="init"/>
        </dgm:presLayoutVars>
      </dgm:prSet>
      <dgm:spPr/>
    </dgm:pt>
    <dgm:pt modelId="{7910FA48-8287-4DEE-AA8F-799981760E3C}" type="pres">
      <dgm:prSet presAssocID="{F68F6638-2A09-48B3-B775-1349E80BC0E5}" presName="rootComposite" presStyleCnt="0"/>
      <dgm:spPr/>
    </dgm:pt>
    <dgm:pt modelId="{ECF163CD-C338-4E4B-81FB-2E44653BA05E}" type="pres">
      <dgm:prSet presAssocID="{F68F6638-2A09-48B3-B775-1349E80BC0E5}" presName="rootText" presStyleLbl="node2" presStyleIdx="2" presStyleCnt="3">
        <dgm:presLayoutVars>
          <dgm:chPref val="3"/>
        </dgm:presLayoutVars>
      </dgm:prSet>
      <dgm:spPr/>
    </dgm:pt>
    <dgm:pt modelId="{640EBC20-4D15-413C-92B0-03B011FAAC23}" type="pres">
      <dgm:prSet presAssocID="{F68F6638-2A09-48B3-B775-1349E80BC0E5}" presName="rootConnector" presStyleLbl="node2" presStyleIdx="2" presStyleCnt="3"/>
      <dgm:spPr/>
    </dgm:pt>
    <dgm:pt modelId="{E983755E-AE58-4438-88BF-ED568BF94F92}" type="pres">
      <dgm:prSet presAssocID="{F68F6638-2A09-48B3-B775-1349E80BC0E5}" presName="hierChild4" presStyleCnt="0"/>
      <dgm:spPr/>
    </dgm:pt>
    <dgm:pt modelId="{0E7EA3E8-BF1E-4627-9A73-8761B3684E85}" type="pres">
      <dgm:prSet presAssocID="{F68F6638-2A09-48B3-B775-1349E80BC0E5}" presName="hierChild5" presStyleCnt="0"/>
      <dgm:spPr/>
    </dgm:pt>
    <dgm:pt modelId="{32896D7D-C737-405C-A83F-F747F8B860FA}" type="pres">
      <dgm:prSet presAssocID="{34ABDE0F-9B8A-4237-B412-E154AAFC5E3E}" presName="hierChild3" presStyleCnt="0"/>
      <dgm:spPr/>
    </dgm:pt>
    <dgm:pt modelId="{5012D5A4-9FE6-4672-8D8F-A07BE82652FA}" type="pres">
      <dgm:prSet presAssocID="{BD3CD2DB-BA20-421E-945A-D42B953665F7}" presName="Name111" presStyleLbl="parChTrans1D2" presStyleIdx="3" presStyleCnt="4"/>
      <dgm:spPr/>
    </dgm:pt>
    <dgm:pt modelId="{26CDF2B0-EE8F-488C-8A2F-6B255CAF8CCE}" type="pres">
      <dgm:prSet presAssocID="{48C7EA45-C840-4155-A22D-BC81A15B6773}" presName="hierRoot3" presStyleCnt="0">
        <dgm:presLayoutVars>
          <dgm:hierBranch val="init"/>
        </dgm:presLayoutVars>
      </dgm:prSet>
      <dgm:spPr/>
    </dgm:pt>
    <dgm:pt modelId="{1C619236-410B-4522-92D6-A0EE2A2E4FD6}" type="pres">
      <dgm:prSet presAssocID="{48C7EA45-C840-4155-A22D-BC81A15B6773}" presName="rootComposite3" presStyleCnt="0"/>
      <dgm:spPr/>
    </dgm:pt>
    <dgm:pt modelId="{85FE68D9-D613-41F7-A43A-DEDE434E4250}" type="pres">
      <dgm:prSet presAssocID="{48C7EA45-C840-4155-A22D-BC81A15B6773}" presName="rootText3" presStyleLbl="asst1" presStyleIdx="0" presStyleCnt="1">
        <dgm:presLayoutVars>
          <dgm:chPref val="3"/>
        </dgm:presLayoutVars>
      </dgm:prSet>
      <dgm:spPr/>
    </dgm:pt>
    <dgm:pt modelId="{079A095B-9FEB-43A7-B28F-13F6DF801405}" type="pres">
      <dgm:prSet presAssocID="{48C7EA45-C840-4155-A22D-BC81A15B6773}" presName="rootConnector3" presStyleLbl="asst1" presStyleIdx="0" presStyleCnt="1"/>
      <dgm:spPr/>
    </dgm:pt>
    <dgm:pt modelId="{597BE210-6C34-40FE-BC06-C68D280E07FA}" type="pres">
      <dgm:prSet presAssocID="{48C7EA45-C840-4155-A22D-BC81A15B6773}" presName="hierChild6" presStyleCnt="0"/>
      <dgm:spPr/>
    </dgm:pt>
    <dgm:pt modelId="{890287F5-F4BA-4AEA-B3B3-3D0A07CAD1D7}" type="pres">
      <dgm:prSet presAssocID="{48C7EA45-C840-4155-A22D-BC81A15B6773}" presName="hierChild7" presStyleCnt="0"/>
      <dgm:spPr/>
    </dgm:pt>
  </dgm:ptLst>
  <dgm:cxnLst>
    <dgm:cxn modelId="{AFAC950F-65E9-4B79-9657-D51AF3B153D1}" type="presOf" srcId="{34ABDE0F-9B8A-4237-B412-E154AAFC5E3E}" destId="{F4641409-5564-4C36-ACEC-D57AC4392EA8}" srcOrd="1" destOrd="0" presId="urn:microsoft.com/office/officeart/2005/8/layout/orgChart1#1"/>
    <dgm:cxn modelId="{E181F826-7134-42B3-80C9-C5B3339E7E29}" type="presOf" srcId="{34ABDE0F-9B8A-4237-B412-E154AAFC5E3E}" destId="{9F7BFF4F-1C21-4915-8B72-E1E522E95F73}" srcOrd="0" destOrd="0" presId="urn:microsoft.com/office/officeart/2005/8/layout/orgChart1#1"/>
    <dgm:cxn modelId="{01ED6C2B-B3BD-481A-A307-EEDF779E1CF7}" srcId="{34ABDE0F-9B8A-4237-B412-E154AAFC5E3E}" destId="{469C2C08-5D1B-47FC-A8D0-12B06764C46F}" srcOrd="1" destOrd="0" parTransId="{68DFCDE3-A342-4B72-962D-372E6A1A5270}" sibTransId="{B14040E5-0BE4-4670-88D3-5F0730E56FAD}"/>
    <dgm:cxn modelId="{EC42C12B-5B84-4BF5-B439-853CC45E48D2}" type="presOf" srcId="{F68F6638-2A09-48B3-B775-1349E80BC0E5}" destId="{640EBC20-4D15-413C-92B0-03B011FAAC23}" srcOrd="1" destOrd="0" presId="urn:microsoft.com/office/officeart/2005/8/layout/orgChart1#1"/>
    <dgm:cxn modelId="{25C1003A-45D5-40E7-BF8A-FDEF896AFF17}" srcId="{34ABDE0F-9B8A-4237-B412-E154AAFC5E3E}" destId="{865D54E3-A46E-4CB7-BD96-8278EAADA41D}" srcOrd="2" destOrd="0" parTransId="{729D9324-DCEF-4EF8-BF0D-1348C7EF90FC}" sibTransId="{853AE398-ACAA-4B4E-B60C-62D7728CE82C}"/>
    <dgm:cxn modelId="{7A707D6D-6DC9-47C5-B35A-497E6991E29D}" type="presOf" srcId="{68DFCDE3-A342-4B72-962D-372E6A1A5270}" destId="{F1D301A0-0306-4480-903A-D489DD929426}" srcOrd="0" destOrd="0" presId="urn:microsoft.com/office/officeart/2005/8/layout/orgChart1#1"/>
    <dgm:cxn modelId="{F573AB4D-CA64-42B6-B071-B868BF212E62}" type="presOf" srcId="{469C2C08-5D1B-47FC-A8D0-12B06764C46F}" destId="{DB3A16BE-5864-4525-9E0F-8AB014AA0A1F}" srcOrd="1" destOrd="0" presId="urn:microsoft.com/office/officeart/2005/8/layout/orgChart1#1"/>
    <dgm:cxn modelId="{317D7255-81E7-4524-B202-BDCC39F35332}" srcId="{34ABDE0F-9B8A-4237-B412-E154AAFC5E3E}" destId="{48C7EA45-C840-4155-A22D-BC81A15B6773}" srcOrd="0" destOrd="0" parTransId="{BD3CD2DB-BA20-421E-945A-D42B953665F7}" sibTransId="{376F340C-FA64-4C3F-BA29-AE63C50559F2}"/>
    <dgm:cxn modelId="{C6463880-2875-4028-8C34-5F165B115AD8}" type="presOf" srcId="{F68F6638-2A09-48B3-B775-1349E80BC0E5}" destId="{ECF163CD-C338-4E4B-81FB-2E44653BA05E}" srcOrd="0" destOrd="0" presId="urn:microsoft.com/office/officeart/2005/8/layout/orgChart1#1"/>
    <dgm:cxn modelId="{B018A382-6D90-4190-B571-32E2C110EB46}" type="presOf" srcId="{865D54E3-A46E-4CB7-BD96-8278EAADA41D}" destId="{F897F8F4-F0E9-4929-A3D0-643CC3D30149}" srcOrd="1" destOrd="0" presId="urn:microsoft.com/office/officeart/2005/8/layout/orgChart1#1"/>
    <dgm:cxn modelId="{4D9F7890-F54F-4F0A-8683-E856F8129A4A}" type="presOf" srcId="{48C7EA45-C840-4155-A22D-BC81A15B6773}" destId="{85FE68D9-D613-41F7-A43A-DEDE434E4250}" srcOrd="0" destOrd="0" presId="urn:microsoft.com/office/officeart/2005/8/layout/orgChart1#1"/>
    <dgm:cxn modelId="{70D45792-9C3B-4AAE-9D3F-B5D574351A3E}" type="presOf" srcId="{865D54E3-A46E-4CB7-BD96-8278EAADA41D}" destId="{03DF1179-00E0-4890-A5BB-4CCFE548BDD1}" srcOrd="0" destOrd="0" presId="urn:microsoft.com/office/officeart/2005/8/layout/orgChart1#1"/>
    <dgm:cxn modelId="{FDFEE293-6E21-40DD-B2C1-3BD8A916B44E}" type="presOf" srcId="{BD3CD2DB-BA20-421E-945A-D42B953665F7}" destId="{5012D5A4-9FE6-4672-8D8F-A07BE82652FA}" srcOrd="0" destOrd="0" presId="urn:microsoft.com/office/officeart/2005/8/layout/orgChart1#1"/>
    <dgm:cxn modelId="{F0641C9B-ADFB-435D-BE23-02D905ECF718}" srcId="{A507485E-3580-4F51-9850-04B7A0455BE0}" destId="{34ABDE0F-9B8A-4237-B412-E154AAFC5E3E}" srcOrd="0" destOrd="0" parTransId="{3F299211-CF9E-406E-AE7D-A0D1E5181F8F}" sibTransId="{9257CAA1-226C-453C-AD5B-227227F7C5FD}"/>
    <dgm:cxn modelId="{0197A7A0-30CF-4445-9E04-7242DE79AFE6}" srcId="{34ABDE0F-9B8A-4237-B412-E154AAFC5E3E}" destId="{F68F6638-2A09-48B3-B775-1349E80BC0E5}" srcOrd="3" destOrd="0" parTransId="{3D2BCF7D-7028-4B13-B185-6D5EFB1ECA73}" sibTransId="{F4E702CF-0103-425C-A034-07D7B7CF85BB}"/>
    <dgm:cxn modelId="{2B5BC2C9-D541-4728-8B2E-8F8A21E0F759}" type="presOf" srcId="{A507485E-3580-4F51-9850-04B7A0455BE0}" destId="{ED4DA8FC-F883-455F-91C9-A082BB1DFCC2}" srcOrd="0" destOrd="0" presId="urn:microsoft.com/office/officeart/2005/8/layout/orgChart1#1"/>
    <dgm:cxn modelId="{C89A49CA-70CF-4B49-A9AF-4EAA2D8268D0}" type="presOf" srcId="{48C7EA45-C840-4155-A22D-BC81A15B6773}" destId="{079A095B-9FEB-43A7-B28F-13F6DF801405}" srcOrd="1" destOrd="0" presId="urn:microsoft.com/office/officeart/2005/8/layout/orgChart1#1"/>
    <dgm:cxn modelId="{F03F08E2-F33D-4D63-A988-C8D23DF1825D}" type="presOf" srcId="{469C2C08-5D1B-47FC-A8D0-12B06764C46F}" destId="{651C66E4-F2EB-47D3-9B08-75170E4FF120}" srcOrd="0" destOrd="0" presId="urn:microsoft.com/office/officeart/2005/8/layout/orgChart1#1"/>
    <dgm:cxn modelId="{A08413ED-1B25-4341-B919-37D366CB74E5}" type="presOf" srcId="{3D2BCF7D-7028-4B13-B185-6D5EFB1ECA73}" destId="{5666AAFE-EE9F-4AD1-B856-6E78A77B3F52}" srcOrd="0" destOrd="0" presId="urn:microsoft.com/office/officeart/2005/8/layout/orgChart1#1"/>
    <dgm:cxn modelId="{8D3162FC-F1B1-410C-935D-C29B094DF277}" type="presOf" srcId="{729D9324-DCEF-4EF8-BF0D-1348C7EF90FC}" destId="{D687DD1B-BB20-48A1-A1E0-65818A4362E3}" srcOrd="0" destOrd="0" presId="urn:microsoft.com/office/officeart/2005/8/layout/orgChart1#1"/>
    <dgm:cxn modelId="{AD0D8B41-534D-4444-9F71-403127361EC8}" type="presParOf" srcId="{ED4DA8FC-F883-455F-91C9-A082BB1DFCC2}" destId="{F70D26EE-9327-43A0-97D8-4A29D5F0E574}" srcOrd="0" destOrd="0" presId="urn:microsoft.com/office/officeart/2005/8/layout/orgChart1#1"/>
    <dgm:cxn modelId="{7E3FA0DB-39FB-4B06-BEE9-CA2060FAF07E}" type="presParOf" srcId="{F70D26EE-9327-43A0-97D8-4A29D5F0E574}" destId="{6CA76BA9-BB12-4C51-9E87-DD173C1113D8}" srcOrd="0" destOrd="0" presId="urn:microsoft.com/office/officeart/2005/8/layout/orgChart1#1"/>
    <dgm:cxn modelId="{DDE2E73A-A054-4C41-B553-54B03F7260F8}" type="presParOf" srcId="{6CA76BA9-BB12-4C51-9E87-DD173C1113D8}" destId="{9F7BFF4F-1C21-4915-8B72-E1E522E95F73}" srcOrd="0" destOrd="0" presId="urn:microsoft.com/office/officeart/2005/8/layout/orgChart1#1"/>
    <dgm:cxn modelId="{EBFD4451-A39B-46AB-91CD-F2693ED440E9}" type="presParOf" srcId="{6CA76BA9-BB12-4C51-9E87-DD173C1113D8}" destId="{F4641409-5564-4C36-ACEC-D57AC4392EA8}" srcOrd="1" destOrd="0" presId="urn:microsoft.com/office/officeart/2005/8/layout/orgChart1#1"/>
    <dgm:cxn modelId="{D59285FC-8BA2-4234-8A79-AD6B5E9C7EE0}" type="presParOf" srcId="{F70D26EE-9327-43A0-97D8-4A29D5F0E574}" destId="{53B4EA6C-0F8A-427B-A461-9CB3A02591DB}" srcOrd="1" destOrd="0" presId="urn:microsoft.com/office/officeart/2005/8/layout/orgChart1#1"/>
    <dgm:cxn modelId="{581ECF67-3250-4541-A7F0-1B8542A1E5E8}" type="presParOf" srcId="{53B4EA6C-0F8A-427B-A461-9CB3A02591DB}" destId="{F1D301A0-0306-4480-903A-D489DD929426}" srcOrd="0" destOrd="0" presId="urn:microsoft.com/office/officeart/2005/8/layout/orgChart1#1"/>
    <dgm:cxn modelId="{7B1C5CEB-4884-4C23-A1DF-68F7A29B4BDD}" type="presParOf" srcId="{53B4EA6C-0F8A-427B-A461-9CB3A02591DB}" destId="{A382F0DC-6C93-4B23-A51E-9EC3F77DB6BC}" srcOrd="1" destOrd="0" presId="urn:microsoft.com/office/officeart/2005/8/layout/orgChart1#1"/>
    <dgm:cxn modelId="{0572867E-364E-43AF-8F16-BB79C023E55A}" type="presParOf" srcId="{A382F0DC-6C93-4B23-A51E-9EC3F77DB6BC}" destId="{078DAC71-4794-47B8-BAB0-7F9AFAC18E78}" srcOrd="0" destOrd="0" presId="urn:microsoft.com/office/officeart/2005/8/layout/orgChart1#1"/>
    <dgm:cxn modelId="{4859558C-0072-461B-9AFE-35CC762A4987}" type="presParOf" srcId="{078DAC71-4794-47B8-BAB0-7F9AFAC18E78}" destId="{651C66E4-F2EB-47D3-9B08-75170E4FF120}" srcOrd="0" destOrd="0" presId="urn:microsoft.com/office/officeart/2005/8/layout/orgChart1#1"/>
    <dgm:cxn modelId="{E88B0878-622E-41BB-B560-73D5E2B13FFA}" type="presParOf" srcId="{078DAC71-4794-47B8-BAB0-7F9AFAC18E78}" destId="{DB3A16BE-5864-4525-9E0F-8AB014AA0A1F}" srcOrd="1" destOrd="0" presId="urn:microsoft.com/office/officeart/2005/8/layout/orgChart1#1"/>
    <dgm:cxn modelId="{C2F92979-3E34-43FF-9E16-18C6A72CFA41}" type="presParOf" srcId="{A382F0DC-6C93-4B23-A51E-9EC3F77DB6BC}" destId="{5E1A739A-EEA3-47D5-ACB8-870A8D078045}" srcOrd="1" destOrd="0" presId="urn:microsoft.com/office/officeart/2005/8/layout/orgChart1#1"/>
    <dgm:cxn modelId="{CD0C796B-7A53-4F38-B7F5-A88A6941727E}" type="presParOf" srcId="{A382F0DC-6C93-4B23-A51E-9EC3F77DB6BC}" destId="{9194FAA3-8F18-48D2-A994-DC7F42AC521F}" srcOrd="2" destOrd="0" presId="urn:microsoft.com/office/officeart/2005/8/layout/orgChart1#1"/>
    <dgm:cxn modelId="{EDC6F96B-AA3E-4BEB-824F-1672426CD0C1}" type="presParOf" srcId="{53B4EA6C-0F8A-427B-A461-9CB3A02591DB}" destId="{D687DD1B-BB20-48A1-A1E0-65818A4362E3}" srcOrd="2" destOrd="0" presId="urn:microsoft.com/office/officeart/2005/8/layout/orgChart1#1"/>
    <dgm:cxn modelId="{A5069241-E3BD-4232-8195-37BF8A5A5DBC}" type="presParOf" srcId="{53B4EA6C-0F8A-427B-A461-9CB3A02591DB}" destId="{36CDE23B-676F-4D7D-8F6D-B106ACAD8EB4}" srcOrd="3" destOrd="0" presId="urn:microsoft.com/office/officeart/2005/8/layout/orgChart1#1"/>
    <dgm:cxn modelId="{A50170FC-6635-423B-A251-AFEFD007636D}" type="presParOf" srcId="{36CDE23B-676F-4D7D-8F6D-B106ACAD8EB4}" destId="{9FB85CC4-0A67-4849-9C4D-5098C30159C2}" srcOrd="0" destOrd="0" presId="urn:microsoft.com/office/officeart/2005/8/layout/orgChart1#1"/>
    <dgm:cxn modelId="{0A7E7310-615C-4709-8479-289CBEE7482C}" type="presParOf" srcId="{9FB85CC4-0A67-4849-9C4D-5098C30159C2}" destId="{03DF1179-00E0-4890-A5BB-4CCFE548BDD1}" srcOrd="0" destOrd="0" presId="urn:microsoft.com/office/officeart/2005/8/layout/orgChart1#1"/>
    <dgm:cxn modelId="{A6905762-89DC-40C9-8B0D-83CFB44B165B}" type="presParOf" srcId="{9FB85CC4-0A67-4849-9C4D-5098C30159C2}" destId="{F897F8F4-F0E9-4929-A3D0-643CC3D30149}" srcOrd="1" destOrd="0" presId="urn:microsoft.com/office/officeart/2005/8/layout/orgChart1#1"/>
    <dgm:cxn modelId="{E8970BA7-7569-4A01-A5E1-D6A1E992AFA3}" type="presParOf" srcId="{36CDE23B-676F-4D7D-8F6D-B106ACAD8EB4}" destId="{F4C202E4-1596-4329-AEB4-752882F23B55}" srcOrd="1" destOrd="0" presId="urn:microsoft.com/office/officeart/2005/8/layout/orgChart1#1"/>
    <dgm:cxn modelId="{89273F7D-A9C6-4B9E-9D64-39D2474D2D8D}" type="presParOf" srcId="{36CDE23B-676F-4D7D-8F6D-B106ACAD8EB4}" destId="{01E1276C-7D65-4FB1-9971-CE73C1818E3F}" srcOrd="2" destOrd="0" presId="urn:microsoft.com/office/officeart/2005/8/layout/orgChart1#1"/>
    <dgm:cxn modelId="{FD099A46-B222-43EB-B50E-852CD726358C}" type="presParOf" srcId="{53B4EA6C-0F8A-427B-A461-9CB3A02591DB}" destId="{5666AAFE-EE9F-4AD1-B856-6E78A77B3F52}" srcOrd="4" destOrd="0" presId="urn:microsoft.com/office/officeart/2005/8/layout/orgChart1#1"/>
    <dgm:cxn modelId="{589D3EA6-97A2-4D65-A4B6-8211737790F7}" type="presParOf" srcId="{53B4EA6C-0F8A-427B-A461-9CB3A02591DB}" destId="{7B6C9E45-3E62-4F0E-8680-8C025FA4E570}" srcOrd="5" destOrd="0" presId="urn:microsoft.com/office/officeart/2005/8/layout/orgChart1#1"/>
    <dgm:cxn modelId="{652637A8-30FF-41FC-B74D-3883B3B980CF}" type="presParOf" srcId="{7B6C9E45-3E62-4F0E-8680-8C025FA4E570}" destId="{7910FA48-8287-4DEE-AA8F-799981760E3C}" srcOrd="0" destOrd="0" presId="urn:microsoft.com/office/officeart/2005/8/layout/orgChart1#1"/>
    <dgm:cxn modelId="{2294C74D-CF82-4C9C-B15D-38E9AC95D6FC}" type="presParOf" srcId="{7910FA48-8287-4DEE-AA8F-799981760E3C}" destId="{ECF163CD-C338-4E4B-81FB-2E44653BA05E}" srcOrd="0" destOrd="0" presId="urn:microsoft.com/office/officeart/2005/8/layout/orgChart1#1"/>
    <dgm:cxn modelId="{3A311FFA-9B1D-4372-AEE7-EE819ACC69E1}" type="presParOf" srcId="{7910FA48-8287-4DEE-AA8F-799981760E3C}" destId="{640EBC20-4D15-413C-92B0-03B011FAAC23}" srcOrd="1" destOrd="0" presId="urn:microsoft.com/office/officeart/2005/8/layout/orgChart1#1"/>
    <dgm:cxn modelId="{D4E0DCDB-7DC7-44EA-A894-C5018F1F056C}" type="presParOf" srcId="{7B6C9E45-3E62-4F0E-8680-8C025FA4E570}" destId="{E983755E-AE58-4438-88BF-ED568BF94F92}" srcOrd="1" destOrd="0" presId="urn:microsoft.com/office/officeart/2005/8/layout/orgChart1#1"/>
    <dgm:cxn modelId="{C94FF443-8A9D-4515-BD23-6AF37E31DD96}" type="presParOf" srcId="{7B6C9E45-3E62-4F0E-8680-8C025FA4E570}" destId="{0E7EA3E8-BF1E-4627-9A73-8761B3684E85}" srcOrd="2" destOrd="0" presId="urn:microsoft.com/office/officeart/2005/8/layout/orgChart1#1"/>
    <dgm:cxn modelId="{991BD325-13C1-44B1-85F6-4ABBB2934C77}" type="presParOf" srcId="{F70D26EE-9327-43A0-97D8-4A29D5F0E574}" destId="{32896D7D-C737-405C-A83F-F747F8B860FA}" srcOrd="2" destOrd="0" presId="urn:microsoft.com/office/officeart/2005/8/layout/orgChart1#1"/>
    <dgm:cxn modelId="{0687CEBE-0357-4C30-BE53-4999A367DF18}" type="presParOf" srcId="{32896D7D-C737-405C-A83F-F747F8B860FA}" destId="{5012D5A4-9FE6-4672-8D8F-A07BE82652FA}" srcOrd="0" destOrd="0" presId="urn:microsoft.com/office/officeart/2005/8/layout/orgChart1#1"/>
    <dgm:cxn modelId="{043AE0AB-C71E-4205-A151-61A2355DAF2A}" type="presParOf" srcId="{32896D7D-C737-405C-A83F-F747F8B860FA}" destId="{26CDF2B0-EE8F-488C-8A2F-6B255CAF8CCE}" srcOrd="1" destOrd="0" presId="urn:microsoft.com/office/officeart/2005/8/layout/orgChart1#1"/>
    <dgm:cxn modelId="{04918E51-7681-432E-AA7E-7817EE2953CF}" type="presParOf" srcId="{26CDF2B0-EE8F-488C-8A2F-6B255CAF8CCE}" destId="{1C619236-410B-4522-92D6-A0EE2A2E4FD6}" srcOrd="0" destOrd="0" presId="urn:microsoft.com/office/officeart/2005/8/layout/orgChart1#1"/>
    <dgm:cxn modelId="{C9973926-4954-478F-82D1-230B6D3902A9}" type="presParOf" srcId="{1C619236-410B-4522-92D6-A0EE2A2E4FD6}" destId="{85FE68D9-D613-41F7-A43A-DEDE434E4250}" srcOrd="0" destOrd="0" presId="urn:microsoft.com/office/officeart/2005/8/layout/orgChart1#1"/>
    <dgm:cxn modelId="{0C0CB379-5FD8-4230-953B-556A5369A18E}" type="presParOf" srcId="{1C619236-410B-4522-92D6-A0EE2A2E4FD6}" destId="{079A095B-9FEB-43A7-B28F-13F6DF801405}" srcOrd="1" destOrd="0" presId="urn:microsoft.com/office/officeart/2005/8/layout/orgChart1#1"/>
    <dgm:cxn modelId="{3E5323E2-00EB-4B9A-A1EB-043166CE811D}" type="presParOf" srcId="{26CDF2B0-EE8F-488C-8A2F-6B255CAF8CCE}" destId="{597BE210-6C34-40FE-BC06-C68D280E07FA}" srcOrd="1" destOrd="0" presId="urn:microsoft.com/office/officeart/2005/8/layout/orgChart1#1"/>
    <dgm:cxn modelId="{63D938DB-F640-4297-9DC3-28DC95330694}" type="presParOf" srcId="{26CDF2B0-EE8F-488C-8A2F-6B255CAF8CCE}" destId="{890287F5-F4BA-4AEA-B3B3-3D0A07CAD1D7}" srcOrd="2" destOrd="0" presId="urn:microsoft.com/office/officeart/2005/8/layout/orgChart1#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96480" cy="3737980"/>
        <a:chOff x="0" y="0"/>
        <a:chExt cx="7396480" cy="3737980"/>
      </a:xfrm>
    </dsp:grpSpPr>
    <dsp:sp modelId="{F1D301A0-0306-4480-903A-D489DD929426}">
      <dsp:nvSpPr>
        <dsp:cNvPr id="5" name="任意多边形 4"/>
        <dsp:cNvSpPr/>
      </dsp:nvSpPr>
      <dsp:spPr bwMode="white">
        <a:xfrm>
          <a:off x="1342534" y="973432"/>
          <a:ext cx="2355706" cy="1791115"/>
        </a:xfrm>
        <a:custGeom>
          <a:avLst/>
          <a:gdLst/>
          <a:ahLst/>
          <a:cxnLst/>
          <a:pathLst>
            <a:path w="3710" h="2821">
              <a:moveTo>
                <a:pt x="3710" y="0"/>
              </a:moveTo>
              <a:lnTo>
                <a:pt x="3710" y="2499"/>
              </a:lnTo>
              <a:lnTo>
                <a:pt x="0" y="2499"/>
              </a:lnTo>
              <a:lnTo>
                <a:pt x="0" y="2821"/>
              </a:lnTo>
            </a:path>
          </a:pathLst>
        </a:custGeom>
        <a:sp3d z="-110000"/>
      </dsp:spPr>
      <dsp:style>
        <a:lnRef idx="2">
          <a:schemeClr val="accent2"/>
        </a:lnRef>
        <a:fillRef idx="0">
          <a:schemeClr val="accent3">
            <a:tint val="90000"/>
          </a:schemeClr>
        </a:fillRef>
        <a:effectRef idx="0">
          <a:scrgbClr r="0" g="0" b="0"/>
        </a:effectRef>
        <a:fontRef idx="minor"/>
      </dsp:style>
      <dsp:txXfrm>
        <a:off x="1342534" y="973432"/>
        <a:ext cx="2355706" cy="1791115"/>
      </dsp:txXfrm>
    </dsp:sp>
    <dsp:sp modelId="{D687DD1B-BB20-48A1-A1E0-65818A4362E3}">
      <dsp:nvSpPr>
        <dsp:cNvPr id="8" name="任意多边形 7"/>
        <dsp:cNvSpPr/>
      </dsp:nvSpPr>
      <dsp:spPr bwMode="white">
        <a:xfrm>
          <a:off x="3698240" y="973432"/>
          <a:ext cx="0" cy="1791115"/>
        </a:xfrm>
        <a:custGeom>
          <a:avLst/>
          <a:gdLst/>
          <a:ahLst/>
          <a:cxnLst/>
          <a:pathLst>
            <a:path h="2821">
              <a:moveTo>
                <a:pt x="0" y="0"/>
              </a:moveTo>
              <a:lnTo>
                <a:pt x="0" y="2821"/>
              </a:lnTo>
            </a:path>
          </a:pathLst>
        </a:custGeom>
        <a:sp3d z="-110000"/>
      </dsp:spPr>
      <dsp:style>
        <a:lnRef idx="2">
          <a:schemeClr val="accent2"/>
        </a:lnRef>
        <a:fillRef idx="0">
          <a:schemeClr val="accent3">
            <a:tint val="90000"/>
          </a:schemeClr>
        </a:fillRef>
        <a:effectRef idx="0">
          <a:scrgbClr r="0" g="0" b="0"/>
        </a:effectRef>
        <a:fontRef idx="minor"/>
      </dsp:style>
      <dsp:txXfrm>
        <a:off x="3698240" y="973432"/>
        <a:ext cx="0" cy="1791115"/>
      </dsp:txXfrm>
    </dsp:sp>
    <dsp:sp modelId="{5666AAFE-EE9F-4AD1-B856-6E78A77B3F52}">
      <dsp:nvSpPr>
        <dsp:cNvPr id="11" name="任意多边形 10"/>
        <dsp:cNvSpPr/>
      </dsp:nvSpPr>
      <dsp:spPr bwMode="white">
        <a:xfrm>
          <a:off x="3698240" y="973432"/>
          <a:ext cx="2355706" cy="1791115"/>
        </a:xfrm>
        <a:custGeom>
          <a:avLst/>
          <a:gdLst/>
          <a:ahLst/>
          <a:cxnLst/>
          <a:pathLst>
            <a:path w="3710" h="2821">
              <a:moveTo>
                <a:pt x="0" y="0"/>
              </a:moveTo>
              <a:lnTo>
                <a:pt x="0" y="2499"/>
              </a:lnTo>
              <a:lnTo>
                <a:pt x="3710" y="2499"/>
              </a:lnTo>
              <a:lnTo>
                <a:pt x="3710" y="2821"/>
              </a:lnTo>
            </a:path>
          </a:pathLst>
        </a:custGeom>
        <a:sp3d z="-110000"/>
      </dsp:spPr>
      <dsp:style>
        <a:lnRef idx="2">
          <a:schemeClr val="accent2"/>
        </a:lnRef>
        <a:fillRef idx="0">
          <a:schemeClr val="accent3">
            <a:tint val="90000"/>
          </a:schemeClr>
        </a:fillRef>
        <a:effectRef idx="0">
          <a:scrgbClr r="0" g="0" b="0"/>
        </a:effectRef>
        <a:fontRef idx="minor"/>
      </dsp:style>
      <dsp:txXfrm>
        <a:off x="3698240" y="973432"/>
        <a:ext cx="2355706" cy="1791115"/>
      </dsp:txXfrm>
    </dsp:sp>
    <dsp:sp modelId="{5012D5A4-9FE6-4672-8D8F-A07BE82652FA}">
      <dsp:nvSpPr>
        <dsp:cNvPr id="14" name="任意多边形 13"/>
        <dsp:cNvSpPr/>
      </dsp:nvSpPr>
      <dsp:spPr bwMode="white">
        <a:xfrm>
          <a:off x="3493819" y="973432"/>
          <a:ext cx="204421" cy="895558"/>
        </a:xfrm>
        <a:custGeom>
          <a:avLst/>
          <a:gdLst/>
          <a:ahLst/>
          <a:cxnLst/>
          <a:pathLst>
            <a:path w="322" h="1410">
              <a:moveTo>
                <a:pt x="322" y="0"/>
              </a:moveTo>
              <a:lnTo>
                <a:pt x="322" y="1410"/>
              </a:lnTo>
              <a:lnTo>
                <a:pt x="0" y="1410"/>
              </a:lnTo>
            </a:path>
          </a:pathLst>
        </a:custGeom>
        <a:sp3d z="-110000"/>
      </dsp:spPr>
      <dsp:style>
        <a:lnRef idx="2">
          <a:schemeClr val="accent2"/>
        </a:lnRef>
        <a:fillRef idx="0">
          <a:schemeClr val="accent3">
            <a:tint val="90000"/>
          </a:schemeClr>
        </a:fillRef>
        <a:effectRef idx="0">
          <a:scrgbClr r="0" g="0" b="0"/>
        </a:effectRef>
        <a:fontRef idx="minor"/>
      </dsp:style>
      <dsp:txXfrm>
        <a:off x="3493819" y="973432"/>
        <a:ext cx="204421" cy="895558"/>
      </dsp:txXfrm>
    </dsp:sp>
    <dsp:sp modelId="{9F7BFF4F-1C21-4915-8B72-E1E522E95F73}">
      <dsp:nvSpPr>
        <dsp:cNvPr id="3" name="矩形 2"/>
        <dsp:cNvSpPr/>
      </dsp:nvSpPr>
      <dsp:spPr bwMode="white">
        <a:xfrm>
          <a:off x="2724808" y="0"/>
          <a:ext cx="1946865" cy="973432"/>
        </a:xfrm>
        <a:prstGeom prst="rect">
          <a:avLst/>
        </a:prstGeom>
        <a:sp3d contourW="19050" prstMaterial="metal">
          <a:bevelT w="88900" h="203200"/>
          <a:bevelB w="165100" h="254000"/>
        </a:sp3d>
      </dsp:spPr>
      <dsp:style>
        <a:lnRef idx="0">
          <a:schemeClr val="lt1"/>
        </a:lnRef>
        <a:fillRef idx="1">
          <a:schemeClr val="accent1"/>
        </a:fillRef>
        <a:effectRef idx="1">
          <a:scrgbClr r="0" g="0" b="0"/>
        </a:effectRef>
        <a:fontRef idx="minor">
          <a:schemeClr val="lt1"/>
        </a:fontRef>
      </dsp:style>
      <dsp:txBody>
        <a:bodyPr lIns="17780" tIns="17780" rIns="17780" bIns="1778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2800" dirty="0"/>
            <a:t>服务器</a:t>
          </a:r>
        </a:p>
      </dsp:txBody>
      <dsp:txXfrm>
        <a:off x="2724808" y="0"/>
        <a:ext cx="1946865" cy="973432"/>
      </dsp:txXfrm>
    </dsp:sp>
    <dsp:sp modelId="{651C66E4-F2EB-47D3-9B08-75170E4FF120}">
      <dsp:nvSpPr>
        <dsp:cNvPr id="6" name="矩形 5"/>
        <dsp:cNvSpPr/>
      </dsp:nvSpPr>
      <dsp:spPr bwMode="white">
        <a:xfrm>
          <a:off x="369102" y="2764548"/>
          <a:ext cx="1946865" cy="973432"/>
        </a:xfrm>
        <a:prstGeom prst="rect">
          <a:avLst/>
        </a:prstGeom>
        <a:sp3d contourW="19050" prstMaterial="metal">
          <a:bevelT w="88900" h="203200"/>
          <a:bevelB w="165100" h="254000"/>
        </a:sp3d>
      </dsp:spPr>
      <dsp:style>
        <a:lnRef idx="0">
          <a:schemeClr val="lt1"/>
        </a:lnRef>
        <a:fillRef idx="1">
          <a:schemeClr val="accent2">
            <a:hueOff val="0"/>
            <a:satOff val="0"/>
            <a:lumOff val="0"/>
            <a:alpha val="100000"/>
          </a:schemeClr>
        </a:fillRef>
        <a:effectRef idx="1">
          <a:scrgbClr r="0" g="0" b="0"/>
        </a:effectRef>
        <a:fontRef idx="minor">
          <a:schemeClr val="lt1"/>
        </a:fontRef>
      </dsp:style>
      <dsp:txBody>
        <a:bodyPr lIns="17780" tIns="17780" rIns="17780" bIns="1778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2800" dirty="0"/>
            <a:t>客户端</a:t>
          </a:r>
        </a:p>
      </dsp:txBody>
      <dsp:txXfrm>
        <a:off x="369102" y="2764548"/>
        <a:ext cx="1946865" cy="973432"/>
      </dsp:txXfrm>
    </dsp:sp>
    <dsp:sp modelId="{03DF1179-00E0-4890-A5BB-4CCFE548BDD1}">
      <dsp:nvSpPr>
        <dsp:cNvPr id="9" name="矩形 8"/>
        <dsp:cNvSpPr/>
      </dsp:nvSpPr>
      <dsp:spPr bwMode="white">
        <a:xfrm>
          <a:off x="2724808" y="2764548"/>
          <a:ext cx="1946865" cy="973432"/>
        </a:xfrm>
        <a:prstGeom prst="rect">
          <a:avLst/>
        </a:prstGeom>
        <a:sp3d contourW="19050" prstMaterial="metal">
          <a:bevelT w="88900" h="203200"/>
          <a:bevelB w="165100" h="254000"/>
        </a:sp3d>
      </dsp:spPr>
      <dsp:style>
        <a:lnRef idx="0">
          <a:schemeClr val="lt1"/>
        </a:lnRef>
        <a:fillRef idx="1">
          <a:schemeClr val="accent2">
            <a:hueOff val="0"/>
            <a:satOff val="0"/>
            <a:lumOff val="0"/>
            <a:alpha val="100000"/>
          </a:schemeClr>
        </a:fillRef>
        <a:effectRef idx="1">
          <a:scrgbClr r="0" g="0" b="0"/>
        </a:effectRef>
        <a:fontRef idx="minor">
          <a:schemeClr val="lt1"/>
        </a:fontRef>
      </dsp:style>
      <dsp:txBody>
        <a:bodyPr lIns="17780" tIns="17780" rIns="17780" bIns="1778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2800" dirty="0"/>
            <a:t>客户端</a:t>
          </a:r>
        </a:p>
      </dsp:txBody>
      <dsp:txXfrm>
        <a:off x="2724808" y="2764548"/>
        <a:ext cx="1946865" cy="973432"/>
      </dsp:txXfrm>
    </dsp:sp>
    <dsp:sp modelId="{ECF163CD-C338-4E4B-81FB-2E44653BA05E}">
      <dsp:nvSpPr>
        <dsp:cNvPr id="12" name="矩形 11"/>
        <dsp:cNvSpPr/>
      </dsp:nvSpPr>
      <dsp:spPr bwMode="white">
        <a:xfrm>
          <a:off x="5080514" y="2764548"/>
          <a:ext cx="1946865" cy="973432"/>
        </a:xfrm>
        <a:prstGeom prst="rect">
          <a:avLst/>
        </a:prstGeom>
        <a:sp3d contourW="19050" prstMaterial="metal">
          <a:bevelT w="88900" h="203200"/>
          <a:bevelB w="165100" h="254000"/>
        </a:sp3d>
      </dsp:spPr>
      <dsp:style>
        <a:lnRef idx="0">
          <a:schemeClr val="lt1"/>
        </a:lnRef>
        <a:fillRef idx="1">
          <a:schemeClr val="accent2">
            <a:hueOff val="0"/>
            <a:satOff val="0"/>
            <a:lumOff val="0"/>
            <a:alpha val="100000"/>
          </a:schemeClr>
        </a:fillRef>
        <a:effectRef idx="1">
          <a:scrgbClr r="0" g="0" b="0"/>
        </a:effectRef>
        <a:fontRef idx="minor">
          <a:schemeClr val="lt1"/>
        </a:fontRef>
      </dsp:style>
      <dsp:txBody>
        <a:bodyPr lIns="17780" tIns="17780" rIns="17780" bIns="1778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sz="2800" dirty="0"/>
            <a:t>客户端</a:t>
          </a:r>
        </a:p>
      </dsp:txBody>
      <dsp:txXfrm>
        <a:off x="5080514" y="2764548"/>
        <a:ext cx="1946865" cy="973432"/>
      </dsp:txXfrm>
    </dsp:sp>
    <dsp:sp modelId="{85FE68D9-D613-41F7-A43A-DEDE434E4250}">
      <dsp:nvSpPr>
        <dsp:cNvPr id="15" name="矩形 14"/>
        <dsp:cNvSpPr/>
      </dsp:nvSpPr>
      <dsp:spPr bwMode="white">
        <a:xfrm>
          <a:off x="1546955" y="1382274"/>
          <a:ext cx="1946865" cy="973432"/>
        </a:xfrm>
        <a:prstGeom prst="rect">
          <a:avLst/>
        </a:prstGeom>
        <a:solidFill>
          <a:srgbClr val="92D050"/>
        </a:solidFill>
        <a:sp3d contourW="19050" prstMaterial="metal">
          <a:bevelT w="88900" h="203200"/>
          <a:bevelB w="165100" h="254000"/>
        </a:sp3d>
      </dsp:spPr>
      <dsp:style>
        <a:lnRef idx="0">
          <a:schemeClr val="lt1"/>
        </a:lnRef>
        <a:fillRef idx="1">
          <a:schemeClr val="accent2"/>
        </a:fillRef>
        <a:effectRef idx="1">
          <a:scrgbClr r="0" g="0" b="0"/>
        </a:effectRef>
        <a:fontRef idx="minor">
          <a:schemeClr val="lt1"/>
        </a:fontRef>
      </dsp:style>
      <dsp:txBody>
        <a:bodyPr lIns="15875" tIns="15875" rIns="15875" bIns="15875"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35000"/>
            </a:spcAft>
          </a:pPr>
          <a:r>
            <a:rPr lang="zh-CN" altLang="en-US" dirty="0"/>
            <a:t>特定的</a:t>
          </a:r>
          <a:endParaRPr lang="en-US" altLang="zh-CN" dirty="0"/>
        </a:p>
        <a:p>
          <a:pPr lvl="0">
            <a:lnSpc>
              <a:spcPct val="100000"/>
            </a:lnSpc>
            <a:spcBef>
              <a:spcPct val="0"/>
            </a:spcBef>
            <a:spcAft>
              <a:spcPct val="35000"/>
            </a:spcAft>
          </a:pPr>
          <a:r>
            <a:rPr lang="zh-CN" altLang="en-US" dirty="0"/>
            <a:t>通信协议</a:t>
          </a:r>
        </a:p>
      </dsp:txBody>
      <dsp:txXfrm>
        <a:off x="1546955" y="1382274"/>
        <a:ext cx="1946865" cy="973432"/>
      </dsp:txXfrm>
    </dsp:sp>
    <dsp:sp modelId="{F4641409-5564-4C36-ACEC-D57AC4392EA8}">
      <dsp:nvSpPr>
        <dsp:cNvPr id="4" name="矩形 3" hidden="1"/>
        <dsp:cNvSpPr/>
      </dsp:nvSpPr>
      <dsp:spPr>
        <a:xfrm>
          <a:off x="2724808" y="0"/>
          <a:ext cx="389373" cy="973432"/>
        </a:xfrm>
        <a:prstGeom prst="rect">
          <a:avLst/>
        </a:prstGeom>
      </dsp:spPr>
      <dsp:txXfrm>
        <a:off x="2724808" y="0"/>
        <a:ext cx="389373" cy="973432"/>
      </dsp:txXfrm>
    </dsp:sp>
    <dsp:sp modelId="{DB3A16BE-5864-4525-9E0F-8AB014AA0A1F}">
      <dsp:nvSpPr>
        <dsp:cNvPr id="7" name="矩形 6" hidden="1"/>
        <dsp:cNvSpPr/>
      </dsp:nvSpPr>
      <dsp:spPr>
        <a:xfrm>
          <a:off x="369102" y="2764548"/>
          <a:ext cx="389373" cy="973432"/>
        </a:xfrm>
        <a:prstGeom prst="rect">
          <a:avLst/>
        </a:prstGeom>
      </dsp:spPr>
      <dsp:txXfrm>
        <a:off x="369102" y="2764548"/>
        <a:ext cx="389373" cy="973432"/>
      </dsp:txXfrm>
    </dsp:sp>
    <dsp:sp modelId="{F897F8F4-F0E9-4929-A3D0-643CC3D30149}">
      <dsp:nvSpPr>
        <dsp:cNvPr id="10" name="矩形 9" hidden="1"/>
        <dsp:cNvSpPr/>
      </dsp:nvSpPr>
      <dsp:spPr>
        <a:xfrm>
          <a:off x="2724808" y="2764548"/>
          <a:ext cx="389373" cy="973432"/>
        </a:xfrm>
        <a:prstGeom prst="rect">
          <a:avLst/>
        </a:prstGeom>
      </dsp:spPr>
      <dsp:txXfrm>
        <a:off x="2724808" y="2764548"/>
        <a:ext cx="389373" cy="973432"/>
      </dsp:txXfrm>
    </dsp:sp>
    <dsp:sp modelId="{640EBC20-4D15-413C-92B0-03B011FAAC23}">
      <dsp:nvSpPr>
        <dsp:cNvPr id="13" name="矩形 12" hidden="1"/>
        <dsp:cNvSpPr/>
      </dsp:nvSpPr>
      <dsp:spPr>
        <a:xfrm>
          <a:off x="5080514" y="2764548"/>
          <a:ext cx="389373" cy="973432"/>
        </a:xfrm>
        <a:prstGeom prst="rect">
          <a:avLst/>
        </a:prstGeom>
      </dsp:spPr>
      <dsp:txXfrm>
        <a:off x="5080514" y="2764548"/>
        <a:ext cx="389373" cy="973432"/>
      </dsp:txXfrm>
    </dsp:sp>
    <dsp:sp modelId="{079A095B-9FEB-43A7-B28F-13F6DF801405}">
      <dsp:nvSpPr>
        <dsp:cNvPr id="16" name="矩形 15" hidden="1"/>
        <dsp:cNvSpPr/>
      </dsp:nvSpPr>
      <dsp:spPr>
        <a:xfrm>
          <a:off x="1546955" y="1382274"/>
          <a:ext cx="389373" cy="973432"/>
        </a:xfrm>
        <a:prstGeom prst="rect">
          <a:avLst/>
        </a:prstGeom>
      </dsp:spPr>
      <dsp:txXfrm>
        <a:off x="1546955" y="1382274"/>
        <a:ext cx="389373" cy="97343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A424B-F2C7-4EC9-8DA2-5CFAACF65E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60B0A-E707-4489-B72C-209A0C1058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机架</a:t>
            </a:r>
            <a:r>
              <a:rPr lang="en-US" altLang="zh-CN"/>
              <a:t>1</a:t>
            </a:r>
            <a:r>
              <a:rPr lang="zh-CN" altLang="en-US"/>
              <a:t>读</a:t>
            </a:r>
            <a:r>
              <a:rPr lang="en-US" altLang="zh-CN"/>
              <a:t>bar? </a:t>
            </a:r>
            <a:r>
              <a:rPr lang="zh-CN" altLang="en-US"/>
              <a:t>机架</a:t>
            </a:r>
            <a:r>
              <a:rPr lang="en-US" altLang="zh-CN"/>
              <a:t>2</a:t>
            </a:r>
            <a:r>
              <a:rPr lang="zh-CN" altLang="en-US"/>
              <a:t>读</a:t>
            </a:r>
            <a:r>
              <a:rPr lang="en-US" altLang="zh-CN"/>
              <a:t>foo?</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idx="4294967295"/>
          </p:nvPr>
        </p:nvSpPr>
        <p:spPr/>
      </p:sp>
      <p:sp>
        <p:nvSpPr>
          <p:cNvPr id="89091" name="备注占位符 2"/>
          <p:cNvSpPr>
            <a:spLocks noGrp="1" noChangeArrowheads="1"/>
          </p:cNvSpPr>
          <p:nvPr>
            <p:ph type="body" idx="4294967295"/>
          </p:nvPr>
        </p:nvSpPr>
        <p:spPr/>
        <p:txBody>
          <a:bodyPr/>
          <a:lstStyle/>
          <a:p>
            <a:r>
              <a:rPr lang="zh-CN" altLang="en-US"/>
              <a:t>图片显示的实例为：</a:t>
            </a:r>
            <a:endParaRPr lang="en-US" altLang="zh-CN"/>
          </a:p>
          <a:p>
            <a:r>
              <a:rPr lang="zh-CN" altLang="en-US"/>
              <a:t>（</a:t>
            </a:r>
            <a:r>
              <a:rPr lang="en-US" altLang="zh-CN"/>
              <a:t>1</a:t>
            </a:r>
            <a:r>
              <a:rPr lang="zh-CN" altLang="en-US"/>
              <a:t>）利用</a:t>
            </a:r>
            <a:r>
              <a:rPr lang="en-US" altLang="zh-CN"/>
              <a:t>mkdir</a:t>
            </a:r>
            <a:r>
              <a:rPr lang="zh-CN" altLang="en-US"/>
              <a:t>命令在计算机上创建</a:t>
            </a:r>
            <a:r>
              <a:rPr lang="en-US" altLang="zh-CN"/>
              <a:t>hdfs</a:t>
            </a:r>
            <a:r>
              <a:rPr lang="zh-CN" altLang="en-US"/>
              <a:t>目录</a:t>
            </a:r>
            <a:r>
              <a:rPr lang="en-US" altLang="zh-CN"/>
              <a:t>tempDir</a:t>
            </a:r>
            <a:endParaRPr lang="en-US" altLang="zh-CN"/>
          </a:p>
          <a:p>
            <a:r>
              <a:rPr lang="zh-CN" altLang="en-US"/>
              <a:t>（</a:t>
            </a:r>
            <a:r>
              <a:rPr lang="en-US" altLang="zh-CN"/>
              <a:t>2</a:t>
            </a:r>
            <a:r>
              <a:rPr lang="zh-CN" altLang="en-US"/>
              <a:t>）利用</a:t>
            </a:r>
            <a:r>
              <a:rPr lang="en-US" altLang="zh-CN"/>
              <a:t>ls</a:t>
            </a:r>
            <a:r>
              <a:rPr lang="zh-CN" altLang="en-US"/>
              <a:t>命令显示</a:t>
            </a:r>
            <a:r>
              <a:rPr lang="en-US" altLang="zh-CN"/>
              <a:t>127.0.0.1</a:t>
            </a:r>
            <a:r>
              <a:rPr lang="zh-CN" altLang="en-US"/>
              <a:t>机器上现有的</a:t>
            </a:r>
            <a:r>
              <a:rPr lang="en-US" altLang="zh-CN"/>
              <a:t>hdfs</a:t>
            </a:r>
            <a:r>
              <a:rPr lang="zh-CN" altLang="en-US"/>
              <a:t>文件</a:t>
            </a:r>
            <a:endParaRPr lang="en-US" altLang="zh-CN"/>
          </a:p>
        </p:txBody>
      </p:sp>
      <p:sp>
        <p:nvSpPr>
          <p:cNvPr id="89092" name="灯片编号占位符 3"/>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buFontTx/>
              <a:buNone/>
            </a:pPr>
            <a:fld id="{98F78C06-CBC8-42B6-B9DA-6E29D1D17EBF}" type="slidenum">
              <a:rPr lang="zh-CN" altLang="zh-CN" sz="1200"/>
            </a:fld>
            <a:endParaRPr lang="zh-CN"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ChangeArrowheads="1" noTextEdit="1"/>
          </p:cNvSpPr>
          <p:nvPr>
            <p:ph type="sldImg" idx="4294967295"/>
          </p:nvPr>
        </p:nvSpPr>
        <p:spPr/>
      </p:sp>
      <p:sp>
        <p:nvSpPr>
          <p:cNvPr id="90115" name="备注占位符 2"/>
          <p:cNvSpPr>
            <a:spLocks noGrp="1" noChangeArrowheads="1"/>
          </p:cNvSpPr>
          <p:nvPr>
            <p:ph type="body" idx="4294967295"/>
          </p:nvPr>
        </p:nvSpPr>
        <p:spPr/>
        <p:txBody>
          <a:bodyPr/>
          <a:lstStyle/>
          <a:p>
            <a:r>
              <a:rPr lang="zh-CN" altLang="en-US"/>
              <a:t>图片展示的实例：</a:t>
            </a:r>
            <a:endParaRPr lang="en-US" altLang="zh-CN"/>
          </a:p>
          <a:p>
            <a:r>
              <a:rPr lang="zh-CN" altLang="en-US"/>
              <a:t>（</a:t>
            </a:r>
            <a:r>
              <a:rPr lang="en-US" altLang="zh-CN"/>
              <a:t>1</a:t>
            </a:r>
            <a:r>
              <a:rPr lang="zh-CN" altLang="en-US"/>
              <a:t>）利用</a:t>
            </a:r>
            <a:r>
              <a:rPr lang="en-US" altLang="zh-CN"/>
              <a:t>copyFromLocal</a:t>
            </a:r>
            <a:r>
              <a:rPr lang="zh-CN" altLang="en-US"/>
              <a:t>命令从本地计算机上传</a:t>
            </a:r>
            <a:r>
              <a:rPr lang="en-US" altLang="zh-CN"/>
              <a:t>tempfile</a:t>
            </a:r>
            <a:r>
              <a:rPr lang="zh-CN" altLang="en-US"/>
              <a:t>文件夹里的所有文件到</a:t>
            </a:r>
            <a:r>
              <a:rPr lang="en-US" altLang="zh-CN"/>
              <a:t>127.0.0.1</a:t>
            </a:r>
            <a:r>
              <a:rPr lang="zh-CN" altLang="en-US"/>
              <a:t>计算机底下的</a:t>
            </a:r>
            <a:r>
              <a:rPr lang="en-US" altLang="zh-CN"/>
              <a:t>tempDir</a:t>
            </a:r>
            <a:r>
              <a:rPr lang="zh-CN" altLang="en-US"/>
              <a:t>文件夹下</a:t>
            </a:r>
            <a:endParaRPr lang="en-US" altLang="zh-CN"/>
          </a:p>
          <a:p>
            <a:r>
              <a:rPr lang="zh-CN" altLang="en-US"/>
              <a:t>（</a:t>
            </a:r>
            <a:r>
              <a:rPr lang="en-US" altLang="zh-CN"/>
              <a:t>2</a:t>
            </a:r>
            <a:r>
              <a:rPr lang="zh-CN" altLang="en-US"/>
              <a:t>）利用</a:t>
            </a:r>
            <a:r>
              <a:rPr lang="en-US" altLang="zh-CN"/>
              <a:t>ls</a:t>
            </a:r>
            <a:r>
              <a:rPr lang="zh-CN" altLang="en-US"/>
              <a:t>命令显示</a:t>
            </a:r>
            <a:r>
              <a:rPr lang="en-US" altLang="zh-CN"/>
              <a:t>127.0.0.1</a:t>
            </a:r>
            <a:r>
              <a:rPr lang="zh-CN" altLang="en-US"/>
              <a:t>计算机中的</a:t>
            </a:r>
            <a:r>
              <a:rPr lang="en-US" altLang="zh-CN"/>
              <a:t>tempDir</a:t>
            </a:r>
            <a:r>
              <a:rPr lang="zh-CN" altLang="en-US"/>
              <a:t>文件夹里的所有文件</a:t>
            </a:r>
            <a:endParaRPr lang="en-US" altLang="zh-CN"/>
          </a:p>
          <a:p>
            <a:r>
              <a:rPr lang="zh-CN" altLang="en-US"/>
              <a:t>（</a:t>
            </a:r>
            <a:r>
              <a:rPr lang="en-US" altLang="zh-CN"/>
              <a:t>3</a:t>
            </a:r>
            <a:r>
              <a:rPr lang="zh-CN" altLang="en-US"/>
              <a:t>）利用</a:t>
            </a:r>
            <a:r>
              <a:rPr lang="en-US" altLang="zh-CN"/>
              <a:t>cat</a:t>
            </a:r>
            <a:r>
              <a:rPr lang="zh-CN" altLang="en-US"/>
              <a:t>命令打印出</a:t>
            </a:r>
            <a:r>
              <a:rPr lang="en-US" altLang="zh-CN"/>
              <a:t>127.0.0.1</a:t>
            </a:r>
            <a:r>
              <a:rPr lang="zh-CN" altLang="en-US"/>
              <a:t>计算机中的</a:t>
            </a:r>
            <a:r>
              <a:rPr lang="en-US" altLang="zh-CN"/>
              <a:t>tempDir</a:t>
            </a:r>
            <a:r>
              <a:rPr lang="zh-CN" altLang="en-US"/>
              <a:t>文件夹里的所有文件的内容</a:t>
            </a:r>
            <a:endParaRPr lang="en-US" altLang="zh-CN"/>
          </a:p>
        </p:txBody>
      </p:sp>
      <p:sp>
        <p:nvSpPr>
          <p:cNvPr id="90116" name="灯片编号占位符 3"/>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buFontTx/>
              <a:buNone/>
            </a:pPr>
            <a:fld id="{71B14E58-1711-4F33-B4FD-99C977D82754}" type="slidenum">
              <a:rPr lang="zh-CN" altLang="zh-CN" sz="1200"/>
            </a:fld>
            <a:endParaRPr lang="zh-CN"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4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4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4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5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5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5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5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5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5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5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6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6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6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6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6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6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4" Type="http://schemas.openxmlformats.org/officeDocument/2006/relationships/theme" Target="../theme/theme1.xml"/><Relationship Id="rId73" Type="http://schemas.openxmlformats.org/officeDocument/2006/relationships/image" Target="../media/image1.png"/><Relationship Id="rId72" Type="http://schemas.openxmlformats.org/officeDocument/2006/relationships/slideLayout" Target="../slideLayouts/slideLayout72.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7" Type="http://schemas.openxmlformats.org/officeDocument/2006/relationships/slideLayout" Target="../slideLayouts/slideLayout7.xml"/><Relationship Id="rId69" Type="http://schemas.openxmlformats.org/officeDocument/2006/relationships/slideLayout" Target="../slideLayouts/slideLayout69.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0" Type="http://schemas.openxmlformats.org/officeDocument/2006/relationships/slideLayout" Target="../slideLayouts/slideLayout60.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8.emf"/><Relationship Id="rId1" Type="http://schemas.openxmlformats.org/officeDocument/2006/relationships/tags" Target="../tags/tag10.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30.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9.xml"/></Relationships>
</file>

<file path=ppt/slides/_rels/slide32.xml.rels><?xml version="1.0" encoding="UTF-8" standalone="yes"?>
<Relationships xmlns="http://schemas.openxmlformats.org/package/2006/relationships"><Relationship Id="rId9" Type="http://schemas.openxmlformats.org/officeDocument/2006/relationships/image" Target="../media/image11.svg"/><Relationship Id="rId8" Type="http://schemas.openxmlformats.org/officeDocument/2006/relationships/image" Target="../media/image10.png"/><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9" Type="http://schemas.openxmlformats.org/officeDocument/2006/relationships/slideLayout" Target="../slideLayouts/slideLayout6.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image" Target="../media/image13.svg"/><Relationship Id="rId10" Type="http://schemas.openxmlformats.org/officeDocument/2006/relationships/image" Target="../media/image12.png"/><Relationship Id="rId1" Type="http://schemas.openxmlformats.org/officeDocument/2006/relationships/tags" Target="../tags/tag30.xml"/></Relationships>
</file>

<file path=ppt/slides/_rels/slide33.xml.rels><?xml version="1.0" encoding="UTF-8" standalone="yes"?>
<Relationships xmlns="http://schemas.openxmlformats.org/package/2006/relationships"><Relationship Id="rId9" Type="http://schemas.openxmlformats.org/officeDocument/2006/relationships/image" Target="../media/image11.svg"/><Relationship Id="rId8" Type="http://schemas.openxmlformats.org/officeDocument/2006/relationships/image" Target="../media/image10.png"/><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1" Type="http://schemas.openxmlformats.org/officeDocument/2006/relationships/slideLayout" Target="../slideLayouts/slideLayout6.xml"/><Relationship Id="rId10" Type="http://schemas.openxmlformats.org/officeDocument/2006/relationships/tags" Target="../tags/tag51.xml"/><Relationship Id="rId1" Type="http://schemas.openxmlformats.org/officeDocument/2006/relationships/tags" Target="../tags/tag4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3.xml"/><Relationship Id="rId1" Type="http://schemas.openxmlformats.org/officeDocument/2006/relationships/tags" Target="../tags/tag52.xml"/></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2" Type="http://schemas.openxmlformats.org/officeDocument/2006/relationships/slideLayout" Target="../slideLayouts/slideLayout7.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tags" Target="../tags/tag6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b="1" dirty="0"/>
              <a:t>第二篇 大数据存储与管理</a:t>
            </a:r>
            <a:endParaRPr lang="zh-CN" altLang="en-US" b="1" dirty="0"/>
          </a:p>
        </p:txBody>
      </p:sp>
      <p:sp>
        <p:nvSpPr>
          <p:cNvPr id="6" name="副标题 5"/>
          <p:cNvSpPr>
            <a:spLocks noGrp="1"/>
          </p:cNvSpPr>
          <p:nvPr>
            <p:ph type="subTitle" idx="1"/>
          </p:nvPr>
        </p:nvSpPr>
        <p:spPr/>
        <p:txBody>
          <a:bodyPr/>
          <a:lstStyle/>
          <a:p>
            <a:r>
              <a:rPr lang="zh-CN" altLang="en-US" dirty="0"/>
              <a:t>重点：分布式文件系统和分布式数据库的实现原理和应用方法</a:t>
            </a:r>
            <a:endParaRPr lang="en-US" altLang="zh-CN" dirty="0"/>
          </a:p>
          <a:p>
            <a:r>
              <a:rPr lang="zh-CN" altLang="en-US" dirty="0"/>
              <a:t>难点：理解</a:t>
            </a:r>
            <a:r>
              <a:rPr lang="en-US" altLang="zh-CN" dirty="0"/>
              <a:t>HDFS</a:t>
            </a:r>
            <a:r>
              <a:rPr lang="zh-CN" altLang="en-US" dirty="0"/>
              <a:t>的存储原理、</a:t>
            </a:r>
            <a:r>
              <a:rPr lang="en-US" altLang="zh-CN" dirty="0" err="1"/>
              <a:t>Hbase</a:t>
            </a:r>
            <a:r>
              <a:rPr lang="zh-CN" altLang="en-US" dirty="0"/>
              <a:t>的实现原理与运行机制</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zh-CN" altLang="en-US" b="1" dirty="0">
                <a:solidFill>
                  <a:schemeClr val="tx1"/>
                </a:solidFill>
              </a:rPr>
              <a:t>第</a:t>
            </a:r>
            <a:r>
              <a:rPr lang="en-US" altLang="zh-CN" b="1" dirty="0">
                <a:solidFill>
                  <a:schemeClr val="tx1"/>
                </a:solidFill>
              </a:rPr>
              <a:t>3</a:t>
            </a:r>
            <a:r>
              <a:rPr lang="zh-CN" altLang="en-US" b="1" dirty="0">
                <a:solidFill>
                  <a:schemeClr val="tx1"/>
                </a:solidFill>
              </a:rPr>
              <a:t>章 分布式文件系统HDFS</a:t>
            </a:r>
            <a:endParaRPr lang="zh-CN" altLang="en-US" dirty="0"/>
          </a:p>
        </p:txBody>
      </p:sp>
      <p:sp>
        <p:nvSpPr>
          <p:cNvPr id="4" name="副标题 3"/>
          <p:cNvSpPr>
            <a:spLocks noGrp="1"/>
          </p:cNvSpPr>
          <p:nvPr>
            <p:ph type="subTitle" idx="1"/>
          </p:nvPr>
        </p:nvSpPr>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6" name="圆角矩形 5"/>
          <p:cNvSpPr/>
          <p:nvPr/>
        </p:nvSpPr>
        <p:spPr>
          <a:xfrm>
            <a:off x="520403" y="5349276"/>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solidFill>
                  <a:srgbClr val="000000"/>
                </a:solidFill>
                <a:ea typeface="黑体" panose="02010609060101010101" pitchFamily="49" charset="-122"/>
              </a:rPr>
              <a:t>3.4 </a:t>
            </a:r>
            <a:r>
              <a:rPr lang="zh-CN" altLang="en-US" sz="2800" b="1" dirty="0">
                <a:solidFill>
                  <a:srgbClr val="000000"/>
                </a:solidFill>
                <a:ea typeface="黑体" panose="02010609060101010101" pitchFamily="49" charset="-122"/>
              </a:rPr>
              <a:t>体系结构</a:t>
            </a:r>
            <a:endParaRPr lang="zh-CN" altLang="en-US" sz="2800" b="1" dirty="0"/>
          </a:p>
        </p:txBody>
      </p:sp>
      <p:sp>
        <p:nvSpPr>
          <p:cNvPr id="13" name="圆角矩形 4"/>
          <p:cNvSpPr/>
          <p:nvPr/>
        </p:nvSpPr>
        <p:spPr>
          <a:xfrm>
            <a:off x="9146243" y="1745937"/>
            <a:ext cx="2787650" cy="590550"/>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3.5 </a:t>
            </a:r>
            <a:r>
              <a:rPr lang="zh-CN" altLang="en-US" sz="2800" b="1" dirty="0"/>
              <a:t>存储原理</a:t>
            </a:r>
            <a:endParaRPr lang="zh-CN" altLang="en-US" sz="2800" b="1" dirty="0"/>
          </a:p>
        </p:txBody>
      </p:sp>
      <p:sp>
        <p:nvSpPr>
          <p:cNvPr id="16" name="标题 1"/>
          <p:cNvSpPr txBox="1"/>
          <p:nvPr/>
        </p:nvSpPr>
        <p:spPr>
          <a:xfrm>
            <a:off x="395748" y="275858"/>
            <a:ext cx="10515600"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b="1" dirty="0">
                <a:solidFill>
                  <a:srgbClr val="000000"/>
                </a:solidFill>
                <a:latin typeface="宋体" panose="02010600030101010101" pitchFamily="2" charset="-122"/>
                <a:ea typeface="宋体" panose="02010600030101010101" pitchFamily="2" charset="-122"/>
                <a:sym typeface="+mn-ea"/>
              </a:rPr>
              <a:t>第</a:t>
            </a:r>
            <a:r>
              <a:rPr lang="en-US" altLang="zh-CN" sz="4800" b="1" dirty="0">
                <a:solidFill>
                  <a:srgbClr val="000000"/>
                </a:solidFill>
                <a:latin typeface="宋体" panose="02010600030101010101" pitchFamily="2" charset="-122"/>
                <a:ea typeface="宋体" panose="02010600030101010101" pitchFamily="2" charset="-122"/>
                <a:sym typeface="+mn-ea"/>
              </a:rPr>
              <a:t>3</a:t>
            </a:r>
            <a:r>
              <a:rPr lang="zh-CN" altLang="en-US" sz="4800" b="1" dirty="0">
                <a:solidFill>
                  <a:srgbClr val="000000"/>
                </a:solidFill>
                <a:latin typeface="宋体" panose="02010600030101010101" pitchFamily="2" charset="-122"/>
                <a:ea typeface="宋体" panose="02010600030101010101" pitchFamily="2" charset="-122"/>
                <a:sym typeface="+mn-ea"/>
              </a:rPr>
              <a:t>章	分布式文件系统</a:t>
            </a:r>
            <a:r>
              <a:rPr lang="en-US" altLang="zh-CN" sz="4800" b="1" dirty="0">
                <a:solidFill>
                  <a:srgbClr val="000000"/>
                </a:solidFill>
                <a:latin typeface="宋体" panose="02010600030101010101" pitchFamily="2" charset="-122"/>
                <a:ea typeface="宋体" panose="02010600030101010101" pitchFamily="2" charset="-122"/>
                <a:sym typeface="+mn-ea"/>
              </a:rPr>
              <a:t>HDFS</a:t>
            </a:r>
            <a:endParaRPr lang="zh-CN" altLang="en-US" sz="4800" b="1" dirty="0">
              <a:solidFill>
                <a:srgbClr val="000000"/>
              </a:solidFill>
              <a:latin typeface="宋体" panose="02010600030101010101" pitchFamily="2" charset="-122"/>
              <a:ea typeface="宋体" panose="02010600030101010101" pitchFamily="2" charset="-122"/>
            </a:endParaRPr>
          </a:p>
        </p:txBody>
      </p:sp>
      <p:pic>
        <p:nvPicPr>
          <p:cNvPr id="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48062" y="2246878"/>
            <a:ext cx="5095875" cy="3000375"/>
          </a:xfrm>
          <a:prstGeom prst="rect">
            <a:avLst/>
          </a:prstGeom>
          <a:noFill/>
          <a:extLst>
            <a:ext uri="{909E8E84-426E-40DD-AFC4-6F175D3DCCD1}">
              <a14:hiddenFill xmlns:a14="http://schemas.microsoft.com/office/drawing/2010/main">
                <a:solidFill>
                  <a:srgbClr val="FFFFFF"/>
                </a:solidFill>
              </a14:hiddenFill>
            </a:ext>
          </a:extLst>
        </p:spPr>
      </p:pic>
      <p:sp>
        <p:nvSpPr>
          <p:cNvPr id="8" name="圆角矩形 4"/>
          <p:cNvSpPr/>
          <p:nvPr/>
        </p:nvSpPr>
        <p:spPr>
          <a:xfrm>
            <a:off x="520403" y="1745937"/>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solidFill>
                  <a:srgbClr val="000000"/>
                </a:solidFill>
                <a:ea typeface="黑体" panose="02010609060101010101" pitchFamily="49" charset="-122"/>
              </a:rPr>
              <a:t>3.2 HDFS</a:t>
            </a:r>
            <a:r>
              <a:rPr lang="zh-CN" altLang="en-US" sz="2800" b="1" dirty="0">
                <a:solidFill>
                  <a:srgbClr val="000000"/>
                </a:solidFill>
                <a:ea typeface="黑体" panose="02010609060101010101" pitchFamily="49" charset="-122"/>
              </a:rPr>
              <a:t>简介</a:t>
            </a:r>
            <a:endParaRPr lang="zh-CN" altLang="en-US" sz="2800" dirty="0"/>
          </a:p>
        </p:txBody>
      </p:sp>
      <p:sp>
        <p:nvSpPr>
          <p:cNvPr id="9" name="圆角矩形 5"/>
          <p:cNvSpPr/>
          <p:nvPr/>
        </p:nvSpPr>
        <p:spPr>
          <a:xfrm>
            <a:off x="520403" y="3547606"/>
            <a:ext cx="2787650" cy="590550"/>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solidFill>
                  <a:srgbClr val="000000"/>
                </a:solidFill>
                <a:ea typeface="黑体" panose="02010609060101010101" pitchFamily="49" charset="-122"/>
              </a:rPr>
              <a:t>3.3  </a:t>
            </a:r>
            <a:r>
              <a:rPr lang="zh-CN" altLang="en-US" sz="2800" b="1" dirty="0">
                <a:solidFill>
                  <a:srgbClr val="000000"/>
                </a:solidFill>
                <a:ea typeface="黑体" panose="02010609060101010101" pitchFamily="49" charset="-122"/>
              </a:rPr>
              <a:t>相关概念</a:t>
            </a:r>
            <a:endParaRPr lang="zh-CN" altLang="en-US" sz="2800" b="1" dirty="0"/>
          </a:p>
        </p:txBody>
      </p:sp>
      <p:sp>
        <p:nvSpPr>
          <p:cNvPr id="11" name="圆角矩形 4"/>
          <p:cNvSpPr/>
          <p:nvPr/>
        </p:nvSpPr>
        <p:spPr>
          <a:xfrm>
            <a:off x="9146243" y="3547606"/>
            <a:ext cx="2787650" cy="590550"/>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400" b="1" dirty="0"/>
              <a:t>3.6 </a:t>
            </a:r>
            <a:r>
              <a:rPr lang="zh-CN" altLang="en-US" sz="2400" b="1" dirty="0"/>
              <a:t>数据读写过程</a:t>
            </a:r>
            <a:endParaRPr lang="zh-CN" altLang="en-US" sz="2400" b="1" dirty="0"/>
          </a:p>
        </p:txBody>
      </p:sp>
      <p:sp>
        <p:nvSpPr>
          <p:cNvPr id="12" name="圆角矩形 4"/>
          <p:cNvSpPr/>
          <p:nvPr/>
        </p:nvSpPr>
        <p:spPr>
          <a:xfrm>
            <a:off x="9146243" y="5349276"/>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3.7 </a:t>
            </a:r>
            <a:r>
              <a:rPr lang="zh-CN" altLang="en-US" sz="2800" b="1" dirty="0"/>
              <a:t>编程实践</a:t>
            </a:r>
            <a:endParaRPr lang="zh-CN" altLang="en-US" sz="2800" b="1" dirty="0"/>
          </a:p>
        </p:txBody>
      </p:sp>
      <p:sp>
        <p:nvSpPr>
          <p:cNvPr id="5" name="圆角矩形 4"/>
          <p:cNvSpPr/>
          <p:nvPr/>
        </p:nvSpPr>
        <p:spPr>
          <a:xfrm>
            <a:off x="4773294" y="4028200"/>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400" dirty="0"/>
              <a:t>3.1</a:t>
            </a:r>
            <a:r>
              <a:rPr lang="zh-CN" altLang="en-US" sz="2400" b="1" dirty="0">
                <a:solidFill>
                  <a:srgbClr val="000000"/>
                </a:solidFill>
                <a:ea typeface="黑体" panose="02010609060101010101" pitchFamily="49" charset="-122"/>
              </a:rPr>
              <a:t>分布式文件系统</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3" grpId="0" animBg="1"/>
      <p:bldP spid="13" grpId="1" bldLvl="0" animBg="1"/>
      <p:bldP spid="8" grpId="0" animBg="1"/>
      <p:bldP spid="8" grpId="1" animBg="1"/>
      <p:bldP spid="9" grpId="0" animBg="1"/>
      <p:bldP spid="9" grpId="1" bldLvl="0" animBg="1"/>
      <p:bldP spid="11" grpId="0" animBg="1"/>
      <p:bldP spid="11" grpId="1" bldLvl="0" animBg="1"/>
      <p:bldP spid="12" grpId="0" animBg="1"/>
      <p:bldP spid="1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zh-CN" b="1" dirty="0"/>
              <a:t>3.1	</a:t>
            </a:r>
            <a:r>
              <a:rPr lang="zh-CN" altLang="en-US" b="1" dirty="0"/>
              <a:t>分布式文件系统</a:t>
            </a:r>
            <a:endParaRPr lang="zh-CN" altLang="en-US" b="1" dirty="0"/>
          </a:p>
        </p:txBody>
      </p:sp>
      <p:graphicFrame>
        <p:nvGraphicFramePr>
          <p:cNvPr id="2" name="图示 1"/>
          <p:cNvGraphicFramePr/>
          <p:nvPr/>
        </p:nvGraphicFramePr>
        <p:xfrm>
          <a:off x="2316480" y="1690688"/>
          <a:ext cx="7396480" cy="37379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文本框 5"/>
          <p:cNvSpPr txBox="1"/>
          <p:nvPr/>
        </p:nvSpPr>
        <p:spPr>
          <a:xfrm>
            <a:off x="3616960" y="5703054"/>
            <a:ext cx="4958080" cy="954107"/>
          </a:xfrm>
          <a:prstGeom prst="rect">
            <a:avLst/>
          </a:prstGeom>
          <a:noFill/>
        </p:spPr>
        <p:txBody>
          <a:bodyPr wrap="square">
            <a:spAutoFit/>
          </a:bodyPr>
          <a:lstStyle/>
          <a:p>
            <a:pPr algn="ctr"/>
            <a:r>
              <a:rPr lang="zh-CN" altLang="en-US" sz="2800" dirty="0"/>
              <a:t>通过网络，</a:t>
            </a:r>
            <a:endParaRPr lang="en-US" altLang="zh-CN" sz="2800" dirty="0"/>
          </a:p>
          <a:p>
            <a:pPr algn="ctr"/>
            <a:r>
              <a:rPr lang="zh-CN" altLang="en-US" sz="2800" dirty="0"/>
              <a:t>在多台主机上进行分布式存储</a:t>
            </a:r>
            <a:endParaRPr lang="zh-CN"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2"/>
          <p:cNvSpPr>
            <a:spLocks noGrp="1" noChangeArrowheads="1"/>
          </p:cNvSpPr>
          <p:nvPr>
            <p:ph type="title"/>
          </p:nvPr>
        </p:nvSpPr>
        <p:spPr/>
        <p:txBody>
          <a:bodyPr/>
          <a:lstStyle/>
          <a:p>
            <a:r>
              <a:rPr lang="en-US" altLang="en-US" b="1" dirty="0"/>
              <a:t>3.1.1	</a:t>
            </a:r>
            <a:r>
              <a:rPr lang="en-US" altLang="en-US" b="1" dirty="0" err="1"/>
              <a:t>计算机集群结构</a:t>
            </a:r>
            <a:endParaRPr lang="zh-CN" altLang="en-US" b="1" dirty="0"/>
          </a:p>
        </p:txBody>
      </p:sp>
      <p:pic>
        <p:nvPicPr>
          <p:cNvPr id="3" name="图片 5" descr="_架(01-22-15-12-5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0660" y="2533967"/>
            <a:ext cx="6019800"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对话气泡: 圆角矩形 3"/>
          <p:cNvSpPr/>
          <p:nvPr/>
        </p:nvSpPr>
        <p:spPr>
          <a:xfrm>
            <a:off x="198120" y="2992120"/>
            <a:ext cx="2738120" cy="873760"/>
          </a:xfrm>
          <a:prstGeom prst="wedgeRoundRectCallout">
            <a:avLst>
              <a:gd name="adj1" fmla="val 112477"/>
              <a:gd name="adj2" fmla="val -5261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r>
              <a:rPr lang="zh-CN" altLang="en-US" sz="2400" dirty="0"/>
              <a:t>文件分布存储到多个计算机节点上</a:t>
            </a:r>
            <a:endParaRPr lang="en-US" altLang="zh-CN" sz="2400" dirty="0"/>
          </a:p>
        </p:txBody>
      </p:sp>
      <p:sp>
        <p:nvSpPr>
          <p:cNvPr id="5" name="对话气泡: 圆角矩形 4"/>
          <p:cNvSpPr/>
          <p:nvPr/>
        </p:nvSpPr>
        <p:spPr>
          <a:xfrm>
            <a:off x="8295640" y="3234331"/>
            <a:ext cx="3210560" cy="873760"/>
          </a:xfrm>
          <a:prstGeom prst="wedgeRoundRectCallout">
            <a:avLst>
              <a:gd name="adj1" fmla="val -100298"/>
              <a:gd name="adj2" fmla="val -6424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r>
              <a:rPr lang="zh-CN" altLang="en-US" sz="2400" dirty="0"/>
              <a:t>成千上万的计算机节点构成计算机集群</a:t>
            </a:r>
            <a:endParaRPr lang="en-US" altLang="zh-CN" sz="2400" dirty="0"/>
          </a:p>
        </p:txBody>
      </p:sp>
      <p:sp>
        <p:nvSpPr>
          <p:cNvPr id="6" name="对话气泡: 圆角矩形 5"/>
          <p:cNvSpPr/>
          <p:nvPr/>
        </p:nvSpPr>
        <p:spPr>
          <a:xfrm>
            <a:off x="8420100" y="1360308"/>
            <a:ext cx="2738120" cy="873760"/>
          </a:xfrm>
          <a:prstGeom prst="wedgeRoundRectCallout">
            <a:avLst>
              <a:gd name="adj1" fmla="val -116465"/>
              <a:gd name="adj2" fmla="val 9389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r>
              <a:rPr lang="zh-CN" altLang="en-US" sz="2400" dirty="0"/>
              <a:t>集群由普通硬件构成的，成本低</a:t>
            </a:r>
            <a:endParaRPr lang="zh-CN" altLang="en-US" sz="2400" dirty="0"/>
          </a:p>
        </p:txBody>
      </p:sp>
      <p:sp>
        <p:nvSpPr>
          <p:cNvPr id="7" name="对话气泡: 圆角矩形 6"/>
          <p:cNvSpPr/>
          <p:nvPr/>
        </p:nvSpPr>
        <p:spPr>
          <a:xfrm>
            <a:off x="748030" y="4634229"/>
            <a:ext cx="1992630" cy="533083"/>
          </a:xfrm>
          <a:prstGeom prst="wedgeRoundRectCallout">
            <a:avLst>
              <a:gd name="adj1" fmla="val 61904"/>
              <a:gd name="adj2" fmla="val -94380"/>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eaLnBrk="1" hangingPunct="1"/>
            <a:r>
              <a:rPr lang="en-US" altLang="zh-CN" sz="2400" dirty="0"/>
              <a:t>8~64</a:t>
            </a:r>
            <a:r>
              <a:rPr lang="zh-CN" altLang="en-US" sz="2400" dirty="0"/>
              <a:t>个节点</a:t>
            </a:r>
            <a:endParaRPr lang="en-US" altLang="zh-CN" sz="2400" dirty="0"/>
          </a:p>
        </p:txBody>
      </p:sp>
      <p:sp>
        <p:nvSpPr>
          <p:cNvPr id="8" name="对话气泡: 圆角矩形 7"/>
          <p:cNvSpPr/>
          <p:nvPr/>
        </p:nvSpPr>
        <p:spPr>
          <a:xfrm>
            <a:off x="9043670" y="4733310"/>
            <a:ext cx="1709420" cy="764382"/>
          </a:xfrm>
          <a:prstGeom prst="wedgeRoundRectCallout">
            <a:avLst>
              <a:gd name="adj1" fmla="val -131759"/>
              <a:gd name="adj2" fmla="val -84499"/>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eaLnBrk="1" hangingPunct="1"/>
            <a:r>
              <a:rPr lang="zh-CN" altLang="en-US" sz="2400" dirty="0"/>
              <a:t>节点间</a:t>
            </a:r>
            <a:endParaRPr lang="en-US" altLang="zh-CN" sz="2400" dirty="0"/>
          </a:p>
          <a:p>
            <a:pPr algn="ctr" eaLnBrk="1" hangingPunct="1"/>
            <a:r>
              <a:rPr lang="zh-CN" altLang="en-US" sz="2400" dirty="0"/>
              <a:t>网络互连</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236855" y="127000"/>
            <a:ext cx="6882402" cy="95885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索引分配</a:t>
            </a:r>
            <a:r>
              <a:rPr lang="en-US" altLang="zh-CN" sz="3600" b="1" dirty="0"/>
              <a:t>(</a:t>
            </a:r>
            <a:r>
              <a:rPr lang="zh-CN" altLang="en-US" sz="3600" b="1" dirty="0"/>
              <a:t>基于可变分区</a:t>
            </a:r>
            <a:r>
              <a:rPr lang="en-US" altLang="zh-CN" sz="3600" b="1" dirty="0"/>
              <a:t>)</a:t>
            </a:r>
            <a:endParaRPr lang="zh-CN" altLang="en-US" sz="3600" b="1" dirty="0"/>
          </a:p>
        </p:txBody>
      </p:sp>
      <p:sp>
        <p:nvSpPr>
          <p:cNvPr id="5" name="椭圆 4"/>
          <p:cNvSpPr/>
          <p:nvPr/>
        </p:nvSpPr>
        <p:spPr>
          <a:xfrm>
            <a:off x="326571" y="989045"/>
            <a:ext cx="4945225" cy="765110"/>
          </a:xfrm>
          <a:prstGeom prst="ellipse">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弧形 6"/>
          <p:cNvSpPr/>
          <p:nvPr/>
        </p:nvSpPr>
        <p:spPr>
          <a:xfrm flipV="1">
            <a:off x="-184540" y="5988170"/>
            <a:ext cx="5456336" cy="837437"/>
          </a:xfrm>
          <a:prstGeom prst="arc">
            <a:avLst>
              <a:gd name="adj1" fmla="val 18025265"/>
              <a:gd name="adj2" fmla="val 0"/>
            </a:avLst>
          </a:prstGeom>
          <a:noFill/>
          <a:ln w="285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p:nvSpPr>
        <p:spPr>
          <a:xfrm flipH="1" flipV="1">
            <a:off x="363893" y="5988170"/>
            <a:ext cx="5456336" cy="837437"/>
          </a:xfrm>
          <a:prstGeom prst="arc">
            <a:avLst>
              <a:gd name="adj1" fmla="val 18025265"/>
              <a:gd name="adj2" fmla="val 0"/>
            </a:avLst>
          </a:prstGeom>
          <a:noFill/>
          <a:ln w="285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 name="直接连接符 9"/>
          <p:cNvCxnSpPr>
            <a:stCxn id="5" idx="2"/>
            <a:endCxn id="8" idx="2"/>
          </p:cNvCxnSpPr>
          <p:nvPr/>
        </p:nvCxnSpPr>
        <p:spPr>
          <a:xfrm>
            <a:off x="326571" y="1371600"/>
            <a:ext cx="37322" cy="5035288"/>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7" idx="2"/>
            <a:endCxn id="5" idx="6"/>
          </p:cNvCxnSpPr>
          <p:nvPr/>
        </p:nvCxnSpPr>
        <p:spPr>
          <a:xfrm flipV="1">
            <a:off x="5271796" y="1371600"/>
            <a:ext cx="0" cy="5035288"/>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graphicFrame>
        <p:nvGraphicFramePr>
          <p:cNvPr id="13" name="表格 3"/>
          <p:cNvGraphicFramePr>
            <a:graphicFrameLocks noGrp="1"/>
          </p:cNvGraphicFramePr>
          <p:nvPr/>
        </p:nvGraphicFramePr>
        <p:xfrm>
          <a:off x="652102" y="1772817"/>
          <a:ext cx="4182190" cy="4767425"/>
        </p:xfrm>
        <a:graphic>
          <a:graphicData uri="http://schemas.openxmlformats.org/drawingml/2006/table">
            <a:tbl>
              <a:tblPr firstRow="1" bandRow="1">
                <a:tableStyleId>{5C22544A-7EE6-4342-B048-85BDC9FD1C3A}</a:tableStyleId>
              </a:tblPr>
              <a:tblGrid>
                <a:gridCol w="418219"/>
                <a:gridCol w="418219"/>
                <a:gridCol w="418219"/>
                <a:gridCol w="418219"/>
                <a:gridCol w="418219"/>
                <a:gridCol w="418219"/>
                <a:gridCol w="418219"/>
                <a:gridCol w="418219"/>
                <a:gridCol w="418219"/>
                <a:gridCol w="418219"/>
              </a:tblGrid>
              <a:tr h="366725">
                <a:tc>
                  <a:txBody>
                    <a:bodyPr/>
                    <a:lstStyle/>
                    <a:p>
                      <a:r>
                        <a:rPr lang="en-US" altLang="zh-CN" sz="1600" b="0" dirty="0">
                          <a:solidFill>
                            <a:schemeClr val="tx1"/>
                          </a:solidFill>
                        </a:rPr>
                        <a:t>0</a:t>
                      </a:r>
                      <a:endParaRPr lang="zh-CN" altLang="en-US" sz="1600" b="0" dirty="0">
                        <a:solidFill>
                          <a:schemeClr val="tx1"/>
                        </a:solidFill>
                      </a:endParaRPr>
                    </a:p>
                  </a:txBody>
                  <a:tcPr>
                    <a:lnR w="12700" cap="flat" cmpd="sng" algn="ctr">
                      <a:solidFill>
                        <a:schemeClr val="tx1"/>
                      </a:solidFill>
                      <a:prstDash val="solid"/>
                      <a:round/>
                      <a:headEnd type="none" w="med" len="med"/>
                      <a:tailEnd type="none" w="med" len="med"/>
                    </a:lnR>
                    <a:noFill/>
                  </a:tcPr>
                </a:tc>
                <a:tc>
                  <a:txBody>
                    <a:bodyPr/>
                    <a:lstStyle/>
                    <a:p>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b="0" dirty="0">
                          <a:solidFill>
                            <a:schemeClr val="tx1"/>
                          </a:solidFill>
                        </a:rPr>
                        <a:t>1</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altLang="zh-CN" sz="1600" b="0" dirty="0">
                          <a:solidFill>
                            <a:schemeClr val="tx1"/>
                          </a:solidFill>
                        </a:rPr>
                        <a:t>2</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altLang="zh-CN" sz="1600" b="0" dirty="0">
                          <a:solidFill>
                            <a:schemeClr val="tx1"/>
                          </a:solidFill>
                        </a:rPr>
                        <a:t>3</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altLang="zh-CN" sz="1600" b="0" dirty="0">
                          <a:solidFill>
                            <a:schemeClr val="tx1"/>
                          </a:solidFill>
                        </a:rPr>
                        <a:t>4</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endParaRPr lang="zh-CN" altLang="en-US" sz="1600" dirty="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dirty="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dirty="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dirty="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dirty="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r>
                        <a:rPr lang="en-US" altLang="zh-CN" sz="1600" dirty="0"/>
                        <a:t>5</a:t>
                      </a:r>
                      <a:endParaRPr lang="zh-CN" altLang="en-US" sz="1600" dirty="0"/>
                    </a:p>
                  </a:txBody>
                  <a:tcPr>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6</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7</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8</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9</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endParaRPr lang="zh-CN" altLang="en-US" sz="160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dirty="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r>
                        <a:rPr lang="en-US" altLang="zh-CN" sz="1600" dirty="0"/>
                        <a:t>10</a:t>
                      </a:r>
                      <a:endParaRPr lang="zh-CN" altLang="en-US" sz="1600" dirty="0"/>
                    </a:p>
                  </a:txBody>
                  <a:tcPr>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11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12</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13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14</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endParaRPr lang="zh-CN" altLang="en-US" sz="160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dirty="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r>
                        <a:rPr lang="en-US" altLang="zh-CN" sz="1600" dirty="0"/>
                        <a:t>15</a:t>
                      </a:r>
                      <a:endParaRPr lang="zh-CN" altLang="en-US" sz="1600" dirty="0"/>
                    </a:p>
                  </a:txBody>
                  <a:tcPr>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16</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17</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18</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19</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r>
                        <a:rPr lang="en-US" altLang="zh-CN" sz="1600" dirty="0"/>
                        <a:t>20</a:t>
                      </a:r>
                      <a:endParaRPr lang="zh-CN" altLang="en-US" sz="1600" dirty="0"/>
                    </a:p>
                  </a:txBody>
                  <a:tcPr>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21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22</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23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24</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r>
              <a:tr h="366725">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r>
                        <a:rPr lang="en-US" altLang="zh-CN" sz="1600" dirty="0"/>
                        <a:t>25</a:t>
                      </a:r>
                      <a:endParaRPr lang="zh-CN" altLang="en-US" sz="1600" dirty="0"/>
                    </a:p>
                  </a:txBody>
                  <a:tcPr>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26</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27</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altLang="zh-CN" sz="1600" dirty="0"/>
                        <a:t>28</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altLang="zh-CN" sz="1600" dirty="0"/>
                        <a:t>29</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1600"/>
                    </a:p>
                  </a:txBody>
                  <a:tcPr>
                    <a:noFill/>
                  </a:tcPr>
                </a:tc>
                <a:tc>
                  <a:txBody>
                    <a:bodyPr/>
                    <a:lstStyle/>
                    <a:p>
                      <a:endParaRPr lang="zh-CN" altLang="en-US" sz="16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6725">
                <a:tc>
                  <a:txBody>
                    <a:bodyPr/>
                    <a:lstStyle/>
                    <a:p>
                      <a:r>
                        <a:rPr lang="en-US" altLang="zh-CN" sz="1600" dirty="0"/>
                        <a:t>30</a:t>
                      </a:r>
                      <a:endParaRPr lang="zh-CN" altLang="en-US" sz="1600" dirty="0"/>
                    </a:p>
                  </a:txBody>
                  <a:tcPr>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31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32</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33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600" dirty="0"/>
                        <a:t>34</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4" name="表格 10"/>
          <p:cNvGraphicFramePr>
            <a:graphicFrameLocks noGrp="1"/>
          </p:cNvGraphicFramePr>
          <p:nvPr/>
        </p:nvGraphicFramePr>
        <p:xfrm>
          <a:off x="7598229" y="1231995"/>
          <a:ext cx="3035558" cy="1828800"/>
        </p:xfrm>
        <a:graphic>
          <a:graphicData uri="http://schemas.openxmlformats.org/drawingml/2006/table">
            <a:tbl>
              <a:tblPr firstRow="1" bandRow="1">
                <a:tableStyleId>{5C22544A-7EE6-4342-B048-85BDC9FD1C3A}</a:tableStyleId>
              </a:tblPr>
              <a:tblGrid>
                <a:gridCol w="1374709"/>
                <a:gridCol w="1660849"/>
              </a:tblGrid>
              <a:tr h="374339">
                <a:tc>
                  <a:txBody>
                    <a:bodyPr/>
                    <a:lstStyle/>
                    <a:p>
                      <a:pPr algn="ctr"/>
                      <a:r>
                        <a:rPr lang="zh-CN" altLang="en-US" sz="2400" dirty="0"/>
                        <a:t>文件名</a:t>
                      </a:r>
                      <a:endParaRPr lang="zh-CN" altLang="en-US" sz="2400" dirty="0"/>
                    </a:p>
                  </a:txBody>
                  <a:tcPr anchor="ctr"/>
                </a:tc>
                <a:tc>
                  <a:txBody>
                    <a:bodyPr/>
                    <a:lstStyle/>
                    <a:p>
                      <a:pPr algn="ctr"/>
                      <a:r>
                        <a:rPr lang="zh-CN" altLang="en-US" sz="2400" dirty="0"/>
                        <a:t>索引块</a:t>
                      </a:r>
                      <a:endParaRPr lang="zh-CN" altLang="en-US" sz="2400" dirty="0"/>
                    </a:p>
                  </a:txBody>
                  <a:tcPr anchor="ctr"/>
                </a:tc>
              </a:tr>
              <a:tr h="370840">
                <a:tc>
                  <a:txBody>
                    <a:bodyPr/>
                    <a:lstStyle/>
                    <a:p>
                      <a:pPr algn="ctr"/>
                      <a:r>
                        <a:rPr lang="en-US" altLang="zh-CN" sz="2400" dirty="0"/>
                        <a:t>…</a:t>
                      </a:r>
                      <a:endParaRPr lang="zh-CN" altLang="en-US" sz="2400" dirty="0"/>
                    </a:p>
                  </a:txBody>
                  <a:tcPr anchor="ctr">
                    <a:solidFill>
                      <a:srgbClr val="D2DEEF"/>
                    </a:solidFill>
                  </a:tcPr>
                </a:tc>
                <a:tc>
                  <a:txBody>
                    <a:bodyPr/>
                    <a:lstStyle/>
                    <a:p>
                      <a:pPr algn="ctr"/>
                      <a:r>
                        <a:rPr lang="en-US" altLang="zh-CN" sz="2400" dirty="0"/>
                        <a:t>…</a:t>
                      </a:r>
                      <a:endParaRPr lang="zh-CN" altLang="en-US" sz="2400" dirty="0"/>
                    </a:p>
                  </a:txBody>
                  <a:tcPr anchor="ctr"/>
                </a:tc>
              </a:tr>
              <a:tr h="370840">
                <a:tc>
                  <a:txBody>
                    <a:bodyPr/>
                    <a:lstStyle/>
                    <a:p>
                      <a:pPr algn="ctr"/>
                      <a:r>
                        <a:rPr lang="en-US" altLang="zh-CN" sz="2400" dirty="0"/>
                        <a:t>B</a:t>
                      </a:r>
                      <a:endParaRPr lang="zh-CN" altLang="en-US" sz="2400" dirty="0"/>
                    </a:p>
                  </a:txBody>
                  <a:tcPr anchor="ctr">
                    <a:solidFill>
                      <a:srgbClr val="FFFF00"/>
                    </a:solidFill>
                  </a:tcPr>
                </a:tc>
                <a:tc>
                  <a:txBody>
                    <a:bodyPr/>
                    <a:lstStyle/>
                    <a:p>
                      <a:pPr algn="ctr"/>
                      <a:r>
                        <a:rPr lang="en-US" altLang="zh-CN" sz="2400" dirty="0"/>
                        <a:t>24</a:t>
                      </a:r>
                      <a:endParaRPr lang="zh-CN" altLang="en-US" sz="2400" dirty="0"/>
                    </a:p>
                  </a:txBody>
                  <a:tcPr anchor="ctr">
                    <a:solidFill>
                      <a:srgbClr val="FF0000"/>
                    </a:solidFill>
                  </a:tcPr>
                </a:tc>
              </a:tr>
              <a:tr h="370840">
                <a:tc>
                  <a:txBody>
                    <a:bodyPr/>
                    <a:lstStyle/>
                    <a:p>
                      <a:pPr algn="ctr"/>
                      <a:r>
                        <a:rPr lang="en-US" altLang="zh-CN" sz="2400" dirty="0"/>
                        <a:t>…</a:t>
                      </a:r>
                      <a:endParaRPr lang="zh-CN" altLang="en-US" sz="2400" dirty="0"/>
                    </a:p>
                  </a:txBody>
                  <a:tcPr anchor="ctr">
                    <a:solidFill>
                      <a:srgbClr val="D2DEEF"/>
                    </a:solidFill>
                  </a:tcPr>
                </a:tc>
                <a:tc>
                  <a:txBody>
                    <a:bodyPr/>
                    <a:lstStyle/>
                    <a:p>
                      <a:pPr algn="ctr"/>
                      <a:r>
                        <a:rPr lang="en-US" altLang="zh-CN" sz="2400" dirty="0"/>
                        <a:t>…</a:t>
                      </a:r>
                      <a:endParaRPr lang="zh-CN" altLang="en-US" sz="2400" dirty="0"/>
                    </a:p>
                  </a:txBody>
                  <a:tcPr anchor="ctr"/>
                </a:tc>
              </a:tr>
            </a:tbl>
          </a:graphicData>
        </a:graphic>
      </p:graphicFrame>
      <p:sp>
        <p:nvSpPr>
          <p:cNvPr id="15" name="文本框 14"/>
          <p:cNvSpPr txBox="1"/>
          <p:nvPr/>
        </p:nvSpPr>
        <p:spPr>
          <a:xfrm>
            <a:off x="7952170" y="708775"/>
            <a:ext cx="1980029" cy="523220"/>
          </a:xfrm>
          <a:prstGeom prst="rect">
            <a:avLst/>
          </a:prstGeom>
          <a:noFill/>
        </p:spPr>
        <p:txBody>
          <a:bodyPr wrap="none" rtlCol="0">
            <a:spAutoFit/>
          </a:bodyPr>
          <a:lstStyle/>
          <a:p>
            <a:r>
              <a:rPr lang="zh-CN" altLang="en-US" sz="2800" dirty="0"/>
              <a:t>文件分配表</a:t>
            </a:r>
            <a:endParaRPr lang="zh-CN" altLang="en-US" sz="2800" dirty="0"/>
          </a:p>
        </p:txBody>
      </p:sp>
      <p:cxnSp>
        <p:nvCxnSpPr>
          <p:cNvPr id="17" name="直接箭头连接符 16"/>
          <p:cNvCxnSpPr/>
          <p:nvPr/>
        </p:nvCxnSpPr>
        <p:spPr>
          <a:xfrm flipH="1" flipV="1">
            <a:off x="1903445" y="2146395"/>
            <a:ext cx="2519265" cy="2584225"/>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32" name="直接箭头连接符 31"/>
          <p:cNvCxnSpPr/>
          <p:nvPr/>
        </p:nvCxnSpPr>
        <p:spPr>
          <a:xfrm flipH="1">
            <a:off x="2687216" y="5060216"/>
            <a:ext cx="1735494" cy="398192"/>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aphicFrame>
        <p:nvGraphicFramePr>
          <p:cNvPr id="19" name="表格 20"/>
          <p:cNvGraphicFramePr>
            <a:graphicFrameLocks noGrp="1"/>
          </p:cNvGraphicFramePr>
          <p:nvPr/>
        </p:nvGraphicFramePr>
        <p:xfrm>
          <a:off x="5653595" y="2705780"/>
          <a:ext cx="952478" cy="1854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52478"/>
              </a:tblGrid>
              <a:tr h="370840">
                <a:tc>
                  <a:txBody>
                    <a:bodyPr/>
                    <a:lstStyle/>
                    <a:p>
                      <a:pPr algn="ctr"/>
                      <a:r>
                        <a:rPr lang="en-US" altLang="zh-CN" b="0" dirty="0">
                          <a:solidFill>
                            <a:schemeClr val="tx1"/>
                          </a:solidFill>
                        </a:rPr>
                        <a:t>1</a:t>
                      </a:r>
                      <a:endParaRPr lang="zh-CN"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r>
              <a:tr h="370840">
                <a:tc>
                  <a:txBody>
                    <a:bodyPr/>
                    <a:lstStyle/>
                    <a:p>
                      <a:pPr algn="ctr"/>
                      <a:r>
                        <a:rPr lang="en-US" altLang="zh-CN" b="0" dirty="0">
                          <a:solidFill>
                            <a:schemeClr val="tx1"/>
                          </a:solidFill>
                        </a:rPr>
                        <a:t>8</a:t>
                      </a:r>
                      <a:r>
                        <a:rPr lang="en-US" altLang="zh-CN" b="0" dirty="0">
                          <a:solidFill>
                            <a:schemeClr val="tx1"/>
                          </a:solidFill>
                          <a:sym typeface="Wingdings" panose="05000000000000000000" pitchFamily="2" charset="2"/>
                        </a:rPr>
                        <a:t>2</a:t>
                      </a:r>
                      <a:endParaRPr lang="zh-CN"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r h="370840">
                <a:tc>
                  <a:txBody>
                    <a:bodyPr/>
                    <a:lstStyle/>
                    <a:p>
                      <a:pPr algn="ctr"/>
                      <a:r>
                        <a:rPr lang="en-US" altLang="zh-CN" b="0" dirty="0">
                          <a:solidFill>
                            <a:schemeClr val="tx1"/>
                          </a:solidFill>
                        </a:rPr>
                        <a:t>3</a:t>
                      </a:r>
                      <a:endParaRPr lang="zh-CN"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r h="370840">
                <a:tc>
                  <a:txBody>
                    <a:bodyPr/>
                    <a:lstStyle/>
                    <a:p>
                      <a:pPr algn="ctr"/>
                      <a:r>
                        <a:rPr lang="en-US" altLang="zh-CN" b="0" dirty="0">
                          <a:solidFill>
                            <a:schemeClr val="tx1"/>
                          </a:solidFill>
                        </a:rPr>
                        <a:t>14</a:t>
                      </a:r>
                      <a:r>
                        <a:rPr lang="en-US" altLang="zh-CN" b="0" dirty="0">
                          <a:solidFill>
                            <a:schemeClr val="tx1"/>
                          </a:solidFill>
                          <a:sym typeface="Wingdings" panose="05000000000000000000" pitchFamily="2" charset="2"/>
                        </a:rPr>
                        <a:t>27</a:t>
                      </a:r>
                      <a:endParaRPr lang="zh-CN"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r h="370840">
                <a:tc>
                  <a:txBody>
                    <a:bodyPr/>
                    <a:lstStyle/>
                    <a:p>
                      <a:pPr algn="ctr"/>
                      <a:r>
                        <a:rPr lang="en-US" altLang="zh-CN" b="0" dirty="0">
                          <a:solidFill>
                            <a:schemeClr val="tx1"/>
                          </a:solidFill>
                        </a:rPr>
                        <a:t>28</a:t>
                      </a:r>
                      <a:endParaRPr lang="zh-CN"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23" name="直接连接符 22"/>
          <p:cNvCxnSpPr/>
          <p:nvPr/>
        </p:nvCxnSpPr>
        <p:spPr>
          <a:xfrm flipV="1">
            <a:off x="4834292" y="2705780"/>
            <a:ext cx="819303" cy="2024840"/>
          </a:xfrm>
          <a:prstGeom prst="line">
            <a:avLst/>
          </a:prstGeom>
          <a:ln>
            <a:prstDash val="dash"/>
          </a:ln>
          <a:effectLst>
            <a:outerShdw blurRad="50800" dist="38100" dir="18900000" algn="bl" rotWithShape="0">
              <a:prstClr val="black">
                <a:alpha val="40000"/>
              </a:prstClr>
            </a:outerShdw>
          </a:effectLst>
        </p:spPr>
        <p:style>
          <a:lnRef idx="3">
            <a:schemeClr val="dk1"/>
          </a:lnRef>
          <a:fillRef idx="0">
            <a:schemeClr val="dk1"/>
          </a:fillRef>
          <a:effectRef idx="2">
            <a:schemeClr val="dk1"/>
          </a:effectRef>
          <a:fontRef idx="minor">
            <a:schemeClr val="tx1"/>
          </a:fontRef>
        </p:style>
      </p:cxnSp>
      <p:cxnSp>
        <p:nvCxnSpPr>
          <p:cNvPr id="25" name="直接连接符 24"/>
          <p:cNvCxnSpPr/>
          <p:nvPr/>
        </p:nvCxnSpPr>
        <p:spPr>
          <a:xfrm flipV="1">
            <a:off x="4841075" y="4559980"/>
            <a:ext cx="812519" cy="500236"/>
          </a:xfrm>
          <a:prstGeom prst="line">
            <a:avLst/>
          </a:prstGeom>
          <a:ln>
            <a:prstDash val="dash"/>
          </a:ln>
          <a:effectLst>
            <a:outerShdw blurRad="50800" dist="38100" dir="18900000" algn="bl" rotWithShape="0">
              <a:prstClr val="black">
                <a:alpha val="40000"/>
              </a:prstClr>
            </a:outerShdw>
          </a:effectLst>
        </p:spPr>
        <p:style>
          <a:lnRef idx="3">
            <a:schemeClr val="dk1"/>
          </a:lnRef>
          <a:fillRef idx="0">
            <a:schemeClr val="dk1"/>
          </a:fillRef>
          <a:effectRef idx="2">
            <a:schemeClr val="dk1"/>
          </a:effectRef>
          <a:fontRef idx="minor">
            <a:schemeClr val="tx1"/>
          </a:fontRef>
        </p:style>
      </p:cxnSp>
      <p:graphicFrame>
        <p:nvGraphicFramePr>
          <p:cNvPr id="4" name="表格 3"/>
          <p:cNvGraphicFramePr>
            <a:graphicFrameLocks noGrp="1"/>
          </p:cNvGraphicFramePr>
          <p:nvPr/>
        </p:nvGraphicFramePr>
        <p:xfrm>
          <a:off x="7445478" y="4055641"/>
          <a:ext cx="3341060" cy="1371600"/>
        </p:xfrm>
        <a:graphic>
          <a:graphicData uri="http://schemas.openxmlformats.org/drawingml/2006/table">
            <a:tbl>
              <a:tblPr firstRow="1" bandRow="1">
                <a:tableStyleId>{5C22544A-7EE6-4342-B048-85BDC9FD1C3A}</a:tableStyleId>
              </a:tblPr>
              <a:tblGrid>
                <a:gridCol w="1660849"/>
                <a:gridCol w="1680211"/>
              </a:tblGrid>
              <a:tr h="374339">
                <a:tc>
                  <a:txBody>
                    <a:bodyPr/>
                    <a:lstStyle/>
                    <a:p>
                      <a:pPr algn="ctr"/>
                      <a:r>
                        <a:rPr lang="zh-CN" altLang="en-US" sz="2400" dirty="0"/>
                        <a:t>起始块</a:t>
                      </a:r>
                      <a:endParaRPr lang="zh-CN" altLang="en-US" sz="2400" dirty="0"/>
                    </a:p>
                  </a:txBody>
                  <a:tcPr anchor="ctr"/>
                </a:tc>
                <a:tc>
                  <a:txBody>
                    <a:bodyPr/>
                    <a:lstStyle/>
                    <a:p>
                      <a:pPr algn="ctr"/>
                      <a:r>
                        <a:rPr lang="zh-CN" altLang="en-US" sz="2400" dirty="0"/>
                        <a:t>长度</a:t>
                      </a:r>
                      <a:endParaRPr lang="zh-CN" altLang="en-US" sz="2400" dirty="0"/>
                    </a:p>
                  </a:txBody>
                  <a:tcPr anchor="ctr"/>
                </a:tc>
              </a:tr>
              <a:tr h="370840">
                <a:tc>
                  <a:txBody>
                    <a:bodyPr/>
                    <a:lstStyle/>
                    <a:p>
                      <a:pPr algn="ctr"/>
                      <a:r>
                        <a:rPr lang="en-US" altLang="zh-CN" sz="2400" dirty="0"/>
                        <a:t>1</a:t>
                      </a:r>
                      <a:endParaRPr lang="zh-CN" altLang="en-US" sz="2400" dirty="0"/>
                    </a:p>
                  </a:txBody>
                  <a:tcPr anchor="ctr"/>
                </a:tc>
                <a:tc>
                  <a:txBody>
                    <a:bodyPr/>
                    <a:lstStyle/>
                    <a:p>
                      <a:pPr algn="ctr"/>
                      <a:r>
                        <a:rPr lang="en-US" altLang="zh-CN" sz="2400" dirty="0"/>
                        <a:t>3</a:t>
                      </a:r>
                      <a:endParaRPr lang="zh-CN" altLang="en-US" sz="2400" dirty="0"/>
                    </a:p>
                  </a:txBody>
                  <a:tcPr anchor="ctr"/>
                </a:tc>
              </a:tr>
              <a:tr h="290040">
                <a:tc>
                  <a:txBody>
                    <a:bodyPr/>
                    <a:lstStyle/>
                    <a:p>
                      <a:pPr algn="ctr"/>
                      <a:r>
                        <a:rPr lang="en-US" altLang="zh-CN" sz="2400" dirty="0"/>
                        <a:t>27</a:t>
                      </a:r>
                      <a:endParaRPr lang="zh-CN" altLang="en-US" sz="2400" dirty="0"/>
                    </a:p>
                  </a:txBody>
                  <a:tcPr anchor="ctr"/>
                </a:tc>
                <a:tc>
                  <a:txBody>
                    <a:bodyPr/>
                    <a:lstStyle/>
                    <a:p>
                      <a:pPr algn="ctr"/>
                      <a:r>
                        <a:rPr lang="en-US" altLang="zh-CN" sz="2400" dirty="0"/>
                        <a:t>2</a:t>
                      </a:r>
                      <a:endParaRPr lang="zh-CN" altLang="en-US" sz="2400" dirty="0"/>
                    </a:p>
                  </a:txBody>
                  <a:tcPr anchor="ctr"/>
                </a:tc>
              </a:tr>
            </a:tbl>
          </a:graphicData>
        </a:graphic>
      </p:graphicFrame>
      <p:cxnSp>
        <p:nvCxnSpPr>
          <p:cNvPr id="9" name="直接箭头连接符 8"/>
          <p:cNvCxnSpPr/>
          <p:nvPr/>
        </p:nvCxnSpPr>
        <p:spPr>
          <a:xfrm>
            <a:off x="6606073" y="3632880"/>
            <a:ext cx="839405" cy="42276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2"/>
          <p:cNvSpPr>
            <a:spLocks noGrp="1" noChangeArrowheads="1"/>
          </p:cNvSpPr>
          <p:nvPr>
            <p:ph type="title"/>
          </p:nvPr>
        </p:nvSpPr>
        <p:spPr>
          <a:xfrm>
            <a:off x="851058" y="213679"/>
            <a:ext cx="10515600" cy="1325563"/>
          </a:xfrm>
        </p:spPr>
        <p:txBody>
          <a:bodyPr/>
          <a:lstStyle/>
          <a:p>
            <a:r>
              <a:rPr lang="en-US" altLang="zh-CN" b="1" dirty="0"/>
              <a:t>3.1.2	</a:t>
            </a:r>
            <a:r>
              <a:rPr lang="zh-CN" altLang="en-US" b="1" dirty="0"/>
              <a:t>分布式文件系统的结构</a:t>
            </a:r>
            <a:endParaRPr lang="zh-CN" altLang="en-US" b="1" dirty="0"/>
          </a:p>
        </p:txBody>
      </p:sp>
      <p:sp>
        <p:nvSpPr>
          <p:cNvPr id="8195" name="Text Box 4"/>
          <p:cNvSpPr txBox="1">
            <a:spLocks noChangeArrowheads="1"/>
          </p:cNvSpPr>
          <p:nvPr/>
        </p:nvSpPr>
        <p:spPr bwMode="auto">
          <a:xfrm>
            <a:off x="6547802" y="5323681"/>
            <a:ext cx="658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dirty="0"/>
              <a:t>…</a:t>
            </a:r>
            <a:endParaRPr lang="zh-CN" altLang="en-US" dirty="0"/>
          </a:p>
        </p:txBody>
      </p:sp>
      <p:sp>
        <p:nvSpPr>
          <p:cNvPr id="12" name="Rectangle 4"/>
          <p:cNvSpPr>
            <a:spLocks noChangeArrowheads="1"/>
          </p:cNvSpPr>
          <p:nvPr/>
        </p:nvSpPr>
        <p:spPr bwMode="auto">
          <a:xfrm>
            <a:off x="1128078" y="1560513"/>
            <a:ext cx="2000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0" i="0" u="none" strike="noStrike" cap="none" normalizeH="0" baseline="0">
                <a:ln>
                  <a:noFill/>
                </a:ln>
                <a:solidFill>
                  <a:srgbClr val="000000"/>
                </a:solidFill>
                <a:effectLst/>
                <a:latin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3" name="Group 79"/>
          <p:cNvGrpSpPr/>
          <p:nvPr/>
        </p:nvGrpSpPr>
        <p:grpSpPr bwMode="auto">
          <a:xfrm>
            <a:off x="1236028" y="1549401"/>
            <a:ext cx="9375774" cy="5162549"/>
            <a:chOff x="945" y="950"/>
            <a:chExt cx="5906" cy="3252"/>
          </a:xfrm>
        </p:grpSpPr>
        <p:sp>
          <p:nvSpPr>
            <p:cNvPr id="14" name="Freeform 5"/>
            <p:cNvSpPr/>
            <p:nvPr/>
          </p:nvSpPr>
          <p:spPr bwMode="auto">
            <a:xfrm>
              <a:off x="2009" y="1422"/>
              <a:ext cx="1181" cy="591"/>
            </a:xfrm>
            <a:custGeom>
              <a:avLst/>
              <a:gdLst>
                <a:gd name="T0" fmla="*/ 121 w 1209"/>
                <a:gd name="T1" fmla="*/ 605 h 605"/>
                <a:gd name="T2" fmla="*/ 1088 w 1209"/>
                <a:gd name="T3" fmla="*/ 605 h 605"/>
                <a:gd name="T4" fmla="*/ 1209 w 1209"/>
                <a:gd name="T5" fmla="*/ 484 h 605"/>
                <a:gd name="T6" fmla="*/ 1209 w 1209"/>
                <a:gd name="T7" fmla="*/ 484 h 605"/>
                <a:gd name="T8" fmla="*/ 1209 w 1209"/>
                <a:gd name="T9" fmla="*/ 484 h 605"/>
                <a:gd name="T10" fmla="*/ 1209 w 1209"/>
                <a:gd name="T11" fmla="*/ 121 h 605"/>
                <a:gd name="T12" fmla="*/ 1088 w 1209"/>
                <a:gd name="T13" fmla="*/ 0 h 605"/>
                <a:gd name="T14" fmla="*/ 121 w 1209"/>
                <a:gd name="T15" fmla="*/ 0 h 605"/>
                <a:gd name="T16" fmla="*/ 0 w 1209"/>
                <a:gd name="T17" fmla="*/ 121 h 605"/>
                <a:gd name="T18" fmla="*/ 0 w 1209"/>
                <a:gd name="T19" fmla="*/ 121 h 605"/>
                <a:gd name="T20" fmla="*/ 0 w 1209"/>
                <a:gd name="T21" fmla="*/ 484 h 605"/>
                <a:gd name="T22" fmla="*/ 121 w 1209"/>
                <a:gd name="T23" fmla="*/ 605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9" h="605">
                  <a:moveTo>
                    <a:pt x="121" y="605"/>
                  </a:moveTo>
                  <a:lnTo>
                    <a:pt x="1088" y="605"/>
                  </a:lnTo>
                  <a:cubicBezTo>
                    <a:pt x="1155" y="605"/>
                    <a:pt x="1209" y="551"/>
                    <a:pt x="1209" y="484"/>
                  </a:cubicBezTo>
                  <a:cubicBezTo>
                    <a:pt x="1209" y="484"/>
                    <a:pt x="1209" y="484"/>
                    <a:pt x="1209" y="484"/>
                  </a:cubicBezTo>
                  <a:lnTo>
                    <a:pt x="1209" y="484"/>
                  </a:lnTo>
                  <a:lnTo>
                    <a:pt x="1209" y="121"/>
                  </a:lnTo>
                  <a:cubicBezTo>
                    <a:pt x="1209" y="55"/>
                    <a:pt x="1155" y="0"/>
                    <a:pt x="1088" y="0"/>
                  </a:cubicBezTo>
                  <a:lnTo>
                    <a:pt x="121" y="0"/>
                  </a:lnTo>
                  <a:cubicBezTo>
                    <a:pt x="54" y="0"/>
                    <a:pt x="0" y="55"/>
                    <a:pt x="0" y="121"/>
                  </a:cubicBezTo>
                  <a:lnTo>
                    <a:pt x="0" y="121"/>
                  </a:lnTo>
                  <a:lnTo>
                    <a:pt x="0" y="484"/>
                  </a:lnTo>
                  <a:cubicBezTo>
                    <a:pt x="0" y="551"/>
                    <a:pt x="54" y="605"/>
                    <a:pt x="121" y="605"/>
                  </a:cubicBezTo>
                  <a:close/>
                </a:path>
              </a:pathLst>
            </a:cu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15" name="Freeform 6"/>
            <p:cNvSpPr/>
            <p:nvPr/>
          </p:nvSpPr>
          <p:spPr bwMode="auto">
            <a:xfrm>
              <a:off x="2009" y="1422"/>
              <a:ext cx="1181" cy="591"/>
            </a:xfrm>
            <a:custGeom>
              <a:avLst/>
              <a:gdLst>
                <a:gd name="T0" fmla="*/ 121 w 1209"/>
                <a:gd name="T1" fmla="*/ 605 h 605"/>
                <a:gd name="T2" fmla="*/ 1088 w 1209"/>
                <a:gd name="T3" fmla="*/ 605 h 605"/>
                <a:gd name="T4" fmla="*/ 1209 w 1209"/>
                <a:gd name="T5" fmla="*/ 484 h 605"/>
                <a:gd name="T6" fmla="*/ 1209 w 1209"/>
                <a:gd name="T7" fmla="*/ 484 h 605"/>
                <a:gd name="T8" fmla="*/ 1209 w 1209"/>
                <a:gd name="T9" fmla="*/ 484 h 605"/>
                <a:gd name="T10" fmla="*/ 1209 w 1209"/>
                <a:gd name="T11" fmla="*/ 121 h 605"/>
                <a:gd name="T12" fmla="*/ 1088 w 1209"/>
                <a:gd name="T13" fmla="*/ 0 h 605"/>
                <a:gd name="T14" fmla="*/ 121 w 1209"/>
                <a:gd name="T15" fmla="*/ 0 h 605"/>
                <a:gd name="T16" fmla="*/ 0 w 1209"/>
                <a:gd name="T17" fmla="*/ 121 h 605"/>
                <a:gd name="T18" fmla="*/ 0 w 1209"/>
                <a:gd name="T19" fmla="*/ 121 h 605"/>
                <a:gd name="T20" fmla="*/ 0 w 1209"/>
                <a:gd name="T21" fmla="*/ 484 h 605"/>
                <a:gd name="T22" fmla="*/ 121 w 1209"/>
                <a:gd name="T23" fmla="*/ 605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9" h="605">
                  <a:moveTo>
                    <a:pt x="121" y="605"/>
                  </a:moveTo>
                  <a:lnTo>
                    <a:pt x="1088" y="605"/>
                  </a:lnTo>
                  <a:cubicBezTo>
                    <a:pt x="1155" y="605"/>
                    <a:pt x="1209" y="551"/>
                    <a:pt x="1209" y="484"/>
                  </a:cubicBezTo>
                  <a:cubicBezTo>
                    <a:pt x="1209" y="484"/>
                    <a:pt x="1209" y="484"/>
                    <a:pt x="1209" y="484"/>
                  </a:cubicBezTo>
                  <a:lnTo>
                    <a:pt x="1209" y="484"/>
                  </a:lnTo>
                  <a:lnTo>
                    <a:pt x="1209" y="121"/>
                  </a:lnTo>
                  <a:cubicBezTo>
                    <a:pt x="1209" y="55"/>
                    <a:pt x="1155" y="0"/>
                    <a:pt x="1088" y="0"/>
                  </a:cubicBezTo>
                  <a:lnTo>
                    <a:pt x="121" y="0"/>
                  </a:lnTo>
                  <a:cubicBezTo>
                    <a:pt x="54" y="0"/>
                    <a:pt x="0" y="55"/>
                    <a:pt x="0" y="121"/>
                  </a:cubicBezTo>
                  <a:lnTo>
                    <a:pt x="0" y="121"/>
                  </a:lnTo>
                  <a:lnTo>
                    <a:pt x="0" y="484"/>
                  </a:lnTo>
                  <a:cubicBezTo>
                    <a:pt x="0" y="551"/>
                    <a:pt x="54" y="605"/>
                    <a:pt x="121" y="605"/>
                  </a:cubicBezTo>
                  <a:close/>
                </a:path>
              </a:pathLst>
            </a:cu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 name="Rectangle 7"/>
            <p:cNvSpPr>
              <a:spLocks noChangeArrowheads="1"/>
            </p:cNvSpPr>
            <p:nvPr/>
          </p:nvSpPr>
          <p:spPr bwMode="auto">
            <a:xfrm>
              <a:off x="945" y="2721"/>
              <a:ext cx="828" cy="5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 name="Rectangle 8"/>
            <p:cNvSpPr>
              <a:spLocks noChangeArrowheads="1"/>
            </p:cNvSpPr>
            <p:nvPr/>
          </p:nvSpPr>
          <p:spPr bwMode="auto">
            <a:xfrm>
              <a:off x="945" y="2721"/>
              <a:ext cx="828" cy="590"/>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Rectangle 9"/>
            <p:cNvSpPr>
              <a:spLocks noChangeArrowheads="1"/>
            </p:cNvSpPr>
            <p:nvPr/>
          </p:nvSpPr>
          <p:spPr bwMode="auto">
            <a:xfrm>
              <a:off x="1064" y="2840"/>
              <a:ext cx="207" cy="2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 name="Rectangle 10"/>
            <p:cNvSpPr>
              <a:spLocks noChangeArrowheads="1"/>
            </p:cNvSpPr>
            <p:nvPr/>
          </p:nvSpPr>
          <p:spPr bwMode="auto">
            <a:xfrm>
              <a:off x="1064" y="2840"/>
              <a:ext cx="207" cy="206"/>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0" name="Rectangle 11"/>
            <p:cNvSpPr>
              <a:spLocks noChangeArrowheads="1"/>
            </p:cNvSpPr>
            <p:nvPr/>
          </p:nvSpPr>
          <p:spPr bwMode="auto">
            <a:xfrm>
              <a:off x="1418" y="2840"/>
              <a:ext cx="236" cy="2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 name="Rectangle 12"/>
            <p:cNvSpPr>
              <a:spLocks noChangeArrowheads="1"/>
            </p:cNvSpPr>
            <p:nvPr/>
          </p:nvSpPr>
          <p:spPr bwMode="auto">
            <a:xfrm>
              <a:off x="1418" y="2840"/>
              <a:ext cx="236" cy="236"/>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2" name="Rectangle 13"/>
            <p:cNvSpPr>
              <a:spLocks noChangeArrowheads="1"/>
            </p:cNvSpPr>
            <p:nvPr/>
          </p:nvSpPr>
          <p:spPr bwMode="auto">
            <a:xfrm>
              <a:off x="2009" y="2721"/>
              <a:ext cx="826" cy="5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Rectangle 14"/>
            <p:cNvSpPr>
              <a:spLocks noChangeArrowheads="1"/>
            </p:cNvSpPr>
            <p:nvPr/>
          </p:nvSpPr>
          <p:spPr bwMode="auto">
            <a:xfrm>
              <a:off x="2009" y="2721"/>
              <a:ext cx="826" cy="590"/>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4" name="Rectangle 15"/>
            <p:cNvSpPr>
              <a:spLocks noChangeArrowheads="1"/>
            </p:cNvSpPr>
            <p:nvPr/>
          </p:nvSpPr>
          <p:spPr bwMode="auto">
            <a:xfrm>
              <a:off x="2127" y="2840"/>
              <a:ext cx="165" cy="1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Rectangle 16"/>
            <p:cNvSpPr>
              <a:spLocks noChangeArrowheads="1"/>
            </p:cNvSpPr>
            <p:nvPr/>
          </p:nvSpPr>
          <p:spPr bwMode="auto">
            <a:xfrm>
              <a:off x="2127" y="2840"/>
              <a:ext cx="165" cy="147"/>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6" name="Rectangle 17"/>
            <p:cNvSpPr>
              <a:spLocks noChangeArrowheads="1"/>
            </p:cNvSpPr>
            <p:nvPr/>
          </p:nvSpPr>
          <p:spPr bwMode="auto">
            <a:xfrm>
              <a:off x="2362" y="3076"/>
              <a:ext cx="178" cy="17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7" name="Rectangle 18"/>
            <p:cNvSpPr>
              <a:spLocks noChangeArrowheads="1"/>
            </p:cNvSpPr>
            <p:nvPr/>
          </p:nvSpPr>
          <p:spPr bwMode="auto">
            <a:xfrm>
              <a:off x="2362" y="3076"/>
              <a:ext cx="178" cy="177"/>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8" name="Rectangle 19"/>
            <p:cNvSpPr>
              <a:spLocks noChangeArrowheads="1"/>
            </p:cNvSpPr>
            <p:nvPr/>
          </p:nvSpPr>
          <p:spPr bwMode="auto">
            <a:xfrm>
              <a:off x="2481" y="2840"/>
              <a:ext cx="236" cy="2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9" name="Rectangle 20"/>
            <p:cNvSpPr>
              <a:spLocks noChangeArrowheads="1"/>
            </p:cNvSpPr>
            <p:nvPr/>
          </p:nvSpPr>
          <p:spPr bwMode="auto">
            <a:xfrm>
              <a:off x="2481" y="2840"/>
              <a:ext cx="236" cy="236"/>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0" name="Rectangle 21"/>
            <p:cNvSpPr>
              <a:spLocks noChangeArrowheads="1"/>
            </p:cNvSpPr>
            <p:nvPr/>
          </p:nvSpPr>
          <p:spPr bwMode="auto">
            <a:xfrm>
              <a:off x="3190" y="2721"/>
              <a:ext cx="827" cy="5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1" name="Rectangle 22"/>
            <p:cNvSpPr>
              <a:spLocks noChangeArrowheads="1"/>
            </p:cNvSpPr>
            <p:nvPr/>
          </p:nvSpPr>
          <p:spPr bwMode="auto">
            <a:xfrm>
              <a:off x="3190" y="2721"/>
              <a:ext cx="827" cy="590"/>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2" name="Rectangle 23"/>
            <p:cNvSpPr>
              <a:spLocks noChangeArrowheads="1"/>
            </p:cNvSpPr>
            <p:nvPr/>
          </p:nvSpPr>
          <p:spPr bwMode="auto">
            <a:xfrm>
              <a:off x="3308" y="2840"/>
              <a:ext cx="177" cy="1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3" name="Rectangle 24"/>
            <p:cNvSpPr>
              <a:spLocks noChangeArrowheads="1"/>
            </p:cNvSpPr>
            <p:nvPr/>
          </p:nvSpPr>
          <p:spPr bwMode="auto">
            <a:xfrm>
              <a:off x="3308" y="2840"/>
              <a:ext cx="177" cy="176"/>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4" name="Rectangle 25"/>
            <p:cNvSpPr>
              <a:spLocks noChangeArrowheads="1"/>
            </p:cNvSpPr>
            <p:nvPr/>
          </p:nvSpPr>
          <p:spPr bwMode="auto">
            <a:xfrm>
              <a:off x="3780" y="2840"/>
              <a:ext cx="177" cy="1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5" name="Rectangle 26"/>
            <p:cNvSpPr>
              <a:spLocks noChangeArrowheads="1"/>
            </p:cNvSpPr>
            <p:nvPr/>
          </p:nvSpPr>
          <p:spPr bwMode="auto">
            <a:xfrm>
              <a:off x="3780" y="2840"/>
              <a:ext cx="177" cy="165"/>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6" name="Rectangle 27"/>
            <p:cNvSpPr>
              <a:spLocks noChangeArrowheads="1"/>
            </p:cNvSpPr>
            <p:nvPr/>
          </p:nvSpPr>
          <p:spPr bwMode="auto">
            <a:xfrm>
              <a:off x="3485" y="2958"/>
              <a:ext cx="295" cy="2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7" name="Rectangle 28"/>
            <p:cNvSpPr>
              <a:spLocks noChangeArrowheads="1"/>
            </p:cNvSpPr>
            <p:nvPr/>
          </p:nvSpPr>
          <p:spPr bwMode="auto">
            <a:xfrm>
              <a:off x="3485" y="2958"/>
              <a:ext cx="295" cy="295"/>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8" name="Rectangle 29"/>
            <p:cNvSpPr>
              <a:spLocks noChangeArrowheads="1"/>
            </p:cNvSpPr>
            <p:nvPr/>
          </p:nvSpPr>
          <p:spPr bwMode="auto">
            <a:xfrm>
              <a:off x="4843" y="2721"/>
              <a:ext cx="827" cy="5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9" name="Rectangle 30"/>
            <p:cNvSpPr>
              <a:spLocks noChangeArrowheads="1"/>
            </p:cNvSpPr>
            <p:nvPr/>
          </p:nvSpPr>
          <p:spPr bwMode="auto">
            <a:xfrm>
              <a:off x="4843" y="2721"/>
              <a:ext cx="827" cy="590"/>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0" name="Rectangle 31"/>
            <p:cNvSpPr>
              <a:spLocks noChangeArrowheads="1"/>
            </p:cNvSpPr>
            <p:nvPr/>
          </p:nvSpPr>
          <p:spPr bwMode="auto">
            <a:xfrm>
              <a:off x="4961" y="2840"/>
              <a:ext cx="207" cy="1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1" name="Rectangle 32"/>
            <p:cNvSpPr>
              <a:spLocks noChangeArrowheads="1"/>
            </p:cNvSpPr>
            <p:nvPr/>
          </p:nvSpPr>
          <p:spPr bwMode="auto">
            <a:xfrm>
              <a:off x="4961" y="2840"/>
              <a:ext cx="207" cy="188"/>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2" name="Rectangle 33"/>
            <p:cNvSpPr>
              <a:spLocks noChangeArrowheads="1"/>
            </p:cNvSpPr>
            <p:nvPr/>
          </p:nvSpPr>
          <p:spPr bwMode="auto">
            <a:xfrm>
              <a:off x="5316" y="2840"/>
              <a:ext cx="207" cy="1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3" name="Rectangle 34"/>
            <p:cNvSpPr>
              <a:spLocks noChangeArrowheads="1"/>
            </p:cNvSpPr>
            <p:nvPr/>
          </p:nvSpPr>
          <p:spPr bwMode="auto">
            <a:xfrm>
              <a:off x="5316" y="2840"/>
              <a:ext cx="207" cy="188"/>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4" name="Rectangle 35"/>
            <p:cNvSpPr>
              <a:spLocks noChangeArrowheads="1"/>
            </p:cNvSpPr>
            <p:nvPr/>
          </p:nvSpPr>
          <p:spPr bwMode="auto">
            <a:xfrm>
              <a:off x="5907" y="2721"/>
              <a:ext cx="944" cy="5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5" name="Rectangle 36"/>
            <p:cNvSpPr>
              <a:spLocks noChangeArrowheads="1"/>
            </p:cNvSpPr>
            <p:nvPr/>
          </p:nvSpPr>
          <p:spPr bwMode="auto">
            <a:xfrm>
              <a:off x="5907" y="2721"/>
              <a:ext cx="944" cy="590"/>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6" name="Rectangle 37"/>
            <p:cNvSpPr>
              <a:spLocks noChangeArrowheads="1"/>
            </p:cNvSpPr>
            <p:nvPr/>
          </p:nvSpPr>
          <p:spPr bwMode="auto">
            <a:xfrm>
              <a:off x="6025" y="2840"/>
              <a:ext cx="236" cy="2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7" name="Rectangle 38"/>
            <p:cNvSpPr>
              <a:spLocks noChangeArrowheads="1"/>
            </p:cNvSpPr>
            <p:nvPr/>
          </p:nvSpPr>
          <p:spPr bwMode="auto">
            <a:xfrm>
              <a:off x="6025" y="2840"/>
              <a:ext cx="236" cy="236"/>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8" name="Rectangle 39"/>
            <p:cNvSpPr>
              <a:spLocks noChangeArrowheads="1"/>
            </p:cNvSpPr>
            <p:nvPr/>
          </p:nvSpPr>
          <p:spPr bwMode="auto">
            <a:xfrm>
              <a:off x="6496" y="2840"/>
              <a:ext cx="207" cy="2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9" name="Rectangle 40"/>
            <p:cNvSpPr>
              <a:spLocks noChangeArrowheads="1"/>
            </p:cNvSpPr>
            <p:nvPr/>
          </p:nvSpPr>
          <p:spPr bwMode="auto">
            <a:xfrm>
              <a:off x="6496" y="2840"/>
              <a:ext cx="207" cy="206"/>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0" name="Rectangle 41"/>
            <p:cNvSpPr>
              <a:spLocks noChangeArrowheads="1"/>
            </p:cNvSpPr>
            <p:nvPr/>
          </p:nvSpPr>
          <p:spPr bwMode="auto">
            <a:xfrm>
              <a:off x="6261" y="2958"/>
              <a:ext cx="206" cy="1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Rectangle 42"/>
            <p:cNvSpPr>
              <a:spLocks noChangeArrowheads="1"/>
            </p:cNvSpPr>
            <p:nvPr/>
          </p:nvSpPr>
          <p:spPr bwMode="auto">
            <a:xfrm>
              <a:off x="6261" y="2958"/>
              <a:ext cx="206" cy="188"/>
            </a:xfrm>
            <a:prstGeom prst="rect">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2" name="Oval 43"/>
            <p:cNvSpPr>
              <a:spLocks noChangeArrowheads="1"/>
            </p:cNvSpPr>
            <p:nvPr/>
          </p:nvSpPr>
          <p:spPr bwMode="auto">
            <a:xfrm>
              <a:off x="945" y="950"/>
              <a:ext cx="828" cy="472"/>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53" name="Freeform 44"/>
            <p:cNvSpPr/>
            <p:nvPr/>
          </p:nvSpPr>
          <p:spPr bwMode="auto">
            <a:xfrm>
              <a:off x="945" y="950"/>
              <a:ext cx="828" cy="472"/>
            </a:xfrm>
            <a:custGeom>
              <a:avLst/>
              <a:gdLst>
                <a:gd name="T0" fmla="*/ 828 w 828"/>
                <a:gd name="T1" fmla="*/ 236 h 472"/>
                <a:gd name="T2" fmla="*/ 413 w 828"/>
                <a:gd name="T3" fmla="*/ 0 h 472"/>
                <a:gd name="T4" fmla="*/ 0 w 828"/>
                <a:gd name="T5" fmla="*/ 236 h 472"/>
                <a:gd name="T6" fmla="*/ 413 w 828"/>
                <a:gd name="T7" fmla="*/ 472 h 472"/>
                <a:gd name="T8" fmla="*/ 828 w 828"/>
                <a:gd name="T9" fmla="*/ 236 h 472"/>
              </a:gdLst>
              <a:ahLst/>
              <a:cxnLst>
                <a:cxn ang="0">
                  <a:pos x="T0" y="T1"/>
                </a:cxn>
                <a:cxn ang="0">
                  <a:pos x="T2" y="T3"/>
                </a:cxn>
                <a:cxn ang="0">
                  <a:pos x="T4" y="T5"/>
                </a:cxn>
                <a:cxn ang="0">
                  <a:pos x="T6" y="T7"/>
                </a:cxn>
                <a:cxn ang="0">
                  <a:pos x="T8" y="T9"/>
                </a:cxn>
              </a:cxnLst>
              <a:rect l="0" t="0" r="r" b="b"/>
              <a:pathLst>
                <a:path w="828" h="472">
                  <a:moveTo>
                    <a:pt x="828" y="236"/>
                  </a:moveTo>
                  <a:cubicBezTo>
                    <a:pt x="828" y="106"/>
                    <a:pt x="642" y="0"/>
                    <a:pt x="413" y="0"/>
                  </a:cubicBezTo>
                  <a:cubicBezTo>
                    <a:pt x="186" y="0"/>
                    <a:pt x="0" y="106"/>
                    <a:pt x="0" y="236"/>
                  </a:cubicBezTo>
                  <a:cubicBezTo>
                    <a:pt x="0" y="366"/>
                    <a:pt x="186" y="472"/>
                    <a:pt x="413" y="472"/>
                  </a:cubicBezTo>
                  <a:cubicBezTo>
                    <a:pt x="642" y="472"/>
                    <a:pt x="828" y="366"/>
                    <a:pt x="828" y="236"/>
                  </a:cubicBezTo>
                </a:path>
              </a:pathLst>
            </a:cu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4" name="Oval 45"/>
            <p:cNvSpPr>
              <a:spLocks noChangeArrowheads="1"/>
            </p:cNvSpPr>
            <p:nvPr/>
          </p:nvSpPr>
          <p:spPr bwMode="auto">
            <a:xfrm>
              <a:off x="4135" y="1481"/>
              <a:ext cx="944" cy="473"/>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55" name="Oval 46"/>
            <p:cNvSpPr>
              <a:spLocks noChangeArrowheads="1"/>
            </p:cNvSpPr>
            <p:nvPr/>
          </p:nvSpPr>
          <p:spPr bwMode="auto">
            <a:xfrm>
              <a:off x="4135" y="1481"/>
              <a:ext cx="944" cy="473"/>
            </a:xfrm>
            <a:prstGeom prst="ellipse">
              <a:avLst/>
            </a:pr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6" name="Rectangle 47"/>
            <p:cNvSpPr>
              <a:spLocks noChangeArrowheads="1"/>
            </p:cNvSpPr>
            <p:nvPr/>
          </p:nvSpPr>
          <p:spPr bwMode="auto">
            <a:xfrm>
              <a:off x="2266" y="1463"/>
              <a:ext cx="655" cy="247"/>
            </a:xfrm>
            <a:prstGeom prst="round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主节点</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7" name="Rectangle 48"/>
            <p:cNvSpPr>
              <a:spLocks noChangeArrowheads="1"/>
            </p:cNvSpPr>
            <p:nvPr/>
          </p:nvSpPr>
          <p:spPr bwMode="auto">
            <a:xfrm>
              <a:off x="1111" y="1092"/>
              <a:ext cx="3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客户端</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8" name="Rectangle 49"/>
            <p:cNvSpPr>
              <a:spLocks noChangeArrowheads="1"/>
            </p:cNvSpPr>
            <p:nvPr/>
          </p:nvSpPr>
          <p:spPr bwMode="auto">
            <a:xfrm>
              <a:off x="4362" y="1639"/>
              <a:ext cx="3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客户端</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9" name="Freeform 50"/>
            <p:cNvSpPr/>
            <p:nvPr/>
          </p:nvSpPr>
          <p:spPr bwMode="auto">
            <a:xfrm>
              <a:off x="945" y="3429"/>
              <a:ext cx="1433" cy="355"/>
            </a:xfrm>
            <a:custGeom>
              <a:avLst/>
              <a:gdLst>
                <a:gd name="T0" fmla="*/ 0 w 1433"/>
                <a:gd name="T1" fmla="*/ 0 h 355"/>
                <a:gd name="T2" fmla="*/ 266 w 1433"/>
                <a:gd name="T3" fmla="*/ 107 h 355"/>
                <a:gd name="T4" fmla="*/ 1417 w 1433"/>
                <a:gd name="T5" fmla="*/ 355 h 355"/>
              </a:gdLst>
              <a:ahLst/>
              <a:cxnLst>
                <a:cxn ang="0">
                  <a:pos x="T0" y="T1"/>
                </a:cxn>
                <a:cxn ang="0">
                  <a:pos x="T2" y="T3"/>
                </a:cxn>
                <a:cxn ang="0">
                  <a:pos x="T4" y="T5"/>
                </a:cxn>
              </a:cxnLst>
              <a:rect l="0" t="0" r="r" b="b"/>
              <a:pathLst>
                <a:path w="1433" h="355">
                  <a:moveTo>
                    <a:pt x="0" y="0"/>
                  </a:moveTo>
                  <a:cubicBezTo>
                    <a:pt x="75" y="108"/>
                    <a:pt x="170" y="108"/>
                    <a:pt x="266" y="107"/>
                  </a:cubicBezTo>
                  <a:cubicBezTo>
                    <a:pt x="837" y="105"/>
                    <a:pt x="1433" y="116"/>
                    <a:pt x="1417" y="355"/>
                  </a:cubicBezTo>
                </a:path>
              </a:pathLst>
            </a:cu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0" name="Freeform 51"/>
            <p:cNvSpPr/>
            <p:nvPr/>
          </p:nvSpPr>
          <p:spPr bwMode="auto">
            <a:xfrm>
              <a:off x="2362" y="3333"/>
              <a:ext cx="1655" cy="451"/>
            </a:xfrm>
            <a:custGeom>
              <a:avLst/>
              <a:gdLst>
                <a:gd name="T0" fmla="*/ 1655 w 1655"/>
                <a:gd name="T1" fmla="*/ 96 h 451"/>
                <a:gd name="T2" fmla="*/ 0 w 1655"/>
                <a:gd name="T3" fmla="*/ 451 h 451"/>
              </a:gdLst>
              <a:ahLst/>
              <a:cxnLst>
                <a:cxn ang="0">
                  <a:pos x="T0" y="T1"/>
                </a:cxn>
                <a:cxn ang="0">
                  <a:pos x="T2" y="T3"/>
                </a:cxn>
              </a:cxnLst>
              <a:rect l="0" t="0" r="r" b="b"/>
              <a:pathLst>
                <a:path w="1655" h="451">
                  <a:moveTo>
                    <a:pt x="1655" y="96"/>
                  </a:moveTo>
                  <a:cubicBezTo>
                    <a:pt x="1200" y="314"/>
                    <a:pt x="321" y="0"/>
                    <a:pt x="0" y="451"/>
                  </a:cubicBezTo>
                </a:path>
              </a:pathLst>
            </a:cu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1" name="Freeform 52"/>
            <p:cNvSpPr/>
            <p:nvPr/>
          </p:nvSpPr>
          <p:spPr bwMode="auto">
            <a:xfrm>
              <a:off x="4843" y="3542"/>
              <a:ext cx="2008" cy="242"/>
            </a:xfrm>
            <a:custGeom>
              <a:avLst/>
              <a:gdLst>
                <a:gd name="T0" fmla="*/ 0 w 2008"/>
                <a:gd name="T1" fmla="*/ 5 h 242"/>
                <a:gd name="T2" fmla="*/ 1064 w 2008"/>
                <a:gd name="T3" fmla="*/ 242 h 242"/>
                <a:gd name="T4" fmla="*/ 2008 w 2008"/>
                <a:gd name="T5" fmla="*/ 5 h 242"/>
              </a:gdLst>
              <a:ahLst/>
              <a:cxnLst>
                <a:cxn ang="0">
                  <a:pos x="T0" y="T1"/>
                </a:cxn>
                <a:cxn ang="0">
                  <a:pos x="T2" y="T3"/>
                </a:cxn>
                <a:cxn ang="0">
                  <a:pos x="T4" y="T5"/>
                </a:cxn>
              </a:cxnLst>
              <a:rect l="0" t="0" r="r" b="b"/>
              <a:pathLst>
                <a:path w="2008" h="242">
                  <a:moveTo>
                    <a:pt x="0" y="5"/>
                  </a:moveTo>
                  <a:cubicBezTo>
                    <a:pt x="247" y="185"/>
                    <a:pt x="925" y="0"/>
                    <a:pt x="1064" y="242"/>
                  </a:cubicBezTo>
                  <a:cubicBezTo>
                    <a:pt x="1214" y="86"/>
                    <a:pt x="1904" y="220"/>
                    <a:pt x="2008" y="5"/>
                  </a:cubicBezTo>
                </a:path>
              </a:pathLst>
            </a:custGeom>
            <a:noFill/>
            <a:ln w="79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2" name="Rectangle 53"/>
            <p:cNvSpPr>
              <a:spLocks noChangeArrowheads="1"/>
            </p:cNvSpPr>
            <p:nvPr/>
          </p:nvSpPr>
          <p:spPr bwMode="auto">
            <a:xfrm>
              <a:off x="2127" y="3983"/>
              <a:ext cx="281"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宋体" panose="02010600030101010101" pitchFamily="2" charset="-122"/>
                  <a:ea typeface="宋体" panose="02010600030101010101" pitchFamily="2" charset="-122"/>
                </a:rPr>
                <a:t>机架</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3" name="Rectangle 54"/>
            <p:cNvSpPr>
              <a:spLocks noChangeArrowheads="1"/>
            </p:cNvSpPr>
            <p:nvPr/>
          </p:nvSpPr>
          <p:spPr bwMode="auto">
            <a:xfrm>
              <a:off x="2502" y="3967"/>
              <a:ext cx="17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Times New Roman" panose="02020603050405020304" pitchFamily="18" charset="0"/>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192" name="Rectangle 55"/>
            <p:cNvSpPr>
              <a:spLocks noChangeArrowheads="1"/>
            </p:cNvSpPr>
            <p:nvPr/>
          </p:nvSpPr>
          <p:spPr bwMode="auto">
            <a:xfrm>
              <a:off x="5674" y="3983"/>
              <a:ext cx="281"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宋体" panose="02010600030101010101" pitchFamily="2" charset="-122"/>
                  <a:ea typeface="宋体" panose="02010600030101010101" pitchFamily="2" charset="-122"/>
                </a:rPr>
                <a:t>机架</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193" name="Rectangle 56"/>
            <p:cNvSpPr>
              <a:spLocks noChangeArrowheads="1"/>
            </p:cNvSpPr>
            <p:nvPr/>
          </p:nvSpPr>
          <p:spPr bwMode="auto">
            <a:xfrm>
              <a:off x="6049" y="3967"/>
              <a:ext cx="17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199" name="Line 57"/>
            <p:cNvSpPr>
              <a:spLocks noChangeShapeType="1"/>
            </p:cNvSpPr>
            <p:nvPr/>
          </p:nvSpPr>
          <p:spPr bwMode="auto">
            <a:xfrm>
              <a:off x="1725" y="1296"/>
              <a:ext cx="492" cy="105"/>
            </a:xfrm>
            <a:prstGeom prst="line">
              <a:avLst/>
            </a:prstGeom>
            <a:noFill/>
            <a:ln w="793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8200" name="Freeform 58"/>
            <p:cNvSpPr/>
            <p:nvPr/>
          </p:nvSpPr>
          <p:spPr bwMode="auto">
            <a:xfrm>
              <a:off x="2192" y="1342"/>
              <a:ext cx="124" cy="112"/>
            </a:xfrm>
            <a:custGeom>
              <a:avLst/>
              <a:gdLst>
                <a:gd name="T0" fmla="*/ 23 w 124"/>
                <a:gd name="T1" fmla="*/ 0 h 112"/>
                <a:gd name="T2" fmla="*/ 124 w 124"/>
                <a:gd name="T3" fmla="*/ 80 h 112"/>
                <a:gd name="T4" fmla="*/ 0 w 124"/>
                <a:gd name="T5" fmla="*/ 112 h 112"/>
                <a:gd name="T6" fmla="*/ 23 w 124"/>
                <a:gd name="T7" fmla="*/ 0 h 112"/>
              </a:gdLst>
              <a:ahLst/>
              <a:cxnLst>
                <a:cxn ang="0">
                  <a:pos x="T0" y="T1"/>
                </a:cxn>
                <a:cxn ang="0">
                  <a:pos x="T2" y="T3"/>
                </a:cxn>
                <a:cxn ang="0">
                  <a:pos x="T4" y="T5"/>
                </a:cxn>
                <a:cxn ang="0">
                  <a:pos x="T6" y="T7"/>
                </a:cxn>
              </a:cxnLst>
              <a:rect l="0" t="0" r="r" b="b"/>
              <a:pathLst>
                <a:path w="124" h="112">
                  <a:moveTo>
                    <a:pt x="23" y="0"/>
                  </a:moveTo>
                  <a:lnTo>
                    <a:pt x="124" y="80"/>
                  </a:lnTo>
                  <a:lnTo>
                    <a:pt x="0" y="11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01" name="Line 59"/>
            <p:cNvSpPr>
              <a:spLocks noChangeShapeType="1"/>
            </p:cNvSpPr>
            <p:nvPr/>
          </p:nvSpPr>
          <p:spPr bwMode="auto">
            <a:xfrm flipH="1">
              <a:off x="3290" y="1736"/>
              <a:ext cx="846" cy="36"/>
            </a:xfrm>
            <a:prstGeom prst="line">
              <a:avLst/>
            </a:prstGeom>
            <a:noFill/>
            <a:ln w="793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8202" name="Freeform 60"/>
            <p:cNvSpPr/>
            <p:nvPr/>
          </p:nvSpPr>
          <p:spPr bwMode="auto">
            <a:xfrm>
              <a:off x="3190" y="1714"/>
              <a:ext cx="117" cy="115"/>
            </a:xfrm>
            <a:custGeom>
              <a:avLst/>
              <a:gdLst>
                <a:gd name="T0" fmla="*/ 117 w 117"/>
                <a:gd name="T1" fmla="*/ 115 h 115"/>
                <a:gd name="T2" fmla="*/ 0 w 117"/>
                <a:gd name="T3" fmla="*/ 62 h 115"/>
                <a:gd name="T4" fmla="*/ 112 w 117"/>
                <a:gd name="T5" fmla="*/ 0 h 115"/>
                <a:gd name="T6" fmla="*/ 117 w 117"/>
                <a:gd name="T7" fmla="*/ 115 h 115"/>
              </a:gdLst>
              <a:ahLst/>
              <a:cxnLst>
                <a:cxn ang="0">
                  <a:pos x="T0" y="T1"/>
                </a:cxn>
                <a:cxn ang="0">
                  <a:pos x="T2" y="T3"/>
                </a:cxn>
                <a:cxn ang="0">
                  <a:pos x="T4" y="T5"/>
                </a:cxn>
                <a:cxn ang="0">
                  <a:pos x="T6" y="T7"/>
                </a:cxn>
              </a:cxnLst>
              <a:rect l="0" t="0" r="r" b="b"/>
              <a:pathLst>
                <a:path w="117" h="115">
                  <a:moveTo>
                    <a:pt x="117" y="115"/>
                  </a:moveTo>
                  <a:lnTo>
                    <a:pt x="0" y="62"/>
                  </a:lnTo>
                  <a:lnTo>
                    <a:pt x="112" y="0"/>
                  </a:lnTo>
                  <a:lnTo>
                    <a:pt x="117" y="11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03" name="Line 61"/>
            <p:cNvSpPr>
              <a:spLocks noChangeShapeType="1"/>
            </p:cNvSpPr>
            <p:nvPr/>
          </p:nvSpPr>
          <p:spPr bwMode="auto">
            <a:xfrm flipH="1">
              <a:off x="1182" y="1508"/>
              <a:ext cx="133" cy="1332"/>
            </a:xfrm>
            <a:prstGeom prst="line">
              <a:avLst/>
            </a:prstGeom>
            <a:noFill/>
            <a:ln w="793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8204" name="Freeform 62"/>
            <p:cNvSpPr/>
            <p:nvPr/>
          </p:nvSpPr>
          <p:spPr bwMode="auto">
            <a:xfrm>
              <a:off x="1254" y="1421"/>
              <a:ext cx="114" cy="120"/>
            </a:xfrm>
            <a:custGeom>
              <a:avLst/>
              <a:gdLst>
                <a:gd name="T0" fmla="*/ 71 w 117"/>
                <a:gd name="T1" fmla="*/ 0 h 123"/>
                <a:gd name="T2" fmla="*/ 117 w 117"/>
                <a:gd name="T3" fmla="*/ 123 h 123"/>
                <a:gd name="T4" fmla="*/ 0 w 117"/>
                <a:gd name="T5" fmla="*/ 112 h 123"/>
                <a:gd name="T6" fmla="*/ 0 w 117"/>
                <a:gd name="T7" fmla="*/ 112 h 123"/>
                <a:gd name="T8" fmla="*/ 71 w 117"/>
                <a:gd name="T9" fmla="*/ 0 h 123"/>
              </a:gdLst>
              <a:ahLst/>
              <a:cxnLst>
                <a:cxn ang="0">
                  <a:pos x="T0" y="T1"/>
                </a:cxn>
                <a:cxn ang="0">
                  <a:pos x="T2" y="T3"/>
                </a:cxn>
                <a:cxn ang="0">
                  <a:pos x="T4" y="T5"/>
                </a:cxn>
                <a:cxn ang="0">
                  <a:pos x="T6" y="T7"/>
                </a:cxn>
                <a:cxn ang="0">
                  <a:pos x="T8" y="T9"/>
                </a:cxn>
              </a:cxnLst>
              <a:rect l="0" t="0" r="r" b="b"/>
              <a:pathLst>
                <a:path w="117" h="123">
                  <a:moveTo>
                    <a:pt x="71" y="0"/>
                  </a:moveTo>
                  <a:lnTo>
                    <a:pt x="117" y="123"/>
                  </a:lnTo>
                  <a:cubicBezTo>
                    <a:pt x="82" y="101"/>
                    <a:pt x="39" y="97"/>
                    <a:pt x="0" y="112"/>
                  </a:cubicBezTo>
                  <a:lnTo>
                    <a:pt x="0" y="112"/>
                  </a:lnTo>
                  <a:lnTo>
                    <a:pt x="71" y="0"/>
                  </a:lnTo>
                  <a:close/>
                </a:path>
              </a:pathLst>
            </a:cu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8205" name="Line 63"/>
            <p:cNvSpPr>
              <a:spLocks noChangeShapeType="1"/>
            </p:cNvSpPr>
            <p:nvPr/>
          </p:nvSpPr>
          <p:spPr bwMode="auto">
            <a:xfrm flipH="1">
              <a:off x="3504" y="1951"/>
              <a:ext cx="1030" cy="825"/>
            </a:xfrm>
            <a:prstGeom prst="line">
              <a:avLst/>
            </a:prstGeom>
            <a:noFill/>
            <a:ln w="793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8206" name="Freeform 64"/>
            <p:cNvSpPr/>
            <p:nvPr/>
          </p:nvSpPr>
          <p:spPr bwMode="auto">
            <a:xfrm>
              <a:off x="3426" y="2722"/>
              <a:ext cx="126" cy="118"/>
            </a:xfrm>
            <a:custGeom>
              <a:avLst/>
              <a:gdLst>
                <a:gd name="T0" fmla="*/ 126 w 126"/>
                <a:gd name="T1" fmla="*/ 90 h 118"/>
                <a:gd name="T2" fmla="*/ 0 w 126"/>
                <a:gd name="T3" fmla="*/ 118 h 118"/>
                <a:gd name="T4" fmla="*/ 54 w 126"/>
                <a:gd name="T5" fmla="*/ 0 h 118"/>
                <a:gd name="T6" fmla="*/ 126 w 126"/>
                <a:gd name="T7" fmla="*/ 90 h 118"/>
              </a:gdLst>
              <a:ahLst/>
              <a:cxnLst>
                <a:cxn ang="0">
                  <a:pos x="T0" y="T1"/>
                </a:cxn>
                <a:cxn ang="0">
                  <a:pos x="T2" y="T3"/>
                </a:cxn>
                <a:cxn ang="0">
                  <a:pos x="T4" y="T5"/>
                </a:cxn>
                <a:cxn ang="0">
                  <a:pos x="T6" y="T7"/>
                </a:cxn>
              </a:cxnLst>
              <a:rect l="0" t="0" r="r" b="b"/>
              <a:pathLst>
                <a:path w="126" h="118">
                  <a:moveTo>
                    <a:pt x="126" y="90"/>
                  </a:moveTo>
                  <a:lnTo>
                    <a:pt x="0" y="118"/>
                  </a:lnTo>
                  <a:lnTo>
                    <a:pt x="54" y="0"/>
                  </a:lnTo>
                  <a:lnTo>
                    <a:pt x="126" y="9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07" name="Line 65"/>
            <p:cNvSpPr>
              <a:spLocks noChangeShapeType="1"/>
            </p:cNvSpPr>
            <p:nvPr/>
          </p:nvSpPr>
          <p:spPr bwMode="auto">
            <a:xfrm>
              <a:off x="4856" y="1918"/>
              <a:ext cx="524" cy="836"/>
            </a:xfrm>
            <a:prstGeom prst="line">
              <a:avLst/>
            </a:prstGeom>
            <a:noFill/>
            <a:ln w="793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8208" name="Freeform 66"/>
            <p:cNvSpPr/>
            <p:nvPr/>
          </p:nvSpPr>
          <p:spPr bwMode="auto">
            <a:xfrm>
              <a:off x="5324" y="2712"/>
              <a:ext cx="110" cy="128"/>
            </a:xfrm>
            <a:custGeom>
              <a:avLst/>
              <a:gdLst>
                <a:gd name="T0" fmla="*/ 97 w 110"/>
                <a:gd name="T1" fmla="*/ 0 h 128"/>
                <a:gd name="T2" fmla="*/ 110 w 110"/>
                <a:gd name="T3" fmla="*/ 128 h 128"/>
                <a:gd name="T4" fmla="*/ 0 w 110"/>
                <a:gd name="T5" fmla="*/ 60 h 128"/>
                <a:gd name="T6" fmla="*/ 97 w 110"/>
                <a:gd name="T7" fmla="*/ 0 h 128"/>
              </a:gdLst>
              <a:ahLst/>
              <a:cxnLst>
                <a:cxn ang="0">
                  <a:pos x="T0" y="T1"/>
                </a:cxn>
                <a:cxn ang="0">
                  <a:pos x="T2" y="T3"/>
                </a:cxn>
                <a:cxn ang="0">
                  <a:pos x="T4" y="T5"/>
                </a:cxn>
                <a:cxn ang="0">
                  <a:pos x="T6" y="T7"/>
                </a:cxn>
              </a:cxnLst>
              <a:rect l="0" t="0" r="r" b="b"/>
              <a:pathLst>
                <a:path w="110" h="128">
                  <a:moveTo>
                    <a:pt x="97" y="0"/>
                  </a:moveTo>
                  <a:lnTo>
                    <a:pt x="110" y="128"/>
                  </a:lnTo>
                  <a:lnTo>
                    <a:pt x="0" y="60"/>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09" name="Line 67"/>
            <p:cNvSpPr>
              <a:spLocks noChangeShapeType="1"/>
            </p:cNvSpPr>
            <p:nvPr/>
          </p:nvSpPr>
          <p:spPr bwMode="auto">
            <a:xfrm>
              <a:off x="4058" y="2958"/>
              <a:ext cx="803" cy="0"/>
            </a:xfrm>
            <a:prstGeom prst="line">
              <a:avLst/>
            </a:prstGeom>
            <a:noFill/>
            <a:ln w="793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8210" name="Freeform 68"/>
            <p:cNvSpPr/>
            <p:nvPr/>
          </p:nvSpPr>
          <p:spPr bwMode="auto">
            <a:xfrm>
              <a:off x="3957" y="2900"/>
              <a:ext cx="115" cy="115"/>
            </a:xfrm>
            <a:custGeom>
              <a:avLst/>
              <a:gdLst>
                <a:gd name="T0" fmla="*/ 115 w 115"/>
                <a:gd name="T1" fmla="*/ 115 h 115"/>
                <a:gd name="T2" fmla="*/ 0 w 115"/>
                <a:gd name="T3" fmla="*/ 58 h 115"/>
                <a:gd name="T4" fmla="*/ 115 w 115"/>
                <a:gd name="T5" fmla="*/ 0 h 115"/>
                <a:gd name="T6" fmla="*/ 115 w 115"/>
                <a:gd name="T7" fmla="*/ 115 h 115"/>
              </a:gdLst>
              <a:ahLst/>
              <a:cxnLst>
                <a:cxn ang="0">
                  <a:pos x="T0" y="T1"/>
                </a:cxn>
                <a:cxn ang="0">
                  <a:pos x="T2" y="T3"/>
                </a:cxn>
                <a:cxn ang="0">
                  <a:pos x="T4" y="T5"/>
                </a:cxn>
                <a:cxn ang="0">
                  <a:pos x="T6" y="T7"/>
                </a:cxn>
              </a:cxnLst>
              <a:rect l="0" t="0" r="r" b="b"/>
              <a:pathLst>
                <a:path w="115" h="115">
                  <a:moveTo>
                    <a:pt x="115" y="115"/>
                  </a:moveTo>
                  <a:lnTo>
                    <a:pt x="0" y="58"/>
                  </a:lnTo>
                  <a:lnTo>
                    <a:pt x="115" y="0"/>
                  </a:lnTo>
                  <a:lnTo>
                    <a:pt x="115" y="11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11" name="Freeform 69"/>
            <p:cNvSpPr/>
            <p:nvPr/>
          </p:nvSpPr>
          <p:spPr bwMode="auto">
            <a:xfrm>
              <a:off x="4846" y="2900"/>
              <a:ext cx="115" cy="115"/>
            </a:xfrm>
            <a:custGeom>
              <a:avLst/>
              <a:gdLst>
                <a:gd name="T0" fmla="*/ 0 w 115"/>
                <a:gd name="T1" fmla="*/ 0 h 115"/>
                <a:gd name="T2" fmla="*/ 115 w 115"/>
                <a:gd name="T3" fmla="*/ 58 h 115"/>
                <a:gd name="T4" fmla="*/ 0 w 115"/>
                <a:gd name="T5" fmla="*/ 115 h 115"/>
                <a:gd name="T6" fmla="*/ 0 w 115"/>
                <a:gd name="T7" fmla="*/ 0 h 115"/>
              </a:gdLst>
              <a:ahLst/>
              <a:cxnLst>
                <a:cxn ang="0">
                  <a:pos x="T0" y="T1"/>
                </a:cxn>
                <a:cxn ang="0">
                  <a:pos x="T2" y="T3"/>
                </a:cxn>
                <a:cxn ang="0">
                  <a:pos x="T4" y="T5"/>
                </a:cxn>
                <a:cxn ang="0">
                  <a:pos x="T6" y="T7"/>
                </a:cxn>
              </a:cxnLst>
              <a:rect l="0" t="0" r="r" b="b"/>
              <a:pathLst>
                <a:path w="115" h="115">
                  <a:moveTo>
                    <a:pt x="0" y="0"/>
                  </a:moveTo>
                  <a:lnTo>
                    <a:pt x="115" y="58"/>
                  </a:lnTo>
                  <a:lnTo>
                    <a:pt x="0" y="11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12" name="Rectangle 70"/>
            <p:cNvSpPr>
              <a:spLocks noChangeArrowheads="1"/>
            </p:cNvSpPr>
            <p:nvPr/>
          </p:nvSpPr>
          <p:spPr bwMode="auto">
            <a:xfrm>
              <a:off x="2172" y="2194"/>
              <a:ext cx="55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从</a:t>
              </a:r>
              <a:r>
                <a:rPr kumimoji="0" lang="zh-CN" altLang="zh-CN" sz="2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节点</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213" name="Rectangle 71"/>
            <p:cNvSpPr>
              <a:spLocks noChangeArrowheads="1"/>
            </p:cNvSpPr>
            <p:nvPr/>
          </p:nvSpPr>
          <p:spPr bwMode="auto">
            <a:xfrm>
              <a:off x="5560" y="2452"/>
              <a:ext cx="92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2300" dirty="0">
                  <a:solidFill>
                    <a:srgbClr val="000000"/>
                  </a:solidFill>
                  <a:latin typeface="宋体" panose="02010600030101010101" pitchFamily="2" charset="-122"/>
                  <a:ea typeface="宋体" panose="02010600030101010101" pitchFamily="2" charset="-122"/>
                </a:rPr>
                <a:t>(</a:t>
              </a:r>
              <a:r>
                <a:rPr kumimoji="0" lang="zh-CN" altLang="zh-CN" sz="2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数据节点</a:t>
              </a:r>
              <a:r>
                <a:rPr kumimoji="0" lang="en-US" altLang="zh-CN" sz="2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214" name="Rectangle 72"/>
            <p:cNvSpPr>
              <a:spLocks noChangeArrowheads="1"/>
            </p:cNvSpPr>
            <p:nvPr/>
          </p:nvSpPr>
          <p:spPr bwMode="auto">
            <a:xfrm>
              <a:off x="1971" y="1092"/>
              <a:ext cx="43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访问请求</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215" name="Rectangle 73"/>
            <p:cNvSpPr>
              <a:spLocks noChangeArrowheads="1"/>
            </p:cNvSpPr>
            <p:nvPr/>
          </p:nvSpPr>
          <p:spPr bwMode="auto">
            <a:xfrm>
              <a:off x="3440" y="1514"/>
              <a:ext cx="43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访问请求</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216" name="Rectangle 74"/>
            <p:cNvSpPr>
              <a:spLocks noChangeArrowheads="1"/>
            </p:cNvSpPr>
            <p:nvPr/>
          </p:nvSpPr>
          <p:spPr bwMode="auto">
            <a:xfrm>
              <a:off x="1018" y="2093"/>
              <a:ext cx="18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读</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217" name="Rectangle 75"/>
            <p:cNvSpPr>
              <a:spLocks noChangeArrowheads="1"/>
            </p:cNvSpPr>
            <p:nvPr/>
          </p:nvSpPr>
          <p:spPr bwMode="auto">
            <a:xfrm>
              <a:off x="3830" y="2155"/>
              <a:ext cx="18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宋体" panose="02010600030101010101" pitchFamily="2" charset="-122"/>
                  <a:ea typeface="宋体" panose="02010600030101010101" pitchFamily="2" charset="-122"/>
                </a:rPr>
                <a:t>写</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218" name="Rectangle 76"/>
            <p:cNvSpPr>
              <a:spLocks noChangeArrowheads="1"/>
            </p:cNvSpPr>
            <p:nvPr/>
          </p:nvSpPr>
          <p:spPr bwMode="auto">
            <a:xfrm>
              <a:off x="5158" y="2218"/>
              <a:ext cx="18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宋体" panose="02010600030101010101" pitchFamily="2" charset="-122"/>
                  <a:ea typeface="宋体" panose="02010600030101010101" pitchFamily="2" charset="-122"/>
                </a:rPr>
                <a:t>写</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219" name="Rectangle 77"/>
            <p:cNvSpPr>
              <a:spLocks noChangeArrowheads="1"/>
            </p:cNvSpPr>
            <p:nvPr/>
          </p:nvSpPr>
          <p:spPr bwMode="auto">
            <a:xfrm>
              <a:off x="4237" y="3093"/>
              <a:ext cx="281"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宋体" panose="02010600030101010101" pitchFamily="2" charset="-122"/>
                  <a:ea typeface="宋体" panose="02010600030101010101" pitchFamily="2" charset="-122"/>
                </a:rPr>
                <a:t>复制</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220" name="Rectangle 78"/>
            <p:cNvSpPr>
              <a:spLocks noChangeArrowheads="1"/>
            </p:cNvSpPr>
            <p:nvPr/>
          </p:nvSpPr>
          <p:spPr bwMode="auto">
            <a:xfrm>
              <a:off x="6309" y="3108"/>
              <a:ext cx="34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文件块</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sp>
        <p:nvSpPr>
          <p:cNvPr id="6" name="文本框 5"/>
          <p:cNvSpPr txBox="1"/>
          <p:nvPr/>
        </p:nvSpPr>
        <p:spPr>
          <a:xfrm>
            <a:off x="3148528" y="2742210"/>
            <a:ext cx="1408986" cy="442674"/>
          </a:xfrm>
          <a:prstGeom prst="roundRect">
            <a:avLst/>
          </a:prstGeom>
          <a:solidFill>
            <a:schemeClr val="bg1"/>
          </a:solidFill>
          <a:ln>
            <a:noFill/>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US" altLang="zh-CN" sz="2000" dirty="0"/>
              <a:t>(</a:t>
            </a:r>
            <a:r>
              <a:rPr lang="zh-CN" altLang="en-US" sz="2000" dirty="0"/>
              <a:t>名称节点</a:t>
            </a:r>
            <a:r>
              <a:rPr lang="en-US" altLang="zh-CN" sz="2000" dirty="0"/>
              <a:t>)</a:t>
            </a:r>
            <a:endParaRPr lang="en-US" altLang="zh-CN" sz="2000" dirty="0"/>
          </a:p>
        </p:txBody>
      </p:sp>
      <p:sp>
        <p:nvSpPr>
          <p:cNvPr id="8221" name="文本框 8220"/>
          <p:cNvSpPr txBox="1"/>
          <p:nvPr/>
        </p:nvSpPr>
        <p:spPr>
          <a:xfrm>
            <a:off x="2900442" y="3900727"/>
            <a:ext cx="1408986" cy="442674"/>
          </a:xfrm>
          <a:prstGeom prst="roundRect">
            <a:avLst/>
          </a:prstGeom>
          <a:solidFill>
            <a:schemeClr val="bg1"/>
          </a:solidFill>
          <a:ln>
            <a:noFill/>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US" altLang="zh-CN" sz="2000" dirty="0"/>
              <a:t>(</a:t>
            </a:r>
            <a:r>
              <a:rPr lang="zh-CN" altLang="en-US" sz="2000" dirty="0"/>
              <a:t>数据节点</a:t>
            </a:r>
            <a:r>
              <a:rPr lang="en-US" altLang="zh-CN" sz="2000" dirty="0"/>
              <a:t>)</a:t>
            </a:r>
            <a:endParaRPr lang="en-US" altLang="zh-CN" sz="2000" dirty="0"/>
          </a:p>
        </p:txBody>
      </p:sp>
      <p:sp>
        <p:nvSpPr>
          <p:cNvPr id="8222" name="对话气泡: 圆角矩形 8221"/>
          <p:cNvSpPr/>
          <p:nvPr/>
        </p:nvSpPr>
        <p:spPr>
          <a:xfrm>
            <a:off x="5128894" y="1315086"/>
            <a:ext cx="3374708" cy="873760"/>
          </a:xfrm>
          <a:prstGeom prst="wedgeRoundRectCallout">
            <a:avLst>
              <a:gd name="adj1" fmla="val -70084"/>
              <a:gd name="adj2" fmla="val 78780"/>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eaLnBrk="1" hangingPunct="1"/>
            <a:r>
              <a:rPr lang="zh-CN" altLang="en-US" sz="2400" dirty="0"/>
              <a:t>文件、目录的变动</a:t>
            </a:r>
            <a:endParaRPr lang="en-US" altLang="zh-CN" sz="2400" dirty="0"/>
          </a:p>
          <a:p>
            <a:pPr algn="ctr" eaLnBrk="1" hangingPunct="1"/>
            <a:r>
              <a:rPr lang="zh-CN" altLang="en-US" sz="2400" dirty="0"/>
              <a:t>数据节点和文件块映射</a:t>
            </a:r>
            <a:endParaRPr lang="en-US" altLang="zh-CN" sz="2400" dirty="0"/>
          </a:p>
        </p:txBody>
      </p:sp>
      <p:sp>
        <p:nvSpPr>
          <p:cNvPr id="8223" name="Rectangle 70"/>
          <p:cNvSpPr>
            <a:spLocks noChangeArrowheads="1"/>
          </p:cNvSpPr>
          <p:nvPr/>
        </p:nvSpPr>
        <p:spPr bwMode="auto">
          <a:xfrm>
            <a:off x="8797290" y="3610295"/>
            <a:ext cx="88423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从</a:t>
            </a:r>
            <a:r>
              <a:rPr kumimoji="0" lang="zh-CN" altLang="zh-CN" sz="23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节点</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224" name="对话气泡: 圆角矩形 8223"/>
          <p:cNvSpPr/>
          <p:nvPr/>
        </p:nvSpPr>
        <p:spPr>
          <a:xfrm>
            <a:off x="8525192" y="2292511"/>
            <a:ext cx="3374708" cy="873760"/>
          </a:xfrm>
          <a:prstGeom prst="wedgeRoundRectCallout">
            <a:avLst>
              <a:gd name="adj1" fmla="val -23720"/>
              <a:gd name="adj2" fmla="val 9389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eaLnBrk="1" hangingPunct="1"/>
            <a:r>
              <a:rPr lang="zh-CN" altLang="en-US" sz="2400" dirty="0"/>
              <a:t>负责数据存储和读取</a:t>
            </a:r>
            <a:endParaRPr lang="en-US" altLang="zh-CN" sz="2400" dirty="0"/>
          </a:p>
          <a:p>
            <a:pPr algn="ctr" eaLnBrk="1" hangingPunct="1"/>
            <a:r>
              <a:rPr lang="zh-CN" altLang="en-US" sz="2400" dirty="0"/>
              <a:t>根据主节点变动数据块</a:t>
            </a:r>
            <a:endParaRPr lang="en-US" altLang="zh-CN" sz="2400" dirty="0"/>
          </a:p>
        </p:txBody>
      </p:sp>
      <p:sp>
        <p:nvSpPr>
          <p:cNvPr id="8225" name="对话气泡: 圆角矩形 8224"/>
          <p:cNvSpPr/>
          <p:nvPr/>
        </p:nvSpPr>
        <p:spPr>
          <a:xfrm>
            <a:off x="4574698" y="5656581"/>
            <a:ext cx="1973104" cy="873760"/>
          </a:xfrm>
          <a:prstGeom prst="wedgeRoundRectCallout">
            <a:avLst>
              <a:gd name="adj1" fmla="val 41688"/>
              <a:gd name="adj2" fmla="val -9447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eaLnBrk="1" hangingPunct="1"/>
            <a:r>
              <a:rPr lang="zh-CN" altLang="en-US" sz="2400" dirty="0"/>
              <a:t>多个副本</a:t>
            </a:r>
            <a:endParaRPr lang="en-US" altLang="zh-CN" sz="2400" dirty="0"/>
          </a:p>
          <a:p>
            <a:pPr algn="ctr" eaLnBrk="1" hangingPunct="1"/>
            <a:r>
              <a:rPr lang="zh-CN" altLang="en-US" sz="2400" dirty="0"/>
              <a:t>数据完整性</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222"/>
                                        </p:tgtEl>
                                        <p:attrNameLst>
                                          <p:attrName>style.visibility</p:attrName>
                                        </p:attrNameLst>
                                      </p:cBhvr>
                                      <p:to>
                                        <p:strVal val="visible"/>
                                      </p:to>
                                    </p:set>
                                    <p:animEffect transition="in" filter="wipe(down)">
                                      <p:cBhvr>
                                        <p:cTn id="7" dur="500"/>
                                        <p:tgtEl>
                                          <p:spTgt spid="82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224"/>
                                        </p:tgtEl>
                                        <p:attrNameLst>
                                          <p:attrName>style.visibility</p:attrName>
                                        </p:attrNameLst>
                                      </p:cBhvr>
                                      <p:to>
                                        <p:strVal val="visible"/>
                                      </p:to>
                                    </p:set>
                                    <p:animEffect transition="in" filter="wipe(down)">
                                      <p:cBhvr>
                                        <p:cTn id="12" dur="500"/>
                                        <p:tgtEl>
                                          <p:spTgt spid="82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225"/>
                                        </p:tgtEl>
                                        <p:attrNameLst>
                                          <p:attrName>style.visibility</p:attrName>
                                        </p:attrNameLst>
                                      </p:cBhvr>
                                      <p:to>
                                        <p:strVal val="visible"/>
                                      </p:to>
                                    </p:set>
                                    <p:animEffect transition="in" filter="wipe(down)">
                                      <p:cBhvr>
                                        <p:cTn id="17" dur="500"/>
                                        <p:tgtEl>
                                          <p:spTgt spid="8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2" grpId="0" animBg="1"/>
      <p:bldP spid="8224" grpId="0" animBg="1"/>
      <p:bldP spid="82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3.1.3	</a:t>
            </a:r>
            <a:r>
              <a:rPr lang="zh-CN" altLang="en-US" b="1" dirty="0"/>
              <a:t>分布式文件系统的设计需求</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graphicFrame>
        <p:nvGraphicFramePr>
          <p:cNvPr id="7" name="表格 7"/>
          <p:cNvGraphicFramePr>
            <a:graphicFrameLocks noGrp="1"/>
          </p:cNvGraphicFramePr>
          <p:nvPr/>
        </p:nvGraphicFramePr>
        <p:xfrm>
          <a:off x="736600" y="1417320"/>
          <a:ext cx="10972165" cy="4969510"/>
        </p:xfrm>
        <a:graphic>
          <a:graphicData uri="http://schemas.openxmlformats.org/drawingml/2006/table">
            <a:tbl>
              <a:tblPr firstRow="1" bandRow="1">
                <a:tableStyleId>{5C22544A-7EE6-4342-B048-85BDC9FD1C3A}</a:tableStyleId>
              </a:tblPr>
              <a:tblGrid>
                <a:gridCol w="1746885"/>
                <a:gridCol w="4916170"/>
                <a:gridCol w="4309110"/>
              </a:tblGrid>
              <a:tr h="777875">
                <a:tc>
                  <a:txBody>
                    <a:bodyPr/>
                    <a:lstStyle/>
                    <a:p>
                      <a:pPr algn="just" fontAlgn="t"/>
                      <a:r>
                        <a:rPr lang="zh-CN" altLang="en-US" sz="2000" b="1">
                          <a:solidFill>
                            <a:schemeClr val="bg1"/>
                          </a:solidFill>
                          <a:effectLst/>
                        </a:rPr>
                        <a:t>设计需求</a:t>
                      </a:r>
                      <a:endParaRPr lang="zh-CN" altLang="en-US" sz="2000" b="1">
                        <a:solidFill>
                          <a:schemeClr val="bg1"/>
                        </a:solidFill>
                        <a:effectLst/>
                      </a:endParaRPr>
                    </a:p>
                  </a:txBody>
                  <a:tcPr marL="60960" marR="60960" marT="60960" marB="60960"/>
                </a:tc>
                <a:tc>
                  <a:txBody>
                    <a:bodyPr/>
                    <a:lstStyle/>
                    <a:p>
                      <a:pPr algn="just" fontAlgn="t"/>
                      <a:r>
                        <a:rPr lang="zh-CN" altLang="en-US" sz="2000" b="1">
                          <a:solidFill>
                            <a:schemeClr val="bg1"/>
                          </a:solidFill>
                          <a:effectLst/>
                        </a:rPr>
                        <a:t>具体含义</a:t>
                      </a:r>
                      <a:endParaRPr lang="zh-CN" altLang="en-US" sz="2000" b="1">
                        <a:solidFill>
                          <a:schemeClr val="bg1"/>
                        </a:solidFill>
                        <a:effectLst/>
                      </a:endParaRPr>
                    </a:p>
                  </a:txBody>
                  <a:tcPr marL="60960" marR="60960" marT="60960" marB="60960"/>
                </a:tc>
                <a:tc>
                  <a:txBody>
                    <a:bodyPr/>
                    <a:lstStyle/>
                    <a:p>
                      <a:pPr algn="just" fontAlgn="t"/>
                      <a:r>
                        <a:rPr lang="en-US" sz="2000" b="1" dirty="0">
                          <a:solidFill>
                            <a:schemeClr val="bg1"/>
                          </a:solidFill>
                          <a:effectLst/>
                        </a:rPr>
                        <a:t>HDFS</a:t>
                      </a:r>
                      <a:r>
                        <a:rPr lang="zh-CN" altLang="en-US" sz="2000" b="1" dirty="0">
                          <a:solidFill>
                            <a:schemeClr val="bg1"/>
                          </a:solidFill>
                          <a:effectLst/>
                        </a:rPr>
                        <a:t>的实现情况</a:t>
                      </a:r>
                      <a:endParaRPr lang="zh-CN" altLang="en-US" sz="2000" b="1" dirty="0">
                        <a:solidFill>
                          <a:schemeClr val="bg1"/>
                        </a:solidFill>
                        <a:effectLst/>
                      </a:endParaRPr>
                    </a:p>
                  </a:txBody>
                  <a:tcPr marL="60960" marR="60960" marT="60960" marB="60960"/>
                </a:tc>
              </a:tr>
              <a:tr h="1600835">
                <a:tc>
                  <a:txBody>
                    <a:bodyPr/>
                    <a:lstStyle/>
                    <a:p>
                      <a:r>
                        <a:rPr lang="zh-CN" altLang="en-US" sz="2800" b="0" i="0" kern="1200" dirty="0">
                          <a:solidFill>
                            <a:schemeClr val="dk1"/>
                          </a:solidFill>
                          <a:effectLst/>
                          <a:latin typeface="+mn-lt"/>
                          <a:ea typeface="+mn-ea"/>
                          <a:cs typeface="+mn-cs"/>
                        </a:rPr>
                        <a:t>透明性</a:t>
                      </a:r>
                      <a:endParaRPr lang="zh-CN" altLang="en-US" sz="2800" b="0" i="0" kern="1200" dirty="0">
                        <a:solidFill>
                          <a:schemeClr val="dk1"/>
                        </a:solidFill>
                        <a:effectLst/>
                        <a:latin typeface="+mn-lt"/>
                        <a:ea typeface="+mn-ea"/>
                        <a:cs typeface="+mn-cs"/>
                      </a:endParaRPr>
                    </a:p>
                  </a:txBody>
                  <a:tcPr/>
                </a:tc>
                <a:tc>
                  <a:txBody>
                    <a:bodyPr/>
                    <a:lstStyle/>
                    <a:p>
                      <a:r>
                        <a:rPr lang="zh-CN" altLang="en-US" sz="2800" b="0" i="0" kern="1200" dirty="0">
                          <a:solidFill>
                            <a:schemeClr val="dk1"/>
                          </a:solidFill>
                          <a:effectLst/>
                          <a:latin typeface="+mn-lt"/>
                          <a:ea typeface="+mn-ea"/>
                          <a:cs typeface="+mn-cs"/>
                        </a:rPr>
                        <a:t>具备访问透明性、位置透明性、性能和伸缩透明性。</a:t>
                      </a:r>
                      <a:endParaRPr lang="zh-CN" altLang="en-US" sz="2800" b="0" i="0" kern="1200" dirty="0">
                        <a:solidFill>
                          <a:schemeClr val="dk1"/>
                        </a:solidFill>
                        <a:effectLst/>
                        <a:latin typeface="+mn-lt"/>
                        <a:ea typeface="+mn-ea"/>
                        <a:cs typeface="+mn-cs"/>
                      </a:endParaRPr>
                    </a:p>
                  </a:txBody>
                  <a:tcPr/>
                </a:tc>
                <a:tc>
                  <a:txBody>
                    <a:bodyPr/>
                    <a:lstStyle/>
                    <a:p>
                      <a:r>
                        <a:rPr lang="zh-CN" altLang="en-US" sz="2800" b="0" i="0" kern="1200" dirty="0">
                          <a:solidFill>
                            <a:schemeClr val="dk1"/>
                          </a:solidFill>
                          <a:effectLst/>
                          <a:latin typeface="+mn-lt"/>
                          <a:ea typeface="+mn-ea"/>
                          <a:cs typeface="+mn-cs"/>
                        </a:rPr>
                        <a:t>只能提供一定程度的访问透明性，完全支持位置透明性、性能和伸缩透明性。</a:t>
                      </a:r>
                      <a:endParaRPr lang="zh-CN" altLang="en-US" sz="2800" b="0" i="0" kern="1200" dirty="0">
                        <a:solidFill>
                          <a:schemeClr val="dk1"/>
                        </a:solidFill>
                        <a:effectLst/>
                        <a:latin typeface="+mn-lt"/>
                        <a:ea typeface="+mn-ea"/>
                        <a:cs typeface="+mn-cs"/>
                      </a:endParaRPr>
                    </a:p>
                  </a:txBody>
                  <a:tcPr/>
                </a:tc>
              </a:tr>
              <a:tr h="1615440">
                <a:tc>
                  <a:txBody>
                    <a:bodyPr/>
                    <a:lstStyle/>
                    <a:p>
                      <a:pPr algn="just" fontAlgn="t"/>
                      <a:r>
                        <a:rPr lang="zh-CN" altLang="en-US" sz="2800" b="0">
                          <a:solidFill>
                            <a:srgbClr val="4F4F4F"/>
                          </a:solidFill>
                          <a:effectLst/>
                        </a:rPr>
                        <a:t>并发控制</a:t>
                      </a:r>
                      <a:endParaRPr lang="zh-CN" altLang="en-US" sz="2800" b="0">
                        <a:solidFill>
                          <a:srgbClr val="4F4F4F"/>
                        </a:solidFill>
                        <a:effectLst/>
                      </a:endParaRPr>
                    </a:p>
                  </a:txBody>
                  <a:tcPr marL="60960" marR="60960" marT="60960" marB="60960"/>
                </a:tc>
                <a:tc>
                  <a:txBody>
                    <a:bodyPr/>
                    <a:lstStyle/>
                    <a:p>
                      <a:pPr algn="just" fontAlgn="t"/>
                      <a:r>
                        <a:rPr lang="zh-CN" altLang="en-US" sz="2800" b="0">
                          <a:solidFill>
                            <a:srgbClr val="4F4F4F"/>
                          </a:solidFill>
                          <a:effectLst/>
                        </a:rPr>
                        <a:t>客户端对文件的读写不应该影响其他客户端对同一个文件的读写</a:t>
                      </a:r>
                      <a:endParaRPr lang="zh-CN" altLang="en-US" sz="2800" b="0">
                        <a:solidFill>
                          <a:srgbClr val="4F4F4F"/>
                        </a:solidFill>
                        <a:effectLst/>
                      </a:endParaRPr>
                    </a:p>
                  </a:txBody>
                  <a:tcPr marL="60960" marR="60960" marT="60960" marB="60960"/>
                </a:tc>
                <a:tc>
                  <a:txBody>
                    <a:bodyPr/>
                    <a:lstStyle/>
                    <a:p>
                      <a:pPr algn="just" fontAlgn="t"/>
                      <a:r>
                        <a:rPr lang="zh-CN" altLang="en-US" sz="2800" b="0" dirty="0">
                          <a:solidFill>
                            <a:srgbClr val="4F4F4F"/>
                          </a:solidFill>
                          <a:effectLst/>
                        </a:rPr>
                        <a:t>任何时间都只允许一个程序写入某个文件</a:t>
                      </a:r>
                      <a:endParaRPr lang="zh-CN" altLang="en-US" sz="2800" b="0" dirty="0">
                        <a:solidFill>
                          <a:srgbClr val="4F4F4F"/>
                        </a:solidFill>
                        <a:effectLst/>
                      </a:endParaRPr>
                    </a:p>
                  </a:txBody>
                  <a:tcPr marL="60960" marR="60960" marT="60960" marB="60960"/>
                </a:tc>
              </a:tr>
              <a:tr h="777875">
                <a:tc>
                  <a:txBody>
                    <a:bodyPr/>
                    <a:lstStyle/>
                    <a:p>
                      <a:pPr algn="just" fontAlgn="t"/>
                      <a:r>
                        <a:rPr lang="zh-CN" altLang="en-US" sz="2800" b="0" dirty="0">
                          <a:solidFill>
                            <a:srgbClr val="4F4F4F"/>
                          </a:solidFill>
                          <a:effectLst/>
                        </a:rPr>
                        <a:t>文件复制</a:t>
                      </a:r>
                      <a:endParaRPr lang="zh-CN" altLang="en-US" sz="2800" b="0" dirty="0">
                        <a:solidFill>
                          <a:srgbClr val="4F4F4F"/>
                        </a:solidFill>
                        <a:effectLst/>
                      </a:endParaRPr>
                    </a:p>
                  </a:txBody>
                  <a:tcPr marL="60960" marR="60960" marT="60960" marB="60960"/>
                </a:tc>
                <a:tc>
                  <a:txBody>
                    <a:bodyPr/>
                    <a:lstStyle/>
                    <a:p>
                      <a:pPr algn="just" fontAlgn="t"/>
                      <a:r>
                        <a:rPr lang="zh-CN" altLang="en-US" sz="2800" b="0" dirty="0">
                          <a:solidFill>
                            <a:srgbClr val="4F4F4F"/>
                          </a:solidFill>
                          <a:effectLst/>
                        </a:rPr>
                        <a:t>一个文件可以拥有在不同位置的多个副本</a:t>
                      </a:r>
                      <a:endParaRPr lang="zh-CN" altLang="en-US" sz="2800" b="0" dirty="0">
                        <a:solidFill>
                          <a:srgbClr val="4F4F4F"/>
                        </a:solidFill>
                        <a:effectLst/>
                      </a:endParaRPr>
                    </a:p>
                  </a:txBody>
                  <a:tcPr marL="60960" marR="60960" marT="60960" marB="60960"/>
                </a:tc>
                <a:tc>
                  <a:txBody>
                    <a:bodyPr/>
                    <a:lstStyle/>
                    <a:p>
                      <a:pPr algn="just" fontAlgn="t"/>
                      <a:r>
                        <a:rPr lang="en-US" sz="2800" b="0" dirty="0">
                          <a:solidFill>
                            <a:srgbClr val="4F4F4F"/>
                          </a:solidFill>
                          <a:effectLst/>
                        </a:rPr>
                        <a:t>HDFS</a:t>
                      </a:r>
                      <a:r>
                        <a:rPr lang="zh-CN" altLang="en-US" sz="2800" b="0" dirty="0">
                          <a:solidFill>
                            <a:srgbClr val="4F4F4F"/>
                          </a:solidFill>
                          <a:effectLst/>
                        </a:rPr>
                        <a:t>采用了多副本机制</a:t>
                      </a:r>
                      <a:endParaRPr lang="zh-CN" altLang="en-US" sz="2800" b="0" dirty="0">
                        <a:solidFill>
                          <a:srgbClr val="4F4F4F"/>
                        </a:solidFill>
                        <a:effectLst/>
                      </a:endParaRPr>
                    </a:p>
                  </a:txBody>
                  <a:tcPr marL="60960" marR="60960" marT="60960" marB="6096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3.1.3	</a:t>
            </a:r>
            <a:r>
              <a:rPr lang="zh-CN" altLang="en-US" b="1" dirty="0"/>
              <a:t>分布式文件系统的设计需求</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graphicFrame>
        <p:nvGraphicFramePr>
          <p:cNvPr id="7" name="表格 7"/>
          <p:cNvGraphicFramePr>
            <a:graphicFrameLocks noGrp="1"/>
          </p:cNvGraphicFramePr>
          <p:nvPr/>
        </p:nvGraphicFramePr>
        <p:xfrm>
          <a:off x="736600" y="1417320"/>
          <a:ext cx="10942320" cy="5034280"/>
        </p:xfrm>
        <a:graphic>
          <a:graphicData uri="http://schemas.openxmlformats.org/drawingml/2006/table">
            <a:tbl>
              <a:tblPr firstRow="1" bandRow="1">
                <a:tableStyleId>{5C22544A-7EE6-4342-B048-85BDC9FD1C3A}</a:tableStyleId>
              </a:tblPr>
              <a:tblGrid>
                <a:gridCol w="2006600"/>
                <a:gridCol w="4780280"/>
                <a:gridCol w="4155440"/>
              </a:tblGrid>
              <a:tr h="691515">
                <a:tc>
                  <a:txBody>
                    <a:bodyPr/>
                    <a:lstStyle/>
                    <a:p>
                      <a:pPr algn="just" fontAlgn="t"/>
                      <a:r>
                        <a:rPr lang="zh-CN" altLang="en-US" sz="2000" b="1">
                          <a:solidFill>
                            <a:schemeClr val="bg1"/>
                          </a:solidFill>
                          <a:effectLst/>
                        </a:rPr>
                        <a:t>设计需求</a:t>
                      </a:r>
                      <a:endParaRPr lang="zh-CN" altLang="en-US" sz="2000" b="1">
                        <a:solidFill>
                          <a:schemeClr val="bg1"/>
                        </a:solidFill>
                        <a:effectLst/>
                      </a:endParaRPr>
                    </a:p>
                  </a:txBody>
                  <a:tcPr marL="60960" marR="60960" marT="60960" marB="60960"/>
                </a:tc>
                <a:tc>
                  <a:txBody>
                    <a:bodyPr/>
                    <a:lstStyle/>
                    <a:p>
                      <a:pPr algn="just" fontAlgn="t"/>
                      <a:r>
                        <a:rPr lang="zh-CN" altLang="en-US" sz="2000" b="1">
                          <a:solidFill>
                            <a:schemeClr val="bg1"/>
                          </a:solidFill>
                          <a:effectLst/>
                        </a:rPr>
                        <a:t>具体含义</a:t>
                      </a:r>
                      <a:endParaRPr lang="zh-CN" altLang="en-US" sz="2000" b="1">
                        <a:solidFill>
                          <a:schemeClr val="bg1"/>
                        </a:solidFill>
                        <a:effectLst/>
                      </a:endParaRPr>
                    </a:p>
                  </a:txBody>
                  <a:tcPr marL="60960" marR="60960" marT="60960" marB="60960"/>
                </a:tc>
                <a:tc>
                  <a:txBody>
                    <a:bodyPr/>
                    <a:lstStyle/>
                    <a:p>
                      <a:pPr algn="just" fontAlgn="t"/>
                      <a:r>
                        <a:rPr lang="en-US" sz="2000" b="1" dirty="0">
                          <a:solidFill>
                            <a:schemeClr val="bg1"/>
                          </a:solidFill>
                          <a:effectLst/>
                        </a:rPr>
                        <a:t>HDFS</a:t>
                      </a:r>
                      <a:r>
                        <a:rPr lang="zh-CN" altLang="en-US" sz="2000" b="1" dirty="0">
                          <a:solidFill>
                            <a:schemeClr val="bg1"/>
                          </a:solidFill>
                          <a:effectLst/>
                        </a:rPr>
                        <a:t>的实现情况</a:t>
                      </a:r>
                      <a:endParaRPr lang="zh-CN" altLang="en-US" sz="2000" b="1" dirty="0">
                        <a:solidFill>
                          <a:schemeClr val="bg1"/>
                        </a:solidFill>
                        <a:effectLst/>
                      </a:endParaRPr>
                    </a:p>
                  </a:txBody>
                  <a:tcPr marL="60960" marR="60960" marT="60960" marB="60960"/>
                </a:tc>
              </a:tr>
              <a:tr h="1073785">
                <a:tc>
                  <a:txBody>
                    <a:bodyPr/>
                    <a:lstStyle/>
                    <a:p>
                      <a:pPr algn="just" fontAlgn="t"/>
                      <a:r>
                        <a:rPr lang="zh-CN" altLang="en-US" sz="2400" b="0" dirty="0">
                          <a:solidFill>
                            <a:srgbClr val="4F4F4F"/>
                          </a:solidFill>
                          <a:effectLst/>
                        </a:rPr>
                        <a:t>硬件和操作系统的异构性</a:t>
                      </a:r>
                      <a:endParaRPr lang="zh-CN" altLang="en-US" sz="2400" b="0" dirty="0">
                        <a:solidFill>
                          <a:srgbClr val="4F4F4F"/>
                        </a:solidFill>
                        <a:effectLst/>
                      </a:endParaRPr>
                    </a:p>
                  </a:txBody>
                  <a:tcPr marL="60960" marR="60960" marT="60960" marB="60960"/>
                </a:tc>
                <a:tc>
                  <a:txBody>
                    <a:bodyPr/>
                    <a:lstStyle/>
                    <a:p>
                      <a:pPr algn="just" fontAlgn="t"/>
                      <a:r>
                        <a:rPr lang="zh-CN" altLang="en-US" sz="2400" b="0" dirty="0">
                          <a:solidFill>
                            <a:srgbClr val="4F4F4F"/>
                          </a:solidFill>
                          <a:effectLst/>
                        </a:rPr>
                        <a:t>可以在不同的操作系统和计算机上实现同样的客户端和服务器端程序</a:t>
                      </a:r>
                      <a:endParaRPr lang="zh-CN" altLang="en-US" sz="2400" b="0" dirty="0">
                        <a:solidFill>
                          <a:srgbClr val="4F4F4F"/>
                        </a:solidFill>
                        <a:effectLst/>
                      </a:endParaRPr>
                    </a:p>
                  </a:txBody>
                  <a:tcPr marL="60960" marR="60960" marT="60960" marB="60960"/>
                </a:tc>
                <a:tc>
                  <a:txBody>
                    <a:bodyPr/>
                    <a:lstStyle/>
                    <a:p>
                      <a:pPr algn="just" fontAlgn="t"/>
                      <a:r>
                        <a:rPr lang="en-US" altLang="zh-CN" sz="2400" b="0" dirty="0">
                          <a:solidFill>
                            <a:srgbClr val="4F4F4F"/>
                          </a:solidFill>
                          <a:effectLst/>
                        </a:rPr>
                        <a:t>JAVA</a:t>
                      </a:r>
                      <a:r>
                        <a:rPr lang="zh-CN" altLang="en-US" sz="2400" b="0" dirty="0">
                          <a:solidFill>
                            <a:srgbClr val="4F4F4F"/>
                          </a:solidFill>
                          <a:effectLst/>
                        </a:rPr>
                        <a:t>语言开发，跨平台能力很好</a:t>
                      </a:r>
                      <a:endParaRPr lang="zh-CN" altLang="en-US" sz="2400" b="0" dirty="0">
                        <a:solidFill>
                          <a:srgbClr val="4F4F4F"/>
                        </a:solidFill>
                        <a:effectLst/>
                      </a:endParaRPr>
                    </a:p>
                  </a:txBody>
                  <a:tcPr marL="60960" marR="60960" marT="60960" marB="60960"/>
                </a:tc>
              </a:tr>
              <a:tr h="1320800">
                <a:tc>
                  <a:txBody>
                    <a:bodyPr/>
                    <a:lstStyle/>
                    <a:p>
                      <a:pPr algn="just" fontAlgn="t"/>
                      <a:r>
                        <a:rPr lang="zh-CN" altLang="en-US" sz="2400" b="0" dirty="0">
                          <a:solidFill>
                            <a:srgbClr val="4F4F4F"/>
                          </a:solidFill>
                          <a:effectLst/>
                        </a:rPr>
                        <a:t>可伸缩性</a:t>
                      </a:r>
                      <a:endParaRPr lang="zh-CN" altLang="en-US" sz="2400" b="0" dirty="0">
                        <a:solidFill>
                          <a:srgbClr val="4F4F4F"/>
                        </a:solidFill>
                        <a:effectLst/>
                      </a:endParaRPr>
                    </a:p>
                  </a:txBody>
                  <a:tcPr marL="60960" marR="60960" marT="60960" marB="60960"/>
                </a:tc>
                <a:tc>
                  <a:txBody>
                    <a:bodyPr/>
                    <a:lstStyle/>
                    <a:p>
                      <a:pPr algn="just" fontAlgn="t"/>
                      <a:r>
                        <a:rPr lang="zh-CN" altLang="en-US" sz="2400" b="0">
                          <a:solidFill>
                            <a:srgbClr val="4F4F4F"/>
                          </a:solidFill>
                          <a:effectLst/>
                        </a:rPr>
                        <a:t>支持节点的动态加入或退出</a:t>
                      </a:r>
                      <a:endParaRPr lang="zh-CN" altLang="en-US" sz="2400" b="0">
                        <a:solidFill>
                          <a:srgbClr val="4F4F4F"/>
                        </a:solidFill>
                        <a:effectLst/>
                      </a:endParaRPr>
                    </a:p>
                  </a:txBody>
                  <a:tcPr marL="60960" marR="60960" marT="60960" marB="60960"/>
                </a:tc>
                <a:tc>
                  <a:txBody>
                    <a:bodyPr/>
                    <a:lstStyle/>
                    <a:p>
                      <a:pPr algn="just" fontAlgn="t"/>
                      <a:r>
                        <a:rPr lang="zh-CN" altLang="en-US" sz="2400" b="0" dirty="0">
                          <a:solidFill>
                            <a:srgbClr val="4F4F4F"/>
                          </a:solidFill>
                          <a:effectLst/>
                        </a:rPr>
                        <a:t>建立在大规模廉价机器上的分布式文件系统集群，具有很多的可伸缩性</a:t>
                      </a:r>
                      <a:endParaRPr lang="zh-CN" altLang="en-US" sz="2400" b="0" dirty="0">
                        <a:solidFill>
                          <a:srgbClr val="4F4F4F"/>
                        </a:solidFill>
                        <a:effectLst/>
                      </a:endParaRPr>
                    </a:p>
                  </a:txBody>
                  <a:tcPr marL="60960" marR="60960" marT="60960" marB="60960"/>
                </a:tc>
              </a:tr>
              <a:tr h="1256665">
                <a:tc>
                  <a:txBody>
                    <a:bodyPr/>
                    <a:lstStyle/>
                    <a:p>
                      <a:pPr algn="just" fontAlgn="t"/>
                      <a:r>
                        <a:rPr lang="zh-CN" altLang="en-US" sz="2400" b="0" dirty="0">
                          <a:solidFill>
                            <a:srgbClr val="4F4F4F"/>
                          </a:solidFill>
                          <a:effectLst/>
                        </a:rPr>
                        <a:t>容错</a:t>
                      </a:r>
                      <a:endParaRPr lang="zh-CN" altLang="en-US" sz="2400" b="0" dirty="0">
                        <a:solidFill>
                          <a:srgbClr val="4F4F4F"/>
                        </a:solidFill>
                        <a:effectLst/>
                      </a:endParaRPr>
                    </a:p>
                  </a:txBody>
                  <a:tcPr marL="60960" marR="60960" marT="60960" marB="60960"/>
                </a:tc>
                <a:tc>
                  <a:txBody>
                    <a:bodyPr/>
                    <a:lstStyle/>
                    <a:p>
                      <a:pPr algn="just" fontAlgn="t"/>
                      <a:r>
                        <a:rPr lang="zh-CN" altLang="en-US" sz="2400" b="0">
                          <a:solidFill>
                            <a:srgbClr val="4F4F4F"/>
                          </a:solidFill>
                          <a:effectLst/>
                        </a:rPr>
                        <a:t>保证文件服务在客户端或者服务端出现问题的时候能正常使用</a:t>
                      </a:r>
                      <a:endParaRPr lang="zh-CN" altLang="en-US" sz="2400" b="0">
                        <a:solidFill>
                          <a:srgbClr val="4F4F4F"/>
                        </a:solidFill>
                        <a:effectLst/>
                      </a:endParaRPr>
                    </a:p>
                  </a:txBody>
                  <a:tcPr marL="60960" marR="60960" marT="60960" marB="60960"/>
                </a:tc>
                <a:tc>
                  <a:txBody>
                    <a:bodyPr/>
                    <a:lstStyle/>
                    <a:p>
                      <a:pPr algn="just" fontAlgn="t"/>
                      <a:r>
                        <a:rPr lang="zh-CN" altLang="en-US" sz="2400" b="0" dirty="0">
                          <a:solidFill>
                            <a:srgbClr val="4F4F4F"/>
                          </a:solidFill>
                          <a:effectLst/>
                        </a:rPr>
                        <a:t>具有多副本机制和故障自动检测、恢复机制</a:t>
                      </a:r>
                      <a:endParaRPr lang="zh-CN" altLang="en-US" sz="2400" b="0" dirty="0">
                        <a:solidFill>
                          <a:srgbClr val="4F4F4F"/>
                        </a:solidFill>
                        <a:effectLst/>
                      </a:endParaRPr>
                    </a:p>
                  </a:txBody>
                  <a:tcPr marL="60960" marR="60960" marT="60960" marB="60960"/>
                </a:tc>
              </a:tr>
              <a:tr h="691515">
                <a:tc>
                  <a:txBody>
                    <a:bodyPr/>
                    <a:lstStyle/>
                    <a:p>
                      <a:pPr algn="just" fontAlgn="t"/>
                      <a:r>
                        <a:rPr lang="zh-CN" altLang="en-US" sz="2400" b="0" dirty="0">
                          <a:solidFill>
                            <a:srgbClr val="4F4F4F"/>
                          </a:solidFill>
                          <a:effectLst/>
                        </a:rPr>
                        <a:t>安全</a:t>
                      </a:r>
                      <a:endParaRPr lang="zh-CN" altLang="en-US" sz="2400" b="0" dirty="0">
                        <a:solidFill>
                          <a:srgbClr val="4F4F4F"/>
                        </a:solidFill>
                        <a:effectLst/>
                      </a:endParaRPr>
                    </a:p>
                  </a:txBody>
                  <a:tcPr marL="60960" marR="60960" marT="60960" marB="60960"/>
                </a:tc>
                <a:tc>
                  <a:txBody>
                    <a:bodyPr/>
                    <a:lstStyle/>
                    <a:p>
                      <a:pPr algn="just" fontAlgn="t"/>
                      <a:r>
                        <a:rPr lang="zh-CN" altLang="en-US" sz="2400" b="0">
                          <a:solidFill>
                            <a:srgbClr val="4F4F4F"/>
                          </a:solidFill>
                          <a:effectLst/>
                        </a:rPr>
                        <a:t>保障系统的安全性</a:t>
                      </a:r>
                      <a:endParaRPr lang="zh-CN" altLang="en-US" sz="2400" b="0">
                        <a:solidFill>
                          <a:srgbClr val="4F4F4F"/>
                        </a:solidFill>
                        <a:effectLst/>
                      </a:endParaRPr>
                    </a:p>
                  </a:txBody>
                  <a:tcPr marL="60960" marR="60960" marT="60960" marB="60960"/>
                </a:tc>
                <a:tc>
                  <a:txBody>
                    <a:bodyPr/>
                    <a:lstStyle/>
                    <a:p>
                      <a:pPr algn="just" fontAlgn="t"/>
                      <a:r>
                        <a:rPr lang="zh-CN" altLang="en-US" sz="2400" b="0" dirty="0">
                          <a:solidFill>
                            <a:srgbClr val="4F4F4F"/>
                          </a:solidFill>
                          <a:effectLst/>
                        </a:rPr>
                        <a:t>安全性较弱</a:t>
                      </a:r>
                      <a:endParaRPr lang="zh-CN" altLang="en-US" sz="2400" b="0" dirty="0">
                        <a:solidFill>
                          <a:srgbClr val="4F4F4F"/>
                        </a:solidFill>
                        <a:effectLst/>
                      </a:endParaRPr>
                    </a:p>
                  </a:txBody>
                  <a:tcPr marL="60960" marR="60960" marT="60960" marB="6096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话气泡: 圆角矩形 6"/>
          <p:cNvSpPr/>
          <p:nvPr/>
        </p:nvSpPr>
        <p:spPr>
          <a:xfrm>
            <a:off x="2113280" y="1604170"/>
            <a:ext cx="3535362" cy="873760"/>
          </a:xfrm>
          <a:prstGeom prst="wedgeRoundRectCallout">
            <a:avLst>
              <a:gd name="adj1" fmla="val -47093"/>
              <a:gd name="adj2" fmla="val 154362"/>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放松了一些</a:t>
            </a:r>
            <a:r>
              <a:rPr lang="en-US" altLang="zh-CN" dirty="0"/>
              <a:t>POSIX</a:t>
            </a:r>
            <a:endParaRPr lang="en-US" altLang="zh-CN" dirty="0"/>
          </a:p>
          <a:p>
            <a:pPr algn="ctr"/>
            <a:r>
              <a:rPr lang="zh-CN" altLang="en-US" dirty="0"/>
              <a:t>可移植操作系统接口</a:t>
            </a:r>
            <a:endParaRPr lang="en-US" altLang="zh-CN" dirty="0"/>
          </a:p>
          <a:p>
            <a:pPr algn="ctr"/>
            <a:r>
              <a:rPr lang="en-US" altLang="zh-CN" dirty="0"/>
              <a:t>(</a:t>
            </a:r>
            <a:r>
              <a:rPr lang="en-US" altLang="zh-CN" sz="1600" dirty="0"/>
              <a:t>Portable Operating System Interface)</a:t>
            </a:r>
            <a:endParaRPr lang="en-US" altLang="zh-CN" sz="2400" dirty="0"/>
          </a:p>
        </p:txBody>
      </p:sp>
      <p:sp>
        <p:nvSpPr>
          <p:cNvPr id="9218" name="标题 2"/>
          <p:cNvSpPr>
            <a:spLocks noGrp="1" noChangeArrowheads="1"/>
          </p:cNvSpPr>
          <p:nvPr>
            <p:ph type="title"/>
          </p:nvPr>
        </p:nvSpPr>
        <p:spPr/>
        <p:txBody>
          <a:bodyPr/>
          <a:lstStyle/>
          <a:p>
            <a:pPr marL="342900" indent="-342900"/>
            <a:r>
              <a:rPr lang="en-US" altLang="en-US" b="1" dirty="0"/>
              <a:t>3.2	</a:t>
            </a:r>
            <a:r>
              <a:rPr lang="en-US" altLang="en-US" b="1" dirty="0" err="1"/>
              <a:t>HDFS简介</a:t>
            </a:r>
            <a:endParaRPr lang="zh-CN" altLang="en-US" b="1" dirty="0"/>
          </a:p>
        </p:txBody>
      </p:sp>
      <p:sp>
        <p:nvSpPr>
          <p:cNvPr id="3" name="文本占位符 2"/>
          <p:cNvSpPr>
            <a:spLocks noGrp="1"/>
          </p:cNvSpPr>
          <p:nvPr>
            <p:ph type="body" idx="1"/>
          </p:nvPr>
        </p:nvSpPr>
        <p:spPr/>
        <p:txBody>
          <a:bodyPr>
            <a:normAutofit/>
          </a:bodyPr>
          <a:lstStyle/>
          <a:p>
            <a:r>
              <a:rPr lang="zh-CN" altLang="en-US" sz="3600" dirty="0"/>
              <a:t>优点</a:t>
            </a:r>
            <a:endParaRPr lang="zh-CN" altLang="en-US" sz="3600" dirty="0"/>
          </a:p>
        </p:txBody>
      </p:sp>
      <p:sp>
        <p:nvSpPr>
          <p:cNvPr id="4" name="内容占位符 3"/>
          <p:cNvSpPr>
            <a:spLocks noGrp="1"/>
          </p:cNvSpPr>
          <p:nvPr>
            <p:ph sz="half" idx="2"/>
          </p:nvPr>
        </p:nvSpPr>
        <p:spPr/>
        <p:txBody>
          <a:bodyPr>
            <a:normAutofit fontScale="92500" lnSpcReduction="20000"/>
          </a:bodyPr>
          <a:lstStyle/>
          <a:p>
            <a:pPr eaLnBrk="1" hangingPunct="1">
              <a:lnSpc>
                <a:spcPct val="150000"/>
              </a:lnSpc>
              <a:buFont typeface="Wingdings" panose="05000000000000000000" pitchFamily="2" charset="2"/>
              <a:buChar char="ü"/>
            </a:pPr>
            <a:r>
              <a:rPr lang="zh-CN" altLang="en-US" b="1" dirty="0"/>
              <a:t>兼容廉价的硬件设备</a:t>
            </a:r>
            <a:endParaRPr lang="en-US" altLang="zh-CN" dirty="0"/>
          </a:p>
          <a:p>
            <a:pPr eaLnBrk="1" hangingPunct="1">
              <a:lnSpc>
                <a:spcPct val="150000"/>
              </a:lnSpc>
              <a:buFont typeface="Wingdings" panose="05000000000000000000" pitchFamily="2" charset="2"/>
              <a:buChar char="ü"/>
            </a:pPr>
            <a:r>
              <a:rPr lang="zh-CN" altLang="en-US" b="1" dirty="0"/>
              <a:t>流数据读写</a:t>
            </a:r>
            <a:endParaRPr lang="zh-CN" altLang="en-US" dirty="0"/>
          </a:p>
          <a:p>
            <a:pPr eaLnBrk="1" hangingPunct="1">
              <a:lnSpc>
                <a:spcPct val="150000"/>
              </a:lnSpc>
              <a:buFont typeface="Wingdings" panose="05000000000000000000" pitchFamily="2" charset="2"/>
              <a:buChar char="ü"/>
            </a:pPr>
            <a:r>
              <a:rPr lang="zh-CN" altLang="en-US" b="1" dirty="0"/>
              <a:t>大数据集</a:t>
            </a:r>
            <a:endParaRPr lang="zh-CN" altLang="en-US" dirty="0"/>
          </a:p>
          <a:p>
            <a:pPr eaLnBrk="1" hangingPunct="1">
              <a:lnSpc>
                <a:spcPct val="150000"/>
              </a:lnSpc>
              <a:buFont typeface="Wingdings" panose="05000000000000000000" pitchFamily="2" charset="2"/>
              <a:buChar char="ü"/>
            </a:pPr>
            <a:r>
              <a:rPr lang="zh-CN" altLang="en-US" b="1" dirty="0"/>
              <a:t>简单的文件模型</a:t>
            </a:r>
            <a:endParaRPr lang="zh-CN" altLang="en-US" dirty="0"/>
          </a:p>
          <a:p>
            <a:pPr eaLnBrk="1" hangingPunct="1">
              <a:lnSpc>
                <a:spcPct val="150000"/>
              </a:lnSpc>
              <a:buFont typeface="Wingdings" panose="05000000000000000000" pitchFamily="2" charset="2"/>
              <a:buChar char="ü"/>
            </a:pPr>
            <a:r>
              <a:rPr lang="zh-CN" altLang="en-US" b="1" dirty="0"/>
              <a:t>强大的跨平台兼容性</a:t>
            </a:r>
            <a:endParaRPr lang="zh-CN" altLang="en-US" dirty="0"/>
          </a:p>
        </p:txBody>
      </p:sp>
      <p:sp>
        <p:nvSpPr>
          <p:cNvPr id="5" name="文本占位符 4"/>
          <p:cNvSpPr>
            <a:spLocks noGrp="1"/>
          </p:cNvSpPr>
          <p:nvPr>
            <p:ph type="body" sz="quarter" idx="3"/>
          </p:nvPr>
        </p:nvSpPr>
        <p:spPr/>
        <p:txBody>
          <a:bodyPr>
            <a:normAutofit/>
          </a:bodyPr>
          <a:lstStyle/>
          <a:p>
            <a:r>
              <a:rPr lang="zh-CN" altLang="en-US" sz="3600" dirty="0"/>
              <a:t>缺点</a:t>
            </a:r>
            <a:endParaRPr lang="zh-CN" altLang="en-US" sz="3600" dirty="0"/>
          </a:p>
        </p:txBody>
      </p:sp>
      <p:sp>
        <p:nvSpPr>
          <p:cNvPr id="6" name="内容占位符 5"/>
          <p:cNvSpPr>
            <a:spLocks noGrp="1"/>
          </p:cNvSpPr>
          <p:nvPr>
            <p:ph sz="quarter" idx="4"/>
          </p:nvPr>
        </p:nvSpPr>
        <p:spPr>
          <a:xfrm>
            <a:off x="6172200" y="2505075"/>
            <a:ext cx="5877560" cy="3684588"/>
          </a:xfrm>
        </p:spPr>
        <p:txBody>
          <a:bodyPr>
            <a:normAutofit fontScale="92500" lnSpcReduction="20000"/>
          </a:bodyPr>
          <a:lstStyle/>
          <a:p>
            <a:pPr eaLnBrk="1" hangingPunct="1">
              <a:lnSpc>
                <a:spcPct val="160000"/>
              </a:lnSpc>
              <a:buFont typeface="Wingdings" panose="05000000000000000000" pitchFamily="2" charset="2"/>
              <a:buChar char="p"/>
            </a:pPr>
            <a:r>
              <a:rPr lang="zh-CN" altLang="en-US" b="1" dirty="0"/>
              <a:t>不适合低延迟数据访问</a:t>
            </a:r>
            <a:endParaRPr lang="zh-CN" altLang="en-US" dirty="0"/>
          </a:p>
          <a:p>
            <a:pPr eaLnBrk="1" hangingPunct="1">
              <a:lnSpc>
                <a:spcPct val="160000"/>
              </a:lnSpc>
              <a:buFont typeface="Wingdings" panose="05000000000000000000" pitchFamily="2" charset="2"/>
              <a:buChar char="p"/>
            </a:pPr>
            <a:r>
              <a:rPr lang="zh-CN" altLang="en-US" b="1" dirty="0"/>
              <a:t>无法高效存储大量小文件</a:t>
            </a:r>
            <a:endParaRPr lang="en-US" altLang="zh-CN" b="1" dirty="0"/>
          </a:p>
          <a:p>
            <a:pPr lvl="1">
              <a:lnSpc>
                <a:spcPct val="160000"/>
              </a:lnSpc>
              <a:buFont typeface="Wingdings" panose="05000000000000000000" pitchFamily="2" charset="2"/>
              <a:buChar char="p"/>
            </a:pPr>
            <a:r>
              <a:rPr lang="zh-CN" altLang="en-US" b="1" dirty="0"/>
              <a:t>实际存储位置</a:t>
            </a:r>
            <a:endParaRPr lang="en-US" altLang="zh-CN" b="1" dirty="0"/>
          </a:p>
          <a:p>
            <a:pPr lvl="1">
              <a:lnSpc>
                <a:spcPct val="160000"/>
              </a:lnSpc>
              <a:buFont typeface="Wingdings" panose="05000000000000000000" pitchFamily="2" charset="2"/>
              <a:buChar char="p"/>
            </a:pPr>
            <a:r>
              <a:rPr lang="zh-CN" altLang="en-US" b="1" dirty="0"/>
              <a:t>过多</a:t>
            </a:r>
            <a:r>
              <a:rPr lang="en-US" altLang="zh-CN" b="1" dirty="0"/>
              <a:t>Map</a:t>
            </a:r>
            <a:r>
              <a:rPr lang="zh-CN" altLang="en-US" b="1" dirty="0"/>
              <a:t>任务</a:t>
            </a:r>
            <a:endParaRPr lang="en-US" altLang="zh-CN" b="1" dirty="0"/>
          </a:p>
          <a:p>
            <a:pPr lvl="1">
              <a:lnSpc>
                <a:spcPct val="160000"/>
              </a:lnSpc>
              <a:buFont typeface="Wingdings" panose="05000000000000000000" pitchFamily="2" charset="2"/>
              <a:buChar char="p"/>
            </a:pPr>
            <a:r>
              <a:rPr lang="zh-CN" altLang="en-US" dirty="0"/>
              <a:t>数据节点跳跃</a:t>
            </a:r>
            <a:endParaRPr lang="zh-CN" altLang="en-US" dirty="0"/>
          </a:p>
          <a:p>
            <a:pPr eaLnBrk="1" hangingPunct="1">
              <a:lnSpc>
                <a:spcPct val="160000"/>
              </a:lnSpc>
              <a:buFont typeface="Wingdings" panose="05000000000000000000" pitchFamily="2" charset="2"/>
              <a:buChar char="p"/>
            </a:pPr>
            <a:r>
              <a:rPr lang="zh-CN" altLang="en-US" b="1" dirty="0"/>
              <a:t>不支持多用户写入及任意修改文件</a:t>
            </a:r>
            <a:endParaRPr lang="zh-CN" altLang="en-US" dirty="0"/>
          </a:p>
          <a:p>
            <a:endParaRPr lang="zh-CN" altLang="en-US" dirty="0"/>
          </a:p>
        </p:txBody>
      </p:sp>
      <p:sp>
        <p:nvSpPr>
          <p:cNvPr id="8" name="对话气泡: 圆角矩形 7"/>
          <p:cNvSpPr/>
          <p:nvPr/>
        </p:nvSpPr>
        <p:spPr>
          <a:xfrm>
            <a:off x="3647440" y="3716975"/>
            <a:ext cx="1719580" cy="873760"/>
          </a:xfrm>
          <a:prstGeom prst="wedgeRoundRectCallout">
            <a:avLst>
              <a:gd name="adj1" fmla="val -52080"/>
              <a:gd name="adj2" fmla="val 78780"/>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eaLnBrk="1" hangingPunct="1"/>
            <a:r>
              <a:rPr lang="zh-CN" altLang="en-US" sz="2400" dirty="0"/>
              <a:t>一次写入</a:t>
            </a:r>
            <a:endParaRPr lang="en-US" altLang="zh-CN" sz="2400" dirty="0"/>
          </a:p>
          <a:p>
            <a:pPr algn="ctr" eaLnBrk="1" hangingPunct="1"/>
            <a:r>
              <a:rPr lang="zh-CN" altLang="en-US" sz="2400" dirty="0"/>
              <a:t>多次读取</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b="1" dirty="0"/>
              <a:t>3.3 HDFS</a:t>
            </a:r>
            <a:r>
              <a:rPr lang="zh-CN" altLang="en-US" b="1" dirty="0"/>
              <a:t>的相关概念</a:t>
            </a:r>
            <a:endParaRPr lang="zh-CN" altLang="en-US" b="1" dirty="0"/>
          </a:p>
        </p:txBody>
      </p:sp>
      <p:sp>
        <p:nvSpPr>
          <p:cNvPr id="9" name="内容占位符 8"/>
          <p:cNvSpPr>
            <a:spLocks noGrp="1"/>
          </p:cNvSpPr>
          <p:nvPr>
            <p:ph idx="1"/>
          </p:nvPr>
        </p:nvSpPr>
        <p:spPr/>
        <p:txBody>
          <a:bodyPr>
            <a:normAutofit fontScale="92500" lnSpcReduction="20000"/>
          </a:bodyPr>
          <a:lstStyle/>
          <a:p>
            <a:pPr>
              <a:lnSpc>
                <a:spcPct val="150000"/>
              </a:lnSpc>
            </a:pPr>
            <a:r>
              <a:rPr lang="zh-CN" altLang="en-US" dirty="0"/>
              <a:t>块：数据读写基本单元</a:t>
            </a:r>
            <a:endParaRPr lang="en-US" altLang="zh-CN" dirty="0"/>
          </a:p>
          <a:p>
            <a:pPr>
              <a:lnSpc>
                <a:spcPct val="150000"/>
              </a:lnSpc>
            </a:pPr>
            <a:r>
              <a:rPr lang="zh-CN" altLang="en-US" dirty="0"/>
              <a:t>名称节点：</a:t>
            </a:r>
            <a:r>
              <a:rPr lang="en-US" altLang="zh-CN" dirty="0" err="1"/>
              <a:t>NameNode</a:t>
            </a:r>
            <a:r>
              <a:rPr lang="zh-CN" altLang="en-US" dirty="0"/>
              <a:t>，负责协调集群中的数据存储</a:t>
            </a:r>
            <a:endParaRPr lang="zh-CN" altLang="en-US" dirty="0"/>
          </a:p>
          <a:p>
            <a:pPr>
              <a:lnSpc>
                <a:spcPct val="150000"/>
              </a:lnSpc>
            </a:pPr>
            <a:r>
              <a:rPr lang="zh-CN" altLang="en-US" dirty="0"/>
              <a:t>数据节点：</a:t>
            </a:r>
            <a:r>
              <a:rPr lang="en-US" altLang="zh-CN" dirty="0" err="1"/>
              <a:t>DataNode</a:t>
            </a:r>
            <a:r>
              <a:rPr lang="zh-CN" altLang="en-US" dirty="0"/>
              <a:t>，存储被拆分的数据块</a:t>
            </a:r>
            <a:endParaRPr lang="zh-CN" altLang="en-US" dirty="0"/>
          </a:p>
          <a:p>
            <a:pPr>
              <a:lnSpc>
                <a:spcPct val="150000"/>
              </a:lnSpc>
            </a:pPr>
            <a:r>
              <a:rPr lang="en-US" altLang="zh-CN" dirty="0" err="1">
                <a:solidFill>
                  <a:schemeClr val="bg1">
                    <a:lumMod val="65000"/>
                  </a:schemeClr>
                </a:solidFill>
              </a:rPr>
              <a:t>JobTracker</a:t>
            </a:r>
            <a:r>
              <a:rPr lang="zh-CN" altLang="en-US" dirty="0">
                <a:solidFill>
                  <a:schemeClr val="bg1">
                    <a:lumMod val="65000"/>
                  </a:schemeClr>
                </a:solidFill>
              </a:rPr>
              <a:t>：协调数据计算任务</a:t>
            </a:r>
            <a:endParaRPr lang="zh-CN" altLang="en-US" dirty="0">
              <a:solidFill>
                <a:schemeClr val="bg1">
                  <a:lumMod val="65000"/>
                </a:schemeClr>
              </a:solidFill>
            </a:endParaRPr>
          </a:p>
          <a:p>
            <a:pPr>
              <a:lnSpc>
                <a:spcPct val="150000"/>
              </a:lnSpc>
            </a:pPr>
            <a:r>
              <a:rPr lang="en-US" altLang="zh-CN" dirty="0" err="1">
                <a:solidFill>
                  <a:schemeClr val="bg1">
                    <a:lumMod val="65000"/>
                  </a:schemeClr>
                </a:solidFill>
              </a:rPr>
              <a:t>TaskTracker</a:t>
            </a:r>
            <a:r>
              <a:rPr lang="zh-CN" altLang="en-US" dirty="0">
                <a:solidFill>
                  <a:schemeClr val="bg1">
                    <a:lumMod val="65000"/>
                  </a:schemeClr>
                </a:solidFill>
              </a:rPr>
              <a:t>：负责执行由</a:t>
            </a:r>
            <a:r>
              <a:rPr lang="en-US" altLang="zh-CN" dirty="0" err="1">
                <a:solidFill>
                  <a:schemeClr val="bg1">
                    <a:lumMod val="65000"/>
                  </a:schemeClr>
                </a:solidFill>
              </a:rPr>
              <a:t>JobTracker</a:t>
            </a:r>
            <a:r>
              <a:rPr lang="zh-CN" altLang="en-US" dirty="0">
                <a:solidFill>
                  <a:schemeClr val="bg1">
                    <a:lumMod val="65000"/>
                  </a:schemeClr>
                </a:solidFill>
              </a:rPr>
              <a:t>指派的任务</a:t>
            </a:r>
            <a:endParaRPr lang="zh-CN" altLang="en-US" dirty="0">
              <a:solidFill>
                <a:schemeClr val="bg1">
                  <a:lumMod val="65000"/>
                </a:schemeClr>
              </a:solidFill>
            </a:endParaRPr>
          </a:p>
          <a:p>
            <a:pPr>
              <a:lnSpc>
                <a:spcPct val="150000"/>
              </a:lnSpc>
            </a:pPr>
            <a:r>
              <a:rPr lang="zh-CN" altLang="en-US" dirty="0"/>
              <a:t>第二节点：</a:t>
            </a:r>
            <a:r>
              <a:rPr lang="en-US" altLang="zh-CN" dirty="0" err="1"/>
              <a:t>SecondaryNameNode</a:t>
            </a:r>
            <a:r>
              <a:rPr lang="zh-CN" altLang="en-US" dirty="0"/>
              <a:t>，帮助</a:t>
            </a:r>
            <a:r>
              <a:rPr lang="en-US" altLang="zh-CN" dirty="0" err="1"/>
              <a:t>NameNode</a:t>
            </a:r>
            <a:r>
              <a:rPr lang="zh-CN" altLang="en-US" dirty="0"/>
              <a:t>收集文件系统运行的状态信息</a:t>
            </a:r>
            <a:endParaRPr lang="zh-CN" altLang="en-US" dirty="0"/>
          </a:p>
          <a:p>
            <a:endParaRPr lang="zh-CN" altLang="en-US" dirty="0"/>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marL="342900" indent="-342900"/>
            <a:r>
              <a:rPr lang="en-US" altLang="en-US" b="1" dirty="0"/>
              <a:t>3.3.1	块</a:t>
            </a:r>
            <a:endParaRPr lang="zh-CN" altLang="en-US" b="1" dirty="0"/>
          </a:p>
        </p:txBody>
      </p:sp>
      <p:sp>
        <p:nvSpPr>
          <p:cNvPr id="2" name="矩形 1"/>
          <p:cNvSpPr/>
          <p:nvPr/>
        </p:nvSpPr>
        <p:spPr>
          <a:xfrm>
            <a:off x="1178381" y="2086929"/>
            <a:ext cx="4064180" cy="3185160"/>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CN" sz="2400" dirty="0"/>
              <a:t>OS</a:t>
            </a:r>
            <a:r>
              <a:rPr lang="zh-CN" altLang="en-US" sz="2400" dirty="0"/>
              <a:t>文件组织成块</a:t>
            </a:r>
            <a:endParaRPr lang="en-US" altLang="zh-CN" sz="2400" dirty="0"/>
          </a:p>
          <a:p>
            <a:r>
              <a:rPr lang="zh-CN" altLang="en-US" sz="2400" dirty="0"/>
              <a:t>倾向于大块：</a:t>
            </a:r>
            <a:endParaRPr lang="en-US" altLang="zh-CN" sz="2400" dirty="0"/>
          </a:p>
          <a:p>
            <a:endParaRPr lang="en-US" altLang="zh-CN" sz="2400" dirty="0"/>
          </a:p>
          <a:p>
            <a:r>
              <a:rPr lang="zh-CN" altLang="en-US" sz="2400" dirty="0"/>
              <a:t>一次</a:t>
            </a:r>
            <a:r>
              <a:rPr lang="en-US" altLang="zh-CN" sz="2400" dirty="0"/>
              <a:t>I/O</a:t>
            </a:r>
            <a:r>
              <a:rPr lang="zh-CN" altLang="en-US" sz="2400" dirty="0"/>
              <a:t>传送记录多；</a:t>
            </a:r>
            <a:endParaRPr lang="en-US" altLang="zh-CN" sz="2400" dirty="0"/>
          </a:p>
          <a:p>
            <a:r>
              <a:rPr lang="zh-CN" altLang="en-US" sz="2400" dirty="0"/>
              <a:t>利于顺序处理和查找文件；</a:t>
            </a:r>
            <a:endParaRPr lang="en-US" altLang="zh-CN" sz="2400" dirty="0"/>
          </a:p>
          <a:p>
            <a:endParaRPr lang="en-US" altLang="zh-CN" sz="2400" dirty="0"/>
          </a:p>
          <a:p>
            <a:r>
              <a:rPr lang="zh-CN" altLang="en-US" sz="2400" dirty="0"/>
              <a:t>顺序访问的高频率；</a:t>
            </a:r>
            <a:endParaRPr lang="en-US" altLang="zh-CN" sz="2400" dirty="0"/>
          </a:p>
          <a:p>
            <a:r>
              <a:rPr lang="zh-CN" altLang="en-US" sz="2400" dirty="0"/>
              <a:t>潜在的局部性。</a:t>
            </a:r>
            <a:endParaRPr lang="zh-CN" altLang="en-US" sz="2400" dirty="0"/>
          </a:p>
        </p:txBody>
      </p:sp>
      <p:sp>
        <p:nvSpPr>
          <p:cNvPr id="4" name="文本框 3"/>
          <p:cNvSpPr txBox="1"/>
          <p:nvPr/>
        </p:nvSpPr>
        <p:spPr>
          <a:xfrm>
            <a:off x="6949440" y="1967990"/>
            <a:ext cx="3718560" cy="3585597"/>
          </a:xfrm>
          <a:prstGeom prst="rect">
            <a:avLst/>
          </a:prstGeom>
          <a:solidFill>
            <a:schemeClr val="bg2"/>
          </a:solidFill>
        </p:spPr>
        <p:txBody>
          <a:bodyPr wrap="square">
            <a:spAutoFit/>
          </a:bodyPr>
          <a:lstStyle/>
          <a:p>
            <a:pPr marL="0" indent="0">
              <a:spcAft>
                <a:spcPts val="600"/>
              </a:spcAft>
              <a:buNone/>
            </a:pPr>
            <a:r>
              <a:rPr lang="en-US" altLang="zh-CN" sz="2400" dirty="0"/>
              <a:t>HDFS</a:t>
            </a:r>
            <a:endParaRPr lang="en-US" altLang="zh-CN" sz="2400" dirty="0"/>
          </a:p>
          <a:p>
            <a:pPr marL="0" indent="0">
              <a:spcAft>
                <a:spcPts val="600"/>
              </a:spcAft>
              <a:buNone/>
            </a:pPr>
            <a:r>
              <a:rPr lang="zh-CN" altLang="en-US" sz="2400" dirty="0"/>
              <a:t>默认一个块</a:t>
            </a:r>
            <a:r>
              <a:rPr lang="en-US" altLang="zh-CN" sz="2400" dirty="0"/>
              <a:t>64MB</a:t>
            </a:r>
            <a:endParaRPr lang="en-US" altLang="zh-CN" sz="2400" dirty="0"/>
          </a:p>
          <a:p>
            <a:pPr marL="0" indent="0">
              <a:spcAft>
                <a:spcPts val="600"/>
              </a:spcAft>
              <a:buNone/>
            </a:pPr>
            <a:endParaRPr lang="en-US" altLang="zh-CN" sz="2400" dirty="0"/>
          </a:p>
          <a:p>
            <a:pPr marL="0" indent="0">
              <a:spcAft>
                <a:spcPts val="600"/>
              </a:spcAft>
              <a:buNone/>
            </a:pPr>
            <a:r>
              <a:rPr lang="zh-CN" altLang="en-US" sz="2400" dirty="0"/>
              <a:t>可以最小化寻址开销：</a:t>
            </a:r>
            <a:endParaRPr lang="en-US" altLang="zh-CN" sz="2400" dirty="0"/>
          </a:p>
          <a:p>
            <a:pPr marL="0" indent="0">
              <a:spcAft>
                <a:spcPts val="600"/>
              </a:spcAft>
              <a:buNone/>
            </a:pPr>
            <a:r>
              <a:rPr lang="zh-CN" altLang="en-US" sz="2400" dirty="0"/>
              <a:t>寻道开销</a:t>
            </a:r>
            <a:endParaRPr lang="en-US" altLang="zh-CN" sz="2400" dirty="0"/>
          </a:p>
          <a:p>
            <a:pPr marL="0" indent="0">
              <a:spcAft>
                <a:spcPts val="600"/>
              </a:spcAft>
              <a:buNone/>
            </a:pPr>
            <a:r>
              <a:rPr lang="zh-CN" altLang="en-US" sz="2400" dirty="0"/>
              <a:t>定位开销</a:t>
            </a:r>
            <a:endParaRPr lang="en-US" altLang="zh-CN" sz="2400" dirty="0"/>
          </a:p>
          <a:p>
            <a:pPr marL="0" indent="0">
              <a:spcAft>
                <a:spcPts val="600"/>
              </a:spcAft>
              <a:buNone/>
            </a:pPr>
            <a:endParaRPr lang="en-US" altLang="zh-CN" sz="2400" dirty="0"/>
          </a:p>
          <a:p>
            <a:pPr marL="0" indent="0">
              <a:spcAft>
                <a:spcPts val="600"/>
              </a:spcAft>
              <a:buNone/>
            </a:pPr>
            <a:r>
              <a:rPr lang="zh-CN" altLang="en-US" sz="2400" dirty="0"/>
              <a:t>太小块不利于并行</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marL="342900" indent="-342900"/>
            <a:r>
              <a:rPr lang="en-US" altLang="en-US" b="1" dirty="0"/>
              <a:t>3.3.1	块</a:t>
            </a:r>
            <a:r>
              <a:rPr lang="zh-CN" altLang="en-US" b="1" dirty="0"/>
              <a:t>的好处</a:t>
            </a:r>
            <a:endParaRPr lang="zh-CN" altLang="en-US" b="1" dirty="0"/>
          </a:p>
        </p:txBody>
      </p:sp>
      <p:sp>
        <p:nvSpPr>
          <p:cNvPr id="10243" name="Rectangle 3"/>
          <p:cNvSpPr>
            <a:spLocks noGrp="1" noChangeArrowheads="1"/>
          </p:cNvSpPr>
          <p:nvPr>
            <p:ph type="body" idx="4294967295"/>
          </p:nvPr>
        </p:nvSpPr>
        <p:spPr>
          <a:xfrm>
            <a:off x="914400" y="1690688"/>
            <a:ext cx="10149840" cy="4495800"/>
          </a:xfrm>
        </p:spPr>
        <p:txBody>
          <a:bodyPr>
            <a:normAutofit/>
          </a:bodyPr>
          <a:lstStyle/>
          <a:p>
            <a:pPr marL="0" indent="0">
              <a:spcAft>
                <a:spcPts val="600"/>
              </a:spcAft>
              <a:buNone/>
            </a:pPr>
            <a:r>
              <a:rPr lang="zh-CN" altLang="en-US" b="1" dirty="0"/>
              <a:t>支持大规模文件存储</a:t>
            </a:r>
            <a:endParaRPr lang="en-US" altLang="zh-CN" dirty="0"/>
          </a:p>
          <a:p>
            <a:pPr marL="0" indent="0">
              <a:spcAft>
                <a:spcPts val="600"/>
              </a:spcAft>
              <a:buNone/>
            </a:pPr>
            <a:r>
              <a:rPr lang="en-US" altLang="zh-CN" dirty="0"/>
              <a:t>	</a:t>
            </a:r>
            <a:r>
              <a:rPr lang="zh-CN" altLang="en-US" dirty="0"/>
              <a:t>文件的大小不会受到单个节点的存储容量的限制</a:t>
            </a:r>
            <a:endParaRPr lang="zh-CN" altLang="en-US" dirty="0"/>
          </a:p>
          <a:p>
            <a:pPr marL="0" indent="0">
              <a:spcAft>
                <a:spcPts val="600"/>
              </a:spcAft>
              <a:buNone/>
            </a:pPr>
            <a:r>
              <a:rPr lang="zh-CN" altLang="en-US" b="1" dirty="0"/>
              <a:t>简化系统设计</a:t>
            </a:r>
            <a:endParaRPr lang="en-US" altLang="zh-CN" b="1" dirty="0"/>
          </a:p>
          <a:p>
            <a:pPr marL="0" indent="0">
              <a:spcAft>
                <a:spcPts val="600"/>
              </a:spcAft>
              <a:buNone/>
            </a:pPr>
            <a:r>
              <a:rPr lang="en-US" altLang="zh-CN" dirty="0"/>
              <a:t>	</a:t>
            </a:r>
            <a:r>
              <a:rPr lang="zh-CN" altLang="en-US" dirty="0"/>
              <a:t>大大简化了存储管理</a:t>
            </a:r>
            <a:endParaRPr lang="en-US" altLang="zh-CN" dirty="0"/>
          </a:p>
          <a:p>
            <a:pPr marL="0" indent="0">
              <a:spcAft>
                <a:spcPts val="600"/>
              </a:spcAft>
              <a:buNone/>
            </a:pPr>
            <a:r>
              <a:rPr lang="en-US" altLang="zh-CN" dirty="0"/>
              <a:t>	</a:t>
            </a:r>
            <a:r>
              <a:rPr lang="zh-CN" altLang="en-US" dirty="0"/>
              <a:t>方便了元数据的管理</a:t>
            </a:r>
            <a:endParaRPr lang="zh-CN" altLang="en-US" dirty="0"/>
          </a:p>
          <a:p>
            <a:pPr marL="0" indent="0">
              <a:spcAft>
                <a:spcPts val="600"/>
              </a:spcAft>
              <a:buNone/>
            </a:pPr>
            <a:r>
              <a:rPr lang="zh-CN" altLang="en-US" b="1" dirty="0"/>
              <a:t>适合数据备份</a:t>
            </a:r>
            <a:endParaRPr lang="en-US" altLang="zh-CN" b="1" dirty="0"/>
          </a:p>
          <a:p>
            <a:pPr marL="0" indent="0">
              <a:spcAft>
                <a:spcPts val="600"/>
              </a:spcAft>
              <a:buNone/>
            </a:pPr>
            <a:r>
              <a:rPr lang="en-US" altLang="zh-CN" b="1" dirty="0"/>
              <a:t>	</a:t>
            </a:r>
            <a:r>
              <a:rPr lang="zh-CN" altLang="en-US" dirty="0"/>
              <a:t>冗余存储提高容错性和可用性</a:t>
            </a:r>
            <a:endParaRPr lang="zh-CN" altLang="en-US" dirty="0"/>
          </a:p>
          <a:p>
            <a:pPr marL="0" indent="0">
              <a:buNone/>
            </a:pP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27679" y="1584961"/>
            <a:ext cx="6711980" cy="5009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65859" y="4089718"/>
            <a:ext cx="1861820" cy="253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2"/>
          <p:cNvSpPr>
            <a:spLocks noGrp="1" noChangeArrowheads="1"/>
          </p:cNvSpPr>
          <p:nvPr>
            <p:ph type="title"/>
          </p:nvPr>
        </p:nvSpPr>
        <p:spPr/>
        <p:txBody>
          <a:bodyPr/>
          <a:lstStyle/>
          <a:p>
            <a:pPr marL="342900" indent="-342900"/>
            <a:r>
              <a:rPr lang="en-US" altLang="zh-CN" b="1"/>
              <a:t>3.3.2	</a:t>
            </a:r>
            <a:r>
              <a:rPr lang="zh-CN" altLang="en-US" b="1"/>
              <a:t>名称节点和数据节点</a:t>
            </a:r>
            <a:endParaRPr lang="zh-CN" altLang="en-US" b="1"/>
          </a:p>
        </p:txBody>
      </p:sp>
      <p:sp>
        <p:nvSpPr>
          <p:cNvPr id="2" name="对话气泡: 圆角矩形 1"/>
          <p:cNvSpPr/>
          <p:nvPr/>
        </p:nvSpPr>
        <p:spPr>
          <a:xfrm>
            <a:off x="328958" y="2648628"/>
            <a:ext cx="2123383" cy="1100455"/>
          </a:xfrm>
          <a:prstGeom prst="wedgeRoundRectCallout">
            <a:avLst>
              <a:gd name="adj1" fmla="val 36444"/>
              <a:gd name="adj2" fmla="val 7693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t>元数据：描述数据的数据</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circle(out)">
                                      <p:cBhvr>
                                        <p:cTn id="7" dur="20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marL="342900" indent="-342900"/>
            <a:r>
              <a:rPr lang="en-US" altLang="zh-CN" b="1" dirty="0"/>
              <a:t>3.3.2	</a:t>
            </a:r>
            <a:r>
              <a:rPr lang="zh-CN" altLang="en-US" b="1" dirty="0"/>
              <a:t>名称节点和数据节点</a:t>
            </a:r>
            <a:endParaRPr lang="zh-CN" altLang="en-US" b="1" dirty="0"/>
          </a:p>
        </p:txBody>
      </p:sp>
      <p:sp>
        <p:nvSpPr>
          <p:cNvPr id="12293" name="Rectangle 6"/>
          <p:cNvSpPr>
            <a:spLocks noChangeArrowheads="1"/>
          </p:cNvSpPr>
          <p:nvPr/>
        </p:nvSpPr>
        <p:spPr bwMode="auto">
          <a:xfrm>
            <a:off x="4411663" y="6275685"/>
            <a:ext cx="38779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t>图</a:t>
            </a:r>
            <a:r>
              <a:rPr lang="en-US" altLang="zh-CN" sz="2400"/>
              <a:t>3-3 </a:t>
            </a:r>
            <a:r>
              <a:rPr lang="zh-CN" altLang="en-US" sz="2400"/>
              <a:t>名称节点的数据结构 </a:t>
            </a:r>
            <a:endParaRPr lang="zh-CN" altLang="en-US" sz="2400"/>
          </a:p>
        </p:txBody>
      </p:sp>
      <p:sp>
        <p:nvSpPr>
          <p:cNvPr id="4" name="对话气泡: 圆角矩形 3"/>
          <p:cNvSpPr/>
          <p:nvPr/>
        </p:nvSpPr>
        <p:spPr>
          <a:xfrm>
            <a:off x="213360" y="1459908"/>
            <a:ext cx="2169160" cy="1100455"/>
          </a:xfrm>
          <a:prstGeom prst="wedgeRoundRectCallout">
            <a:avLst>
              <a:gd name="adj1" fmla="val 36444"/>
              <a:gd name="adj2" fmla="val 7693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t>负责管理分布式文件系统的命名空间</a:t>
            </a:r>
            <a:endParaRPr lang="zh-CN" altLang="en-US" sz="2400" dirty="0"/>
          </a:p>
        </p:txBody>
      </p:sp>
      <p:sp>
        <p:nvSpPr>
          <p:cNvPr id="5" name="对话气泡: 圆角矩形 4"/>
          <p:cNvSpPr/>
          <p:nvPr/>
        </p:nvSpPr>
        <p:spPr>
          <a:xfrm>
            <a:off x="345440" y="4396105"/>
            <a:ext cx="2479040" cy="1588135"/>
          </a:xfrm>
          <a:prstGeom prst="wedgeRoundRectCallout">
            <a:avLst>
              <a:gd name="adj1" fmla="val 65484"/>
              <a:gd name="adj2" fmla="val -103268"/>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t>维护文件系统树以及文件树中所有的文件和文件夹的元数据</a:t>
            </a:r>
            <a:endParaRPr lang="zh-CN" altLang="en-US" sz="2400" dirty="0"/>
          </a:p>
        </p:txBody>
      </p:sp>
      <p:sp>
        <p:nvSpPr>
          <p:cNvPr id="6" name="对话气泡: 圆角矩形 5"/>
          <p:cNvSpPr/>
          <p:nvPr/>
        </p:nvSpPr>
        <p:spPr>
          <a:xfrm>
            <a:off x="9129077" y="1140460"/>
            <a:ext cx="2865120" cy="1100455"/>
          </a:xfrm>
          <a:prstGeom prst="wedgeRoundRectCallout">
            <a:avLst>
              <a:gd name="adj1" fmla="val -75031"/>
              <a:gd name="adj2" fmla="val 172952"/>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t>每个文件中各个块所在的数据节点的位置信息</a:t>
            </a:r>
            <a:endParaRPr lang="zh-CN" altLang="en-US" sz="2400" dirty="0"/>
          </a:p>
        </p:txBody>
      </p:sp>
      <p:grpSp>
        <p:nvGrpSpPr>
          <p:cNvPr id="7" name="Group 3"/>
          <p:cNvGrpSpPr>
            <a:grpSpLocks noChangeAspect="1"/>
          </p:cNvGrpSpPr>
          <p:nvPr/>
        </p:nvGrpSpPr>
        <p:grpSpPr bwMode="auto">
          <a:xfrm>
            <a:off x="1995488" y="1938338"/>
            <a:ext cx="8732837" cy="4152900"/>
            <a:chOff x="1257" y="1221"/>
            <a:chExt cx="5501" cy="2616"/>
          </a:xfrm>
        </p:grpSpPr>
        <p:sp>
          <p:nvSpPr>
            <p:cNvPr id="8" name="AutoShape 2"/>
            <p:cNvSpPr>
              <a:spLocks noChangeAspect="1" noChangeArrowheads="1" noTextEdit="1"/>
            </p:cNvSpPr>
            <p:nvPr/>
          </p:nvSpPr>
          <p:spPr bwMode="auto">
            <a:xfrm>
              <a:off x="1257" y="1221"/>
              <a:ext cx="5501" cy="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 name="Rectangle 4"/>
            <p:cNvSpPr>
              <a:spLocks noChangeArrowheads="1"/>
            </p:cNvSpPr>
            <p:nvPr/>
          </p:nvSpPr>
          <p:spPr bwMode="auto">
            <a:xfrm>
              <a:off x="1257" y="1255"/>
              <a:ext cx="12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0" name="Group 54"/>
            <p:cNvGrpSpPr/>
            <p:nvPr/>
          </p:nvGrpSpPr>
          <p:grpSpPr bwMode="auto">
            <a:xfrm>
              <a:off x="1271" y="1233"/>
              <a:ext cx="5462" cy="2600"/>
              <a:chOff x="1271" y="1233"/>
              <a:chExt cx="5462" cy="2600"/>
            </a:xfrm>
          </p:grpSpPr>
          <p:sp>
            <p:nvSpPr>
              <p:cNvPr id="11" name="Rectangle 5"/>
              <p:cNvSpPr>
                <a:spLocks noChangeArrowheads="1"/>
              </p:cNvSpPr>
              <p:nvPr/>
            </p:nvSpPr>
            <p:spPr bwMode="auto">
              <a:xfrm>
                <a:off x="1271" y="1723"/>
                <a:ext cx="2271" cy="1359"/>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Rectangle 6"/>
              <p:cNvSpPr>
                <a:spLocks noChangeArrowheads="1"/>
              </p:cNvSpPr>
              <p:nvPr/>
            </p:nvSpPr>
            <p:spPr bwMode="auto">
              <a:xfrm>
                <a:off x="1292" y="1746"/>
                <a:ext cx="40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名称节点</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7"/>
              <p:cNvSpPr>
                <a:spLocks noChangeArrowheads="1"/>
              </p:cNvSpPr>
              <p:nvPr/>
            </p:nvSpPr>
            <p:spPr bwMode="auto">
              <a:xfrm>
                <a:off x="1915" y="1746"/>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4" name="Rectangle 8"/>
              <p:cNvSpPr>
                <a:spLocks noChangeArrowheads="1"/>
              </p:cNvSpPr>
              <p:nvPr/>
            </p:nvSpPr>
            <p:spPr bwMode="auto">
              <a:xfrm>
                <a:off x="1993" y="1746"/>
                <a:ext cx="73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NameNode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9"/>
              <p:cNvSpPr>
                <a:spLocks noChangeArrowheads="1"/>
              </p:cNvSpPr>
              <p:nvPr/>
            </p:nvSpPr>
            <p:spPr bwMode="auto">
              <a:xfrm>
                <a:off x="2617" y="1746"/>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Freeform 10"/>
              <p:cNvSpPr/>
              <p:nvPr/>
            </p:nvSpPr>
            <p:spPr bwMode="auto">
              <a:xfrm>
                <a:off x="1793" y="1996"/>
                <a:ext cx="1227" cy="434"/>
              </a:xfrm>
              <a:custGeom>
                <a:avLst/>
                <a:gdLst>
                  <a:gd name="T0" fmla="*/ 535 w 3023"/>
                  <a:gd name="T1" fmla="*/ 1070 h 1070"/>
                  <a:gd name="T2" fmla="*/ 2488 w 3023"/>
                  <a:gd name="T3" fmla="*/ 1070 h 1070"/>
                  <a:gd name="T4" fmla="*/ 3023 w 3023"/>
                  <a:gd name="T5" fmla="*/ 535 h 1070"/>
                  <a:gd name="T6" fmla="*/ 2488 w 3023"/>
                  <a:gd name="T7" fmla="*/ 0 h 1070"/>
                  <a:gd name="T8" fmla="*/ 2488 w 3023"/>
                  <a:gd name="T9" fmla="*/ 0 h 1070"/>
                  <a:gd name="T10" fmla="*/ 2488 w 3023"/>
                  <a:gd name="T11" fmla="*/ 0 h 1070"/>
                  <a:gd name="T12" fmla="*/ 535 w 3023"/>
                  <a:gd name="T13" fmla="*/ 0 h 1070"/>
                  <a:gd name="T14" fmla="*/ 0 w 3023"/>
                  <a:gd name="T15" fmla="*/ 535 h 1070"/>
                  <a:gd name="T16" fmla="*/ 535 w 3023"/>
                  <a:gd name="T17" fmla="*/ 1070 h 1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1070">
                    <a:moveTo>
                      <a:pt x="535" y="1070"/>
                    </a:moveTo>
                    <a:lnTo>
                      <a:pt x="2488" y="1070"/>
                    </a:lnTo>
                    <a:cubicBezTo>
                      <a:pt x="2784" y="1070"/>
                      <a:pt x="3023" y="830"/>
                      <a:pt x="3023" y="535"/>
                    </a:cubicBezTo>
                    <a:cubicBezTo>
                      <a:pt x="3023" y="239"/>
                      <a:pt x="2784" y="0"/>
                      <a:pt x="2488" y="0"/>
                    </a:cubicBezTo>
                    <a:cubicBezTo>
                      <a:pt x="2488" y="0"/>
                      <a:pt x="2488" y="0"/>
                      <a:pt x="2488" y="0"/>
                    </a:cubicBezTo>
                    <a:lnTo>
                      <a:pt x="2488" y="0"/>
                    </a:lnTo>
                    <a:lnTo>
                      <a:pt x="535" y="0"/>
                    </a:lnTo>
                    <a:cubicBezTo>
                      <a:pt x="239" y="0"/>
                      <a:pt x="0" y="239"/>
                      <a:pt x="0" y="535"/>
                    </a:cubicBezTo>
                    <a:cubicBezTo>
                      <a:pt x="0" y="830"/>
                      <a:pt x="239" y="1070"/>
                      <a:pt x="535" y="1070"/>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 name="Rectangle 11"/>
              <p:cNvSpPr>
                <a:spLocks noChangeArrowheads="1"/>
              </p:cNvSpPr>
              <p:nvPr/>
            </p:nvSpPr>
            <p:spPr bwMode="auto">
              <a:xfrm>
                <a:off x="2136" y="2121"/>
                <a:ext cx="61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Times New Roman" panose="02020603050405020304" pitchFamily="18" charset="0"/>
                  </a:rPr>
                  <a:t>FsImage</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8" name="Freeform 12"/>
              <p:cNvSpPr/>
              <p:nvPr/>
            </p:nvSpPr>
            <p:spPr bwMode="auto">
              <a:xfrm>
                <a:off x="1793" y="2580"/>
                <a:ext cx="1227" cy="361"/>
              </a:xfrm>
              <a:custGeom>
                <a:avLst/>
                <a:gdLst>
                  <a:gd name="T0" fmla="*/ 444 w 3023"/>
                  <a:gd name="T1" fmla="*/ 889 h 889"/>
                  <a:gd name="T2" fmla="*/ 2579 w 3023"/>
                  <a:gd name="T3" fmla="*/ 889 h 889"/>
                  <a:gd name="T4" fmla="*/ 3023 w 3023"/>
                  <a:gd name="T5" fmla="*/ 444 h 889"/>
                  <a:gd name="T6" fmla="*/ 2579 w 3023"/>
                  <a:gd name="T7" fmla="*/ 0 h 889"/>
                  <a:gd name="T8" fmla="*/ 2579 w 3023"/>
                  <a:gd name="T9" fmla="*/ 0 h 889"/>
                  <a:gd name="T10" fmla="*/ 2579 w 3023"/>
                  <a:gd name="T11" fmla="*/ 0 h 889"/>
                  <a:gd name="T12" fmla="*/ 444 w 3023"/>
                  <a:gd name="T13" fmla="*/ 0 h 889"/>
                  <a:gd name="T14" fmla="*/ 0 w 3023"/>
                  <a:gd name="T15" fmla="*/ 444 h 889"/>
                  <a:gd name="T16" fmla="*/ 444 w 3023"/>
                  <a:gd name="T17" fmla="*/ 889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889">
                    <a:moveTo>
                      <a:pt x="444" y="889"/>
                    </a:moveTo>
                    <a:lnTo>
                      <a:pt x="2579" y="889"/>
                    </a:lnTo>
                    <a:cubicBezTo>
                      <a:pt x="2824" y="889"/>
                      <a:pt x="3023" y="690"/>
                      <a:pt x="3023" y="444"/>
                    </a:cubicBezTo>
                    <a:cubicBezTo>
                      <a:pt x="3023" y="199"/>
                      <a:pt x="2824" y="0"/>
                      <a:pt x="2579" y="0"/>
                    </a:cubicBezTo>
                    <a:cubicBezTo>
                      <a:pt x="2579" y="0"/>
                      <a:pt x="2579" y="0"/>
                      <a:pt x="2579" y="0"/>
                    </a:cubicBezTo>
                    <a:lnTo>
                      <a:pt x="2579" y="0"/>
                    </a:lnTo>
                    <a:lnTo>
                      <a:pt x="444" y="0"/>
                    </a:lnTo>
                    <a:cubicBezTo>
                      <a:pt x="199" y="0"/>
                      <a:pt x="0" y="199"/>
                      <a:pt x="0" y="444"/>
                    </a:cubicBezTo>
                    <a:cubicBezTo>
                      <a:pt x="0" y="690"/>
                      <a:pt x="199" y="889"/>
                      <a:pt x="444" y="889"/>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Rectangle 13"/>
              <p:cNvSpPr>
                <a:spLocks noChangeArrowheads="1"/>
              </p:cNvSpPr>
              <p:nvPr/>
            </p:nvSpPr>
            <p:spPr bwMode="auto">
              <a:xfrm>
                <a:off x="2149" y="2666"/>
                <a:ext cx="59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Times New Roman" panose="02020603050405020304" pitchFamily="18" charset="0"/>
                  </a:rPr>
                  <a:t>EditLog</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0" name="Rectangle 14"/>
              <p:cNvSpPr>
                <a:spLocks noChangeArrowheads="1"/>
              </p:cNvSpPr>
              <p:nvPr/>
            </p:nvSpPr>
            <p:spPr bwMode="auto">
              <a:xfrm>
                <a:off x="4954" y="1233"/>
                <a:ext cx="613"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Rectangle 15"/>
              <p:cNvSpPr>
                <a:spLocks noChangeArrowheads="1"/>
              </p:cNvSpPr>
              <p:nvPr/>
            </p:nvSpPr>
            <p:spPr bwMode="auto">
              <a:xfrm>
                <a:off x="5026" y="1267"/>
                <a:ext cx="31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根目录</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2" name="Rectangle 16"/>
              <p:cNvSpPr>
                <a:spLocks noChangeArrowheads="1"/>
              </p:cNvSpPr>
              <p:nvPr/>
            </p:nvSpPr>
            <p:spPr bwMode="auto">
              <a:xfrm>
                <a:off x="3910" y="1723"/>
                <a:ext cx="614"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3" name="Rectangle 17"/>
              <p:cNvSpPr>
                <a:spLocks noChangeArrowheads="1"/>
              </p:cNvSpPr>
              <p:nvPr/>
            </p:nvSpPr>
            <p:spPr bwMode="auto">
              <a:xfrm>
                <a:off x="4059" y="1759"/>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目录</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18"/>
              <p:cNvSpPr>
                <a:spLocks noChangeArrowheads="1"/>
              </p:cNvSpPr>
              <p:nvPr/>
            </p:nvSpPr>
            <p:spPr bwMode="auto">
              <a:xfrm>
                <a:off x="4954" y="1723"/>
                <a:ext cx="613"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5" name="Rectangle 19"/>
              <p:cNvSpPr>
                <a:spLocks noChangeArrowheads="1"/>
              </p:cNvSpPr>
              <p:nvPr/>
            </p:nvSpPr>
            <p:spPr bwMode="auto">
              <a:xfrm>
                <a:off x="5104" y="1759"/>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目录</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20"/>
              <p:cNvSpPr>
                <a:spLocks noChangeArrowheads="1"/>
              </p:cNvSpPr>
              <p:nvPr/>
            </p:nvSpPr>
            <p:spPr bwMode="auto">
              <a:xfrm>
                <a:off x="5997" y="1723"/>
                <a:ext cx="614"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7" name="Rectangle 21"/>
              <p:cNvSpPr>
                <a:spLocks noChangeArrowheads="1"/>
              </p:cNvSpPr>
              <p:nvPr/>
            </p:nvSpPr>
            <p:spPr bwMode="auto">
              <a:xfrm>
                <a:off x="6150" y="1759"/>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目录</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22"/>
              <p:cNvSpPr>
                <a:spLocks noChangeArrowheads="1"/>
              </p:cNvSpPr>
              <p:nvPr/>
            </p:nvSpPr>
            <p:spPr bwMode="auto">
              <a:xfrm>
                <a:off x="4954" y="2213"/>
                <a:ext cx="613"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9" name="Rectangle 23"/>
              <p:cNvSpPr>
                <a:spLocks noChangeArrowheads="1"/>
              </p:cNvSpPr>
              <p:nvPr/>
            </p:nvSpPr>
            <p:spPr bwMode="auto">
              <a:xfrm>
                <a:off x="5104" y="2245"/>
                <a:ext cx="24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文件</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Rectangle 24"/>
              <p:cNvSpPr>
                <a:spLocks noChangeArrowheads="1"/>
              </p:cNvSpPr>
              <p:nvPr/>
            </p:nvSpPr>
            <p:spPr bwMode="auto">
              <a:xfrm>
                <a:off x="3910" y="2703"/>
                <a:ext cx="614"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1" name="Rectangle 25"/>
              <p:cNvSpPr>
                <a:spLocks noChangeArrowheads="1"/>
              </p:cNvSpPr>
              <p:nvPr/>
            </p:nvSpPr>
            <p:spPr bwMode="auto">
              <a:xfrm>
                <a:off x="4137" y="2738"/>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块</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2" name="Rectangle 26"/>
              <p:cNvSpPr>
                <a:spLocks noChangeArrowheads="1"/>
              </p:cNvSpPr>
              <p:nvPr/>
            </p:nvSpPr>
            <p:spPr bwMode="auto">
              <a:xfrm>
                <a:off x="4954" y="2703"/>
                <a:ext cx="613"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3" name="Rectangle 27"/>
              <p:cNvSpPr>
                <a:spLocks noChangeArrowheads="1"/>
              </p:cNvSpPr>
              <p:nvPr/>
            </p:nvSpPr>
            <p:spPr bwMode="auto">
              <a:xfrm>
                <a:off x="5182" y="2738"/>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4" name="Rectangle 28"/>
              <p:cNvSpPr>
                <a:spLocks noChangeArrowheads="1"/>
              </p:cNvSpPr>
              <p:nvPr/>
            </p:nvSpPr>
            <p:spPr bwMode="auto">
              <a:xfrm>
                <a:off x="5997" y="2703"/>
                <a:ext cx="614" cy="24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5" name="Rectangle 29"/>
              <p:cNvSpPr>
                <a:spLocks noChangeArrowheads="1"/>
              </p:cNvSpPr>
              <p:nvPr/>
            </p:nvSpPr>
            <p:spPr bwMode="auto">
              <a:xfrm>
                <a:off x="6228" y="2738"/>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块</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6" name="Line 30"/>
              <p:cNvSpPr>
                <a:spLocks noChangeShapeType="1"/>
              </p:cNvSpPr>
              <p:nvPr/>
            </p:nvSpPr>
            <p:spPr bwMode="auto">
              <a:xfrm flipV="1">
                <a:off x="3020" y="1912"/>
                <a:ext cx="725" cy="301"/>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7" name="Freeform 31"/>
              <p:cNvSpPr/>
              <p:nvPr/>
            </p:nvSpPr>
            <p:spPr bwMode="auto">
              <a:xfrm>
                <a:off x="3720" y="1890"/>
                <a:ext cx="67" cy="56"/>
              </a:xfrm>
              <a:custGeom>
                <a:avLst/>
                <a:gdLst>
                  <a:gd name="T0" fmla="*/ 167 w 167"/>
                  <a:gd name="T1" fmla="*/ 12 h 139"/>
                  <a:gd name="T2" fmla="*/ 57 w 167"/>
                  <a:gd name="T3" fmla="*/ 139 h 139"/>
                  <a:gd name="T4" fmla="*/ 0 w 167"/>
                  <a:gd name="T5" fmla="*/ 0 h 139"/>
                  <a:gd name="T6" fmla="*/ 167 w 167"/>
                  <a:gd name="T7" fmla="*/ 12 h 139"/>
                </a:gdLst>
                <a:ahLst/>
                <a:cxnLst>
                  <a:cxn ang="0">
                    <a:pos x="T0" y="T1"/>
                  </a:cxn>
                  <a:cxn ang="0">
                    <a:pos x="T2" y="T3"/>
                  </a:cxn>
                  <a:cxn ang="0">
                    <a:pos x="T4" y="T5"/>
                  </a:cxn>
                  <a:cxn ang="0">
                    <a:pos x="T6" y="T7"/>
                  </a:cxn>
                </a:cxnLst>
                <a:rect l="0" t="0" r="r" b="b"/>
                <a:pathLst>
                  <a:path w="167" h="139">
                    <a:moveTo>
                      <a:pt x="167" y="12"/>
                    </a:moveTo>
                    <a:lnTo>
                      <a:pt x="57" y="139"/>
                    </a:lnTo>
                    <a:cubicBezTo>
                      <a:pt x="61" y="86"/>
                      <a:pt x="40" y="34"/>
                      <a:pt x="0" y="0"/>
                    </a:cubicBezTo>
                    <a:lnTo>
                      <a:pt x="167" y="12"/>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38" name="Line 32"/>
              <p:cNvSpPr>
                <a:spLocks noChangeShapeType="1"/>
              </p:cNvSpPr>
              <p:nvPr/>
            </p:nvSpPr>
            <p:spPr bwMode="auto">
              <a:xfrm>
                <a:off x="5261" y="1478"/>
                <a:ext cx="0" cy="199"/>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9" name="Freeform 33"/>
              <p:cNvSpPr/>
              <p:nvPr/>
            </p:nvSpPr>
            <p:spPr bwMode="auto">
              <a:xfrm>
                <a:off x="5230" y="1662"/>
                <a:ext cx="61" cy="61"/>
              </a:xfrm>
              <a:custGeom>
                <a:avLst/>
                <a:gdLst>
                  <a:gd name="T0" fmla="*/ 76 w 151"/>
                  <a:gd name="T1" fmla="*/ 150 h 150"/>
                  <a:gd name="T2" fmla="*/ 0 w 151"/>
                  <a:gd name="T3" fmla="*/ 0 h 150"/>
                  <a:gd name="T4" fmla="*/ 151 w 151"/>
                  <a:gd name="T5" fmla="*/ 0 h 150"/>
                  <a:gd name="T6" fmla="*/ 151 w 151"/>
                  <a:gd name="T7" fmla="*/ 0 h 150"/>
                  <a:gd name="T8" fmla="*/ 76 w 151"/>
                  <a:gd name="T9" fmla="*/ 150 h 150"/>
                </a:gdLst>
                <a:ahLst/>
                <a:cxnLst>
                  <a:cxn ang="0">
                    <a:pos x="T0" y="T1"/>
                  </a:cxn>
                  <a:cxn ang="0">
                    <a:pos x="T2" y="T3"/>
                  </a:cxn>
                  <a:cxn ang="0">
                    <a:pos x="T4" y="T5"/>
                  </a:cxn>
                  <a:cxn ang="0">
                    <a:pos x="T6" y="T7"/>
                  </a:cxn>
                  <a:cxn ang="0">
                    <a:pos x="T8" y="T9"/>
                  </a:cxn>
                </a:cxnLst>
                <a:rect l="0" t="0" r="r" b="b"/>
                <a:pathLst>
                  <a:path w="151" h="150">
                    <a:moveTo>
                      <a:pt x="76" y="150"/>
                    </a:moveTo>
                    <a:lnTo>
                      <a:pt x="0" y="0"/>
                    </a:lnTo>
                    <a:cubicBezTo>
                      <a:pt x="48" y="24"/>
                      <a:pt x="103" y="24"/>
                      <a:pt x="151" y="0"/>
                    </a:cubicBezTo>
                    <a:lnTo>
                      <a:pt x="151" y="0"/>
                    </a:lnTo>
                    <a:lnTo>
                      <a:pt x="76"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0" name="Freeform 34"/>
              <p:cNvSpPr/>
              <p:nvPr/>
            </p:nvSpPr>
            <p:spPr bwMode="auto">
              <a:xfrm>
                <a:off x="4217" y="1478"/>
                <a:ext cx="1044" cy="199"/>
              </a:xfrm>
              <a:custGeom>
                <a:avLst/>
                <a:gdLst>
                  <a:gd name="T0" fmla="*/ 1044 w 1044"/>
                  <a:gd name="T1" fmla="*/ 0 h 199"/>
                  <a:gd name="T2" fmla="*/ 1044 w 1044"/>
                  <a:gd name="T3" fmla="*/ 153 h 199"/>
                  <a:gd name="T4" fmla="*/ 0 w 1044"/>
                  <a:gd name="T5" fmla="*/ 153 h 199"/>
                  <a:gd name="T6" fmla="*/ 0 w 1044"/>
                  <a:gd name="T7" fmla="*/ 199 h 199"/>
                </a:gdLst>
                <a:ahLst/>
                <a:cxnLst>
                  <a:cxn ang="0">
                    <a:pos x="T0" y="T1"/>
                  </a:cxn>
                  <a:cxn ang="0">
                    <a:pos x="T2" y="T3"/>
                  </a:cxn>
                  <a:cxn ang="0">
                    <a:pos x="T4" y="T5"/>
                  </a:cxn>
                  <a:cxn ang="0">
                    <a:pos x="T6" y="T7"/>
                  </a:cxn>
                </a:cxnLst>
                <a:rect l="0" t="0" r="r" b="b"/>
                <a:pathLst>
                  <a:path w="1044" h="199">
                    <a:moveTo>
                      <a:pt x="1044" y="0"/>
                    </a:moveTo>
                    <a:lnTo>
                      <a:pt x="1044" y="153"/>
                    </a:lnTo>
                    <a:lnTo>
                      <a:pt x="0" y="153"/>
                    </a:lnTo>
                    <a:lnTo>
                      <a:pt x="0" y="199"/>
                    </a:lnTo>
                  </a:path>
                </a:pathLst>
              </a:custGeom>
              <a:noFill/>
              <a:ln w="14288"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1" name="Freeform 35"/>
              <p:cNvSpPr/>
              <p:nvPr/>
            </p:nvSpPr>
            <p:spPr bwMode="auto">
              <a:xfrm>
                <a:off x="4186" y="1662"/>
                <a:ext cx="62" cy="61"/>
              </a:xfrm>
              <a:custGeom>
                <a:avLst/>
                <a:gdLst>
                  <a:gd name="T0" fmla="*/ 75 w 151"/>
                  <a:gd name="T1" fmla="*/ 150 h 150"/>
                  <a:gd name="T2" fmla="*/ 0 w 151"/>
                  <a:gd name="T3" fmla="*/ 0 h 150"/>
                  <a:gd name="T4" fmla="*/ 151 w 151"/>
                  <a:gd name="T5" fmla="*/ 0 h 150"/>
                  <a:gd name="T6" fmla="*/ 75 w 151"/>
                  <a:gd name="T7" fmla="*/ 150 h 150"/>
                </a:gdLst>
                <a:ahLst/>
                <a:cxnLst>
                  <a:cxn ang="0">
                    <a:pos x="T0" y="T1"/>
                  </a:cxn>
                  <a:cxn ang="0">
                    <a:pos x="T2" y="T3"/>
                  </a:cxn>
                  <a:cxn ang="0">
                    <a:pos x="T4" y="T5"/>
                  </a:cxn>
                  <a:cxn ang="0">
                    <a:pos x="T6" y="T7"/>
                  </a:cxn>
                </a:cxnLst>
                <a:rect l="0" t="0" r="r" b="b"/>
                <a:pathLst>
                  <a:path w="151" h="150">
                    <a:moveTo>
                      <a:pt x="75" y="150"/>
                    </a:moveTo>
                    <a:lnTo>
                      <a:pt x="0" y="0"/>
                    </a:lnTo>
                    <a:cubicBezTo>
                      <a:pt x="48" y="24"/>
                      <a:pt x="103" y="24"/>
                      <a:pt x="151" y="0"/>
                    </a:cubicBezTo>
                    <a:lnTo>
                      <a:pt x="75"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2" name="Freeform 36"/>
              <p:cNvSpPr/>
              <p:nvPr/>
            </p:nvSpPr>
            <p:spPr bwMode="auto">
              <a:xfrm>
                <a:off x="5261" y="1478"/>
                <a:ext cx="1043" cy="199"/>
              </a:xfrm>
              <a:custGeom>
                <a:avLst/>
                <a:gdLst>
                  <a:gd name="T0" fmla="*/ 0 w 1043"/>
                  <a:gd name="T1" fmla="*/ 0 h 199"/>
                  <a:gd name="T2" fmla="*/ 0 w 1043"/>
                  <a:gd name="T3" fmla="*/ 153 h 199"/>
                  <a:gd name="T4" fmla="*/ 1043 w 1043"/>
                  <a:gd name="T5" fmla="*/ 153 h 199"/>
                  <a:gd name="T6" fmla="*/ 1043 w 1043"/>
                  <a:gd name="T7" fmla="*/ 199 h 199"/>
                </a:gdLst>
                <a:ahLst/>
                <a:cxnLst>
                  <a:cxn ang="0">
                    <a:pos x="T0" y="T1"/>
                  </a:cxn>
                  <a:cxn ang="0">
                    <a:pos x="T2" y="T3"/>
                  </a:cxn>
                  <a:cxn ang="0">
                    <a:pos x="T4" y="T5"/>
                  </a:cxn>
                  <a:cxn ang="0">
                    <a:pos x="T6" y="T7"/>
                  </a:cxn>
                </a:cxnLst>
                <a:rect l="0" t="0" r="r" b="b"/>
                <a:pathLst>
                  <a:path w="1043" h="199">
                    <a:moveTo>
                      <a:pt x="0" y="0"/>
                    </a:moveTo>
                    <a:lnTo>
                      <a:pt x="0" y="153"/>
                    </a:lnTo>
                    <a:lnTo>
                      <a:pt x="1043" y="153"/>
                    </a:lnTo>
                    <a:lnTo>
                      <a:pt x="1043" y="199"/>
                    </a:lnTo>
                  </a:path>
                </a:pathLst>
              </a:custGeom>
              <a:noFill/>
              <a:ln w="14288"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3" name="Freeform 37"/>
              <p:cNvSpPr/>
              <p:nvPr/>
            </p:nvSpPr>
            <p:spPr bwMode="auto">
              <a:xfrm>
                <a:off x="6273" y="1662"/>
                <a:ext cx="61" cy="61"/>
              </a:xfrm>
              <a:custGeom>
                <a:avLst/>
                <a:gdLst>
                  <a:gd name="T0" fmla="*/ 75 w 150"/>
                  <a:gd name="T1" fmla="*/ 150 h 150"/>
                  <a:gd name="T2" fmla="*/ 0 w 150"/>
                  <a:gd name="T3" fmla="*/ 0 h 150"/>
                  <a:gd name="T4" fmla="*/ 150 w 150"/>
                  <a:gd name="T5" fmla="*/ 0 h 150"/>
                  <a:gd name="T6" fmla="*/ 75 w 150"/>
                  <a:gd name="T7" fmla="*/ 150 h 150"/>
                </a:gdLst>
                <a:ahLst/>
                <a:cxnLst>
                  <a:cxn ang="0">
                    <a:pos x="T0" y="T1"/>
                  </a:cxn>
                  <a:cxn ang="0">
                    <a:pos x="T2" y="T3"/>
                  </a:cxn>
                  <a:cxn ang="0">
                    <a:pos x="T4" y="T5"/>
                  </a:cxn>
                  <a:cxn ang="0">
                    <a:pos x="T6" y="T7"/>
                  </a:cxn>
                </a:cxnLst>
                <a:rect l="0" t="0" r="r" b="b"/>
                <a:pathLst>
                  <a:path w="150" h="150">
                    <a:moveTo>
                      <a:pt x="75" y="150"/>
                    </a:moveTo>
                    <a:lnTo>
                      <a:pt x="0" y="0"/>
                    </a:lnTo>
                    <a:cubicBezTo>
                      <a:pt x="47" y="24"/>
                      <a:pt x="102" y="24"/>
                      <a:pt x="150" y="0"/>
                    </a:cubicBezTo>
                    <a:lnTo>
                      <a:pt x="75"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4" name="Line 38"/>
              <p:cNvSpPr>
                <a:spLocks noChangeShapeType="1"/>
              </p:cNvSpPr>
              <p:nvPr/>
            </p:nvSpPr>
            <p:spPr bwMode="auto">
              <a:xfrm>
                <a:off x="5261" y="1968"/>
                <a:ext cx="0" cy="199"/>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5" name="Freeform 39"/>
              <p:cNvSpPr/>
              <p:nvPr/>
            </p:nvSpPr>
            <p:spPr bwMode="auto">
              <a:xfrm>
                <a:off x="5230" y="2152"/>
                <a:ext cx="61" cy="61"/>
              </a:xfrm>
              <a:custGeom>
                <a:avLst/>
                <a:gdLst>
                  <a:gd name="T0" fmla="*/ 76 w 151"/>
                  <a:gd name="T1" fmla="*/ 150 h 150"/>
                  <a:gd name="T2" fmla="*/ 0 w 151"/>
                  <a:gd name="T3" fmla="*/ 0 h 150"/>
                  <a:gd name="T4" fmla="*/ 151 w 151"/>
                  <a:gd name="T5" fmla="*/ 0 h 150"/>
                  <a:gd name="T6" fmla="*/ 151 w 151"/>
                  <a:gd name="T7" fmla="*/ 0 h 150"/>
                  <a:gd name="T8" fmla="*/ 76 w 151"/>
                  <a:gd name="T9" fmla="*/ 150 h 150"/>
                </a:gdLst>
                <a:ahLst/>
                <a:cxnLst>
                  <a:cxn ang="0">
                    <a:pos x="T0" y="T1"/>
                  </a:cxn>
                  <a:cxn ang="0">
                    <a:pos x="T2" y="T3"/>
                  </a:cxn>
                  <a:cxn ang="0">
                    <a:pos x="T4" y="T5"/>
                  </a:cxn>
                  <a:cxn ang="0">
                    <a:pos x="T6" y="T7"/>
                  </a:cxn>
                  <a:cxn ang="0">
                    <a:pos x="T8" y="T9"/>
                  </a:cxn>
                </a:cxnLst>
                <a:rect l="0" t="0" r="r" b="b"/>
                <a:pathLst>
                  <a:path w="151" h="150">
                    <a:moveTo>
                      <a:pt x="76" y="150"/>
                    </a:moveTo>
                    <a:lnTo>
                      <a:pt x="0" y="0"/>
                    </a:lnTo>
                    <a:cubicBezTo>
                      <a:pt x="48" y="23"/>
                      <a:pt x="103" y="23"/>
                      <a:pt x="151" y="0"/>
                    </a:cubicBezTo>
                    <a:lnTo>
                      <a:pt x="151" y="0"/>
                    </a:lnTo>
                    <a:lnTo>
                      <a:pt x="76"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6" name="Freeform 40"/>
              <p:cNvSpPr/>
              <p:nvPr/>
            </p:nvSpPr>
            <p:spPr bwMode="auto">
              <a:xfrm>
                <a:off x="4217" y="2458"/>
                <a:ext cx="1044" cy="199"/>
              </a:xfrm>
              <a:custGeom>
                <a:avLst/>
                <a:gdLst>
                  <a:gd name="T0" fmla="*/ 1044 w 1044"/>
                  <a:gd name="T1" fmla="*/ 0 h 199"/>
                  <a:gd name="T2" fmla="*/ 1044 w 1044"/>
                  <a:gd name="T3" fmla="*/ 153 h 199"/>
                  <a:gd name="T4" fmla="*/ 0 w 1044"/>
                  <a:gd name="T5" fmla="*/ 153 h 199"/>
                  <a:gd name="T6" fmla="*/ 0 w 1044"/>
                  <a:gd name="T7" fmla="*/ 199 h 199"/>
                </a:gdLst>
                <a:ahLst/>
                <a:cxnLst>
                  <a:cxn ang="0">
                    <a:pos x="T0" y="T1"/>
                  </a:cxn>
                  <a:cxn ang="0">
                    <a:pos x="T2" y="T3"/>
                  </a:cxn>
                  <a:cxn ang="0">
                    <a:pos x="T4" y="T5"/>
                  </a:cxn>
                  <a:cxn ang="0">
                    <a:pos x="T6" y="T7"/>
                  </a:cxn>
                </a:cxnLst>
                <a:rect l="0" t="0" r="r" b="b"/>
                <a:pathLst>
                  <a:path w="1044" h="199">
                    <a:moveTo>
                      <a:pt x="1044" y="0"/>
                    </a:moveTo>
                    <a:lnTo>
                      <a:pt x="1044" y="153"/>
                    </a:lnTo>
                    <a:lnTo>
                      <a:pt x="0" y="153"/>
                    </a:lnTo>
                    <a:lnTo>
                      <a:pt x="0" y="199"/>
                    </a:lnTo>
                  </a:path>
                </a:pathLst>
              </a:custGeom>
              <a:noFill/>
              <a:ln w="14288"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7" name="Freeform 41"/>
              <p:cNvSpPr/>
              <p:nvPr/>
            </p:nvSpPr>
            <p:spPr bwMode="auto">
              <a:xfrm>
                <a:off x="4186" y="2642"/>
                <a:ext cx="62" cy="61"/>
              </a:xfrm>
              <a:custGeom>
                <a:avLst/>
                <a:gdLst>
                  <a:gd name="T0" fmla="*/ 75 w 151"/>
                  <a:gd name="T1" fmla="*/ 150 h 150"/>
                  <a:gd name="T2" fmla="*/ 0 w 151"/>
                  <a:gd name="T3" fmla="*/ 0 h 150"/>
                  <a:gd name="T4" fmla="*/ 151 w 151"/>
                  <a:gd name="T5" fmla="*/ 0 h 150"/>
                  <a:gd name="T6" fmla="*/ 75 w 151"/>
                  <a:gd name="T7" fmla="*/ 150 h 150"/>
                </a:gdLst>
                <a:ahLst/>
                <a:cxnLst>
                  <a:cxn ang="0">
                    <a:pos x="T0" y="T1"/>
                  </a:cxn>
                  <a:cxn ang="0">
                    <a:pos x="T2" y="T3"/>
                  </a:cxn>
                  <a:cxn ang="0">
                    <a:pos x="T4" y="T5"/>
                  </a:cxn>
                  <a:cxn ang="0">
                    <a:pos x="T6" y="T7"/>
                  </a:cxn>
                </a:cxnLst>
                <a:rect l="0" t="0" r="r" b="b"/>
                <a:pathLst>
                  <a:path w="151" h="150">
                    <a:moveTo>
                      <a:pt x="75" y="150"/>
                    </a:moveTo>
                    <a:lnTo>
                      <a:pt x="0" y="0"/>
                    </a:lnTo>
                    <a:cubicBezTo>
                      <a:pt x="48" y="24"/>
                      <a:pt x="103" y="24"/>
                      <a:pt x="151" y="0"/>
                    </a:cubicBezTo>
                    <a:lnTo>
                      <a:pt x="75"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8" name="Line 42"/>
              <p:cNvSpPr>
                <a:spLocks noChangeShapeType="1"/>
              </p:cNvSpPr>
              <p:nvPr/>
            </p:nvSpPr>
            <p:spPr bwMode="auto">
              <a:xfrm>
                <a:off x="5261" y="2458"/>
                <a:ext cx="0" cy="199"/>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9" name="Freeform 43"/>
              <p:cNvSpPr/>
              <p:nvPr/>
            </p:nvSpPr>
            <p:spPr bwMode="auto">
              <a:xfrm>
                <a:off x="5230" y="2642"/>
                <a:ext cx="61" cy="61"/>
              </a:xfrm>
              <a:custGeom>
                <a:avLst/>
                <a:gdLst>
                  <a:gd name="T0" fmla="*/ 76 w 151"/>
                  <a:gd name="T1" fmla="*/ 150 h 150"/>
                  <a:gd name="T2" fmla="*/ 0 w 151"/>
                  <a:gd name="T3" fmla="*/ 0 h 150"/>
                  <a:gd name="T4" fmla="*/ 151 w 151"/>
                  <a:gd name="T5" fmla="*/ 0 h 150"/>
                  <a:gd name="T6" fmla="*/ 151 w 151"/>
                  <a:gd name="T7" fmla="*/ 0 h 150"/>
                  <a:gd name="T8" fmla="*/ 76 w 151"/>
                  <a:gd name="T9" fmla="*/ 150 h 150"/>
                </a:gdLst>
                <a:ahLst/>
                <a:cxnLst>
                  <a:cxn ang="0">
                    <a:pos x="T0" y="T1"/>
                  </a:cxn>
                  <a:cxn ang="0">
                    <a:pos x="T2" y="T3"/>
                  </a:cxn>
                  <a:cxn ang="0">
                    <a:pos x="T4" y="T5"/>
                  </a:cxn>
                  <a:cxn ang="0">
                    <a:pos x="T6" y="T7"/>
                  </a:cxn>
                  <a:cxn ang="0">
                    <a:pos x="T8" y="T9"/>
                  </a:cxn>
                </a:cxnLst>
                <a:rect l="0" t="0" r="r" b="b"/>
                <a:pathLst>
                  <a:path w="151" h="150">
                    <a:moveTo>
                      <a:pt x="76" y="150"/>
                    </a:moveTo>
                    <a:lnTo>
                      <a:pt x="0" y="0"/>
                    </a:lnTo>
                    <a:cubicBezTo>
                      <a:pt x="48" y="24"/>
                      <a:pt x="103" y="24"/>
                      <a:pt x="151" y="0"/>
                    </a:cubicBezTo>
                    <a:lnTo>
                      <a:pt x="151" y="0"/>
                    </a:lnTo>
                    <a:lnTo>
                      <a:pt x="76"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50" name="Freeform 44"/>
              <p:cNvSpPr/>
              <p:nvPr/>
            </p:nvSpPr>
            <p:spPr bwMode="auto">
              <a:xfrm>
                <a:off x="5261" y="2458"/>
                <a:ext cx="1043" cy="199"/>
              </a:xfrm>
              <a:custGeom>
                <a:avLst/>
                <a:gdLst>
                  <a:gd name="T0" fmla="*/ 0 w 1043"/>
                  <a:gd name="T1" fmla="*/ 0 h 199"/>
                  <a:gd name="T2" fmla="*/ 0 w 1043"/>
                  <a:gd name="T3" fmla="*/ 153 h 199"/>
                  <a:gd name="T4" fmla="*/ 1043 w 1043"/>
                  <a:gd name="T5" fmla="*/ 153 h 199"/>
                  <a:gd name="T6" fmla="*/ 1043 w 1043"/>
                  <a:gd name="T7" fmla="*/ 199 h 199"/>
                </a:gdLst>
                <a:ahLst/>
                <a:cxnLst>
                  <a:cxn ang="0">
                    <a:pos x="T0" y="T1"/>
                  </a:cxn>
                  <a:cxn ang="0">
                    <a:pos x="T2" y="T3"/>
                  </a:cxn>
                  <a:cxn ang="0">
                    <a:pos x="T4" y="T5"/>
                  </a:cxn>
                  <a:cxn ang="0">
                    <a:pos x="T6" y="T7"/>
                  </a:cxn>
                </a:cxnLst>
                <a:rect l="0" t="0" r="r" b="b"/>
                <a:pathLst>
                  <a:path w="1043" h="199">
                    <a:moveTo>
                      <a:pt x="0" y="0"/>
                    </a:moveTo>
                    <a:lnTo>
                      <a:pt x="0" y="153"/>
                    </a:lnTo>
                    <a:lnTo>
                      <a:pt x="1043" y="153"/>
                    </a:lnTo>
                    <a:lnTo>
                      <a:pt x="1043" y="199"/>
                    </a:lnTo>
                  </a:path>
                </a:pathLst>
              </a:custGeom>
              <a:noFill/>
              <a:ln w="14288"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1" name="Freeform 45"/>
              <p:cNvSpPr/>
              <p:nvPr/>
            </p:nvSpPr>
            <p:spPr bwMode="auto">
              <a:xfrm>
                <a:off x="6273" y="2642"/>
                <a:ext cx="61" cy="61"/>
              </a:xfrm>
              <a:custGeom>
                <a:avLst/>
                <a:gdLst>
                  <a:gd name="T0" fmla="*/ 75 w 150"/>
                  <a:gd name="T1" fmla="*/ 150 h 150"/>
                  <a:gd name="T2" fmla="*/ 0 w 150"/>
                  <a:gd name="T3" fmla="*/ 0 h 150"/>
                  <a:gd name="T4" fmla="*/ 150 w 150"/>
                  <a:gd name="T5" fmla="*/ 0 h 150"/>
                  <a:gd name="T6" fmla="*/ 75 w 150"/>
                  <a:gd name="T7" fmla="*/ 150 h 150"/>
                </a:gdLst>
                <a:ahLst/>
                <a:cxnLst>
                  <a:cxn ang="0">
                    <a:pos x="T0" y="T1"/>
                  </a:cxn>
                  <a:cxn ang="0">
                    <a:pos x="T2" y="T3"/>
                  </a:cxn>
                  <a:cxn ang="0">
                    <a:pos x="T4" y="T5"/>
                  </a:cxn>
                  <a:cxn ang="0">
                    <a:pos x="T6" y="T7"/>
                  </a:cxn>
                </a:cxnLst>
                <a:rect l="0" t="0" r="r" b="b"/>
                <a:pathLst>
                  <a:path w="150" h="150">
                    <a:moveTo>
                      <a:pt x="75" y="150"/>
                    </a:moveTo>
                    <a:lnTo>
                      <a:pt x="0" y="0"/>
                    </a:lnTo>
                    <a:cubicBezTo>
                      <a:pt x="47" y="24"/>
                      <a:pt x="102" y="24"/>
                      <a:pt x="150" y="0"/>
                    </a:cubicBezTo>
                    <a:lnTo>
                      <a:pt x="75" y="150"/>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52" name="Rectangle 46"/>
              <p:cNvSpPr>
                <a:spLocks noChangeArrowheads="1"/>
              </p:cNvSpPr>
              <p:nvPr/>
            </p:nvSpPr>
            <p:spPr bwMode="auto">
              <a:xfrm>
                <a:off x="4125" y="3438"/>
                <a:ext cx="2608" cy="367"/>
              </a:xfrm>
              <a:prstGeom prst="rect">
                <a:avLst/>
              </a:prstGeom>
              <a:solidFill>
                <a:srgbClr val="FFFFFF"/>
              </a:solidFill>
              <a:ln w="3175" cap="rnd">
                <a:solidFill>
                  <a:srgbClr val="404040"/>
                </a:solidFill>
                <a:prstDash val="solid"/>
                <a:round/>
              </a:ln>
            </p:spPr>
            <p:txBody>
              <a:bodyPr vert="horz" wrap="square" lIns="91440" tIns="45720" rIns="91440" bIns="45720" numCol="1" anchor="t" anchorCtr="0" compatLnSpc="1"/>
              <a:lstStyle/>
              <a:p>
                <a:endParaRPr lang="zh-CN" altLang="en-US"/>
              </a:p>
            </p:txBody>
          </p:sp>
          <p:sp>
            <p:nvSpPr>
              <p:cNvPr id="53" name="Rectangle 47"/>
              <p:cNvSpPr>
                <a:spLocks noChangeArrowheads="1"/>
              </p:cNvSpPr>
              <p:nvPr/>
            </p:nvSpPr>
            <p:spPr bwMode="auto">
              <a:xfrm>
                <a:off x="4143" y="3457"/>
                <a:ext cx="2085" cy="1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记录了所有针对文件的创建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4" name="Rectangle 48"/>
              <p:cNvSpPr>
                <a:spLocks noChangeArrowheads="1"/>
              </p:cNvSpPr>
              <p:nvPr/>
            </p:nvSpPr>
            <p:spPr bwMode="auto">
              <a:xfrm>
                <a:off x="6014" y="3457"/>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5" name="Rectangle 49"/>
              <p:cNvSpPr>
                <a:spLocks noChangeArrowheads="1"/>
              </p:cNvSpPr>
              <p:nvPr/>
            </p:nvSpPr>
            <p:spPr bwMode="auto">
              <a:xfrm>
                <a:off x="6170" y="3457"/>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删除</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6" name="Rectangle 50"/>
              <p:cNvSpPr>
                <a:spLocks noChangeArrowheads="1"/>
              </p:cNvSpPr>
              <p:nvPr/>
            </p:nvSpPr>
            <p:spPr bwMode="auto">
              <a:xfrm>
                <a:off x="6481" y="3457"/>
                <a:ext cx="1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7" name="Rectangle 51"/>
              <p:cNvSpPr>
                <a:spLocks noChangeArrowheads="1"/>
              </p:cNvSpPr>
              <p:nvPr/>
            </p:nvSpPr>
            <p:spPr bwMode="auto">
              <a:xfrm>
                <a:off x="4143" y="3645"/>
                <a:ext cx="5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重命名等操作</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8" name="Line 52"/>
              <p:cNvSpPr>
                <a:spLocks noChangeShapeType="1"/>
              </p:cNvSpPr>
              <p:nvPr/>
            </p:nvSpPr>
            <p:spPr bwMode="auto">
              <a:xfrm>
                <a:off x="3020" y="2760"/>
                <a:ext cx="1069" cy="833"/>
              </a:xfrm>
              <a:prstGeom prst="line">
                <a:avLst/>
              </a:prstGeom>
              <a:noFill/>
              <a:ln w="14288" cap="rnd">
                <a:solidFill>
                  <a:srgbClr val="40404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9" name="Freeform 53"/>
              <p:cNvSpPr/>
              <p:nvPr/>
            </p:nvSpPr>
            <p:spPr bwMode="auto">
              <a:xfrm>
                <a:off x="4058" y="3560"/>
                <a:ext cx="67" cy="61"/>
              </a:xfrm>
              <a:custGeom>
                <a:avLst/>
                <a:gdLst>
                  <a:gd name="T0" fmla="*/ 165 w 165"/>
                  <a:gd name="T1" fmla="*/ 152 h 152"/>
                  <a:gd name="T2" fmla="*/ 0 w 165"/>
                  <a:gd name="T3" fmla="*/ 119 h 152"/>
                  <a:gd name="T4" fmla="*/ 93 w 165"/>
                  <a:gd name="T5" fmla="*/ 0 h 152"/>
                  <a:gd name="T6" fmla="*/ 165 w 165"/>
                  <a:gd name="T7" fmla="*/ 152 h 152"/>
                </a:gdLst>
                <a:ahLst/>
                <a:cxnLst>
                  <a:cxn ang="0">
                    <a:pos x="T0" y="T1"/>
                  </a:cxn>
                  <a:cxn ang="0">
                    <a:pos x="T2" y="T3"/>
                  </a:cxn>
                  <a:cxn ang="0">
                    <a:pos x="T4" y="T5"/>
                  </a:cxn>
                  <a:cxn ang="0">
                    <a:pos x="T6" y="T7"/>
                  </a:cxn>
                </a:cxnLst>
                <a:rect l="0" t="0" r="r" b="b"/>
                <a:pathLst>
                  <a:path w="165" h="152">
                    <a:moveTo>
                      <a:pt x="165" y="152"/>
                    </a:moveTo>
                    <a:lnTo>
                      <a:pt x="0" y="119"/>
                    </a:lnTo>
                    <a:cubicBezTo>
                      <a:pt x="48" y="96"/>
                      <a:pt x="82" y="52"/>
                      <a:pt x="93" y="0"/>
                    </a:cubicBezTo>
                    <a:lnTo>
                      <a:pt x="165" y="152"/>
                    </a:lnTo>
                    <a:close/>
                  </a:path>
                </a:pathLst>
              </a:custGeom>
              <a:solidFill>
                <a:srgbClr val="404040"/>
              </a:solidFill>
              <a:ln w="0">
                <a:solidFill>
                  <a:srgbClr val="000000"/>
                </a:solidFill>
                <a:prstDash val="solid"/>
                <a:round/>
              </a:ln>
            </p:spPr>
            <p:txBody>
              <a:bodyPr vert="horz" wrap="square" lIns="91440" tIns="45720" rIns="91440" bIns="45720" numCol="1" anchor="t" anchorCtr="0" compatLnSpc="1"/>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名称节点的启动</a:t>
            </a:r>
            <a:endParaRPr lang="zh-CN" altLang="en-US" dirty="0"/>
          </a:p>
        </p:txBody>
      </p:sp>
      <p:sp>
        <p:nvSpPr>
          <p:cNvPr id="3" name="灯片编号占位符 2"/>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6" name="Rectangle 4"/>
          <p:cNvSpPr>
            <a:spLocks noChangeArrowheads="1"/>
          </p:cNvSpPr>
          <p:nvPr/>
        </p:nvSpPr>
        <p:spPr bwMode="auto">
          <a:xfrm>
            <a:off x="146368" y="2198212"/>
            <a:ext cx="1905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9" name="Rectangle 5"/>
          <p:cNvSpPr>
            <a:spLocks noChangeArrowheads="1"/>
          </p:cNvSpPr>
          <p:nvPr/>
        </p:nvSpPr>
        <p:spPr bwMode="auto">
          <a:xfrm>
            <a:off x="2547145" y="2885441"/>
            <a:ext cx="3605213" cy="2157413"/>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0" name="Rectangle 6"/>
          <p:cNvSpPr>
            <a:spLocks noChangeArrowheads="1"/>
          </p:cNvSpPr>
          <p:nvPr/>
        </p:nvSpPr>
        <p:spPr bwMode="auto">
          <a:xfrm>
            <a:off x="2604770" y="2994659"/>
            <a:ext cx="21602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名称节</a:t>
            </a:r>
            <a:r>
              <a:rPr lang="en-US" altLang="zh-CN" sz="2000" dirty="0">
                <a:solidFill>
                  <a:srgbClr val="000000"/>
                </a:solidFill>
                <a:latin typeface="宋体" panose="02010600030101010101" pitchFamily="2" charset="-122"/>
                <a:ea typeface="宋体" panose="02010600030101010101" pitchFamily="2" charset="-122"/>
              </a:rPr>
              <a:t>(</a:t>
            </a:r>
            <a:r>
              <a:rPr kumimoji="0" lang="zh-CN"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NameNode</a:t>
            </a:r>
            <a:r>
              <a:rPr lang="en-US" altLang="zh-CN" sz="2000" dirty="0">
                <a:solidFill>
                  <a:srgbClr val="000000"/>
                </a:solidFill>
                <a:latin typeface="宋体" panose="02010600030101010101" pitchFamily="2" charset="-122"/>
                <a:ea typeface="宋体" panose="02010600030101010101" pitchFamily="2" charset="-12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1" name="Freeform 10"/>
          <p:cNvSpPr/>
          <p:nvPr/>
        </p:nvSpPr>
        <p:spPr bwMode="auto">
          <a:xfrm>
            <a:off x="3400107" y="3391535"/>
            <a:ext cx="1947863" cy="688975"/>
          </a:xfrm>
          <a:custGeom>
            <a:avLst/>
            <a:gdLst>
              <a:gd name="T0" fmla="*/ 535 w 3023"/>
              <a:gd name="T1" fmla="*/ 1070 h 1070"/>
              <a:gd name="T2" fmla="*/ 2488 w 3023"/>
              <a:gd name="T3" fmla="*/ 1070 h 1070"/>
              <a:gd name="T4" fmla="*/ 3023 w 3023"/>
              <a:gd name="T5" fmla="*/ 535 h 1070"/>
              <a:gd name="T6" fmla="*/ 2488 w 3023"/>
              <a:gd name="T7" fmla="*/ 0 h 1070"/>
              <a:gd name="T8" fmla="*/ 2488 w 3023"/>
              <a:gd name="T9" fmla="*/ 0 h 1070"/>
              <a:gd name="T10" fmla="*/ 2488 w 3023"/>
              <a:gd name="T11" fmla="*/ 0 h 1070"/>
              <a:gd name="T12" fmla="*/ 535 w 3023"/>
              <a:gd name="T13" fmla="*/ 0 h 1070"/>
              <a:gd name="T14" fmla="*/ 0 w 3023"/>
              <a:gd name="T15" fmla="*/ 535 h 1070"/>
              <a:gd name="T16" fmla="*/ 535 w 3023"/>
              <a:gd name="T17" fmla="*/ 1070 h 1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1070">
                <a:moveTo>
                  <a:pt x="535" y="1070"/>
                </a:moveTo>
                <a:lnTo>
                  <a:pt x="2488" y="1070"/>
                </a:lnTo>
                <a:cubicBezTo>
                  <a:pt x="2784" y="1070"/>
                  <a:pt x="3023" y="830"/>
                  <a:pt x="3023" y="535"/>
                </a:cubicBezTo>
                <a:cubicBezTo>
                  <a:pt x="3023" y="239"/>
                  <a:pt x="2784" y="0"/>
                  <a:pt x="2488" y="0"/>
                </a:cubicBezTo>
                <a:cubicBezTo>
                  <a:pt x="2488" y="0"/>
                  <a:pt x="2488" y="0"/>
                  <a:pt x="2488" y="0"/>
                </a:cubicBezTo>
                <a:lnTo>
                  <a:pt x="2488" y="0"/>
                </a:lnTo>
                <a:lnTo>
                  <a:pt x="535" y="0"/>
                </a:lnTo>
                <a:cubicBezTo>
                  <a:pt x="239" y="0"/>
                  <a:pt x="0" y="239"/>
                  <a:pt x="0" y="535"/>
                </a:cubicBezTo>
                <a:cubicBezTo>
                  <a:pt x="0" y="830"/>
                  <a:pt x="239" y="1070"/>
                  <a:pt x="535" y="1070"/>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2" name="Rectangle 11"/>
          <p:cNvSpPr>
            <a:spLocks noChangeArrowheads="1"/>
          </p:cNvSpPr>
          <p:nvPr/>
        </p:nvSpPr>
        <p:spPr bwMode="auto">
          <a:xfrm>
            <a:off x="3944620" y="3589973"/>
            <a:ext cx="9794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FsImage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3" name="Freeform 12"/>
          <p:cNvSpPr/>
          <p:nvPr/>
        </p:nvSpPr>
        <p:spPr bwMode="auto">
          <a:xfrm>
            <a:off x="3400107" y="4318635"/>
            <a:ext cx="1947863" cy="573088"/>
          </a:xfrm>
          <a:custGeom>
            <a:avLst/>
            <a:gdLst>
              <a:gd name="T0" fmla="*/ 444 w 3023"/>
              <a:gd name="T1" fmla="*/ 889 h 889"/>
              <a:gd name="T2" fmla="*/ 2579 w 3023"/>
              <a:gd name="T3" fmla="*/ 889 h 889"/>
              <a:gd name="T4" fmla="*/ 3023 w 3023"/>
              <a:gd name="T5" fmla="*/ 444 h 889"/>
              <a:gd name="T6" fmla="*/ 2579 w 3023"/>
              <a:gd name="T7" fmla="*/ 0 h 889"/>
              <a:gd name="T8" fmla="*/ 2579 w 3023"/>
              <a:gd name="T9" fmla="*/ 0 h 889"/>
              <a:gd name="T10" fmla="*/ 2579 w 3023"/>
              <a:gd name="T11" fmla="*/ 0 h 889"/>
              <a:gd name="T12" fmla="*/ 444 w 3023"/>
              <a:gd name="T13" fmla="*/ 0 h 889"/>
              <a:gd name="T14" fmla="*/ 0 w 3023"/>
              <a:gd name="T15" fmla="*/ 444 h 889"/>
              <a:gd name="T16" fmla="*/ 444 w 3023"/>
              <a:gd name="T17" fmla="*/ 889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889">
                <a:moveTo>
                  <a:pt x="444" y="889"/>
                </a:moveTo>
                <a:lnTo>
                  <a:pt x="2579" y="889"/>
                </a:lnTo>
                <a:cubicBezTo>
                  <a:pt x="2824" y="889"/>
                  <a:pt x="3023" y="690"/>
                  <a:pt x="3023" y="444"/>
                </a:cubicBezTo>
                <a:cubicBezTo>
                  <a:pt x="3023" y="199"/>
                  <a:pt x="2824" y="0"/>
                  <a:pt x="2579" y="0"/>
                </a:cubicBezTo>
                <a:cubicBezTo>
                  <a:pt x="2579" y="0"/>
                  <a:pt x="2579" y="0"/>
                  <a:pt x="2579" y="0"/>
                </a:cubicBezTo>
                <a:lnTo>
                  <a:pt x="2579" y="0"/>
                </a:lnTo>
                <a:lnTo>
                  <a:pt x="444" y="0"/>
                </a:lnTo>
                <a:cubicBezTo>
                  <a:pt x="199" y="0"/>
                  <a:pt x="0" y="199"/>
                  <a:pt x="0" y="444"/>
                </a:cubicBezTo>
                <a:cubicBezTo>
                  <a:pt x="0" y="690"/>
                  <a:pt x="199" y="889"/>
                  <a:pt x="444" y="889"/>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4" name="Rectangle 13"/>
          <p:cNvSpPr>
            <a:spLocks noChangeArrowheads="1"/>
          </p:cNvSpPr>
          <p:nvPr/>
        </p:nvSpPr>
        <p:spPr bwMode="auto">
          <a:xfrm>
            <a:off x="3965257" y="4455160"/>
            <a:ext cx="9493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EditLog</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7" name="矩形: 圆角 66"/>
          <p:cNvSpPr/>
          <p:nvPr/>
        </p:nvSpPr>
        <p:spPr>
          <a:xfrm>
            <a:off x="491490" y="1690688"/>
            <a:ext cx="8073390" cy="4693920"/>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68" name="箭头: 左弧形 67"/>
          <p:cNvSpPr/>
          <p:nvPr/>
        </p:nvSpPr>
        <p:spPr>
          <a:xfrm flipV="1">
            <a:off x="2356485" y="3450288"/>
            <a:ext cx="944880" cy="1260443"/>
          </a:xfrm>
          <a:prstGeom prst="curvedRightArrow">
            <a:avLst/>
          </a:prstGeom>
          <a:ln>
            <a:noFill/>
          </a:ln>
        </p:spPr>
        <p:style>
          <a:lnRef idx="1">
            <a:schemeClr val="accent2"/>
          </a:lnRef>
          <a:fillRef idx="2">
            <a:schemeClr val="accent2"/>
          </a:fillRef>
          <a:effectRef idx="1">
            <a:schemeClr val="accent2"/>
          </a:effectRef>
          <a:fontRef idx="minor">
            <a:schemeClr val="dk1"/>
          </a:fontRef>
        </p:style>
        <p:txBody>
          <a:bodyPr vert="vert" rtlCol="0" anchor="ctr"/>
          <a:lstStyle/>
          <a:p>
            <a:pPr algn="ctr"/>
            <a:r>
              <a:rPr lang="en-US" altLang="zh-CN" sz="2400" b="1" dirty="0">
                <a:solidFill>
                  <a:schemeClr val="tx1"/>
                </a:solidFill>
              </a:rPr>
              <a:t>2</a:t>
            </a:r>
            <a:endParaRPr lang="zh-CN" altLang="en-US" sz="2400" b="1" dirty="0">
              <a:solidFill>
                <a:schemeClr val="tx1"/>
              </a:solidFill>
            </a:endParaRPr>
          </a:p>
        </p:txBody>
      </p:sp>
      <p:sp>
        <p:nvSpPr>
          <p:cNvPr id="69" name="矩形: 圆角 68"/>
          <p:cNvSpPr/>
          <p:nvPr/>
        </p:nvSpPr>
        <p:spPr>
          <a:xfrm>
            <a:off x="721359" y="3450288"/>
            <a:ext cx="1536383" cy="113473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更新内存中的元数据</a:t>
            </a:r>
            <a:endParaRPr lang="zh-CN" altLang="en-US" sz="2800" dirty="0"/>
          </a:p>
        </p:txBody>
      </p:sp>
      <p:sp>
        <p:nvSpPr>
          <p:cNvPr id="70" name="箭头: 上 69"/>
          <p:cNvSpPr/>
          <p:nvPr/>
        </p:nvSpPr>
        <p:spPr>
          <a:xfrm>
            <a:off x="4072414" y="2529523"/>
            <a:ext cx="554673" cy="1096645"/>
          </a:xfrm>
          <a:prstGeom prst="up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400" b="1" dirty="0"/>
              <a:t>1</a:t>
            </a:r>
            <a:endParaRPr lang="zh-CN" altLang="en-US" sz="2400" b="1" dirty="0"/>
          </a:p>
        </p:txBody>
      </p:sp>
      <p:sp>
        <p:nvSpPr>
          <p:cNvPr id="71" name="矩形: 圆角 70"/>
          <p:cNvSpPr/>
          <p:nvPr/>
        </p:nvSpPr>
        <p:spPr>
          <a:xfrm>
            <a:off x="3445827" y="1882002"/>
            <a:ext cx="2030413" cy="61233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载入内存</a:t>
            </a:r>
            <a:endParaRPr lang="zh-CN" altLang="en-US" sz="2800" dirty="0"/>
          </a:p>
        </p:txBody>
      </p:sp>
      <p:sp>
        <p:nvSpPr>
          <p:cNvPr id="73" name="文本框 72"/>
          <p:cNvSpPr txBox="1"/>
          <p:nvPr/>
        </p:nvSpPr>
        <p:spPr>
          <a:xfrm>
            <a:off x="491490" y="1833543"/>
            <a:ext cx="2113280" cy="954107"/>
          </a:xfrm>
          <a:prstGeom prst="rect">
            <a:avLst/>
          </a:prstGeom>
          <a:noFill/>
        </p:spPr>
        <p:txBody>
          <a:bodyPr wrap="square">
            <a:spAutoFit/>
          </a:bodyPr>
          <a:lstStyle/>
          <a:p>
            <a:pPr algn="ctr"/>
            <a:r>
              <a:rPr lang="zh-CN" altLang="en-US" sz="2800" dirty="0"/>
              <a:t>“安全模式”</a:t>
            </a:r>
            <a:endParaRPr lang="en-US" altLang="zh-CN" sz="2800" dirty="0"/>
          </a:p>
          <a:p>
            <a:pPr algn="ctr"/>
            <a:r>
              <a:rPr lang="zh-CN" altLang="en-US" sz="2800" dirty="0"/>
              <a:t>对外只读</a:t>
            </a:r>
            <a:endParaRPr lang="zh-CN" altLang="en-US" sz="2800" dirty="0"/>
          </a:p>
        </p:txBody>
      </p:sp>
      <p:sp>
        <p:nvSpPr>
          <p:cNvPr id="74" name="箭头: 上 73"/>
          <p:cNvSpPr/>
          <p:nvPr/>
        </p:nvSpPr>
        <p:spPr>
          <a:xfrm rot="5400000">
            <a:off x="5587050" y="3522146"/>
            <a:ext cx="820421" cy="1096645"/>
          </a:xfrm>
          <a:prstGeom prst="upArrow">
            <a:avLst/>
          </a:prstGeom>
          <a:ln>
            <a:no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altLang="zh-CN" sz="2400" b="1" dirty="0"/>
              <a:t>3</a:t>
            </a:r>
            <a:endParaRPr lang="zh-CN" altLang="en-US" sz="2400" b="1" dirty="0"/>
          </a:p>
        </p:txBody>
      </p:sp>
      <p:sp>
        <p:nvSpPr>
          <p:cNvPr id="75" name="Freeform 10"/>
          <p:cNvSpPr/>
          <p:nvPr/>
        </p:nvSpPr>
        <p:spPr bwMode="auto">
          <a:xfrm>
            <a:off x="6462633" y="3342379"/>
            <a:ext cx="1947863" cy="688975"/>
          </a:xfrm>
          <a:custGeom>
            <a:avLst/>
            <a:gdLst>
              <a:gd name="T0" fmla="*/ 535 w 3023"/>
              <a:gd name="T1" fmla="*/ 1070 h 1070"/>
              <a:gd name="T2" fmla="*/ 2488 w 3023"/>
              <a:gd name="T3" fmla="*/ 1070 h 1070"/>
              <a:gd name="T4" fmla="*/ 3023 w 3023"/>
              <a:gd name="T5" fmla="*/ 535 h 1070"/>
              <a:gd name="T6" fmla="*/ 2488 w 3023"/>
              <a:gd name="T7" fmla="*/ 0 h 1070"/>
              <a:gd name="T8" fmla="*/ 2488 w 3023"/>
              <a:gd name="T9" fmla="*/ 0 h 1070"/>
              <a:gd name="T10" fmla="*/ 2488 w 3023"/>
              <a:gd name="T11" fmla="*/ 0 h 1070"/>
              <a:gd name="T12" fmla="*/ 535 w 3023"/>
              <a:gd name="T13" fmla="*/ 0 h 1070"/>
              <a:gd name="T14" fmla="*/ 0 w 3023"/>
              <a:gd name="T15" fmla="*/ 535 h 1070"/>
              <a:gd name="T16" fmla="*/ 535 w 3023"/>
              <a:gd name="T17" fmla="*/ 1070 h 1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1070">
                <a:moveTo>
                  <a:pt x="535" y="1070"/>
                </a:moveTo>
                <a:lnTo>
                  <a:pt x="2488" y="1070"/>
                </a:lnTo>
                <a:cubicBezTo>
                  <a:pt x="2784" y="1070"/>
                  <a:pt x="3023" y="830"/>
                  <a:pt x="3023" y="535"/>
                </a:cubicBezTo>
                <a:cubicBezTo>
                  <a:pt x="3023" y="239"/>
                  <a:pt x="2784" y="0"/>
                  <a:pt x="2488" y="0"/>
                </a:cubicBezTo>
                <a:cubicBezTo>
                  <a:pt x="2488" y="0"/>
                  <a:pt x="2488" y="0"/>
                  <a:pt x="2488" y="0"/>
                </a:cubicBezTo>
                <a:lnTo>
                  <a:pt x="2488" y="0"/>
                </a:lnTo>
                <a:lnTo>
                  <a:pt x="535" y="0"/>
                </a:lnTo>
                <a:cubicBezTo>
                  <a:pt x="239" y="0"/>
                  <a:pt x="0" y="239"/>
                  <a:pt x="0" y="535"/>
                </a:cubicBezTo>
                <a:cubicBezTo>
                  <a:pt x="0" y="830"/>
                  <a:pt x="239" y="1070"/>
                  <a:pt x="535" y="1070"/>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6" name="Rectangle 11"/>
          <p:cNvSpPr>
            <a:spLocks noChangeArrowheads="1"/>
          </p:cNvSpPr>
          <p:nvPr/>
        </p:nvSpPr>
        <p:spPr bwMode="auto">
          <a:xfrm>
            <a:off x="6920627" y="3532978"/>
            <a:ext cx="1138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2000" dirty="0">
                <a:solidFill>
                  <a:srgbClr val="000000"/>
                </a:solidFill>
                <a:latin typeface="Times New Roman" panose="02020603050405020304" pitchFamily="18" charset="0"/>
              </a:rPr>
              <a:t>新</a:t>
            </a:r>
            <a:r>
              <a:rPr kumimoji="0" lang="zh-CN" altLang="zh-CN" sz="2000" b="0" i="0" u="none" strike="noStrike" cap="none" normalizeH="0" baseline="0" dirty="0">
                <a:ln>
                  <a:noFill/>
                </a:ln>
                <a:solidFill>
                  <a:srgbClr val="000000"/>
                </a:solidFill>
                <a:effectLst/>
                <a:latin typeface="Times New Roman" panose="02020603050405020304" pitchFamily="18" charset="0"/>
              </a:rPr>
              <a:t>FsImage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7" name="Freeform 12"/>
          <p:cNvSpPr/>
          <p:nvPr/>
        </p:nvSpPr>
        <p:spPr bwMode="auto">
          <a:xfrm>
            <a:off x="6462633" y="4293925"/>
            <a:ext cx="1947863" cy="573088"/>
          </a:xfrm>
          <a:custGeom>
            <a:avLst/>
            <a:gdLst>
              <a:gd name="T0" fmla="*/ 444 w 3023"/>
              <a:gd name="T1" fmla="*/ 889 h 889"/>
              <a:gd name="T2" fmla="*/ 2579 w 3023"/>
              <a:gd name="T3" fmla="*/ 889 h 889"/>
              <a:gd name="T4" fmla="*/ 3023 w 3023"/>
              <a:gd name="T5" fmla="*/ 444 h 889"/>
              <a:gd name="T6" fmla="*/ 2579 w 3023"/>
              <a:gd name="T7" fmla="*/ 0 h 889"/>
              <a:gd name="T8" fmla="*/ 2579 w 3023"/>
              <a:gd name="T9" fmla="*/ 0 h 889"/>
              <a:gd name="T10" fmla="*/ 2579 w 3023"/>
              <a:gd name="T11" fmla="*/ 0 h 889"/>
              <a:gd name="T12" fmla="*/ 444 w 3023"/>
              <a:gd name="T13" fmla="*/ 0 h 889"/>
              <a:gd name="T14" fmla="*/ 0 w 3023"/>
              <a:gd name="T15" fmla="*/ 444 h 889"/>
              <a:gd name="T16" fmla="*/ 444 w 3023"/>
              <a:gd name="T17" fmla="*/ 889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889">
                <a:moveTo>
                  <a:pt x="444" y="889"/>
                </a:moveTo>
                <a:lnTo>
                  <a:pt x="2579" y="889"/>
                </a:lnTo>
                <a:cubicBezTo>
                  <a:pt x="2824" y="889"/>
                  <a:pt x="3023" y="690"/>
                  <a:pt x="3023" y="444"/>
                </a:cubicBezTo>
                <a:cubicBezTo>
                  <a:pt x="3023" y="199"/>
                  <a:pt x="2824" y="0"/>
                  <a:pt x="2579" y="0"/>
                </a:cubicBezTo>
                <a:cubicBezTo>
                  <a:pt x="2579" y="0"/>
                  <a:pt x="2579" y="0"/>
                  <a:pt x="2579" y="0"/>
                </a:cubicBezTo>
                <a:lnTo>
                  <a:pt x="2579" y="0"/>
                </a:lnTo>
                <a:lnTo>
                  <a:pt x="444" y="0"/>
                </a:lnTo>
                <a:cubicBezTo>
                  <a:pt x="199" y="0"/>
                  <a:pt x="0" y="199"/>
                  <a:pt x="0" y="444"/>
                </a:cubicBezTo>
                <a:cubicBezTo>
                  <a:pt x="0" y="690"/>
                  <a:pt x="199" y="889"/>
                  <a:pt x="444" y="889"/>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8" name="Rectangle 13"/>
          <p:cNvSpPr>
            <a:spLocks noChangeArrowheads="1"/>
          </p:cNvSpPr>
          <p:nvPr/>
        </p:nvSpPr>
        <p:spPr bwMode="auto">
          <a:xfrm>
            <a:off x="6920627" y="4426580"/>
            <a:ext cx="10964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2000" dirty="0">
                <a:solidFill>
                  <a:srgbClr val="000000"/>
                </a:solidFill>
                <a:latin typeface="Times New Roman" panose="02020603050405020304" pitchFamily="18" charset="0"/>
              </a:rPr>
              <a:t>空</a:t>
            </a:r>
            <a:r>
              <a:rPr kumimoji="0" lang="zh-CN" altLang="zh-CN" sz="2000" b="0" i="0" u="none" strike="noStrike" cap="none" normalizeH="0" baseline="0" dirty="0">
                <a:ln>
                  <a:noFill/>
                </a:ln>
                <a:solidFill>
                  <a:srgbClr val="000000"/>
                </a:solidFill>
                <a:effectLst/>
                <a:latin typeface="Times New Roman" panose="02020603050405020304" pitchFamily="18" charset="0"/>
              </a:rPr>
              <a:t>EditLog</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9" name="矩形: 圆角 78"/>
          <p:cNvSpPr/>
          <p:nvPr/>
        </p:nvSpPr>
        <p:spPr>
          <a:xfrm>
            <a:off x="1169472" y="5433954"/>
            <a:ext cx="6915230" cy="61233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扫描所有数据节点，得块存储的位置信息</a:t>
            </a:r>
            <a:endParaRPr lang="zh-CN" altLang="en-US" sz="2800" dirty="0"/>
          </a:p>
        </p:txBody>
      </p:sp>
      <p:sp>
        <p:nvSpPr>
          <p:cNvPr id="80" name="思想气泡: 云 79"/>
          <p:cNvSpPr/>
          <p:nvPr/>
        </p:nvSpPr>
        <p:spPr>
          <a:xfrm>
            <a:off x="6612890" y="811707"/>
            <a:ext cx="2164080" cy="1325563"/>
          </a:xfrm>
          <a:prstGeom prst="cloudCallout">
            <a:avLst>
              <a:gd name="adj1" fmla="val -40082"/>
              <a:gd name="adj2" fmla="val 63266"/>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4400" dirty="0"/>
              <a:t>why</a:t>
            </a:r>
            <a:endParaRPr lang="zh-CN" altLang="en-US" sz="4400" dirty="0"/>
          </a:p>
        </p:txBody>
      </p:sp>
      <p:sp>
        <p:nvSpPr>
          <p:cNvPr id="81" name="流程图: 磁盘 80"/>
          <p:cNvSpPr/>
          <p:nvPr/>
        </p:nvSpPr>
        <p:spPr>
          <a:xfrm>
            <a:off x="10206319" y="4031354"/>
            <a:ext cx="1432560" cy="980207"/>
          </a:xfrm>
          <a:prstGeom prst="flowChartMagneticDisk">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3200" dirty="0"/>
              <a:t>更新</a:t>
            </a:r>
            <a:endParaRPr lang="zh-CN" altLang="en-US" sz="3200" dirty="0"/>
          </a:p>
        </p:txBody>
      </p:sp>
      <p:sp>
        <p:nvSpPr>
          <p:cNvPr id="82" name="对话气泡: 圆角矩形 81"/>
          <p:cNvSpPr/>
          <p:nvPr/>
        </p:nvSpPr>
        <p:spPr>
          <a:xfrm>
            <a:off x="8680451" y="1847831"/>
            <a:ext cx="1971517" cy="1096962"/>
          </a:xfrm>
          <a:prstGeom prst="wedgeRoundRectCallout">
            <a:avLst>
              <a:gd name="adj1" fmla="val -76837"/>
              <a:gd name="adj2" fmla="val 108202"/>
              <a:gd name="adj3" fmla="val 16667"/>
            </a:avLst>
          </a:prstGeom>
          <a:solidFill>
            <a:srgbClr val="7030A0"/>
          </a:solidFill>
          <a:ln>
            <a:no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800" dirty="0"/>
              <a:t>很大，写我效率低</a:t>
            </a:r>
            <a:endParaRPr lang="zh-CN" altLang="en-US" sz="2800" dirty="0"/>
          </a:p>
        </p:txBody>
      </p:sp>
      <p:sp>
        <p:nvSpPr>
          <p:cNvPr id="83" name="箭头: 左 82"/>
          <p:cNvSpPr/>
          <p:nvPr/>
        </p:nvSpPr>
        <p:spPr>
          <a:xfrm>
            <a:off x="8341596" y="4213894"/>
            <a:ext cx="1716803" cy="677829"/>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84" name="对话气泡: 圆角矩形 83"/>
          <p:cNvSpPr/>
          <p:nvPr/>
        </p:nvSpPr>
        <p:spPr>
          <a:xfrm>
            <a:off x="8680450" y="5259388"/>
            <a:ext cx="1971517" cy="1096962"/>
          </a:xfrm>
          <a:prstGeom prst="wedgeRoundRectCallout">
            <a:avLst>
              <a:gd name="adj1" fmla="val -85597"/>
              <a:gd name="adj2" fmla="val -7572"/>
              <a:gd name="adj3" fmla="val 16667"/>
            </a:avLst>
          </a:prstGeom>
          <a:solidFill>
            <a:srgbClr val="FF0000"/>
          </a:solidFill>
          <a:ln>
            <a:no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800" dirty="0">
                <a:solidFill>
                  <a:srgbClr val="FFFF00"/>
                </a:solidFill>
              </a:rPr>
              <a:t>主动汇报</a:t>
            </a:r>
            <a:endParaRPr lang="en-US" altLang="zh-CN" sz="2800" dirty="0">
              <a:solidFill>
                <a:srgbClr val="FFFF00"/>
              </a:solidFill>
            </a:endParaRPr>
          </a:p>
          <a:p>
            <a:pPr algn="ctr"/>
            <a:r>
              <a:rPr lang="zh-CN" altLang="en-US" sz="2800" dirty="0">
                <a:solidFill>
                  <a:srgbClr val="FFFF00"/>
                </a:solidFill>
              </a:rPr>
              <a:t>定期汇报</a:t>
            </a:r>
            <a:endParaRPr lang="zh-CN" altLang="en-US" sz="2800" dirty="0">
              <a:solidFill>
                <a:srgbClr val="FFFF00"/>
              </a:solidFill>
            </a:endParaRPr>
          </a:p>
        </p:txBody>
      </p:sp>
      <p:sp>
        <p:nvSpPr>
          <p:cNvPr id="85" name="思想气泡: 云 84"/>
          <p:cNvSpPr/>
          <p:nvPr/>
        </p:nvSpPr>
        <p:spPr>
          <a:xfrm>
            <a:off x="9050319" y="3212206"/>
            <a:ext cx="1851361" cy="848419"/>
          </a:xfrm>
          <a:prstGeom prst="cloudCallout">
            <a:avLst>
              <a:gd name="adj1" fmla="val -118749"/>
              <a:gd name="adj2" fmla="val 99431"/>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800" dirty="0"/>
              <a:t>变大？</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wipe(down)">
                                      <p:cBhvr>
                                        <p:cTn id="13" dur="500"/>
                                        <p:tgtEl>
                                          <p:spTgt spid="70"/>
                                        </p:tgtEl>
                                      </p:cBhvr>
                                    </p:animEffect>
                                  </p:childTnLst>
                                </p:cTn>
                              </p:par>
                            </p:childTnLst>
                          </p:cTn>
                        </p:par>
                        <p:par>
                          <p:cTn id="14" fill="hold">
                            <p:stCondLst>
                              <p:cond delay="500"/>
                            </p:stCondLst>
                            <p:childTnLst>
                              <p:par>
                                <p:cTn id="15" presetID="16" presetClass="entr" presetSubtype="21" fill="hold" grpId="0" nodeType="after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barn(inVertical)">
                                      <p:cBhvr>
                                        <p:cTn id="17" dur="5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down)">
                                      <p:cBhvr>
                                        <p:cTn id="22" dur="500"/>
                                        <p:tgtEl>
                                          <p:spTgt spid="6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wipe(down)">
                                      <p:cBhvr>
                                        <p:cTn id="25" dur="500"/>
                                        <p:tgtEl>
                                          <p:spTgt spid="6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74"/>
                                        </p:tgtEl>
                                        <p:attrNameLst>
                                          <p:attrName>style.visibility</p:attrName>
                                        </p:attrNameLst>
                                      </p:cBhvr>
                                      <p:to>
                                        <p:strVal val="visible"/>
                                      </p:to>
                                    </p:set>
                                    <p:animEffect transition="in" filter="wipe(down)">
                                      <p:cBhvr>
                                        <p:cTn id="30" dur="500"/>
                                        <p:tgtEl>
                                          <p:spTgt spid="74"/>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75"/>
                                        </p:tgtEl>
                                        <p:attrNameLst>
                                          <p:attrName>style.visibility</p:attrName>
                                        </p:attrNameLst>
                                      </p:cBhvr>
                                      <p:to>
                                        <p:strVal val="visible"/>
                                      </p:to>
                                    </p:set>
                                    <p:animEffect transition="in" filter="wipe(left)">
                                      <p:cBhvr>
                                        <p:cTn id="34" dur="500"/>
                                        <p:tgtEl>
                                          <p:spTgt spid="75"/>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animEffect transition="in" filter="wipe(left)">
                                      <p:cBhvr>
                                        <p:cTn id="37" dur="500"/>
                                        <p:tgtEl>
                                          <p:spTgt spid="7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77"/>
                                        </p:tgtEl>
                                        <p:attrNameLst>
                                          <p:attrName>style.visibility</p:attrName>
                                        </p:attrNameLst>
                                      </p:cBhvr>
                                      <p:to>
                                        <p:strVal val="visible"/>
                                      </p:to>
                                    </p:set>
                                    <p:animEffect transition="in" filter="wipe(left)">
                                      <p:cBhvr>
                                        <p:cTn id="40" dur="500"/>
                                        <p:tgtEl>
                                          <p:spTgt spid="77"/>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animEffect transition="in" filter="wipe(left)">
                                      <p:cBhvr>
                                        <p:cTn id="43" dur="500"/>
                                        <p:tgtEl>
                                          <p:spTgt spid="78"/>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5" fill="hold" grpId="0" nodeType="clickEffect">
                                  <p:stCondLst>
                                    <p:cond delay="0"/>
                                  </p:stCondLst>
                                  <p:childTnLst>
                                    <p:set>
                                      <p:cBhvr>
                                        <p:cTn id="47" dur="1" fill="hold">
                                          <p:stCondLst>
                                            <p:cond delay="0"/>
                                          </p:stCondLst>
                                        </p:cTn>
                                        <p:tgtEl>
                                          <p:spTgt spid="79"/>
                                        </p:tgtEl>
                                        <p:attrNameLst>
                                          <p:attrName>style.visibility</p:attrName>
                                        </p:attrNameLst>
                                      </p:cBhvr>
                                      <p:to>
                                        <p:strVal val="visible"/>
                                      </p:to>
                                    </p:set>
                                    <p:animEffect transition="in" filter="randombar(vertical)">
                                      <p:cBhvr>
                                        <p:cTn id="48" dur="500"/>
                                        <p:tgtEl>
                                          <p:spTgt spid="7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84"/>
                                        </p:tgtEl>
                                        <p:attrNameLst>
                                          <p:attrName>style.visibility</p:attrName>
                                        </p:attrNameLst>
                                      </p:cBhvr>
                                      <p:to>
                                        <p:strVal val="visible"/>
                                      </p:to>
                                    </p:set>
                                    <p:animEffect transition="in" filter="wipe(down)">
                                      <p:cBhvr>
                                        <p:cTn id="53" dur="500"/>
                                        <p:tgtEl>
                                          <p:spTgt spid="84"/>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80"/>
                                        </p:tgtEl>
                                        <p:attrNameLst>
                                          <p:attrName>style.visibility</p:attrName>
                                        </p:attrNameLst>
                                      </p:cBhvr>
                                      <p:to>
                                        <p:strVal val="visible"/>
                                      </p:to>
                                    </p:set>
                                    <p:animEffect transition="in" filter="fade">
                                      <p:cBhvr>
                                        <p:cTn id="58" dur="1000"/>
                                        <p:tgtEl>
                                          <p:spTgt spid="80"/>
                                        </p:tgtEl>
                                      </p:cBhvr>
                                    </p:animEffect>
                                    <p:anim calcmode="lin" valueType="num">
                                      <p:cBhvr>
                                        <p:cTn id="59" dur="1000" fill="hold"/>
                                        <p:tgtEl>
                                          <p:spTgt spid="80"/>
                                        </p:tgtEl>
                                        <p:attrNameLst>
                                          <p:attrName>ppt_x</p:attrName>
                                        </p:attrNameLst>
                                      </p:cBhvr>
                                      <p:tavLst>
                                        <p:tav tm="0">
                                          <p:val>
                                            <p:strVal val="#ppt_x"/>
                                          </p:val>
                                        </p:tav>
                                        <p:tav tm="100000">
                                          <p:val>
                                            <p:strVal val="#ppt_x"/>
                                          </p:val>
                                        </p:tav>
                                      </p:tavLst>
                                    </p:anim>
                                    <p:anim calcmode="lin" valueType="num">
                                      <p:cBhvr>
                                        <p:cTn id="60"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6" presetClass="entr" presetSubtype="32" fill="hold" grpId="0" nodeType="click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circle(out)">
                                      <p:cBhvr>
                                        <p:cTn id="65" dur="2000"/>
                                        <p:tgtEl>
                                          <p:spTgt spid="8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82"/>
                                        </p:tgtEl>
                                        <p:attrNameLst>
                                          <p:attrName>style.visibility</p:attrName>
                                        </p:attrNameLst>
                                      </p:cBhvr>
                                      <p:to>
                                        <p:strVal val="visible"/>
                                      </p:to>
                                    </p:set>
                                    <p:animEffect transition="in" filter="wipe(down)">
                                      <p:cBhvr>
                                        <p:cTn id="70" dur="500"/>
                                        <p:tgtEl>
                                          <p:spTgt spid="8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grpId="0" nodeType="clickEffect">
                                  <p:stCondLst>
                                    <p:cond delay="0"/>
                                  </p:stCondLst>
                                  <p:childTnLst>
                                    <p:set>
                                      <p:cBhvr>
                                        <p:cTn id="74" dur="1" fill="hold">
                                          <p:stCondLst>
                                            <p:cond delay="0"/>
                                          </p:stCondLst>
                                        </p:cTn>
                                        <p:tgtEl>
                                          <p:spTgt spid="83"/>
                                        </p:tgtEl>
                                        <p:attrNameLst>
                                          <p:attrName>style.visibility</p:attrName>
                                        </p:attrNameLst>
                                      </p:cBhvr>
                                      <p:to>
                                        <p:strVal val="visible"/>
                                      </p:to>
                                    </p:set>
                                    <p:animEffect transition="in" filter="wipe(right)">
                                      <p:cBhvr>
                                        <p:cTn id="75" dur="500"/>
                                        <p:tgtEl>
                                          <p:spTgt spid="83"/>
                                        </p:tgtEl>
                                      </p:cBhvr>
                                    </p:animEffect>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85"/>
                                        </p:tgtEl>
                                        <p:attrNameLst>
                                          <p:attrName>style.visibility</p:attrName>
                                        </p:attrNameLst>
                                      </p:cBhvr>
                                      <p:to>
                                        <p:strVal val="visible"/>
                                      </p:to>
                                    </p:set>
                                    <p:animEffect transition="in" filter="fade">
                                      <p:cBhvr>
                                        <p:cTn id="80" dur="1000"/>
                                        <p:tgtEl>
                                          <p:spTgt spid="85"/>
                                        </p:tgtEl>
                                      </p:cBhvr>
                                    </p:animEffect>
                                    <p:anim calcmode="lin" valueType="num">
                                      <p:cBhvr>
                                        <p:cTn id="81" dur="1000" fill="hold"/>
                                        <p:tgtEl>
                                          <p:spTgt spid="85"/>
                                        </p:tgtEl>
                                        <p:attrNameLst>
                                          <p:attrName>ppt_x</p:attrName>
                                        </p:attrNameLst>
                                      </p:cBhvr>
                                      <p:tavLst>
                                        <p:tav tm="0">
                                          <p:val>
                                            <p:strVal val="#ppt_x"/>
                                          </p:val>
                                        </p:tav>
                                        <p:tav tm="100000">
                                          <p:val>
                                            <p:strVal val="#ppt_x"/>
                                          </p:val>
                                        </p:tav>
                                      </p:tavLst>
                                    </p:anim>
                                    <p:anim calcmode="lin" valueType="num">
                                      <p:cBhvr>
                                        <p:cTn id="82" dur="1000" fill="hold"/>
                                        <p:tgtEl>
                                          <p:spTgt spid="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9" grpId="0" animBg="1"/>
      <p:bldP spid="70" grpId="0" animBg="1"/>
      <p:bldP spid="71" grpId="0" animBg="1"/>
      <p:bldP spid="73" grpId="0"/>
      <p:bldP spid="74" grpId="0" animBg="1"/>
      <p:bldP spid="75" grpId="0" animBg="1"/>
      <p:bldP spid="76" grpId="0"/>
      <p:bldP spid="77" grpId="0" animBg="1"/>
      <p:bldP spid="78" grpId="0"/>
      <p:bldP spid="79" grpId="0" animBg="1"/>
      <p:bldP spid="80" grpId="0" animBg="1"/>
      <p:bldP spid="81" grpId="0" animBg="1"/>
      <p:bldP spid="82" grpId="0" animBg="1"/>
      <p:bldP spid="83" grpId="0" animBg="1"/>
      <p:bldP spid="84" grpId="0" animBg="1"/>
      <p:bldP spid="8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p:txBody>
          <a:bodyPr/>
          <a:lstStyle/>
          <a:p>
            <a:r>
              <a:rPr lang="en-US" altLang="zh-CN" b="1" dirty="0"/>
              <a:t>3.3.3	</a:t>
            </a:r>
            <a:r>
              <a:rPr lang="zh-CN" altLang="en-US" b="1" dirty="0"/>
              <a:t>第二名称节点</a:t>
            </a:r>
            <a:endParaRPr lang="zh-CN" altLang="en-US" dirty="0"/>
          </a:p>
        </p:txBody>
      </p:sp>
      <p:sp>
        <p:nvSpPr>
          <p:cNvPr id="2" name="Freeform 12"/>
          <p:cNvSpPr/>
          <p:nvPr/>
        </p:nvSpPr>
        <p:spPr bwMode="auto">
          <a:xfrm>
            <a:off x="1504553" y="2519032"/>
            <a:ext cx="1947863" cy="573088"/>
          </a:xfrm>
          <a:custGeom>
            <a:avLst/>
            <a:gdLst>
              <a:gd name="T0" fmla="*/ 444 w 3023"/>
              <a:gd name="T1" fmla="*/ 889 h 889"/>
              <a:gd name="T2" fmla="*/ 2579 w 3023"/>
              <a:gd name="T3" fmla="*/ 889 h 889"/>
              <a:gd name="T4" fmla="*/ 3023 w 3023"/>
              <a:gd name="T5" fmla="*/ 444 h 889"/>
              <a:gd name="T6" fmla="*/ 2579 w 3023"/>
              <a:gd name="T7" fmla="*/ 0 h 889"/>
              <a:gd name="T8" fmla="*/ 2579 w 3023"/>
              <a:gd name="T9" fmla="*/ 0 h 889"/>
              <a:gd name="T10" fmla="*/ 2579 w 3023"/>
              <a:gd name="T11" fmla="*/ 0 h 889"/>
              <a:gd name="T12" fmla="*/ 444 w 3023"/>
              <a:gd name="T13" fmla="*/ 0 h 889"/>
              <a:gd name="T14" fmla="*/ 0 w 3023"/>
              <a:gd name="T15" fmla="*/ 444 h 889"/>
              <a:gd name="T16" fmla="*/ 444 w 3023"/>
              <a:gd name="T17" fmla="*/ 889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889">
                <a:moveTo>
                  <a:pt x="444" y="889"/>
                </a:moveTo>
                <a:lnTo>
                  <a:pt x="2579" y="889"/>
                </a:lnTo>
                <a:cubicBezTo>
                  <a:pt x="2824" y="889"/>
                  <a:pt x="3023" y="690"/>
                  <a:pt x="3023" y="444"/>
                </a:cubicBezTo>
                <a:cubicBezTo>
                  <a:pt x="3023" y="199"/>
                  <a:pt x="2824" y="0"/>
                  <a:pt x="2579" y="0"/>
                </a:cubicBezTo>
                <a:cubicBezTo>
                  <a:pt x="2579" y="0"/>
                  <a:pt x="2579" y="0"/>
                  <a:pt x="2579" y="0"/>
                </a:cubicBezTo>
                <a:lnTo>
                  <a:pt x="2579" y="0"/>
                </a:lnTo>
                <a:lnTo>
                  <a:pt x="444" y="0"/>
                </a:lnTo>
                <a:cubicBezTo>
                  <a:pt x="199" y="0"/>
                  <a:pt x="0" y="199"/>
                  <a:pt x="0" y="444"/>
                </a:cubicBezTo>
                <a:cubicBezTo>
                  <a:pt x="0" y="690"/>
                  <a:pt x="199" y="889"/>
                  <a:pt x="444" y="889"/>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 name="Rectangle 13"/>
          <p:cNvSpPr>
            <a:spLocks noChangeArrowheads="1"/>
          </p:cNvSpPr>
          <p:nvPr/>
        </p:nvSpPr>
        <p:spPr bwMode="auto">
          <a:xfrm>
            <a:off x="1930257" y="2646134"/>
            <a:ext cx="10964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2000" dirty="0">
                <a:highlight>
                  <a:srgbClr val="FFFF00"/>
                </a:highlight>
                <a:latin typeface="Times New Roman" panose="02020603050405020304" pitchFamily="18" charset="0"/>
              </a:rPr>
              <a:t>大</a:t>
            </a:r>
            <a:r>
              <a:rPr kumimoji="0" lang="zh-CN" altLang="zh-CN" sz="2000" b="0" i="0" u="none" strike="noStrike" cap="none" normalizeH="0" baseline="0" dirty="0">
                <a:ln>
                  <a:noFill/>
                </a:ln>
                <a:solidFill>
                  <a:srgbClr val="000000"/>
                </a:solidFill>
                <a:effectLst/>
                <a:latin typeface="Times New Roman" panose="02020603050405020304" pitchFamily="18" charset="0"/>
              </a:rPr>
              <a:t>EditLog</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箭头: 上 3"/>
          <p:cNvSpPr/>
          <p:nvPr/>
        </p:nvSpPr>
        <p:spPr>
          <a:xfrm rot="5400000">
            <a:off x="3748090" y="2251701"/>
            <a:ext cx="820421" cy="1096645"/>
          </a:xfrm>
          <a:prstGeom prst="upArrow">
            <a:avLst/>
          </a:prstGeom>
          <a:ln>
            <a:no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endParaRPr lang="zh-CN" altLang="en-US" sz="2400" b="1" dirty="0"/>
          </a:p>
        </p:txBody>
      </p:sp>
      <p:sp>
        <p:nvSpPr>
          <p:cNvPr id="5" name="矩形 4"/>
          <p:cNvSpPr/>
          <p:nvPr/>
        </p:nvSpPr>
        <p:spPr>
          <a:xfrm>
            <a:off x="5003084" y="2424269"/>
            <a:ext cx="1808480" cy="8204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名称节点</a:t>
            </a:r>
            <a:endParaRPr lang="en-US" altLang="zh-CN" sz="2800" dirty="0"/>
          </a:p>
          <a:p>
            <a:pPr algn="ctr"/>
            <a:r>
              <a:rPr lang="zh-CN" altLang="en-US" sz="2800" dirty="0"/>
              <a:t>启动慢</a:t>
            </a:r>
            <a:endParaRPr lang="zh-CN" altLang="en-US" sz="2800" dirty="0"/>
          </a:p>
        </p:txBody>
      </p:sp>
      <p:sp>
        <p:nvSpPr>
          <p:cNvPr id="6" name="矩形 5"/>
          <p:cNvSpPr/>
          <p:nvPr/>
        </p:nvSpPr>
        <p:spPr>
          <a:xfrm>
            <a:off x="8609884" y="2424269"/>
            <a:ext cx="1808480" cy="8204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用户无法写入</a:t>
            </a:r>
            <a:endParaRPr lang="zh-CN" altLang="en-US" sz="2800" dirty="0"/>
          </a:p>
        </p:txBody>
      </p:sp>
      <p:sp>
        <p:nvSpPr>
          <p:cNvPr id="7" name="矩形: 圆角 6"/>
          <p:cNvSpPr/>
          <p:nvPr/>
        </p:nvSpPr>
        <p:spPr>
          <a:xfrm>
            <a:off x="4423410" y="1690688"/>
            <a:ext cx="2875118" cy="1789727"/>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8" name="文本框 7"/>
          <p:cNvSpPr txBox="1"/>
          <p:nvPr/>
        </p:nvSpPr>
        <p:spPr>
          <a:xfrm>
            <a:off x="4423410" y="1833543"/>
            <a:ext cx="2113280" cy="523220"/>
          </a:xfrm>
          <a:prstGeom prst="rect">
            <a:avLst/>
          </a:prstGeom>
          <a:noFill/>
        </p:spPr>
        <p:txBody>
          <a:bodyPr wrap="square">
            <a:spAutoFit/>
          </a:bodyPr>
          <a:lstStyle/>
          <a:p>
            <a:pPr algn="ctr"/>
            <a:r>
              <a:rPr lang="zh-CN" altLang="en-US" sz="2800" dirty="0"/>
              <a:t>“安全模式”</a:t>
            </a:r>
            <a:endParaRPr lang="en-US" altLang="zh-CN" sz="2800" dirty="0"/>
          </a:p>
        </p:txBody>
      </p:sp>
      <p:sp>
        <p:nvSpPr>
          <p:cNvPr id="9" name="箭头: 上 8"/>
          <p:cNvSpPr/>
          <p:nvPr/>
        </p:nvSpPr>
        <p:spPr>
          <a:xfrm rot="5400000">
            <a:off x="7436640" y="2251699"/>
            <a:ext cx="820421" cy="1096645"/>
          </a:xfrm>
          <a:prstGeom prst="upArrow">
            <a:avLst/>
          </a:prstGeom>
          <a:ln>
            <a:no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endParaRPr lang="zh-CN" altLang="en-US" sz="2400" b="1" dirty="0"/>
          </a:p>
        </p:txBody>
      </p:sp>
      <p:sp>
        <p:nvSpPr>
          <p:cNvPr id="10" name="矩形: 圆角 9"/>
          <p:cNvSpPr/>
          <p:nvPr/>
        </p:nvSpPr>
        <p:spPr>
          <a:xfrm>
            <a:off x="3609978" y="4693920"/>
            <a:ext cx="4698284" cy="143239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800" dirty="0" err="1"/>
              <a:t>SecondaryNameNode</a:t>
            </a:r>
            <a:endParaRPr lang="en-US" altLang="zh-CN" sz="2800" dirty="0"/>
          </a:p>
          <a:p>
            <a:pPr algn="ctr"/>
            <a:r>
              <a:rPr lang="zh-CN" altLang="en-US" sz="2800" dirty="0"/>
              <a:t>减少名称节点重启的时间</a:t>
            </a:r>
            <a:endParaRPr lang="en-US" altLang="zh-CN" sz="2800" dirty="0"/>
          </a:p>
          <a:p>
            <a:pPr algn="ctr"/>
            <a:r>
              <a:rPr lang="zh-CN" altLang="en-US" sz="2800" dirty="0"/>
              <a:t>检查点</a:t>
            </a:r>
            <a:r>
              <a:rPr lang="en-US" altLang="zh-CN" sz="2800" dirty="0"/>
              <a:t>--</a:t>
            </a:r>
            <a:r>
              <a:rPr lang="zh-CN" altLang="en-US" sz="2800" dirty="0"/>
              <a:t>备份</a:t>
            </a:r>
            <a:endParaRPr lang="zh-CN" altLang="en-US" sz="2800" dirty="0"/>
          </a:p>
        </p:txBody>
      </p:sp>
      <p:sp>
        <p:nvSpPr>
          <p:cNvPr id="11" name="箭头: 上 10"/>
          <p:cNvSpPr/>
          <p:nvPr/>
        </p:nvSpPr>
        <p:spPr>
          <a:xfrm>
            <a:off x="5510530" y="3570268"/>
            <a:ext cx="778510" cy="1026458"/>
          </a:xfrm>
          <a:prstGeom prst="up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barn(inVertical)">
                                      <p:cBhvr>
                                        <p:cTn id="39" dur="500"/>
                                        <p:tgtEl>
                                          <p:spTgt spid="10"/>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down)">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P spid="8" grpId="0"/>
      <p:bldP spid="9" grpId="0" animBg="1"/>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2" descr="fsimage_edit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1560" y="843280"/>
            <a:ext cx="9931400" cy="6014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zh-CN" b="1" dirty="0"/>
              <a:t>3.4	HDFS</a:t>
            </a:r>
            <a:r>
              <a:rPr lang="zh-CN" altLang="en-US" b="1" dirty="0"/>
              <a:t>体系结构</a:t>
            </a:r>
            <a:endParaRPr lang="zh-CN" altLang="en-US" b="1" dirty="0"/>
          </a:p>
        </p:txBody>
      </p:sp>
      <p:sp>
        <p:nvSpPr>
          <p:cNvPr id="18435" name="Rectangle 3"/>
          <p:cNvSpPr>
            <a:spLocks noGrp="1" noChangeArrowheads="1"/>
          </p:cNvSpPr>
          <p:nvPr>
            <p:ph idx="1"/>
          </p:nvPr>
        </p:nvSpPr>
        <p:spPr/>
        <p:txBody>
          <a:bodyPr>
            <a:normAutofit/>
          </a:bodyPr>
          <a:lstStyle/>
          <a:p>
            <a:pPr>
              <a:lnSpc>
                <a:spcPct val="150000"/>
              </a:lnSpc>
            </a:pPr>
            <a:r>
              <a:rPr lang="en-US" altLang="zh-CN" dirty="0"/>
              <a:t>3.4.1	</a:t>
            </a:r>
            <a:r>
              <a:rPr lang="zh-CN" altLang="en-US" dirty="0"/>
              <a:t>概述</a:t>
            </a:r>
            <a:endParaRPr lang="zh-CN" altLang="en-US" dirty="0"/>
          </a:p>
          <a:p>
            <a:pPr>
              <a:lnSpc>
                <a:spcPct val="150000"/>
              </a:lnSpc>
            </a:pPr>
            <a:r>
              <a:rPr lang="en-US" altLang="zh-CN" dirty="0"/>
              <a:t>3.4.2	HDFS</a:t>
            </a:r>
            <a:r>
              <a:rPr lang="zh-CN" altLang="en-US" dirty="0"/>
              <a:t>命名空间管理</a:t>
            </a:r>
            <a:endParaRPr lang="zh-CN" altLang="en-US" dirty="0"/>
          </a:p>
          <a:p>
            <a:pPr>
              <a:lnSpc>
                <a:spcPct val="150000"/>
              </a:lnSpc>
            </a:pPr>
            <a:r>
              <a:rPr lang="en-US" altLang="zh-CN" dirty="0"/>
              <a:t>3.4.3	</a:t>
            </a:r>
            <a:r>
              <a:rPr lang="zh-CN" altLang="en-US" dirty="0"/>
              <a:t>通信协议</a:t>
            </a:r>
            <a:endParaRPr lang="zh-CN" altLang="en-US" dirty="0"/>
          </a:p>
          <a:p>
            <a:pPr>
              <a:lnSpc>
                <a:spcPct val="150000"/>
              </a:lnSpc>
            </a:pPr>
            <a:r>
              <a:rPr lang="en-US" altLang="zh-CN" dirty="0"/>
              <a:t>3.4.4	</a:t>
            </a:r>
            <a:r>
              <a:rPr lang="zh-CN" altLang="en-US" dirty="0"/>
              <a:t>客户端</a:t>
            </a:r>
            <a:endParaRPr lang="zh-CN" altLang="en-US" dirty="0"/>
          </a:p>
          <a:p>
            <a:pPr>
              <a:lnSpc>
                <a:spcPct val="150000"/>
              </a:lnSpc>
            </a:pPr>
            <a:r>
              <a:rPr lang="en-US" altLang="zh-CN" dirty="0"/>
              <a:t>3.4.5	HDFS</a:t>
            </a:r>
            <a:r>
              <a:rPr lang="zh-CN" altLang="en-US" dirty="0"/>
              <a:t>体系结构的局限性</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marL="342900" indent="-342900"/>
            <a:r>
              <a:rPr lang="en-US" altLang="en-US" b="1"/>
              <a:t>3.4.1	HDFS体系结构概述</a:t>
            </a:r>
            <a:endParaRPr lang="zh-CN" altLang="en-US" b="1"/>
          </a:p>
        </p:txBody>
      </p:sp>
      <p:pic>
        <p:nvPicPr>
          <p:cNvPr id="19460"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57680" y="2481580"/>
            <a:ext cx="8475980" cy="431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矩形: 圆角 78"/>
          <p:cNvSpPr/>
          <p:nvPr/>
        </p:nvSpPr>
        <p:spPr>
          <a:xfrm>
            <a:off x="499110" y="1377950"/>
            <a:ext cx="11194415" cy="9144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zh-CN" altLang="en-US" sz="2800">
                <a:sym typeface="+mn-ea"/>
              </a:rPr>
              <a:t>主从（</a:t>
            </a:r>
            <a:r>
              <a:rPr lang="en-US" altLang="zh-CN" sz="2800">
                <a:sym typeface="+mn-ea"/>
              </a:rPr>
              <a:t>Master/Slave</a:t>
            </a:r>
            <a:r>
              <a:rPr lang="zh-CN" altLang="en-US" sz="2800">
                <a:sym typeface="+mn-ea"/>
              </a:rPr>
              <a:t>）结构模型</a:t>
            </a:r>
            <a:endParaRPr lang="zh-CN" altLang="en-US" sz="2800">
              <a:sym typeface="+mn-ea"/>
            </a:endParaRPr>
          </a:p>
          <a:p>
            <a:pPr marL="0" indent="0">
              <a:buNone/>
            </a:pPr>
            <a:r>
              <a:rPr lang="zh-CN" altLang="en-US" sz="2800">
                <a:sym typeface="+mn-ea"/>
              </a:rPr>
              <a:t>数据节点在名称节点调度下进行数据块的创建、删除和复制等操作。</a:t>
            </a:r>
            <a:endParaRPr lang="zh-CN" altLang="en-US" sz="2800" dirty="0"/>
          </a:p>
        </p:txBody>
      </p:sp>
      <p:sp>
        <p:nvSpPr>
          <p:cNvPr id="4" name="对话气泡: 圆角矩形 3"/>
          <p:cNvSpPr/>
          <p:nvPr/>
        </p:nvSpPr>
        <p:spPr>
          <a:xfrm>
            <a:off x="8034655" y="2292350"/>
            <a:ext cx="2785745" cy="770890"/>
          </a:xfrm>
          <a:prstGeom prst="wedgeRoundRectCallout">
            <a:avLst>
              <a:gd name="adj1" fmla="val -61100"/>
              <a:gd name="adj2" fmla="val 1161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t>管理分布式文件系统的命名空间</a:t>
            </a:r>
            <a:endParaRPr lang="zh-CN" altLang="en-US" sz="2400" dirty="0"/>
          </a:p>
        </p:txBody>
      </p:sp>
      <p:sp>
        <p:nvSpPr>
          <p:cNvPr id="2" name="对话气泡: 圆角矩形 3"/>
          <p:cNvSpPr/>
          <p:nvPr/>
        </p:nvSpPr>
        <p:spPr>
          <a:xfrm>
            <a:off x="8096250" y="3133725"/>
            <a:ext cx="2724150" cy="848995"/>
          </a:xfrm>
          <a:prstGeom prst="wedgeRoundRectCallout">
            <a:avLst>
              <a:gd name="adj1" fmla="val -66107"/>
              <a:gd name="adj2" fmla="val -3474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400" dirty="0"/>
              <a:t>管理</a:t>
            </a:r>
            <a:r>
              <a:rPr lang="zh-CN" altLang="en-US" sz="2400">
                <a:sym typeface="+mn-ea"/>
              </a:rPr>
              <a:t>客户端</a:t>
            </a:r>
            <a:endParaRPr lang="zh-CN" altLang="en-US" sz="2400">
              <a:sym typeface="+mn-ea"/>
            </a:endParaRPr>
          </a:p>
          <a:p>
            <a:pPr algn="ctr"/>
            <a:r>
              <a:rPr lang="zh-CN" altLang="en-US" sz="2400">
                <a:sym typeface="+mn-ea"/>
              </a:rPr>
              <a:t>对文件的访问</a:t>
            </a:r>
            <a:endParaRPr lang="zh-CN" altLang="en-US" sz="2400" dirty="0"/>
          </a:p>
        </p:txBody>
      </p:sp>
      <p:sp>
        <p:nvSpPr>
          <p:cNvPr id="3" name="对话气泡: 圆角矩形 3"/>
          <p:cNvSpPr/>
          <p:nvPr/>
        </p:nvSpPr>
        <p:spPr>
          <a:xfrm>
            <a:off x="10417810" y="5189220"/>
            <a:ext cx="1527175" cy="1100455"/>
          </a:xfrm>
          <a:prstGeom prst="wedgeRoundRectCallout">
            <a:avLst>
              <a:gd name="adj1" fmla="val -80644"/>
              <a:gd name="adj2" fmla="val -1612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400">
                <a:sym typeface="+mn-ea"/>
              </a:rPr>
              <a:t>数据实际</a:t>
            </a:r>
            <a:endParaRPr lang="zh-CN" altLang="en-US" sz="2400">
              <a:sym typeface="+mn-ea"/>
            </a:endParaRPr>
          </a:p>
          <a:p>
            <a:pPr algn="ctr"/>
            <a:r>
              <a:rPr lang="zh-CN" altLang="en-US" sz="2400">
                <a:sym typeface="+mn-ea"/>
              </a:rPr>
              <a:t>保存位置</a:t>
            </a:r>
            <a:endParaRPr lang="zh-CN" altLang="en-US" sz="2400" dirty="0"/>
          </a:p>
        </p:txBody>
      </p:sp>
      <p:sp>
        <p:nvSpPr>
          <p:cNvPr id="5" name="对话气泡: 圆角矩形 3"/>
          <p:cNvSpPr/>
          <p:nvPr/>
        </p:nvSpPr>
        <p:spPr>
          <a:xfrm>
            <a:off x="227965" y="2708318"/>
            <a:ext cx="2169160" cy="1100455"/>
          </a:xfrm>
          <a:prstGeom prst="wedgeRoundRectCallout">
            <a:avLst>
              <a:gd name="adj1" fmla="val 41656"/>
              <a:gd name="adj2" fmla="val 14953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400">
                <a:sym typeface="+mn-ea"/>
              </a:rPr>
              <a:t>处理文件系统客户端的</a:t>
            </a:r>
            <a:endParaRPr lang="zh-CN" altLang="en-US" sz="2400">
              <a:sym typeface="+mn-ea"/>
            </a:endParaRPr>
          </a:p>
          <a:p>
            <a:pPr algn="ctr"/>
            <a:r>
              <a:rPr lang="zh-CN" altLang="en-US" sz="2400">
                <a:sym typeface="+mn-ea"/>
              </a:rPr>
              <a:t>读</a:t>
            </a:r>
            <a:r>
              <a:rPr lang="en-US" altLang="zh-CN" sz="2400">
                <a:sym typeface="+mn-ea"/>
              </a:rPr>
              <a:t>/</a:t>
            </a:r>
            <a:r>
              <a:rPr lang="zh-CN" altLang="en-US" sz="2400">
                <a:sym typeface="+mn-ea"/>
              </a:rPr>
              <a:t>写请求</a:t>
            </a:r>
            <a:endParaRPr lang="zh-CN" altLang="en-US" sz="2400" dirty="0"/>
          </a:p>
        </p:txBody>
      </p:sp>
      <p:sp>
        <p:nvSpPr>
          <p:cNvPr id="84" name="对话气泡: 圆角矩形 83"/>
          <p:cNvSpPr/>
          <p:nvPr/>
        </p:nvSpPr>
        <p:spPr>
          <a:xfrm>
            <a:off x="112395" y="5189220"/>
            <a:ext cx="1844675" cy="654050"/>
          </a:xfrm>
          <a:prstGeom prst="wedgeRoundRectCallout">
            <a:avLst>
              <a:gd name="adj1" fmla="val 59251"/>
              <a:gd name="adj2" fmla="val -68494"/>
              <a:gd name="adj3" fmla="val 16667"/>
            </a:avLst>
          </a:prstGeom>
          <a:solidFill>
            <a:srgbClr val="FF0000"/>
          </a:solidFill>
          <a:ln>
            <a:no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sz="2400" dirty="0">
                <a:solidFill>
                  <a:srgbClr val="FFFF00"/>
                </a:solidFill>
              </a:rPr>
              <a:t>心跳</a:t>
            </a:r>
            <a:r>
              <a:rPr lang="en-US" altLang="zh-CN" sz="2400" dirty="0">
                <a:solidFill>
                  <a:srgbClr val="FFFF00"/>
                </a:solidFill>
              </a:rPr>
              <a:t>--</a:t>
            </a:r>
            <a:r>
              <a:rPr lang="zh-CN" altLang="en-US" sz="2400" dirty="0">
                <a:solidFill>
                  <a:srgbClr val="FFFF00"/>
                </a:solidFill>
              </a:rPr>
              <a:t>死机</a:t>
            </a:r>
            <a:endParaRPr lang="zh-CN" altLang="en-US" sz="240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 grpId="0" animBg="1"/>
      <p:bldP spid="2" grpId="1" animBg="1"/>
      <p:bldP spid="3" grpId="0" animBg="1"/>
      <p:bldP spid="3" grpId="1" animBg="1"/>
      <p:bldP spid="5" grpId="0" animBg="1"/>
      <p:bldP spid="5" grpId="1" animBg="1"/>
      <p:bldP spid="84" grpId="0" animBg="1"/>
      <p:bldP spid="8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marL="342900" indent="-342900"/>
            <a:r>
              <a:rPr lang="en-US" altLang="en-US" b="1"/>
              <a:t>3.4.2	HDFS命名空间管理</a:t>
            </a:r>
            <a:endParaRPr lang="zh-CN" altLang="en-US" b="1"/>
          </a:p>
        </p:txBody>
      </p:sp>
      <p:sp>
        <p:nvSpPr>
          <p:cNvPr id="20483" name="文本框 1"/>
          <p:cNvSpPr txBox="1">
            <a:spLocks noChangeArrowheads="1"/>
          </p:cNvSpPr>
          <p:nvPr/>
        </p:nvSpPr>
        <p:spPr bwMode="auto">
          <a:xfrm>
            <a:off x="1398270" y="1691005"/>
            <a:ext cx="9125585" cy="4643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indent="2667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ts val="600"/>
              </a:spcBef>
              <a:spcAft>
                <a:spcPts val="800"/>
              </a:spcAft>
              <a:buFont typeface="Arial" panose="020B0604020202020204" pitchFamily="34" charset="0"/>
              <a:buChar char="•"/>
            </a:pPr>
            <a:r>
              <a:rPr lang="en-US" altLang="zh-CN" sz="2800">
                <a:latin typeface="宋体" panose="02010600030101010101" pitchFamily="2" charset="-122"/>
                <a:sym typeface="Arial" panose="020B0604020202020204" pitchFamily="34" charset="0"/>
              </a:rPr>
              <a:t>HDFS</a:t>
            </a:r>
            <a:r>
              <a:rPr lang="zh-CN" altLang="en-US" sz="2800">
                <a:latin typeface="宋体" panose="02010600030101010101" pitchFamily="2" charset="-122"/>
                <a:sym typeface="Arial" panose="020B0604020202020204" pitchFamily="34" charset="0"/>
              </a:rPr>
              <a:t>的命名空间包含目录、文件和块</a:t>
            </a:r>
            <a:endParaRPr lang="zh-CN" altLang="en-US" sz="2800">
              <a:latin typeface="宋体" panose="02010600030101010101" pitchFamily="2" charset="-122"/>
              <a:sym typeface="Arial" panose="020B0604020202020204" pitchFamily="34" charset="0"/>
            </a:endParaRPr>
          </a:p>
          <a:p>
            <a:pPr algn="just" eaLnBrk="1" hangingPunct="1">
              <a:spcBef>
                <a:spcPts val="600"/>
              </a:spcBef>
              <a:spcAft>
                <a:spcPts val="800"/>
              </a:spcAft>
              <a:buFont typeface="Arial" panose="020B0604020202020204" pitchFamily="34" charset="0"/>
              <a:buChar char="•"/>
            </a:pPr>
            <a:endParaRPr lang="en-US" altLang="zh-CN" sz="2800">
              <a:latin typeface="宋体" panose="02010600030101010101" pitchFamily="2" charset="-122"/>
              <a:sym typeface="Arial" panose="020B0604020202020204" pitchFamily="34" charset="0"/>
            </a:endParaRPr>
          </a:p>
          <a:p>
            <a:pPr algn="just" eaLnBrk="1" hangingPunct="1">
              <a:spcBef>
                <a:spcPts val="600"/>
              </a:spcBef>
              <a:spcAft>
                <a:spcPts val="800"/>
              </a:spcAft>
              <a:buFont typeface="Arial" panose="020B0604020202020204" pitchFamily="34" charset="0"/>
              <a:buChar char="•"/>
            </a:pPr>
            <a:r>
              <a:rPr lang="zh-CN" altLang="en-US" sz="2800">
                <a:latin typeface="宋体" panose="02010600030101010101" pitchFamily="2" charset="-122"/>
                <a:sym typeface="Arial" panose="020B0604020202020204" pitchFamily="34" charset="0"/>
              </a:rPr>
              <a:t>整个</a:t>
            </a:r>
            <a:r>
              <a:rPr lang="en-US" altLang="zh-CN" sz="2800">
                <a:latin typeface="宋体" panose="02010600030101010101" pitchFamily="2" charset="-122"/>
                <a:sym typeface="Arial" panose="020B0604020202020204" pitchFamily="34" charset="0"/>
              </a:rPr>
              <a:t>HDFS</a:t>
            </a:r>
            <a:r>
              <a:rPr lang="zh-CN" altLang="en-US" sz="2800">
                <a:latin typeface="宋体" panose="02010600030101010101" pitchFamily="2" charset="-122"/>
                <a:sym typeface="Arial" panose="020B0604020202020204" pitchFamily="34" charset="0"/>
              </a:rPr>
              <a:t>集群中只有一个命名空间，并且只有唯一一个名称节点，该节点负责对这个命名空间进行管理</a:t>
            </a:r>
            <a:endParaRPr lang="zh-CN" altLang="en-US" sz="2800">
              <a:latin typeface="宋体" panose="02010600030101010101" pitchFamily="2" charset="-122"/>
              <a:sym typeface="Arial" panose="020B0604020202020204" pitchFamily="34" charset="0"/>
            </a:endParaRPr>
          </a:p>
          <a:p>
            <a:pPr algn="just" eaLnBrk="1" hangingPunct="1">
              <a:spcBef>
                <a:spcPts val="600"/>
              </a:spcBef>
              <a:spcAft>
                <a:spcPts val="800"/>
              </a:spcAft>
              <a:buFont typeface="Arial" panose="020B0604020202020204" pitchFamily="34" charset="0"/>
              <a:buChar char="•"/>
            </a:pPr>
            <a:endParaRPr lang="zh-CN" altLang="en-US" sz="2800">
              <a:latin typeface="宋体" panose="02010600030101010101" pitchFamily="2" charset="-122"/>
              <a:sym typeface="Arial" panose="020B0604020202020204" pitchFamily="34" charset="0"/>
            </a:endParaRPr>
          </a:p>
          <a:p>
            <a:pPr algn="just" eaLnBrk="1" hangingPunct="1">
              <a:spcBef>
                <a:spcPts val="600"/>
              </a:spcBef>
              <a:spcAft>
                <a:spcPts val="800"/>
              </a:spcAft>
              <a:buFont typeface="Arial" panose="020B0604020202020204" pitchFamily="34" charset="0"/>
              <a:buChar char="•"/>
            </a:pPr>
            <a:r>
              <a:rPr lang="en-US" altLang="zh-CN" sz="2800">
                <a:latin typeface="宋体" panose="02010600030101010101" pitchFamily="2" charset="-122"/>
                <a:sym typeface="Arial" panose="020B0604020202020204" pitchFamily="34" charset="0"/>
              </a:rPr>
              <a:t>HDFS</a:t>
            </a:r>
            <a:r>
              <a:rPr lang="zh-CN" altLang="en-US" sz="2800">
                <a:latin typeface="宋体" panose="02010600030101010101" pitchFamily="2" charset="-122"/>
                <a:sym typeface="Arial" panose="020B0604020202020204" pitchFamily="34" charset="0"/>
              </a:rPr>
              <a:t>使用的是传统的分级文件体系，因此，用户可以像使用普通文件系统一样，创建、删除目录和文件，在目录间转移文件，重命名文件等</a:t>
            </a:r>
            <a:endParaRPr lang="zh-CN" altLang="en-US" sz="2800">
              <a:latin typeface="宋体" panose="02010600030101010101" pitchFamily="2" charset="-122"/>
              <a:sym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marL="342900" indent="-342900"/>
            <a:r>
              <a:rPr lang="en-US" altLang="zh-CN" b="1"/>
              <a:t>3.4.3	</a:t>
            </a:r>
            <a:r>
              <a:rPr lang="zh-CN" altLang="en-US" b="1"/>
              <a:t>通信协议</a:t>
            </a:r>
            <a:endParaRPr lang="zh-CN" altLang="en-US" b="1"/>
          </a:p>
        </p:txBody>
      </p:sp>
      <p:sp>
        <p:nvSpPr>
          <p:cNvPr id="79" name="矩形: 圆角 78"/>
          <p:cNvSpPr/>
          <p:nvPr/>
        </p:nvSpPr>
        <p:spPr>
          <a:xfrm>
            <a:off x="2097405" y="1615440"/>
            <a:ext cx="7518400"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ctr">
              <a:buNone/>
            </a:pPr>
            <a:r>
              <a:rPr lang="zh-CN" altLang="en-US" sz="2800">
                <a:latin typeface="宋体" panose="02010600030101010101" pitchFamily="2" charset="-122"/>
                <a:sym typeface="+mn-ea"/>
              </a:rPr>
              <a:t>所有的</a:t>
            </a:r>
            <a:r>
              <a:rPr lang="en-US" altLang="zh-CN" sz="2800">
                <a:latin typeface="宋体" panose="02010600030101010101" pitchFamily="2" charset="-122"/>
                <a:sym typeface="+mn-ea"/>
              </a:rPr>
              <a:t>HDFS</a:t>
            </a:r>
            <a:r>
              <a:rPr lang="zh-CN" altLang="en-US" sz="2800">
                <a:latin typeface="宋体" panose="02010600030101010101" pitchFamily="2" charset="-122"/>
                <a:sym typeface="+mn-ea"/>
              </a:rPr>
              <a:t>通信协议都基于</a:t>
            </a:r>
            <a:r>
              <a:rPr lang="en-US" altLang="zh-CN" sz="2800">
                <a:latin typeface="宋体" panose="02010600030101010101" pitchFamily="2" charset="-122"/>
                <a:sym typeface="+mn-ea"/>
              </a:rPr>
              <a:t>TCP/IP</a:t>
            </a:r>
            <a:r>
              <a:rPr lang="zh-CN" altLang="en-US" sz="2800">
                <a:latin typeface="宋体" panose="02010600030101010101" pitchFamily="2" charset="-122"/>
                <a:sym typeface="+mn-ea"/>
              </a:rPr>
              <a:t>协议</a:t>
            </a:r>
            <a:endParaRPr lang="zh-CN" altLang="en-US" sz="2800" dirty="0"/>
          </a:p>
        </p:txBody>
      </p:sp>
      <p:sp>
        <p:nvSpPr>
          <p:cNvPr id="3" name="矩形: 圆角 78"/>
          <p:cNvSpPr/>
          <p:nvPr/>
        </p:nvSpPr>
        <p:spPr>
          <a:xfrm>
            <a:off x="2097405" y="2818765"/>
            <a:ext cx="1572895"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ctr">
              <a:buNone/>
            </a:pPr>
            <a:r>
              <a:rPr lang="zh-CN" altLang="en-US" sz="2800">
                <a:latin typeface="宋体" panose="02010600030101010101" pitchFamily="2" charset="-122"/>
                <a:sym typeface="+mn-ea"/>
              </a:rPr>
              <a:t>客户端</a:t>
            </a:r>
            <a:endParaRPr lang="zh-CN" altLang="en-US" sz="2800" dirty="0"/>
          </a:p>
        </p:txBody>
      </p:sp>
      <p:sp>
        <p:nvSpPr>
          <p:cNvPr id="4" name="矩形: 圆角 78"/>
          <p:cNvSpPr/>
          <p:nvPr/>
        </p:nvSpPr>
        <p:spPr>
          <a:xfrm>
            <a:off x="4656455" y="5659755"/>
            <a:ext cx="2131695"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ctr">
              <a:buNone/>
            </a:pPr>
            <a:r>
              <a:rPr lang="zh-CN" altLang="en-US" sz="2800">
                <a:latin typeface="宋体" panose="02010600030101010101" pitchFamily="2" charset="-122"/>
                <a:sym typeface="+mn-ea"/>
              </a:rPr>
              <a:t>数据节点</a:t>
            </a:r>
            <a:endParaRPr lang="zh-CN" altLang="en-US" sz="2800" dirty="0"/>
          </a:p>
        </p:txBody>
      </p:sp>
      <p:sp>
        <p:nvSpPr>
          <p:cNvPr id="5" name="矩形: 圆角 78"/>
          <p:cNvSpPr/>
          <p:nvPr/>
        </p:nvSpPr>
        <p:spPr>
          <a:xfrm>
            <a:off x="7660640" y="2873375"/>
            <a:ext cx="1955165"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ctr">
              <a:buNone/>
            </a:pPr>
            <a:r>
              <a:rPr lang="zh-CN" altLang="en-US" sz="2800">
                <a:latin typeface="宋体" panose="02010600030101010101" pitchFamily="2" charset="-122"/>
                <a:sym typeface="+mn-ea"/>
              </a:rPr>
              <a:t>名称节点</a:t>
            </a:r>
            <a:endParaRPr lang="zh-CN" altLang="en-US" sz="2800" dirty="0"/>
          </a:p>
        </p:txBody>
      </p:sp>
      <p:sp>
        <p:nvSpPr>
          <p:cNvPr id="6" name="左右箭头 5"/>
          <p:cNvSpPr/>
          <p:nvPr/>
        </p:nvSpPr>
        <p:spPr>
          <a:xfrm>
            <a:off x="4375785" y="2696845"/>
            <a:ext cx="2579370" cy="853440"/>
          </a:xfrm>
          <a:prstGeom prst="lef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800">
                <a:latin typeface="宋体" panose="02010600030101010101" pitchFamily="2" charset="-122"/>
                <a:sym typeface="+mn-ea"/>
              </a:rPr>
              <a:t>客户端协议</a:t>
            </a:r>
            <a:endParaRPr lang="zh-CN" altLang="en-US" sz="2800">
              <a:latin typeface="宋体" panose="02010600030101010101" pitchFamily="2" charset="-122"/>
              <a:sym typeface="+mn-ea"/>
            </a:endParaRPr>
          </a:p>
        </p:txBody>
      </p:sp>
      <p:sp>
        <p:nvSpPr>
          <p:cNvPr id="7" name="右箭头 6"/>
          <p:cNvSpPr/>
          <p:nvPr/>
        </p:nvSpPr>
        <p:spPr>
          <a:xfrm rot="2820000">
            <a:off x="2355850" y="4149090"/>
            <a:ext cx="2814955" cy="85344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a:latin typeface="宋体" panose="02010600030101010101" pitchFamily="2" charset="-122"/>
                <a:sym typeface="+mn-ea"/>
              </a:rPr>
              <a:t>远程过程调用</a:t>
            </a:r>
            <a:r>
              <a:rPr lang="en-US" altLang="zh-CN" sz="2400">
                <a:latin typeface="宋体" panose="02010600030101010101" pitchFamily="2" charset="-122"/>
                <a:sym typeface="+mn-ea"/>
              </a:rPr>
              <a:t>RPC</a:t>
            </a:r>
            <a:endParaRPr lang="en-US" altLang="zh-CN" sz="2400">
              <a:latin typeface="宋体" panose="02010600030101010101" pitchFamily="2" charset="-122"/>
              <a:sym typeface="+mn-ea"/>
            </a:endParaRPr>
          </a:p>
        </p:txBody>
      </p:sp>
      <p:sp>
        <p:nvSpPr>
          <p:cNvPr id="8" name="左右箭头 7"/>
          <p:cNvSpPr/>
          <p:nvPr/>
        </p:nvSpPr>
        <p:spPr>
          <a:xfrm rot="18840000">
            <a:off x="6288405" y="4168140"/>
            <a:ext cx="2797810" cy="853440"/>
          </a:xfrm>
          <a:prstGeom prst="lef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800">
                <a:latin typeface="宋体" panose="02010600030101010101" pitchFamily="2" charset="-122"/>
                <a:sym typeface="+mn-ea"/>
              </a:rPr>
              <a:t>数据节点协议</a:t>
            </a:r>
            <a:endParaRPr lang="zh-CN" altLang="en-US" sz="2800">
              <a:latin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7" grpId="0" bldLvl="0" animBg="1"/>
      <p:bldP spid="7" grpId="1" animBg="1"/>
      <p:bldP spid="8" grpId="0" bldLvl="0" animBg="1"/>
      <p:bldP spid="8"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marL="342900" indent="-342900"/>
            <a:r>
              <a:rPr lang="en-US" altLang="zh-CN" b="1"/>
              <a:t>3.4.4	</a:t>
            </a:r>
            <a:r>
              <a:rPr lang="zh-CN" altLang="en-US" b="1"/>
              <a:t>客户端</a:t>
            </a:r>
            <a:endParaRPr lang="zh-CN" altLang="en-US" b="1"/>
          </a:p>
        </p:txBody>
      </p:sp>
      <p:sp>
        <p:nvSpPr>
          <p:cNvPr id="22531" name="文本框 1"/>
          <p:cNvSpPr txBox="1">
            <a:spLocks noChangeArrowheads="1"/>
          </p:cNvSpPr>
          <p:nvPr/>
        </p:nvSpPr>
        <p:spPr bwMode="auto">
          <a:xfrm>
            <a:off x="1017270" y="1679575"/>
            <a:ext cx="9968230" cy="439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762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buFont typeface="Arial" panose="020B0604020202020204" pitchFamily="34" charset="0"/>
              <a:buChar char="•"/>
            </a:pPr>
            <a:r>
              <a:rPr lang="zh-CN" altLang="en-US" sz="2800">
                <a:latin typeface="宋体" panose="02010600030101010101" pitchFamily="2" charset="-122"/>
              </a:rPr>
              <a:t>客户端是用户操作</a:t>
            </a:r>
            <a:r>
              <a:rPr lang="en-US" altLang="zh-CN" sz="2800">
                <a:latin typeface="宋体" panose="02010600030101010101" pitchFamily="2" charset="-122"/>
              </a:rPr>
              <a:t>HDFS</a:t>
            </a:r>
            <a:r>
              <a:rPr lang="zh-CN" altLang="en-US" sz="2800">
                <a:latin typeface="宋体" panose="02010600030101010101" pitchFamily="2" charset="-122"/>
              </a:rPr>
              <a:t>最常用的方式</a:t>
            </a:r>
            <a:endParaRPr lang="zh-CN" altLang="en-US" sz="2800">
              <a:latin typeface="宋体" panose="02010600030101010101" pitchFamily="2" charset="-122"/>
            </a:endParaRPr>
          </a:p>
          <a:p>
            <a:pPr algn="just" eaLnBrk="1" hangingPunct="1">
              <a:buFont typeface="Arial" panose="020B0604020202020204" pitchFamily="34" charset="0"/>
              <a:buChar char="•"/>
            </a:pPr>
            <a:endParaRPr lang="en-US" altLang="zh-CN" sz="2800">
              <a:latin typeface="宋体" panose="02010600030101010101" pitchFamily="2" charset="-122"/>
            </a:endParaRPr>
          </a:p>
          <a:p>
            <a:pPr algn="just" eaLnBrk="1" hangingPunct="1">
              <a:buFont typeface="Arial" panose="020B0604020202020204" pitchFamily="34" charset="0"/>
              <a:buChar char="•"/>
            </a:pPr>
            <a:r>
              <a:rPr lang="zh-CN" altLang="en-US" sz="2800">
                <a:latin typeface="宋体" panose="02010600030101010101" pitchFamily="2" charset="-122"/>
              </a:rPr>
              <a:t>客户端可以支持打开、读取、写入等常见的操作，并且提供了类似</a:t>
            </a:r>
            <a:r>
              <a:rPr lang="en-US" altLang="zh-CN" sz="2800">
                <a:latin typeface="宋体" panose="02010600030101010101" pitchFamily="2" charset="-122"/>
              </a:rPr>
              <a:t>Shell</a:t>
            </a:r>
            <a:r>
              <a:rPr lang="zh-CN" altLang="en-US" sz="2800">
                <a:latin typeface="宋体" panose="02010600030101010101" pitchFamily="2" charset="-122"/>
              </a:rPr>
              <a:t>的命令行方式来访问</a:t>
            </a:r>
            <a:r>
              <a:rPr lang="en-US" altLang="zh-CN" sz="2800">
                <a:latin typeface="宋体" panose="02010600030101010101" pitchFamily="2" charset="-122"/>
              </a:rPr>
              <a:t>HDFS</a:t>
            </a:r>
            <a:r>
              <a:rPr lang="zh-CN" altLang="en-US" sz="2800">
                <a:latin typeface="宋体" panose="02010600030101010101" pitchFamily="2" charset="-122"/>
              </a:rPr>
              <a:t>中的数据</a:t>
            </a:r>
            <a:endParaRPr lang="zh-CN" altLang="en-US" sz="2800">
              <a:latin typeface="宋体" panose="02010600030101010101" pitchFamily="2" charset="-122"/>
            </a:endParaRPr>
          </a:p>
          <a:p>
            <a:pPr algn="just" eaLnBrk="1" hangingPunct="1">
              <a:buFont typeface="Arial" panose="020B0604020202020204" pitchFamily="34" charset="0"/>
              <a:buChar char="•"/>
            </a:pPr>
            <a:endParaRPr lang="en-US" altLang="zh-CN" sz="2800">
              <a:latin typeface="宋体" panose="02010600030101010101" pitchFamily="2" charset="-122"/>
            </a:endParaRPr>
          </a:p>
          <a:p>
            <a:pPr algn="just" eaLnBrk="1" hangingPunct="1">
              <a:buFont typeface="Arial" panose="020B0604020202020204" pitchFamily="34" charset="0"/>
              <a:buChar char="•"/>
            </a:pPr>
            <a:r>
              <a:rPr lang="zh-CN" altLang="en-US" sz="2800">
                <a:latin typeface="宋体" panose="02010600030101010101" pitchFamily="2" charset="-122"/>
              </a:rPr>
              <a:t>此外，</a:t>
            </a:r>
            <a:r>
              <a:rPr lang="en-US" altLang="zh-CN" sz="2800">
                <a:latin typeface="宋体" panose="02010600030101010101" pitchFamily="2" charset="-122"/>
              </a:rPr>
              <a:t>HDFS</a:t>
            </a:r>
            <a:r>
              <a:rPr lang="zh-CN" altLang="en-US" sz="2800">
                <a:latin typeface="宋体" panose="02010600030101010101" pitchFamily="2" charset="-122"/>
              </a:rPr>
              <a:t>也提供了</a:t>
            </a:r>
            <a:r>
              <a:rPr lang="en-US" altLang="zh-CN" sz="2800">
                <a:latin typeface="宋体" panose="02010600030101010101" pitchFamily="2" charset="-122"/>
              </a:rPr>
              <a:t>Java API</a:t>
            </a:r>
            <a:r>
              <a:rPr lang="zh-CN" altLang="en-US" sz="2800">
                <a:latin typeface="宋体" panose="02010600030101010101" pitchFamily="2" charset="-122"/>
              </a:rPr>
              <a:t>，作为应用程序访问文件系统的客户端编程接口</a:t>
            </a:r>
            <a:endParaRPr lang="zh-CN" altLang="en-US" sz="2800">
              <a:latin typeface="宋体" panose="02010600030101010101" pitchFamily="2" charset="-122"/>
            </a:endParaRPr>
          </a:p>
          <a:p>
            <a:pPr algn="just" eaLnBrk="1" hangingPunct="1">
              <a:buFont typeface="Arial" panose="020B0604020202020204" pitchFamily="34" charset="0"/>
              <a:buChar char="•"/>
            </a:pPr>
            <a:endParaRPr lang="zh-CN" altLang="en-US" sz="2800">
              <a:latin typeface="宋体" panose="02010600030101010101" pitchFamily="2" charset="-122"/>
            </a:endParaRPr>
          </a:p>
          <a:p>
            <a:pPr algn="just" eaLnBrk="1" hangingPunct="1">
              <a:buFont typeface="Arial" panose="020B0604020202020204" pitchFamily="34" charset="0"/>
              <a:buChar char="•"/>
            </a:pPr>
            <a:r>
              <a:rPr lang="en-US" altLang="zh-CN" sz="2800">
                <a:latin typeface="宋体" panose="02010600030101010101" pitchFamily="2" charset="-122"/>
                <a:sym typeface="+mn-ea"/>
              </a:rPr>
              <a:t>HDFS</a:t>
            </a:r>
            <a:r>
              <a:rPr lang="zh-CN" altLang="en-US" sz="2800">
                <a:latin typeface="宋体" panose="02010600030101010101" pitchFamily="2" charset="-122"/>
                <a:sym typeface="+mn-ea"/>
              </a:rPr>
              <a:t>在部署时都提供了客户端，严格来说，客户端并不算是</a:t>
            </a:r>
            <a:r>
              <a:rPr lang="en-US" altLang="zh-CN" sz="2800">
                <a:latin typeface="宋体" panose="02010600030101010101" pitchFamily="2" charset="-122"/>
                <a:sym typeface="+mn-ea"/>
              </a:rPr>
              <a:t>HDFS</a:t>
            </a:r>
            <a:r>
              <a:rPr lang="zh-CN" altLang="en-US" sz="2800">
                <a:latin typeface="宋体" panose="02010600030101010101" pitchFamily="2" charset="-122"/>
                <a:sym typeface="+mn-ea"/>
              </a:rPr>
              <a:t>的一部分</a:t>
            </a:r>
            <a:endParaRPr lang="zh-CN" altLang="en-US" sz="2800">
              <a:latin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marL="342900" indent="-342900"/>
            <a:r>
              <a:rPr lang="en-US" altLang="en-US" b="1"/>
              <a:t>3.4.5	HDFS体系结构的局限性</a:t>
            </a:r>
            <a:endParaRPr lang="zh-CN" altLang="en-US" b="1"/>
          </a:p>
        </p:txBody>
      </p:sp>
      <p:sp>
        <p:nvSpPr>
          <p:cNvPr id="23555" name="文本框 1"/>
          <p:cNvSpPr txBox="1">
            <a:spLocks noChangeArrowheads="1"/>
          </p:cNvSpPr>
          <p:nvPr/>
        </p:nvSpPr>
        <p:spPr bwMode="auto">
          <a:xfrm>
            <a:off x="929640" y="1524000"/>
            <a:ext cx="10273665" cy="560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00000"/>
              </a:lnSpc>
              <a:spcAft>
                <a:spcPts val="600"/>
              </a:spcAft>
            </a:pPr>
            <a:r>
              <a:rPr lang="zh-CN" altLang="en-US" sz="2800"/>
              <a:t>只设置</a:t>
            </a:r>
            <a:r>
              <a:rPr lang="zh-CN" altLang="en-US" sz="2800">
                <a:highlight>
                  <a:srgbClr val="FFFF00"/>
                </a:highlight>
              </a:rPr>
              <a:t>唯一</a:t>
            </a:r>
            <a:r>
              <a:rPr lang="zh-CN" altLang="en-US" sz="2800"/>
              <a:t>名称节点，大大简化系统设计，但带来明显的局限性：</a:t>
            </a:r>
            <a:endParaRPr lang="zh-CN" altLang="en-US" sz="2800"/>
          </a:p>
          <a:p>
            <a:pPr eaLnBrk="1" hangingPunct="1">
              <a:lnSpc>
                <a:spcPct val="100000"/>
              </a:lnSpc>
              <a:spcBef>
                <a:spcPts val="600"/>
              </a:spcBef>
              <a:spcAft>
                <a:spcPts val="600"/>
              </a:spcAft>
            </a:pPr>
            <a:r>
              <a:rPr lang="zh-CN" altLang="en-US" sz="2800"/>
              <a:t>    </a:t>
            </a:r>
            <a:endParaRPr lang="zh-CN" altLang="en-US" sz="2800"/>
          </a:p>
          <a:p>
            <a:pPr eaLnBrk="1" hangingPunct="1">
              <a:lnSpc>
                <a:spcPct val="100000"/>
              </a:lnSpc>
              <a:spcBef>
                <a:spcPts val="600"/>
              </a:spcBef>
              <a:spcAft>
                <a:spcPts val="600"/>
              </a:spcAft>
            </a:pPr>
            <a:r>
              <a:rPr lang="zh-CN" altLang="en-US" sz="2800"/>
              <a:t>        </a:t>
            </a:r>
            <a:endParaRPr lang="zh-CN" altLang="en-US" sz="2800"/>
          </a:p>
          <a:p>
            <a:pPr eaLnBrk="1" hangingPunct="1">
              <a:lnSpc>
                <a:spcPct val="100000"/>
              </a:lnSpc>
              <a:spcBef>
                <a:spcPts val="600"/>
              </a:spcBef>
              <a:spcAft>
                <a:spcPts val="600"/>
              </a:spcAft>
            </a:pPr>
            <a:r>
              <a:rPr lang="zh-CN" altLang="en-US" sz="2800"/>
              <a:t>    </a:t>
            </a:r>
            <a:endParaRPr lang="zh-CN" altLang="en-US" sz="2800"/>
          </a:p>
        </p:txBody>
      </p:sp>
      <p:sp>
        <p:nvSpPr>
          <p:cNvPr id="79" name="矩形: 圆角 78"/>
          <p:cNvSpPr/>
          <p:nvPr>
            <p:custDataLst>
              <p:tags r:id="rId1"/>
            </p:custDataLst>
          </p:nvPr>
        </p:nvSpPr>
        <p:spPr>
          <a:xfrm>
            <a:off x="1714500" y="4464685"/>
            <a:ext cx="7734300"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a:sym typeface="+mn-ea"/>
              </a:rPr>
              <a:t>（</a:t>
            </a:r>
            <a:r>
              <a:rPr lang="en-US" altLang="zh-CN" sz="2800">
                <a:sym typeface="+mn-ea"/>
              </a:rPr>
              <a:t>3</a:t>
            </a:r>
            <a:r>
              <a:rPr lang="zh-CN" altLang="en-US" sz="2800">
                <a:sym typeface="+mn-ea"/>
              </a:rPr>
              <a:t>）</a:t>
            </a:r>
            <a:r>
              <a:rPr lang="zh-CN" altLang="en-US" sz="2800" b="1">
                <a:sym typeface="+mn-ea"/>
              </a:rPr>
              <a:t>隔离问题</a:t>
            </a:r>
            <a:r>
              <a:rPr lang="zh-CN" altLang="en-US" sz="2800">
                <a:sym typeface="+mn-ea"/>
              </a:rPr>
              <a:t>：无法对不同应用程序进行隔离</a:t>
            </a:r>
            <a:endParaRPr lang="zh-CN" altLang="en-US" sz="2800" dirty="0"/>
          </a:p>
        </p:txBody>
      </p:sp>
      <p:sp>
        <p:nvSpPr>
          <p:cNvPr id="2" name="矩形: 圆角 78"/>
          <p:cNvSpPr/>
          <p:nvPr>
            <p:custDataLst>
              <p:tags r:id="rId2"/>
            </p:custDataLst>
          </p:nvPr>
        </p:nvSpPr>
        <p:spPr>
          <a:xfrm>
            <a:off x="1714500" y="5518785"/>
            <a:ext cx="7734935"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a:sym typeface="+mn-ea"/>
              </a:rPr>
              <a:t>（</a:t>
            </a:r>
            <a:r>
              <a:rPr lang="en-US" altLang="zh-CN" sz="2800">
                <a:sym typeface="+mn-ea"/>
              </a:rPr>
              <a:t>4</a:t>
            </a:r>
            <a:r>
              <a:rPr lang="zh-CN" altLang="en-US" sz="2800">
                <a:sym typeface="+mn-ea"/>
              </a:rPr>
              <a:t>）</a:t>
            </a:r>
            <a:r>
              <a:rPr lang="zh-CN" altLang="en-US" sz="2800" b="1">
                <a:sym typeface="+mn-ea"/>
              </a:rPr>
              <a:t>集群的可用性</a:t>
            </a:r>
            <a:r>
              <a:rPr lang="zh-CN" altLang="en-US" sz="2800">
                <a:sym typeface="+mn-ea"/>
              </a:rPr>
              <a:t>：唯一名称节点发生故障</a:t>
            </a:r>
            <a:endParaRPr lang="zh-CN" altLang="en-US" sz="2800" dirty="0"/>
          </a:p>
        </p:txBody>
      </p:sp>
      <p:sp>
        <p:nvSpPr>
          <p:cNvPr id="3" name="矩形: 圆角 78"/>
          <p:cNvSpPr/>
          <p:nvPr>
            <p:custDataLst>
              <p:tags r:id="rId3"/>
            </p:custDataLst>
          </p:nvPr>
        </p:nvSpPr>
        <p:spPr>
          <a:xfrm>
            <a:off x="1714500" y="3410585"/>
            <a:ext cx="7734300"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a:sym typeface="+mn-ea"/>
              </a:rPr>
              <a:t>（</a:t>
            </a:r>
            <a:r>
              <a:rPr lang="en-US" altLang="zh-CN" sz="2800">
                <a:sym typeface="+mn-ea"/>
              </a:rPr>
              <a:t>2</a:t>
            </a:r>
            <a:r>
              <a:rPr lang="zh-CN" altLang="en-US" sz="2800">
                <a:sym typeface="+mn-ea"/>
              </a:rPr>
              <a:t>）</a:t>
            </a:r>
            <a:r>
              <a:rPr lang="zh-CN" altLang="en-US" sz="2800" b="1">
                <a:sym typeface="+mn-ea"/>
              </a:rPr>
              <a:t>性能的瓶颈</a:t>
            </a:r>
            <a:r>
              <a:rPr lang="zh-CN" altLang="en-US" sz="2800">
                <a:sym typeface="+mn-ea"/>
              </a:rPr>
              <a:t>：吞吐量受限于单个名称节点</a:t>
            </a:r>
            <a:endParaRPr lang="zh-CN" altLang="en-US" sz="2800" dirty="0"/>
          </a:p>
        </p:txBody>
      </p:sp>
      <p:sp>
        <p:nvSpPr>
          <p:cNvPr id="4" name="矩形: 圆角 78"/>
          <p:cNvSpPr/>
          <p:nvPr>
            <p:custDataLst>
              <p:tags r:id="rId4"/>
            </p:custDataLst>
          </p:nvPr>
        </p:nvSpPr>
        <p:spPr>
          <a:xfrm>
            <a:off x="1714500" y="2356485"/>
            <a:ext cx="7734300"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a:sym typeface="+mn-ea"/>
              </a:rPr>
              <a:t>（</a:t>
            </a:r>
            <a:r>
              <a:rPr lang="en-US" altLang="zh-CN" sz="2800">
                <a:sym typeface="+mn-ea"/>
              </a:rPr>
              <a:t>1</a:t>
            </a:r>
            <a:r>
              <a:rPr lang="zh-CN" altLang="en-US" sz="2800">
                <a:sym typeface="+mn-ea"/>
              </a:rPr>
              <a:t>）</a:t>
            </a:r>
            <a:r>
              <a:rPr lang="zh-CN" altLang="en-US" sz="2800" b="1">
                <a:sym typeface="+mn-ea"/>
              </a:rPr>
              <a:t>命名空间的限制</a:t>
            </a:r>
            <a:r>
              <a:rPr lang="zh-CN" altLang="en-US" sz="2800">
                <a:sym typeface="+mn-ea"/>
              </a:rPr>
              <a:t>：容量受限于内存</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bldLvl="0" animBg="1"/>
      <p:bldP spid="79" grpId="1" animBg="1"/>
      <p:bldP spid="2" grpId="0" bldLvl="0" animBg="1"/>
      <p:bldP spid="2" grpId="1" animBg="1"/>
      <p:bldP spid="3" grpId="0" bldLvl="0" animBg="1"/>
      <p:bldP spid="3" grpId="1" animBg="1"/>
      <p:bldP spid="4" grpId="0" bldLvl="0" animBg="1"/>
      <p:bldP spid="4"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b="1"/>
              <a:t>3.5	HDFS</a:t>
            </a:r>
            <a:r>
              <a:rPr lang="zh-CN" altLang="en-US" b="1"/>
              <a:t>存储原理</a:t>
            </a:r>
            <a:endParaRPr lang="zh-CN" altLang="en-US" b="1"/>
          </a:p>
        </p:txBody>
      </p:sp>
      <p:sp>
        <p:nvSpPr>
          <p:cNvPr id="24579" name="Rectangle 3"/>
          <p:cNvSpPr>
            <a:spLocks noGrp="1" noChangeArrowheads="1"/>
          </p:cNvSpPr>
          <p:nvPr>
            <p:ph idx="1"/>
          </p:nvPr>
        </p:nvSpPr>
        <p:spPr/>
        <p:txBody>
          <a:bodyPr/>
          <a:lstStyle/>
          <a:p>
            <a:pPr>
              <a:lnSpc>
                <a:spcPct val="200000"/>
              </a:lnSpc>
            </a:pPr>
            <a:r>
              <a:rPr lang="en-US" altLang="zh-CN"/>
              <a:t>3.5.1	</a:t>
            </a:r>
            <a:r>
              <a:rPr lang="zh-CN" altLang="en-US"/>
              <a:t>冗余数据保存</a:t>
            </a:r>
            <a:endParaRPr lang="zh-CN" altLang="en-US"/>
          </a:p>
          <a:p>
            <a:pPr>
              <a:lnSpc>
                <a:spcPct val="200000"/>
              </a:lnSpc>
            </a:pPr>
            <a:r>
              <a:rPr lang="en-US" altLang="zh-CN"/>
              <a:t>3.5.2	</a:t>
            </a:r>
            <a:r>
              <a:rPr lang="zh-CN" altLang="en-US"/>
              <a:t>数据存取策略</a:t>
            </a:r>
            <a:endParaRPr lang="zh-CN" altLang="en-US"/>
          </a:p>
          <a:p>
            <a:pPr>
              <a:lnSpc>
                <a:spcPct val="200000"/>
              </a:lnSpc>
            </a:pPr>
            <a:r>
              <a:rPr lang="en-US" altLang="zh-CN"/>
              <a:t>3.5.3	</a:t>
            </a:r>
            <a:r>
              <a:rPr lang="zh-CN" altLang="en-US"/>
              <a:t>数据错误与恢复</a:t>
            </a:r>
            <a:endParaRPr lang="zh-CN" altLang="en-US"/>
          </a:p>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marL="342900" indent="-342900"/>
            <a:r>
              <a:rPr lang="en-US" altLang="zh-CN" b="1"/>
              <a:t>3.5.1	</a:t>
            </a:r>
            <a:r>
              <a:rPr lang="zh-CN" altLang="en-US" b="1"/>
              <a:t>冗余数据保存</a:t>
            </a:r>
            <a:endParaRPr lang="zh-CN" altLang="en-US" b="1"/>
          </a:p>
        </p:txBody>
      </p:sp>
      <p:sp>
        <p:nvSpPr>
          <p:cNvPr id="25603" name="文本框 1"/>
          <p:cNvSpPr txBox="1">
            <a:spLocks noChangeArrowheads="1"/>
          </p:cNvSpPr>
          <p:nvPr/>
        </p:nvSpPr>
        <p:spPr bwMode="auto">
          <a:xfrm>
            <a:off x="754380" y="2332355"/>
            <a:ext cx="4052570"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ts val="600"/>
              </a:spcBef>
              <a:spcAft>
                <a:spcPts val="600"/>
              </a:spcAft>
            </a:pPr>
            <a:r>
              <a:rPr lang="zh-CN" altLang="en-US" sz="2400"/>
              <a:t>优点：    </a:t>
            </a:r>
            <a:endParaRPr lang="zh-CN" altLang="en-US" sz="2400"/>
          </a:p>
          <a:p>
            <a:pPr eaLnBrk="1" hangingPunct="1">
              <a:spcBef>
                <a:spcPts val="600"/>
              </a:spcBef>
              <a:spcAft>
                <a:spcPts val="600"/>
              </a:spcAft>
            </a:pPr>
            <a:r>
              <a:rPr lang="en-US" altLang="zh-CN" sz="2400"/>
              <a:t>    </a:t>
            </a:r>
            <a:r>
              <a:rPr lang="zh-CN" altLang="en-US" sz="2400"/>
              <a:t>（</a:t>
            </a:r>
            <a:r>
              <a:rPr lang="en-US" altLang="zh-CN" sz="2400"/>
              <a:t>1</a:t>
            </a:r>
            <a:r>
              <a:rPr lang="zh-CN" altLang="en-US" sz="2400"/>
              <a:t>）</a:t>
            </a:r>
            <a:r>
              <a:rPr lang="zh-CN" altLang="en-US" sz="2400" b="1"/>
              <a:t>加快数据传输速度</a:t>
            </a:r>
            <a:endParaRPr lang="zh-CN" altLang="en-US" sz="2400"/>
          </a:p>
          <a:p>
            <a:pPr eaLnBrk="1" hangingPunct="1">
              <a:spcBef>
                <a:spcPts val="600"/>
              </a:spcBef>
              <a:spcAft>
                <a:spcPts val="600"/>
              </a:spcAft>
            </a:pPr>
            <a:r>
              <a:rPr lang="zh-CN" altLang="en-US" sz="2400"/>
              <a:t>    （</a:t>
            </a:r>
            <a:r>
              <a:rPr lang="en-US" altLang="zh-CN" sz="2400"/>
              <a:t>2</a:t>
            </a:r>
            <a:r>
              <a:rPr lang="zh-CN" altLang="en-US" sz="2400"/>
              <a:t>）</a:t>
            </a:r>
            <a:r>
              <a:rPr lang="zh-CN" altLang="en-US" sz="2400" b="1"/>
              <a:t>容易检查数据错误</a:t>
            </a:r>
            <a:endParaRPr lang="zh-CN" altLang="en-US" sz="2400"/>
          </a:p>
          <a:p>
            <a:pPr eaLnBrk="1" hangingPunct="1">
              <a:spcBef>
                <a:spcPts val="600"/>
              </a:spcBef>
              <a:spcAft>
                <a:spcPts val="600"/>
              </a:spcAft>
            </a:pPr>
            <a:r>
              <a:rPr lang="zh-CN" altLang="en-US" sz="2400"/>
              <a:t>    （</a:t>
            </a:r>
            <a:r>
              <a:rPr lang="en-US" altLang="zh-CN" sz="2400"/>
              <a:t>3</a:t>
            </a:r>
            <a:r>
              <a:rPr lang="zh-CN" altLang="en-US" sz="2400"/>
              <a:t>）</a:t>
            </a:r>
            <a:r>
              <a:rPr lang="zh-CN" altLang="en-US" sz="2400" b="1"/>
              <a:t>保证数据可靠性</a:t>
            </a:r>
            <a:endParaRPr lang="zh-CN" altLang="en-US" sz="2400" b="1"/>
          </a:p>
        </p:txBody>
      </p:sp>
      <p:pic>
        <p:nvPicPr>
          <p:cNvPr id="25604"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98470" y="2184400"/>
            <a:ext cx="7939405" cy="4573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圆角 78"/>
          <p:cNvSpPr/>
          <p:nvPr/>
        </p:nvSpPr>
        <p:spPr>
          <a:xfrm>
            <a:off x="1233170" y="1454785"/>
            <a:ext cx="6743700"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a:sym typeface="+mn-ea"/>
              </a:rPr>
              <a:t>多副本存储，保证系统的容错性和可用性</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25603"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marL="342900" indent="-342900"/>
            <a:r>
              <a:rPr lang="en-US" altLang="zh-CN" b="1"/>
              <a:t>3.5.2	</a:t>
            </a:r>
            <a:r>
              <a:rPr lang="zh-CN" altLang="en-US" b="1"/>
              <a:t>数据存取策略</a:t>
            </a:r>
            <a:endParaRPr lang="zh-CN" altLang="en-US" b="1"/>
          </a:p>
        </p:txBody>
      </p:sp>
      <p:sp>
        <p:nvSpPr>
          <p:cNvPr id="26628" name="TextBox 6"/>
          <p:cNvSpPr txBox="1">
            <a:spLocks noChangeArrowheads="1"/>
          </p:cNvSpPr>
          <p:nvPr/>
        </p:nvSpPr>
        <p:spPr bwMode="auto">
          <a:xfrm>
            <a:off x="993140" y="1452880"/>
            <a:ext cx="1985645" cy="52197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sz="2800"/>
              <a:t>数据存放</a:t>
            </a:r>
            <a:endParaRPr lang="zh-CN" sz="2800"/>
          </a:p>
        </p:txBody>
      </p:sp>
      <p:pic>
        <p:nvPicPr>
          <p:cNvPr id="2662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4305" y="2299335"/>
            <a:ext cx="6626860" cy="412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对话气泡: 圆角矩形 3"/>
          <p:cNvSpPr/>
          <p:nvPr>
            <p:custDataLst>
              <p:tags r:id="rId2"/>
            </p:custDataLst>
          </p:nvPr>
        </p:nvSpPr>
        <p:spPr>
          <a:xfrm>
            <a:off x="4607560" y="1988185"/>
            <a:ext cx="2218055" cy="770890"/>
          </a:xfrm>
          <a:prstGeom prst="wedgeRoundRectCallout">
            <a:avLst>
              <a:gd name="adj1" fmla="val -5253"/>
              <a:gd name="adj2" fmla="val 81548"/>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集群内：就近</a:t>
            </a:r>
            <a:endParaRPr lang="zh-CN" altLang="en-US" sz="2400" dirty="0"/>
          </a:p>
          <a:p>
            <a:pPr algn="ctr"/>
            <a:r>
              <a:rPr lang="zh-CN" altLang="en-US" sz="2400" dirty="0"/>
              <a:t>集群外：有空</a:t>
            </a:r>
            <a:endParaRPr lang="zh-CN" altLang="en-US" sz="2400" dirty="0"/>
          </a:p>
        </p:txBody>
      </p:sp>
      <p:sp>
        <p:nvSpPr>
          <p:cNvPr id="2" name="对话气泡: 圆角矩形 3"/>
          <p:cNvSpPr/>
          <p:nvPr>
            <p:custDataLst>
              <p:tags r:id="rId3"/>
            </p:custDataLst>
          </p:nvPr>
        </p:nvSpPr>
        <p:spPr>
          <a:xfrm>
            <a:off x="4694555" y="3575685"/>
            <a:ext cx="1963420" cy="525145"/>
          </a:xfrm>
          <a:prstGeom prst="wedgeRoundRectCallout">
            <a:avLst>
              <a:gd name="adj1" fmla="val -5253"/>
              <a:gd name="adj2" fmla="val 81548"/>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与</a:t>
            </a:r>
            <a:r>
              <a:rPr lang="en-US" altLang="zh-CN" sz="2400" dirty="0"/>
              <a:t>1</a:t>
            </a:r>
            <a:r>
              <a:rPr lang="zh-CN" altLang="en-US" sz="2400" dirty="0"/>
              <a:t>不同机架</a:t>
            </a:r>
            <a:endParaRPr lang="zh-CN" altLang="en-US" sz="2400" dirty="0"/>
          </a:p>
        </p:txBody>
      </p:sp>
      <p:sp>
        <p:nvSpPr>
          <p:cNvPr id="3" name="对话气泡: 圆角矩形 3"/>
          <p:cNvSpPr/>
          <p:nvPr>
            <p:custDataLst>
              <p:tags r:id="rId4"/>
            </p:custDataLst>
          </p:nvPr>
        </p:nvSpPr>
        <p:spPr>
          <a:xfrm>
            <a:off x="4862195" y="5985510"/>
            <a:ext cx="1963420" cy="760095"/>
          </a:xfrm>
          <a:prstGeom prst="wedgeRoundRectCallout">
            <a:avLst>
              <a:gd name="adj1" fmla="val -11739"/>
              <a:gd name="adj2" fmla="val -73458"/>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与</a:t>
            </a:r>
            <a:r>
              <a:rPr lang="en-US" altLang="zh-CN" sz="2400" dirty="0"/>
              <a:t>1</a:t>
            </a:r>
            <a:r>
              <a:rPr lang="zh-CN" altLang="en-US" sz="2400" dirty="0"/>
              <a:t>同机架</a:t>
            </a:r>
            <a:endParaRPr lang="zh-CN" altLang="en-US" sz="2400" dirty="0"/>
          </a:p>
          <a:p>
            <a:pPr algn="ctr"/>
            <a:r>
              <a:rPr lang="zh-CN" altLang="en-US" sz="2400" dirty="0"/>
              <a:t>但不同节点</a:t>
            </a:r>
            <a:endParaRPr lang="zh-CN" altLang="en-US" sz="2400" dirty="0"/>
          </a:p>
        </p:txBody>
      </p:sp>
      <p:sp>
        <p:nvSpPr>
          <p:cNvPr id="5" name="对话气泡: 圆角矩形 3"/>
          <p:cNvSpPr/>
          <p:nvPr>
            <p:custDataLst>
              <p:tags r:id="rId5"/>
            </p:custDataLst>
          </p:nvPr>
        </p:nvSpPr>
        <p:spPr>
          <a:xfrm>
            <a:off x="9618345" y="2299335"/>
            <a:ext cx="2218055" cy="770890"/>
          </a:xfrm>
          <a:prstGeom prst="wedgeRoundRectCallout">
            <a:avLst>
              <a:gd name="adj1" fmla="val -33996"/>
              <a:gd name="adj2" fmla="val 38303"/>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冗余复制因子</a:t>
            </a:r>
            <a:endParaRPr lang="zh-CN" altLang="en-US" sz="2400" dirty="0"/>
          </a:p>
          <a:p>
            <a:pPr algn="ctr"/>
            <a:r>
              <a:rPr lang="zh-CN" altLang="en-US" sz="2400" dirty="0"/>
              <a:t>默认值：</a:t>
            </a:r>
            <a:r>
              <a:rPr lang="en-US" altLang="zh-CN" sz="2400" dirty="0"/>
              <a:t>3</a:t>
            </a:r>
            <a:endParaRPr lang="en-US" altLang="zh-CN" sz="2400" dirty="0"/>
          </a:p>
        </p:txBody>
      </p:sp>
      <p:sp>
        <p:nvSpPr>
          <p:cNvPr id="6" name="对话气泡: 圆角矩形 3"/>
          <p:cNvSpPr/>
          <p:nvPr>
            <p:custDataLst>
              <p:tags r:id="rId6"/>
            </p:custDataLst>
          </p:nvPr>
        </p:nvSpPr>
        <p:spPr>
          <a:xfrm>
            <a:off x="9520555" y="5410200"/>
            <a:ext cx="2218055" cy="770890"/>
          </a:xfrm>
          <a:prstGeom prst="wedgeRoundRectCallout">
            <a:avLst>
              <a:gd name="adj1" fmla="val -33996"/>
              <a:gd name="adj2" fmla="val 38303"/>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更多副本则</a:t>
            </a:r>
            <a:endParaRPr lang="zh-CN" altLang="en-US" sz="2400" dirty="0"/>
          </a:p>
          <a:p>
            <a:pPr algn="ctr"/>
            <a:r>
              <a:rPr lang="zh-CN" altLang="en-US" sz="2400" dirty="0"/>
              <a:t>随机存放</a:t>
            </a:r>
            <a:endParaRPr lang="zh-CN" altLang="en-US" sz="2400" dirty="0"/>
          </a:p>
        </p:txBody>
      </p:sp>
      <p:sp>
        <p:nvSpPr>
          <p:cNvPr id="7" name="TextBox 6"/>
          <p:cNvSpPr txBox="1">
            <a:spLocks noChangeArrowheads="1"/>
          </p:cNvSpPr>
          <p:nvPr/>
        </p:nvSpPr>
        <p:spPr bwMode="auto">
          <a:xfrm>
            <a:off x="3702685" y="1371600"/>
            <a:ext cx="4371975" cy="52197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sz="2800"/>
              <a:t>以同一块的</a:t>
            </a:r>
            <a:r>
              <a:rPr lang="en-US" altLang="zh-CN" sz="2800"/>
              <a:t>3</a:t>
            </a:r>
            <a:r>
              <a:rPr lang="zh-CN" altLang="en-US" sz="2800"/>
              <a:t>个副本为例</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2" grpId="0" bldLvl="0" animBg="1"/>
      <p:bldP spid="2" grpId="1" animBg="1"/>
      <p:bldP spid="3" grpId="0" bldLvl="0" animBg="1"/>
      <p:bldP spid="3" grpId="1" animBg="1"/>
      <p:bldP spid="5" grpId="0" bldLvl="0" animBg="1"/>
      <p:bldP spid="5" grpId="1" animBg="1"/>
      <p:bldP spid="6" grpId="0" bldLvl="0" animBg="1"/>
      <p:bldP spid="6"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marL="342900" indent="-342900"/>
            <a:r>
              <a:rPr lang="en-US" altLang="zh-CN" b="1"/>
              <a:t>3.5.2	</a:t>
            </a:r>
            <a:r>
              <a:rPr lang="zh-CN" altLang="en-US" b="1"/>
              <a:t>数据存取策略</a:t>
            </a:r>
            <a:endParaRPr lang="zh-CN" altLang="en-US" b="1"/>
          </a:p>
        </p:txBody>
      </p:sp>
      <p:pic>
        <p:nvPicPr>
          <p:cNvPr id="25604" name="Picture 5"/>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396240" y="1889125"/>
            <a:ext cx="7632700" cy="4396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圆角 78"/>
          <p:cNvSpPr/>
          <p:nvPr>
            <p:custDataLst>
              <p:tags r:id="rId3"/>
            </p:custDataLst>
          </p:nvPr>
        </p:nvSpPr>
        <p:spPr>
          <a:xfrm>
            <a:off x="8335645" y="2959100"/>
            <a:ext cx="3497580"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a:sym typeface="+mn-ea"/>
              </a:rPr>
              <a:t>名称节点返回块列表</a:t>
            </a:r>
            <a:endParaRPr lang="zh-CN" altLang="en-US" sz="2800" dirty="0"/>
          </a:p>
        </p:txBody>
      </p:sp>
      <p:sp>
        <p:nvSpPr>
          <p:cNvPr id="3" name="矩形: 圆角 78"/>
          <p:cNvSpPr/>
          <p:nvPr>
            <p:custDataLst>
              <p:tags r:id="rId4"/>
            </p:custDataLst>
          </p:nvPr>
        </p:nvSpPr>
        <p:spPr>
          <a:xfrm>
            <a:off x="8335645" y="3916680"/>
            <a:ext cx="3497580"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en-US" altLang="zh-CN" sz="2800">
                <a:sym typeface="+mn-ea"/>
              </a:rPr>
              <a:t>API</a:t>
            </a:r>
            <a:r>
              <a:rPr lang="zh-CN" altLang="en-US" sz="2800">
                <a:sym typeface="+mn-ea"/>
              </a:rPr>
              <a:t>返回块的机架</a:t>
            </a:r>
            <a:r>
              <a:rPr lang="en-US" altLang="zh-CN" sz="2800">
                <a:sym typeface="+mn-ea"/>
              </a:rPr>
              <a:t>ID</a:t>
            </a:r>
            <a:endParaRPr lang="en-US" altLang="zh-CN" sz="2800" dirty="0">
              <a:sym typeface="+mn-ea"/>
            </a:endParaRPr>
          </a:p>
        </p:txBody>
      </p:sp>
      <p:sp>
        <p:nvSpPr>
          <p:cNvPr id="26628" name="TextBox 6"/>
          <p:cNvSpPr txBox="1">
            <a:spLocks noChangeArrowheads="1"/>
          </p:cNvSpPr>
          <p:nvPr>
            <p:custDataLst>
              <p:tags r:id="rId5"/>
            </p:custDataLst>
          </p:nvPr>
        </p:nvSpPr>
        <p:spPr bwMode="auto">
          <a:xfrm>
            <a:off x="993140" y="1452880"/>
            <a:ext cx="1985645" cy="52197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sz="2800"/>
              <a:t>数据读取</a:t>
            </a:r>
            <a:endParaRPr lang="zh-CN" sz="2800"/>
          </a:p>
        </p:txBody>
      </p:sp>
      <p:sp>
        <p:nvSpPr>
          <p:cNvPr id="4" name="矩形: 圆角 78"/>
          <p:cNvSpPr/>
          <p:nvPr>
            <p:custDataLst>
              <p:tags r:id="rId6"/>
            </p:custDataLst>
          </p:nvPr>
        </p:nvSpPr>
        <p:spPr>
          <a:xfrm>
            <a:off x="8335645" y="4946015"/>
            <a:ext cx="3497580" cy="80772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a:sym typeface="+mn-ea"/>
              </a:rPr>
              <a:t>优先选客户端机架</a:t>
            </a:r>
            <a:r>
              <a:rPr lang="en-US" altLang="zh-CN" sz="2800">
                <a:sym typeface="+mn-ea"/>
              </a:rPr>
              <a:t>ID</a:t>
            </a:r>
            <a:r>
              <a:rPr lang="zh-CN" altLang="en-US" sz="2800">
                <a:sym typeface="+mn-ea"/>
              </a:rPr>
              <a:t>上的块，若无则随机</a:t>
            </a:r>
            <a:endParaRPr lang="zh-CN" altLang="en-US" sz="2800" dirty="0">
              <a:sym typeface="+mn-ea"/>
            </a:endParaRPr>
          </a:p>
        </p:txBody>
      </p:sp>
      <p:sp>
        <p:nvSpPr>
          <p:cNvPr id="5" name="矩形: 圆角 78"/>
          <p:cNvSpPr/>
          <p:nvPr>
            <p:custDataLst>
              <p:tags r:id="rId7"/>
            </p:custDataLst>
          </p:nvPr>
        </p:nvSpPr>
        <p:spPr>
          <a:xfrm>
            <a:off x="8335645" y="2001520"/>
            <a:ext cx="3497580" cy="61150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en-US" sz="2800">
                <a:sym typeface="+mn-ea"/>
              </a:rPr>
              <a:t>API</a:t>
            </a:r>
            <a:r>
              <a:rPr lang="zh-CN" altLang="en-US" sz="2800">
                <a:sym typeface="+mn-ea"/>
              </a:rPr>
              <a:t>获客户端机架</a:t>
            </a:r>
            <a:r>
              <a:rPr lang="en-US" altLang="zh-CN" sz="2800">
                <a:sym typeface="+mn-ea"/>
              </a:rPr>
              <a:t>ID</a:t>
            </a:r>
            <a:endParaRPr lang="en-US" altLang="zh-CN" sz="2800" dirty="0">
              <a:sym typeface="+mn-ea"/>
            </a:endParaRPr>
          </a:p>
        </p:txBody>
      </p:sp>
      <p:sp>
        <p:nvSpPr>
          <p:cNvPr id="6" name="矩形 5"/>
          <p:cNvSpPr/>
          <p:nvPr/>
        </p:nvSpPr>
        <p:spPr>
          <a:xfrm>
            <a:off x="137160" y="4171950"/>
            <a:ext cx="2510790" cy="2541905"/>
          </a:xfrm>
          <a:prstGeom prst="rect">
            <a:avLst/>
          </a:prstGeom>
          <a:noFill/>
          <a:ln w="28575">
            <a:solidFill>
              <a:srgbClr val="00B0F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7" name="文本框 6"/>
          <p:cNvSpPr txBox="1"/>
          <p:nvPr/>
        </p:nvSpPr>
        <p:spPr>
          <a:xfrm>
            <a:off x="944245" y="6258560"/>
            <a:ext cx="895985" cy="398780"/>
          </a:xfrm>
          <a:prstGeom prst="rect">
            <a:avLst/>
          </a:prstGeom>
          <a:noFill/>
        </p:spPr>
        <p:txBody>
          <a:bodyPr wrap="square" rtlCol="0">
            <a:spAutoFit/>
          </a:bodyPr>
          <a:lstStyle/>
          <a:p>
            <a:r>
              <a:rPr lang="zh-CN" altLang="en-US" sz="2000"/>
              <a:t>机架</a:t>
            </a:r>
            <a:r>
              <a:rPr lang="en-US" altLang="zh-CN" sz="2000"/>
              <a:t>1</a:t>
            </a:r>
            <a:endParaRPr lang="en-US" altLang="zh-CN" sz="2000"/>
          </a:p>
        </p:txBody>
      </p:sp>
      <p:sp>
        <p:nvSpPr>
          <p:cNvPr id="8" name="矩形 7"/>
          <p:cNvSpPr/>
          <p:nvPr/>
        </p:nvSpPr>
        <p:spPr>
          <a:xfrm>
            <a:off x="3177540" y="4171950"/>
            <a:ext cx="4851400" cy="2541270"/>
          </a:xfrm>
          <a:prstGeom prst="rect">
            <a:avLst/>
          </a:prstGeom>
          <a:noFill/>
          <a:ln w="28575">
            <a:solidFill>
              <a:srgbClr val="00B0F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文本框 8"/>
          <p:cNvSpPr txBox="1"/>
          <p:nvPr/>
        </p:nvSpPr>
        <p:spPr>
          <a:xfrm>
            <a:off x="5155565" y="6285865"/>
            <a:ext cx="895985" cy="398780"/>
          </a:xfrm>
          <a:prstGeom prst="rect">
            <a:avLst/>
          </a:prstGeom>
          <a:noFill/>
        </p:spPr>
        <p:txBody>
          <a:bodyPr wrap="square" rtlCol="0">
            <a:spAutoFit/>
          </a:bodyPr>
          <a:lstStyle/>
          <a:p>
            <a:r>
              <a:rPr lang="zh-CN" altLang="en-US" sz="2000"/>
              <a:t>机架</a:t>
            </a:r>
            <a:r>
              <a:rPr lang="en-US" altLang="zh-CN" sz="2000"/>
              <a:t>2</a:t>
            </a:r>
            <a:endParaRPr lang="en-US" altLang="zh-CN"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bldLvl="0" animBg="1"/>
      <p:bldP spid="3" grpId="1" animBg="1"/>
      <p:bldP spid="4" grpId="0" bldLvl="0" animBg="1"/>
      <p:bldP spid="4" grpId="1" animBg="1"/>
      <p:bldP spid="5" grpId="0" bldLvl="0" animBg="1"/>
      <p:bldP spid="5" grpId="1" animBg="1"/>
      <p:bldP spid="6" grpId="0" animBg="1"/>
      <p:bldP spid="6" grpId="1" animBg="1"/>
      <p:bldP spid="7" grpId="0"/>
      <p:bldP spid="7" grpId="1"/>
      <p:bldP spid="8" grpId="0" animBg="1"/>
      <p:bldP spid="8" grpId="1" animBg="1"/>
      <p:bldP spid="9" grpId="0"/>
      <p:bldP spid="9"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27650" name="Rectangle 2"/>
          <p:cNvSpPr>
            <a:spLocks noGrp="1" noChangeArrowheads="1"/>
          </p:cNvSpPr>
          <p:nvPr>
            <p:ph type="title"/>
            <p:custDataLst>
              <p:tags r:id="rId1"/>
            </p:custDataLst>
          </p:nvPr>
        </p:nvSpPr>
        <p:spPr/>
        <p:txBody>
          <a:bodyPr/>
          <a:lstStyle/>
          <a:p>
            <a:pPr marL="342900" indent="-342900"/>
            <a:r>
              <a:rPr lang="en-US" altLang="zh-CN" b="1"/>
              <a:t>3.5.2	</a:t>
            </a:r>
            <a:r>
              <a:rPr lang="zh-CN" altLang="en-US" b="1"/>
              <a:t>数据存取策略</a:t>
            </a:r>
            <a:endParaRPr lang="zh-CN" altLang="en-US" b="1"/>
          </a:p>
        </p:txBody>
      </p:sp>
      <p:sp>
        <p:nvSpPr>
          <p:cNvPr id="26628" name="TextBox 6"/>
          <p:cNvSpPr txBox="1">
            <a:spLocks noChangeArrowheads="1"/>
          </p:cNvSpPr>
          <p:nvPr>
            <p:custDataLst>
              <p:tags r:id="rId2"/>
            </p:custDataLst>
          </p:nvPr>
        </p:nvSpPr>
        <p:spPr bwMode="auto">
          <a:xfrm>
            <a:off x="993140" y="1452880"/>
            <a:ext cx="1985645" cy="52197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sz="2800"/>
              <a:t>数据复制</a:t>
            </a:r>
            <a:endParaRPr lang="en-US" altLang="zh-CN" sz="2800"/>
          </a:p>
        </p:txBody>
      </p:sp>
      <p:sp>
        <p:nvSpPr>
          <p:cNvPr id="4" name="矩形: 圆角 78"/>
          <p:cNvSpPr/>
          <p:nvPr>
            <p:custDataLst>
              <p:tags r:id="rId3"/>
            </p:custDataLst>
          </p:nvPr>
        </p:nvSpPr>
        <p:spPr>
          <a:xfrm>
            <a:off x="2867025" y="4117975"/>
            <a:ext cx="6873240" cy="53721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a:sym typeface="+mn-ea"/>
              </a:rPr>
              <a:t>数据写入列表中节点</a:t>
            </a:r>
            <a:r>
              <a:rPr lang="en-US" altLang="zh-CN" sz="2800">
                <a:sym typeface="+mn-ea"/>
              </a:rPr>
              <a:t>1</a:t>
            </a:r>
            <a:r>
              <a:rPr lang="zh-CN" altLang="en-US" sz="2800">
                <a:sym typeface="+mn-ea"/>
              </a:rPr>
              <a:t>；列表</a:t>
            </a:r>
            <a:r>
              <a:rPr lang="zh-CN" altLang="en-US" sz="2800">
                <a:solidFill>
                  <a:srgbClr val="FFFF00"/>
                </a:solidFill>
                <a:sym typeface="+mn-ea"/>
              </a:rPr>
              <a:t>也</a:t>
            </a:r>
            <a:r>
              <a:rPr lang="zh-CN" altLang="en-US" sz="2800">
                <a:sym typeface="+mn-ea"/>
              </a:rPr>
              <a:t>传往节点</a:t>
            </a:r>
            <a:r>
              <a:rPr lang="en-US" altLang="zh-CN" sz="2800">
                <a:sym typeface="+mn-ea"/>
              </a:rPr>
              <a:t>1</a:t>
            </a:r>
            <a:endParaRPr lang="en-US" altLang="zh-CN" sz="2800" dirty="0">
              <a:sym typeface="+mn-ea"/>
            </a:endParaRPr>
          </a:p>
        </p:txBody>
      </p:sp>
      <p:sp>
        <p:nvSpPr>
          <p:cNvPr id="5" name="矩形: 圆角 78"/>
          <p:cNvSpPr/>
          <p:nvPr>
            <p:custDataLst>
              <p:tags r:id="rId4"/>
            </p:custDataLst>
          </p:nvPr>
        </p:nvSpPr>
        <p:spPr>
          <a:xfrm>
            <a:off x="2867025" y="5075555"/>
            <a:ext cx="6873240" cy="53721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sz="2800" dirty="0">
                <a:sym typeface="+mn-ea"/>
              </a:rPr>
              <a:t>节点</a:t>
            </a:r>
            <a:r>
              <a:rPr lang="en-US" altLang="zh-CN" sz="2800" dirty="0">
                <a:sym typeface="+mn-ea"/>
              </a:rPr>
              <a:t>1</a:t>
            </a:r>
            <a:r>
              <a:rPr lang="zh-CN" altLang="en-US" sz="2800" dirty="0">
                <a:sym typeface="+mn-ea"/>
              </a:rPr>
              <a:t>把数据和列表传往</a:t>
            </a:r>
            <a:r>
              <a:rPr lang="zh-CN" altLang="en-US" sz="2800">
                <a:sym typeface="+mn-ea"/>
              </a:rPr>
              <a:t>列表中节点</a:t>
            </a:r>
            <a:r>
              <a:rPr lang="en-US" altLang="zh-CN" sz="2800" dirty="0">
                <a:sym typeface="+mn-ea"/>
              </a:rPr>
              <a:t>2</a:t>
            </a:r>
            <a:endParaRPr lang="en-US" altLang="zh-CN" sz="2800" dirty="0">
              <a:sym typeface="+mn-ea"/>
            </a:endParaRPr>
          </a:p>
        </p:txBody>
      </p:sp>
      <p:sp>
        <p:nvSpPr>
          <p:cNvPr id="6" name="矩形: 圆角 78"/>
          <p:cNvSpPr/>
          <p:nvPr>
            <p:custDataLst>
              <p:tags r:id="rId5"/>
            </p:custDataLst>
          </p:nvPr>
        </p:nvSpPr>
        <p:spPr>
          <a:xfrm>
            <a:off x="2867025" y="6104890"/>
            <a:ext cx="6873240" cy="55753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sz="2800">
                <a:sym typeface="+mn-ea"/>
              </a:rPr>
              <a:t>以此类推</a:t>
            </a:r>
            <a:endParaRPr lang="zh-CN" sz="2800" dirty="0">
              <a:sym typeface="+mn-ea"/>
            </a:endParaRPr>
          </a:p>
        </p:txBody>
      </p:sp>
      <p:sp>
        <p:nvSpPr>
          <p:cNvPr id="7" name="矩形: 圆角 78"/>
          <p:cNvSpPr/>
          <p:nvPr>
            <p:custDataLst>
              <p:tags r:id="rId6"/>
            </p:custDataLst>
          </p:nvPr>
        </p:nvSpPr>
        <p:spPr>
          <a:xfrm>
            <a:off x="2867025" y="3160395"/>
            <a:ext cx="6873240" cy="5365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sz="2800" dirty="0">
                <a:sym typeface="+mn-ea"/>
              </a:rPr>
              <a:t>每块向名称节点获取数据节点列表</a:t>
            </a:r>
            <a:endParaRPr lang="zh-CN" sz="2800" dirty="0">
              <a:sym typeface="+mn-ea"/>
            </a:endParaRPr>
          </a:p>
        </p:txBody>
      </p:sp>
      <p:sp>
        <p:nvSpPr>
          <p:cNvPr id="2" name="矩形: 圆角 78"/>
          <p:cNvSpPr/>
          <p:nvPr>
            <p:custDataLst>
              <p:tags r:id="rId7"/>
            </p:custDataLst>
          </p:nvPr>
        </p:nvSpPr>
        <p:spPr>
          <a:xfrm>
            <a:off x="1737360" y="2202815"/>
            <a:ext cx="5065395" cy="536575"/>
          </a:xfrm>
          <a:prstGeom prst="roundRect">
            <a:avLst/>
          </a:prstGeom>
        </p:spPr>
        <p:style>
          <a:lnRef idx="2">
            <a:schemeClr val="accent2"/>
          </a:lnRef>
          <a:fillRef idx="0">
            <a:srgbClr val="FFFFFF"/>
          </a:fillRef>
          <a:effectRef idx="0">
            <a:srgbClr val="FFFFFF"/>
          </a:effectRef>
          <a:fontRef idx="minor">
            <a:schemeClr val="tx1"/>
          </a:fontRef>
        </p:style>
        <p:txBody>
          <a:bodyPr rtlCol="0" anchor="ctr"/>
          <a:lstStyle/>
          <a:p>
            <a:pPr eaLnBrk="1" hangingPunct="1">
              <a:lnSpc>
                <a:spcPct val="100000"/>
              </a:lnSpc>
              <a:spcBef>
                <a:spcPts val="600"/>
              </a:spcBef>
              <a:spcAft>
                <a:spcPts val="600"/>
              </a:spcAft>
            </a:pPr>
            <a:r>
              <a:rPr lang="zh-CN" sz="2800" dirty="0">
                <a:sym typeface="+mn-ea"/>
              </a:rPr>
              <a:t>文件先分块，每块发起写请求</a:t>
            </a:r>
            <a:endParaRPr lang="zh-CN" sz="28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5" grpId="0" bldLvl="0" animBg="1"/>
      <p:bldP spid="5" grpId="1" animBg="1"/>
      <p:bldP spid="6" grpId="0" bldLvl="0" animBg="1"/>
      <p:bldP spid="6" grpId="1" animBg="1"/>
      <p:bldP spid="7" grpId="0" bldLvl="0" animBg="1"/>
      <p:bldP spid="7" grpId="1" animBg="1"/>
      <p:bldP spid="2" grpId="0" bldLvl="0" animBg="1"/>
      <p:bldP spid="2"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marL="342900" indent="-342900"/>
            <a:r>
              <a:rPr lang="en-US" altLang="zh-CN" b="1"/>
              <a:t>3.5.3	</a:t>
            </a:r>
            <a:r>
              <a:rPr lang="zh-CN" altLang="en-US" b="1"/>
              <a:t>数据错误与恢复</a:t>
            </a:r>
            <a:endParaRPr lang="zh-CN" altLang="en-US" b="1"/>
          </a:p>
        </p:txBody>
      </p:sp>
      <p:sp>
        <p:nvSpPr>
          <p:cNvPr id="2" name="矩形: 圆角 78"/>
          <p:cNvSpPr/>
          <p:nvPr>
            <p:custDataLst>
              <p:tags r:id="rId1"/>
            </p:custDataLst>
          </p:nvPr>
        </p:nvSpPr>
        <p:spPr>
          <a:xfrm>
            <a:off x="3110865" y="1651954"/>
            <a:ext cx="4407535" cy="5365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eaLnBrk="1" hangingPunct="1">
              <a:lnSpc>
                <a:spcPct val="100000"/>
              </a:lnSpc>
              <a:spcBef>
                <a:spcPts val="600"/>
              </a:spcBef>
              <a:spcAft>
                <a:spcPts val="600"/>
              </a:spcAft>
            </a:pPr>
            <a:r>
              <a:rPr lang="zh-CN" altLang="en-US" sz="2800" dirty="0">
                <a:sym typeface="+mn-ea"/>
              </a:rPr>
              <a:t>硬件出错：常态而非异常</a:t>
            </a:r>
            <a:endParaRPr lang="zh-CN" sz="2800" dirty="0">
              <a:sym typeface="+mn-ea"/>
            </a:endParaRPr>
          </a:p>
        </p:txBody>
      </p:sp>
      <p:sp>
        <p:nvSpPr>
          <p:cNvPr id="3" name="矩形: 圆角 78"/>
          <p:cNvSpPr/>
          <p:nvPr>
            <p:custDataLst>
              <p:tags r:id="rId2"/>
            </p:custDataLst>
          </p:nvPr>
        </p:nvSpPr>
        <p:spPr>
          <a:xfrm>
            <a:off x="3110864" y="3043078"/>
            <a:ext cx="4407535" cy="96710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spcBef>
                <a:spcPts val="600"/>
              </a:spcBef>
              <a:spcAft>
                <a:spcPts val="600"/>
              </a:spcAft>
            </a:pPr>
            <a:r>
              <a:rPr lang="zh-CN" altLang="en-US" sz="2800" dirty="0"/>
              <a:t>设计了相应的机制检测数据错误和进行自动恢复</a:t>
            </a:r>
            <a:endParaRPr lang="zh-CN" sz="2800" dirty="0">
              <a:sym typeface="+mn-ea"/>
            </a:endParaRPr>
          </a:p>
        </p:txBody>
      </p:sp>
      <p:sp>
        <p:nvSpPr>
          <p:cNvPr id="4" name="矩形: 圆角 78"/>
          <p:cNvSpPr/>
          <p:nvPr>
            <p:custDataLst>
              <p:tags r:id="rId3"/>
            </p:custDataLst>
          </p:nvPr>
        </p:nvSpPr>
        <p:spPr>
          <a:xfrm>
            <a:off x="3110864" y="4913312"/>
            <a:ext cx="4407535" cy="88518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spcBef>
                <a:spcPts val="600"/>
              </a:spcBef>
              <a:spcAft>
                <a:spcPts val="600"/>
              </a:spcAft>
            </a:pPr>
            <a:r>
              <a:rPr lang="en-US" altLang="zh-CN" sz="2800" dirty="0"/>
              <a:t>HDFS</a:t>
            </a:r>
            <a:r>
              <a:rPr lang="zh-CN" altLang="en-US" sz="2800" dirty="0"/>
              <a:t>具有较高的容错性，可以兼容廉价的硬件</a:t>
            </a:r>
            <a:endParaRPr lang="zh-CN" sz="2800" dirty="0">
              <a:sym typeface="+mn-ea"/>
            </a:endParaRPr>
          </a:p>
        </p:txBody>
      </p:sp>
      <p:sp>
        <p:nvSpPr>
          <p:cNvPr id="7" name="矩形: 圆角 78"/>
          <p:cNvSpPr/>
          <p:nvPr>
            <p:custDataLst>
              <p:tags r:id="rId4"/>
            </p:custDataLst>
          </p:nvPr>
        </p:nvSpPr>
        <p:spPr>
          <a:xfrm>
            <a:off x="8537891" y="2188529"/>
            <a:ext cx="2528888" cy="53657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spcBef>
                <a:spcPts val="600"/>
              </a:spcBef>
              <a:spcAft>
                <a:spcPts val="600"/>
              </a:spcAft>
            </a:pPr>
            <a:r>
              <a:rPr lang="zh-CN" altLang="en-US" sz="2800" dirty="0"/>
              <a:t>名称节点出错</a:t>
            </a:r>
            <a:endParaRPr lang="zh-CN" sz="2800" dirty="0">
              <a:sym typeface="+mn-ea"/>
            </a:endParaRPr>
          </a:p>
        </p:txBody>
      </p:sp>
      <p:sp>
        <p:nvSpPr>
          <p:cNvPr id="8" name="矩形: 圆角 78"/>
          <p:cNvSpPr/>
          <p:nvPr>
            <p:custDataLst>
              <p:tags r:id="rId5"/>
            </p:custDataLst>
          </p:nvPr>
        </p:nvSpPr>
        <p:spPr>
          <a:xfrm>
            <a:off x="8537891" y="4376737"/>
            <a:ext cx="2528888" cy="53657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spcBef>
                <a:spcPts val="600"/>
              </a:spcBef>
              <a:spcAft>
                <a:spcPts val="600"/>
              </a:spcAft>
            </a:pPr>
            <a:r>
              <a:rPr lang="zh-CN" altLang="en-US" sz="2800" dirty="0"/>
              <a:t>数据出错</a:t>
            </a:r>
            <a:endParaRPr lang="zh-CN" sz="2800" dirty="0">
              <a:sym typeface="+mn-ea"/>
            </a:endParaRPr>
          </a:p>
        </p:txBody>
      </p:sp>
      <p:sp>
        <p:nvSpPr>
          <p:cNvPr id="9" name="矩形: 圆角 78"/>
          <p:cNvSpPr/>
          <p:nvPr>
            <p:custDataLst>
              <p:tags r:id="rId6"/>
            </p:custDataLst>
          </p:nvPr>
        </p:nvSpPr>
        <p:spPr>
          <a:xfrm>
            <a:off x="8537891" y="3187223"/>
            <a:ext cx="2528888" cy="53657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spcBef>
                <a:spcPts val="600"/>
              </a:spcBef>
              <a:spcAft>
                <a:spcPts val="600"/>
              </a:spcAft>
            </a:pPr>
            <a:r>
              <a:rPr lang="zh-CN" altLang="en-US" sz="2800" dirty="0"/>
              <a:t>数据节点出错</a:t>
            </a:r>
            <a:endParaRPr lang="zh-CN" sz="2800" dirty="0">
              <a:sym typeface="+mn-ea"/>
            </a:endParaRPr>
          </a:p>
        </p:txBody>
      </p:sp>
      <p:sp>
        <p:nvSpPr>
          <p:cNvPr id="10" name="左大括号 9"/>
          <p:cNvSpPr/>
          <p:nvPr/>
        </p:nvSpPr>
        <p:spPr>
          <a:xfrm>
            <a:off x="7805418" y="2367280"/>
            <a:ext cx="386080" cy="232664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箭头: 下 10"/>
          <p:cNvSpPr/>
          <p:nvPr/>
        </p:nvSpPr>
        <p:spPr>
          <a:xfrm>
            <a:off x="5019991" y="2339816"/>
            <a:ext cx="589280" cy="5365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p:cNvSpPr/>
          <p:nvPr/>
        </p:nvSpPr>
        <p:spPr>
          <a:xfrm>
            <a:off x="5019991" y="4188142"/>
            <a:ext cx="589280" cy="5365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1"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par>
                          <p:cTn id="12" fill="hold">
                            <p:stCondLst>
                              <p:cond delay="1000"/>
                            </p:stCondLst>
                            <p:childTnLst>
                              <p:par>
                                <p:cTn id="13" presetID="22" presetClass="entr" presetSubtype="1" fill="hold" grpId="1"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par>
                          <p:cTn id="20" fill="hold">
                            <p:stCondLst>
                              <p:cond delay="2000"/>
                            </p:stCondLst>
                            <p:childTnLst>
                              <p:par>
                                <p:cTn id="21" presetID="22" presetClass="entr" presetSubtype="1" fill="hold" grpId="1"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par>
                          <p:cTn id="29" fill="hold">
                            <p:stCondLst>
                              <p:cond delay="500"/>
                            </p:stCondLst>
                            <p:childTnLst>
                              <p:par>
                                <p:cTn id="30" presetID="22" presetClass="entr" presetSubtype="8" fill="hold" grpId="1"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par>
                                <p:cTn id="33" presetID="22" presetClass="entr" presetSubtype="8" fill="hold" grpId="1"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par>
                                <p:cTn id="36" presetID="22" presetClass="entr" presetSubtype="8" fill="hold" grpId="1"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7" grpId="0" animBg="1"/>
      <p:bldP spid="7" grpId="1" animBg="1"/>
      <p:bldP spid="8" grpId="0" animBg="1"/>
      <p:bldP spid="8" grpId="1" animBg="1"/>
      <p:bldP spid="9" grpId="0" animBg="1"/>
      <p:bldP spid="9" grpId="1" animBg="1"/>
      <p:bldP spid="10" grpId="0" animBg="1"/>
      <p:bldP spid="11"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marL="342900" indent="-342900"/>
            <a:r>
              <a:rPr lang="en-US" altLang="zh-CN" b="1"/>
              <a:t>3.5.3	</a:t>
            </a:r>
            <a:r>
              <a:rPr lang="zh-CN" altLang="en-US" b="1"/>
              <a:t>数据错误与恢复</a:t>
            </a:r>
            <a:endParaRPr lang="zh-CN" altLang="en-US" b="1"/>
          </a:p>
        </p:txBody>
      </p:sp>
      <p:sp>
        <p:nvSpPr>
          <p:cNvPr id="2" name="矩形: 圆角 78"/>
          <p:cNvSpPr/>
          <p:nvPr>
            <p:custDataLst>
              <p:tags r:id="rId1"/>
            </p:custDataLst>
          </p:nvPr>
        </p:nvSpPr>
        <p:spPr>
          <a:xfrm>
            <a:off x="987425" y="1680210"/>
            <a:ext cx="4006215" cy="5365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spcAft>
                <a:spcPts val="2400"/>
              </a:spcAft>
            </a:pPr>
            <a:r>
              <a:rPr lang="en-US" altLang="zh-CN" sz="2800" b="1" dirty="0"/>
              <a:t>1. </a:t>
            </a:r>
            <a:r>
              <a:rPr lang="zh-CN" altLang="en-US" sz="2800" b="1" dirty="0"/>
              <a:t>名称节点出错</a:t>
            </a:r>
            <a:endParaRPr lang="zh-CN" altLang="en-US" sz="2800" dirty="0"/>
          </a:p>
        </p:txBody>
      </p:sp>
      <p:sp>
        <p:nvSpPr>
          <p:cNvPr id="3" name="Rectangle 5"/>
          <p:cNvSpPr>
            <a:spLocks noChangeArrowheads="1"/>
          </p:cNvSpPr>
          <p:nvPr/>
        </p:nvSpPr>
        <p:spPr bwMode="auto">
          <a:xfrm>
            <a:off x="1388585" y="3149601"/>
            <a:ext cx="3605213" cy="2157413"/>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Rectangle 6"/>
          <p:cNvSpPr>
            <a:spLocks noChangeArrowheads="1"/>
          </p:cNvSpPr>
          <p:nvPr/>
        </p:nvSpPr>
        <p:spPr bwMode="auto">
          <a:xfrm>
            <a:off x="1445895" y="3258820"/>
            <a:ext cx="2463165"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名称节点</a:t>
            </a:r>
            <a:r>
              <a:rPr lang="en-US" altLang="zh-CN" sz="2000" dirty="0">
                <a:solidFill>
                  <a:srgbClr val="000000"/>
                </a:solidFill>
                <a:latin typeface="宋体" panose="02010600030101010101" pitchFamily="2" charset="-122"/>
                <a:ea typeface="宋体" panose="02010600030101010101" pitchFamily="2" charset="-122"/>
              </a:rPr>
              <a:t>(</a:t>
            </a:r>
            <a:r>
              <a:rPr kumimoji="0" lang="zh-CN"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NameNode</a:t>
            </a:r>
            <a:r>
              <a:rPr lang="en-US" altLang="zh-CN" sz="2000" dirty="0">
                <a:solidFill>
                  <a:srgbClr val="000000"/>
                </a:solidFill>
                <a:latin typeface="宋体" panose="02010600030101010101" pitchFamily="2" charset="-122"/>
                <a:ea typeface="宋体" panose="02010600030101010101" pitchFamily="2" charset="-12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Freeform 10"/>
          <p:cNvSpPr/>
          <p:nvPr/>
        </p:nvSpPr>
        <p:spPr bwMode="auto">
          <a:xfrm>
            <a:off x="2241547" y="3655695"/>
            <a:ext cx="1947863" cy="688975"/>
          </a:xfrm>
          <a:custGeom>
            <a:avLst/>
            <a:gdLst>
              <a:gd name="T0" fmla="*/ 535 w 3023"/>
              <a:gd name="T1" fmla="*/ 1070 h 1070"/>
              <a:gd name="T2" fmla="*/ 2488 w 3023"/>
              <a:gd name="T3" fmla="*/ 1070 h 1070"/>
              <a:gd name="T4" fmla="*/ 3023 w 3023"/>
              <a:gd name="T5" fmla="*/ 535 h 1070"/>
              <a:gd name="T6" fmla="*/ 2488 w 3023"/>
              <a:gd name="T7" fmla="*/ 0 h 1070"/>
              <a:gd name="T8" fmla="*/ 2488 w 3023"/>
              <a:gd name="T9" fmla="*/ 0 h 1070"/>
              <a:gd name="T10" fmla="*/ 2488 w 3023"/>
              <a:gd name="T11" fmla="*/ 0 h 1070"/>
              <a:gd name="T12" fmla="*/ 535 w 3023"/>
              <a:gd name="T13" fmla="*/ 0 h 1070"/>
              <a:gd name="T14" fmla="*/ 0 w 3023"/>
              <a:gd name="T15" fmla="*/ 535 h 1070"/>
              <a:gd name="T16" fmla="*/ 535 w 3023"/>
              <a:gd name="T17" fmla="*/ 1070 h 1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1070">
                <a:moveTo>
                  <a:pt x="535" y="1070"/>
                </a:moveTo>
                <a:lnTo>
                  <a:pt x="2488" y="1070"/>
                </a:lnTo>
                <a:cubicBezTo>
                  <a:pt x="2784" y="1070"/>
                  <a:pt x="3023" y="830"/>
                  <a:pt x="3023" y="535"/>
                </a:cubicBezTo>
                <a:cubicBezTo>
                  <a:pt x="3023" y="239"/>
                  <a:pt x="2784" y="0"/>
                  <a:pt x="2488" y="0"/>
                </a:cubicBezTo>
                <a:cubicBezTo>
                  <a:pt x="2488" y="0"/>
                  <a:pt x="2488" y="0"/>
                  <a:pt x="2488" y="0"/>
                </a:cubicBezTo>
                <a:lnTo>
                  <a:pt x="2488" y="0"/>
                </a:lnTo>
                <a:lnTo>
                  <a:pt x="535" y="0"/>
                </a:lnTo>
                <a:cubicBezTo>
                  <a:pt x="239" y="0"/>
                  <a:pt x="0" y="239"/>
                  <a:pt x="0" y="535"/>
                </a:cubicBezTo>
                <a:cubicBezTo>
                  <a:pt x="0" y="830"/>
                  <a:pt x="239" y="1070"/>
                  <a:pt x="535" y="1070"/>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Rectangle 11"/>
          <p:cNvSpPr>
            <a:spLocks noChangeArrowheads="1"/>
          </p:cNvSpPr>
          <p:nvPr/>
        </p:nvSpPr>
        <p:spPr bwMode="auto">
          <a:xfrm>
            <a:off x="2786060" y="3854133"/>
            <a:ext cx="9794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FsImage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Freeform 12"/>
          <p:cNvSpPr/>
          <p:nvPr/>
        </p:nvSpPr>
        <p:spPr bwMode="auto">
          <a:xfrm>
            <a:off x="2241547" y="4582795"/>
            <a:ext cx="1947863" cy="573088"/>
          </a:xfrm>
          <a:custGeom>
            <a:avLst/>
            <a:gdLst>
              <a:gd name="T0" fmla="*/ 444 w 3023"/>
              <a:gd name="T1" fmla="*/ 889 h 889"/>
              <a:gd name="T2" fmla="*/ 2579 w 3023"/>
              <a:gd name="T3" fmla="*/ 889 h 889"/>
              <a:gd name="T4" fmla="*/ 3023 w 3023"/>
              <a:gd name="T5" fmla="*/ 444 h 889"/>
              <a:gd name="T6" fmla="*/ 2579 w 3023"/>
              <a:gd name="T7" fmla="*/ 0 h 889"/>
              <a:gd name="T8" fmla="*/ 2579 w 3023"/>
              <a:gd name="T9" fmla="*/ 0 h 889"/>
              <a:gd name="T10" fmla="*/ 2579 w 3023"/>
              <a:gd name="T11" fmla="*/ 0 h 889"/>
              <a:gd name="T12" fmla="*/ 444 w 3023"/>
              <a:gd name="T13" fmla="*/ 0 h 889"/>
              <a:gd name="T14" fmla="*/ 0 w 3023"/>
              <a:gd name="T15" fmla="*/ 444 h 889"/>
              <a:gd name="T16" fmla="*/ 444 w 3023"/>
              <a:gd name="T17" fmla="*/ 889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889">
                <a:moveTo>
                  <a:pt x="444" y="889"/>
                </a:moveTo>
                <a:lnTo>
                  <a:pt x="2579" y="889"/>
                </a:lnTo>
                <a:cubicBezTo>
                  <a:pt x="2824" y="889"/>
                  <a:pt x="3023" y="690"/>
                  <a:pt x="3023" y="444"/>
                </a:cubicBezTo>
                <a:cubicBezTo>
                  <a:pt x="3023" y="199"/>
                  <a:pt x="2824" y="0"/>
                  <a:pt x="2579" y="0"/>
                </a:cubicBezTo>
                <a:cubicBezTo>
                  <a:pt x="2579" y="0"/>
                  <a:pt x="2579" y="0"/>
                  <a:pt x="2579" y="0"/>
                </a:cubicBezTo>
                <a:lnTo>
                  <a:pt x="2579" y="0"/>
                </a:lnTo>
                <a:lnTo>
                  <a:pt x="444" y="0"/>
                </a:lnTo>
                <a:cubicBezTo>
                  <a:pt x="199" y="0"/>
                  <a:pt x="0" y="199"/>
                  <a:pt x="0" y="444"/>
                </a:cubicBezTo>
                <a:cubicBezTo>
                  <a:pt x="0" y="690"/>
                  <a:pt x="199" y="889"/>
                  <a:pt x="444" y="889"/>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 name="Rectangle 13"/>
          <p:cNvSpPr>
            <a:spLocks noChangeArrowheads="1"/>
          </p:cNvSpPr>
          <p:nvPr/>
        </p:nvSpPr>
        <p:spPr bwMode="auto">
          <a:xfrm>
            <a:off x="2806697" y="4719320"/>
            <a:ext cx="9493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EditLog</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圆角矩形标注 9"/>
          <p:cNvSpPr/>
          <p:nvPr/>
        </p:nvSpPr>
        <p:spPr>
          <a:xfrm>
            <a:off x="5242560" y="2414270"/>
            <a:ext cx="1706880" cy="735330"/>
          </a:xfrm>
          <a:prstGeom prst="wedgeRoundRectCallout">
            <a:avLst>
              <a:gd name="adj1" fmla="val -74813"/>
              <a:gd name="adj2" fmla="val 7461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a:t>同步存储</a:t>
            </a:r>
            <a:endParaRPr lang="zh-CN" altLang="en-US" sz="2800"/>
          </a:p>
        </p:txBody>
      </p:sp>
      <p:sp>
        <p:nvSpPr>
          <p:cNvPr id="11" name="圆角矩形标注 10"/>
          <p:cNvSpPr/>
          <p:nvPr/>
        </p:nvSpPr>
        <p:spPr>
          <a:xfrm>
            <a:off x="5242560" y="5068570"/>
            <a:ext cx="1706880" cy="735330"/>
          </a:xfrm>
          <a:prstGeom prst="wedgeRoundRectCallout">
            <a:avLst>
              <a:gd name="adj1" fmla="val -78273"/>
              <a:gd name="adj2" fmla="val -6943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dirty="0">
                <a:sym typeface="+mn-ea"/>
              </a:rPr>
              <a:t>备份机制</a:t>
            </a:r>
            <a:endParaRPr lang="zh-CN" altLang="en-US" sz="2800"/>
          </a:p>
        </p:txBody>
      </p:sp>
      <p:sp>
        <p:nvSpPr>
          <p:cNvPr id="12" name="文本框 11"/>
          <p:cNvSpPr txBox="1"/>
          <p:nvPr/>
        </p:nvSpPr>
        <p:spPr>
          <a:xfrm>
            <a:off x="5341620" y="3149600"/>
            <a:ext cx="2248535" cy="706755"/>
          </a:xfrm>
          <a:prstGeom prst="rect">
            <a:avLst/>
          </a:prstGeom>
          <a:noFill/>
        </p:spPr>
        <p:txBody>
          <a:bodyPr wrap="square" rtlCol="0" anchor="t">
            <a:spAutoFit/>
          </a:bodyPr>
          <a:lstStyle/>
          <a:p>
            <a:r>
              <a:rPr lang="zh-CN" sz="2000" dirty="0">
                <a:sym typeface="+mn-ea"/>
              </a:rPr>
              <a:t>比如远程挂载的网络文件系统</a:t>
            </a:r>
            <a:r>
              <a:rPr lang="en-US" altLang="zh-CN" sz="2000" dirty="0">
                <a:sym typeface="+mn-ea"/>
              </a:rPr>
              <a:t>NFS</a:t>
            </a:r>
            <a:endParaRPr lang="en-US" altLang="zh-CN" sz="2000" dirty="0">
              <a:sym typeface="+mn-ea"/>
            </a:endParaRPr>
          </a:p>
        </p:txBody>
      </p:sp>
      <p:sp>
        <p:nvSpPr>
          <p:cNvPr id="13" name="文本框 12"/>
          <p:cNvSpPr txBox="1"/>
          <p:nvPr/>
        </p:nvSpPr>
        <p:spPr>
          <a:xfrm>
            <a:off x="5426710" y="5962015"/>
            <a:ext cx="2163445" cy="398780"/>
          </a:xfrm>
          <a:prstGeom prst="rect">
            <a:avLst/>
          </a:prstGeom>
          <a:noFill/>
        </p:spPr>
        <p:txBody>
          <a:bodyPr wrap="square" rtlCol="0" anchor="t">
            <a:spAutoFit/>
          </a:bodyPr>
          <a:lstStyle/>
          <a:p>
            <a:r>
              <a:rPr lang="zh-CN" altLang="en-US" sz="2000" dirty="0">
                <a:sym typeface="+mn-ea"/>
              </a:rPr>
              <a:t>第二名称节点</a:t>
            </a:r>
            <a:endParaRPr lang="zh-CN" altLang="en-US" sz="2000" dirty="0">
              <a:sym typeface="+mn-ea"/>
            </a:endParaRPr>
          </a:p>
        </p:txBody>
      </p:sp>
      <p:sp>
        <p:nvSpPr>
          <p:cNvPr id="14" name="加号 13"/>
          <p:cNvSpPr/>
          <p:nvPr/>
        </p:nvSpPr>
        <p:spPr>
          <a:xfrm>
            <a:off x="5679440" y="3778885"/>
            <a:ext cx="833755" cy="80391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5" name="圆角矩形 14"/>
          <p:cNvSpPr/>
          <p:nvPr/>
        </p:nvSpPr>
        <p:spPr>
          <a:xfrm>
            <a:off x="8206740" y="3429000"/>
            <a:ext cx="3521710" cy="134175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800"/>
              <a:t>获取同步信息</a:t>
            </a:r>
            <a:endParaRPr lang="zh-CN" altLang="en-US" sz="2800"/>
          </a:p>
          <a:p>
            <a:pPr algn="ctr"/>
            <a:r>
              <a:rPr lang="zh-CN" altLang="en-US" sz="2800"/>
              <a:t>到第二名称节点恢复</a:t>
            </a:r>
            <a:endParaRPr lang="zh-CN" altLang="en-US" sz="2800"/>
          </a:p>
          <a:p>
            <a:pPr algn="ctr"/>
            <a:r>
              <a:rPr lang="zh-CN" altLang="en-US" sz="2800"/>
              <a:t>并替代名称节点</a:t>
            </a:r>
            <a:endParaRPr lang="zh-CN" altLang="en-US" sz="2800"/>
          </a:p>
        </p:txBody>
      </p:sp>
      <p:sp>
        <p:nvSpPr>
          <p:cNvPr id="16" name="等于号 15"/>
          <p:cNvSpPr/>
          <p:nvPr/>
        </p:nvSpPr>
        <p:spPr>
          <a:xfrm>
            <a:off x="7012305" y="3919855"/>
            <a:ext cx="695325" cy="616585"/>
          </a:xfrm>
          <a:prstGeom prst="mathEqual">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chemeClr val="tx1"/>
              </a:solidFill>
            </a:endParaRPr>
          </a:p>
        </p:txBody>
      </p:sp>
      <p:sp>
        <p:nvSpPr>
          <p:cNvPr id="17" name="云形标注 16"/>
          <p:cNvSpPr/>
          <p:nvPr/>
        </p:nvSpPr>
        <p:spPr>
          <a:xfrm>
            <a:off x="7306945" y="1513205"/>
            <a:ext cx="1981200" cy="981075"/>
          </a:xfrm>
          <a:prstGeom prst="cloudCallout">
            <a:avLst>
              <a:gd name="adj1" fmla="val -60448"/>
              <a:gd name="adj2" fmla="val 44498"/>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t>恢复慢</a:t>
            </a:r>
            <a:endParaRPr lang="zh-CN" altLang="en-US" sz="2800"/>
          </a:p>
        </p:txBody>
      </p:sp>
      <p:sp>
        <p:nvSpPr>
          <p:cNvPr id="18" name="云形标注 17"/>
          <p:cNvSpPr/>
          <p:nvPr/>
        </p:nvSpPr>
        <p:spPr>
          <a:xfrm>
            <a:off x="7512685" y="5314950"/>
            <a:ext cx="1981200" cy="981075"/>
          </a:xfrm>
          <a:prstGeom prst="cloudCallout">
            <a:avLst>
              <a:gd name="adj1" fmla="val -71314"/>
              <a:gd name="adj2" fmla="val -23462"/>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t>有丢失</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1"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par>
                          <p:cTn id="39" fill="hold">
                            <p:stCondLst>
                              <p:cond delay="1000"/>
                            </p:stCondLst>
                            <p:childTnLst>
                              <p:par>
                                <p:cTn id="40" presetID="22" presetClass="entr" presetSubtype="1"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up)">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bldLvl="0" animBg="1"/>
      <p:bldP spid="10" grpId="0" bldLvl="0" animBg="1"/>
      <p:bldP spid="10" grpId="1" animBg="1"/>
      <p:bldP spid="11" grpId="0" bldLvl="0" animBg="1"/>
      <p:bldP spid="11" grpId="1" animBg="1"/>
      <p:bldP spid="12" grpId="0"/>
      <p:bldP spid="12" grpId="1"/>
      <p:bldP spid="13" grpId="0"/>
      <p:bldP spid="13" grpId="1"/>
      <p:bldP spid="14" grpId="0" bldLvl="0" animBg="1"/>
      <p:bldP spid="14" grpId="1" animBg="1"/>
      <p:bldP spid="15" grpId="0" bldLvl="0" animBg="1"/>
      <p:bldP spid="15" grpId="1" animBg="1"/>
      <p:bldP spid="16" grpId="0" bldLvl="0" animBg="1"/>
      <p:bldP spid="16" grpId="1" animBg="1"/>
      <p:bldP spid="17" grpId="0" bldLvl="0" animBg="1"/>
      <p:bldP spid="17" grpId="1" animBg="1"/>
      <p:bldP spid="18" grpId="0" bldLvl="0" animBg="1"/>
      <p:bldP spid="18"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p:txBody>
          <a:bodyPr/>
          <a:lstStyle/>
          <a:p>
            <a:pPr marL="342900" indent="-342900"/>
            <a:r>
              <a:rPr lang="en-US" altLang="zh-CN" b="1"/>
              <a:t>3.5.3	</a:t>
            </a:r>
            <a:r>
              <a:rPr lang="zh-CN" altLang="en-US" b="1"/>
              <a:t>数据错误与恢复</a:t>
            </a:r>
            <a:endParaRPr lang="zh-CN" altLang="en-US" b="1"/>
          </a:p>
        </p:txBody>
      </p:sp>
      <p:sp>
        <p:nvSpPr>
          <p:cNvPr id="29699" name="文本框 3"/>
          <p:cNvSpPr txBox="1">
            <a:spLocks noChangeArrowheads="1"/>
          </p:cNvSpPr>
          <p:nvPr/>
        </p:nvSpPr>
        <p:spPr bwMode="auto">
          <a:xfrm>
            <a:off x="8526145" y="5584825"/>
            <a:ext cx="30816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eaLnBrk="1" hangingPunct="1">
              <a:buFontTx/>
              <a:buNone/>
            </a:pPr>
            <a:r>
              <a:rPr lang="en-US" altLang="zh-CN" sz="2400"/>
              <a:t>HDFS</a:t>
            </a:r>
            <a:r>
              <a:rPr lang="zh-CN" altLang="en-US" sz="2400"/>
              <a:t>特色：</a:t>
            </a:r>
            <a:endParaRPr lang="zh-CN" altLang="en-US" sz="2400"/>
          </a:p>
          <a:p>
            <a:pPr indent="0" eaLnBrk="1" hangingPunct="1">
              <a:buFontTx/>
              <a:buNone/>
            </a:pPr>
            <a:r>
              <a:rPr lang="zh-CN" altLang="en-US" sz="2400"/>
              <a:t>调整冗余数据的位置</a:t>
            </a:r>
            <a:endParaRPr lang="zh-CN" altLang="en-US" sz="2400"/>
          </a:p>
        </p:txBody>
      </p:sp>
      <p:sp>
        <p:nvSpPr>
          <p:cNvPr id="3" name="矩形: 圆角 78"/>
          <p:cNvSpPr/>
          <p:nvPr>
            <p:custDataLst>
              <p:tags r:id="rId1"/>
            </p:custDataLst>
          </p:nvPr>
        </p:nvSpPr>
        <p:spPr>
          <a:xfrm>
            <a:off x="987425" y="1680210"/>
            <a:ext cx="4006215" cy="5365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spcAft>
                <a:spcPts val="2400"/>
              </a:spcAft>
            </a:pPr>
            <a:r>
              <a:rPr lang="en-US" altLang="zh-CN" sz="2800" b="1" dirty="0"/>
              <a:t>2. </a:t>
            </a:r>
            <a:r>
              <a:rPr lang="zh-CN" altLang="en-US" sz="2800" b="1" dirty="0"/>
              <a:t>数据节点出错</a:t>
            </a:r>
            <a:endParaRPr lang="zh-CN" altLang="en-US" sz="2800" dirty="0"/>
          </a:p>
        </p:txBody>
      </p:sp>
      <p:sp>
        <p:nvSpPr>
          <p:cNvPr id="4" name="Rectangle 5"/>
          <p:cNvSpPr>
            <a:spLocks noChangeArrowheads="1"/>
          </p:cNvSpPr>
          <p:nvPr>
            <p:custDataLst>
              <p:tags r:id="rId2"/>
            </p:custDataLst>
          </p:nvPr>
        </p:nvSpPr>
        <p:spPr bwMode="auto">
          <a:xfrm>
            <a:off x="1388585" y="2473326"/>
            <a:ext cx="3605213" cy="2157413"/>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Rectangle 6"/>
          <p:cNvSpPr>
            <a:spLocks noChangeArrowheads="1"/>
          </p:cNvSpPr>
          <p:nvPr>
            <p:custDataLst>
              <p:tags r:id="rId3"/>
            </p:custDataLst>
          </p:nvPr>
        </p:nvSpPr>
        <p:spPr bwMode="auto">
          <a:xfrm>
            <a:off x="1445895" y="2582545"/>
            <a:ext cx="2463165"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名称节点</a:t>
            </a:r>
            <a:r>
              <a:rPr lang="en-US" altLang="zh-CN" sz="2000" dirty="0">
                <a:solidFill>
                  <a:srgbClr val="000000"/>
                </a:solidFill>
                <a:latin typeface="宋体" panose="02010600030101010101" pitchFamily="2" charset="-122"/>
                <a:ea typeface="宋体" panose="02010600030101010101" pitchFamily="2" charset="-122"/>
              </a:rPr>
              <a:t>(</a:t>
            </a:r>
            <a:r>
              <a:rPr kumimoji="0" lang="zh-CN"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NameNode</a:t>
            </a:r>
            <a:r>
              <a:rPr lang="en-US" altLang="zh-CN" sz="2000" dirty="0">
                <a:solidFill>
                  <a:srgbClr val="000000"/>
                </a:solidFill>
                <a:latin typeface="宋体" panose="02010600030101010101" pitchFamily="2" charset="-122"/>
                <a:ea typeface="宋体" panose="02010600030101010101" pitchFamily="2" charset="-12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Freeform 10"/>
          <p:cNvSpPr/>
          <p:nvPr>
            <p:custDataLst>
              <p:tags r:id="rId4"/>
            </p:custDataLst>
          </p:nvPr>
        </p:nvSpPr>
        <p:spPr bwMode="auto">
          <a:xfrm>
            <a:off x="2241547" y="2979420"/>
            <a:ext cx="1947863" cy="688975"/>
          </a:xfrm>
          <a:custGeom>
            <a:avLst/>
            <a:gdLst>
              <a:gd name="T0" fmla="*/ 535 w 3023"/>
              <a:gd name="T1" fmla="*/ 1070 h 1070"/>
              <a:gd name="T2" fmla="*/ 2488 w 3023"/>
              <a:gd name="T3" fmla="*/ 1070 h 1070"/>
              <a:gd name="T4" fmla="*/ 3023 w 3023"/>
              <a:gd name="T5" fmla="*/ 535 h 1070"/>
              <a:gd name="T6" fmla="*/ 2488 w 3023"/>
              <a:gd name="T7" fmla="*/ 0 h 1070"/>
              <a:gd name="T8" fmla="*/ 2488 w 3023"/>
              <a:gd name="T9" fmla="*/ 0 h 1070"/>
              <a:gd name="T10" fmla="*/ 2488 w 3023"/>
              <a:gd name="T11" fmla="*/ 0 h 1070"/>
              <a:gd name="T12" fmla="*/ 535 w 3023"/>
              <a:gd name="T13" fmla="*/ 0 h 1070"/>
              <a:gd name="T14" fmla="*/ 0 w 3023"/>
              <a:gd name="T15" fmla="*/ 535 h 1070"/>
              <a:gd name="T16" fmla="*/ 535 w 3023"/>
              <a:gd name="T17" fmla="*/ 1070 h 1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1070">
                <a:moveTo>
                  <a:pt x="535" y="1070"/>
                </a:moveTo>
                <a:lnTo>
                  <a:pt x="2488" y="1070"/>
                </a:lnTo>
                <a:cubicBezTo>
                  <a:pt x="2784" y="1070"/>
                  <a:pt x="3023" y="830"/>
                  <a:pt x="3023" y="535"/>
                </a:cubicBezTo>
                <a:cubicBezTo>
                  <a:pt x="3023" y="239"/>
                  <a:pt x="2784" y="0"/>
                  <a:pt x="2488" y="0"/>
                </a:cubicBezTo>
                <a:cubicBezTo>
                  <a:pt x="2488" y="0"/>
                  <a:pt x="2488" y="0"/>
                  <a:pt x="2488" y="0"/>
                </a:cubicBezTo>
                <a:lnTo>
                  <a:pt x="2488" y="0"/>
                </a:lnTo>
                <a:lnTo>
                  <a:pt x="535" y="0"/>
                </a:lnTo>
                <a:cubicBezTo>
                  <a:pt x="239" y="0"/>
                  <a:pt x="0" y="239"/>
                  <a:pt x="0" y="535"/>
                </a:cubicBezTo>
                <a:cubicBezTo>
                  <a:pt x="0" y="830"/>
                  <a:pt x="239" y="1070"/>
                  <a:pt x="535" y="1070"/>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Rectangle 11"/>
          <p:cNvSpPr>
            <a:spLocks noChangeArrowheads="1"/>
          </p:cNvSpPr>
          <p:nvPr>
            <p:custDataLst>
              <p:tags r:id="rId5"/>
            </p:custDataLst>
          </p:nvPr>
        </p:nvSpPr>
        <p:spPr bwMode="auto">
          <a:xfrm>
            <a:off x="2786060" y="3177858"/>
            <a:ext cx="9794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FsImage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Freeform 12"/>
          <p:cNvSpPr/>
          <p:nvPr>
            <p:custDataLst>
              <p:tags r:id="rId6"/>
            </p:custDataLst>
          </p:nvPr>
        </p:nvSpPr>
        <p:spPr bwMode="auto">
          <a:xfrm>
            <a:off x="2241547" y="3906520"/>
            <a:ext cx="1947863" cy="573088"/>
          </a:xfrm>
          <a:custGeom>
            <a:avLst/>
            <a:gdLst>
              <a:gd name="T0" fmla="*/ 444 w 3023"/>
              <a:gd name="T1" fmla="*/ 889 h 889"/>
              <a:gd name="T2" fmla="*/ 2579 w 3023"/>
              <a:gd name="T3" fmla="*/ 889 h 889"/>
              <a:gd name="T4" fmla="*/ 3023 w 3023"/>
              <a:gd name="T5" fmla="*/ 444 h 889"/>
              <a:gd name="T6" fmla="*/ 2579 w 3023"/>
              <a:gd name="T7" fmla="*/ 0 h 889"/>
              <a:gd name="T8" fmla="*/ 2579 w 3023"/>
              <a:gd name="T9" fmla="*/ 0 h 889"/>
              <a:gd name="T10" fmla="*/ 2579 w 3023"/>
              <a:gd name="T11" fmla="*/ 0 h 889"/>
              <a:gd name="T12" fmla="*/ 444 w 3023"/>
              <a:gd name="T13" fmla="*/ 0 h 889"/>
              <a:gd name="T14" fmla="*/ 0 w 3023"/>
              <a:gd name="T15" fmla="*/ 444 h 889"/>
              <a:gd name="T16" fmla="*/ 444 w 3023"/>
              <a:gd name="T17" fmla="*/ 889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3" h="889">
                <a:moveTo>
                  <a:pt x="444" y="889"/>
                </a:moveTo>
                <a:lnTo>
                  <a:pt x="2579" y="889"/>
                </a:lnTo>
                <a:cubicBezTo>
                  <a:pt x="2824" y="889"/>
                  <a:pt x="3023" y="690"/>
                  <a:pt x="3023" y="444"/>
                </a:cubicBezTo>
                <a:cubicBezTo>
                  <a:pt x="3023" y="199"/>
                  <a:pt x="2824" y="0"/>
                  <a:pt x="2579" y="0"/>
                </a:cubicBezTo>
                <a:cubicBezTo>
                  <a:pt x="2579" y="0"/>
                  <a:pt x="2579" y="0"/>
                  <a:pt x="2579" y="0"/>
                </a:cubicBezTo>
                <a:lnTo>
                  <a:pt x="2579" y="0"/>
                </a:lnTo>
                <a:lnTo>
                  <a:pt x="444" y="0"/>
                </a:lnTo>
                <a:cubicBezTo>
                  <a:pt x="199" y="0"/>
                  <a:pt x="0" y="199"/>
                  <a:pt x="0" y="444"/>
                </a:cubicBezTo>
                <a:cubicBezTo>
                  <a:pt x="0" y="690"/>
                  <a:pt x="199" y="889"/>
                  <a:pt x="444" y="889"/>
                </a:cubicBezTo>
                <a:close/>
              </a:path>
            </a:pathLst>
          </a:cu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Rectangle 13"/>
          <p:cNvSpPr>
            <a:spLocks noChangeArrowheads="1"/>
          </p:cNvSpPr>
          <p:nvPr>
            <p:custDataLst>
              <p:tags r:id="rId7"/>
            </p:custDataLst>
          </p:nvPr>
        </p:nvSpPr>
        <p:spPr bwMode="auto">
          <a:xfrm>
            <a:off x="2806697" y="4043045"/>
            <a:ext cx="9493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EditLog</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cxnSp>
        <p:nvCxnSpPr>
          <p:cNvPr id="12" name="直接箭头连接符 11"/>
          <p:cNvCxnSpPr>
            <a:stCxn id="10" idx="1"/>
          </p:cNvCxnSpPr>
          <p:nvPr/>
        </p:nvCxnSpPr>
        <p:spPr>
          <a:xfrm flipH="1">
            <a:off x="4745355" y="1899920"/>
            <a:ext cx="2299970" cy="76581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rot="20520000">
            <a:off x="5093335" y="1811655"/>
            <a:ext cx="1657985" cy="460375"/>
          </a:xfrm>
          <a:prstGeom prst="rect">
            <a:avLst/>
          </a:prstGeom>
          <a:noFill/>
        </p:spPr>
        <p:txBody>
          <a:bodyPr wrap="square" rtlCol="0" anchor="t">
            <a:spAutoFit/>
          </a:bodyPr>
          <a:lstStyle/>
          <a:p>
            <a:r>
              <a:rPr lang="zh-CN" altLang="en-US" sz="2400">
                <a:sym typeface="+mn-ea"/>
              </a:rPr>
              <a:t>“心跳”信息</a:t>
            </a:r>
            <a:endParaRPr lang="zh-CN" altLang="en-US" sz="2400">
              <a:sym typeface="+mn-ea"/>
            </a:endParaRPr>
          </a:p>
        </p:txBody>
      </p:sp>
      <p:pic>
        <p:nvPicPr>
          <p:cNvPr id="14" name="图片 13" descr="templates\docerresourceshop\icons\\333438303937343b333633323939373bb9b4"/>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52280" y="1433830"/>
            <a:ext cx="784860" cy="784860"/>
          </a:xfrm>
          <a:prstGeom prst="rect">
            <a:avLst/>
          </a:prstGeom>
        </p:spPr>
      </p:pic>
      <p:cxnSp>
        <p:nvCxnSpPr>
          <p:cNvPr id="17" name="直接箭头连接符 16"/>
          <p:cNvCxnSpPr>
            <a:stCxn id="15" idx="1"/>
          </p:cNvCxnSpPr>
          <p:nvPr/>
        </p:nvCxnSpPr>
        <p:spPr>
          <a:xfrm flipH="1">
            <a:off x="4823460" y="3178810"/>
            <a:ext cx="2221865" cy="1270"/>
          </a:xfrm>
          <a:prstGeom prst="straightConnector1">
            <a:avLst/>
          </a:prstGeom>
          <a:ln w="38100">
            <a:solidFill>
              <a:schemeClr val="bg1">
                <a:lumMod val="50000"/>
              </a:schemeClr>
            </a:solidFill>
            <a:prstDash val="sysDot"/>
            <a:tailEnd type="arrow"/>
          </a:ln>
        </p:spPr>
        <p:style>
          <a:lnRef idx="1">
            <a:schemeClr val="accent1"/>
          </a:lnRef>
          <a:fillRef idx="0">
            <a:schemeClr val="accent1"/>
          </a:fillRef>
          <a:effectRef idx="0">
            <a:schemeClr val="accent1"/>
          </a:effectRef>
          <a:fontRef idx="minor">
            <a:schemeClr val="tx1"/>
          </a:fontRef>
        </p:style>
      </p:cxnSp>
      <p:pic>
        <p:nvPicPr>
          <p:cNvPr id="18" name="图片 17" descr="templates\docerresourceshop\icons\\343435333334393b333633333133303bb2e6"/>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52280" y="2816225"/>
            <a:ext cx="697865" cy="697865"/>
          </a:xfrm>
          <a:prstGeom prst="rect">
            <a:avLst/>
          </a:prstGeom>
        </p:spPr>
      </p:pic>
      <p:sp>
        <p:nvSpPr>
          <p:cNvPr id="19" name="文本框 18"/>
          <p:cNvSpPr txBox="1"/>
          <p:nvPr/>
        </p:nvSpPr>
        <p:spPr>
          <a:xfrm>
            <a:off x="10405745" y="3294380"/>
            <a:ext cx="1637665" cy="706755"/>
          </a:xfrm>
          <a:prstGeom prst="rect">
            <a:avLst/>
          </a:prstGeom>
          <a:noFill/>
        </p:spPr>
        <p:txBody>
          <a:bodyPr wrap="square" rtlCol="0" anchor="t">
            <a:spAutoFit/>
          </a:bodyPr>
          <a:lstStyle/>
          <a:p>
            <a:pPr algn="ctr"/>
            <a:r>
              <a:rPr lang="zh-CN" altLang="en-US" sz="2000">
                <a:sym typeface="+mn-ea"/>
              </a:rPr>
              <a:t>宕机状态</a:t>
            </a:r>
            <a:endParaRPr lang="zh-CN" altLang="en-US" sz="2000">
              <a:sym typeface="+mn-ea"/>
            </a:endParaRPr>
          </a:p>
          <a:p>
            <a:pPr algn="ctr"/>
            <a:r>
              <a:rPr lang="zh-CN" altLang="en-US" sz="2000">
                <a:sym typeface="+mn-ea"/>
              </a:rPr>
              <a:t>不安排</a:t>
            </a:r>
            <a:r>
              <a:rPr lang="en-US" altLang="zh-CN" sz="2000">
                <a:sym typeface="+mn-ea"/>
              </a:rPr>
              <a:t>I/O</a:t>
            </a:r>
            <a:endParaRPr lang="en-US" altLang="zh-CN" sz="2000">
              <a:sym typeface="+mn-ea"/>
            </a:endParaRPr>
          </a:p>
        </p:txBody>
      </p:sp>
      <p:cxnSp>
        <p:nvCxnSpPr>
          <p:cNvPr id="21" name="直接箭头连接符 20"/>
          <p:cNvCxnSpPr>
            <a:stCxn id="20" idx="1"/>
          </p:cNvCxnSpPr>
          <p:nvPr/>
        </p:nvCxnSpPr>
        <p:spPr>
          <a:xfrm flipH="1">
            <a:off x="4823460" y="4371340"/>
            <a:ext cx="2221865" cy="1270"/>
          </a:xfrm>
          <a:prstGeom prst="straightConnector1">
            <a:avLst/>
          </a:prstGeom>
          <a:ln w="38100">
            <a:solidFill>
              <a:schemeClr val="bg1">
                <a:lumMod val="50000"/>
              </a:schemeClr>
            </a:solidFill>
            <a:prstDash val="sysDot"/>
            <a:tailEnd type="arrow"/>
          </a:ln>
        </p:spPr>
        <p:style>
          <a:lnRef idx="1">
            <a:schemeClr val="accent1"/>
          </a:lnRef>
          <a:fillRef idx="0">
            <a:schemeClr val="accent1"/>
          </a:fillRef>
          <a:effectRef idx="0">
            <a:schemeClr val="accent1"/>
          </a:effectRef>
          <a:fontRef idx="minor">
            <a:schemeClr val="tx1"/>
          </a:fontRef>
        </p:style>
      </p:cxnSp>
      <p:pic>
        <p:nvPicPr>
          <p:cNvPr id="22" name="图片 21" descr="templates\docerresourceshop\icons\\343435333334393b333633333133303bb2e6"/>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52280" y="4001135"/>
            <a:ext cx="697865" cy="697865"/>
          </a:xfrm>
          <a:prstGeom prst="rect">
            <a:avLst/>
          </a:prstGeom>
        </p:spPr>
      </p:pic>
      <p:grpSp>
        <p:nvGrpSpPr>
          <p:cNvPr id="35" name="组合 34"/>
          <p:cNvGrpSpPr/>
          <p:nvPr/>
        </p:nvGrpSpPr>
        <p:grpSpPr>
          <a:xfrm>
            <a:off x="7045325" y="1510665"/>
            <a:ext cx="1695450" cy="3248660"/>
            <a:chOff x="11095" y="2379"/>
            <a:chExt cx="2670" cy="5116"/>
          </a:xfrm>
        </p:grpSpPr>
        <p:grpSp>
          <p:nvGrpSpPr>
            <p:cNvPr id="32" name="组合 31"/>
            <p:cNvGrpSpPr/>
            <p:nvPr/>
          </p:nvGrpSpPr>
          <p:grpSpPr>
            <a:xfrm>
              <a:off x="11095" y="2379"/>
              <a:ext cx="2670" cy="1224"/>
              <a:chOff x="11095" y="2379"/>
              <a:chExt cx="2670" cy="1224"/>
            </a:xfrm>
          </p:grpSpPr>
          <p:sp>
            <p:nvSpPr>
              <p:cNvPr id="10" name="Rectangle 5"/>
              <p:cNvSpPr>
                <a:spLocks noChangeArrowheads="1"/>
              </p:cNvSpPr>
              <p:nvPr>
                <p:custDataLst>
                  <p:tags r:id="rId12"/>
                </p:custDataLst>
              </p:nvPr>
            </p:nvSpPr>
            <p:spPr bwMode="auto">
              <a:xfrm>
                <a:off x="11095" y="2379"/>
                <a:ext cx="2671" cy="122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 name="Rectangle 6"/>
              <p:cNvSpPr>
                <a:spLocks noChangeArrowheads="1"/>
              </p:cNvSpPr>
              <p:nvPr>
                <p:custDataLst>
                  <p:tags r:id="rId13"/>
                </p:custDataLst>
              </p:nvPr>
            </p:nvSpPr>
            <p:spPr bwMode="auto">
              <a:xfrm>
                <a:off x="11434" y="2551"/>
                <a:ext cx="1993"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数据节点</a:t>
                </a:r>
                <a:endPar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DN1</a:t>
                </a:r>
                <a:endPar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p:txBody>
          </p:sp>
        </p:grpSp>
        <p:grpSp>
          <p:nvGrpSpPr>
            <p:cNvPr id="33" name="组合 32"/>
            <p:cNvGrpSpPr/>
            <p:nvPr/>
          </p:nvGrpSpPr>
          <p:grpSpPr>
            <a:xfrm>
              <a:off x="11095" y="4393"/>
              <a:ext cx="2670" cy="1224"/>
              <a:chOff x="11095" y="4393"/>
              <a:chExt cx="2670" cy="1224"/>
            </a:xfrm>
          </p:grpSpPr>
          <p:sp>
            <p:nvSpPr>
              <p:cNvPr id="15" name="Rectangle 5"/>
              <p:cNvSpPr>
                <a:spLocks noChangeArrowheads="1"/>
              </p:cNvSpPr>
              <p:nvPr>
                <p:custDataLst>
                  <p:tags r:id="rId14"/>
                </p:custDataLst>
              </p:nvPr>
            </p:nvSpPr>
            <p:spPr bwMode="auto">
              <a:xfrm>
                <a:off x="11095" y="4393"/>
                <a:ext cx="2671" cy="122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 name="Rectangle 6"/>
              <p:cNvSpPr>
                <a:spLocks noChangeArrowheads="1"/>
              </p:cNvSpPr>
              <p:nvPr>
                <p:custDataLst>
                  <p:tags r:id="rId15"/>
                </p:custDataLst>
              </p:nvPr>
            </p:nvSpPr>
            <p:spPr bwMode="auto">
              <a:xfrm>
                <a:off x="11434" y="4565"/>
                <a:ext cx="1993"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数据节点</a:t>
                </a:r>
                <a:endPar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DN2</a:t>
                </a:r>
                <a:endPar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p:txBody>
          </p:sp>
        </p:grpSp>
        <p:grpSp>
          <p:nvGrpSpPr>
            <p:cNvPr id="34" name="组合 33"/>
            <p:cNvGrpSpPr/>
            <p:nvPr/>
          </p:nvGrpSpPr>
          <p:grpSpPr>
            <a:xfrm>
              <a:off x="11095" y="6271"/>
              <a:ext cx="2670" cy="1224"/>
              <a:chOff x="11095" y="6271"/>
              <a:chExt cx="2670" cy="1224"/>
            </a:xfrm>
          </p:grpSpPr>
          <p:sp>
            <p:nvSpPr>
              <p:cNvPr id="20" name="Rectangle 5"/>
              <p:cNvSpPr>
                <a:spLocks noChangeArrowheads="1"/>
              </p:cNvSpPr>
              <p:nvPr>
                <p:custDataLst>
                  <p:tags r:id="rId16"/>
                </p:custDataLst>
              </p:nvPr>
            </p:nvSpPr>
            <p:spPr bwMode="auto">
              <a:xfrm>
                <a:off x="11095" y="6271"/>
                <a:ext cx="2671" cy="122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4" name="Rectangle 6"/>
              <p:cNvSpPr>
                <a:spLocks noChangeArrowheads="1"/>
              </p:cNvSpPr>
              <p:nvPr>
                <p:custDataLst>
                  <p:tags r:id="rId17"/>
                </p:custDataLst>
              </p:nvPr>
            </p:nvSpPr>
            <p:spPr bwMode="auto">
              <a:xfrm>
                <a:off x="11434" y="6367"/>
                <a:ext cx="1993"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数据节点</a:t>
                </a:r>
                <a:endPar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DN3</a:t>
                </a:r>
                <a:endPar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p:txBody>
          </p:sp>
        </p:grpSp>
      </p:grpSp>
      <p:graphicFrame>
        <p:nvGraphicFramePr>
          <p:cNvPr id="25" name="表格 24"/>
          <p:cNvGraphicFramePr/>
          <p:nvPr>
            <p:custDataLst>
              <p:tags r:id="rId18"/>
            </p:custDataLst>
          </p:nvPr>
        </p:nvGraphicFramePr>
        <p:xfrm>
          <a:off x="1445895" y="5545455"/>
          <a:ext cx="3164840" cy="1097280"/>
        </p:xfrm>
        <a:graphic>
          <a:graphicData uri="http://schemas.openxmlformats.org/drawingml/2006/table">
            <a:tbl>
              <a:tblPr firstRow="1" bandRow="1">
                <a:tableStyleId>{5C22544A-7EE6-4342-B048-85BDC9FD1C3A}</a:tableStyleId>
              </a:tblPr>
              <a:tblGrid>
                <a:gridCol w="791210"/>
                <a:gridCol w="791210"/>
                <a:gridCol w="791210"/>
                <a:gridCol w="791210"/>
              </a:tblGrid>
              <a:tr h="365760">
                <a:tc>
                  <a:txBody>
                    <a:bodyPr/>
                    <a:lstStyle/>
                    <a:p>
                      <a:pPr algn="ctr">
                        <a:buNone/>
                      </a:pPr>
                      <a:r>
                        <a:rPr lang="zh-CN" altLang="en-US"/>
                        <a:t>块</a:t>
                      </a:r>
                      <a:endParaRPr lang="zh-CN" altLang="en-US"/>
                    </a:p>
                  </a:txBody>
                  <a:tcPr/>
                </a:tc>
                <a:tc gridSpan="3">
                  <a:txBody>
                    <a:bodyPr/>
                    <a:lstStyle/>
                    <a:p>
                      <a:pPr algn="ctr">
                        <a:buNone/>
                      </a:pPr>
                      <a:r>
                        <a:rPr lang="zh-CN" altLang="en-US"/>
                        <a:t>副本</a:t>
                      </a:r>
                      <a:endParaRPr lang="zh-CN" altLang="en-US"/>
                    </a:p>
                  </a:txBody>
                  <a:tcPr/>
                </a:tc>
                <a:tc hMerge="1">
                  <a:tcPr/>
                </a:tc>
                <a:tc hMerge="1">
                  <a:tcPr/>
                </a:tc>
              </a:tr>
              <a:tr h="203835">
                <a:tc>
                  <a:txBody>
                    <a:bodyPr/>
                    <a:lstStyle/>
                    <a:p>
                      <a:pPr algn="ctr">
                        <a:buNone/>
                      </a:pPr>
                      <a:r>
                        <a:rPr lang="zh-CN" altLang="en-US"/>
                        <a:t>块</a:t>
                      </a:r>
                      <a:r>
                        <a:rPr lang="en-US" altLang="zh-CN"/>
                        <a:t>A</a:t>
                      </a:r>
                      <a:endParaRPr lang="en-US" altLang="zh-CN"/>
                    </a:p>
                  </a:txBody>
                  <a:tcPr/>
                </a:tc>
                <a:tc>
                  <a:txBody>
                    <a:bodyPr/>
                    <a:lstStyle/>
                    <a:p>
                      <a:pPr algn="ctr">
                        <a:buNone/>
                      </a:pPr>
                      <a:r>
                        <a:rPr lang="en-US" altLang="zh-CN" b="1">
                          <a:solidFill>
                            <a:schemeClr val="bg1"/>
                          </a:solidFill>
                        </a:rPr>
                        <a:t>DN1</a:t>
                      </a:r>
                      <a:endParaRPr lang="en-US" altLang="zh-CN" b="1">
                        <a:solidFill>
                          <a:schemeClr val="bg1"/>
                        </a:solidFill>
                      </a:endParaRPr>
                    </a:p>
                  </a:txBody>
                  <a:tcPr>
                    <a:solidFill>
                      <a:srgbClr val="00B050"/>
                    </a:solidFill>
                  </a:tcPr>
                </a:tc>
                <a:tc>
                  <a:txBody>
                    <a:bodyPr/>
                    <a:lstStyle/>
                    <a:p>
                      <a:pPr algn="ctr">
                        <a:buNone/>
                      </a:pPr>
                      <a:r>
                        <a:rPr lang="en-US" altLang="zh-CN" b="1">
                          <a:solidFill>
                            <a:schemeClr val="bg1"/>
                          </a:solidFill>
                        </a:rPr>
                        <a:t>DN2</a:t>
                      </a:r>
                      <a:endParaRPr lang="en-US" altLang="zh-CN" b="1">
                        <a:solidFill>
                          <a:schemeClr val="bg1"/>
                        </a:solidFill>
                      </a:endParaRPr>
                    </a:p>
                  </a:txBody>
                  <a:tcPr>
                    <a:solidFill>
                      <a:srgbClr val="FF0000"/>
                    </a:solidFill>
                  </a:tcPr>
                </a:tc>
                <a:tc>
                  <a:txBody>
                    <a:bodyPr/>
                    <a:lstStyle/>
                    <a:p>
                      <a:pPr algn="ctr">
                        <a:buNone/>
                      </a:pPr>
                      <a:r>
                        <a:rPr lang="en-US" altLang="zh-CN" b="1">
                          <a:solidFill>
                            <a:schemeClr val="bg1"/>
                          </a:solidFill>
                        </a:rPr>
                        <a:t>DN3</a:t>
                      </a:r>
                      <a:endParaRPr lang="en-US" altLang="zh-CN" b="1">
                        <a:solidFill>
                          <a:schemeClr val="bg1"/>
                        </a:solidFill>
                      </a:endParaRPr>
                    </a:p>
                  </a:txBody>
                  <a:tcPr>
                    <a:solidFill>
                      <a:srgbClr val="FF0000"/>
                    </a:solidFill>
                  </a:tcPr>
                </a:tc>
              </a:tr>
              <a:tr h="203835">
                <a:tc>
                  <a:txBody>
                    <a:bodyPr/>
                    <a:lstStyle/>
                    <a:p>
                      <a:pPr algn="ctr">
                        <a:buNone/>
                      </a:pPr>
                      <a:r>
                        <a:rPr lang="en-US" altLang="zh-CN"/>
                        <a:t>...</a:t>
                      </a:r>
                      <a:endParaRPr lang="en-US" altLang="zh-CN"/>
                    </a:p>
                  </a:txBody>
                  <a:tcPr/>
                </a:tc>
                <a:tc>
                  <a:txBody>
                    <a:bodyPr/>
                    <a:lstStyle/>
                    <a:p>
                      <a:pPr algn="ctr">
                        <a:buNone/>
                      </a:pPr>
                      <a:r>
                        <a:rPr lang="en-US" altLang="zh-CN"/>
                        <a:t>...</a:t>
                      </a:r>
                      <a:endParaRPr lang="en-US" altLang="zh-CN"/>
                    </a:p>
                  </a:txBody>
                  <a:tcPr/>
                </a:tc>
                <a:tc>
                  <a:txBody>
                    <a:bodyPr/>
                    <a:lstStyle/>
                    <a:p>
                      <a:pPr algn="ctr">
                        <a:buNone/>
                      </a:pPr>
                      <a:r>
                        <a:rPr lang="en-US" altLang="zh-CN"/>
                        <a:t>...</a:t>
                      </a:r>
                      <a:endParaRPr lang="en-US" altLang="zh-CN"/>
                    </a:p>
                  </a:txBody>
                  <a:tcPr/>
                </a:tc>
                <a:tc>
                  <a:txBody>
                    <a:bodyPr/>
                    <a:lstStyle/>
                    <a:p>
                      <a:pPr algn="ctr">
                        <a:buNone/>
                      </a:pPr>
                      <a:r>
                        <a:rPr lang="en-US" altLang="zh-CN"/>
                        <a:t>...</a:t>
                      </a:r>
                      <a:endParaRPr lang="en-US" altLang="zh-CN"/>
                    </a:p>
                  </a:txBody>
                  <a:tcPr/>
                </a:tc>
              </a:tr>
            </a:tbl>
          </a:graphicData>
        </a:graphic>
      </p:graphicFrame>
      <p:sp>
        <p:nvSpPr>
          <p:cNvPr id="28" name="右大括号 27"/>
          <p:cNvSpPr/>
          <p:nvPr/>
        </p:nvSpPr>
        <p:spPr>
          <a:xfrm>
            <a:off x="10255250" y="3014345"/>
            <a:ext cx="277495" cy="126682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文本框 28"/>
          <p:cNvSpPr txBox="1"/>
          <p:nvPr/>
        </p:nvSpPr>
        <p:spPr>
          <a:xfrm>
            <a:off x="4823460" y="5582285"/>
            <a:ext cx="3268980" cy="460375"/>
          </a:xfrm>
          <a:prstGeom prst="rect">
            <a:avLst/>
          </a:prstGeom>
          <a:noFill/>
        </p:spPr>
        <p:txBody>
          <a:bodyPr wrap="square" rtlCol="0" anchor="t">
            <a:spAutoFit/>
          </a:bodyPr>
          <a:lstStyle/>
          <a:p>
            <a:r>
              <a:rPr lang="zh-CN" altLang="en-US" sz="2400">
                <a:sym typeface="+mn-ea"/>
              </a:rPr>
              <a:t>副本数量小于冗余因子</a:t>
            </a:r>
            <a:endParaRPr lang="zh-CN" altLang="en-US" sz="2400">
              <a:sym typeface="+mn-ea"/>
            </a:endParaRPr>
          </a:p>
        </p:txBody>
      </p:sp>
      <p:sp>
        <p:nvSpPr>
          <p:cNvPr id="30" name="文本框 29"/>
          <p:cNvSpPr txBox="1"/>
          <p:nvPr/>
        </p:nvSpPr>
        <p:spPr>
          <a:xfrm>
            <a:off x="2337435" y="5085080"/>
            <a:ext cx="1571625" cy="460375"/>
          </a:xfrm>
          <a:prstGeom prst="rect">
            <a:avLst/>
          </a:prstGeom>
          <a:noFill/>
        </p:spPr>
        <p:txBody>
          <a:bodyPr wrap="square" rtlCol="0" anchor="t">
            <a:spAutoFit/>
          </a:bodyPr>
          <a:lstStyle/>
          <a:p>
            <a:r>
              <a:rPr lang="zh-CN" altLang="en-US" sz="2400">
                <a:sym typeface="+mn-ea"/>
              </a:rPr>
              <a:t>定期检查</a:t>
            </a:r>
            <a:endParaRPr lang="zh-CN" altLang="en-US" sz="2400">
              <a:sym typeface="+mn-ea"/>
            </a:endParaRPr>
          </a:p>
        </p:txBody>
      </p:sp>
      <p:sp>
        <p:nvSpPr>
          <p:cNvPr id="31" name="文本框 30"/>
          <p:cNvSpPr txBox="1"/>
          <p:nvPr/>
        </p:nvSpPr>
        <p:spPr>
          <a:xfrm>
            <a:off x="4993640" y="6076315"/>
            <a:ext cx="2810510" cy="460375"/>
          </a:xfrm>
          <a:prstGeom prst="rect">
            <a:avLst/>
          </a:prstGeom>
          <a:noFill/>
        </p:spPr>
        <p:txBody>
          <a:bodyPr wrap="square" rtlCol="0" anchor="t">
            <a:spAutoFit/>
          </a:bodyPr>
          <a:lstStyle/>
          <a:p>
            <a:pPr indent="0" eaLnBrk="1" hangingPunct="1">
              <a:buFontTx/>
              <a:buNone/>
            </a:pPr>
            <a:r>
              <a:rPr lang="zh-CN" altLang="en-US" sz="2400">
                <a:sym typeface="+mn-ea"/>
              </a:rPr>
              <a:t>启动数据冗余复制</a:t>
            </a:r>
            <a:endParaRPr lang="zh-CN" altLang="en-US" sz="2400">
              <a:sym typeface="+mn-ea"/>
            </a:endParaRPr>
          </a:p>
        </p:txBody>
      </p:sp>
      <p:sp>
        <p:nvSpPr>
          <p:cNvPr id="36" name="下箭头 35"/>
          <p:cNvSpPr/>
          <p:nvPr/>
        </p:nvSpPr>
        <p:spPr>
          <a:xfrm>
            <a:off x="2863850" y="4663440"/>
            <a:ext cx="450850" cy="451485"/>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down)">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right)">
                                      <p:cBhvr>
                                        <p:cTn id="21" dur="500"/>
                                        <p:tgtEl>
                                          <p:spTgt spid="17"/>
                                        </p:tgtEl>
                                      </p:cBhvr>
                                    </p:animEffect>
                                  </p:childTnLst>
                                </p:cTn>
                              </p:par>
                            </p:childTnLst>
                          </p:cTn>
                        </p:par>
                        <p:par>
                          <p:cTn id="22" fill="hold">
                            <p:stCondLst>
                              <p:cond delay="500"/>
                            </p:stCondLst>
                            <p:childTnLst>
                              <p:par>
                                <p:cTn id="23" presetID="4" presetClass="entr" presetSubtype="32"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ox(out)">
                                      <p:cBhvr>
                                        <p:cTn id="25" dur="20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right)">
                                      <p:cBhvr>
                                        <p:cTn id="30" dur="500"/>
                                        <p:tgtEl>
                                          <p:spTgt spid="21"/>
                                        </p:tgtEl>
                                      </p:cBhvr>
                                    </p:animEffect>
                                  </p:childTnLst>
                                </p:cTn>
                              </p:par>
                            </p:childTnLst>
                          </p:cTn>
                        </p:par>
                        <p:par>
                          <p:cTn id="31" fill="hold">
                            <p:stCondLst>
                              <p:cond delay="500"/>
                            </p:stCondLst>
                            <p:childTnLst>
                              <p:par>
                                <p:cTn id="32" presetID="4" presetClass="entr" presetSubtype="32" fill="hold"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ox(out)">
                                      <p:cBhvr>
                                        <p:cTn id="34" dur="20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wipe(left)">
                                      <p:cBhvr>
                                        <p:cTn id="39" dur="500"/>
                                        <p:tgtEl>
                                          <p:spTgt spid="28"/>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wipe(up)">
                                      <p:cBhvr>
                                        <p:cTn id="48" dur="5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up)">
                                      <p:cBhvr>
                                        <p:cTn id="53" dur="500"/>
                                        <p:tgtEl>
                                          <p:spTgt spid="30"/>
                                        </p:tgtEl>
                                      </p:cBhvr>
                                    </p:animEffect>
                                  </p:childTnLst>
                                </p:cTn>
                              </p:par>
                              <p:par>
                                <p:cTn id="54" presetID="22" presetClass="entr" presetSubtype="1" fill="hold"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up)">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left)">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wipe(up)">
                                      <p:cBhvr>
                                        <p:cTn id="66" dur="500"/>
                                        <p:tgtEl>
                                          <p:spTgt spid="31"/>
                                        </p:tgtEl>
                                      </p:cBhvr>
                                    </p:animEffect>
                                  </p:childTnLst>
                                </p:cTn>
                              </p:par>
                            </p:childTnLst>
                          </p:cTn>
                        </p:par>
                      </p:childTnLst>
                    </p:cTn>
                  </p:par>
                  <p:par>
                    <p:cTn id="67" fill="hold">
                      <p:stCondLst>
                        <p:cond delay="indefinite"/>
                      </p:stCondLst>
                      <p:childTnLst>
                        <p:par>
                          <p:cTn id="68" fill="hold">
                            <p:stCondLst>
                              <p:cond delay="0"/>
                            </p:stCondLst>
                            <p:childTnLst>
                              <p:par>
                                <p:cTn id="69" presetID="7" presetClass="entr" presetSubtype="4" fill="hold" grpId="0" nodeType="clickEffect">
                                  <p:stCondLst>
                                    <p:cond delay="0"/>
                                  </p:stCondLst>
                                  <p:childTnLst>
                                    <p:set>
                                      <p:cBhvr>
                                        <p:cTn id="70" dur="1" fill="hold">
                                          <p:stCondLst>
                                            <p:cond delay="0"/>
                                          </p:stCondLst>
                                        </p:cTn>
                                        <p:tgtEl>
                                          <p:spTgt spid="29699"/>
                                        </p:tgtEl>
                                        <p:attrNameLst>
                                          <p:attrName>style.visibility</p:attrName>
                                        </p:attrNameLst>
                                      </p:cBhvr>
                                      <p:to>
                                        <p:strVal val="visible"/>
                                      </p:to>
                                    </p:set>
                                    <p:anim calcmode="lin" valueType="num">
                                      <p:cBhvr additive="base">
                                        <p:cTn id="71" dur="5000" fill="hold"/>
                                        <p:tgtEl>
                                          <p:spTgt spid="29699"/>
                                        </p:tgtEl>
                                        <p:attrNameLst>
                                          <p:attrName>ppt_x</p:attrName>
                                        </p:attrNameLst>
                                      </p:cBhvr>
                                      <p:tavLst>
                                        <p:tav tm="0">
                                          <p:val>
                                            <p:strVal val="#ppt_x"/>
                                          </p:val>
                                        </p:tav>
                                        <p:tav tm="100000">
                                          <p:val>
                                            <p:strVal val="#ppt_x"/>
                                          </p:val>
                                        </p:tav>
                                      </p:tavLst>
                                    </p:anim>
                                    <p:anim calcmode="lin" valueType="num">
                                      <p:cBhvr additive="base">
                                        <p:cTn id="72" dur="5000" fill="hold"/>
                                        <p:tgtEl>
                                          <p:spTgt spid="29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699" grpId="1"/>
      <p:bldP spid="3" grpId="0" animBg="1"/>
      <p:bldP spid="13" grpId="0"/>
      <p:bldP spid="13" grpId="1"/>
      <p:bldP spid="19" grpId="0"/>
      <p:bldP spid="19" grpId="1"/>
      <p:bldP spid="28" grpId="0" animBg="1"/>
      <p:bldP spid="28" grpId="1" animBg="1"/>
      <p:bldP spid="29" grpId="0"/>
      <p:bldP spid="29" grpId="1"/>
      <p:bldP spid="30" grpId="0"/>
      <p:bldP spid="30" grpId="1"/>
      <p:bldP spid="31" grpId="0"/>
      <p:bldP spid="31" grpId="1"/>
      <p:bldP spid="36" grpId="0" animBg="1"/>
      <p:bldP spid="36"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p:txBody>
          <a:bodyPr/>
          <a:lstStyle/>
          <a:p>
            <a:pPr marL="342900" indent="-342900"/>
            <a:r>
              <a:rPr lang="en-US" altLang="zh-CN" b="1"/>
              <a:t>3.5.3	</a:t>
            </a:r>
            <a:r>
              <a:rPr lang="zh-CN" altLang="en-US" b="1"/>
              <a:t>数据错误与恢复</a:t>
            </a:r>
            <a:endParaRPr lang="zh-CN" altLang="en-US" b="1"/>
          </a:p>
        </p:txBody>
      </p:sp>
      <p:sp>
        <p:nvSpPr>
          <p:cNvPr id="30724" name="Rectangle 4"/>
          <p:cNvSpPr>
            <a:spLocks noChangeArrowheads="1"/>
          </p:cNvSpPr>
          <p:nvPr/>
        </p:nvSpPr>
        <p:spPr bwMode="auto">
          <a:xfrm>
            <a:off x="5997575" y="5526088"/>
            <a:ext cx="560641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a:buFont typeface="Arial" panose="020B0604020202020204" pitchFamily="34" charset="0"/>
              <a:buNone/>
            </a:pPr>
            <a:r>
              <a:rPr lang="zh-CN" altLang="en-US" sz="2400"/>
              <a:t>告知名称节点该文件块有误，</a:t>
            </a:r>
            <a:endParaRPr lang="zh-CN" altLang="en-US" sz="2400"/>
          </a:p>
          <a:p>
            <a:pPr indent="0">
              <a:buFont typeface="Arial" panose="020B0604020202020204" pitchFamily="34" charset="0"/>
              <a:buNone/>
            </a:pPr>
            <a:r>
              <a:rPr lang="zh-CN" altLang="en-US" sz="2400"/>
              <a:t>名称节点会定期检查并且重新复制该块</a:t>
            </a:r>
            <a:endParaRPr lang="zh-CN" altLang="en-US" sz="2400"/>
          </a:p>
        </p:txBody>
      </p:sp>
      <p:sp>
        <p:nvSpPr>
          <p:cNvPr id="3" name="矩形: 圆角 78"/>
          <p:cNvSpPr/>
          <p:nvPr/>
        </p:nvSpPr>
        <p:spPr>
          <a:xfrm>
            <a:off x="987425" y="1680210"/>
            <a:ext cx="4006215" cy="5365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spcAft>
                <a:spcPts val="2400"/>
              </a:spcAft>
            </a:pPr>
            <a:r>
              <a:rPr lang="en-US" altLang="zh-CN" sz="2800" b="1" dirty="0"/>
              <a:t>3. </a:t>
            </a:r>
            <a:r>
              <a:rPr lang="zh-CN" altLang="en-US" sz="2800" b="1" dirty="0"/>
              <a:t>数据出错</a:t>
            </a:r>
            <a:endParaRPr lang="zh-CN" altLang="en-US" sz="2800" dirty="0"/>
          </a:p>
        </p:txBody>
      </p:sp>
      <p:sp>
        <p:nvSpPr>
          <p:cNvPr id="4" name="Rectangle 5"/>
          <p:cNvSpPr>
            <a:spLocks noChangeArrowheads="1"/>
          </p:cNvSpPr>
          <p:nvPr/>
        </p:nvSpPr>
        <p:spPr bwMode="auto">
          <a:xfrm>
            <a:off x="1388745" y="2473325"/>
            <a:ext cx="3605530" cy="3163570"/>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Rectangle 6"/>
          <p:cNvSpPr>
            <a:spLocks noChangeArrowheads="1"/>
          </p:cNvSpPr>
          <p:nvPr/>
        </p:nvSpPr>
        <p:spPr bwMode="auto">
          <a:xfrm>
            <a:off x="1445895" y="2582545"/>
            <a:ext cx="2463165"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客户端</a:t>
            </a:r>
            <a:endParaRPr kumimoji="0" lang="zh-CN" sz="1800" b="0" i="0" u="none" strike="noStrike" cap="none" normalizeH="0" baseline="0" dirty="0">
              <a:ln>
                <a:noFill/>
              </a:ln>
              <a:solidFill>
                <a:schemeClr val="tx1"/>
              </a:solidFill>
              <a:effectLst/>
              <a:latin typeface="Arial" panose="020B0604020202020204" pitchFamily="34" charset="0"/>
            </a:endParaRPr>
          </a:p>
        </p:txBody>
      </p:sp>
      <p:cxnSp>
        <p:nvCxnSpPr>
          <p:cNvPr id="12" name="直接箭头连接符 11"/>
          <p:cNvCxnSpPr>
            <a:stCxn id="10" idx="1"/>
          </p:cNvCxnSpPr>
          <p:nvPr/>
        </p:nvCxnSpPr>
        <p:spPr>
          <a:xfrm flipH="1">
            <a:off x="4805680" y="1899920"/>
            <a:ext cx="2239645" cy="1012825"/>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7045325" y="1510665"/>
            <a:ext cx="1695450" cy="3248660"/>
            <a:chOff x="11095" y="2379"/>
            <a:chExt cx="2670" cy="5116"/>
          </a:xfrm>
        </p:grpSpPr>
        <p:grpSp>
          <p:nvGrpSpPr>
            <p:cNvPr id="32" name="组合 31"/>
            <p:cNvGrpSpPr/>
            <p:nvPr/>
          </p:nvGrpSpPr>
          <p:grpSpPr>
            <a:xfrm>
              <a:off x="11095" y="2379"/>
              <a:ext cx="2670" cy="1224"/>
              <a:chOff x="11095" y="2379"/>
              <a:chExt cx="2670" cy="1224"/>
            </a:xfrm>
          </p:grpSpPr>
          <p:sp>
            <p:nvSpPr>
              <p:cNvPr id="10" name="Rectangle 5"/>
              <p:cNvSpPr>
                <a:spLocks noChangeArrowheads="1"/>
              </p:cNvSpPr>
              <p:nvPr>
                <p:custDataLst>
                  <p:tags r:id="rId1"/>
                </p:custDataLst>
              </p:nvPr>
            </p:nvSpPr>
            <p:spPr bwMode="auto">
              <a:xfrm>
                <a:off x="11095" y="2379"/>
                <a:ext cx="2671" cy="122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 name="Rectangle 6"/>
              <p:cNvSpPr>
                <a:spLocks noChangeArrowheads="1"/>
              </p:cNvSpPr>
              <p:nvPr>
                <p:custDataLst>
                  <p:tags r:id="rId2"/>
                </p:custDataLst>
              </p:nvPr>
            </p:nvSpPr>
            <p:spPr bwMode="auto">
              <a:xfrm>
                <a:off x="11434" y="2551"/>
                <a:ext cx="1993"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数据节点</a:t>
                </a:r>
                <a:endPar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DN1</a:t>
                </a:r>
                <a:endPar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p:txBody>
          </p:sp>
        </p:grpSp>
        <p:grpSp>
          <p:nvGrpSpPr>
            <p:cNvPr id="33" name="组合 32"/>
            <p:cNvGrpSpPr/>
            <p:nvPr/>
          </p:nvGrpSpPr>
          <p:grpSpPr>
            <a:xfrm>
              <a:off x="11095" y="4393"/>
              <a:ext cx="2670" cy="1224"/>
              <a:chOff x="11095" y="4393"/>
              <a:chExt cx="2670" cy="1224"/>
            </a:xfrm>
          </p:grpSpPr>
          <p:sp>
            <p:nvSpPr>
              <p:cNvPr id="15" name="Rectangle 5"/>
              <p:cNvSpPr>
                <a:spLocks noChangeArrowheads="1"/>
              </p:cNvSpPr>
              <p:nvPr>
                <p:custDataLst>
                  <p:tags r:id="rId3"/>
                </p:custDataLst>
              </p:nvPr>
            </p:nvSpPr>
            <p:spPr bwMode="auto">
              <a:xfrm>
                <a:off x="11095" y="4393"/>
                <a:ext cx="2671" cy="122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 name="Rectangle 6"/>
              <p:cNvSpPr>
                <a:spLocks noChangeArrowheads="1"/>
              </p:cNvSpPr>
              <p:nvPr>
                <p:custDataLst>
                  <p:tags r:id="rId4"/>
                </p:custDataLst>
              </p:nvPr>
            </p:nvSpPr>
            <p:spPr bwMode="auto">
              <a:xfrm>
                <a:off x="11434" y="4565"/>
                <a:ext cx="1993"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数据节点</a:t>
                </a:r>
                <a:endPar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DN2</a:t>
                </a:r>
                <a:endPar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p:txBody>
          </p:sp>
        </p:grpSp>
        <p:grpSp>
          <p:nvGrpSpPr>
            <p:cNvPr id="34" name="组合 33"/>
            <p:cNvGrpSpPr/>
            <p:nvPr/>
          </p:nvGrpSpPr>
          <p:grpSpPr>
            <a:xfrm>
              <a:off x="11095" y="6271"/>
              <a:ext cx="2670" cy="1224"/>
              <a:chOff x="11095" y="6271"/>
              <a:chExt cx="2670" cy="1224"/>
            </a:xfrm>
          </p:grpSpPr>
          <p:sp>
            <p:nvSpPr>
              <p:cNvPr id="20" name="Rectangle 5"/>
              <p:cNvSpPr>
                <a:spLocks noChangeArrowheads="1"/>
              </p:cNvSpPr>
              <p:nvPr>
                <p:custDataLst>
                  <p:tags r:id="rId5"/>
                </p:custDataLst>
              </p:nvPr>
            </p:nvSpPr>
            <p:spPr bwMode="auto">
              <a:xfrm>
                <a:off x="11095" y="6271"/>
                <a:ext cx="2671" cy="1225"/>
              </a:xfrm>
              <a:prstGeom prst="rect">
                <a:avLst/>
              </a:prstGeom>
              <a:noFill/>
              <a:ln w="3175" cap="rnd">
                <a:solidFill>
                  <a:srgbClr val="40404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4" name="Rectangle 6"/>
              <p:cNvSpPr>
                <a:spLocks noChangeArrowheads="1"/>
              </p:cNvSpPr>
              <p:nvPr>
                <p:custDataLst>
                  <p:tags r:id="rId6"/>
                </p:custDataLst>
              </p:nvPr>
            </p:nvSpPr>
            <p:spPr bwMode="auto">
              <a:xfrm>
                <a:off x="11434" y="6367"/>
                <a:ext cx="1993"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数据节点</a:t>
                </a:r>
                <a:endPar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DN3</a:t>
                </a:r>
                <a:endParaRPr kumimoji="0" lang="en-US"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p:txBody>
          </p:sp>
        </p:grpSp>
      </p:grpSp>
      <p:sp>
        <p:nvSpPr>
          <p:cNvPr id="6" name="矩形 5"/>
          <p:cNvSpPr/>
          <p:nvPr/>
        </p:nvSpPr>
        <p:spPr>
          <a:xfrm>
            <a:off x="1941830" y="4150360"/>
            <a:ext cx="2498090" cy="775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000"/>
              <a:t>文件创建时保留的</a:t>
            </a:r>
            <a:endParaRPr lang="zh-CN" altLang="en-US" sz="2000"/>
          </a:p>
          <a:p>
            <a:pPr algn="r"/>
            <a:r>
              <a:rPr lang="zh-CN" altLang="en-US" sz="2000"/>
              <a:t>文件块的信息摘录</a:t>
            </a:r>
            <a:endParaRPr lang="zh-CN" altLang="en-US" sz="2000"/>
          </a:p>
        </p:txBody>
      </p:sp>
      <p:cxnSp>
        <p:nvCxnSpPr>
          <p:cNvPr id="17" name="直接箭头连接符 16"/>
          <p:cNvCxnSpPr/>
          <p:nvPr/>
        </p:nvCxnSpPr>
        <p:spPr>
          <a:xfrm flipH="1">
            <a:off x="4834890" y="3178810"/>
            <a:ext cx="2210435" cy="1009015"/>
          </a:xfrm>
          <a:prstGeom prst="straightConnector1">
            <a:avLst/>
          </a:prstGeom>
          <a:ln w="38100">
            <a:solidFill>
              <a:schemeClr val="bg1">
                <a:lumMod val="50000"/>
              </a:schemeClr>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4864735" y="4371340"/>
            <a:ext cx="2180590" cy="198755"/>
          </a:xfrm>
          <a:prstGeom prst="straightConnector1">
            <a:avLst/>
          </a:prstGeom>
          <a:ln w="38100">
            <a:solidFill>
              <a:srgbClr val="00B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rot="20100000">
            <a:off x="4862830" y="3063875"/>
            <a:ext cx="2113280" cy="460375"/>
          </a:xfrm>
          <a:prstGeom prst="rect">
            <a:avLst/>
          </a:prstGeom>
          <a:noFill/>
        </p:spPr>
        <p:txBody>
          <a:bodyPr wrap="square" rtlCol="0" anchor="t">
            <a:spAutoFit/>
          </a:bodyPr>
          <a:lstStyle/>
          <a:p>
            <a:r>
              <a:rPr lang="zh-CN" altLang="en-US" sz="2400">
                <a:solidFill>
                  <a:srgbClr val="FF0000"/>
                </a:solidFill>
                <a:sym typeface="+mn-ea"/>
              </a:rPr>
              <a:t>网络传输错误</a:t>
            </a:r>
            <a:endParaRPr lang="zh-CN" altLang="en-US" sz="2400">
              <a:solidFill>
                <a:srgbClr val="FF0000"/>
              </a:solidFill>
              <a:sym typeface="+mn-ea"/>
            </a:endParaRPr>
          </a:p>
        </p:txBody>
      </p:sp>
      <p:sp>
        <p:nvSpPr>
          <p:cNvPr id="8" name="文本框 7"/>
          <p:cNvSpPr txBox="1"/>
          <p:nvPr/>
        </p:nvSpPr>
        <p:spPr>
          <a:xfrm>
            <a:off x="8868410" y="1680210"/>
            <a:ext cx="1529715" cy="460375"/>
          </a:xfrm>
          <a:prstGeom prst="rect">
            <a:avLst/>
          </a:prstGeom>
          <a:noFill/>
        </p:spPr>
        <p:txBody>
          <a:bodyPr wrap="square" rtlCol="0" anchor="t">
            <a:spAutoFit/>
          </a:bodyPr>
          <a:lstStyle/>
          <a:p>
            <a:r>
              <a:rPr lang="zh-CN" altLang="en-US" sz="2400">
                <a:solidFill>
                  <a:srgbClr val="FF0000"/>
                </a:solidFill>
                <a:sym typeface="+mn-ea"/>
              </a:rPr>
              <a:t>磁盘错误</a:t>
            </a:r>
            <a:endParaRPr lang="zh-CN" altLang="en-US" sz="2400">
              <a:solidFill>
                <a:srgbClr val="FF0000"/>
              </a:solidFill>
              <a:sym typeface="+mn-ea"/>
            </a:endParaRPr>
          </a:p>
        </p:txBody>
      </p:sp>
      <p:graphicFrame>
        <p:nvGraphicFramePr>
          <p:cNvPr id="9" name="表格 8"/>
          <p:cNvGraphicFramePr/>
          <p:nvPr>
            <p:custDataLst>
              <p:tags r:id="rId7"/>
            </p:custDataLst>
          </p:nvPr>
        </p:nvGraphicFramePr>
        <p:xfrm>
          <a:off x="1941830" y="3048000"/>
          <a:ext cx="2499360" cy="731520"/>
        </p:xfrm>
        <a:graphic>
          <a:graphicData uri="http://schemas.openxmlformats.org/drawingml/2006/table">
            <a:tbl>
              <a:tblPr firstRow="1" bandRow="1">
                <a:tableStyleId>{5C22544A-7EE6-4342-B048-85BDC9FD1C3A}</a:tableStyleId>
              </a:tblPr>
              <a:tblGrid>
                <a:gridCol w="624840"/>
                <a:gridCol w="624840"/>
                <a:gridCol w="624840"/>
                <a:gridCol w="624840"/>
              </a:tblGrid>
              <a:tr h="365760">
                <a:tc gridSpan="4">
                  <a:txBody>
                    <a:bodyPr/>
                    <a:lstStyle/>
                    <a:p>
                      <a:pPr algn="ctr">
                        <a:buNone/>
                      </a:pPr>
                      <a:r>
                        <a:rPr lang="zh-CN" altLang="en-US">
                          <a:solidFill>
                            <a:schemeClr val="tx1"/>
                          </a:solidFill>
                        </a:rPr>
                        <a:t>文件</a:t>
                      </a:r>
                      <a:endParaRPr lang="zh-CN" altLang="en-US">
                        <a:solidFill>
                          <a:schemeClr val="tx1"/>
                        </a:solidFill>
                      </a:endParaRPr>
                    </a:p>
                  </a:txBody>
                  <a:tcPr anchor="ctr">
                    <a:noFill/>
                  </a:tcPr>
                </a:tc>
                <a:tc hMerge="1">
                  <a:tcPr/>
                </a:tc>
                <a:tc hMerge="1">
                  <a:tcPr/>
                </a:tc>
                <a:tc hMerge="1">
                  <a:tcPr/>
                </a:tc>
              </a:tr>
              <a:tr h="365760">
                <a:tc>
                  <a:txBody>
                    <a:bodyPr/>
                    <a:lstStyle/>
                    <a:p>
                      <a:pPr algn="ctr">
                        <a:buNone/>
                      </a:pPr>
                      <a:r>
                        <a:rPr lang="zh-CN" altLang="en-US"/>
                        <a:t>块</a:t>
                      </a:r>
                      <a:r>
                        <a:rPr lang="en-US" altLang="zh-CN"/>
                        <a:t>A</a:t>
                      </a:r>
                      <a:endParaRPr lang="en-US" altLang="zh-CN"/>
                    </a:p>
                  </a:txBody>
                  <a:tcPr anchor="ctr"/>
                </a:tc>
                <a:tc>
                  <a:txBody>
                    <a:bodyPr/>
                    <a:lstStyle/>
                    <a:p>
                      <a:pPr algn="ctr">
                        <a:buNone/>
                      </a:pPr>
                      <a:r>
                        <a:rPr lang="zh-CN" altLang="en-US"/>
                        <a:t>块</a:t>
                      </a:r>
                      <a:r>
                        <a:rPr lang="en-US" altLang="zh-CN"/>
                        <a:t>B</a:t>
                      </a:r>
                      <a:endParaRPr lang="en-US" altLang="zh-CN"/>
                    </a:p>
                  </a:txBody>
                  <a:tcPr anchor="ctr"/>
                </a:tc>
                <a:tc>
                  <a:txBody>
                    <a:bodyPr/>
                    <a:lstStyle/>
                    <a:p>
                      <a:pPr algn="ctr">
                        <a:buNone/>
                      </a:pPr>
                      <a:r>
                        <a:rPr lang="en-US" altLang="zh-CN"/>
                        <a:t>...</a:t>
                      </a:r>
                      <a:endParaRPr lang="en-US" altLang="zh-CN"/>
                    </a:p>
                  </a:txBody>
                  <a:tcPr anchor="ctr"/>
                </a:tc>
                <a:tc>
                  <a:txBody>
                    <a:bodyPr/>
                    <a:lstStyle/>
                    <a:p>
                      <a:pPr algn="ctr">
                        <a:buNone/>
                      </a:pPr>
                      <a:r>
                        <a:rPr lang="en-US" altLang="zh-CN"/>
                        <a:t>...</a:t>
                      </a:r>
                      <a:endParaRPr lang="en-US" altLang="zh-CN"/>
                    </a:p>
                  </a:txBody>
                  <a:tcPr anchor="ctr"/>
                </a:tc>
              </a:tr>
            </a:tbl>
          </a:graphicData>
        </a:graphic>
      </p:graphicFrame>
      <p:graphicFrame>
        <p:nvGraphicFramePr>
          <p:cNvPr id="25" name="表格 24"/>
          <p:cNvGraphicFramePr/>
          <p:nvPr/>
        </p:nvGraphicFramePr>
        <p:xfrm>
          <a:off x="1608455" y="5758815"/>
          <a:ext cx="3164840" cy="365760"/>
        </p:xfrm>
        <a:graphic>
          <a:graphicData uri="http://schemas.openxmlformats.org/drawingml/2006/table">
            <a:tbl>
              <a:tblPr firstRow="1" bandRow="1">
                <a:tableStyleId>{5C22544A-7EE6-4342-B048-85BDC9FD1C3A}</a:tableStyleId>
              </a:tblPr>
              <a:tblGrid>
                <a:gridCol w="791210"/>
                <a:gridCol w="791210"/>
                <a:gridCol w="791210"/>
                <a:gridCol w="791210"/>
              </a:tblGrid>
              <a:tr h="365760">
                <a:tc>
                  <a:txBody>
                    <a:bodyPr/>
                    <a:lstStyle/>
                    <a:p>
                      <a:pPr algn="ctr">
                        <a:buNone/>
                      </a:pPr>
                      <a:r>
                        <a:rPr lang="zh-CN" altLang="en-US"/>
                        <a:t>块</a:t>
                      </a:r>
                      <a:r>
                        <a:rPr lang="en-US" altLang="zh-CN"/>
                        <a:t>A</a:t>
                      </a:r>
                      <a:endParaRPr lang="en-US" altLang="zh-CN"/>
                    </a:p>
                  </a:txBody>
                  <a:tcPr/>
                </a:tc>
                <a:tc>
                  <a:txBody>
                    <a:bodyPr/>
                    <a:lstStyle/>
                    <a:p>
                      <a:pPr algn="ctr">
                        <a:buNone/>
                      </a:pPr>
                      <a:r>
                        <a:rPr lang="en-US" altLang="zh-CN" b="1">
                          <a:solidFill>
                            <a:schemeClr val="bg1"/>
                          </a:solidFill>
                        </a:rPr>
                        <a:t>DN1</a:t>
                      </a:r>
                      <a:endParaRPr lang="en-US" altLang="zh-CN" b="1">
                        <a:solidFill>
                          <a:schemeClr val="bg1"/>
                        </a:solidFill>
                      </a:endParaRPr>
                    </a:p>
                  </a:txBody>
                  <a:tcPr>
                    <a:solidFill>
                      <a:srgbClr val="00B050"/>
                    </a:solidFill>
                  </a:tcPr>
                </a:tc>
                <a:tc>
                  <a:txBody>
                    <a:bodyPr/>
                    <a:lstStyle/>
                    <a:p>
                      <a:pPr algn="ctr">
                        <a:buNone/>
                      </a:pPr>
                      <a:r>
                        <a:rPr lang="en-US" altLang="zh-CN" b="1">
                          <a:solidFill>
                            <a:schemeClr val="bg1"/>
                          </a:solidFill>
                        </a:rPr>
                        <a:t>DN2</a:t>
                      </a:r>
                      <a:endParaRPr lang="en-US" altLang="zh-CN" b="1">
                        <a:solidFill>
                          <a:schemeClr val="bg1"/>
                        </a:solidFill>
                      </a:endParaRPr>
                    </a:p>
                  </a:txBody>
                  <a:tcPr>
                    <a:solidFill>
                      <a:srgbClr val="00B050"/>
                    </a:solidFill>
                  </a:tcPr>
                </a:tc>
                <a:tc>
                  <a:txBody>
                    <a:bodyPr/>
                    <a:lstStyle/>
                    <a:p>
                      <a:pPr algn="ctr">
                        <a:buNone/>
                      </a:pPr>
                      <a:r>
                        <a:rPr lang="en-US" altLang="zh-CN" b="1">
                          <a:solidFill>
                            <a:schemeClr val="bg1"/>
                          </a:solidFill>
                        </a:rPr>
                        <a:t>DN3</a:t>
                      </a:r>
                      <a:endParaRPr lang="en-US" altLang="zh-CN" b="1">
                        <a:solidFill>
                          <a:schemeClr val="bg1"/>
                        </a:solidFill>
                      </a:endParaRPr>
                    </a:p>
                  </a:txBody>
                  <a:tcPr>
                    <a:solidFill>
                      <a:srgbClr val="00B050"/>
                    </a:solidFill>
                  </a:tcPr>
                </a:tc>
              </a:tr>
            </a:tbl>
          </a:graphicData>
        </a:graphic>
      </p:graphicFrame>
      <p:pic>
        <p:nvPicPr>
          <p:cNvPr id="14" name="图片 13" descr="templates\docerresourceshop\icons\\333438303937343b333633323939373bb9b4"/>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16695" y="3949065"/>
            <a:ext cx="784860" cy="784860"/>
          </a:xfrm>
          <a:prstGeom prst="rect">
            <a:avLst/>
          </a:prstGeom>
        </p:spPr>
      </p:pic>
      <p:sp>
        <p:nvSpPr>
          <p:cNvPr id="18" name="文本框 17"/>
          <p:cNvSpPr txBox="1"/>
          <p:nvPr/>
        </p:nvSpPr>
        <p:spPr>
          <a:xfrm>
            <a:off x="1445895" y="5078095"/>
            <a:ext cx="3604895" cy="368300"/>
          </a:xfrm>
          <a:prstGeom prst="rect">
            <a:avLst/>
          </a:prstGeom>
          <a:noFill/>
        </p:spPr>
        <p:txBody>
          <a:bodyPr wrap="square" rtlCol="0" anchor="t">
            <a:spAutoFit/>
          </a:bodyPr>
          <a:lstStyle/>
          <a:p>
            <a:r>
              <a:rPr lang="zh-CN" altLang="en-US">
                <a:sym typeface="+mn-ea"/>
              </a:rPr>
              <a:t>采用</a:t>
            </a:r>
            <a:r>
              <a:rPr lang="en-US" altLang="zh-CN">
                <a:sym typeface="+mn-ea"/>
              </a:rPr>
              <a:t>md5</a:t>
            </a:r>
            <a:r>
              <a:rPr lang="zh-CN" altLang="en-US">
                <a:sym typeface="+mn-ea"/>
              </a:rPr>
              <a:t>和</a:t>
            </a:r>
            <a:r>
              <a:rPr lang="en-US" altLang="zh-CN">
                <a:sym typeface="+mn-ea"/>
              </a:rPr>
              <a:t>sha1</a:t>
            </a:r>
            <a:r>
              <a:rPr lang="zh-CN" altLang="en-US">
                <a:sym typeface="+mn-ea"/>
              </a:rPr>
              <a:t>对数据块进行校验</a:t>
            </a:r>
            <a:endParaRPr lang="zh-CN" altLang="en-US">
              <a:sym typeface="+mn-ea"/>
            </a:endParaRPr>
          </a:p>
        </p:txBody>
      </p:sp>
      <p:sp>
        <p:nvSpPr>
          <p:cNvPr id="19" name="圆角矩形 18"/>
          <p:cNvSpPr/>
          <p:nvPr/>
        </p:nvSpPr>
        <p:spPr>
          <a:xfrm>
            <a:off x="1696720" y="2976880"/>
            <a:ext cx="2971800" cy="2079625"/>
          </a:xfrm>
          <a:prstGeom prst="roundRect">
            <a:avLst/>
          </a:prstGeom>
          <a:noFill/>
          <a:ln w="28575"/>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箭头连接符 21"/>
          <p:cNvCxnSpPr>
            <a:endCxn id="30724" idx="1"/>
          </p:cNvCxnSpPr>
          <p:nvPr>
            <p:custDataLst>
              <p:tags r:id="rId10"/>
            </p:custDataLst>
          </p:nvPr>
        </p:nvCxnSpPr>
        <p:spPr>
          <a:xfrm>
            <a:off x="5011420" y="5654675"/>
            <a:ext cx="986155" cy="286385"/>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up)">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up)">
                                      <p:cBhvr>
                                        <p:cTn id="47" dur="500"/>
                                        <p:tgtEl>
                                          <p:spTgt spid="17"/>
                                        </p:tgtEl>
                                      </p:cBhvr>
                                    </p:animEffect>
                                  </p:childTnLst>
                                </p:cTn>
                              </p:par>
                            </p:childTnLst>
                          </p:cTn>
                        </p:par>
                        <p:par>
                          <p:cTn id="48" fill="hold">
                            <p:stCondLst>
                              <p:cond delay="500"/>
                            </p:stCondLst>
                            <p:childTnLst>
                              <p:par>
                                <p:cTn id="49" presetID="22" presetClass="entr" presetSubtype="4" fill="hold" grpId="0" nodeType="after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up)">
                                      <p:cBhvr>
                                        <p:cTn id="56" dur="500"/>
                                        <p:tgtEl>
                                          <p:spTgt spid="2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down)">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up)">
                                      <p:cBhvr>
                                        <p:cTn id="66" dur="500"/>
                                        <p:tgtEl>
                                          <p:spTgt spid="22"/>
                                        </p:tgtEl>
                                      </p:cBhvr>
                                    </p:animEffect>
                                  </p:childTnLst>
                                </p:cTn>
                              </p:par>
                            </p:childTnLst>
                          </p:cTn>
                        </p:par>
                        <p:par>
                          <p:cTn id="67" fill="hold">
                            <p:stCondLst>
                              <p:cond delay="500"/>
                            </p:stCondLst>
                            <p:childTnLst>
                              <p:par>
                                <p:cTn id="68" presetID="22" presetClass="entr" presetSubtype="1" fill="hold" grpId="0" nodeType="afterEffect">
                                  <p:stCondLst>
                                    <p:cond delay="0"/>
                                  </p:stCondLst>
                                  <p:childTnLst>
                                    <p:set>
                                      <p:cBhvr>
                                        <p:cTn id="69" dur="1" fill="hold">
                                          <p:stCondLst>
                                            <p:cond delay="0"/>
                                          </p:stCondLst>
                                        </p:cTn>
                                        <p:tgtEl>
                                          <p:spTgt spid="30724"/>
                                        </p:tgtEl>
                                        <p:attrNameLst>
                                          <p:attrName>style.visibility</p:attrName>
                                        </p:attrNameLst>
                                      </p:cBhvr>
                                      <p:to>
                                        <p:strVal val="visible"/>
                                      </p:to>
                                    </p:set>
                                    <p:animEffect transition="in" filter="wipe(up)">
                                      <p:cBhvr>
                                        <p:cTn id="70" dur="500"/>
                                        <p:tgtEl>
                                          <p:spTgt spid="3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4" grpId="1"/>
      <p:bldP spid="6" grpId="0" animBg="1"/>
      <p:bldP spid="6" grpId="1" animBg="1"/>
      <p:bldP spid="7" grpId="0"/>
      <p:bldP spid="7" grpId="1"/>
      <p:bldP spid="8" grpId="0"/>
      <p:bldP spid="8" grpId="1"/>
      <p:bldP spid="18" grpId="0"/>
      <p:bldP spid="18" grpId="1"/>
      <p:bldP spid="19" grpId="0" animBg="1"/>
      <p:bldP spid="19"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noChangeArrowheads="1"/>
          </p:cNvSpPr>
          <p:nvPr>
            <p:ph type="title"/>
          </p:nvPr>
        </p:nvSpPr>
        <p:spPr/>
        <p:txBody>
          <a:bodyPr/>
          <a:lstStyle/>
          <a:p>
            <a:r>
              <a:rPr lang="en-US" altLang="zh-CN" b="1" dirty="0"/>
              <a:t>3.6	HDFS</a:t>
            </a:r>
            <a:r>
              <a:rPr lang="zh-CN" altLang="en-US" b="1" dirty="0"/>
              <a:t>数据读写过程</a:t>
            </a:r>
            <a:endParaRPr lang="zh-CN" altLang="en-US" b="1" dirty="0"/>
          </a:p>
        </p:txBody>
      </p:sp>
      <p:sp>
        <p:nvSpPr>
          <p:cNvPr id="34819" name="TextBox 2"/>
          <p:cNvSpPr txBox="1">
            <a:spLocks noChangeArrowheads="1"/>
          </p:cNvSpPr>
          <p:nvPr/>
        </p:nvSpPr>
        <p:spPr bwMode="auto">
          <a:xfrm>
            <a:off x="1320800" y="5748671"/>
            <a:ext cx="85547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dirty="0" err="1"/>
              <a:t>FileSystem.create</a:t>
            </a:r>
            <a:r>
              <a:rPr lang="en-US" altLang="zh-CN" sz="2400" dirty="0"/>
              <a:t>()</a:t>
            </a:r>
            <a:r>
              <a:rPr lang="zh-CN" altLang="en-US" sz="2400" dirty="0"/>
              <a:t>                   返回 </a:t>
            </a:r>
            <a:r>
              <a:rPr lang="en-US" altLang="zh-CN" sz="2400" dirty="0" err="1"/>
              <a:t>FSDataOutputStream</a:t>
            </a:r>
            <a:endParaRPr lang="en-US" altLang="zh-CN" sz="2400" dirty="0"/>
          </a:p>
          <a:p>
            <a:r>
              <a:rPr lang="en-US" altLang="zh-CN" sz="2400" dirty="0" err="1"/>
              <a:t>DistributedFileSystem</a:t>
            </a:r>
            <a:r>
              <a:rPr lang="en-US" altLang="zh-CN" sz="2400" dirty="0"/>
              <a:t>. create() </a:t>
            </a:r>
            <a:r>
              <a:rPr lang="zh-CN" altLang="en-US" sz="2400" dirty="0"/>
              <a:t>返回 </a:t>
            </a:r>
            <a:r>
              <a:rPr lang="en-US" altLang="zh-CN" sz="2400" dirty="0" err="1"/>
              <a:t>DFSOutputStream</a:t>
            </a:r>
            <a:endParaRPr lang="en-US" altLang="zh-CN" sz="2400" dirty="0"/>
          </a:p>
        </p:txBody>
      </p:sp>
      <p:sp>
        <p:nvSpPr>
          <p:cNvPr id="19" name="圆角矩形 18"/>
          <p:cNvSpPr/>
          <p:nvPr>
            <p:custDataLst>
              <p:tags r:id="rId1"/>
            </p:custDataLst>
          </p:nvPr>
        </p:nvSpPr>
        <p:spPr>
          <a:xfrm>
            <a:off x="1272768" y="2083674"/>
            <a:ext cx="2227580" cy="638175"/>
          </a:xfrm>
          <a:prstGeom prst="roundRect">
            <a:avLst/>
          </a:prstGeom>
          <a:noFill/>
          <a:ln w="28575"/>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rgbClr val="00B050"/>
                </a:solidFill>
                <a:sym typeface="+mn-ea"/>
              </a:rPr>
              <a:t>FileSystem</a:t>
            </a:r>
            <a:endParaRPr lang="en-US" altLang="zh-CN" sz="2800" b="1" dirty="0">
              <a:solidFill>
                <a:srgbClr val="00B050"/>
              </a:solidFill>
              <a:sym typeface="+mn-ea"/>
            </a:endParaRPr>
          </a:p>
        </p:txBody>
      </p:sp>
      <p:sp>
        <p:nvSpPr>
          <p:cNvPr id="3" name="文本框 2"/>
          <p:cNvSpPr txBox="1"/>
          <p:nvPr/>
        </p:nvSpPr>
        <p:spPr>
          <a:xfrm>
            <a:off x="868545" y="1459855"/>
            <a:ext cx="3675380" cy="461665"/>
          </a:xfrm>
          <a:prstGeom prst="rect">
            <a:avLst/>
          </a:prstGeom>
          <a:noFill/>
        </p:spPr>
        <p:txBody>
          <a:bodyPr wrap="square" rtlCol="0" anchor="t">
            <a:spAutoFit/>
          </a:bodyPr>
          <a:lstStyle/>
          <a:p>
            <a:r>
              <a:rPr lang="zh-CN" altLang="en-US" sz="2400" dirty="0">
                <a:sym typeface="+mn-ea"/>
              </a:rPr>
              <a:t>通用文件系统的抽象基类</a:t>
            </a:r>
            <a:endParaRPr lang="zh-CN" altLang="en-US" sz="2400" dirty="0">
              <a:sym typeface="+mn-ea"/>
            </a:endParaRPr>
          </a:p>
        </p:txBody>
      </p:sp>
      <p:sp>
        <p:nvSpPr>
          <p:cNvPr id="4" name="圆角矩形 3"/>
          <p:cNvSpPr/>
          <p:nvPr>
            <p:custDataLst>
              <p:tags r:id="rId2"/>
            </p:custDataLst>
          </p:nvPr>
        </p:nvSpPr>
        <p:spPr>
          <a:xfrm>
            <a:off x="7182844" y="2123616"/>
            <a:ext cx="4034790" cy="638175"/>
          </a:xfrm>
          <a:prstGeom prst="roundRect">
            <a:avLst/>
          </a:prstGeom>
          <a:noFill/>
          <a:ln w="28575"/>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rgbClr val="00B050"/>
                </a:solidFill>
                <a:sym typeface="+mn-ea"/>
              </a:rPr>
              <a:t>DistributedFileSystem</a:t>
            </a:r>
            <a:endParaRPr lang="en-US" altLang="zh-CN" sz="2800" b="1" dirty="0">
              <a:solidFill>
                <a:srgbClr val="00B050"/>
              </a:solidFill>
              <a:sym typeface="+mn-ea"/>
            </a:endParaRPr>
          </a:p>
        </p:txBody>
      </p:sp>
      <p:sp>
        <p:nvSpPr>
          <p:cNvPr id="5" name="文本框 4"/>
          <p:cNvSpPr txBox="1"/>
          <p:nvPr/>
        </p:nvSpPr>
        <p:spPr>
          <a:xfrm>
            <a:off x="1171046" y="2890662"/>
            <a:ext cx="2694777" cy="461665"/>
          </a:xfrm>
          <a:prstGeom prst="rect">
            <a:avLst/>
          </a:prstGeom>
          <a:noFill/>
        </p:spPr>
        <p:txBody>
          <a:bodyPr wrap="square" rtlCol="0">
            <a:spAutoFit/>
          </a:bodyPr>
          <a:lstStyle/>
          <a:p>
            <a:r>
              <a:rPr lang="en-US" altLang="zh-CN" sz="2400" dirty="0" err="1"/>
              <a:t>FileSystem.open</a:t>
            </a:r>
            <a:r>
              <a:rPr lang="en-US" altLang="zh-CN" sz="2400" dirty="0"/>
              <a:t>()</a:t>
            </a:r>
            <a:endParaRPr lang="zh-CN" altLang="en-US" dirty="0"/>
          </a:p>
        </p:txBody>
      </p:sp>
      <p:sp>
        <p:nvSpPr>
          <p:cNvPr id="7" name="箭头: 右 6"/>
          <p:cNvSpPr/>
          <p:nvPr/>
        </p:nvSpPr>
        <p:spPr>
          <a:xfrm rot="5400000">
            <a:off x="1719434" y="3724080"/>
            <a:ext cx="1189740" cy="783861"/>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400" dirty="0"/>
              <a:t>return</a:t>
            </a:r>
            <a:endParaRPr lang="zh-CN" altLang="en-US" sz="2400" dirty="0"/>
          </a:p>
        </p:txBody>
      </p:sp>
      <p:sp>
        <p:nvSpPr>
          <p:cNvPr id="8" name="文本框 7"/>
          <p:cNvSpPr txBox="1"/>
          <p:nvPr/>
        </p:nvSpPr>
        <p:spPr>
          <a:xfrm>
            <a:off x="1096230" y="4710881"/>
            <a:ext cx="2769593" cy="461665"/>
          </a:xfrm>
          <a:prstGeom prst="rect">
            <a:avLst/>
          </a:prstGeom>
          <a:noFill/>
        </p:spPr>
        <p:txBody>
          <a:bodyPr wrap="square">
            <a:spAutoFit/>
          </a:bodyPr>
          <a:lstStyle/>
          <a:p>
            <a:r>
              <a:rPr lang="en-US" altLang="zh-CN" sz="2400" dirty="0" err="1"/>
              <a:t>FSDataInputStream</a:t>
            </a:r>
            <a:endParaRPr lang="en-US" altLang="zh-CN" sz="2400" dirty="0"/>
          </a:p>
        </p:txBody>
      </p:sp>
      <p:sp>
        <p:nvSpPr>
          <p:cNvPr id="9" name="文本框 8"/>
          <p:cNvSpPr txBox="1"/>
          <p:nvPr/>
        </p:nvSpPr>
        <p:spPr>
          <a:xfrm>
            <a:off x="7182844" y="2959311"/>
            <a:ext cx="3944970" cy="461665"/>
          </a:xfrm>
          <a:prstGeom prst="rect">
            <a:avLst/>
          </a:prstGeom>
          <a:noFill/>
        </p:spPr>
        <p:txBody>
          <a:bodyPr wrap="square" rtlCol="0">
            <a:spAutoFit/>
          </a:bodyPr>
          <a:lstStyle/>
          <a:p>
            <a:r>
              <a:rPr lang="en-US" altLang="zh-CN" sz="2400" dirty="0" err="1"/>
              <a:t>DistributedFileSystem.open</a:t>
            </a:r>
            <a:r>
              <a:rPr lang="en-US" altLang="zh-CN" sz="2400" dirty="0"/>
              <a:t>()</a:t>
            </a:r>
            <a:endParaRPr lang="zh-CN" altLang="en-US" dirty="0"/>
          </a:p>
        </p:txBody>
      </p:sp>
      <p:sp>
        <p:nvSpPr>
          <p:cNvPr id="10" name="箭头: 右 9"/>
          <p:cNvSpPr/>
          <p:nvPr/>
        </p:nvSpPr>
        <p:spPr>
          <a:xfrm rot="5400000">
            <a:off x="8311141" y="3853688"/>
            <a:ext cx="1189740" cy="783861"/>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400" dirty="0"/>
              <a:t>return</a:t>
            </a:r>
            <a:endParaRPr lang="zh-CN" altLang="en-US" sz="2400" dirty="0"/>
          </a:p>
        </p:txBody>
      </p:sp>
      <p:sp>
        <p:nvSpPr>
          <p:cNvPr id="11" name="文本框 10"/>
          <p:cNvSpPr txBox="1"/>
          <p:nvPr/>
        </p:nvSpPr>
        <p:spPr>
          <a:xfrm>
            <a:off x="7687937" y="4840489"/>
            <a:ext cx="2380623" cy="461665"/>
          </a:xfrm>
          <a:prstGeom prst="rect">
            <a:avLst/>
          </a:prstGeom>
          <a:noFill/>
        </p:spPr>
        <p:txBody>
          <a:bodyPr wrap="square">
            <a:spAutoFit/>
          </a:bodyPr>
          <a:lstStyle/>
          <a:p>
            <a:r>
              <a:rPr lang="en-US" altLang="zh-CN" sz="2400" dirty="0" err="1"/>
              <a:t>DFSInputStream</a:t>
            </a:r>
            <a:endParaRPr lang="en-US" altLang="zh-CN" sz="2400" dirty="0"/>
          </a:p>
        </p:txBody>
      </p:sp>
      <p:sp>
        <p:nvSpPr>
          <p:cNvPr id="12" name="文本框 11"/>
          <p:cNvSpPr txBox="1"/>
          <p:nvPr/>
        </p:nvSpPr>
        <p:spPr>
          <a:xfrm>
            <a:off x="8249650" y="1596883"/>
            <a:ext cx="1980303" cy="461665"/>
          </a:xfrm>
          <a:prstGeom prst="rect">
            <a:avLst/>
          </a:prstGeom>
          <a:noFill/>
        </p:spPr>
        <p:txBody>
          <a:bodyPr wrap="square" rtlCol="0" anchor="t">
            <a:spAutoFit/>
          </a:bodyPr>
          <a:lstStyle/>
          <a:p>
            <a:r>
              <a:rPr lang="en-US" altLang="zh-CN" sz="2400" dirty="0">
                <a:sym typeface="+mn-ea"/>
              </a:rPr>
              <a:t>Hadoop</a:t>
            </a:r>
            <a:r>
              <a:rPr lang="zh-CN" altLang="en-US" sz="2400" dirty="0">
                <a:sym typeface="+mn-ea"/>
              </a:rPr>
              <a:t>实现</a:t>
            </a:r>
            <a:endParaRPr lang="zh-CN" altLang="en-US" sz="24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par>
                                <p:cTn id="21" presetID="16" presetClass="entr" presetSubtype="21" fill="hold" grpId="1"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arn(inVertical)">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8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P spid="19" grpId="0" animBg="1"/>
      <p:bldP spid="4" grpId="0" animBg="1"/>
      <p:bldP spid="4" grpId="1" animBg="1"/>
      <p:bldP spid="5" grpId="0"/>
      <p:bldP spid="7" grpId="0" animBg="1"/>
      <p:bldP spid="8" grpId="0"/>
      <p:bldP spid="9" grpId="0"/>
      <p:bldP spid="10" grpId="0" animBg="1"/>
      <p:bldP spid="11"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矩形 4"/>
          <p:cNvSpPr/>
          <p:nvPr/>
        </p:nvSpPr>
        <p:spPr>
          <a:xfrm>
            <a:off x="686435" y="1746568"/>
            <a:ext cx="4622799" cy="2574921"/>
          </a:xfrm>
          <a:prstGeom prst="rect">
            <a:avLst/>
          </a:prstGeom>
          <a:noFill/>
          <a:ln w="28575"/>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1"/>
            </p:custDataLst>
          </p:nvPr>
        </p:nvSpPr>
        <p:spPr>
          <a:xfrm>
            <a:off x="813435" y="1902779"/>
            <a:ext cx="1242671" cy="884809"/>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dirty="0">
                <a:solidFill>
                  <a:schemeClr val="bg1">
                    <a:lumMod val="65000"/>
                  </a:schemeClr>
                </a:solidFill>
              </a:rPr>
              <a:t>H</a:t>
            </a:r>
            <a:r>
              <a:rPr lang="en-US" altLang="zh-CN" sz="2400" dirty="0">
                <a:solidFill>
                  <a:schemeClr val="tx1"/>
                </a:solidFill>
              </a:rPr>
              <a:t>D</a:t>
            </a:r>
            <a:r>
              <a:rPr lang="en-US" altLang="zh-CN" sz="2400" dirty="0"/>
              <a:t>FS</a:t>
            </a:r>
            <a:endParaRPr lang="en-US" altLang="zh-CN" sz="2400" dirty="0"/>
          </a:p>
          <a:p>
            <a:pPr algn="ctr"/>
            <a:r>
              <a:rPr lang="zh-CN" altLang="en-US" sz="2400" dirty="0"/>
              <a:t>客户端</a:t>
            </a:r>
            <a:endParaRPr lang="zh-CN" altLang="en-US" sz="2400" dirty="0"/>
          </a:p>
        </p:txBody>
      </p:sp>
      <p:sp>
        <p:nvSpPr>
          <p:cNvPr id="7" name="文本框 6"/>
          <p:cNvSpPr txBox="1"/>
          <p:nvPr/>
        </p:nvSpPr>
        <p:spPr>
          <a:xfrm>
            <a:off x="626173" y="3500093"/>
            <a:ext cx="1782409" cy="830997"/>
          </a:xfrm>
          <a:prstGeom prst="rect">
            <a:avLst/>
          </a:prstGeom>
          <a:noFill/>
        </p:spPr>
        <p:txBody>
          <a:bodyPr wrap="square" rtlCol="0">
            <a:spAutoFit/>
          </a:bodyPr>
          <a:lstStyle/>
          <a:p>
            <a:pPr algn="ctr"/>
            <a:r>
              <a:rPr lang="zh-CN" altLang="en-US" sz="2400" dirty="0"/>
              <a:t>客户端</a:t>
            </a:r>
            <a:endParaRPr lang="en-US" altLang="zh-CN" sz="2400" dirty="0"/>
          </a:p>
          <a:p>
            <a:pPr algn="ctr"/>
            <a:r>
              <a:rPr lang="en-US" altLang="zh-CN" sz="2400" dirty="0"/>
              <a:t>Java</a:t>
            </a:r>
            <a:r>
              <a:rPr lang="zh-CN" altLang="en-US" sz="2400" dirty="0"/>
              <a:t>虚拟机</a:t>
            </a:r>
            <a:endParaRPr lang="en-US" altLang="zh-CN" sz="2400" dirty="0"/>
          </a:p>
        </p:txBody>
      </p:sp>
      <p:sp>
        <p:nvSpPr>
          <p:cNvPr id="8" name="矩形 7"/>
          <p:cNvSpPr/>
          <p:nvPr/>
        </p:nvSpPr>
        <p:spPr>
          <a:xfrm>
            <a:off x="3387352" y="1902779"/>
            <a:ext cx="1744197" cy="884809"/>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solidFill>
                  <a:schemeClr val="bg1">
                    <a:lumMod val="85000"/>
                  </a:schemeClr>
                </a:solidFill>
              </a:rPr>
              <a:t>Distributed</a:t>
            </a:r>
            <a:endParaRPr lang="en-US" sz="2400" b="1" dirty="0">
              <a:solidFill>
                <a:schemeClr val="bg1">
                  <a:lumMod val="85000"/>
                </a:schemeClr>
              </a:solidFill>
            </a:endParaRPr>
          </a:p>
          <a:p>
            <a:pPr algn="ctr"/>
            <a:r>
              <a:rPr lang="en-US" sz="2400" b="1" dirty="0" err="1">
                <a:solidFill>
                  <a:srgbClr val="00B050"/>
                </a:solidFill>
              </a:rPr>
              <a:t>FileSystem</a:t>
            </a:r>
            <a:endParaRPr lang="en-US" sz="2400" b="1" dirty="0">
              <a:solidFill>
                <a:srgbClr val="00B050"/>
              </a:solidFill>
            </a:endParaRPr>
          </a:p>
        </p:txBody>
      </p:sp>
      <p:cxnSp>
        <p:nvCxnSpPr>
          <p:cNvPr id="9" name="直接箭头连接符 8"/>
          <p:cNvCxnSpPr>
            <a:stCxn id="6" idx="3"/>
            <a:endCxn id="8" idx="1"/>
          </p:cNvCxnSpPr>
          <p:nvPr/>
        </p:nvCxnSpPr>
        <p:spPr>
          <a:xfrm>
            <a:off x="2056106" y="2345184"/>
            <a:ext cx="1331246"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983012" y="1923927"/>
            <a:ext cx="1449376" cy="400110"/>
          </a:xfrm>
          <a:prstGeom prst="rect">
            <a:avLst/>
          </a:prstGeom>
          <a:noFill/>
        </p:spPr>
        <p:txBody>
          <a:bodyPr wrap="square" rtlCol="0">
            <a:spAutoFit/>
          </a:bodyPr>
          <a:lstStyle/>
          <a:p>
            <a:r>
              <a:rPr lang="en-US" altLang="zh-CN" sz="2000" dirty="0">
                <a:solidFill>
                  <a:srgbClr val="FF0000"/>
                </a:solidFill>
              </a:rPr>
              <a:t>1.</a:t>
            </a:r>
            <a:r>
              <a:rPr lang="zh-CN" altLang="en-US" sz="2000" dirty="0">
                <a:solidFill>
                  <a:srgbClr val="FF0000"/>
                </a:solidFill>
              </a:rPr>
              <a:t>打开文件</a:t>
            </a:r>
            <a:endParaRPr lang="zh-CN" altLang="en-US" sz="2000" dirty="0">
              <a:solidFill>
                <a:srgbClr val="FF0000"/>
              </a:solidFill>
            </a:endParaRPr>
          </a:p>
        </p:txBody>
      </p:sp>
      <p:sp>
        <p:nvSpPr>
          <p:cNvPr id="11" name="矩形 10"/>
          <p:cNvSpPr/>
          <p:nvPr>
            <p:custDataLst>
              <p:tags r:id="rId2"/>
            </p:custDataLst>
          </p:nvPr>
        </p:nvSpPr>
        <p:spPr>
          <a:xfrm>
            <a:off x="3368245" y="3229993"/>
            <a:ext cx="1782409" cy="884809"/>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err="1">
                <a:solidFill>
                  <a:srgbClr val="00B050"/>
                </a:solidFill>
              </a:rPr>
              <a:t>FSDataInputStream</a:t>
            </a:r>
            <a:endParaRPr lang="en-US" sz="2400" b="1" dirty="0">
              <a:solidFill>
                <a:srgbClr val="00B050"/>
              </a:solidFill>
            </a:endParaRPr>
          </a:p>
        </p:txBody>
      </p:sp>
      <p:sp>
        <p:nvSpPr>
          <p:cNvPr id="2" name="矩形 1"/>
          <p:cNvSpPr/>
          <p:nvPr>
            <p:custDataLst>
              <p:tags r:id="rId3"/>
            </p:custDataLst>
          </p:nvPr>
        </p:nvSpPr>
        <p:spPr>
          <a:xfrm>
            <a:off x="7975804" y="3330702"/>
            <a:ext cx="1550033" cy="784100"/>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dirty="0"/>
              <a:t>名称节点</a:t>
            </a:r>
            <a:endParaRPr lang="zh-CN" altLang="en-US" sz="2400" dirty="0"/>
          </a:p>
        </p:txBody>
      </p:sp>
      <p:cxnSp>
        <p:nvCxnSpPr>
          <p:cNvPr id="3" name="直接箭头连接符 2"/>
          <p:cNvCxnSpPr/>
          <p:nvPr/>
        </p:nvCxnSpPr>
        <p:spPr>
          <a:xfrm>
            <a:off x="5193544" y="3508216"/>
            <a:ext cx="278226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495589" y="3058132"/>
            <a:ext cx="2178170" cy="400110"/>
          </a:xfrm>
          <a:prstGeom prst="rect">
            <a:avLst/>
          </a:prstGeom>
          <a:noFill/>
        </p:spPr>
        <p:txBody>
          <a:bodyPr wrap="square" rtlCol="0">
            <a:spAutoFit/>
          </a:bodyPr>
          <a:lstStyle/>
          <a:p>
            <a:r>
              <a:rPr lang="en-US" altLang="zh-CN" sz="2000" dirty="0">
                <a:solidFill>
                  <a:srgbClr val="FF0000"/>
                </a:solidFill>
              </a:rPr>
              <a:t>2.</a:t>
            </a:r>
            <a:r>
              <a:rPr lang="zh-CN" altLang="en-US" sz="2000" dirty="0">
                <a:solidFill>
                  <a:srgbClr val="FF0000"/>
                </a:solidFill>
              </a:rPr>
              <a:t>获取数据块信息</a:t>
            </a:r>
            <a:endParaRPr lang="zh-CN" altLang="en-US" sz="2000" dirty="0">
              <a:solidFill>
                <a:srgbClr val="FF0000"/>
              </a:solidFill>
            </a:endParaRPr>
          </a:p>
        </p:txBody>
      </p:sp>
      <p:cxnSp>
        <p:nvCxnSpPr>
          <p:cNvPr id="21" name="直接箭头连接符 20"/>
          <p:cNvCxnSpPr/>
          <p:nvPr/>
        </p:nvCxnSpPr>
        <p:spPr>
          <a:xfrm>
            <a:off x="2056106" y="2760669"/>
            <a:ext cx="1269249" cy="73942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rot="1810307">
            <a:off x="2044680" y="2761185"/>
            <a:ext cx="1456108" cy="400110"/>
          </a:xfrm>
          <a:prstGeom prst="rect">
            <a:avLst/>
          </a:prstGeom>
          <a:noFill/>
        </p:spPr>
        <p:txBody>
          <a:bodyPr wrap="square" rtlCol="0">
            <a:spAutoFit/>
          </a:bodyPr>
          <a:lstStyle/>
          <a:p>
            <a:r>
              <a:rPr lang="en-US" altLang="zh-CN" sz="2000" dirty="0">
                <a:solidFill>
                  <a:srgbClr val="FF0000"/>
                </a:solidFill>
              </a:rPr>
              <a:t>3.</a:t>
            </a:r>
            <a:r>
              <a:rPr lang="zh-CN" altLang="en-US" sz="2000" dirty="0">
                <a:solidFill>
                  <a:srgbClr val="FF0000"/>
                </a:solidFill>
              </a:rPr>
              <a:t>读取请求</a:t>
            </a:r>
            <a:endParaRPr lang="zh-CN" altLang="en-US" sz="2000" dirty="0">
              <a:solidFill>
                <a:srgbClr val="FF0000"/>
              </a:solidFill>
            </a:endParaRPr>
          </a:p>
        </p:txBody>
      </p:sp>
      <p:sp>
        <p:nvSpPr>
          <p:cNvPr id="28" name="矩形 27"/>
          <p:cNvSpPr/>
          <p:nvPr>
            <p:custDataLst>
              <p:tags r:id="rId4"/>
            </p:custDataLst>
          </p:nvPr>
        </p:nvSpPr>
        <p:spPr>
          <a:xfrm>
            <a:off x="1997041" y="5539714"/>
            <a:ext cx="1782409" cy="657225"/>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dirty="0"/>
              <a:t>数据节点</a:t>
            </a:r>
            <a:r>
              <a:rPr lang="en-US" altLang="zh-CN" sz="2400" dirty="0"/>
              <a:t>1</a:t>
            </a:r>
            <a:endParaRPr lang="zh-CN" altLang="en-US" sz="2400" dirty="0"/>
          </a:p>
        </p:txBody>
      </p:sp>
      <p:sp>
        <p:nvSpPr>
          <p:cNvPr id="29" name="矩形 28"/>
          <p:cNvSpPr/>
          <p:nvPr>
            <p:custDataLst>
              <p:tags r:id="rId5"/>
            </p:custDataLst>
          </p:nvPr>
        </p:nvSpPr>
        <p:spPr>
          <a:xfrm>
            <a:off x="7211727" y="5539714"/>
            <a:ext cx="1782409" cy="657225"/>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dirty="0"/>
              <a:t>数据节点</a:t>
            </a:r>
            <a:r>
              <a:rPr lang="en-US" altLang="zh-CN" sz="2400" dirty="0"/>
              <a:t>3</a:t>
            </a:r>
            <a:endParaRPr lang="zh-CN" altLang="en-US" sz="2400" dirty="0"/>
          </a:p>
        </p:txBody>
      </p:sp>
      <p:sp>
        <p:nvSpPr>
          <p:cNvPr id="30" name="矩形 29"/>
          <p:cNvSpPr/>
          <p:nvPr>
            <p:custDataLst>
              <p:tags r:id="rId6"/>
            </p:custDataLst>
          </p:nvPr>
        </p:nvSpPr>
        <p:spPr>
          <a:xfrm>
            <a:off x="4604384" y="5527914"/>
            <a:ext cx="1782409" cy="657225"/>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dirty="0"/>
              <a:t>数据节点</a:t>
            </a:r>
            <a:r>
              <a:rPr lang="en-US" altLang="zh-CN" sz="2400" dirty="0"/>
              <a:t>2</a:t>
            </a:r>
            <a:endParaRPr lang="zh-CN" altLang="en-US" sz="2400" dirty="0"/>
          </a:p>
        </p:txBody>
      </p:sp>
      <p:cxnSp>
        <p:nvCxnSpPr>
          <p:cNvPr id="31" name="直接箭头连接符 30"/>
          <p:cNvCxnSpPr>
            <a:stCxn id="11" idx="2"/>
            <a:endCxn id="28" idx="0"/>
          </p:cNvCxnSpPr>
          <p:nvPr/>
        </p:nvCxnSpPr>
        <p:spPr>
          <a:xfrm flipH="1">
            <a:off x="2888246" y="4114802"/>
            <a:ext cx="1371204" cy="142491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rot="18705646">
            <a:off x="2507706" y="4659387"/>
            <a:ext cx="1492858" cy="400110"/>
          </a:xfrm>
          <a:prstGeom prst="rect">
            <a:avLst/>
          </a:prstGeom>
          <a:noFill/>
        </p:spPr>
        <p:txBody>
          <a:bodyPr wrap="square" rtlCol="0">
            <a:spAutoFit/>
          </a:bodyPr>
          <a:lstStyle/>
          <a:p>
            <a:r>
              <a:rPr lang="en-US" altLang="zh-CN" sz="2000" dirty="0">
                <a:solidFill>
                  <a:srgbClr val="FF0000"/>
                </a:solidFill>
              </a:rPr>
              <a:t>4.</a:t>
            </a:r>
            <a:r>
              <a:rPr lang="zh-CN" altLang="en-US" sz="2000" dirty="0">
                <a:solidFill>
                  <a:srgbClr val="FF0000"/>
                </a:solidFill>
              </a:rPr>
              <a:t>读取数据</a:t>
            </a:r>
            <a:endParaRPr lang="zh-CN" altLang="en-US" sz="2000" dirty="0">
              <a:solidFill>
                <a:srgbClr val="FF0000"/>
              </a:solidFill>
            </a:endParaRPr>
          </a:p>
        </p:txBody>
      </p:sp>
      <p:cxnSp>
        <p:nvCxnSpPr>
          <p:cNvPr id="35" name="直接箭头连接符 34"/>
          <p:cNvCxnSpPr/>
          <p:nvPr/>
        </p:nvCxnSpPr>
        <p:spPr>
          <a:xfrm>
            <a:off x="5193544" y="3867824"/>
            <a:ext cx="278226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5309234" y="3938373"/>
            <a:ext cx="2687384" cy="707886"/>
          </a:xfrm>
          <a:prstGeom prst="rect">
            <a:avLst/>
          </a:prstGeom>
          <a:noFill/>
        </p:spPr>
        <p:txBody>
          <a:bodyPr wrap="square" rtlCol="0">
            <a:spAutoFit/>
          </a:bodyPr>
          <a:lstStyle/>
          <a:p>
            <a:pPr algn="ctr"/>
            <a:r>
              <a:rPr lang="en-US" altLang="zh-CN" sz="2000" dirty="0">
                <a:solidFill>
                  <a:srgbClr val="FF0000"/>
                </a:solidFill>
              </a:rPr>
              <a:t>5.</a:t>
            </a:r>
            <a:r>
              <a:rPr lang="zh-CN" altLang="en-US" sz="2000" dirty="0">
                <a:solidFill>
                  <a:srgbClr val="FF0000"/>
                </a:solidFill>
              </a:rPr>
              <a:t>获取下一数据块信息</a:t>
            </a:r>
            <a:endParaRPr lang="en-US" altLang="zh-CN" sz="2000" dirty="0">
              <a:solidFill>
                <a:srgbClr val="FF0000"/>
              </a:solidFill>
            </a:endParaRPr>
          </a:p>
          <a:p>
            <a:pPr algn="ctr"/>
            <a:r>
              <a:rPr lang="en-US" altLang="zh-CN" sz="2000" dirty="0">
                <a:solidFill>
                  <a:srgbClr val="FF0000"/>
                </a:solidFill>
              </a:rPr>
              <a:t>(</a:t>
            </a:r>
            <a:r>
              <a:rPr lang="zh-CN" altLang="en-US" sz="2000" dirty="0">
                <a:solidFill>
                  <a:srgbClr val="FF0000"/>
                </a:solidFill>
              </a:rPr>
              <a:t>可能发生</a:t>
            </a:r>
            <a:r>
              <a:rPr lang="en-US" altLang="zh-CN" sz="2000" dirty="0">
                <a:solidFill>
                  <a:srgbClr val="FF0000"/>
                </a:solidFill>
              </a:rPr>
              <a:t>)</a:t>
            </a:r>
            <a:endParaRPr lang="zh-CN" altLang="en-US" sz="2000" dirty="0">
              <a:solidFill>
                <a:srgbClr val="FF0000"/>
              </a:solidFill>
            </a:endParaRPr>
          </a:p>
        </p:txBody>
      </p:sp>
      <p:cxnSp>
        <p:nvCxnSpPr>
          <p:cNvPr id="39" name="直接箭头连接符 38"/>
          <p:cNvCxnSpPr>
            <a:stCxn id="11" idx="2"/>
            <a:endCxn id="29" idx="0"/>
          </p:cNvCxnSpPr>
          <p:nvPr/>
        </p:nvCxnSpPr>
        <p:spPr>
          <a:xfrm>
            <a:off x="4259450" y="4114802"/>
            <a:ext cx="3843482" cy="142491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rot="1248135">
            <a:off x="5099905" y="4724646"/>
            <a:ext cx="1492858" cy="400110"/>
          </a:xfrm>
          <a:prstGeom prst="rect">
            <a:avLst/>
          </a:prstGeom>
          <a:noFill/>
        </p:spPr>
        <p:txBody>
          <a:bodyPr wrap="square" rtlCol="0">
            <a:spAutoFit/>
          </a:bodyPr>
          <a:lstStyle/>
          <a:p>
            <a:r>
              <a:rPr lang="en-US" altLang="zh-CN" sz="2000" dirty="0">
                <a:solidFill>
                  <a:srgbClr val="FF0000"/>
                </a:solidFill>
              </a:rPr>
              <a:t>6.</a:t>
            </a:r>
            <a:r>
              <a:rPr lang="zh-CN" altLang="en-US" sz="2000" dirty="0">
                <a:solidFill>
                  <a:srgbClr val="FF0000"/>
                </a:solidFill>
              </a:rPr>
              <a:t>读取数据</a:t>
            </a:r>
            <a:endParaRPr lang="zh-CN" altLang="en-US" sz="2000" dirty="0">
              <a:solidFill>
                <a:srgbClr val="FF0000"/>
              </a:solidFill>
            </a:endParaRPr>
          </a:p>
        </p:txBody>
      </p:sp>
      <p:cxnSp>
        <p:nvCxnSpPr>
          <p:cNvPr id="44" name="直接箭头连接符 43"/>
          <p:cNvCxnSpPr>
            <a:stCxn id="6" idx="2"/>
          </p:cNvCxnSpPr>
          <p:nvPr/>
        </p:nvCxnSpPr>
        <p:spPr>
          <a:xfrm>
            <a:off x="1434771" y="2787588"/>
            <a:ext cx="1933474" cy="116430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rot="1814997">
            <a:off x="1447219" y="3269407"/>
            <a:ext cx="1492858" cy="400110"/>
          </a:xfrm>
          <a:prstGeom prst="rect">
            <a:avLst/>
          </a:prstGeom>
          <a:noFill/>
        </p:spPr>
        <p:txBody>
          <a:bodyPr wrap="square" rtlCol="0">
            <a:spAutoFit/>
          </a:bodyPr>
          <a:lstStyle/>
          <a:p>
            <a:r>
              <a:rPr lang="en-US" altLang="zh-CN" sz="2000" dirty="0">
                <a:solidFill>
                  <a:srgbClr val="FF0000"/>
                </a:solidFill>
              </a:rPr>
              <a:t>7.</a:t>
            </a:r>
            <a:r>
              <a:rPr lang="zh-CN" altLang="en-US" sz="2000" dirty="0">
                <a:solidFill>
                  <a:srgbClr val="FF0000"/>
                </a:solidFill>
              </a:rPr>
              <a:t>关闭文件</a:t>
            </a:r>
            <a:endParaRPr lang="zh-CN" altLang="en-US" sz="2000" dirty="0">
              <a:solidFill>
                <a:srgbClr val="FF0000"/>
              </a:solidFill>
            </a:endParaRPr>
          </a:p>
        </p:txBody>
      </p:sp>
      <p:sp>
        <p:nvSpPr>
          <p:cNvPr id="48" name="标题 1"/>
          <p:cNvSpPr txBox="1">
            <a:spLocks noChangeArrowheads="1"/>
          </p:cNvSpPr>
          <p:nvPr/>
        </p:nvSpPr>
        <p:spPr>
          <a:xfrm>
            <a:off x="170180" y="28575"/>
            <a:ext cx="5641340" cy="6655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r>
              <a:rPr lang="en-US" altLang="zh-CN" b="1" dirty="0"/>
              <a:t>3.6.1	</a:t>
            </a:r>
            <a:r>
              <a:rPr lang="zh-CN" altLang="en-US" b="1" dirty="0"/>
              <a:t>读数据的过程</a:t>
            </a:r>
            <a:endParaRPr lang="zh-CN" altLang="en-US" b="1" dirty="0"/>
          </a:p>
        </p:txBody>
      </p:sp>
      <p:sp>
        <p:nvSpPr>
          <p:cNvPr id="52" name="TextBox 12"/>
          <p:cNvSpPr txBox="1">
            <a:spLocks noChangeArrowheads="1"/>
          </p:cNvSpPr>
          <p:nvPr/>
        </p:nvSpPr>
        <p:spPr bwMode="auto">
          <a:xfrm>
            <a:off x="5540260" y="1756881"/>
            <a:ext cx="642112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dirty="0">
                <a:solidFill>
                  <a:srgbClr val="FF0000"/>
                </a:solidFill>
              </a:rPr>
              <a:t>2.</a:t>
            </a:r>
            <a:r>
              <a:rPr lang="zh-CN" altLang="en-US" dirty="0"/>
              <a:t>通过</a:t>
            </a:r>
            <a:r>
              <a:rPr lang="en-US" altLang="zh-CN" dirty="0" err="1"/>
              <a:t>ClientProtocal.getBlockLocations</a:t>
            </a:r>
            <a:r>
              <a:rPr lang="en-US" altLang="zh-CN" dirty="0"/>
              <a:t>()</a:t>
            </a:r>
            <a:r>
              <a:rPr lang="zh-CN" altLang="en-US" dirty="0"/>
              <a:t>远程调用名称节点，</a:t>
            </a:r>
            <a:endParaRPr lang="en-US" altLang="zh-CN" dirty="0"/>
          </a:p>
          <a:p>
            <a:r>
              <a:rPr lang="zh-CN" altLang="en-US" dirty="0"/>
              <a:t>获得文件开始部分数据块的位置对于该数据块，</a:t>
            </a:r>
            <a:endParaRPr lang="en-US" altLang="zh-CN" dirty="0"/>
          </a:p>
          <a:p>
            <a:r>
              <a:rPr lang="zh-CN" altLang="en-US" dirty="0"/>
              <a:t>名称节点返回保存该数据块的所有数据节点的地址，</a:t>
            </a:r>
            <a:endParaRPr lang="en-US" altLang="zh-CN" dirty="0"/>
          </a:p>
          <a:p>
            <a:r>
              <a:rPr lang="zh-CN" altLang="en-US" dirty="0"/>
              <a:t>并根据距离客户端远近进行排序</a:t>
            </a:r>
            <a:endParaRPr lang="zh-CN" altLang="en-US" dirty="0"/>
          </a:p>
        </p:txBody>
      </p:sp>
      <p:sp>
        <p:nvSpPr>
          <p:cNvPr id="53" name="文本框 52"/>
          <p:cNvSpPr txBox="1"/>
          <p:nvPr/>
        </p:nvSpPr>
        <p:spPr>
          <a:xfrm>
            <a:off x="50302" y="931498"/>
            <a:ext cx="3066321" cy="461665"/>
          </a:xfrm>
          <a:prstGeom prst="rect">
            <a:avLst/>
          </a:prstGeom>
          <a:noFill/>
        </p:spPr>
        <p:txBody>
          <a:bodyPr wrap="square" rtlCol="0">
            <a:spAutoFit/>
          </a:bodyPr>
          <a:lstStyle/>
          <a:p>
            <a:r>
              <a:rPr lang="en-US" altLang="zh-CN" sz="2400" dirty="0" err="1"/>
              <a:t>FileSystem.</a:t>
            </a:r>
            <a:r>
              <a:rPr lang="en-US" altLang="zh-CN" sz="2400" dirty="0" err="1">
                <a:solidFill>
                  <a:srgbClr val="0070C0"/>
                </a:solidFill>
              </a:rPr>
              <a:t>open</a:t>
            </a:r>
            <a:r>
              <a:rPr lang="en-US" altLang="zh-CN" sz="2400" dirty="0"/>
              <a:t>(file)</a:t>
            </a:r>
            <a:endParaRPr lang="zh-CN" altLang="en-US" dirty="0"/>
          </a:p>
        </p:txBody>
      </p:sp>
      <p:sp>
        <p:nvSpPr>
          <p:cNvPr id="54" name="箭头: 右 53"/>
          <p:cNvSpPr/>
          <p:nvPr/>
        </p:nvSpPr>
        <p:spPr>
          <a:xfrm>
            <a:off x="2939223" y="790649"/>
            <a:ext cx="981044" cy="7636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return</a:t>
            </a:r>
            <a:endParaRPr lang="zh-CN" altLang="en-US" dirty="0"/>
          </a:p>
        </p:txBody>
      </p:sp>
      <p:sp>
        <p:nvSpPr>
          <p:cNvPr id="56" name="文本框 55"/>
          <p:cNvSpPr txBox="1"/>
          <p:nvPr/>
        </p:nvSpPr>
        <p:spPr>
          <a:xfrm>
            <a:off x="3820090" y="938020"/>
            <a:ext cx="2769593" cy="461665"/>
          </a:xfrm>
          <a:prstGeom prst="rect">
            <a:avLst/>
          </a:prstGeom>
          <a:noFill/>
        </p:spPr>
        <p:txBody>
          <a:bodyPr wrap="square">
            <a:spAutoFit/>
          </a:bodyPr>
          <a:lstStyle/>
          <a:p>
            <a:r>
              <a:rPr lang="en-US" altLang="zh-CN" sz="2400" dirty="0" err="1"/>
              <a:t>FSDataInputStream</a:t>
            </a:r>
            <a:endParaRPr lang="en-US" altLang="zh-CN" sz="2400" dirty="0"/>
          </a:p>
        </p:txBody>
      </p:sp>
      <p:sp>
        <p:nvSpPr>
          <p:cNvPr id="58" name="文本框 57"/>
          <p:cNvSpPr txBox="1"/>
          <p:nvPr/>
        </p:nvSpPr>
        <p:spPr>
          <a:xfrm>
            <a:off x="6386792" y="948854"/>
            <a:ext cx="1609825" cy="461665"/>
          </a:xfrm>
          <a:prstGeom prst="rect">
            <a:avLst/>
          </a:prstGeom>
          <a:noFill/>
        </p:spPr>
        <p:txBody>
          <a:bodyPr wrap="square">
            <a:spAutoFit/>
          </a:bodyPr>
          <a:lstStyle/>
          <a:p>
            <a:r>
              <a:rPr lang="en-US" altLang="zh-CN" sz="2400" dirty="0"/>
              <a:t>.</a:t>
            </a:r>
            <a:r>
              <a:rPr lang="en-US" altLang="zh-CN" sz="2400" dirty="0">
                <a:solidFill>
                  <a:srgbClr val="0070C0"/>
                </a:solidFill>
              </a:rPr>
              <a:t>read</a:t>
            </a:r>
            <a:r>
              <a:rPr lang="en-US" altLang="zh-CN" sz="2400" dirty="0"/>
              <a:t>(data)</a:t>
            </a:r>
            <a:endParaRPr lang="zh-CN" altLang="en-US" sz="2400" dirty="0"/>
          </a:p>
        </p:txBody>
      </p:sp>
      <p:sp>
        <p:nvSpPr>
          <p:cNvPr id="59" name="箭头: 右 58"/>
          <p:cNvSpPr/>
          <p:nvPr/>
        </p:nvSpPr>
        <p:spPr>
          <a:xfrm>
            <a:off x="7996617" y="834264"/>
            <a:ext cx="1071750" cy="7636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return</a:t>
            </a:r>
            <a:endParaRPr lang="zh-CN" altLang="en-US" dirty="0"/>
          </a:p>
        </p:txBody>
      </p:sp>
      <p:sp>
        <p:nvSpPr>
          <p:cNvPr id="60" name="文本框 59"/>
          <p:cNvSpPr txBox="1"/>
          <p:nvPr/>
        </p:nvSpPr>
        <p:spPr>
          <a:xfrm>
            <a:off x="9068367" y="938020"/>
            <a:ext cx="2148273" cy="461665"/>
          </a:xfrm>
          <a:prstGeom prst="rect">
            <a:avLst/>
          </a:prstGeom>
          <a:noFill/>
        </p:spPr>
        <p:txBody>
          <a:bodyPr wrap="square">
            <a:spAutoFit/>
          </a:bodyPr>
          <a:lstStyle/>
          <a:p>
            <a:r>
              <a:rPr lang="en-US" altLang="zh-CN" sz="2400" dirty="0" err="1"/>
              <a:t>Nums</a:t>
            </a:r>
            <a:r>
              <a:rPr lang="en-US" altLang="zh-CN" sz="2400" dirty="0"/>
              <a:t> of bytes</a:t>
            </a:r>
            <a:endParaRPr lang="zh-CN" altLang="en-US" sz="2400" dirty="0"/>
          </a:p>
        </p:txBody>
      </p:sp>
      <p:sp>
        <p:nvSpPr>
          <p:cNvPr id="61" name="TextBox 17"/>
          <p:cNvSpPr txBox="1">
            <a:spLocks noChangeArrowheads="1"/>
          </p:cNvSpPr>
          <p:nvPr/>
        </p:nvSpPr>
        <p:spPr bwMode="auto">
          <a:xfrm>
            <a:off x="179525" y="6246524"/>
            <a:ext cx="56861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dirty="0">
                <a:solidFill>
                  <a:srgbClr val="FF0000"/>
                </a:solidFill>
              </a:rPr>
              <a:t>4.</a:t>
            </a:r>
            <a:r>
              <a:rPr lang="zh-CN" altLang="en-US" dirty="0"/>
              <a:t>数据从数据节点读到客户端，当该数据块读取完毕时</a:t>
            </a:r>
            <a:endParaRPr lang="en-US" altLang="zh-CN" dirty="0"/>
          </a:p>
          <a:p>
            <a:r>
              <a:rPr lang="en-US" altLang="zh-CN" dirty="0"/>
              <a:t> </a:t>
            </a:r>
            <a:r>
              <a:rPr lang="en-US" altLang="zh-CN" dirty="0" err="1"/>
              <a:t>FSDataInputStream</a:t>
            </a:r>
            <a:r>
              <a:rPr lang="zh-CN" altLang="en-US" dirty="0"/>
              <a:t>关闭和该数据节点的连接</a:t>
            </a:r>
            <a:endParaRPr lang="zh-CN" altLang="en-US" dirty="0"/>
          </a:p>
        </p:txBody>
      </p:sp>
      <p:sp>
        <p:nvSpPr>
          <p:cNvPr id="62" name="矩形 22"/>
          <p:cNvSpPr>
            <a:spLocks noChangeArrowheads="1"/>
          </p:cNvSpPr>
          <p:nvPr/>
        </p:nvSpPr>
        <p:spPr bwMode="auto">
          <a:xfrm>
            <a:off x="7664937" y="4430208"/>
            <a:ext cx="43652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dirty="0">
                <a:solidFill>
                  <a:srgbClr val="FF0000"/>
                </a:solidFill>
              </a:rPr>
              <a:t>5.</a:t>
            </a:r>
            <a:r>
              <a:rPr lang="zh-CN" altLang="en-US" dirty="0"/>
              <a:t>通过</a:t>
            </a:r>
            <a:r>
              <a:rPr lang="en-US" altLang="zh-CN" dirty="0" err="1"/>
              <a:t>ClientProtocal.getBlockLocations</a:t>
            </a:r>
            <a:r>
              <a:rPr lang="en-US" altLang="zh-CN" dirty="0"/>
              <a:t>()</a:t>
            </a:r>
            <a:endParaRPr lang="en-US" altLang="zh-CN" dirty="0"/>
          </a:p>
          <a:p>
            <a:r>
              <a:rPr lang="zh-CN" altLang="en-US" dirty="0"/>
              <a:t>查找下一个数据块</a:t>
            </a:r>
            <a:endParaRPr lang="en-US" altLang="zh-CN" dirty="0"/>
          </a:p>
        </p:txBody>
      </p:sp>
      <p:sp>
        <p:nvSpPr>
          <p:cNvPr id="63" name="文本框 62"/>
          <p:cNvSpPr txBox="1"/>
          <p:nvPr/>
        </p:nvSpPr>
        <p:spPr>
          <a:xfrm>
            <a:off x="6380482" y="552541"/>
            <a:ext cx="1609825" cy="461665"/>
          </a:xfrm>
          <a:prstGeom prst="rect">
            <a:avLst/>
          </a:prstGeom>
          <a:noFill/>
        </p:spPr>
        <p:txBody>
          <a:bodyPr wrap="square">
            <a:spAutoFit/>
          </a:bodyPr>
          <a:lstStyle/>
          <a:p>
            <a:r>
              <a:rPr lang="en-US" altLang="zh-CN" sz="2400" dirty="0"/>
              <a:t>.</a:t>
            </a:r>
            <a:r>
              <a:rPr lang="en-US" altLang="zh-CN" sz="2400" dirty="0">
                <a:solidFill>
                  <a:srgbClr val="0070C0"/>
                </a:solidFill>
              </a:rPr>
              <a:t>close()</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left)">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500"/>
                                        <p:tgtEl>
                                          <p:spTgt spid="3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wipe(left)">
                                      <p:cBhvr>
                                        <p:cTn id="48" dur="500"/>
                                        <p:tgtEl>
                                          <p:spTgt spid="35"/>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left)">
                                      <p:cBhvr>
                                        <p:cTn id="51" dur="500"/>
                                        <p:tgtEl>
                                          <p:spTgt spid="3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wipe(left)">
                                      <p:cBhvr>
                                        <p:cTn id="59" dur="500"/>
                                        <p:tgtEl>
                                          <p:spTgt spid="4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500"/>
                                        <p:tgtEl>
                                          <p:spTgt spid="44"/>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5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5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61"/>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62"/>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53"/>
                                        </p:tgtEl>
                                        <p:attrNameLst>
                                          <p:attrName>style.visibility</p:attrName>
                                        </p:attrNameLst>
                                      </p:cBhvr>
                                      <p:to>
                                        <p:strVal val="visible"/>
                                      </p:to>
                                    </p:set>
                                    <p:animEffect transition="in" filter="wipe(left)">
                                      <p:cBhvr>
                                        <p:cTn id="84" dur="500"/>
                                        <p:tgtEl>
                                          <p:spTgt spid="53"/>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54"/>
                                        </p:tgtEl>
                                        <p:attrNameLst>
                                          <p:attrName>style.visibility</p:attrName>
                                        </p:attrNameLst>
                                      </p:cBhvr>
                                      <p:to>
                                        <p:strVal val="visible"/>
                                      </p:to>
                                    </p:set>
                                    <p:animEffect transition="in" filter="wipe(left)">
                                      <p:cBhvr>
                                        <p:cTn id="88" dur="500"/>
                                        <p:tgtEl>
                                          <p:spTgt spid="54"/>
                                        </p:tgtEl>
                                      </p:cBhvr>
                                    </p:animEffect>
                                  </p:childTnLst>
                                </p:cTn>
                              </p:par>
                            </p:childTnLst>
                          </p:cTn>
                        </p:par>
                        <p:par>
                          <p:cTn id="89" fill="hold">
                            <p:stCondLst>
                              <p:cond delay="1000"/>
                            </p:stCondLst>
                            <p:childTnLst>
                              <p:par>
                                <p:cTn id="90" presetID="22" presetClass="entr" presetSubtype="8" fill="hold" grpId="0" nodeType="after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wipe(left)">
                                      <p:cBhvr>
                                        <p:cTn id="92" dur="500"/>
                                        <p:tgtEl>
                                          <p:spTgt spid="5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58"/>
                                        </p:tgtEl>
                                        <p:attrNameLst>
                                          <p:attrName>style.visibility</p:attrName>
                                        </p:attrNameLst>
                                      </p:cBhvr>
                                      <p:to>
                                        <p:strVal val="visible"/>
                                      </p:to>
                                    </p:set>
                                    <p:animEffect transition="in" filter="wipe(left)">
                                      <p:cBhvr>
                                        <p:cTn id="97" dur="500"/>
                                        <p:tgtEl>
                                          <p:spTgt spid="58"/>
                                        </p:tgtEl>
                                      </p:cBhvr>
                                    </p:animEffect>
                                  </p:childTnLst>
                                </p:cTn>
                              </p:par>
                            </p:childTnLst>
                          </p:cTn>
                        </p:par>
                        <p:par>
                          <p:cTn id="98" fill="hold">
                            <p:stCondLst>
                              <p:cond delay="500"/>
                            </p:stCondLst>
                            <p:childTnLst>
                              <p:par>
                                <p:cTn id="99" presetID="22" presetClass="entr" presetSubtype="8" fill="hold" grpId="0" nodeType="after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wipe(left)">
                                      <p:cBhvr>
                                        <p:cTn id="101" dur="500"/>
                                        <p:tgtEl>
                                          <p:spTgt spid="59"/>
                                        </p:tgtEl>
                                      </p:cBhvr>
                                    </p:animEffect>
                                  </p:childTnLst>
                                </p:cTn>
                              </p:par>
                            </p:childTnLst>
                          </p:cTn>
                        </p:par>
                        <p:par>
                          <p:cTn id="102" fill="hold">
                            <p:stCondLst>
                              <p:cond delay="1000"/>
                            </p:stCondLst>
                            <p:childTnLst>
                              <p:par>
                                <p:cTn id="103" presetID="22" presetClass="entr" presetSubtype="8" fill="hold" grpId="0" nodeType="afterEffect">
                                  <p:stCondLst>
                                    <p:cond delay="0"/>
                                  </p:stCondLst>
                                  <p:childTnLst>
                                    <p:set>
                                      <p:cBhvr>
                                        <p:cTn id="104" dur="1" fill="hold">
                                          <p:stCondLst>
                                            <p:cond delay="0"/>
                                          </p:stCondLst>
                                        </p:cTn>
                                        <p:tgtEl>
                                          <p:spTgt spid="60"/>
                                        </p:tgtEl>
                                        <p:attrNameLst>
                                          <p:attrName>style.visibility</p:attrName>
                                        </p:attrNameLst>
                                      </p:cBhvr>
                                      <p:to>
                                        <p:strVal val="visible"/>
                                      </p:to>
                                    </p:set>
                                    <p:animEffect transition="in" filter="wipe(left)">
                                      <p:cBhvr>
                                        <p:cTn id="105" dur="500"/>
                                        <p:tgtEl>
                                          <p:spTgt spid="60"/>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63"/>
                                        </p:tgtEl>
                                        <p:attrNameLst>
                                          <p:attrName>style.visibility</p:attrName>
                                        </p:attrNameLst>
                                      </p:cBhvr>
                                      <p:to>
                                        <p:strVal val="visible"/>
                                      </p:to>
                                    </p:set>
                                    <p:animEffect transition="in" filter="wipe(left)">
                                      <p:cBhvr>
                                        <p:cTn id="11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10" grpId="0"/>
      <p:bldP spid="10" grpId="1"/>
      <p:bldP spid="11" grpId="0" bldLvl="0" animBg="1"/>
      <p:bldP spid="11" grpId="1" animBg="1"/>
      <p:bldP spid="12" grpId="0"/>
      <p:bldP spid="12" grpId="1"/>
      <p:bldP spid="22" grpId="0"/>
      <p:bldP spid="22" grpId="1"/>
      <p:bldP spid="32" grpId="0"/>
      <p:bldP spid="32" grpId="1"/>
      <p:bldP spid="36" grpId="0"/>
      <p:bldP spid="36" grpId="1"/>
      <p:bldP spid="40" grpId="0"/>
      <p:bldP spid="40" grpId="1"/>
      <p:bldP spid="45" grpId="0"/>
      <p:bldP spid="45" grpId="1"/>
      <p:bldP spid="52" grpId="0"/>
      <p:bldP spid="53" grpId="0"/>
      <p:bldP spid="54" grpId="0" animBg="1"/>
      <p:bldP spid="56" grpId="0"/>
      <p:bldP spid="58" grpId="0"/>
      <p:bldP spid="59" grpId="0" animBg="1"/>
      <p:bldP spid="60" grpId="0"/>
      <p:bldP spid="61" grpId="0"/>
      <p:bldP spid="62" grpId="0"/>
      <p:bldP spid="63"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2" name="矩形 5"/>
          <p:cNvSpPr>
            <a:spLocks noChangeArrowheads="1"/>
          </p:cNvSpPr>
          <p:nvPr/>
        </p:nvSpPr>
        <p:spPr bwMode="auto">
          <a:xfrm>
            <a:off x="504190" y="305435"/>
            <a:ext cx="11558270" cy="624713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hr-HR" altLang="zh-CN" sz="1600" dirty="0">
                <a:solidFill>
                  <a:schemeClr val="bg1"/>
                </a:solidFill>
                <a:latin typeface="Courier" pitchFamily="49" charset="0"/>
              </a:rPr>
              <a:t>import java.io.BufferedReader;</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import java.io.InputStreamReader; </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import org.apache.hadoop.conf.Configuration;</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import org.apache.hadoop.fs.FileSystem;</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import org.apache.hadoop.fs.Path;</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import org.apache.hadoop.fs.FSDataInputStream;</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public class Chapter3 {</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public static void main(String[] args) {</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try {</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Configuration conf = new Configuration();</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conf.set("fs.defaultFS","hdfs://localhost:9000"); </a:t>
            </a:r>
            <a:endParaRPr lang="en-US" altLang="zh-CN" sz="1600" dirty="0">
              <a:solidFill>
                <a:schemeClr val="bg1"/>
              </a:solidFill>
              <a:latin typeface="Courier" pitchFamily="49" charset="0"/>
            </a:endParaRPr>
          </a:p>
          <a:p>
            <a:r>
              <a:rPr lang="en-US" altLang="hr-HR" sz="1600" dirty="0">
                <a:solidFill>
                  <a:schemeClr val="bg1"/>
                </a:solidFill>
                <a:latin typeface="Courier" pitchFamily="49" charset="0"/>
              </a:rPr>
              <a:t>                     </a:t>
            </a:r>
            <a:r>
              <a:rPr lang="hr-HR" altLang="zh-CN" sz="1600" dirty="0">
                <a:solidFill>
                  <a:schemeClr val="bg1"/>
                </a:solidFill>
                <a:latin typeface="Courier" pitchFamily="49" charset="0"/>
              </a:rPr>
              <a:t>conf.set("fs.hdfs.impl","org.apache.hadoop.hdfs.DistributedFileSystem");</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FileSystem fs = FileSystem.get(conf);</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Path file = new Path("test"); </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FSDataInputStream getIt = fs.open(file);</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BufferedReader d = new BufferedReader(new InputStreamReader(getIt));</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String content = d.readLine(); //</a:t>
            </a:r>
            <a:r>
              <a:rPr lang="zh-CN" altLang="en-US" sz="1600" dirty="0">
                <a:solidFill>
                  <a:schemeClr val="bg1"/>
                </a:solidFill>
                <a:latin typeface="Courier" pitchFamily="49" charset="0"/>
              </a:rPr>
              <a:t>读取文件一行</a:t>
            </a:r>
            <a:endParaRPr lang="zh-CN" altLang="en-US" sz="1600" dirty="0">
              <a:solidFill>
                <a:schemeClr val="bg1"/>
              </a:solidFill>
              <a:latin typeface="Courier" pitchFamily="49" charset="0"/>
            </a:endParaRPr>
          </a:p>
          <a:p>
            <a:r>
              <a:rPr lang="zh-CN" altLang="en-US" sz="1600" dirty="0">
                <a:solidFill>
                  <a:schemeClr val="bg1"/>
                </a:solidFill>
                <a:latin typeface="Courier" pitchFamily="49" charset="0"/>
              </a:rPr>
              <a:t>                        </a:t>
            </a:r>
            <a:r>
              <a:rPr lang="hr-HR" altLang="zh-CN" sz="1600" dirty="0">
                <a:solidFill>
                  <a:schemeClr val="bg1"/>
                </a:solidFill>
                <a:latin typeface="Courier" pitchFamily="49" charset="0"/>
              </a:rPr>
              <a:t>System.out.println(content);</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d.close(); //</a:t>
            </a:r>
            <a:r>
              <a:rPr lang="zh-CN" altLang="en-US" sz="1600" dirty="0">
                <a:solidFill>
                  <a:schemeClr val="bg1"/>
                </a:solidFill>
                <a:latin typeface="Courier" pitchFamily="49" charset="0"/>
              </a:rPr>
              <a:t>关闭文件</a:t>
            </a:r>
            <a:endParaRPr lang="zh-CN" altLang="en-US" sz="1600" dirty="0">
              <a:solidFill>
                <a:schemeClr val="bg1"/>
              </a:solidFill>
              <a:latin typeface="Courier" pitchFamily="49" charset="0"/>
            </a:endParaRPr>
          </a:p>
          <a:p>
            <a:r>
              <a:rPr lang="zh-CN" altLang="en-US" sz="1600" dirty="0">
                <a:solidFill>
                  <a:schemeClr val="bg1"/>
                </a:solidFill>
                <a:latin typeface="Courier" pitchFamily="49" charset="0"/>
              </a:rPr>
              <a:t>                        </a:t>
            </a:r>
            <a:r>
              <a:rPr lang="hr-HR" altLang="zh-CN" sz="1600" dirty="0">
                <a:solidFill>
                  <a:schemeClr val="bg1"/>
                </a:solidFill>
                <a:latin typeface="Courier" pitchFamily="49" charset="0"/>
              </a:rPr>
              <a:t>fs.close(); //</a:t>
            </a:r>
            <a:r>
              <a:rPr lang="zh-CN" altLang="en-US" sz="1600" dirty="0">
                <a:solidFill>
                  <a:schemeClr val="bg1"/>
                </a:solidFill>
                <a:latin typeface="Courier" pitchFamily="49" charset="0"/>
              </a:rPr>
              <a:t>关闭</a:t>
            </a:r>
            <a:r>
              <a:rPr lang="hr-HR" altLang="zh-CN" sz="1600" dirty="0">
                <a:solidFill>
                  <a:schemeClr val="bg1"/>
                </a:solidFill>
                <a:latin typeface="Courier" pitchFamily="49" charset="0"/>
              </a:rPr>
              <a:t>hdfs</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 catch (Exception e) {</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e.printStackTrace();</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a:t>
            </a:r>
            <a:endParaRPr lang="hr-HR" altLang="zh-CN" sz="1600" dirty="0">
              <a:solidFill>
                <a:schemeClr val="bg1"/>
              </a:solidFill>
              <a:latin typeface="Courier" pitchFamily="49" charset="0"/>
            </a:endParaRPr>
          </a:p>
          <a:p>
            <a:r>
              <a:rPr lang="hr-HR" altLang="zh-CN" sz="1600" dirty="0">
                <a:solidFill>
                  <a:schemeClr val="bg1"/>
                </a:solidFill>
                <a:latin typeface="Courier" pitchFamily="49" charset="0"/>
              </a:rPr>
              <a:t>        }</a:t>
            </a:r>
            <a:endParaRPr lang="hr-HR" altLang="zh-CN" sz="1600" dirty="0">
              <a:solidFill>
                <a:schemeClr val="bg1"/>
              </a:solidFill>
              <a:latin typeface="Courier" pitchFamily="49" charset="0"/>
            </a:endParaRPr>
          </a:p>
          <a:p>
            <a:r>
              <a:rPr lang="is-IS" altLang="zh-CN" sz="1600" dirty="0">
                <a:solidFill>
                  <a:schemeClr val="bg1"/>
                </a:solidFill>
                <a:latin typeface="Courier" pitchFamily="49" charset="0"/>
              </a:rPr>
              <a:t>}</a:t>
            </a:r>
            <a:endParaRPr lang="zh-CN" altLang="en-US" sz="1600" dirty="0">
              <a:solidFill>
                <a:schemeClr val="bg1"/>
              </a:solidFill>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矩形 4"/>
          <p:cNvSpPr/>
          <p:nvPr/>
        </p:nvSpPr>
        <p:spPr>
          <a:xfrm>
            <a:off x="686435" y="1746568"/>
            <a:ext cx="4622799" cy="2574921"/>
          </a:xfrm>
          <a:prstGeom prst="rect">
            <a:avLst/>
          </a:prstGeom>
          <a:noFill/>
          <a:ln w="28575"/>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custDataLst>
              <p:tags r:id="rId1"/>
            </p:custDataLst>
          </p:nvPr>
        </p:nvSpPr>
        <p:spPr>
          <a:xfrm>
            <a:off x="813435" y="1902779"/>
            <a:ext cx="1242671" cy="884809"/>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400" dirty="0">
                <a:solidFill>
                  <a:schemeClr val="bg1">
                    <a:lumMod val="65000"/>
                  </a:schemeClr>
                </a:solidFill>
              </a:rPr>
              <a:t>H</a:t>
            </a:r>
            <a:r>
              <a:rPr lang="en-US" altLang="zh-CN" sz="2400" dirty="0">
                <a:solidFill>
                  <a:schemeClr val="tx1"/>
                </a:solidFill>
              </a:rPr>
              <a:t>D</a:t>
            </a:r>
            <a:r>
              <a:rPr lang="en-US" altLang="zh-CN" sz="2400" dirty="0"/>
              <a:t>FS</a:t>
            </a:r>
            <a:endParaRPr lang="en-US" altLang="zh-CN" sz="2400" dirty="0"/>
          </a:p>
          <a:p>
            <a:pPr algn="ctr"/>
            <a:r>
              <a:rPr lang="zh-CN" altLang="en-US" sz="2400" dirty="0"/>
              <a:t>客户端</a:t>
            </a:r>
            <a:endParaRPr lang="zh-CN" altLang="en-US" sz="2400" dirty="0"/>
          </a:p>
        </p:txBody>
      </p:sp>
      <p:sp>
        <p:nvSpPr>
          <p:cNvPr id="7" name="文本框 6"/>
          <p:cNvSpPr txBox="1"/>
          <p:nvPr/>
        </p:nvSpPr>
        <p:spPr>
          <a:xfrm>
            <a:off x="626173" y="3500093"/>
            <a:ext cx="1782409" cy="830997"/>
          </a:xfrm>
          <a:prstGeom prst="rect">
            <a:avLst/>
          </a:prstGeom>
          <a:noFill/>
        </p:spPr>
        <p:txBody>
          <a:bodyPr wrap="square" rtlCol="0">
            <a:spAutoFit/>
          </a:bodyPr>
          <a:lstStyle/>
          <a:p>
            <a:pPr algn="ctr"/>
            <a:r>
              <a:rPr lang="zh-CN" altLang="en-US" sz="2400" dirty="0"/>
              <a:t>客户端</a:t>
            </a:r>
            <a:endParaRPr lang="en-US" altLang="zh-CN" sz="2400" dirty="0"/>
          </a:p>
          <a:p>
            <a:pPr algn="ctr"/>
            <a:r>
              <a:rPr lang="en-US" altLang="zh-CN" sz="2400" dirty="0"/>
              <a:t>Java</a:t>
            </a:r>
            <a:r>
              <a:rPr lang="zh-CN" altLang="en-US" sz="2400" dirty="0"/>
              <a:t>虚拟机</a:t>
            </a:r>
            <a:endParaRPr lang="en-US" altLang="zh-CN" sz="2400" dirty="0"/>
          </a:p>
        </p:txBody>
      </p:sp>
      <p:sp>
        <p:nvSpPr>
          <p:cNvPr id="8" name="矩形 7"/>
          <p:cNvSpPr/>
          <p:nvPr/>
        </p:nvSpPr>
        <p:spPr>
          <a:xfrm>
            <a:off x="3387352" y="1902779"/>
            <a:ext cx="1744197" cy="884809"/>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solidFill>
                  <a:schemeClr val="bg1">
                    <a:lumMod val="85000"/>
                  </a:schemeClr>
                </a:solidFill>
              </a:rPr>
              <a:t>Distributed</a:t>
            </a:r>
            <a:endParaRPr lang="en-US" sz="2400" b="1" dirty="0">
              <a:solidFill>
                <a:schemeClr val="bg1">
                  <a:lumMod val="85000"/>
                </a:schemeClr>
              </a:solidFill>
            </a:endParaRPr>
          </a:p>
          <a:p>
            <a:pPr algn="ctr"/>
            <a:r>
              <a:rPr lang="en-US" sz="2400" b="1" dirty="0" err="1">
                <a:solidFill>
                  <a:srgbClr val="00B050"/>
                </a:solidFill>
              </a:rPr>
              <a:t>FileSystem</a:t>
            </a:r>
            <a:endParaRPr lang="en-US" sz="2400" b="1" dirty="0">
              <a:solidFill>
                <a:srgbClr val="00B050"/>
              </a:solidFill>
            </a:endParaRPr>
          </a:p>
        </p:txBody>
      </p:sp>
      <p:cxnSp>
        <p:nvCxnSpPr>
          <p:cNvPr id="9" name="直接箭头连接符 8"/>
          <p:cNvCxnSpPr>
            <a:stCxn id="6" idx="3"/>
            <a:endCxn id="8" idx="1"/>
          </p:cNvCxnSpPr>
          <p:nvPr/>
        </p:nvCxnSpPr>
        <p:spPr>
          <a:xfrm>
            <a:off x="2056106" y="2345184"/>
            <a:ext cx="1331246"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042768" y="1677638"/>
            <a:ext cx="1166899" cy="707886"/>
          </a:xfrm>
          <a:prstGeom prst="rect">
            <a:avLst/>
          </a:prstGeom>
          <a:noFill/>
        </p:spPr>
        <p:txBody>
          <a:bodyPr wrap="square" rtlCol="0">
            <a:spAutoFit/>
          </a:bodyPr>
          <a:lstStyle/>
          <a:p>
            <a:r>
              <a:rPr lang="en-US" altLang="zh-CN" sz="2000" dirty="0">
                <a:solidFill>
                  <a:srgbClr val="FF0000"/>
                </a:solidFill>
              </a:rPr>
              <a:t>1.</a:t>
            </a:r>
            <a:r>
              <a:rPr lang="zh-CN" altLang="en-US" sz="2000" dirty="0">
                <a:solidFill>
                  <a:srgbClr val="FF0000"/>
                </a:solidFill>
              </a:rPr>
              <a:t>创建文</a:t>
            </a:r>
            <a:endParaRPr lang="en-US" altLang="zh-CN" sz="2000" dirty="0">
              <a:solidFill>
                <a:srgbClr val="FF0000"/>
              </a:solidFill>
            </a:endParaRPr>
          </a:p>
          <a:p>
            <a:r>
              <a:rPr lang="zh-CN" altLang="en-US" sz="2000" dirty="0">
                <a:solidFill>
                  <a:srgbClr val="FF0000"/>
                </a:solidFill>
              </a:rPr>
              <a:t>件请求</a:t>
            </a:r>
            <a:endParaRPr lang="zh-CN" altLang="en-US" sz="2000" dirty="0">
              <a:solidFill>
                <a:srgbClr val="FF0000"/>
              </a:solidFill>
            </a:endParaRPr>
          </a:p>
        </p:txBody>
      </p:sp>
      <p:sp>
        <p:nvSpPr>
          <p:cNvPr id="11" name="矩形 10"/>
          <p:cNvSpPr/>
          <p:nvPr>
            <p:custDataLst>
              <p:tags r:id="rId2"/>
            </p:custDataLst>
          </p:nvPr>
        </p:nvSpPr>
        <p:spPr>
          <a:xfrm>
            <a:off x="3368245" y="3229993"/>
            <a:ext cx="1782409" cy="884809"/>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err="1">
                <a:solidFill>
                  <a:srgbClr val="00B050"/>
                </a:solidFill>
              </a:rPr>
              <a:t>FSData</a:t>
            </a:r>
            <a:r>
              <a:rPr lang="en-US" altLang="zh-CN" sz="2400" b="1" dirty="0" err="1">
                <a:solidFill>
                  <a:srgbClr val="00B050"/>
                </a:solidFill>
              </a:rPr>
              <a:t>Ou</a:t>
            </a:r>
            <a:r>
              <a:rPr lang="en-US" sz="2400" b="1" dirty="0" err="1">
                <a:solidFill>
                  <a:srgbClr val="00B050"/>
                </a:solidFill>
              </a:rPr>
              <a:t>putStream</a:t>
            </a:r>
            <a:endParaRPr lang="en-US" sz="2400" b="1" dirty="0">
              <a:solidFill>
                <a:srgbClr val="00B050"/>
              </a:solidFill>
            </a:endParaRPr>
          </a:p>
        </p:txBody>
      </p:sp>
      <p:sp>
        <p:nvSpPr>
          <p:cNvPr id="2" name="矩形 1"/>
          <p:cNvSpPr/>
          <p:nvPr>
            <p:custDataLst>
              <p:tags r:id="rId3"/>
            </p:custDataLst>
          </p:nvPr>
        </p:nvSpPr>
        <p:spPr>
          <a:xfrm>
            <a:off x="7975804" y="3330702"/>
            <a:ext cx="1550033" cy="784100"/>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dirty="0"/>
              <a:t>名称节点</a:t>
            </a:r>
            <a:endParaRPr lang="zh-CN" altLang="en-US" sz="2400" dirty="0"/>
          </a:p>
        </p:txBody>
      </p:sp>
      <p:cxnSp>
        <p:nvCxnSpPr>
          <p:cNvPr id="3" name="直接箭头连接符 2"/>
          <p:cNvCxnSpPr/>
          <p:nvPr/>
        </p:nvCxnSpPr>
        <p:spPr>
          <a:xfrm>
            <a:off x="5193544" y="3508216"/>
            <a:ext cx="278226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495589" y="3058132"/>
            <a:ext cx="2178170" cy="400110"/>
          </a:xfrm>
          <a:prstGeom prst="rect">
            <a:avLst/>
          </a:prstGeom>
          <a:noFill/>
        </p:spPr>
        <p:txBody>
          <a:bodyPr wrap="square" rtlCol="0">
            <a:spAutoFit/>
          </a:bodyPr>
          <a:lstStyle/>
          <a:p>
            <a:r>
              <a:rPr lang="en-US" altLang="zh-CN" sz="2000" dirty="0">
                <a:solidFill>
                  <a:srgbClr val="FF0000"/>
                </a:solidFill>
              </a:rPr>
              <a:t>2.</a:t>
            </a:r>
            <a:r>
              <a:rPr lang="zh-CN" altLang="en-US" sz="2000" dirty="0">
                <a:solidFill>
                  <a:srgbClr val="FF0000"/>
                </a:solidFill>
              </a:rPr>
              <a:t>创建文件元数据</a:t>
            </a:r>
            <a:endParaRPr lang="zh-CN" altLang="en-US" sz="2000" dirty="0">
              <a:solidFill>
                <a:srgbClr val="FF0000"/>
              </a:solidFill>
            </a:endParaRPr>
          </a:p>
        </p:txBody>
      </p:sp>
      <p:cxnSp>
        <p:nvCxnSpPr>
          <p:cNvPr id="21" name="直接箭头连接符 20"/>
          <p:cNvCxnSpPr/>
          <p:nvPr/>
        </p:nvCxnSpPr>
        <p:spPr>
          <a:xfrm>
            <a:off x="2056106" y="2760669"/>
            <a:ext cx="1269249" cy="73942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rot="1810307">
            <a:off x="2044680" y="2761185"/>
            <a:ext cx="1456108" cy="400110"/>
          </a:xfrm>
          <a:prstGeom prst="rect">
            <a:avLst/>
          </a:prstGeom>
          <a:noFill/>
        </p:spPr>
        <p:txBody>
          <a:bodyPr wrap="square" rtlCol="0">
            <a:spAutoFit/>
          </a:bodyPr>
          <a:lstStyle/>
          <a:p>
            <a:r>
              <a:rPr lang="en-US" altLang="zh-CN" sz="2000" dirty="0">
                <a:solidFill>
                  <a:srgbClr val="FF0000"/>
                </a:solidFill>
              </a:rPr>
              <a:t>3.</a:t>
            </a:r>
            <a:r>
              <a:rPr lang="zh-CN" altLang="en-US" sz="2000" dirty="0">
                <a:solidFill>
                  <a:srgbClr val="FF0000"/>
                </a:solidFill>
              </a:rPr>
              <a:t>写入数据</a:t>
            </a:r>
            <a:endParaRPr lang="zh-CN" altLang="en-US" sz="2000" dirty="0">
              <a:solidFill>
                <a:srgbClr val="FF0000"/>
              </a:solidFill>
            </a:endParaRPr>
          </a:p>
        </p:txBody>
      </p:sp>
      <p:sp>
        <p:nvSpPr>
          <p:cNvPr id="28" name="矩形 27"/>
          <p:cNvSpPr/>
          <p:nvPr>
            <p:custDataLst>
              <p:tags r:id="rId4"/>
            </p:custDataLst>
          </p:nvPr>
        </p:nvSpPr>
        <p:spPr>
          <a:xfrm>
            <a:off x="1997041" y="5539714"/>
            <a:ext cx="1782409" cy="657225"/>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dirty="0"/>
              <a:t>数据节点</a:t>
            </a:r>
            <a:r>
              <a:rPr lang="en-US" altLang="zh-CN" sz="2400" dirty="0"/>
              <a:t>1</a:t>
            </a:r>
            <a:endParaRPr lang="zh-CN" altLang="en-US" sz="2400" dirty="0"/>
          </a:p>
        </p:txBody>
      </p:sp>
      <p:sp>
        <p:nvSpPr>
          <p:cNvPr id="29" name="矩形 28"/>
          <p:cNvSpPr/>
          <p:nvPr>
            <p:custDataLst>
              <p:tags r:id="rId5"/>
            </p:custDataLst>
          </p:nvPr>
        </p:nvSpPr>
        <p:spPr>
          <a:xfrm>
            <a:off x="7211727" y="5539714"/>
            <a:ext cx="1782409" cy="657225"/>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dirty="0"/>
              <a:t>数据节点</a:t>
            </a:r>
            <a:r>
              <a:rPr lang="en-US" altLang="zh-CN" sz="2400" dirty="0"/>
              <a:t>3</a:t>
            </a:r>
            <a:endParaRPr lang="zh-CN" altLang="en-US" sz="2400" dirty="0"/>
          </a:p>
        </p:txBody>
      </p:sp>
      <p:sp>
        <p:nvSpPr>
          <p:cNvPr id="30" name="矩形 29"/>
          <p:cNvSpPr/>
          <p:nvPr>
            <p:custDataLst>
              <p:tags r:id="rId6"/>
            </p:custDataLst>
          </p:nvPr>
        </p:nvSpPr>
        <p:spPr>
          <a:xfrm>
            <a:off x="4604384" y="5527914"/>
            <a:ext cx="1782409" cy="657225"/>
          </a:xfrm>
          <a:prstGeom prst="rect">
            <a:avLst/>
          </a:prstGeom>
          <a:extLst>
            <a:ext uri="{909E8E84-426E-40DD-AFC4-6F175D3DCCD1}">
              <a14:hiddenFill xmlns:a14="http://schemas.microsoft.com/office/drawing/2010/main">
                <a:solidFill>
                  <a:schemeClr val="accent1"/>
                </a:solidFill>
              </a14:hiddenFill>
            </a:ext>
          </a:extLst>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dirty="0"/>
              <a:t>数据节点</a:t>
            </a:r>
            <a:r>
              <a:rPr lang="en-US" altLang="zh-CN" sz="2400" dirty="0"/>
              <a:t>2</a:t>
            </a:r>
            <a:endParaRPr lang="zh-CN" altLang="en-US" sz="2400" dirty="0"/>
          </a:p>
        </p:txBody>
      </p:sp>
      <p:cxnSp>
        <p:nvCxnSpPr>
          <p:cNvPr id="31" name="直接箭头连接符 30"/>
          <p:cNvCxnSpPr/>
          <p:nvPr/>
        </p:nvCxnSpPr>
        <p:spPr>
          <a:xfrm flipH="1">
            <a:off x="2226342" y="4114802"/>
            <a:ext cx="1371204" cy="142491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rot="18705646">
            <a:off x="1664515" y="4720050"/>
            <a:ext cx="1652106" cy="400110"/>
          </a:xfrm>
          <a:prstGeom prst="rect">
            <a:avLst/>
          </a:prstGeom>
          <a:noFill/>
        </p:spPr>
        <p:txBody>
          <a:bodyPr wrap="square" rtlCol="0">
            <a:spAutoFit/>
          </a:bodyPr>
          <a:lstStyle/>
          <a:p>
            <a:r>
              <a:rPr lang="en-US" altLang="zh-CN" sz="2000" dirty="0">
                <a:solidFill>
                  <a:srgbClr val="FF0000"/>
                </a:solidFill>
              </a:rPr>
              <a:t>4.</a:t>
            </a:r>
            <a:r>
              <a:rPr lang="zh-CN" altLang="en-US" sz="2000" dirty="0">
                <a:solidFill>
                  <a:srgbClr val="FF0000"/>
                </a:solidFill>
              </a:rPr>
              <a:t>写入数据包</a:t>
            </a:r>
            <a:endParaRPr lang="zh-CN" altLang="en-US" sz="2000" dirty="0">
              <a:solidFill>
                <a:srgbClr val="FF0000"/>
              </a:solidFill>
            </a:endParaRPr>
          </a:p>
        </p:txBody>
      </p:sp>
      <p:cxnSp>
        <p:nvCxnSpPr>
          <p:cNvPr id="35" name="直接箭头连接符 34"/>
          <p:cNvCxnSpPr/>
          <p:nvPr/>
        </p:nvCxnSpPr>
        <p:spPr>
          <a:xfrm>
            <a:off x="5193544" y="3867824"/>
            <a:ext cx="278226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5309234" y="3938373"/>
            <a:ext cx="2687384" cy="400110"/>
          </a:xfrm>
          <a:prstGeom prst="rect">
            <a:avLst/>
          </a:prstGeom>
          <a:noFill/>
        </p:spPr>
        <p:txBody>
          <a:bodyPr wrap="square" rtlCol="0">
            <a:spAutoFit/>
          </a:bodyPr>
          <a:lstStyle/>
          <a:p>
            <a:pPr algn="ctr"/>
            <a:r>
              <a:rPr lang="en-US" altLang="zh-CN" sz="2000" dirty="0">
                <a:solidFill>
                  <a:srgbClr val="FF0000"/>
                </a:solidFill>
              </a:rPr>
              <a:t>7.</a:t>
            </a:r>
            <a:r>
              <a:rPr lang="zh-CN" altLang="en-US" sz="2000" dirty="0">
                <a:solidFill>
                  <a:srgbClr val="FF0000"/>
                </a:solidFill>
              </a:rPr>
              <a:t>写操作完成</a:t>
            </a:r>
            <a:endParaRPr lang="zh-CN" altLang="en-US" sz="2000" dirty="0">
              <a:solidFill>
                <a:srgbClr val="FF0000"/>
              </a:solidFill>
            </a:endParaRPr>
          </a:p>
        </p:txBody>
      </p:sp>
      <p:cxnSp>
        <p:nvCxnSpPr>
          <p:cNvPr id="39" name="直接箭头连接符 38"/>
          <p:cNvCxnSpPr/>
          <p:nvPr/>
        </p:nvCxnSpPr>
        <p:spPr>
          <a:xfrm>
            <a:off x="3779450" y="5692090"/>
            <a:ext cx="858069" cy="1053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4054618" y="5310679"/>
            <a:ext cx="382390" cy="400110"/>
          </a:xfrm>
          <a:prstGeom prst="rect">
            <a:avLst/>
          </a:prstGeom>
          <a:noFill/>
        </p:spPr>
        <p:txBody>
          <a:bodyPr wrap="square" rtlCol="0">
            <a:spAutoFit/>
          </a:bodyPr>
          <a:lstStyle/>
          <a:p>
            <a:r>
              <a:rPr lang="en-US" altLang="zh-CN" sz="2000" dirty="0">
                <a:solidFill>
                  <a:srgbClr val="FF0000"/>
                </a:solidFill>
              </a:rPr>
              <a:t>4</a:t>
            </a:r>
            <a:endParaRPr lang="zh-CN" altLang="en-US" sz="2000" dirty="0">
              <a:solidFill>
                <a:srgbClr val="FF0000"/>
              </a:solidFill>
            </a:endParaRPr>
          </a:p>
        </p:txBody>
      </p:sp>
      <p:cxnSp>
        <p:nvCxnSpPr>
          <p:cNvPr id="44" name="直接箭头连接符 43"/>
          <p:cNvCxnSpPr>
            <a:stCxn id="6" idx="2"/>
          </p:cNvCxnSpPr>
          <p:nvPr/>
        </p:nvCxnSpPr>
        <p:spPr>
          <a:xfrm>
            <a:off x="1434771" y="2787588"/>
            <a:ext cx="1933474" cy="116430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rot="1814997">
            <a:off x="1278255" y="3310890"/>
            <a:ext cx="1934210" cy="398780"/>
          </a:xfrm>
          <a:prstGeom prst="rect">
            <a:avLst/>
          </a:prstGeom>
          <a:noFill/>
        </p:spPr>
        <p:txBody>
          <a:bodyPr wrap="square" rtlCol="0">
            <a:spAutoFit/>
          </a:bodyPr>
          <a:lstStyle/>
          <a:p>
            <a:r>
              <a:rPr lang="en-US" altLang="zh-CN" sz="2000" dirty="0">
                <a:solidFill>
                  <a:srgbClr val="FF0000"/>
                </a:solidFill>
              </a:rPr>
              <a:t>6.</a:t>
            </a:r>
            <a:r>
              <a:rPr lang="zh-CN" altLang="en-US" sz="2000" dirty="0">
                <a:solidFill>
                  <a:srgbClr val="FF0000"/>
                </a:solidFill>
              </a:rPr>
              <a:t>关闭文件请求</a:t>
            </a:r>
            <a:endParaRPr lang="zh-CN" altLang="en-US" sz="2000" dirty="0">
              <a:solidFill>
                <a:srgbClr val="FF0000"/>
              </a:solidFill>
            </a:endParaRPr>
          </a:p>
        </p:txBody>
      </p:sp>
      <p:sp>
        <p:nvSpPr>
          <p:cNvPr id="48" name="标题 1"/>
          <p:cNvSpPr txBox="1">
            <a:spLocks noChangeArrowheads="1"/>
          </p:cNvSpPr>
          <p:nvPr/>
        </p:nvSpPr>
        <p:spPr>
          <a:xfrm>
            <a:off x="170180" y="28575"/>
            <a:ext cx="5641340" cy="6655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r>
              <a:rPr lang="en-US" altLang="zh-CN" b="1" dirty="0"/>
              <a:t>3.6.2	</a:t>
            </a:r>
            <a:r>
              <a:rPr lang="zh-CN" altLang="en-US" b="1" dirty="0"/>
              <a:t>写数据的过程</a:t>
            </a:r>
            <a:endParaRPr lang="zh-CN" altLang="en-US" b="1" dirty="0"/>
          </a:p>
        </p:txBody>
      </p:sp>
      <p:cxnSp>
        <p:nvCxnSpPr>
          <p:cNvPr id="15" name="直接箭头连接符 14"/>
          <p:cNvCxnSpPr>
            <a:stCxn id="28" idx="0"/>
            <a:endCxn id="11" idx="2"/>
          </p:cNvCxnSpPr>
          <p:nvPr/>
        </p:nvCxnSpPr>
        <p:spPr>
          <a:xfrm flipV="1">
            <a:off x="2888246" y="4114802"/>
            <a:ext cx="1371204" cy="142491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rot="18855730">
            <a:off x="2885392" y="4762694"/>
            <a:ext cx="1646891" cy="400110"/>
          </a:xfrm>
          <a:prstGeom prst="rect">
            <a:avLst/>
          </a:prstGeom>
          <a:noFill/>
        </p:spPr>
        <p:txBody>
          <a:bodyPr wrap="square" rtlCol="0">
            <a:spAutoFit/>
          </a:bodyPr>
          <a:lstStyle/>
          <a:p>
            <a:r>
              <a:rPr lang="en-US" altLang="zh-CN" sz="2000" dirty="0">
                <a:solidFill>
                  <a:srgbClr val="FF0000"/>
                </a:solidFill>
              </a:rPr>
              <a:t>5.</a:t>
            </a:r>
            <a:r>
              <a:rPr lang="zh-CN" altLang="en-US" sz="2000" dirty="0">
                <a:solidFill>
                  <a:srgbClr val="FF0000"/>
                </a:solidFill>
              </a:rPr>
              <a:t>接收确认包</a:t>
            </a:r>
            <a:endParaRPr lang="zh-CN" altLang="en-US" sz="2000" dirty="0">
              <a:solidFill>
                <a:srgbClr val="FF0000"/>
              </a:solidFill>
            </a:endParaRPr>
          </a:p>
        </p:txBody>
      </p:sp>
      <p:cxnSp>
        <p:nvCxnSpPr>
          <p:cNvPr id="25" name="直接箭头连接符 24"/>
          <p:cNvCxnSpPr/>
          <p:nvPr/>
        </p:nvCxnSpPr>
        <p:spPr>
          <a:xfrm>
            <a:off x="6386793" y="5702623"/>
            <a:ext cx="858069" cy="1053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661961" y="5321212"/>
            <a:ext cx="382390" cy="400110"/>
          </a:xfrm>
          <a:prstGeom prst="rect">
            <a:avLst/>
          </a:prstGeom>
          <a:noFill/>
        </p:spPr>
        <p:txBody>
          <a:bodyPr wrap="square" rtlCol="0">
            <a:spAutoFit/>
          </a:bodyPr>
          <a:lstStyle/>
          <a:p>
            <a:r>
              <a:rPr lang="en-US" altLang="zh-CN" sz="2000" dirty="0">
                <a:solidFill>
                  <a:srgbClr val="FF0000"/>
                </a:solidFill>
              </a:rPr>
              <a:t>4</a:t>
            </a:r>
            <a:endParaRPr lang="zh-CN" altLang="en-US" sz="2000" dirty="0">
              <a:solidFill>
                <a:srgbClr val="FF0000"/>
              </a:solidFill>
            </a:endParaRPr>
          </a:p>
        </p:txBody>
      </p:sp>
      <p:cxnSp>
        <p:nvCxnSpPr>
          <p:cNvPr id="27" name="直接箭头连接符 26"/>
          <p:cNvCxnSpPr/>
          <p:nvPr/>
        </p:nvCxnSpPr>
        <p:spPr>
          <a:xfrm flipH="1">
            <a:off x="6366032" y="6046091"/>
            <a:ext cx="858069" cy="1053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6641200" y="5664680"/>
            <a:ext cx="382390" cy="400110"/>
          </a:xfrm>
          <a:prstGeom prst="rect">
            <a:avLst/>
          </a:prstGeom>
          <a:noFill/>
        </p:spPr>
        <p:txBody>
          <a:bodyPr wrap="square" rtlCol="0">
            <a:spAutoFit/>
          </a:bodyPr>
          <a:lstStyle/>
          <a:p>
            <a:r>
              <a:rPr lang="en-US" altLang="zh-CN" sz="2000" dirty="0">
                <a:solidFill>
                  <a:srgbClr val="FF0000"/>
                </a:solidFill>
              </a:rPr>
              <a:t>5</a:t>
            </a:r>
            <a:endParaRPr lang="zh-CN" altLang="en-US" sz="2000" dirty="0">
              <a:solidFill>
                <a:srgbClr val="FF0000"/>
              </a:solidFill>
            </a:endParaRPr>
          </a:p>
        </p:txBody>
      </p:sp>
      <p:cxnSp>
        <p:nvCxnSpPr>
          <p:cNvPr id="37" name="直接箭头连接符 36"/>
          <p:cNvCxnSpPr/>
          <p:nvPr/>
        </p:nvCxnSpPr>
        <p:spPr>
          <a:xfrm flipH="1">
            <a:off x="3735934" y="6056624"/>
            <a:ext cx="858069" cy="1053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011102" y="5675213"/>
            <a:ext cx="382390" cy="400110"/>
          </a:xfrm>
          <a:prstGeom prst="rect">
            <a:avLst/>
          </a:prstGeom>
          <a:noFill/>
        </p:spPr>
        <p:txBody>
          <a:bodyPr wrap="square" rtlCol="0">
            <a:spAutoFit/>
          </a:bodyPr>
          <a:lstStyle/>
          <a:p>
            <a:r>
              <a:rPr lang="en-US" altLang="zh-CN" sz="2000" dirty="0">
                <a:solidFill>
                  <a:srgbClr val="FF0000"/>
                </a:solidFill>
              </a:rPr>
              <a:t>5</a:t>
            </a:r>
            <a:endParaRPr lang="zh-CN" altLang="en-US" sz="2000" dirty="0">
              <a:solidFill>
                <a:srgbClr val="FF0000"/>
              </a:solidFill>
            </a:endParaRPr>
          </a:p>
        </p:txBody>
      </p:sp>
      <p:sp>
        <p:nvSpPr>
          <p:cNvPr id="41" name="TextBox 9"/>
          <p:cNvSpPr txBox="1">
            <a:spLocks noChangeArrowheads="1"/>
          </p:cNvSpPr>
          <p:nvPr/>
        </p:nvSpPr>
        <p:spPr bwMode="auto">
          <a:xfrm>
            <a:off x="5455920" y="2032953"/>
            <a:ext cx="589788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dirty="0">
                <a:solidFill>
                  <a:srgbClr val="FF0000"/>
                </a:solidFill>
              </a:rPr>
              <a:t>2.</a:t>
            </a:r>
            <a:r>
              <a:rPr lang="en-US" altLang="zh-CN" dirty="0"/>
              <a:t>RPC</a:t>
            </a:r>
            <a:r>
              <a:rPr lang="zh-CN" altLang="en-US" dirty="0"/>
              <a:t>远程调用名称节点</a:t>
            </a:r>
            <a:endParaRPr lang="en-US" altLang="zh-CN" dirty="0"/>
          </a:p>
          <a:p>
            <a:r>
              <a:rPr lang="zh-CN" altLang="en-US" dirty="0"/>
              <a:t>在文件系统的命名空间中新建一个文件</a:t>
            </a:r>
            <a:endParaRPr lang="en-US" altLang="zh-CN" dirty="0"/>
          </a:p>
          <a:p>
            <a:r>
              <a:rPr lang="zh-CN" altLang="en-US" dirty="0"/>
              <a:t>名称节点会执行一些检查（文件是否存在，客户端权限）</a:t>
            </a:r>
            <a:endParaRPr lang="zh-CN" altLang="en-US" dirty="0"/>
          </a:p>
        </p:txBody>
      </p:sp>
      <p:sp>
        <p:nvSpPr>
          <p:cNvPr id="42" name="TextBox 29"/>
          <p:cNvSpPr txBox="1">
            <a:spLocks noChangeArrowheads="1"/>
          </p:cNvSpPr>
          <p:nvPr/>
        </p:nvSpPr>
        <p:spPr bwMode="auto">
          <a:xfrm>
            <a:off x="7886855" y="4243074"/>
            <a:ext cx="320548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dirty="0" err="1">
                <a:solidFill>
                  <a:srgbClr val="FF0000"/>
                </a:solidFill>
              </a:rPr>
              <a:t>7.</a:t>
            </a:r>
            <a:r>
              <a:rPr lang="en-US" altLang="zh-CN" dirty="0" err="1"/>
              <a:t>DFSOutputStream</a:t>
            </a:r>
            <a:r>
              <a:rPr lang="zh-CN" altLang="en-US" dirty="0"/>
              <a:t>调用</a:t>
            </a:r>
            <a:endParaRPr lang="en-US" altLang="zh-CN" dirty="0"/>
          </a:p>
          <a:p>
            <a:r>
              <a:rPr lang="en-US" altLang="zh-CN" dirty="0" err="1"/>
              <a:t>ClientProtocal.complete</a:t>
            </a:r>
            <a:r>
              <a:rPr lang="en-US" altLang="zh-CN" dirty="0"/>
              <a:t>()</a:t>
            </a:r>
            <a:r>
              <a:rPr lang="zh-CN" altLang="en-US" dirty="0"/>
              <a:t>方法</a:t>
            </a:r>
            <a:endParaRPr lang="en-US" altLang="zh-CN" dirty="0"/>
          </a:p>
          <a:p>
            <a:r>
              <a:rPr lang="zh-CN" altLang="en-US" dirty="0"/>
              <a:t>通知名称节点关闭文件</a:t>
            </a:r>
            <a:endParaRPr lang="zh-CN" altLang="en-US" dirty="0"/>
          </a:p>
        </p:txBody>
      </p:sp>
      <p:sp>
        <p:nvSpPr>
          <p:cNvPr id="36876" name="矩形 17"/>
          <p:cNvSpPr>
            <a:spLocks noChangeArrowheads="1"/>
          </p:cNvSpPr>
          <p:nvPr/>
        </p:nvSpPr>
        <p:spPr bwMode="auto">
          <a:xfrm>
            <a:off x="170180" y="6210300"/>
            <a:ext cx="782701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a:r>
              <a:rPr lang="en-US" altLang="zh-CN" dirty="0">
                <a:solidFill>
                  <a:srgbClr val="FF0000"/>
                </a:solidFill>
              </a:rPr>
              <a:t>4.</a:t>
            </a:r>
            <a:r>
              <a:rPr lang="zh-CN" altLang="en-US" dirty="0"/>
              <a:t>数据被分成一个个分包，分包被放入</a:t>
            </a:r>
            <a:r>
              <a:rPr lang="en-US" altLang="zh-CN" dirty="0" err="1"/>
              <a:t>DFSOutputStream</a:t>
            </a:r>
            <a:r>
              <a:rPr lang="zh-CN" altLang="en-US" dirty="0"/>
              <a:t>对象的内部队列</a:t>
            </a:r>
            <a:endParaRPr lang="en-US" altLang="zh-CN" dirty="0"/>
          </a:p>
          <a:p>
            <a:pPr algn="l"/>
            <a:r>
              <a:rPr lang="en-US" altLang="zh-CN" dirty="0" err="1"/>
              <a:t>DFSOutputStream</a:t>
            </a:r>
            <a:r>
              <a:rPr lang="zh-CN" altLang="en-US" dirty="0"/>
              <a:t>向名称节点申请保存数据块的若干数据节点</a:t>
            </a:r>
            <a:endParaRPr lang="zh-CN" altLang="en-US" dirty="0"/>
          </a:p>
        </p:txBody>
      </p:sp>
      <p:sp>
        <p:nvSpPr>
          <p:cNvPr id="13" name="文本框 12"/>
          <p:cNvSpPr txBox="1"/>
          <p:nvPr/>
        </p:nvSpPr>
        <p:spPr>
          <a:xfrm>
            <a:off x="468630" y="5565140"/>
            <a:ext cx="1337945" cy="645160"/>
          </a:xfrm>
          <a:prstGeom prst="rect">
            <a:avLst/>
          </a:prstGeom>
          <a:noFill/>
        </p:spPr>
        <p:txBody>
          <a:bodyPr wrap="square" rtlCol="0">
            <a:spAutoFit/>
          </a:bodyPr>
          <a:p>
            <a:r>
              <a:rPr lang="zh-CN" altLang="en-US" b="1">
                <a:solidFill>
                  <a:srgbClr val="7030A0"/>
                </a:solidFill>
              </a:rPr>
              <a:t>数据流管道</a:t>
            </a:r>
            <a:endParaRPr lang="zh-CN" altLang="en-US" b="1">
              <a:solidFill>
                <a:srgbClr val="7030A0"/>
              </a:solidFill>
            </a:endParaRPr>
          </a:p>
          <a:p>
            <a:r>
              <a:rPr lang="zh-CN" altLang="en-US" b="1">
                <a:solidFill>
                  <a:srgbClr val="7030A0"/>
                </a:solidFill>
              </a:rPr>
              <a:t>流水线复制</a:t>
            </a:r>
            <a:endParaRPr lang="zh-CN" altLang="en-US" b="1">
              <a:solidFill>
                <a:srgbClr val="7030A0"/>
              </a:solidFill>
            </a:endParaRPr>
          </a:p>
        </p:txBody>
      </p:sp>
      <p:sp>
        <p:nvSpPr>
          <p:cNvPr id="53" name="文本框 52"/>
          <p:cNvSpPr txBox="1"/>
          <p:nvPr>
            <p:custDataLst>
              <p:tags r:id="rId7"/>
            </p:custDataLst>
          </p:nvPr>
        </p:nvSpPr>
        <p:spPr>
          <a:xfrm>
            <a:off x="50302" y="931498"/>
            <a:ext cx="3066321" cy="460375"/>
          </a:xfrm>
          <a:prstGeom prst="rect">
            <a:avLst/>
          </a:prstGeom>
          <a:noFill/>
        </p:spPr>
        <p:txBody>
          <a:bodyPr wrap="square" rtlCol="0">
            <a:spAutoFit/>
          </a:bodyPr>
          <a:p>
            <a:r>
              <a:rPr lang="en-US" altLang="zh-CN" sz="2400" dirty="0" err="1"/>
              <a:t>FileSystem.create</a:t>
            </a:r>
            <a:r>
              <a:rPr lang="en-US" altLang="zh-CN" sz="2400" dirty="0"/>
              <a:t>(file)</a:t>
            </a:r>
            <a:endParaRPr lang="zh-CN" altLang="en-US" dirty="0"/>
          </a:p>
        </p:txBody>
      </p:sp>
      <p:sp>
        <p:nvSpPr>
          <p:cNvPr id="54" name="箭头: 右 53"/>
          <p:cNvSpPr/>
          <p:nvPr>
            <p:custDataLst>
              <p:tags r:id="rId8"/>
            </p:custDataLst>
          </p:nvPr>
        </p:nvSpPr>
        <p:spPr>
          <a:xfrm>
            <a:off x="2939223" y="790649"/>
            <a:ext cx="981044" cy="7636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t>return</a:t>
            </a:r>
            <a:endParaRPr lang="zh-CN" altLang="en-US" dirty="0"/>
          </a:p>
        </p:txBody>
      </p:sp>
      <p:sp>
        <p:nvSpPr>
          <p:cNvPr id="56" name="文本框 55"/>
          <p:cNvSpPr txBox="1"/>
          <p:nvPr>
            <p:custDataLst>
              <p:tags r:id="rId9"/>
            </p:custDataLst>
          </p:nvPr>
        </p:nvSpPr>
        <p:spPr>
          <a:xfrm>
            <a:off x="3771265" y="937895"/>
            <a:ext cx="2909570" cy="460375"/>
          </a:xfrm>
          <a:prstGeom prst="rect">
            <a:avLst/>
          </a:prstGeom>
          <a:noFill/>
        </p:spPr>
        <p:txBody>
          <a:bodyPr wrap="square">
            <a:spAutoFit/>
          </a:bodyPr>
          <a:p>
            <a:r>
              <a:rPr lang="en-US" altLang="zh-CN" sz="2400" dirty="0" err="1"/>
              <a:t>FSDataOuputStream</a:t>
            </a:r>
            <a:endParaRPr lang="en-US" altLang="zh-CN" sz="2400" dirty="0"/>
          </a:p>
        </p:txBody>
      </p:sp>
      <p:sp>
        <p:nvSpPr>
          <p:cNvPr id="58" name="文本框 57"/>
          <p:cNvSpPr txBox="1"/>
          <p:nvPr>
            <p:custDataLst>
              <p:tags r:id="rId10"/>
            </p:custDataLst>
          </p:nvPr>
        </p:nvSpPr>
        <p:spPr>
          <a:xfrm>
            <a:off x="6455410" y="948690"/>
            <a:ext cx="2031365" cy="460375"/>
          </a:xfrm>
          <a:prstGeom prst="rect">
            <a:avLst/>
          </a:prstGeom>
          <a:noFill/>
        </p:spPr>
        <p:txBody>
          <a:bodyPr wrap="square">
            <a:spAutoFit/>
          </a:bodyPr>
          <a:p>
            <a:r>
              <a:rPr lang="en-US" altLang="zh-CN" sz="2400" dirty="0"/>
              <a:t>.</a:t>
            </a:r>
            <a:r>
              <a:rPr lang="en-US" altLang="zh-CN" sz="2400" dirty="0">
                <a:solidFill>
                  <a:srgbClr val="0070C0"/>
                </a:solidFill>
              </a:rPr>
              <a:t>write</a:t>
            </a:r>
            <a:r>
              <a:rPr lang="en-US" altLang="zh-CN" sz="2400" dirty="0"/>
              <a:t>(data...)</a:t>
            </a:r>
            <a:endParaRPr lang="zh-CN" altLang="en-US" sz="2400" dirty="0"/>
          </a:p>
        </p:txBody>
      </p:sp>
      <p:sp>
        <p:nvSpPr>
          <p:cNvPr id="63" name="文本框 62"/>
          <p:cNvSpPr txBox="1"/>
          <p:nvPr>
            <p:custDataLst>
              <p:tags r:id="rId11"/>
            </p:custDataLst>
          </p:nvPr>
        </p:nvSpPr>
        <p:spPr>
          <a:xfrm>
            <a:off x="6437632" y="552541"/>
            <a:ext cx="1609825" cy="461665"/>
          </a:xfrm>
          <a:prstGeom prst="rect">
            <a:avLst/>
          </a:prstGeom>
          <a:noFill/>
        </p:spPr>
        <p:txBody>
          <a:bodyPr wrap="square">
            <a:spAutoFit/>
          </a:bodyPr>
          <a:p>
            <a:r>
              <a:rPr lang="en-US" altLang="zh-CN" sz="2400" dirty="0"/>
              <a:t>.</a:t>
            </a:r>
            <a:r>
              <a:rPr lang="en-US" altLang="zh-CN" sz="2400" dirty="0">
                <a:solidFill>
                  <a:srgbClr val="0070C0"/>
                </a:solidFill>
              </a:rPr>
              <a:t>close()</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left)">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500"/>
                                        <p:tgtEl>
                                          <p:spTgt spid="3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wipe(left)">
                                      <p:cBhvr>
                                        <p:cTn id="48" dur="500"/>
                                        <p:tgtEl>
                                          <p:spTgt spid="39"/>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wipe(left)">
                                      <p:cBhvr>
                                        <p:cTn id="51" dur="500"/>
                                        <p:tgtEl>
                                          <p:spTgt spid="4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left)">
                                      <p:cBhvr>
                                        <p:cTn id="56" dur="500"/>
                                        <p:tgtEl>
                                          <p:spTgt spid="25"/>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wipe(left)">
                                      <p:cBhvr>
                                        <p:cTn id="64" dur="500"/>
                                        <p:tgtEl>
                                          <p:spTgt spid="27"/>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left)">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wipe(left)">
                                      <p:cBhvr>
                                        <p:cTn id="72" dur="500"/>
                                        <p:tgtEl>
                                          <p:spTgt spid="37"/>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wipe(left)">
                                      <p:cBhvr>
                                        <p:cTn id="75" dur="500"/>
                                        <p:tgtEl>
                                          <p:spTgt spid="3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5"/>
                                        </p:tgtEl>
                                        <p:attrNameLst>
                                          <p:attrName>style.visibility</p:attrName>
                                        </p:attrNameLst>
                                      </p:cBhvr>
                                      <p:to>
                                        <p:strVal val="visible"/>
                                      </p:to>
                                    </p:set>
                                    <p:animEffect transition="in" filter="wipe(left)">
                                      <p:cBhvr>
                                        <p:cTn id="80" dur="500"/>
                                        <p:tgtEl>
                                          <p:spTgt spid="15"/>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wipe(left)">
                                      <p:cBhvr>
                                        <p:cTn id="83" dur="500"/>
                                        <p:tgtEl>
                                          <p:spTgt spid="1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wipe(left)">
                                      <p:cBhvr>
                                        <p:cTn id="88" dur="500"/>
                                        <p:tgtEl>
                                          <p:spTgt spid="44"/>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wipe(left)">
                                      <p:cBhvr>
                                        <p:cTn id="91" dur="500"/>
                                        <p:tgtEl>
                                          <p:spTgt spid="4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wipe(left)">
                                      <p:cBhvr>
                                        <p:cTn id="96" dur="500"/>
                                        <p:tgtEl>
                                          <p:spTgt spid="35"/>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wipe(left)">
                                      <p:cBhvr>
                                        <p:cTn id="99" dur="500"/>
                                        <p:tgtEl>
                                          <p:spTgt spid="36"/>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41"/>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36876"/>
                                        </p:tgtEl>
                                        <p:attrNameLst>
                                          <p:attrName>style.visibility</p:attrName>
                                        </p:attrNameLst>
                                      </p:cBhvr>
                                      <p:to>
                                        <p:strVal val="visible"/>
                                      </p:to>
                                    </p:set>
                                  </p:childTnLst>
                                </p:cTn>
                              </p:par>
                            </p:childTnLst>
                          </p:cTn>
                        </p:par>
                        <p:par>
                          <p:cTn id="108" fill="hold">
                            <p:stCondLst>
                              <p:cond delay="0"/>
                            </p:stCondLst>
                            <p:childTnLst>
                              <p:par>
                                <p:cTn id="109" presetID="1" presetClass="entr" presetSubtype="0" fill="hold" grpId="0" nodeType="afterEffect">
                                  <p:stCondLst>
                                    <p:cond delay="0"/>
                                  </p:stCondLst>
                                  <p:childTnLst>
                                    <p:set>
                                      <p:cBhvr>
                                        <p:cTn id="110" dur="1" fill="hold">
                                          <p:stCondLst>
                                            <p:cond delay="0"/>
                                          </p:stCondLst>
                                        </p:cTn>
                                        <p:tgtEl>
                                          <p:spTgt spid="1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53"/>
                                        </p:tgtEl>
                                        <p:attrNameLst>
                                          <p:attrName>style.visibility</p:attrName>
                                        </p:attrNameLst>
                                      </p:cBhvr>
                                      <p:to>
                                        <p:strVal val="visible"/>
                                      </p:to>
                                    </p:set>
                                    <p:animEffect transition="in" filter="wipe(left)">
                                      <p:cBhvr>
                                        <p:cTn id="119" dur="500"/>
                                        <p:tgtEl>
                                          <p:spTgt spid="53"/>
                                        </p:tgtEl>
                                      </p:cBhvr>
                                    </p:animEffect>
                                  </p:childTnLst>
                                </p:cTn>
                              </p:par>
                            </p:childTnLst>
                          </p:cTn>
                        </p:par>
                        <p:par>
                          <p:cTn id="120" fill="hold">
                            <p:stCondLst>
                              <p:cond delay="500"/>
                            </p:stCondLst>
                            <p:childTnLst>
                              <p:par>
                                <p:cTn id="121" presetID="22" presetClass="entr" presetSubtype="8" fill="hold" grpId="0" nodeType="afterEffect">
                                  <p:stCondLst>
                                    <p:cond delay="0"/>
                                  </p:stCondLst>
                                  <p:childTnLst>
                                    <p:set>
                                      <p:cBhvr>
                                        <p:cTn id="122" dur="1" fill="hold">
                                          <p:stCondLst>
                                            <p:cond delay="0"/>
                                          </p:stCondLst>
                                        </p:cTn>
                                        <p:tgtEl>
                                          <p:spTgt spid="54"/>
                                        </p:tgtEl>
                                        <p:attrNameLst>
                                          <p:attrName>style.visibility</p:attrName>
                                        </p:attrNameLst>
                                      </p:cBhvr>
                                      <p:to>
                                        <p:strVal val="visible"/>
                                      </p:to>
                                    </p:set>
                                    <p:animEffect transition="in" filter="wipe(left)">
                                      <p:cBhvr>
                                        <p:cTn id="123" dur="500"/>
                                        <p:tgtEl>
                                          <p:spTgt spid="54"/>
                                        </p:tgtEl>
                                      </p:cBhvr>
                                    </p:animEffect>
                                  </p:childTnLst>
                                </p:cTn>
                              </p:par>
                            </p:childTnLst>
                          </p:cTn>
                        </p:par>
                        <p:par>
                          <p:cTn id="124" fill="hold">
                            <p:stCondLst>
                              <p:cond delay="1000"/>
                            </p:stCondLst>
                            <p:childTnLst>
                              <p:par>
                                <p:cTn id="125" presetID="22" presetClass="entr" presetSubtype="8" fill="hold" grpId="0" nodeType="afterEffect">
                                  <p:stCondLst>
                                    <p:cond delay="0"/>
                                  </p:stCondLst>
                                  <p:childTnLst>
                                    <p:set>
                                      <p:cBhvr>
                                        <p:cTn id="126" dur="1" fill="hold">
                                          <p:stCondLst>
                                            <p:cond delay="0"/>
                                          </p:stCondLst>
                                        </p:cTn>
                                        <p:tgtEl>
                                          <p:spTgt spid="56"/>
                                        </p:tgtEl>
                                        <p:attrNameLst>
                                          <p:attrName>style.visibility</p:attrName>
                                        </p:attrNameLst>
                                      </p:cBhvr>
                                      <p:to>
                                        <p:strVal val="visible"/>
                                      </p:to>
                                    </p:set>
                                    <p:animEffect transition="in" filter="wipe(left)">
                                      <p:cBhvr>
                                        <p:cTn id="127" dur="500"/>
                                        <p:tgtEl>
                                          <p:spTgt spid="5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58"/>
                                        </p:tgtEl>
                                        <p:attrNameLst>
                                          <p:attrName>style.visibility</p:attrName>
                                        </p:attrNameLst>
                                      </p:cBhvr>
                                      <p:to>
                                        <p:strVal val="visible"/>
                                      </p:to>
                                    </p:set>
                                    <p:animEffect transition="in" filter="wipe(left)">
                                      <p:cBhvr>
                                        <p:cTn id="132" dur="500"/>
                                        <p:tgtEl>
                                          <p:spTgt spid="58"/>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63"/>
                                        </p:tgtEl>
                                        <p:attrNameLst>
                                          <p:attrName>style.visibility</p:attrName>
                                        </p:attrNameLst>
                                      </p:cBhvr>
                                      <p:to>
                                        <p:strVal val="visible"/>
                                      </p:to>
                                    </p:set>
                                    <p:animEffect transition="in" filter="wipe(left)">
                                      <p:cBhvr>
                                        <p:cTn id="13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10" grpId="0"/>
      <p:bldP spid="10" grpId="1"/>
      <p:bldP spid="11" grpId="0" bldLvl="0" animBg="1"/>
      <p:bldP spid="11" grpId="1" animBg="1"/>
      <p:bldP spid="12" grpId="0"/>
      <p:bldP spid="12" grpId="1"/>
      <p:bldP spid="22" grpId="0"/>
      <p:bldP spid="22" grpId="1"/>
      <p:bldP spid="32" grpId="0"/>
      <p:bldP spid="32" grpId="1"/>
      <p:bldP spid="36" grpId="0"/>
      <p:bldP spid="36" grpId="1"/>
      <p:bldP spid="40" grpId="0"/>
      <p:bldP spid="40" grpId="1"/>
      <p:bldP spid="45" grpId="0"/>
      <p:bldP spid="45" grpId="1"/>
      <p:bldP spid="16" grpId="0"/>
      <p:bldP spid="16" grpId="1"/>
      <p:bldP spid="26" grpId="0"/>
      <p:bldP spid="26" grpId="1"/>
      <p:bldP spid="33" grpId="0"/>
      <p:bldP spid="33" grpId="1"/>
      <p:bldP spid="38" grpId="0"/>
      <p:bldP spid="38" grpId="1"/>
      <p:bldP spid="41" grpId="0"/>
      <p:bldP spid="41" grpId="1"/>
      <p:bldP spid="42" grpId="0"/>
      <p:bldP spid="42" grpId="1"/>
      <p:bldP spid="36876" grpId="0"/>
      <p:bldP spid="36876" grpId="1"/>
      <p:bldP spid="13" grpId="0"/>
      <p:bldP spid="13" grpId="1"/>
      <p:bldP spid="53" grpId="0"/>
      <p:bldP spid="54" grpId="0" bldLvl="0" animBg="1"/>
      <p:bldP spid="56" grpId="0"/>
      <p:bldP spid="58" grpId="0"/>
      <p:bldP spid="63"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6" name="矩形 7"/>
          <p:cNvSpPr>
            <a:spLocks noChangeArrowheads="1"/>
          </p:cNvSpPr>
          <p:nvPr/>
        </p:nvSpPr>
        <p:spPr bwMode="auto">
          <a:xfrm>
            <a:off x="1221740" y="266700"/>
            <a:ext cx="9331960" cy="646239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pl-PL" altLang="zh-CN" dirty="0">
                <a:solidFill>
                  <a:schemeClr val="bg1"/>
                </a:solidFill>
              </a:rPr>
              <a:t>import org.apache.hadoop.conf.Configuration;  </a:t>
            </a:r>
            <a:endParaRPr lang="pl-PL" altLang="zh-CN" dirty="0">
              <a:solidFill>
                <a:schemeClr val="bg1"/>
              </a:solidFill>
            </a:endParaRPr>
          </a:p>
          <a:p>
            <a:r>
              <a:rPr lang="pl-PL" altLang="zh-CN" dirty="0">
                <a:solidFill>
                  <a:schemeClr val="bg1"/>
                </a:solidFill>
              </a:rPr>
              <a:t>import org.apache.hadoop.fs.FileSystem;</a:t>
            </a:r>
            <a:endParaRPr lang="pl-PL" altLang="zh-CN" dirty="0">
              <a:solidFill>
                <a:schemeClr val="bg1"/>
              </a:solidFill>
            </a:endParaRPr>
          </a:p>
          <a:p>
            <a:r>
              <a:rPr lang="pl-PL" altLang="zh-CN" dirty="0">
                <a:solidFill>
                  <a:schemeClr val="bg1"/>
                </a:solidFill>
              </a:rPr>
              <a:t>import org.apache.hadoop.fs.FSDataOutputStream;</a:t>
            </a:r>
            <a:endParaRPr lang="pl-PL" altLang="zh-CN" dirty="0">
              <a:solidFill>
                <a:schemeClr val="bg1"/>
              </a:solidFill>
            </a:endParaRPr>
          </a:p>
          <a:p>
            <a:r>
              <a:rPr lang="pl-PL" altLang="zh-CN" dirty="0">
                <a:solidFill>
                  <a:schemeClr val="bg1"/>
                </a:solidFill>
              </a:rPr>
              <a:t>import org.apache.hadoop.fs.Path; </a:t>
            </a:r>
            <a:endParaRPr lang="pl-PL" altLang="zh-CN" dirty="0">
              <a:solidFill>
                <a:schemeClr val="bg1"/>
              </a:solidFill>
            </a:endParaRPr>
          </a:p>
          <a:p>
            <a:r>
              <a:rPr lang="pl-PL" altLang="zh-CN" dirty="0">
                <a:solidFill>
                  <a:schemeClr val="bg1"/>
                </a:solidFill>
              </a:rPr>
              <a:t>public class Chapter3 {    </a:t>
            </a:r>
            <a:endParaRPr lang="pl-PL" altLang="zh-CN" dirty="0">
              <a:solidFill>
                <a:schemeClr val="bg1"/>
              </a:solidFill>
            </a:endParaRPr>
          </a:p>
          <a:p>
            <a:r>
              <a:rPr lang="pl-PL" altLang="zh-CN" dirty="0">
                <a:solidFill>
                  <a:schemeClr val="bg1"/>
                </a:solidFill>
              </a:rPr>
              <a:t>        public static void main(String[] args) { </a:t>
            </a:r>
            <a:endParaRPr lang="pl-PL" altLang="zh-CN" dirty="0">
              <a:solidFill>
                <a:schemeClr val="bg1"/>
              </a:solidFill>
            </a:endParaRPr>
          </a:p>
          <a:p>
            <a:r>
              <a:rPr lang="pl-PL" altLang="zh-CN" dirty="0">
                <a:solidFill>
                  <a:schemeClr val="bg1"/>
                </a:solidFill>
              </a:rPr>
              <a:t>                try {</a:t>
            </a:r>
            <a:endParaRPr lang="pl-PL" altLang="zh-CN" dirty="0">
              <a:solidFill>
                <a:schemeClr val="bg1"/>
              </a:solidFill>
            </a:endParaRPr>
          </a:p>
          <a:p>
            <a:r>
              <a:rPr lang="pl-PL" altLang="zh-CN" dirty="0">
                <a:solidFill>
                  <a:schemeClr val="bg1"/>
                </a:solidFill>
              </a:rPr>
              <a:t>                        Configuration conf = new Configuration();  </a:t>
            </a:r>
            <a:endParaRPr lang="pl-PL" altLang="zh-CN" dirty="0">
              <a:solidFill>
                <a:schemeClr val="bg1"/>
              </a:solidFill>
            </a:endParaRPr>
          </a:p>
          <a:p>
            <a:r>
              <a:rPr lang="pl-PL" altLang="zh-CN" dirty="0">
                <a:solidFill>
                  <a:schemeClr val="bg1"/>
                </a:solidFill>
              </a:rPr>
              <a:t>                        conf.set("fs.defaultFS","hdfs://localhost:9000");</a:t>
            </a:r>
            <a:endParaRPr lang="pl-PL" altLang="zh-CN" dirty="0">
              <a:solidFill>
                <a:schemeClr val="bg1"/>
              </a:solidFill>
            </a:endParaRPr>
          </a:p>
          <a:p>
            <a:r>
              <a:rPr lang="pl-PL" altLang="zh-CN" dirty="0">
                <a:solidFill>
                  <a:schemeClr val="bg1"/>
                </a:solidFill>
              </a:rPr>
              <a:t>                      </a:t>
            </a:r>
            <a:r>
              <a:rPr lang="en-US" altLang="pl-PL" dirty="0">
                <a:solidFill>
                  <a:schemeClr val="bg1"/>
                </a:solidFill>
              </a:rPr>
              <a:t> </a:t>
            </a:r>
            <a:r>
              <a:rPr lang="pl-PL" altLang="zh-CN" dirty="0">
                <a:solidFill>
                  <a:schemeClr val="bg1"/>
                </a:solidFill>
              </a:rPr>
              <a:t>conf.set("fs.hdfs.impl","org.apache.hadoop.hdfs.DistributedFileSystem");</a:t>
            </a:r>
            <a:endParaRPr lang="pl-PL" altLang="zh-CN" dirty="0">
              <a:solidFill>
                <a:schemeClr val="bg1"/>
              </a:solidFill>
            </a:endParaRPr>
          </a:p>
          <a:p>
            <a:r>
              <a:rPr lang="pl-PL" altLang="zh-CN" dirty="0">
                <a:solidFill>
                  <a:schemeClr val="bg1"/>
                </a:solidFill>
              </a:rPr>
              <a:t>                        FileSystem fs = FileSystem.get(conf);</a:t>
            </a:r>
            <a:endParaRPr lang="pl-PL" altLang="zh-CN" dirty="0">
              <a:solidFill>
                <a:schemeClr val="bg1"/>
              </a:solidFill>
            </a:endParaRPr>
          </a:p>
          <a:p>
            <a:r>
              <a:rPr lang="pl-PL" altLang="zh-CN" dirty="0">
                <a:solidFill>
                  <a:schemeClr val="bg1"/>
                </a:solidFill>
              </a:rPr>
              <a:t>                        byte[] buff = "Hello world".getBytes(); // </a:t>
            </a:r>
            <a:r>
              <a:rPr lang="zh-CN" altLang="en-US" dirty="0">
                <a:solidFill>
                  <a:schemeClr val="bg1"/>
                </a:solidFill>
              </a:rPr>
              <a:t>要写入的内容</a:t>
            </a:r>
            <a:endParaRPr lang="zh-CN" altLang="en-US" dirty="0">
              <a:solidFill>
                <a:schemeClr val="bg1"/>
              </a:solidFill>
            </a:endParaRPr>
          </a:p>
          <a:p>
            <a:r>
              <a:rPr lang="zh-CN" altLang="en-US" dirty="0">
                <a:solidFill>
                  <a:schemeClr val="bg1"/>
                </a:solidFill>
              </a:rPr>
              <a:t>                        </a:t>
            </a:r>
            <a:r>
              <a:rPr lang="pl-PL" altLang="zh-CN" dirty="0">
                <a:solidFill>
                  <a:schemeClr val="bg1"/>
                </a:solidFill>
              </a:rPr>
              <a:t>String filename = "test"; //</a:t>
            </a:r>
            <a:r>
              <a:rPr lang="zh-CN" altLang="en-US" dirty="0">
                <a:solidFill>
                  <a:schemeClr val="bg1"/>
                </a:solidFill>
              </a:rPr>
              <a:t>要写入的文件名</a:t>
            </a:r>
            <a:endParaRPr lang="zh-CN" altLang="en-US" dirty="0">
              <a:solidFill>
                <a:schemeClr val="bg1"/>
              </a:solidFill>
            </a:endParaRPr>
          </a:p>
          <a:p>
            <a:r>
              <a:rPr lang="zh-CN" altLang="en-US" dirty="0">
                <a:solidFill>
                  <a:schemeClr val="bg1"/>
                </a:solidFill>
              </a:rPr>
              <a:t>                        </a:t>
            </a:r>
            <a:r>
              <a:rPr lang="pl-PL" altLang="zh-CN" dirty="0">
                <a:solidFill>
                  <a:schemeClr val="bg1"/>
                </a:solidFill>
              </a:rPr>
              <a:t>FSDataOutputStream os = fs.create(new Path(filename));</a:t>
            </a:r>
            <a:endParaRPr lang="pl-PL" altLang="zh-CN" dirty="0">
              <a:solidFill>
                <a:schemeClr val="bg1"/>
              </a:solidFill>
            </a:endParaRPr>
          </a:p>
          <a:p>
            <a:r>
              <a:rPr lang="pl-PL" altLang="zh-CN" dirty="0">
                <a:solidFill>
                  <a:schemeClr val="bg1"/>
                </a:solidFill>
              </a:rPr>
              <a:t>                        os.write(buff,0,buff.length);</a:t>
            </a:r>
            <a:endParaRPr lang="pl-PL" altLang="zh-CN" dirty="0">
              <a:solidFill>
                <a:schemeClr val="bg1"/>
              </a:solidFill>
            </a:endParaRPr>
          </a:p>
          <a:p>
            <a:r>
              <a:rPr lang="pl-PL" altLang="zh-CN" dirty="0">
                <a:solidFill>
                  <a:schemeClr val="bg1"/>
                </a:solidFill>
              </a:rPr>
              <a:t>                        System.out.println("Create:"+ filename);</a:t>
            </a:r>
            <a:endParaRPr lang="pl-PL" altLang="zh-CN" dirty="0">
              <a:solidFill>
                <a:schemeClr val="bg1"/>
              </a:solidFill>
            </a:endParaRPr>
          </a:p>
          <a:p>
            <a:r>
              <a:rPr lang="pl-PL" altLang="zh-CN" dirty="0">
                <a:solidFill>
                  <a:schemeClr val="bg1"/>
                </a:solidFill>
              </a:rPr>
              <a:t>                        os.close();</a:t>
            </a:r>
            <a:endParaRPr lang="pl-PL" altLang="zh-CN" dirty="0">
              <a:solidFill>
                <a:schemeClr val="bg1"/>
              </a:solidFill>
            </a:endParaRPr>
          </a:p>
          <a:p>
            <a:r>
              <a:rPr lang="pl-PL" altLang="zh-CN" dirty="0">
                <a:solidFill>
                  <a:schemeClr val="bg1"/>
                </a:solidFill>
              </a:rPr>
              <a:t>                        fs.close();</a:t>
            </a:r>
            <a:endParaRPr lang="pl-PL" altLang="zh-CN" dirty="0">
              <a:solidFill>
                <a:schemeClr val="bg1"/>
              </a:solidFill>
            </a:endParaRPr>
          </a:p>
          <a:p>
            <a:r>
              <a:rPr lang="pl-PL" altLang="zh-CN" dirty="0">
                <a:solidFill>
                  <a:schemeClr val="bg1"/>
                </a:solidFill>
              </a:rPr>
              <a:t>                } catch (Exception e) {  </a:t>
            </a:r>
            <a:endParaRPr lang="pl-PL" altLang="zh-CN" dirty="0">
              <a:solidFill>
                <a:schemeClr val="bg1"/>
              </a:solidFill>
            </a:endParaRPr>
          </a:p>
          <a:p>
            <a:r>
              <a:rPr lang="pl-PL" altLang="zh-CN" dirty="0">
                <a:solidFill>
                  <a:schemeClr val="bg1"/>
                </a:solidFill>
              </a:rPr>
              <a:t>                        e.printStackTrace();  </a:t>
            </a:r>
            <a:endParaRPr lang="pl-PL" altLang="zh-CN" dirty="0">
              <a:solidFill>
                <a:schemeClr val="bg1"/>
              </a:solidFill>
            </a:endParaRPr>
          </a:p>
          <a:p>
            <a:r>
              <a:rPr lang="pl-PL" altLang="zh-CN" dirty="0">
                <a:solidFill>
                  <a:schemeClr val="bg1"/>
                </a:solidFill>
              </a:rPr>
              <a:t>                }  </a:t>
            </a:r>
            <a:endParaRPr lang="pl-PL" altLang="zh-CN" dirty="0">
              <a:solidFill>
                <a:schemeClr val="bg1"/>
              </a:solidFill>
            </a:endParaRPr>
          </a:p>
          <a:p>
            <a:r>
              <a:rPr lang="pl-PL" altLang="zh-CN" dirty="0">
                <a:solidFill>
                  <a:schemeClr val="bg1"/>
                </a:solidFill>
              </a:rPr>
              <a:t>        }  </a:t>
            </a:r>
            <a:endParaRPr lang="pl-PL" altLang="zh-CN" dirty="0">
              <a:solidFill>
                <a:schemeClr val="bg1"/>
              </a:solidFill>
            </a:endParaRPr>
          </a:p>
          <a:p>
            <a:r>
              <a:rPr lang="pl-PL" altLang="zh-CN" dirty="0">
                <a:solidFill>
                  <a:schemeClr val="bg1"/>
                </a:solidFill>
              </a:rPr>
              <a:t>}</a:t>
            </a:r>
            <a:endParaRPr lang="pl-PL" altLang="zh-CN" dirty="0">
              <a:solidFill>
                <a:schemeClr val="bg1"/>
              </a:solidFill>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2"/>
          <p:cNvSpPr>
            <a:spLocks noGrp="1" noChangeArrowheads="1"/>
          </p:cNvSpPr>
          <p:nvPr>
            <p:ph type="title"/>
          </p:nvPr>
        </p:nvSpPr>
        <p:spPr/>
        <p:txBody>
          <a:bodyPr/>
          <a:lstStyle/>
          <a:p>
            <a:r>
              <a:rPr lang="zh-CN" altLang="zh-CN" b="1"/>
              <a:t>3.7 HDFS</a:t>
            </a:r>
            <a:r>
              <a:rPr lang="zh-CN" altLang="en-US" b="1"/>
              <a:t>编程实践</a:t>
            </a:r>
            <a:endParaRPr lang="zh-CN" altLang="en-US" b="1"/>
          </a:p>
        </p:txBody>
      </p:sp>
      <p:sp>
        <p:nvSpPr>
          <p:cNvPr id="38915" name="矩形 1"/>
          <p:cNvSpPr>
            <a:spLocks noChangeArrowheads="1"/>
          </p:cNvSpPr>
          <p:nvPr/>
        </p:nvSpPr>
        <p:spPr bwMode="auto">
          <a:xfrm>
            <a:off x="2133600" y="1371601"/>
            <a:ext cx="8001000"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Tx/>
              <a:buNone/>
            </a:pPr>
            <a:r>
              <a:rPr lang="zh-CN" altLang="zh-CN" sz="2000"/>
              <a:t>参考网址：</a:t>
            </a:r>
            <a:r>
              <a:rPr lang="zh-CN" altLang="en-US" sz="2000" dirty="0">
                <a:sym typeface="+mn-ea"/>
              </a:rPr>
              <a:t>访问地址：</a:t>
            </a:r>
            <a:r>
              <a:rPr lang="en-US" altLang="zh-CN" sz="2000" dirty="0">
                <a:sym typeface="+mn-ea"/>
              </a:rPr>
              <a:t> http://dblab.xmu.edu.cn/post/bigdata3</a:t>
            </a:r>
            <a:endParaRPr lang="zh-CN" altLang="zh-CN" sz="2000"/>
          </a:p>
          <a:p>
            <a:pPr marL="457200" indent="-457200" algn="just" eaLnBrk="1" hangingPunct="1">
              <a:lnSpc>
                <a:spcPct val="150000"/>
              </a:lnSpc>
              <a:buFontTx/>
              <a:buAutoNum type="arabicPeriod"/>
            </a:pPr>
            <a:r>
              <a:rPr lang="zh-CN" altLang="zh-CN" sz="2000"/>
              <a:t>Shell</a:t>
            </a:r>
            <a:r>
              <a:rPr lang="zh-CN" altLang="en-US" sz="2000"/>
              <a:t>命令操作</a:t>
            </a:r>
            <a:r>
              <a:rPr lang="en-US" altLang="zh-CN" sz="2000"/>
              <a:t>Hadoop;</a:t>
            </a:r>
            <a:endParaRPr lang="zh-CN" altLang="en-US" sz="2000"/>
          </a:p>
          <a:p>
            <a:pPr marL="457200" indent="-457200" algn="just" eaLnBrk="1" hangingPunct="1">
              <a:lnSpc>
                <a:spcPct val="150000"/>
              </a:lnSpc>
              <a:buFontTx/>
              <a:buAutoNum type="arabicPeriod"/>
            </a:pPr>
            <a:r>
              <a:rPr lang="zh-CN" altLang="zh-CN" sz="2000"/>
              <a:t>Web</a:t>
            </a:r>
            <a:r>
              <a:rPr lang="zh-CN" altLang="en-US" sz="2000"/>
              <a:t>界面查看和管理</a:t>
            </a:r>
            <a:r>
              <a:rPr lang="zh-CN" altLang="zh-CN" sz="2000"/>
              <a:t>Hadoop</a:t>
            </a:r>
            <a:r>
              <a:rPr lang="zh-CN" altLang="en-US" sz="2000"/>
              <a:t>文件系统</a:t>
            </a:r>
            <a:r>
              <a:rPr lang="en-US" altLang="zh-CN" sz="2000"/>
              <a:t>;</a:t>
            </a:r>
            <a:endParaRPr lang="en-US" altLang="zh-CN" sz="2000"/>
          </a:p>
          <a:p>
            <a:pPr marL="457200" indent="-457200" algn="just" eaLnBrk="1" hangingPunct="1">
              <a:lnSpc>
                <a:spcPct val="150000"/>
              </a:lnSpc>
              <a:buFontTx/>
              <a:buAutoNum type="arabicPeriod"/>
            </a:pPr>
            <a:r>
              <a:rPr lang="zh-CN" altLang="en-US" sz="2000">
                <a:sym typeface="+mn-ea"/>
              </a:rPr>
              <a:t>以及</a:t>
            </a:r>
            <a:r>
              <a:rPr lang="zh-CN" altLang="zh-CN" sz="2000">
                <a:sym typeface="+mn-ea"/>
              </a:rPr>
              <a:t>Java API及应用实例。</a:t>
            </a:r>
            <a:endParaRPr lang="en-US" altLang="zh-CN" sz="2000"/>
          </a:p>
          <a:p>
            <a:pPr algn="just" eaLnBrk="1" hangingPunct="1">
              <a:lnSpc>
                <a:spcPct val="150000"/>
              </a:lnSpc>
              <a:buFontTx/>
              <a:buNone/>
            </a:pPr>
            <a:r>
              <a:rPr lang="zh-CN" altLang="en-US" sz="2000"/>
              <a:t>备注：</a:t>
            </a:r>
            <a:r>
              <a:rPr lang="en-US" altLang="zh-CN" sz="2000"/>
              <a:t>Hadoop</a:t>
            </a:r>
            <a:r>
              <a:rPr lang="zh-CN" altLang="en-US" sz="2000"/>
              <a:t>安装成功后，已经包含</a:t>
            </a:r>
            <a:r>
              <a:rPr lang="en-US" altLang="zh-CN" sz="2000"/>
              <a:t>HDFS</a:t>
            </a:r>
            <a:r>
              <a:rPr lang="zh-CN" altLang="en-US" sz="2000"/>
              <a:t>和</a:t>
            </a:r>
            <a:r>
              <a:rPr lang="en-US" altLang="zh-CN" sz="2000"/>
              <a:t>MapReduce</a:t>
            </a:r>
            <a:r>
              <a:rPr lang="zh-CN" altLang="en-US" sz="2000"/>
              <a:t>，不需要额外安装。而</a:t>
            </a:r>
            <a:r>
              <a:rPr lang="en-US" altLang="zh-CN" sz="2000"/>
              <a:t>HBase</a:t>
            </a:r>
            <a:r>
              <a:rPr lang="zh-CN" altLang="en-US" sz="2000"/>
              <a:t>等其他组件，则需要另外下载安装。</a:t>
            </a:r>
            <a:endParaRPr lang="zh-CN" altLang="en-US" sz="2000"/>
          </a:p>
        </p:txBody>
      </p:sp>
      <p:sp>
        <p:nvSpPr>
          <p:cNvPr id="38916" name="矩形 3"/>
          <p:cNvSpPr>
            <a:spLocks noChangeArrowheads="1"/>
          </p:cNvSpPr>
          <p:nvPr/>
        </p:nvSpPr>
        <p:spPr bwMode="auto">
          <a:xfrm>
            <a:off x="2257425" y="4476750"/>
            <a:ext cx="7010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a:t>在学习</a:t>
            </a:r>
            <a:r>
              <a:rPr lang="en-US" altLang="zh-CN"/>
              <a:t>HDFS</a:t>
            </a:r>
            <a:r>
              <a:rPr lang="zh-CN" altLang="en-US"/>
              <a:t>编程实践前，我们需要启动</a:t>
            </a:r>
            <a:r>
              <a:rPr lang="en-US" altLang="zh-CN"/>
              <a:t>Hadoop</a:t>
            </a:r>
            <a:r>
              <a:rPr lang="zh-CN" altLang="en-US"/>
              <a:t>。执行如下命令：</a:t>
            </a:r>
            <a:endParaRPr lang="zh-CN" altLang="en-US"/>
          </a:p>
        </p:txBody>
      </p:sp>
      <p:pic>
        <p:nvPicPr>
          <p:cNvPr id="38917" name="Picture 1" descr="C:\Users\lzy\AppData\Roaming\Tencent\Users\70004972\QQ\WinTemp\RichOle\$U826B[LZ~IF8`4LFVUUOAN.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57426" y="4985386"/>
            <a:ext cx="76485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8916"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2"/>
          <p:cNvSpPr>
            <a:spLocks noGrp="1" noChangeArrowheads="1"/>
          </p:cNvSpPr>
          <p:nvPr>
            <p:ph type="title"/>
          </p:nvPr>
        </p:nvSpPr>
        <p:spPr/>
        <p:txBody>
          <a:bodyPr/>
          <a:lstStyle/>
          <a:p>
            <a:r>
              <a:rPr lang="en-US" altLang="zh-CN" b="1"/>
              <a:t>3.7.1	HDFS</a:t>
            </a:r>
            <a:r>
              <a:rPr lang="zh-CN" altLang="en-US" b="1"/>
              <a:t>常用命令</a:t>
            </a:r>
            <a:endParaRPr lang="zh-CN" altLang="en-US" b="1"/>
          </a:p>
        </p:txBody>
      </p:sp>
      <p:sp>
        <p:nvSpPr>
          <p:cNvPr id="2" name="文本框 1"/>
          <p:cNvSpPr txBox="1"/>
          <p:nvPr/>
        </p:nvSpPr>
        <p:spPr>
          <a:xfrm>
            <a:off x="1321435" y="1691005"/>
            <a:ext cx="9549130" cy="1383665"/>
          </a:xfrm>
          <a:prstGeom prst="rect">
            <a:avLst/>
          </a:prstGeom>
          <a:noFill/>
        </p:spPr>
        <p:txBody>
          <a:bodyPr wrap="square" rtlCol="0" anchor="t">
            <a:spAutoFit/>
          </a:bodyPr>
          <a:p>
            <a:pPr>
              <a:lnSpc>
                <a:spcPct val="150000"/>
              </a:lnSpc>
              <a:buFontTx/>
              <a:buNone/>
            </a:pPr>
            <a:r>
              <a:rPr lang="zh-CN" altLang="zh-CN" sz="2800" b="1">
                <a:sym typeface="+mn-ea"/>
              </a:rPr>
              <a:t>统一格式：</a:t>
            </a:r>
            <a:endParaRPr lang="zh-CN" altLang="zh-CN" sz="2800" b="1">
              <a:sym typeface="+mn-ea"/>
            </a:endParaRPr>
          </a:p>
          <a:p>
            <a:pPr indent="457200">
              <a:lnSpc>
                <a:spcPct val="150000"/>
              </a:lnSpc>
              <a:buFontTx/>
              <a:buNone/>
            </a:pPr>
            <a:r>
              <a:rPr lang="zh-CN" altLang="zh-CN" sz="2800" b="1">
                <a:sym typeface="+mn-ea"/>
              </a:rPr>
              <a:t>hadoop </a:t>
            </a:r>
            <a:r>
              <a:rPr lang="en-US" altLang="zh-CN" sz="2800" b="1">
                <a:sym typeface="+mn-ea"/>
              </a:rPr>
              <a:t>command</a:t>
            </a:r>
            <a:r>
              <a:rPr lang="zh-CN" altLang="zh-CN" sz="2800" b="1">
                <a:sym typeface="+mn-ea"/>
              </a:rPr>
              <a:t> [genericOptions] [commandOptions]</a:t>
            </a:r>
            <a:endParaRPr lang="zh-CN" altLang="zh-CN" sz="2800" b="1">
              <a:sym typeface="+mn-ea"/>
            </a:endParaRPr>
          </a:p>
        </p:txBody>
      </p:sp>
      <p:sp>
        <p:nvSpPr>
          <p:cNvPr id="3" name="文本框 2"/>
          <p:cNvSpPr txBox="1"/>
          <p:nvPr/>
        </p:nvSpPr>
        <p:spPr>
          <a:xfrm>
            <a:off x="1321435" y="3429000"/>
            <a:ext cx="9341485" cy="1814830"/>
          </a:xfrm>
          <a:prstGeom prst="rect">
            <a:avLst/>
          </a:prstGeom>
          <a:noFill/>
        </p:spPr>
        <p:txBody>
          <a:bodyPr wrap="square" rtlCol="0" anchor="t">
            <a:spAutoFit/>
          </a:bodyPr>
          <a:p>
            <a:r>
              <a:rPr lang="zh-CN" altLang="en-US" sz="2800"/>
              <a:t>HDFS最常用的command：</a:t>
            </a:r>
            <a:r>
              <a:rPr lang="zh-CN" altLang="en-US" sz="2800" b="1"/>
              <a:t>fs</a:t>
            </a:r>
            <a:endParaRPr lang="zh-CN" altLang="en-US" sz="2800"/>
          </a:p>
          <a:p>
            <a:r>
              <a:rPr lang="zh-CN" altLang="en-US" sz="2800"/>
              <a:t>可查看HDFS的目录结构、上传和下载数据、创建文件等</a:t>
            </a:r>
            <a:endParaRPr lang="zh-CN" altLang="en-US" sz="2800"/>
          </a:p>
          <a:p>
            <a:endParaRPr lang="zh-CN" altLang="en-US" sz="2800"/>
          </a:p>
          <a:p>
            <a:r>
              <a:rPr lang="zh-CN" altLang="en-US" sz="2800" b="1"/>
              <a:t>hadoop fs [genericOptions] [commandOptions]</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2"/>
          <p:cNvSpPr>
            <a:spLocks noGrp="1" noChangeArrowheads="1"/>
          </p:cNvSpPr>
          <p:nvPr>
            <p:ph type="title"/>
          </p:nvPr>
        </p:nvSpPr>
        <p:spPr/>
        <p:txBody>
          <a:bodyPr/>
          <a:lstStyle/>
          <a:p>
            <a:r>
              <a:rPr lang="en-US" altLang="zh-CN" b="1"/>
              <a:t>3.7.1	HDFS</a:t>
            </a:r>
            <a:r>
              <a:rPr lang="zh-CN" altLang="en-US" b="1"/>
              <a:t>常用命令</a:t>
            </a:r>
            <a:endParaRPr lang="zh-CN" altLang="en-US" b="1"/>
          </a:p>
        </p:txBody>
      </p:sp>
      <p:sp>
        <p:nvSpPr>
          <p:cNvPr id="40963" name="Rectangle 5"/>
          <p:cNvSpPr>
            <a:spLocks noChangeArrowheads="1"/>
          </p:cNvSpPr>
          <p:nvPr/>
        </p:nvSpPr>
        <p:spPr bwMode="auto">
          <a:xfrm>
            <a:off x="1524000" y="3221515"/>
            <a:ext cx="89916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buFontTx/>
              <a:buNone/>
            </a:pPr>
            <a:endParaRPr lang="zh-CN" altLang="zh-CN" sz="2000"/>
          </a:p>
        </p:txBody>
      </p:sp>
      <p:sp>
        <p:nvSpPr>
          <p:cNvPr id="40964" name="矩形 1"/>
          <p:cNvSpPr>
            <a:spLocks noChangeArrowheads="1"/>
          </p:cNvSpPr>
          <p:nvPr/>
        </p:nvSpPr>
        <p:spPr bwMode="auto">
          <a:xfrm>
            <a:off x="1787525" y="1439864"/>
            <a:ext cx="80010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000"/>
              <a:t>hadoop fs -ls &lt;path&gt;:</a:t>
            </a:r>
            <a:r>
              <a:rPr lang="zh-CN" altLang="zh-CN" sz="2000"/>
              <a:t>显示</a:t>
            </a:r>
            <a:r>
              <a:rPr lang="en-US" altLang="zh-CN" sz="2000"/>
              <a:t>&lt;path&gt;</a:t>
            </a:r>
            <a:r>
              <a:rPr lang="zh-CN" altLang="zh-CN" sz="2000"/>
              <a:t>指定的文件的详细信息</a:t>
            </a:r>
            <a:endParaRPr lang="zh-CN" altLang="zh-CN" sz="2000"/>
          </a:p>
          <a:p>
            <a:pPr eaLnBrk="1" hangingPunct="1">
              <a:lnSpc>
                <a:spcPct val="150000"/>
              </a:lnSpc>
              <a:buFontTx/>
              <a:buNone/>
            </a:pPr>
            <a:endParaRPr lang="zh-CN" altLang="zh-CN" sz="2000"/>
          </a:p>
          <a:p>
            <a:pPr eaLnBrk="1" hangingPunct="1">
              <a:buFontTx/>
              <a:buNone/>
            </a:pPr>
            <a:r>
              <a:rPr lang="en-US" altLang="zh-CN" sz="2000"/>
              <a:t>hadoop fs -mkdir &lt;path&gt;:</a:t>
            </a:r>
            <a:r>
              <a:rPr lang="zh-CN" altLang="zh-CN" sz="2000"/>
              <a:t>创建</a:t>
            </a:r>
            <a:r>
              <a:rPr lang="en-US" altLang="zh-CN" sz="2000"/>
              <a:t>&lt;path&gt;</a:t>
            </a:r>
            <a:r>
              <a:rPr lang="zh-CN" altLang="zh-CN" sz="2000"/>
              <a:t>指定的文件夹</a:t>
            </a:r>
            <a:endParaRPr lang="zh-CN" altLang="zh-CN" sz="2000"/>
          </a:p>
        </p:txBody>
      </p:sp>
      <p:pic>
        <p:nvPicPr>
          <p:cNvPr id="4096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02001" y="2711451"/>
            <a:ext cx="5813425" cy="349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2"/>
          <p:cNvSpPr>
            <a:spLocks noGrp="1" noChangeArrowheads="1"/>
          </p:cNvSpPr>
          <p:nvPr>
            <p:ph type="title"/>
          </p:nvPr>
        </p:nvSpPr>
        <p:spPr/>
        <p:txBody>
          <a:bodyPr/>
          <a:lstStyle/>
          <a:p>
            <a:r>
              <a:rPr lang="en-US" altLang="zh-CN" b="1"/>
              <a:t>3.7.1	HDFS</a:t>
            </a:r>
            <a:r>
              <a:rPr lang="zh-CN" altLang="en-US" b="1"/>
              <a:t>常用命令</a:t>
            </a:r>
            <a:endParaRPr lang="zh-CN" altLang="en-US" b="1"/>
          </a:p>
        </p:txBody>
      </p:sp>
      <p:sp>
        <p:nvSpPr>
          <p:cNvPr id="41987" name="Rectangle 5"/>
          <p:cNvSpPr>
            <a:spLocks noChangeArrowheads="1"/>
          </p:cNvSpPr>
          <p:nvPr/>
        </p:nvSpPr>
        <p:spPr bwMode="auto">
          <a:xfrm>
            <a:off x="1524000" y="3221515"/>
            <a:ext cx="89916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buFontTx/>
              <a:buNone/>
            </a:pPr>
            <a:endParaRPr lang="zh-CN" altLang="zh-CN" sz="2000"/>
          </a:p>
        </p:txBody>
      </p:sp>
      <p:sp>
        <p:nvSpPr>
          <p:cNvPr id="41988" name="矩形 1"/>
          <p:cNvSpPr>
            <a:spLocks noChangeArrowheads="1"/>
          </p:cNvSpPr>
          <p:nvPr/>
        </p:nvSpPr>
        <p:spPr bwMode="auto">
          <a:xfrm>
            <a:off x="1665605" y="1346201"/>
            <a:ext cx="86106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Tx/>
              <a:buNone/>
            </a:pPr>
            <a:r>
              <a:rPr lang="zh-CN" altLang="zh-CN" sz="2000"/>
              <a:t>hadoop fs -cat &lt;path&gt;:</a:t>
            </a:r>
            <a:r>
              <a:rPr lang="zh-CN" altLang="en-US" sz="2000"/>
              <a:t>将</a:t>
            </a:r>
            <a:r>
              <a:rPr lang="zh-CN" altLang="zh-CN" sz="2000"/>
              <a:t>&lt;path&gt;</a:t>
            </a:r>
            <a:r>
              <a:rPr lang="zh-CN" altLang="en-US" sz="2000"/>
              <a:t>指定的文件的内容输出到标准输出（</a:t>
            </a:r>
            <a:r>
              <a:rPr lang="zh-CN" altLang="zh-CN" sz="2000"/>
              <a:t>stdout</a:t>
            </a:r>
            <a:r>
              <a:rPr lang="zh-CN" altLang="en-US" sz="2000"/>
              <a:t>）</a:t>
            </a:r>
            <a:endParaRPr lang="zh-CN" altLang="zh-CN" sz="2000"/>
          </a:p>
          <a:p>
            <a:pPr eaLnBrk="1" hangingPunct="1">
              <a:lnSpc>
                <a:spcPct val="150000"/>
              </a:lnSpc>
              <a:buFontTx/>
              <a:buNone/>
            </a:pPr>
            <a:r>
              <a:rPr lang="zh-CN" altLang="zh-CN" sz="2000"/>
              <a:t>hadoop fs -copyFromLocal &lt;localsrc&gt; &lt;dst&gt;:</a:t>
            </a:r>
            <a:r>
              <a:rPr lang="zh-CN" altLang="en-US" sz="2000"/>
              <a:t>将本地源文件</a:t>
            </a:r>
            <a:r>
              <a:rPr lang="zh-CN" altLang="zh-CN" sz="2000"/>
              <a:t>&lt;localsrc&gt;</a:t>
            </a:r>
            <a:r>
              <a:rPr lang="zh-CN" altLang="en-US" sz="2000"/>
              <a:t>复制到路径</a:t>
            </a:r>
            <a:r>
              <a:rPr lang="zh-CN" altLang="zh-CN" sz="2000"/>
              <a:t>&lt;dst&gt;</a:t>
            </a:r>
            <a:r>
              <a:rPr lang="zh-CN" altLang="en-US" sz="2000"/>
              <a:t>指定的文件或文件夹中</a:t>
            </a:r>
            <a:endParaRPr lang="zh-CN" altLang="en-US" sz="2000"/>
          </a:p>
        </p:txBody>
      </p:sp>
      <p:pic>
        <p:nvPicPr>
          <p:cNvPr id="41989"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92300" y="3001963"/>
            <a:ext cx="8383588"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2300" y="3846513"/>
            <a:ext cx="8362950" cy="213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2"/>
          <p:cNvSpPr>
            <a:spLocks noGrp="1" noChangeArrowheads="1"/>
          </p:cNvSpPr>
          <p:nvPr>
            <p:ph type="title"/>
          </p:nvPr>
        </p:nvSpPr>
        <p:spPr/>
        <p:txBody>
          <a:bodyPr/>
          <a:lstStyle/>
          <a:p>
            <a:r>
              <a:rPr lang="en-US" altLang="zh-CN" b="1"/>
              <a:t>3.7.2	HDFS</a:t>
            </a:r>
            <a:r>
              <a:rPr lang="zh-CN" altLang="en-US" b="1"/>
              <a:t>的</a:t>
            </a:r>
            <a:r>
              <a:rPr lang="en-US" altLang="zh-CN" b="1"/>
              <a:t>Web</a:t>
            </a:r>
            <a:r>
              <a:rPr lang="zh-CN" altLang="en-US" b="1"/>
              <a:t>界面</a:t>
            </a:r>
            <a:endParaRPr lang="zh-CN" altLang="en-US" b="1"/>
          </a:p>
        </p:txBody>
      </p:sp>
      <p:sp>
        <p:nvSpPr>
          <p:cNvPr id="43011" name="矩形 1"/>
          <p:cNvSpPr>
            <a:spLocks noChangeArrowheads="1"/>
          </p:cNvSpPr>
          <p:nvPr/>
        </p:nvSpPr>
        <p:spPr bwMode="auto">
          <a:xfrm>
            <a:off x="1590040" y="1243965"/>
            <a:ext cx="9549765"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Tx/>
              <a:buNone/>
            </a:pPr>
            <a:r>
              <a:rPr lang="zh-CN" altLang="en-US" sz="2400"/>
              <a:t>在配置好</a:t>
            </a:r>
            <a:r>
              <a:rPr lang="zh-CN" altLang="zh-CN" sz="2400"/>
              <a:t>Hadoop</a:t>
            </a:r>
            <a:r>
              <a:rPr lang="zh-CN" altLang="en-US" sz="2400"/>
              <a:t>集群之后，访问</a:t>
            </a:r>
            <a:r>
              <a:rPr lang="zh-CN" altLang="zh-CN" sz="2400"/>
              <a:t>HDFS</a:t>
            </a:r>
            <a:r>
              <a:rPr lang="zh-CN" altLang="en-US" sz="2400"/>
              <a:t>文件系统：</a:t>
            </a:r>
            <a:endParaRPr lang="zh-CN" altLang="en-US" sz="2400"/>
          </a:p>
          <a:p>
            <a:pPr eaLnBrk="1" hangingPunct="1">
              <a:lnSpc>
                <a:spcPct val="150000"/>
              </a:lnSpc>
              <a:buFontTx/>
              <a:buNone/>
            </a:pPr>
            <a:r>
              <a:rPr lang="zh-CN" altLang="en-US" sz="2400">
                <a:sym typeface="+mn-ea"/>
              </a:rPr>
              <a:t>可浏览器登录“</a:t>
            </a:r>
            <a:r>
              <a:rPr lang="zh-CN" altLang="zh-CN" sz="2400">
                <a:sym typeface="+mn-ea"/>
              </a:rPr>
              <a:t>http://</a:t>
            </a:r>
            <a:r>
              <a:rPr lang="zh-CN" altLang="zh-CN" sz="2400" b="1">
                <a:solidFill>
                  <a:srgbClr val="0070C0"/>
                </a:solidFill>
                <a:sym typeface="+mn-ea"/>
              </a:rPr>
              <a:t>名称节点</a:t>
            </a:r>
            <a:r>
              <a:rPr lang="en-US" altLang="zh-CN" sz="2400" b="1">
                <a:solidFill>
                  <a:srgbClr val="0070C0"/>
                </a:solidFill>
                <a:sym typeface="+mn-ea"/>
              </a:rPr>
              <a:t>IP</a:t>
            </a:r>
            <a:r>
              <a:rPr lang="zh-CN" altLang="zh-CN" sz="2400">
                <a:sym typeface="+mn-ea"/>
              </a:rPr>
              <a:t>:</a:t>
            </a:r>
            <a:r>
              <a:rPr lang="en-US" altLang="zh-CN" sz="2400">
                <a:sym typeface="+mn-ea"/>
              </a:rPr>
              <a:t>98</a:t>
            </a:r>
            <a:r>
              <a:rPr lang="zh-CN" altLang="zh-CN" sz="2400">
                <a:sym typeface="+mn-ea"/>
              </a:rPr>
              <a:t>70”</a:t>
            </a:r>
            <a:endParaRPr lang="zh-CN" altLang="en-US" sz="2400"/>
          </a:p>
          <a:p>
            <a:pPr eaLnBrk="1" hangingPunct="1">
              <a:lnSpc>
                <a:spcPct val="150000"/>
              </a:lnSpc>
              <a:buFontTx/>
              <a:buNone/>
            </a:pPr>
            <a:r>
              <a:rPr lang="zh-CN" altLang="en-US" sz="2400"/>
              <a:t>伪分布式安装的</a:t>
            </a:r>
            <a:r>
              <a:rPr lang="zh-CN" altLang="en-US" sz="2400">
                <a:solidFill>
                  <a:srgbClr val="0070C0"/>
                </a:solidFill>
              </a:rPr>
              <a:t>名称节点</a:t>
            </a:r>
            <a:r>
              <a:rPr lang="en-US" altLang="zh-CN" sz="2400">
                <a:solidFill>
                  <a:srgbClr val="0070C0"/>
                </a:solidFill>
              </a:rPr>
              <a:t>IP</a:t>
            </a:r>
            <a:r>
              <a:rPr lang="zh-CN" altLang="en-US" sz="2400"/>
              <a:t>用</a:t>
            </a:r>
            <a:r>
              <a:rPr lang="en-US" altLang="zh-CN" sz="2400" b="1">
                <a:solidFill>
                  <a:srgbClr val="FF0000"/>
                </a:solidFill>
                <a:sym typeface="+mn-ea"/>
              </a:rPr>
              <a:t>localhost</a:t>
            </a:r>
            <a:endParaRPr lang="en-US" altLang="zh-CN" sz="2400" b="1">
              <a:solidFill>
                <a:srgbClr val="FF0000"/>
              </a:solidFill>
              <a:sym typeface="+mn-ea"/>
            </a:endParaRPr>
          </a:p>
        </p:txBody>
      </p:sp>
      <p:pic>
        <p:nvPicPr>
          <p:cNvPr id="43013"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1980" y="3248660"/>
            <a:ext cx="8296275" cy="347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747125" y="2419350"/>
            <a:ext cx="2693035" cy="578388"/>
          </a:xfrm>
          <a:prstGeom prst="wedgeRoundRectCallout">
            <a:avLst>
              <a:gd name="adj1" fmla="val -44152"/>
              <a:gd name="adj2" fmla="val 265466"/>
              <a:gd name="adj3" fmla="val 16667"/>
            </a:avLst>
          </a:prstGeom>
        </p:spPr>
        <p:style>
          <a:lnRef idx="2">
            <a:schemeClr val="accent2"/>
          </a:lnRef>
          <a:fillRef idx="1">
            <a:schemeClr val="lt1"/>
          </a:fillRef>
          <a:effectRef idx="0">
            <a:schemeClr val="accent2"/>
          </a:effectRef>
          <a:fontRef idx="minor">
            <a:schemeClr val="dk1"/>
          </a:fontRef>
        </p:style>
        <p:txBody>
          <a:bodyPr wrap="square" rtlCol="0" anchor="t">
            <a:spAutoFit/>
          </a:bodyPr>
          <a:p>
            <a:r>
              <a:rPr lang="en-US" altLang="zh-CN" sz="2800" b="1">
                <a:sym typeface="+mn-ea"/>
              </a:rPr>
              <a:t>hadoop fs -ls /</a:t>
            </a:r>
            <a:endParaRPr lang="en-US" altLang="zh-CN" sz="2800" b="1">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2"/>
          <p:cNvSpPr>
            <a:spLocks noGrp="1" noChangeArrowheads="1"/>
          </p:cNvSpPr>
          <p:nvPr>
            <p:ph type="title"/>
          </p:nvPr>
        </p:nvSpPr>
        <p:spPr/>
        <p:txBody>
          <a:bodyPr/>
          <a:lstStyle/>
          <a:p>
            <a:r>
              <a:rPr lang="zh-CN" altLang="zh-CN" b="1"/>
              <a:t>3.7.3	HDFS常用Java API</a:t>
            </a:r>
            <a:endParaRPr lang="zh-CN" altLang="zh-CN" b="1"/>
          </a:p>
        </p:txBody>
      </p:sp>
      <p:sp>
        <p:nvSpPr>
          <p:cNvPr id="3" name="矩形 2"/>
          <p:cNvSpPr/>
          <p:nvPr/>
        </p:nvSpPr>
        <p:spPr>
          <a:xfrm>
            <a:off x="931545" y="1406525"/>
            <a:ext cx="3758565" cy="610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lnSpc>
                <a:spcPct val="100000"/>
              </a:lnSpc>
              <a:buFontTx/>
              <a:buNone/>
            </a:pPr>
            <a:r>
              <a:rPr lang="en-US" sz="2800" b="1">
                <a:sym typeface="+mn-ea"/>
              </a:rPr>
              <a:t>org.apache.hadoop.fs.</a:t>
            </a:r>
            <a:endParaRPr lang="en-US" altLang="en-US" sz="2800" b="1">
              <a:sym typeface="+mn-ea"/>
            </a:endParaRPr>
          </a:p>
        </p:txBody>
      </p:sp>
      <p:sp>
        <p:nvSpPr>
          <p:cNvPr id="5" name="矩形 4"/>
          <p:cNvSpPr/>
          <p:nvPr/>
        </p:nvSpPr>
        <p:spPr>
          <a:xfrm>
            <a:off x="1852930" y="2137410"/>
            <a:ext cx="3708400" cy="6102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eaLnBrk="1" hangingPunct="1">
              <a:lnSpc>
                <a:spcPct val="100000"/>
              </a:lnSpc>
              <a:buFontTx/>
              <a:buNone/>
            </a:pPr>
            <a:r>
              <a:rPr lang="en-US" sz="2800" b="1">
                <a:sym typeface="+mn-ea"/>
              </a:rPr>
              <a:t>FileSystem</a:t>
            </a:r>
            <a:endParaRPr lang="en-US" altLang="en-US" sz="2800" b="1">
              <a:sym typeface="+mn-ea"/>
            </a:endParaRPr>
          </a:p>
        </p:txBody>
      </p:sp>
      <p:sp>
        <p:nvSpPr>
          <p:cNvPr id="6" name="矩形 5"/>
          <p:cNvSpPr/>
          <p:nvPr/>
        </p:nvSpPr>
        <p:spPr>
          <a:xfrm>
            <a:off x="1852930" y="3493770"/>
            <a:ext cx="3709035" cy="6102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eaLnBrk="1" hangingPunct="1">
              <a:lnSpc>
                <a:spcPct val="100000"/>
              </a:lnSpc>
              <a:buFontTx/>
              <a:buNone/>
            </a:pPr>
            <a:r>
              <a:rPr lang="en-US" sz="2800" b="1">
                <a:sym typeface="+mn-ea"/>
              </a:rPr>
              <a:t>FSDataIntputStream</a:t>
            </a:r>
            <a:endParaRPr lang="en-US" altLang="en-US" sz="2800" b="1">
              <a:sym typeface="+mn-ea"/>
            </a:endParaRPr>
          </a:p>
        </p:txBody>
      </p:sp>
      <p:sp>
        <p:nvSpPr>
          <p:cNvPr id="7" name="矩形 6"/>
          <p:cNvSpPr/>
          <p:nvPr/>
        </p:nvSpPr>
        <p:spPr>
          <a:xfrm>
            <a:off x="1852930" y="4908550"/>
            <a:ext cx="3709035" cy="6102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eaLnBrk="1" hangingPunct="1">
              <a:lnSpc>
                <a:spcPct val="100000"/>
              </a:lnSpc>
              <a:buFontTx/>
              <a:buNone/>
            </a:pPr>
            <a:r>
              <a:rPr lang="en-US" sz="2800" b="1">
                <a:sym typeface="+mn-ea"/>
              </a:rPr>
              <a:t>Path</a:t>
            </a:r>
            <a:endParaRPr lang="en-US" altLang="en-US" sz="2800" b="1">
              <a:sym typeface="+mn-ea"/>
            </a:endParaRPr>
          </a:p>
        </p:txBody>
      </p:sp>
      <p:sp>
        <p:nvSpPr>
          <p:cNvPr id="8" name="矩形 7"/>
          <p:cNvSpPr/>
          <p:nvPr/>
        </p:nvSpPr>
        <p:spPr>
          <a:xfrm>
            <a:off x="1852930" y="4201160"/>
            <a:ext cx="3709035" cy="6102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eaLnBrk="1" hangingPunct="1">
              <a:lnSpc>
                <a:spcPct val="100000"/>
              </a:lnSpc>
              <a:buFontTx/>
              <a:buNone/>
            </a:pPr>
            <a:r>
              <a:rPr lang="en-US" sz="2800" b="1">
                <a:sym typeface="+mn-ea"/>
              </a:rPr>
              <a:t>FSDataOutputStream</a:t>
            </a:r>
            <a:endParaRPr lang="en-US" altLang="en-US" sz="2800" b="1">
              <a:sym typeface="+mn-ea"/>
            </a:endParaRPr>
          </a:p>
        </p:txBody>
      </p:sp>
      <p:sp>
        <p:nvSpPr>
          <p:cNvPr id="9" name="矩形 8"/>
          <p:cNvSpPr/>
          <p:nvPr/>
        </p:nvSpPr>
        <p:spPr>
          <a:xfrm>
            <a:off x="1852930" y="2786380"/>
            <a:ext cx="3709035" cy="6102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eaLnBrk="1" hangingPunct="1">
              <a:lnSpc>
                <a:spcPct val="100000"/>
              </a:lnSpc>
              <a:buFontTx/>
              <a:buNone/>
            </a:pPr>
            <a:r>
              <a:rPr lang="en-US" sz="2800" b="1">
                <a:sym typeface="+mn-ea"/>
              </a:rPr>
              <a:t>Configuration</a:t>
            </a:r>
            <a:endParaRPr lang="en-US" altLang="en-US" sz="2800" b="1">
              <a:sym typeface="+mn-ea"/>
            </a:endParaRPr>
          </a:p>
        </p:txBody>
      </p:sp>
      <p:sp>
        <p:nvSpPr>
          <p:cNvPr id="10" name="文本框 9"/>
          <p:cNvSpPr txBox="1"/>
          <p:nvPr/>
        </p:nvSpPr>
        <p:spPr>
          <a:xfrm>
            <a:off x="5933440" y="2874645"/>
            <a:ext cx="2014855" cy="521970"/>
          </a:xfrm>
          <a:prstGeom prst="rect">
            <a:avLst/>
          </a:prstGeom>
          <a:noFill/>
        </p:spPr>
        <p:txBody>
          <a:bodyPr wrap="square" rtlCol="0">
            <a:spAutoFit/>
          </a:bodyPr>
          <a:p>
            <a:r>
              <a:rPr lang="zh-CN" altLang="en-US" sz="2800"/>
              <a:t>访问配置项</a:t>
            </a:r>
            <a:endParaRPr lang="zh-CN" altLang="en-US" sz="2800"/>
          </a:p>
        </p:txBody>
      </p:sp>
      <p:sp>
        <p:nvSpPr>
          <p:cNvPr id="11" name="文本框 10"/>
          <p:cNvSpPr txBox="1"/>
          <p:nvPr/>
        </p:nvSpPr>
        <p:spPr>
          <a:xfrm>
            <a:off x="5933440" y="2225675"/>
            <a:ext cx="3133090" cy="521970"/>
          </a:xfrm>
          <a:prstGeom prst="rect">
            <a:avLst/>
          </a:prstGeom>
          <a:noFill/>
        </p:spPr>
        <p:txBody>
          <a:bodyPr wrap="square" rtlCol="0">
            <a:spAutoFit/>
          </a:bodyPr>
          <a:p>
            <a:r>
              <a:rPr lang="zh-CN" altLang="en-US" sz="2800"/>
              <a:t>文件系统抽象基类</a:t>
            </a:r>
            <a:endParaRPr lang="zh-CN" altLang="en-US" sz="2800"/>
          </a:p>
        </p:txBody>
      </p:sp>
      <p:sp>
        <p:nvSpPr>
          <p:cNvPr id="12" name="文本框 11"/>
          <p:cNvSpPr txBox="1"/>
          <p:nvPr/>
        </p:nvSpPr>
        <p:spPr>
          <a:xfrm>
            <a:off x="5933440" y="3582035"/>
            <a:ext cx="3133090" cy="521970"/>
          </a:xfrm>
          <a:prstGeom prst="rect">
            <a:avLst/>
          </a:prstGeom>
          <a:noFill/>
        </p:spPr>
        <p:txBody>
          <a:bodyPr wrap="square" rtlCol="0">
            <a:spAutoFit/>
          </a:bodyPr>
          <a:p>
            <a:r>
              <a:rPr lang="zh-CN" altLang="en-US" sz="2800"/>
              <a:t>文件输入流</a:t>
            </a:r>
            <a:endParaRPr lang="zh-CN" altLang="en-US" sz="2800"/>
          </a:p>
        </p:txBody>
      </p:sp>
      <p:sp>
        <p:nvSpPr>
          <p:cNvPr id="13" name="文本框 12"/>
          <p:cNvSpPr txBox="1"/>
          <p:nvPr/>
        </p:nvSpPr>
        <p:spPr>
          <a:xfrm>
            <a:off x="5933440" y="4289425"/>
            <a:ext cx="3133090" cy="521970"/>
          </a:xfrm>
          <a:prstGeom prst="rect">
            <a:avLst/>
          </a:prstGeom>
          <a:noFill/>
        </p:spPr>
        <p:txBody>
          <a:bodyPr wrap="square" rtlCol="0">
            <a:spAutoFit/>
          </a:bodyPr>
          <a:p>
            <a:r>
              <a:rPr lang="zh-CN" altLang="en-US" sz="2800"/>
              <a:t>文件输出流</a:t>
            </a:r>
            <a:endParaRPr lang="zh-CN" altLang="en-US" sz="2800"/>
          </a:p>
        </p:txBody>
      </p:sp>
      <p:sp>
        <p:nvSpPr>
          <p:cNvPr id="14" name="文本框 13"/>
          <p:cNvSpPr txBox="1"/>
          <p:nvPr/>
        </p:nvSpPr>
        <p:spPr>
          <a:xfrm>
            <a:off x="5991860" y="4938395"/>
            <a:ext cx="3133090" cy="521970"/>
          </a:xfrm>
          <a:prstGeom prst="rect">
            <a:avLst/>
          </a:prstGeom>
          <a:noFill/>
        </p:spPr>
        <p:txBody>
          <a:bodyPr wrap="square" rtlCol="0">
            <a:spAutoFit/>
          </a:bodyPr>
          <a:p>
            <a:r>
              <a:rPr lang="zh-CN" altLang="en-US" sz="2800"/>
              <a:t>文件或目录路径</a:t>
            </a:r>
            <a:endParaRPr lang="en-US" altLang="zh-CN" sz="2800"/>
          </a:p>
        </p:txBody>
      </p:sp>
      <p:sp>
        <p:nvSpPr>
          <p:cNvPr id="15" name="矩形 14"/>
          <p:cNvSpPr/>
          <p:nvPr/>
        </p:nvSpPr>
        <p:spPr>
          <a:xfrm>
            <a:off x="1852930" y="5581015"/>
            <a:ext cx="3709035" cy="6102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eaLnBrk="1" hangingPunct="1">
              <a:lnSpc>
                <a:spcPct val="100000"/>
              </a:lnSpc>
              <a:buFontTx/>
              <a:buNone/>
            </a:pPr>
            <a:r>
              <a:rPr lang="en-US" sz="2800" b="1">
                <a:sym typeface="+mn-ea"/>
              </a:rPr>
              <a:t>PathFilter</a:t>
            </a:r>
            <a:endParaRPr lang="en-US" altLang="en-US" sz="2800" b="1">
              <a:sym typeface="+mn-ea"/>
            </a:endParaRPr>
          </a:p>
        </p:txBody>
      </p:sp>
      <p:sp>
        <p:nvSpPr>
          <p:cNvPr id="16" name="文本框 15"/>
          <p:cNvSpPr txBox="1"/>
          <p:nvPr/>
        </p:nvSpPr>
        <p:spPr>
          <a:xfrm>
            <a:off x="5991860" y="5610860"/>
            <a:ext cx="6055360" cy="521970"/>
          </a:xfrm>
          <a:prstGeom prst="rect">
            <a:avLst/>
          </a:prstGeom>
          <a:noFill/>
        </p:spPr>
        <p:txBody>
          <a:bodyPr wrap="square" rtlCol="0">
            <a:spAutoFit/>
          </a:bodyPr>
          <a:p>
            <a:r>
              <a:rPr lang="zh-CN" altLang="en-US" sz="2800"/>
              <a:t>补充实现</a:t>
            </a:r>
            <a:r>
              <a:rPr lang="en-US" altLang="zh-CN" sz="2800"/>
              <a:t>accept(path)</a:t>
            </a:r>
            <a:r>
              <a:rPr lang="zh-CN" altLang="en-US" sz="2800"/>
              <a:t>判断是否接收</a:t>
            </a:r>
            <a:endParaRPr lang="en-US" altLang="zh-CN" sz="2800"/>
          </a:p>
        </p:txBody>
      </p:sp>
      <p:sp>
        <p:nvSpPr>
          <p:cNvPr id="17" name="矩形 16"/>
          <p:cNvSpPr/>
          <p:nvPr/>
        </p:nvSpPr>
        <p:spPr>
          <a:xfrm>
            <a:off x="1852930" y="6253480"/>
            <a:ext cx="3709035" cy="6102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eaLnBrk="1" hangingPunct="1">
              <a:lnSpc>
                <a:spcPct val="100000"/>
              </a:lnSpc>
              <a:buFontTx/>
              <a:buNone/>
            </a:pPr>
            <a:r>
              <a:rPr lang="en-US" sz="2800" b="1">
                <a:sym typeface="+mn-ea"/>
              </a:rPr>
              <a:t>FileStatus</a:t>
            </a:r>
            <a:endParaRPr lang="en-US" altLang="en-US" sz="2800" b="1">
              <a:sym typeface="+mn-ea"/>
            </a:endParaRPr>
          </a:p>
        </p:txBody>
      </p:sp>
      <p:sp>
        <p:nvSpPr>
          <p:cNvPr id="18" name="文本框 17"/>
          <p:cNvSpPr txBox="1"/>
          <p:nvPr/>
        </p:nvSpPr>
        <p:spPr>
          <a:xfrm>
            <a:off x="5991860" y="6283325"/>
            <a:ext cx="6055995" cy="521970"/>
          </a:xfrm>
          <a:prstGeom prst="rect">
            <a:avLst/>
          </a:prstGeom>
          <a:noFill/>
        </p:spPr>
        <p:txBody>
          <a:bodyPr wrap="square" rtlCol="0">
            <a:spAutoFit/>
          </a:bodyPr>
          <a:p>
            <a:r>
              <a:rPr lang="zh-CN" altLang="en-US" sz="2800"/>
              <a:t>展示文件系统中文件和目录的元数据</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5" grpId="1" animBg="1"/>
      <p:bldP spid="11" grpId="1"/>
      <p:bldP spid="9" grpId="0" animBg="1"/>
      <p:bldP spid="10" grpId="0"/>
      <p:bldP spid="9" grpId="1" animBg="1"/>
      <p:bldP spid="10" grpId="1"/>
      <p:bldP spid="6" grpId="0" animBg="1"/>
      <p:bldP spid="7" grpId="0" animBg="1"/>
      <p:bldP spid="8" grpId="0" animBg="1"/>
      <p:bldP spid="12" grpId="0"/>
      <p:bldP spid="13" grpId="0"/>
      <p:bldP spid="14" grpId="0"/>
      <p:bldP spid="6" grpId="1" animBg="1"/>
      <p:bldP spid="7" grpId="1" animBg="1"/>
      <p:bldP spid="8" grpId="1" animBg="1"/>
      <p:bldP spid="12" grpId="1"/>
      <p:bldP spid="13" grpId="1"/>
      <p:bldP spid="14" grpId="1"/>
      <p:bldP spid="15" grpId="0" animBg="1"/>
      <p:bldP spid="16" grpId="0"/>
      <p:bldP spid="15" grpId="1" animBg="1"/>
      <p:bldP spid="16" grpId="1"/>
      <p:bldP spid="17" grpId="0" animBg="1"/>
      <p:bldP spid="18" grpId="0"/>
      <p:bldP spid="17" grpId="1" animBg="1"/>
      <p:bldP spid="18"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2"/>
          <p:cNvSpPr>
            <a:spLocks noGrp="1" noChangeArrowheads="1"/>
          </p:cNvSpPr>
          <p:nvPr>
            <p:ph type="title"/>
          </p:nvPr>
        </p:nvSpPr>
        <p:spPr/>
        <p:txBody>
          <a:bodyPr/>
          <a:lstStyle/>
          <a:p>
            <a:r>
              <a:rPr lang="zh-CN" altLang="zh-CN" b="1"/>
              <a:t>3.7.3	应用实例</a:t>
            </a:r>
            <a:endParaRPr lang="zh-CN" altLang="zh-CN" b="1"/>
          </a:p>
        </p:txBody>
      </p:sp>
      <p:sp>
        <p:nvSpPr>
          <p:cNvPr id="44035" name="矩形 3"/>
          <p:cNvSpPr>
            <a:spLocks noChangeArrowheads="1"/>
          </p:cNvSpPr>
          <p:nvPr/>
        </p:nvSpPr>
        <p:spPr bwMode="auto">
          <a:xfrm>
            <a:off x="1593850" y="1398905"/>
            <a:ext cx="9303385" cy="203009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Tx/>
              <a:buNone/>
            </a:pPr>
            <a:r>
              <a:rPr lang="zh-CN" altLang="en-US" sz="2800" b="1"/>
              <a:t>利用</a:t>
            </a:r>
            <a:r>
              <a:rPr lang="en-US" altLang="zh-CN" sz="2800" b="1"/>
              <a:t>Java API</a:t>
            </a:r>
            <a:r>
              <a:rPr lang="zh-CN" altLang="en-US" sz="2800" b="1"/>
              <a:t>与</a:t>
            </a:r>
            <a:r>
              <a:rPr lang="en-US" altLang="zh-CN" sz="2800" b="1"/>
              <a:t>HDFS</a:t>
            </a:r>
            <a:r>
              <a:rPr lang="zh-CN" altLang="en-US" sz="2800" b="1"/>
              <a:t>进行交互</a:t>
            </a:r>
            <a:endParaRPr lang="en-US" altLang="zh-CN" sz="2800" b="1"/>
          </a:p>
          <a:p>
            <a:pPr eaLnBrk="1" hangingPunct="1">
              <a:lnSpc>
                <a:spcPct val="150000"/>
              </a:lnSpc>
              <a:buFontTx/>
              <a:buNone/>
            </a:pPr>
            <a:r>
              <a:rPr lang="zh-CN" altLang="en-US" sz="2800"/>
              <a:t>准备工作：在</a:t>
            </a:r>
            <a:r>
              <a:rPr lang="en-US" altLang="zh-CN" sz="2800"/>
              <a:t>Ubuntu</a:t>
            </a:r>
            <a:r>
              <a:rPr lang="zh-CN" altLang="en-US" sz="2800"/>
              <a:t>系统中安装开发工具</a:t>
            </a:r>
            <a:r>
              <a:rPr lang="en-US" altLang="zh-CN" sz="2800"/>
              <a:t>Eclipse</a:t>
            </a:r>
            <a:endParaRPr lang="en-US" altLang="zh-CN" sz="2800"/>
          </a:p>
          <a:p>
            <a:pPr eaLnBrk="1" hangingPunct="1">
              <a:lnSpc>
                <a:spcPct val="150000"/>
              </a:lnSpc>
              <a:buFontTx/>
              <a:buNone/>
            </a:pPr>
            <a:r>
              <a:rPr lang="zh-CN" altLang="en-US" sz="2800"/>
              <a:t>参考地址：</a:t>
            </a:r>
            <a:r>
              <a:rPr lang="en-US" altLang="zh-CN" sz="2800"/>
              <a:t> http://dblab.xmu.edu.cn/blog/2460-2/</a:t>
            </a:r>
            <a:endParaRPr lang="en-US" altLang="zh-CN" sz="2800"/>
          </a:p>
        </p:txBody>
      </p:sp>
      <p:sp>
        <p:nvSpPr>
          <p:cNvPr id="2" name="文本框 1"/>
          <p:cNvSpPr txBox="1"/>
          <p:nvPr/>
        </p:nvSpPr>
        <p:spPr>
          <a:xfrm>
            <a:off x="1593850" y="3572510"/>
            <a:ext cx="9303385" cy="3107690"/>
          </a:xfrm>
          <a:prstGeom prst="rect">
            <a:avLst/>
          </a:prstGeom>
          <a:solidFill>
            <a:schemeClr val="bg2"/>
          </a:solidFill>
        </p:spPr>
        <p:txBody>
          <a:bodyPr wrap="square" rtlCol="0" anchor="t">
            <a:spAutoFit/>
          </a:bodyPr>
          <a:p>
            <a:pPr eaLnBrk="1" hangingPunct="1"/>
            <a:r>
              <a:rPr lang="zh-CN" altLang="en-US" sz="2800">
                <a:sym typeface="+mn-ea"/>
              </a:rPr>
              <a:t>实例：</a:t>
            </a:r>
            <a:r>
              <a:rPr lang="zh-CN" altLang="zh-CN" sz="2800">
                <a:sym typeface="+mn-ea"/>
              </a:rPr>
              <a:t>文件的过滤与合并</a:t>
            </a:r>
            <a:endParaRPr lang="en-US" altLang="zh-CN" sz="2800"/>
          </a:p>
          <a:p>
            <a:pPr eaLnBrk="1" hangingPunct="1"/>
            <a:r>
              <a:rPr lang="zh-CN" altLang="zh-CN" sz="2800">
                <a:latin typeface="Times New Roman" panose="02020603050405020304" pitchFamily="18" charset="0"/>
                <a:sym typeface="+mn-ea"/>
              </a:rPr>
              <a:t>任务内容：</a:t>
            </a:r>
            <a:endParaRPr lang="zh-CN" altLang="zh-CN" sz="2800">
              <a:latin typeface="Times New Roman" panose="02020603050405020304" pitchFamily="18" charset="0"/>
              <a:sym typeface="+mn-ea"/>
            </a:endParaRPr>
          </a:p>
          <a:p>
            <a:pPr indent="457200" eaLnBrk="1" hangingPunct="1"/>
            <a:r>
              <a:rPr lang="zh-CN" altLang="zh-CN" sz="2800">
                <a:latin typeface="Times New Roman" panose="02020603050405020304" pitchFamily="18" charset="0"/>
                <a:sym typeface="+mn-ea"/>
              </a:rPr>
              <a:t>目录</a:t>
            </a:r>
            <a:r>
              <a:rPr lang="en-US" altLang="zh-CN" sz="2800">
                <a:latin typeface="Times New Roman" panose="02020603050405020304" pitchFamily="18" charset="0"/>
                <a:sym typeface="+mn-ea"/>
              </a:rPr>
              <a:t>“hdfs://localhost:9000/user/hadoop</a:t>
            </a:r>
            <a:r>
              <a:rPr lang="zh-CN" altLang="zh-CN" sz="2800">
                <a:latin typeface="Times New Roman" panose="02020603050405020304" pitchFamily="18" charset="0"/>
                <a:sym typeface="+mn-ea"/>
              </a:rPr>
              <a:t>”下面有几个文件：</a:t>
            </a:r>
            <a:endParaRPr lang="zh-CN" altLang="zh-CN" sz="2800">
              <a:latin typeface="Times New Roman" panose="02020603050405020304" pitchFamily="18" charset="0"/>
              <a:sym typeface="+mn-ea"/>
            </a:endParaRPr>
          </a:p>
          <a:p>
            <a:pPr indent="457200" eaLnBrk="1" hangingPunct="1"/>
            <a:r>
              <a:rPr lang="en-US" altLang="zh-CN" sz="2800">
                <a:latin typeface="Times New Roman" panose="02020603050405020304" pitchFamily="18" charset="0"/>
                <a:sym typeface="+mn-ea"/>
              </a:rPr>
              <a:t>file1.txt</a:t>
            </a:r>
            <a:r>
              <a:rPr lang="zh-CN" altLang="zh-CN" sz="2800">
                <a:latin typeface="Times New Roman" panose="02020603050405020304" pitchFamily="18" charset="0"/>
                <a:sym typeface="+mn-ea"/>
              </a:rPr>
              <a:t>、</a:t>
            </a:r>
            <a:r>
              <a:rPr lang="en-US" altLang="zh-CN" sz="2800">
                <a:latin typeface="Times New Roman" panose="02020603050405020304" pitchFamily="18" charset="0"/>
                <a:sym typeface="+mn-ea"/>
              </a:rPr>
              <a:t>file2.txt</a:t>
            </a:r>
            <a:r>
              <a:rPr lang="zh-CN" altLang="zh-CN" sz="2800">
                <a:latin typeface="Times New Roman" panose="02020603050405020304" pitchFamily="18" charset="0"/>
                <a:sym typeface="+mn-ea"/>
              </a:rPr>
              <a:t>、</a:t>
            </a:r>
            <a:r>
              <a:rPr lang="en-US" altLang="zh-CN" sz="2800">
                <a:latin typeface="Times New Roman" panose="02020603050405020304" pitchFamily="18" charset="0"/>
                <a:sym typeface="+mn-ea"/>
              </a:rPr>
              <a:t>file3.txt</a:t>
            </a:r>
            <a:r>
              <a:rPr lang="zh-CN" altLang="zh-CN" sz="2800">
                <a:latin typeface="Times New Roman" panose="02020603050405020304" pitchFamily="18" charset="0"/>
                <a:sym typeface="+mn-ea"/>
              </a:rPr>
              <a:t>、</a:t>
            </a:r>
            <a:r>
              <a:rPr lang="en-US" altLang="zh-CN" sz="2800">
                <a:latin typeface="Times New Roman" panose="02020603050405020304" pitchFamily="18" charset="0"/>
                <a:sym typeface="+mn-ea"/>
              </a:rPr>
              <a:t>file4.abc</a:t>
            </a:r>
            <a:r>
              <a:rPr lang="zh-CN" altLang="zh-CN" sz="2800">
                <a:latin typeface="Times New Roman" panose="02020603050405020304" pitchFamily="18" charset="0"/>
                <a:sym typeface="+mn-ea"/>
              </a:rPr>
              <a:t>和</a:t>
            </a:r>
            <a:r>
              <a:rPr lang="en-US" altLang="zh-CN" sz="2800">
                <a:latin typeface="Times New Roman" panose="02020603050405020304" pitchFamily="18" charset="0"/>
                <a:sym typeface="+mn-ea"/>
              </a:rPr>
              <a:t>file5.abc</a:t>
            </a:r>
            <a:r>
              <a:rPr lang="zh-CN" altLang="en-US" sz="2800">
                <a:latin typeface="Times New Roman" panose="02020603050405020304" pitchFamily="18" charset="0"/>
                <a:sym typeface="+mn-ea"/>
              </a:rPr>
              <a:t>。</a:t>
            </a:r>
            <a:endParaRPr lang="en-US" altLang="zh-CN" sz="2800">
              <a:latin typeface="Times New Roman" panose="02020603050405020304" pitchFamily="18" charset="0"/>
              <a:sym typeface="+mn-ea"/>
            </a:endParaRPr>
          </a:p>
          <a:p>
            <a:pPr indent="457200" eaLnBrk="1" hangingPunct="1"/>
            <a:r>
              <a:rPr lang="zh-CN" altLang="zh-CN" sz="2800">
                <a:latin typeface="Calibri" panose="020F0502020204030204" charset="0"/>
                <a:sym typeface="+mn-ea"/>
              </a:rPr>
              <a:t>从该目录中过滤出所有后缀名不为</a:t>
            </a:r>
            <a:r>
              <a:rPr lang="en-US" altLang="zh-CN" sz="2800">
                <a:latin typeface="Calibri" panose="020F0502020204030204" charset="0"/>
                <a:sym typeface="+mn-ea"/>
              </a:rPr>
              <a:t>“.abc</a:t>
            </a:r>
            <a:r>
              <a:rPr lang="zh-CN" altLang="zh-CN" sz="2800">
                <a:latin typeface="Calibri" panose="020F0502020204030204" charset="0"/>
                <a:sym typeface="+mn-ea"/>
              </a:rPr>
              <a:t>”的文件，</a:t>
            </a:r>
            <a:endParaRPr lang="zh-CN" altLang="zh-CN" sz="2800">
              <a:latin typeface="Calibri" panose="020F0502020204030204" charset="0"/>
              <a:sym typeface="+mn-ea"/>
            </a:endParaRPr>
          </a:p>
          <a:p>
            <a:pPr indent="457200" eaLnBrk="1" hangingPunct="1"/>
            <a:r>
              <a:rPr lang="zh-CN" altLang="zh-CN" sz="2800">
                <a:latin typeface="Calibri" panose="020F0502020204030204" charset="0"/>
                <a:sym typeface="+mn-ea"/>
              </a:rPr>
              <a:t>对过滤之后的文件进行读取，并将这些文件的内容合并到文件</a:t>
            </a:r>
            <a:r>
              <a:rPr lang="en-US" altLang="zh-CN" sz="2800">
                <a:latin typeface="Calibri" panose="020F0502020204030204" charset="0"/>
                <a:sym typeface="+mn-ea"/>
              </a:rPr>
              <a:t>“hdfs://localhost:9000/user/hadoop/merge.txt</a:t>
            </a:r>
            <a:r>
              <a:rPr lang="zh-CN" altLang="zh-CN" sz="2800">
                <a:latin typeface="Calibri" panose="020F0502020204030204" charset="0"/>
                <a:sym typeface="+mn-ea"/>
              </a:rPr>
              <a:t>”中。</a:t>
            </a:r>
            <a:endParaRPr lang="zh-CN" altLang="zh-CN" sz="2800">
              <a:latin typeface="Calibri" panose="020F0502020204030204" charset="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b="1"/>
              <a:t>本章小结</a:t>
            </a:r>
            <a:endParaRPr lang="zh-CN" altLang="en-US" b="1"/>
          </a:p>
        </p:txBody>
      </p:sp>
      <p:sp>
        <p:nvSpPr>
          <p:cNvPr id="74755" name="Rectangle 3"/>
          <p:cNvSpPr>
            <a:spLocks noGrp="1" noChangeArrowheads="1"/>
          </p:cNvSpPr>
          <p:nvPr>
            <p:ph idx="1"/>
          </p:nvPr>
        </p:nvSpPr>
        <p:spPr>
          <a:xfrm>
            <a:off x="441960" y="1510665"/>
            <a:ext cx="11348720" cy="4991735"/>
          </a:xfrm>
        </p:spPr>
        <p:txBody>
          <a:bodyPr>
            <a:noAutofit/>
          </a:bodyPr>
          <a:lstStyle/>
          <a:p>
            <a:pPr>
              <a:lnSpc>
                <a:spcPct val="80000"/>
              </a:lnSpc>
            </a:pPr>
            <a:r>
              <a:rPr lang="en-US" altLang="zh-CN" sz="2400"/>
              <a:t>DFS</a:t>
            </a:r>
            <a:r>
              <a:rPr lang="zh-CN" altLang="en-US" sz="2400"/>
              <a:t>是大数据时代解决大规模数据存储问题的有效解决方案，</a:t>
            </a:r>
            <a:r>
              <a:rPr lang="en-US" altLang="zh-CN" sz="2400"/>
              <a:t>HDFS</a:t>
            </a:r>
            <a:r>
              <a:rPr lang="zh-CN" altLang="en-US" sz="2400"/>
              <a:t>开源实现了</a:t>
            </a:r>
            <a:r>
              <a:rPr lang="en-US" altLang="zh-CN" sz="2400"/>
              <a:t>GFS</a:t>
            </a:r>
            <a:r>
              <a:rPr lang="zh-CN" altLang="en-US" sz="2400"/>
              <a:t>，可以利用由廉价硬件构成的计算机集群实现海量数据的分布式存储</a:t>
            </a:r>
            <a:endParaRPr lang="zh-CN" altLang="en-US" sz="2400"/>
          </a:p>
          <a:p>
            <a:pPr>
              <a:lnSpc>
                <a:spcPct val="80000"/>
              </a:lnSpc>
            </a:pPr>
            <a:r>
              <a:rPr lang="en-US" altLang="zh-CN" sz="2400"/>
              <a:t>HDFS</a:t>
            </a:r>
            <a:r>
              <a:rPr lang="zh-CN" altLang="en-US" sz="2400"/>
              <a:t>具有兼容廉价的硬件设备、流数据读写、大数据集、简单的文件模型、强大的跨平台兼容性等特点。但是，</a:t>
            </a:r>
            <a:r>
              <a:rPr lang="en-US" altLang="zh-CN" sz="2400"/>
              <a:t>HDFS</a:t>
            </a:r>
            <a:r>
              <a:rPr lang="zh-CN" altLang="en-US" sz="2400"/>
              <a:t>也有自身的局限性，比如不适合低延迟数据访问、无法高效存储大量小文件和不支持多用户写入及任意修改文件等</a:t>
            </a:r>
            <a:endParaRPr lang="zh-CN" altLang="en-US" sz="2400"/>
          </a:p>
          <a:p>
            <a:pPr>
              <a:lnSpc>
                <a:spcPct val="80000"/>
              </a:lnSpc>
            </a:pPr>
            <a:r>
              <a:rPr lang="zh-CN" altLang="en-US" sz="2400">
                <a:highlight>
                  <a:srgbClr val="FFFF00"/>
                </a:highlight>
              </a:rPr>
              <a:t>块是</a:t>
            </a:r>
            <a:r>
              <a:rPr lang="en-US" altLang="zh-CN" sz="2400">
                <a:highlight>
                  <a:srgbClr val="FFFF00"/>
                </a:highlight>
              </a:rPr>
              <a:t>HDFS</a:t>
            </a:r>
            <a:r>
              <a:rPr lang="zh-CN" altLang="en-US" sz="2400">
                <a:highlight>
                  <a:srgbClr val="FFFF00"/>
                </a:highlight>
              </a:rPr>
              <a:t>核心的概念</a:t>
            </a:r>
            <a:r>
              <a:rPr lang="zh-CN" altLang="en-US" sz="2400"/>
              <a:t>，一个大的文件会被拆分成很多个块。</a:t>
            </a:r>
            <a:r>
              <a:rPr lang="en-US" altLang="zh-CN" sz="2400"/>
              <a:t>HDFS</a:t>
            </a:r>
            <a:r>
              <a:rPr lang="zh-CN" altLang="en-US" sz="2400"/>
              <a:t>采用抽象的块概念，具有支持大规模文件存储、简化系统设计、适合数据备份等优点</a:t>
            </a:r>
            <a:endParaRPr lang="zh-CN" altLang="en-US" sz="2400"/>
          </a:p>
          <a:p>
            <a:pPr>
              <a:lnSpc>
                <a:spcPct val="80000"/>
              </a:lnSpc>
            </a:pPr>
            <a:r>
              <a:rPr lang="en-US" altLang="zh-CN" sz="2400"/>
              <a:t>HDFS</a:t>
            </a:r>
            <a:r>
              <a:rPr lang="zh-CN" altLang="en-US" sz="2400"/>
              <a:t>采用了</a:t>
            </a:r>
            <a:r>
              <a:rPr lang="zh-CN" altLang="en-US" sz="2400">
                <a:highlight>
                  <a:srgbClr val="FFFF00"/>
                </a:highlight>
              </a:rPr>
              <a:t>主从（</a:t>
            </a:r>
            <a:r>
              <a:rPr lang="en-US" altLang="zh-CN" sz="2400">
                <a:highlight>
                  <a:srgbClr val="FFFF00"/>
                </a:highlight>
              </a:rPr>
              <a:t>Master/Slave</a:t>
            </a:r>
            <a:r>
              <a:rPr lang="zh-CN" altLang="en-US" sz="2400">
                <a:highlight>
                  <a:srgbClr val="FFFF00"/>
                </a:highlight>
              </a:rPr>
              <a:t>）结构模型</a:t>
            </a:r>
            <a:r>
              <a:rPr lang="zh-CN" altLang="en-US" sz="2400"/>
              <a:t>，一个</a:t>
            </a:r>
            <a:r>
              <a:rPr lang="en-US" altLang="zh-CN" sz="2400"/>
              <a:t>HDFS</a:t>
            </a:r>
            <a:r>
              <a:rPr lang="zh-CN" altLang="en-US" sz="2400"/>
              <a:t>集群包括一个名称节点和若干个数据节点。名称节点负责管理分布式文件系统的命名空间；数据节点是分布式文件系统</a:t>
            </a:r>
            <a:r>
              <a:rPr lang="en-US" altLang="zh-CN" sz="2400"/>
              <a:t>HDFS</a:t>
            </a:r>
            <a:r>
              <a:rPr lang="zh-CN" altLang="en-US" sz="2400"/>
              <a:t>的工作节点，负责数据的存储和读取</a:t>
            </a:r>
            <a:endParaRPr lang="zh-CN" altLang="en-US" sz="2400"/>
          </a:p>
          <a:p>
            <a:pPr>
              <a:lnSpc>
                <a:spcPct val="80000"/>
              </a:lnSpc>
            </a:pPr>
            <a:r>
              <a:rPr lang="en-US" altLang="zh-CN" sz="2400"/>
              <a:t>HDFS</a:t>
            </a:r>
            <a:r>
              <a:rPr lang="zh-CN" altLang="en-US" sz="2400"/>
              <a:t>采用了冗余数据存储，增强了数据可靠性，加快了数据传输速度。</a:t>
            </a:r>
            <a:r>
              <a:rPr lang="en-US" altLang="zh-CN" sz="2400"/>
              <a:t>HDFS</a:t>
            </a:r>
            <a:r>
              <a:rPr lang="zh-CN" altLang="en-US" sz="2400"/>
              <a:t>还采用了相应的</a:t>
            </a:r>
            <a:r>
              <a:rPr lang="zh-CN" altLang="en-US" sz="2400">
                <a:highlight>
                  <a:srgbClr val="FFFF00"/>
                </a:highlight>
              </a:rPr>
              <a:t>数据存放、数据读取和数据复制</a:t>
            </a:r>
            <a:r>
              <a:rPr lang="zh-CN" altLang="en-US" sz="2400"/>
              <a:t>策略，来提升系统整体读写响应性能。</a:t>
            </a:r>
            <a:r>
              <a:rPr lang="en-US" altLang="zh-CN" sz="2400"/>
              <a:t>HDFS</a:t>
            </a:r>
            <a:r>
              <a:rPr lang="zh-CN" altLang="en-US" sz="2400"/>
              <a:t>把硬件出错看作一种常态，设计了错误恢复机制</a:t>
            </a:r>
            <a:endParaRPr lang="zh-CN" altLang="en-US" sz="2400"/>
          </a:p>
          <a:p>
            <a:pPr>
              <a:lnSpc>
                <a:spcPct val="80000"/>
              </a:lnSpc>
            </a:pPr>
            <a:r>
              <a:rPr lang="zh-CN" altLang="en-US" sz="2400"/>
              <a:t>介绍了</a:t>
            </a:r>
            <a:r>
              <a:rPr lang="en-US" altLang="zh-CN" sz="2400"/>
              <a:t>HDFS</a:t>
            </a:r>
            <a:r>
              <a:rPr lang="zh-CN" altLang="en-US" sz="2400"/>
              <a:t>的数据读写过程以及</a:t>
            </a:r>
            <a:r>
              <a:rPr lang="en-US" altLang="zh-CN" sz="2400"/>
              <a:t>HDFS</a:t>
            </a:r>
            <a:r>
              <a:rPr lang="zh-CN" altLang="en-US" sz="2400"/>
              <a:t>编程实践方面的相关知识</a:t>
            </a:r>
            <a:endParaRPr lang="zh-CN" altLang="en-US" sz="240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UNIT_PLACING_PICTURE_USER_VIEWPORT" val="{&quot;height&quot;:7202,&quot;width&quot;:12503}"/>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TABLE_ENDDRAG_ORIGIN_RECT" val="249*28"/>
  <p:tag name="TABLE_ENDDRAG_RECT" val="46*456*249*28"/>
  <p:tag name="KSO_WM_UNIT_TABLE_BEAUTIFY" val="smartTable{1bc5d3f6-817a-4fa2-9ee2-eea8a5502b40}"/>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UNIT_TABLE_BEAUTIFY" val="smartTable{61693bfd-79b2-490b-8ce9-29faf0a8c100}"/>
  <p:tag name="TABLE_ENDDRAG_ORIGIN_RECT" val="196*57"/>
  <p:tag name="TABLE_ENDDRAG_RECT" val="152*240*196*57"/>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PP_MARK_KEY" val="b6b11f8e-c8aa-4790-a55d-ceede10e912b"/>
  <p:tag name="COMMONDATA" val="eyJoZGlkIjoiOTRkNmFmZjRjMzI3MTQ3ZWFlYjhlZWM3YzFkOWNm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8326</Words>
  <Application>WPS 演示</Application>
  <PresentationFormat>宽屏</PresentationFormat>
  <Paragraphs>1045</Paragraphs>
  <Slides>46</Slides>
  <Notes>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46</vt:i4>
      </vt:variant>
    </vt:vector>
  </HeadingPairs>
  <TitlesOfParts>
    <vt:vector size="61" baseType="lpstr">
      <vt:lpstr>Arial</vt:lpstr>
      <vt:lpstr>宋体</vt:lpstr>
      <vt:lpstr>Wingdings</vt:lpstr>
      <vt:lpstr>黑体</vt:lpstr>
      <vt:lpstr>Times New Roman</vt:lpstr>
      <vt:lpstr>等线 Light</vt:lpstr>
      <vt:lpstr>等线</vt:lpstr>
      <vt:lpstr>微软雅黑</vt:lpstr>
      <vt:lpstr>Arial Unicode MS</vt:lpstr>
      <vt:lpstr>Courier</vt:lpstr>
      <vt:lpstr>Courier New</vt:lpstr>
      <vt:lpstr>Calibri</vt:lpstr>
      <vt:lpstr>Times New Roman</vt:lpstr>
      <vt:lpstr>Calibri</vt:lpstr>
      <vt:lpstr>Office 主题​​</vt:lpstr>
      <vt:lpstr>第二篇 大数据存储与管理</vt:lpstr>
      <vt:lpstr>第3章 分布式文件系统HDFS</vt:lpstr>
      <vt:lpstr>PowerPoint 演示文稿</vt:lpstr>
      <vt:lpstr>3.1	分布式文件系统</vt:lpstr>
      <vt:lpstr>3.1.1	计算机集群结构</vt:lpstr>
      <vt:lpstr>PowerPoint 演示文稿</vt:lpstr>
      <vt:lpstr>3.1.2	分布式文件系统的结构</vt:lpstr>
      <vt:lpstr>3.1.3	分布式文件系统的设计需求</vt:lpstr>
      <vt:lpstr>3.1.3	分布式文件系统的设计需求</vt:lpstr>
      <vt:lpstr>3.2	HDFS简介</vt:lpstr>
      <vt:lpstr>3.3 HDFS的相关概念</vt:lpstr>
      <vt:lpstr>3.3.1	块</vt:lpstr>
      <vt:lpstr>3.3.1	块的好处</vt:lpstr>
      <vt:lpstr>3.3.2	名称节点和数据节点</vt:lpstr>
      <vt:lpstr>3.3.2	名称节点和数据节点</vt:lpstr>
      <vt:lpstr>名称节点的启动</vt:lpstr>
      <vt:lpstr>3.3.3	第二名称节点</vt:lpstr>
      <vt:lpstr>PowerPoint 演示文稿</vt:lpstr>
      <vt:lpstr>3.4	HDFS体系结构</vt:lpstr>
      <vt:lpstr>3.4.1	HDFS体系结构概述</vt:lpstr>
      <vt:lpstr>3.4.2	HDFS命名空间管理</vt:lpstr>
      <vt:lpstr>3.4.3	通信协议</vt:lpstr>
      <vt:lpstr>3.4.4	客户端</vt:lpstr>
      <vt:lpstr>3.4.5	HDFS体系结构的局限性</vt:lpstr>
      <vt:lpstr>3.5	HDFS存储原理</vt:lpstr>
      <vt:lpstr>3.5.1	冗余数据保存</vt:lpstr>
      <vt:lpstr>3.5.2	数据存取策略</vt:lpstr>
      <vt:lpstr>3.5.2	数据存取策略</vt:lpstr>
      <vt:lpstr>3.5.2	数据存取策略</vt:lpstr>
      <vt:lpstr>3.5.3	数据错误与恢复</vt:lpstr>
      <vt:lpstr>3.5.3	数据错误与恢复</vt:lpstr>
      <vt:lpstr>3.5.3	数据错误与恢复</vt:lpstr>
      <vt:lpstr>3.5.3	数据错误与恢复</vt:lpstr>
      <vt:lpstr>3.6	HDFS数据读写过程</vt:lpstr>
      <vt:lpstr>PowerPoint 演示文稿</vt:lpstr>
      <vt:lpstr>PowerPoint 演示文稿</vt:lpstr>
      <vt:lpstr>PowerPoint 演示文稿</vt:lpstr>
      <vt:lpstr>PowerPoint 演示文稿</vt:lpstr>
      <vt:lpstr>3.7 HDFS编程实践</vt:lpstr>
      <vt:lpstr>3.7.1	HDFS常用命令</vt:lpstr>
      <vt:lpstr>3.7.1	HDFS常用命令</vt:lpstr>
      <vt:lpstr>3.7.1	HDFS常用命令</vt:lpstr>
      <vt:lpstr>3.7.2	HDFS的Web界面</vt:lpstr>
      <vt:lpstr>3.7.3	HDFS常用Java API</vt:lpstr>
      <vt:lpstr>3.7.3	应用实例</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大数据管理</dc:title>
  <dc:creator>zitong chen</dc:creator>
  <cp:lastModifiedBy>大洋儿</cp:lastModifiedBy>
  <cp:revision>236</cp:revision>
  <dcterms:created xsi:type="dcterms:W3CDTF">2023-01-31T13:03:00Z</dcterms:created>
  <dcterms:modified xsi:type="dcterms:W3CDTF">2026-03-09T15:48:57Z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ACA66DA1FDD34C498CCA22514DF7C4A6</vt:lpwstr>
  </property>
  <property fmtid="{D5CDD505-2E9C-101B-9397-08002B2CF9AE}" pid="3" name="KSOProductBuildVer">
    <vt:lpwstr>2052-12.1.0.25225</vt:lpwstr>
  </property>
</Properties>
</file>