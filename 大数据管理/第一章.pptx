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0" r:id="rId3"/>
  </p:sldMasterIdLst>
  <p:notesMasterIdLst>
    <p:notesMasterId r:id="rId22"/>
  </p:notesMasterIdLst>
  <p:sldIdLst>
    <p:sldId id="256" r:id="rId4"/>
    <p:sldId id="484" r:id="rId5"/>
    <p:sldId id="257" r:id="rId6"/>
    <p:sldId id="258" r:id="rId7"/>
    <p:sldId id="259" r:id="rId8"/>
    <p:sldId id="485" r:id="rId9"/>
    <p:sldId id="418" r:id="rId10"/>
    <p:sldId id="420" r:id="rId11"/>
    <p:sldId id="419" r:id="rId12"/>
    <p:sldId id="422" r:id="rId13"/>
    <p:sldId id="421" r:id="rId14"/>
    <p:sldId id="423" r:id="rId15"/>
    <p:sldId id="424" r:id="rId16"/>
    <p:sldId id="426" r:id="rId17"/>
    <p:sldId id="427" r:id="rId18"/>
    <p:sldId id="261" r:id="rId19"/>
    <p:sldId id="399" r:id="rId20"/>
    <p:sldId id="405" r:id="rId21"/>
    <p:sldId id="404" r:id="rId23"/>
    <p:sldId id="401" r:id="rId24"/>
    <p:sldId id="406" r:id="rId25"/>
    <p:sldId id="412" r:id="rId26"/>
    <p:sldId id="408" r:id="rId27"/>
    <p:sldId id="407" r:id="rId28"/>
    <p:sldId id="409" r:id="rId29"/>
    <p:sldId id="410" r:id="rId30"/>
    <p:sldId id="411" r:id="rId31"/>
    <p:sldId id="482" r:id="rId32"/>
    <p:sldId id="430" r:id="rId33"/>
    <p:sldId id="433" r:id="rId34"/>
    <p:sldId id="434" r:id="rId35"/>
    <p:sldId id="436" r:id="rId36"/>
    <p:sldId id="435" r:id="rId37"/>
    <p:sldId id="383" r:id="rId38"/>
    <p:sldId id="464" r:id="rId39"/>
    <p:sldId id="384" r:id="rId40"/>
    <p:sldId id="385" r:id="rId41"/>
    <p:sldId id="386" r:id="rId42"/>
    <p:sldId id="416" r:id="rId43"/>
    <p:sldId id="388" r:id="rId44"/>
    <p:sldId id="417" r:id="rId45"/>
    <p:sldId id="390" r:id="rId46"/>
    <p:sldId id="391" r:id="rId47"/>
    <p:sldId id="392" r:id="rId48"/>
    <p:sldId id="483" r:id="rId49"/>
    <p:sldId id="394" r:id="rId50"/>
    <p:sldId id="395" r:id="rId51"/>
    <p:sldId id="396" r:id="rId52"/>
    <p:sldId id="397" r:id="rId53"/>
    <p:sldId id="398" r:id="rId54"/>
  </p:sldIdLst>
  <p:sldSz cx="12192000" cy="6858000"/>
  <p:notesSz cx="6858000" cy="9144000"/>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97BAA017-895A-4695-977D-26ECAE1C0C07}">
          <p14:sldIdLst>
            <p14:sldId id="256"/>
            <p14:sldId id="484"/>
            <p14:sldId id="257"/>
            <p14:sldId id="258"/>
            <p14:sldId id="259"/>
            <p14:sldId id="485"/>
          </p14:sldIdLst>
        </p14:section>
        <p14:section name="第一篇" id="{3E72D914-66BA-4579-8F52-77CB28085651}">
          <p14:sldIdLst>
            <p14:sldId id="418"/>
            <p14:sldId id="420"/>
            <p14:sldId id="419"/>
            <p14:sldId id="422"/>
            <p14:sldId id="421"/>
            <p14:sldId id="423"/>
            <p14:sldId id="424"/>
            <p14:sldId id="426"/>
            <p14:sldId id="427"/>
            <p14:sldId id="261"/>
            <p14:sldId id="399"/>
            <p14:sldId id="405"/>
            <p14:sldId id="404"/>
            <p14:sldId id="401"/>
            <p14:sldId id="406"/>
            <p14:sldId id="412"/>
          </p14:sldIdLst>
        </p14:section>
        <p14:section name="无标题节" id="{9A6B580D-A658-4E98-A36C-066008E28AF4}">
          <p14:sldIdLst>
            <p14:sldId id="408"/>
            <p14:sldId id="407"/>
            <p14:sldId id="409"/>
            <p14:sldId id="410"/>
            <p14:sldId id="411"/>
            <p14:sldId id="482"/>
            <p14:sldId id="430"/>
            <p14:sldId id="433"/>
            <p14:sldId id="434"/>
            <p14:sldId id="436"/>
            <p14:sldId id="435"/>
            <p14:sldId id="383"/>
            <p14:sldId id="464"/>
            <p14:sldId id="384"/>
            <p14:sldId id="385"/>
            <p14:sldId id="386"/>
            <p14:sldId id="416"/>
            <p14:sldId id="388"/>
            <p14:sldId id="417"/>
            <p14:sldId id="390"/>
            <p14:sldId id="391"/>
            <p14:sldId id="392"/>
            <p14:sldId id="483"/>
            <p14:sldId id="394"/>
            <p14:sldId id="395"/>
            <p14:sldId id="396"/>
            <p14:sldId id="397"/>
            <p14:sldId id="3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29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gs" Target="tags/tag72.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notesMaster" Target="notesMasters/notes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2">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3">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012EE85-1187-4CB2-9F8E-E92979DCB65C}" type="doc">
      <dgm:prSet loTypeId="urn:microsoft.com/office/officeart/2005/8/layout/vList5" loCatId="list" qsTypeId="urn:microsoft.com/office/officeart/2005/8/quickstyle/simple1#1" qsCatId="simple" csTypeId="urn:microsoft.com/office/officeart/2005/8/colors/colorful4#1" csCatId="colorful" phldr="1"/>
      <dgm:spPr/>
      <dgm:t>
        <a:bodyPr/>
        <a:lstStyle/>
        <a:p>
          <a:endParaRPr lang="zh-CN" altLang="en-US"/>
        </a:p>
      </dgm:t>
    </dgm:pt>
    <dgm:pt modelId="{C1333A55-673A-4A79-A5DA-2CE314AD38A0}">
      <dgm:prSet phldrT="[文本]"/>
      <dgm:spPr/>
      <dgm:t>
        <a:bodyPr/>
        <a:lstStyle/>
        <a:p>
          <a:r>
            <a:rPr lang="zh-CN" altLang="en-US" dirty="0"/>
            <a:t>大数据基础</a:t>
          </a:r>
        </a:p>
      </dgm:t>
    </dgm:pt>
    <dgm:pt modelId="{7D3FE9A5-2DFA-46F0-8434-CDA99DC9A95D}" cxnId="{A3BF4EE0-D440-440D-8334-461AD33FA1EC}" type="parTrans">
      <dgm:prSet/>
      <dgm:spPr/>
      <dgm:t>
        <a:bodyPr/>
        <a:lstStyle/>
        <a:p>
          <a:endParaRPr lang="zh-CN" altLang="en-US"/>
        </a:p>
      </dgm:t>
    </dgm:pt>
    <dgm:pt modelId="{1E0C5AB7-26AF-4BB7-A626-634B6DCC5A53}" cxnId="{A3BF4EE0-D440-440D-8334-461AD33FA1EC}" type="sibTrans">
      <dgm:prSet/>
      <dgm:spPr/>
      <dgm:t>
        <a:bodyPr/>
        <a:lstStyle/>
        <a:p>
          <a:endParaRPr lang="zh-CN" altLang="en-US"/>
        </a:p>
      </dgm:t>
    </dgm:pt>
    <dgm:pt modelId="{C8592399-743C-410B-8482-AA7C4D8F575E}">
      <dgm:prSet phldrT="[文本]"/>
      <dgm:spPr/>
      <dgm:t>
        <a:bodyPr/>
        <a:lstStyle/>
        <a:p>
          <a:r>
            <a:rPr lang="zh-CN" altLang="en-US" dirty="0"/>
            <a:t>大数据概述</a:t>
          </a:r>
        </a:p>
      </dgm:t>
    </dgm:pt>
    <dgm:pt modelId="{F68E9B53-226F-4116-9B81-988E22D122A6}" cxnId="{72313E44-8AE3-44E2-9F8C-4E52A73771B6}" type="parTrans">
      <dgm:prSet/>
      <dgm:spPr/>
      <dgm:t>
        <a:bodyPr/>
        <a:lstStyle/>
        <a:p>
          <a:endParaRPr lang="zh-CN" altLang="en-US"/>
        </a:p>
      </dgm:t>
    </dgm:pt>
    <dgm:pt modelId="{45BC30C6-653D-43C7-AE4F-9C4479EF468C}" cxnId="{72313E44-8AE3-44E2-9F8C-4E52A73771B6}" type="sibTrans">
      <dgm:prSet/>
      <dgm:spPr/>
      <dgm:t>
        <a:bodyPr/>
        <a:lstStyle/>
        <a:p>
          <a:endParaRPr lang="zh-CN" altLang="en-US"/>
        </a:p>
      </dgm:t>
    </dgm:pt>
    <dgm:pt modelId="{A2DE037E-A53E-4E0D-B06D-70F231916661}">
      <dgm:prSet phldrT="[文本]"/>
      <dgm:spPr/>
      <dgm:t>
        <a:bodyPr/>
        <a:lstStyle/>
        <a:p>
          <a:r>
            <a:rPr lang="zh-CN" altLang="en-US" dirty="0"/>
            <a:t>大数据</a:t>
          </a:r>
          <a:endParaRPr lang="en-US" altLang="zh-CN" dirty="0"/>
        </a:p>
        <a:p>
          <a:r>
            <a:rPr lang="zh-CN" altLang="en-US" dirty="0"/>
            <a:t>存储与管理</a:t>
          </a:r>
        </a:p>
      </dgm:t>
    </dgm:pt>
    <dgm:pt modelId="{C8E76661-1AA0-4998-8F4D-4F5A96E5E2F2}" cxnId="{3DFFD9B3-3D8F-4CEB-97A7-FC913638E782}" type="parTrans">
      <dgm:prSet/>
      <dgm:spPr/>
      <dgm:t>
        <a:bodyPr/>
        <a:lstStyle/>
        <a:p>
          <a:endParaRPr lang="zh-CN" altLang="en-US"/>
        </a:p>
      </dgm:t>
    </dgm:pt>
    <dgm:pt modelId="{37FC6E5C-338E-45AA-B0E2-F09DAF9A2913}" cxnId="{3DFFD9B3-3D8F-4CEB-97A7-FC913638E782}" type="sibTrans">
      <dgm:prSet/>
      <dgm:spPr/>
      <dgm:t>
        <a:bodyPr/>
        <a:lstStyle/>
        <a:p>
          <a:endParaRPr lang="zh-CN" altLang="en-US"/>
        </a:p>
      </dgm:t>
    </dgm:pt>
    <dgm:pt modelId="{7B61D2B6-1F2C-453C-BCAB-3019ABB1E9C3}">
      <dgm:prSet phldrT="[文本]" custT="1"/>
      <dgm:spPr/>
      <dgm:t>
        <a:bodyPr/>
        <a:lstStyle/>
        <a:p>
          <a:r>
            <a:rPr lang="zh-CN" altLang="en-US" sz="2000" dirty="0"/>
            <a:t>分布式文件系统</a:t>
          </a:r>
          <a:r>
            <a:rPr lang="en-US" altLang="zh-CN" sz="2000" dirty="0"/>
            <a:t>HDFS</a:t>
          </a:r>
          <a:r>
            <a:rPr lang="zh-CN" altLang="en-US" sz="2000" dirty="0"/>
            <a:t>、分布式数据库</a:t>
          </a:r>
          <a:r>
            <a:rPr lang="en-US" altLang="zh-CN" sz="2000" dirty="0"/>
            <a:t>HBase</a:t>
          </a:r>
          <a:endParaRPr lang="zh-CN" altLang="en-US" sz="2000" dirty="0"/>
        </a:p>
      </dgm:t>
    </dgm:pt>
    <dgm:pt modelId="{0149F784-CF57-449A-BA40-07ECC3EB1FC3}" cxnId="{7FA2F363-811A-4D28-9E80-FB418A0A1144}" type="parTrans">
      <dgm:prSet/>
      <dgm:spPr/>
      <dgm:t>
        <a:bodyPr/>
        <a:lstStyle/>
        <a:p>
          <a:endParaRPr lang="zh-CN" altLang="en-US"/>
        </a:p>
      </dgm:t>
    </dgm:pt>
    <dgm:pt modelId="{32A5E39F-D99C-48E8-AB3E-F94F4E984F1F}" cxnId="{7FA2F363-811A-4D28-9E80-FB418A0A1144}" type="sibTrans">
      <dgm:prSet/>
      <dgm:spPr/>
      <dgm:t>
        <a:bodyPr/>
        <a:lstStyle/>
        <a:p>
          <a:endParaRPr lang="zh-CN" altLang="en-US"/>
        </a:p>
      </dgm:t>
    </dgm:pt>
    <dgm:pt modelId="{EB7EF81F-A5E8-4CAA-8111-E00B5F57A0C9}">
      <dgm:prSet phldrT="[文本]"/>
      <dgm:spPr/>
      <dgm:t>
        <a:bodyPr/>
        <a:lstStyle/>
        <a:p>
          <a:r>
            <a:rPr lang="zh-CN" altLang="en-US" dirty="0"/>
            <a:t>大数据</a:t>
          </a:r>
          <a:endParaRPr lang="en-US" altLang="zh-CN" dirty="0"/>
        </a:p>
        <a:p>
          <a:r>
            <a:rPr lang="zh-CN" altLang="en-US" dirty="0"/>
            <a:t>处理与分析</a:t>
          </a:r>
        </a:p>
      </dgm:t>
    </dgm:pt>
    <dgm:pt modelId="{613E0FFE-3840-42EF-A35D-428D9FF8FE74}" cxnId="{14EF6964-C2DC-41DD-8013-92552EBB4EA9}" type="parTrans">
      <dgm:prSet/>
      <dgm:spPr/>
      <dgm:t>
        <a:bodyPr/>
        <a:lstStyle/>
        <a:p>
          <a:endParaRPr lang="zh-CN" altLang="en-US"/>
        </a:p>
      </dgm:t>
    </dgm:pt>
    <dgm:pt modelId="{D31F84EA-C41E-4D87-875C-7531731BE3F3}" cxnId="{14EF6964-C2DC-41DD-8013-92552EBB4EA9}" type="sibTrans">
      <dgm:prSet/>
      <dgm:spPr/>
      <dgm:t>
        <a:bodyPr/>
        <a:lstStyle/>
        <a:p>
          <a:endParaRPr lang="zh-CN" altLang="en-US"/>
        </a:p>
      </dgm:t>
    </dgm:pt>
    <dgm:pt modelId="{8D88E4D5-C93B-4D82-B50F-73E7AC4F4D45}">
      <dgm:prSet phldrT="[文本]" custT="1"/>
      <dgm:spPr/>
      <dgm:t>
        <a:bodyPr/>
        <a:lstStyle/>
        <a:p>
          <a:r>
            <a:rPr lang="en-US" altLang="zh-CN" sz="2000" dirty="0"/>
            <a:t>MapReduce</a:t>
          </a:r>
          <a:r>
            <a:rPr lang="zh-CN" altLang="en-US" sz="2000" dirty="0"/>
            <a:t>、数据仓库</a:t>
          </a:r>
          <a:r>
            <a:rPr lang="en-US" altLang="zh-CN" sz="2000" dirty="0"/>
            <a:t>Hive</a:t>
          </a:r>
          <a:endParaRPr lang="zh-CN" altLang="en-US" sz="2000" dirty="0"/>
        </a:p>
      </dgm:t>
    </dgm:pt>
    <dgm:pt modelId="{B9B4E051-C4DA-4D60-B631-091B894F6723}" cxnId="{23D63355-0B39-4F0F-BA36-E05C0154039C}" type="parTrans">
      <dgm:prSet/>
      <dgm:spPr/>
      <dgm:t>
        <a:bodyPr/>
        <a:lstStyle/>
        <a:p>
          <a:endParaRPr lang="zh-CN" altLang="en-US"/>
        </a:p>
      </dgm:t>
    </dgm:pt>
    <dgm:pt modelId="{21326FB6-D4A3-4FF5-AF3E-74A9950C534A}" cxnId="{23D63355-0B39-4F0F-BA36-E05C0154039C}" type="sibTrans">
      <dgm:prSet/>
      <dgm:spPr/>
      <dgm:t>
        <a:bodyPr/>
        <a:lstStyle/>
        <a:p>
          <a:endParaRPr lang="zh-CN" altLang="en-US"/>
        </a:p>
      </dgm:t>
    </dgm:pt>
    <dgm:pt modelId="{7F433729-EBB6-4DDA-A403-A4EA896927D1}">
      <dgm:prSet phldrT="[文本]"/>
      <dgm:spPr/>
      <dgm:t>
        <a:bodyPr/>
        <a:lstStyle/>
        <a:p>
          <a:r>
            <a:rPr lang="zh-CN" altLang="en-US" dirty="0"/>
            <a:t>大数据应用</a:t>
          </a:r>
        </a:p>
      </dgm:t>
    </dgm:pt>
    <dgm:pt modelId="{5193EBE6-4CEE-4E32-B086-E4F24522C0C6}" cxnId="{683045CE-8EDF-4A4F-B7A7-6A06D28B0173}" type="parTrans">
      <dgm:prSet/>
      <dgm:spPr/>
      <dgm:t>
        <a:bodyPr/>
        <a:lstStyle/>
        <a:p>
          <a:endParaRPr lang="zh-CN" altLang="en-US"/>
        </a:p>
      </dgm:t>
    </dgm:pt>
    <dgm:pt modelId="{D84D19DD-0A37-45C9-B0D8-F9E18BFF15DD}" cxnId="{683045CE-8EDF-4A4F-B7A7-6A06D28B0173}" type="sibTrans">
      <dgm:prSet/>
      <dgm:spPr/>
      <dgm:t>
        <a:bodyPr/>
        <a:lstStyle/>
        <a:p>
          <a:endParaRPr lang="zh-CN" altLang="en-US"/>
        </a:p>
      </dgm:t>
    </dgm:pt>
    <dgm:pt modelId="{0F46C5AD-D3C8-48C8-9CFC-630525E394E5}">
      <dgm:prSet phldrT="[文本]"/>
      <dgm:spPr/>
      <dgm:t>
        <a:bodyPr/>
        <a:lstStyle/>
        <a:p>
          <a:r>
            <a:rPr lang="zh-CN" altLang="en-US" dirty="0"/>
            <a:t>互联网、生物医学、物流、金融等领域</a:t>
          </a:r>
        </a:p>
      </dgm:t>
    </dgm:pt>
    <dgm:pt modelId="{27FCB662-08A0-4716-83BB-1B1CC96A926C}" cxnId="{11BF29A7-382E-4D70-B9F3-4BEB23269022}" type="parTrans">
      <dgm:prSet/>
      <dgm:spPr/>
      <dgm:t>
        <a:bodyPr/>
        <a:lstStyle/>
        <a:p>
          <a:endParaRPr lang="zh-CN" altLang="en-US"/>
        </a:p>
      </dgm:t>
    </dgm:pt>
    <dgm:pt modelId="{5DB5325E-6343-45F3-AE49-AC160AD19B53}" cxnId="{11BF29A7-382E-4D70-B9F3-4BEB23269022}" type="sibTrans">
      <dgm:prSet/>
      <dgm:spPr/>
      <dgm:t>
        <a:bodyPr/>
        <a:lstStyle/>
        <a:p>
          <a:endParaRPr lang="zh-CN" altLang="en-US"/>
        </a:p>
      </dgm:t>
    </dgm:pt>
    <dgm:pt modelId="{EFEBF74C-4D37-47FD-9F80-8D35EC675A32}">
      <dgm:prSet phldrT="[文本]" custT="1"/>
      <dgm:spPr/>
      <dgm:t>
        <a:bodyPr/>
        <a:lstStyle/>
        <a:p>
          <a:r>
            <a:rPr lang="en-US" altLang="zh-CN" sz="2000" dirty="0"/>
            <a:t>NoSQL</a:t>
          </a:r>
          <a:r>
            <a:rPr lang="zh-CN" altLang="en-US" sz="2000" dirty="0"/>
            <a:t>数据库、云数据库</a:t>
          </a:r>
        </a:p>
      </dgm:t>
    </dgm:pt>
    <dgm:pt modelId="{2B72F6C4-2AF6-4ED5-812E-71793F92E136}" cxnId="{6B5BA3C2-4ED1-4377-A7B2-6DCEECC3A382}" type="parTrans">
      <dgm:prSet/>
      <dgm:spPr/>
      <dgm:t>
        <a:bodyPr/>
        <a:lstStyle/>
        <a:p>
          <a:endParaRPr lang="zh-CN" altLang="en-US"/>
        </a:p>
      </dgm:t>
    </dgm:pt>
    <dgm:pt modelId="{4B580191-2A56-492B-B174-2CE1DD45B195}" cxnId="{6B5BA3C2-4ED1-4377-A7B2-6DCEECC3A382}" type="sibTrans">
      <dgm:prSet/>
      <dgm:spPr/>
      <dgm:t>
        <a:bodyPr/>
        <a:lstStyle/>
        <a:p>
          <a:endParaRPr lang="zh-CN" altLang="en-US"/>
        </a:p>
      </dgm:t>
    </dgm:pt>
    <dgm:pt modelId="{99204785-C312-405E-9375-1DC47CC554A0}">
      <dgm:prSet phldrT="[文本]" custT="1"/>
      <dgm:spPr/>
      <dgm:t>
        <a:bodyPr/>
        <a:lstStyle/>
        <a:p>
          <a:r>
            <a:rPr lang="zh-CN" altLang="en-US" sz="2000" dirty="0"/>
            <a:t>基于内存的分布式计算框架</a:t>
          </a:r>
          <a:r>
            <a:rPr lang="en-US" altLang="zh-CN" sz="2000" dirty="0"/>
            <a:t>Spark</a:t>
          </a:r>
          <a:endParaRPr lang="zh-CN" altLang="en-US" sz="2000" dirty="0"/>
        </a:p>
      </dgm:t>
    </dgm:pt>
    <dgm:pt modelId="{97A2C919-8C25-4B0F-AF55-EE6E6C4ED26A}" cxnId="{2D113561-F4B8-43D7-B004-BC1EBA384A4B}" type="parTrans">
      <dgm:prSet/>
      <dgm:spPr/>
      <dgm:t>
        <a:bodyPr/>
        <a:lstStyle/>
        <a:p>
          <a:endParaRPr lang="zh-CN" altLang="en-US"/>
        </a:p>
      </dgm:t>
    </dgm:pt>
    <dgm:pt modelId="{AB58BB37-B55B-4E29-A68B-B7EA2E5BC583}" cxnId="{2D113561-F4B8-43D7-B004-BC1EBA384A4B}" type="sibTrans">
      <dgm:prSet/>
      <dgm:spPr/>
      <dgm:t>
        <a:bodyPr/>
        <a:lstStyle/>
        <a:p>
          <a:endParaRPr lang="zh-CN" altLang="en-US"/>
        </a:p>
      </dgm:t>
    </dgm:pt>
    <dgm:pt modelId="{E0E797E9-382D-43CE-BA4D-512EB1DE2569}">
      <dgm:prSet phldrT="[文本]" custT="1"/>
      <dgm:spPr/>
      <dgm:t>
        <a:bodyPr/>
        <a:lstStyle/>
        <a:p>
          <a:r>
            <a:rPr lang="zh-CN" altLang="en-US" sz="2000" dirty="0"/>
            <a:t>流计算、流处理框架</a:t>
          </a:r>
          <a:r>
            <a:rPr lang="en-US" altLang="zh-CN" sz="2000" dirty="0" err="1"/>
            <a:t>Flink</a:t>
          </a:r>
          <a:r>
            <a:rPr lang="zh-CN" altLang="en-US" sz="2000" dirty="0"/>
            <a:t>、图计算</a:t>
          </a:r>
        </a:p>
      </dgm:t>
    </dgm:pt>
    <dgm:pt modelId="{D92A6933-D461-4F2A-9B1E-1B63F29A6711}" cxnId="{877BE090-427F-495A-AAA3-9BADCDFC0553}" type="parTrans">
      <dgm:prSet/>
      <dgm:spPr/>
      <dgm:t>
        <a:bodyPr/>
        <a:lstStyle/>
        <a:p>
          <a:endParaRPr lang="zh-CN" altLang="en-US"/>
        </a:p>
      </dgm:t>
    </dgm:pt>
    <dgm:pt modelId="{4F338C1B-0A33-42F9-AF60-4126F96F1FAB}" cxnId="{877BE090-427F-495A-AAA3-9BADCDFC0553}" type="sibTrans">
      <dgm:prSet/>
      <dgm:spPr/>
      <dgm:t>
        <a:bodyPr/>
        <a:lstStyle/>
        <a:p>
          <a:endParaRPr lang="zh-CN" altLang="en-US"/>
        </a:p>
      </dgm:t>
    </dgm:pt>
    <dgm:pt modelId="{11E18B61-6765-4622-8C9F-AF963B631CD9}">
      <dgm:prSet phldrT="[文本]"/>
      <dgm:spPr/>
      <dgm:t>
        <a:bodyPr/>
        <a:lstStyle/>
        <a:p>
          <a:r>
            <a:rPr lang="zh-CN" altLang="en-US" dirty="0"/>
            <a:t>大数据处理架构</a:t>
          </a:r>
          <a:r>
            <a:rPr lang="en-US" altLang="zh-CN" dirty="0"/>
            <a:t>Hadoop</a:t>
          </a:r>
          <a:endParaRPr lang="zh-CN" altLang="en-US" dirty="0"/>
        </a:p>
      </dgm:t>
    </dgm:pt>
    <dgm:pt modelId="{80AA4882-5B66-4EFD-8CCD-B9E7C6EB9CB2}" cxnId="{981A8438-DF91-4FCF-92DC-F7EF2C2D09A0}" type="parTrans">
      <dgm:prSet/>
      <dgm:spPr/>
      <dgm:t>
        <a:bodyPr/>
        <a:lstStyle/>
        <a:p>
          <a:endParaRPr lang="zh-CN" altLang="en-US"/>
        </a:p>
      </dgm:t>
    </dgm:pt>
    <dgm:pt modelId="{D1AEF3EC-AA9F-4B0D-BF12-2FF5BA44A61E}" cxnId="{981A8438-DF91-4FCF-92DC-F7EF2C2D09A0}" type="sibTrans">
      <dgm:prSet/>
      <dgm:spPr/>
      <dgm:t>
        <a:bodyPr/>
        <a:lstStyle/>
        <a:p>
          <a:endParaRPr lang="zh-CN" altLang="en-US"/>
        </a:p>
      </dgm:t>
    </dgm:pt>
    <dgm:pt modelId="{461925F4-E463-4F1E-9ACB-5A325F968244}" type="pres">
      <dgm:prSet presAssocID="{C012EE85-1187-4CB2-9F8E-E92979DCB65C}" presName="Name0" presStyleCnt="0">
        <dgm:presLayoutVars>
          <dgm:dir/>
          <dgm:animLvl val="lvl"/>
          <dgm:resizeHandles val="exact"/>
        </dgm:presLayoutVars>
      </dgm:prSet>
      <dgm:spPr/>
    </dgm:pt>
    <dgm:pt modelId="{B9E011B6-A302-4D55-8925-811128C6B045}" type="pres">
      <dgm:prSet presAssocID="{C1333A55-673A-4A79-A5DA-2CE314AD38A0}" presName="linNode" presStyleCnt="0"/>
      <dgm:spPr/>
    </dgm:pt>
    <dgm:pt modelId="{7D9F4DA7-3AC4-407E-B9D6-A6F985ECF70B}" type="pres">
      <dgm:prSet presAssocID="{C1333A55-673A-4A79-A5DA-2CE314AD38A0}" presName="parentText" presStyleLbl="node1" presStyleIdx="0" presStyleCnt="4" custScaleX="76232">
        <dgm:presLayoutVars>
          <dgm:chMax val="1"/>
          <dgm:bulletEnabled val="1"/>
        </dgm:presLayoutVars>
      </dgm:prSet>
      <dgm:spPr/>
    </dgm:pt>
    <dgm:pt modelId="{2E92C8AF-6043-43EC-BD45-E6130DB1A5F1}" type="pres">
      <dgm:prSet presAssocID="{C1333A55-673A-4A79-A5DA-2CE314AD38A0}" presName="descendantText" presStyleLbl="alignAccFollowNode1" presStyleIdx="0" presStyleCnt="4">
        <dgm:presLayoutVars>
          <dgm:bulletEnabled val="1"/>
        </dgm:presLayoutVars>
      </dgm:prSet>
      <dgm:spPr/>
    </dgm:pt>
    <dgm:pt modelId="{75AF47A8-3870-41EA-9C1F-5BA13C465355}" type="pres">
      <dgm:prSet presAssocID="{1E0C5AB7-26AF-4BB7-A626-634B6DCC5A53}" presName="sp" presStyleCnt="0"/>
      <dgm:spPr/>
    </dgm:pt>
    <dgm:pt modelId="{169EA8CB-541B-4C6A-BF94-12670091F179}" type="pres">
      <dgm:prSet presAssocID="{A2DE037E-A53E-4E0D-B06D-70F231916661}" presName="linNode" presStyleCnt="0"/>
      <dgm:spPr/>
    </dgm:pt>
    <dgm:pt modelId="{8AD653AE-F103-4ACB-BCFE-AA63A73328EC}" type="pres">
      <dgm:prSet presAssocID="{A2DE037E-A53E-4E0D-B06D-70F231916661}" presName="parentText" presStyleLbl="node1" presStyleIdx="1" presStyleCnt="4" custScaleX="76232">
        <dgm:presLayoutVars>
          <dgm:chMax val="1"/>
          <dgm:bulletEnabled val="1"/>
        </dgm:presLayoutVars>
      </dgm:prSet>
      <dgm:spPr/>
    </dgm:pt>
    <dgm:pt modelId="{3A6A9D4C-AE2A-4713-96F7-C0905D1AF835}" type="pres">
      <dgm:prSet presAssocID="{A2DE037E-A53E-4E0D-B06D-70F231916661}" presName="descendantText" presStyleLbl="alignAccFollowNode1" presStyleIdx="1" presStyleCnt="4">
        <dgm:presLayoutVars>
          <dgm:bulletEnabled val="1"/>
        </dgm:presLayoutVars>
      </dgm:prSet>
      <dgm:spPr/>
    </dgm:pt>
    <dgm:pt modelId="{C072FAA4-6610-46F9-9ECE-FE5344540492}" type="pres">
      <dgm:prSet presAssocID="{37FC6E5C-338E-45AA-B0E2-F09DAF9A2913}" presName="sp" presStyleCnt="0"/>
      <dgm:spPr/>
    </dgm:pt>
    <dgm:pt modelId="{7851EE00-45A8-4922-AFF6-05B68F87F1F3}" type="pres">
      <dgm:prSet presAssocID="{EB7EF81F-A5E8-4CAA-8111-E00B5F57A0C9}" presName="linNode" presStyleCnt="0"/>
      <dgm:spPr/>
    </dgm:pt>
    <dgm:pt modelId="{96C08F7A-5B9F-445E-831E-C0E9F0D5AC10}" type="pres">
      <dgm:prSet presAssocID="{EB7EF81F-A5E8-4CAA-8111-E00B5F57A0C9}" presName="parentText" presStyleLbl="node1" presStyleIdx="2" presStyleCnt="4" custScaleX="76232">
        <dgm:presLayoutVars>
          <dgm:chMax val="1"/>
          <dgm:bulletEnabled val="1"/>
        </dgm:presLayoutVars>
      </dgm:prSet>
      <dgm:spPr/>
    </dgm:pt>
    <dgm:pt modelId="{4E83E948-A852-4150-A36B-B84545B268D7}" type="pres">
      <dgm:prSet presAssocID="{EB7EF81F-A5E8-4CAA-8111-E00B5F57A0C9}" presName="descendantText" presStyleLbl="alignAccFollowNode1" presStyleIdx="2" presStyleCnt="4">
        <dgm:presLayoutVars>
          <dgm:bulletEnabled val="1"/>
        </dgm:presLayoutVars>
      </dgm:prSet>
      <dgm:spPr/>
    </dgm:pt>
    <dgm:pt modelId="{B170AB98-7BDB-47DF-B962-0DCDCCC40057}" type="pres">
      <dgm:prSet presAssocID="{D31F84EA-C41E-4D87-875C-7531731BE3F3}" presName="sp" presStyleCnt="0"/>
      <dgm:spPr/>
    </dgm:pt>
    <dgm:pt modelId="{AF220D10-42D5-4AC2-94A6-7F73B5A132D0}" type="pres">
      <dgm:prSet presAssocID="{7F433729-EBB6-4DDA-A403-A4EA896927D1}" presName="linNode" presStyleCnt="0"/>
      <dgm:spPr/>
    </dgm:pt>
    <dgm:pt modelId="{601500C3-7FAD-4900-8456-3C98E611C319}" type="pres">
      <dgm:prSet presAssocID="{7F433729-EBB6-4DDA-A403-A4EA896927D1}" presName="parentText" presStyleLbl="node1" presStyleIdx="3" presStyleCnt="4" custScaleX="76232">
        <dgm:presLayoutVars>
          <dgm:chMax val="1"/>
          <dgm:bulletEnabled val="1"/>
        </dgm:presLayoutVars>
      </dgm:prSet>
      <dgm:spPr/>
    </dgm:pt>
    <dgm:pt modelId="{6E45D275-376C-4E14-9554-E298493655CB}" type="pres">
      <dgm:prSet presAssocID="{7F433729-EBB6-4DDA-A403-A4EA896927D1}" presName="descendantText" presStyleLbl="alignAccFollowNode1" presStyleIdx="3" presStyleCnt="4">
        <dgm:presLayoutVars>
          <dgm:bulletEnabled val="1"/>
        </dgm:presLayoutVars>
      </dgm:prSet>
      <dgm:spPr/>
    </dgm:pt>
  </dgm:ptLst>
  <dgm:cxnLst>
    <dgm:cxn modelId="{0BA6CD01-0BFB-4A63-A4E7-2F4A3FAF97B6}" type="presOf" srcId="{C012EE85-1187-4CB2-9F8E-E92979DCB65C}" destId="{461925F4-E463-4F1E-9ACB-5A325F968244}" srcOrd="0" destOrd="0" presId="urn:microsoft.com/office/officeart/2005/8/layout/vList5"/>
    <dgm:cxn modelId="{BC3CC105-F73F-48B5-85F4-D3E2299D0686}" type="presOf" srcId="{C1333A55-673A-4A79-A5DA-2CE314AD38A0}" destId="{7D9F4DA7-3AC4-407E-B9D6-A6F985ECF70B}" srcOrd="0" destOrd="0" presId="urn:microsoft.com/office/officeart/2005/8/layout/vList5"/>
    <dgm:cxn modelId="{752A6E0A-0CCB-4E7E-BFB9-181176BB0A92}" type="presOf" srcId="{11E18B61-6765-4622-8C9F-AF963B631CD9}" destId="{2E92C8AF-6043-43EC-BD45-E6130DB1A5F1}" srcOrd="0" destOrd="1" presId="urn:microsoft.com/office/officeart/2005/8/layout/vList5"/>
    <dgm:cxn modelId="{0E183B0E-2D2D-4B24-8D64-7ED312ABE917}" type="presOf" srcId="{EFEBF74C-4D37-47FD-9F80-8D35EC675A32}" destId="{3A6A9D4C-AE2A-4713-96F7-C0905D1AF835}" srcOrd="0" destOrd="1" presId="urn:microsoft.com/office/officeart/2005/8/layout/vList5"/>
    <dgm:cxn modelId="{981A8438-DF91-4FCF-92DC-F7EF2C2D09A0}" srcId="{C1333A55-673A-4A79-A5DA-2CE314AD38A0}" destId="{11E18B61-6765-4622-8C9F-AF963B631CD9}" srcOrd="1" destOrd="0" parTransId="{80AA4882-5B66-4EFD-8CCD-B9E7C6EB9CB2}" sibTransId="{D1AEF3EC-AA9F-4B0D-BF12-2FF5BA44A61E}"/>
    <dgm:cxn modelId="{11FD0F40-C28D-4F24-8324-F1608F2BC7FA}" type="presOf" srcId="{7B61D2B6-1F2C-453C-BCAB-3019ABB1E9C3}" destId="{3A6A9D4C-AE2A-4713-96F7-C0905D1AF835}" srcOrd="0" destOrd="0" presId="urn:microsoft.com/office/officeart/2005/8/layout/vList5"/>
    <dgm:cxn modelId="{2D113561-F4B8-43D7-B004-BC1EBA384A4B}" srcId="{EB7EF81F-A5E8-4CAA-8111-E00B5F57A0C9}" destId="{99204785-C312-405E-9375-1DC47CC554A0}" srcOrd="1" destOrd="0" parTransId="{97A2C919-8C25-4B0F-AF55-EE6E6C4ED26A}" sibTransId="{AB58BB37-B55B-4E29-A68B-B7EA2E5BC583}"/>
    <dgm:cxn modelId="{7FA2F363-811A-4D28-9E80-FB418A0A1144}" srcId="{A2DE037E-A53E-4E0D-B06D-70F231916661}" destId="{7B61D2B6-1F2C-453C-BCAB-3019ABB1E9C3}" srcOrd="0" destOrd="0" parTransId="{0149F784-CF57-449A-BA40-07ECC3EB1FC3}" sibTransId="{32A5E39F-D99C-48E8-AB3E-F94F4E984F1F}"/>
    <dgm:cxn modelId="{72313E44-8AE3-44E2-9F8C-4E52A73771B6}" srcId="{C1333A55-673A-4A79-A5DA-2CE314AD38A0}" destId="{C8592399-743C-410B-8482-AA7C4D8F575E}" srcOrd="0" destOrd="0" parTransId="{F68E9B53-226F-4116-9B81-988E22D122A6}" sibTransId="{45BC30C6-653D-43C7-AE4F-9C4479EF468C}"/>
    <dgm:cxn modelId="{14EF6964-C2DC-41DD-8013-92552EBB4EA9}" srcId="{C012EE85-1187-4CB2-9F8E-E92979DCB65C}" destId="{EB7EF81F-A5E8-4CAA-8111-E00B5F57A0C9}" srcOrd="2" destOrd="0" parTransId="{613E0FFE-3840-42EF-A35D-428D9FF8FE74}" sibTransId="{D31F84EA-C41E-4D87-875C-7531731BE3F3}"/>
    <dgm:cxn modelId="{5496AD4B-E686-42E9-8436-2A8F888C643D}" type="presOf" srcId="{8D88E4D5-C93B-4D82-B50F-73E7AC4F4D45}" destId="{4E83E948-A852-4150-A36B-B84545B268D7}" srcOrd="0" destOrd="0" presId="urn:microsoft.com/office/officeart/2005/8/layout/vList5"/>
    <dgm:cxn modelId="{75AFAB72-1E47-4B31-83CB-9AAC97B68425}" type="presOf" srcId="{0F46C5AD-D3C8-48C8-9CFC-630525E394E5}" destId="{6E45D275-376C-4E14-9554-E298493655CB}" srcOrd="0" destOrd="0" presId="urn:microsoft.com/office/officeart/2005/8/layout/vList5"/>
    <dgm:cxn modelId="{23D63355-0B39-4F0F-BA36-E05C0154039C}" srcId="{EB7EF81F-A5E8-4CAA-8111-E00B5F57A0C9}" destId="{8D88E4D5-C93B-4D82-B50F-73E7AC4F4D45}" srcOrd="0" destOrd="0" parTransId="{B9B4E051-C4DA-4D60-B631-091B894F6723}" sibTransId="{21326FB6-D4A3-4FF5-AF3E-74A9950C534A}"/>
    <dgm:cxn modelId="{70452086-08C6-440E-83EB-4D9F40BEAD86}" type="presOf" srcId="{7F433729-EBB6-4DDA-A403-A4EA896927D1}" destId="{601500C3-7FAD-4900-8456-3C98E611C319}" srcOrd="0" destOrd="0" presId="urn:microsoft.com/office/officeart/2005/8/layout/vList5"/>
    <dgm:cxn modelId="{877BE090-427F-495A-AAA3-9BADCDFC0553}" srcId="{EB7EF81F-A5E8-4CAA-8111-E00B5F57A0C9}" destId="{E0E797E9-382D-43CE-BA4D-512EB1DE2569}" srcOrd="2" destOrd="0" parTransId="{D92A6933-D461-4F2A-9B1E-1B63F29A6711}" sibTransId="{4F338C1B-0A33-42F9-AF60-4126F96F1FAB}"/>
    <dgm:cxn modelId="{11BF29A7-382E-4D70-B9F3-4BEB23269022}" srcId="{7F433729-EBB6-4DDA-A403-A4EA896927D1}" destId="{0F46C5AD-D3C8-48C8-9CFC-630525E394E5}" srcOrd="0" destOrd="0" parTransId="{27FCB662-08A0-4716-83BB-1B1CC96A926C}" sibTransId="{5DB5325E-6343-45F3-AE49-AC160AD19B53}"/>
    <dgm:cxn modelId="{F43FB7AF-4E0D-4844-A2DF-BBDC2ECDE294}" type="presOf" srcId="{99204785-C312-405E-9375-1DC47CC554A0}" destId="{4E83E948-A852-4150-A36B-B84545B268D7}" srcOrd="0" destOrd="1" presId="urn:microsoft.com/office/officeart/2005/8/layout/vList5"/>
    <dgm:cxn modelId="{A5FB4CB3-58EE-4BE9-9E8C-DCD484B2E497}" type="presOf" srcId="{C8592399-743C-410B-8482-AA7C4D8F575E}" destId="{2E92C8AF-6043-43EC-BD45-E6130DB1A5F1}" srcOrd="0" destOrd="0" presId="urn:microsoft.com/office/officeart/2005/8/layout/vList5"/>
    <dgm:cxn modelId="{3DFFD9B3-3D8F-4CEB-97A7-FC913638E782}" srcId="{C012EE85-1187-4CB2-9F8E-E92979DCB65C}" destId="{A2DE037E-A53E-4E0D-B06D-70F231916661}" srcOrd="1" destOrd="0" parTransId="{C8E76661-1AA0-4998-8F4D-4F5A96E5E2F2}" sibTransId="{37FC6E5C-338E-45AA-B0E2-F09DAF9A2913}"/>
    <dgm:cxn modelId="{6B5BA3C2-4ED1-4377-A7B2-6DCEECC3A382}" srcId="{A2DE037E-A53E-4E0D-B06D-70F231916661}" destId="{EFEBF74C-4D37-47FD-9F80-8D35EC675A32}" srcOrd="1" destOrd="0" parTransId="{2B72F6C4-2AF6-4ED5-812E-71793F92E136}" sibTransId="{4B580191-2A56-492B-B174-2CE1DD45B195}"/>
    <dgm:cxn modelId="{66D74CC6-1DF4-4A46-9811-F22A521E4103}" type="presOf" srcId="{EB7EF81F-A5E8-4CAA-8111-E00B5F57A0C9}" destId="{96C08F7A-5B9F-445E-831E-C0E9F0D5AC10}" srcOrd="0" destOrd="0" presId="urn:microsoft.com/office/officeart/2005/8/layout/vList5"/>
    <dgm:cxn modelId="{683045CE-8EDF-4A4F-B7A7-6A06D28B0173}" srcId="{C012EE85-1187-4CB2-9F8E-E92979DCB65C}" destId="{7F433729-EBB6-4DDA-A403-A4EA896927D1}" srcOrd="3" destOrd="0" parTransId="{5193EBE6-4CEE-4E32-B086-E4F24522C0C6}" sibTransId="{D84D19DD-0A37-45C9-B0D8-F9E18BFF15DD}"/>
    <dgm:cxn modelId="{BC27B4CF-A249-4D43-BF99-3D6B19452318}" type="presOf" srcId="{A2DE037E-A53E-4E0D-B06D-70F231916661}" destId="{8AD653AE-F103-4ACB-BCFE-AA63A73328EC}" srcOrd="0" destOrd="0" presId="urn:microsoft.com/office/officeart/2005/8/layout/vList5"/>
    <dgm:cxn modelId="{A3BF4EE0-D440-440D-8334-461AD33FA1EC}" srcId="{C012EE85-1187-4CB2-9F8E-E92979DCB65C}" destId="{C1333A55-673A-4A79-A5DA-2CE314AD38A0}" srcOrd="0" destOrd="0" parTransId="{7D3FE9A5-2DFA-46F0-8434-CDA99DC9A95D}" sibTransId="{1E0C5AB7-26AF-4BB7-A626-634B6DCC5A53}"/>
    <dgm:cxn modelId="{895B00E5-EB1B-49D4-8E5E-5F43CCEDAEBD}" type="presOf" srcId="{E0E797E9-382D-43CE-BA4D-512EB1DE2569}" destId="{4E83E948-A852-4150-A36B-B84545B268D7}" srcOrd="0" destOrd="2" presId="urn:microsoft.com/office/officeart/2005/8/layout/vList5"/>
    <dgm:cxn modelId="{9351E115-CADD-4260-B424-C008E706C910}" type="presParOf" srcId="{461925F4-E463-4F1E-9ACB-5A325F968244}" destId="{B9E011B6-A302-4D55-8925-811128C6B045}" srcOrd="0" destOrd="0" presId="urn:microsoft.com/office/officeart/2005/8/layout/vList5"/>
    <dgm:cxn modelId="{D2F3C576-B581-496E-9125-525204D4A558}" type="presParOf" srcId="{B9E011B6-A302-4D55-8925-811128C6B045}" destId="{7D9F4DA7-3AC4-407E-B9D6-A6F985ECF70B}" srcOrd="0" destOrd="0" presId="urn:microsoft.com/office/officeart/2005/8/layout/vList5"/>
    <dgm:cxn modelId="{8E0B9EBE-2161-4AC4-9354-E1EE6E5C67E3}" type="presParOf" srcId="{B9E011B6-A302-4D55-8925-811128C6B045}" destId="{2E92C8AF-6043-43EC-BD45-E6130DB1A5F1}" srcOrd="1" destOrd="0" presId="urn:microsoft.com/office/officeart/2005/8/layout/vList5"/>
    <dgm:cxn modelId="{513F855F-789B-4D4C-AE6E-38C4569B006C}" type="presParOf" srcId="{461925F4-E463-4F1E-9ACB-5A325F968244}" destId="{75AF47A8-3870-41EA-9C1F-5BA13C465355}" srcOrd="1" destOrd="0" presId="urn:microsoft.com/office/officeart/2005/8/layout/vList5"/>
    <dgm:cxn modelId="{1E5E9691-C8CE-47F6-8063-DC4D80927028}" type="presParOf" srcId="{461925F4-E463-4F1E-9ACB-5A325F968244}" destId="{169EA8CB-541B-4C6A-BF94-12670091F179}" srcOrd="2" destOrd="0" presId="urn:microsoft.com/office/officeart/2005/8/layout/vList5"/>
    <dgm:cxn modelId="{39A017C7-FEAD-4688-8CE6-82B675F447F8}" type="presParOf" srcId="{169EA8CB-541B-4C6A-BF94-12670091F179}" destId="{8AD653AE-F103-4ACB-BCFE-AA63A73328EC}" srcOrd="0" destOrd="0" presId="urn:microsoft.com/office/officeart/2005/8/layout/vList5"/>
    <dgm:cxn modelId="{9479DC06-ECF9-4503-9FCC-DC5EE1DF194F}" type="presParOf" srcId="{169EA8CB-541B-4C6A-BF94-12670091F179}" destId="{3A6A9D4C-AE2A-4713-96F7-C0905D1AF835}" srcOrd="1" destOrd="0" presId="urn:microsoft.com/office/officeart/2005/8/layout/vList5"/>
    <dgm:cxn modelId="{433B88C3-9BF0-49FA-B95A-B7C65C7281BD}" type="presParOf" srcId="{461925F4-E463-4F1E-9ACB-5A325F968244}" destId="{C072FAA4-6610-46F9-9ECE-FE5344540492}" srcOrd="3" destOrd="0" presId="urn:microsoft.com/office/officeart/2005/8/layout/vList5"/>
    <dgm:cxn modelId="{4329A62C-E3C3-41C5-B0D9-C6C4888DB1E9}" type="presParOf" srcId="{461925F4-E463-4F1E-9ACB-5A325F968244}" destId="{7851EE00-45A8-4922-AFF6-05B68F87F1F3}" srcOrd="4" destOrd="0" presId="urn:microsoft.com/office/officeart/2005/8/layout/vList5"/>
    <dgm:cxn modelId="{54A3EB81-D6FB-4884-B4E1-8348277495FD}" type="presParOf" srcId="{7851EE00-45A8-4922-AFF6-05B68F87F1F3}" destId="{96C08F7A-5B9F-445E-831E-C0E9F0D5AC10}" srcOrd="0" destOrd="0" presId="urn:microsoft.com/office/officeart/2005/8/layout/vList5"/>
    <dgm:cxn modelId="{53559C3B-817B-4306-8C72-9D20C14D6BE4}" type="presParOf" srcId="{7851EE00-45A8-4922-AFF6-05B68F87F1F3}" destId="{4E83E948-A852-4150-A36B-B84545B268D7}" srcOrd="1" destOrd="0" presId="urn:microsoft.com/office/officeart/2005/8/layout/vList5"/>
    <dgm:cxn modelId="{0AA0E628-C379-441F-9023-8EC2AA234EF8}" type="presParOf" srcId="{461925F4-E463-4F1E-9ACB-5A325F968244}" destId="{B170AB98-7BDB-47DF-B962-0DCDCCC40057}" srcOrd="5" destOrd="0" presId="urn:microsoft.com/office/officeart/2005/8/layout/vList5"/>
    <dgm:cxn modelId="{BDC6F767-D010-4E61-BE1F-01DFF37A6C36}" type="presParOf" srcId="{461925F4-E463-4F1E-9ACB-5A325F968244}" destId="{AF220D10-42D5-4AC2-94A6-7F73B5A132D0}" srcOrd="6" destOrd="0" presId="urn:microsoft.com/office/officeart/2005/8/layout/vList5"/>
    <dgm:cxn modelId="{5996ACAD-59AE-40C7-B711-BE5D28FFC2B7}" type="presParOf" srcId="{AF220D10-42D5-4AC2-94A6-7F73B5A132D0}" destId="{601500C3-7FAD-4900-8456-3C98E611C319}" srcOrd="0" destOrd="0" presId="urn:microsoft.com/office/officeart/2005/8/layout/vList5"/>
    <dgm:cxn modelId="{0ED3C24E-F544-4754-83DF-47AFF3DF1080}" type="presParOf" srcId="{AF220D10-42D5-4AC2-94A6-7F73B5A132D0}" destId="{6E45D275-376C-4E14-9554-E298493655CB}"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2B79DA-EC71-4644-8153-CA1D8CB6CE0E}" type="doc">
      <dgm:prSet loTypeId="urn:microsoft.com/office/officeart/2005/8/layout/process2" loCatId="process" qsTypeId="urn:microsoft.com/office/officeart/2005/8/quickstyle/simple1#2" qsCatId="simple" csTypeId="urn:microsoft.com/office/officeart/2005/8/colors/accent1_2#1" csCatId="accent1" phldr="1"/>
      <dgm:spPr/>
    </dgm:pt>
    <dgm:pt modelId="{233D4CF1-AD41-4AFD-A7C0-E3AD1B829168}">
      <dgm:prSet phldrT="[文本]"/>
      <dgm:spPr/>
      <dgm:t>
        <a:bodyPr/>
        <a:lstStyle/>
        <a:p>
          <a:r>
            <a:rPr lang="zh-CN" altLang="en-US" dirty="0"/>
            <a:t>构建能存储和分析的大数据平台</a:t>
          </a:r>
        </a:p>
      </dgm:t>
    </dgm:pt>
    <dgm:pt modelId="{F9F3CB22-2DDD-441D-9675-20B539A9D7F0}" cxnId="{890C6A71-6D44-4F5D-9ED6-AD9D8804C69A}" type="parTrans">
      <dgm:prSet/>
      <dgm:spPr/>
      <dgm:t>
        <a:bodyPr/>
        <a:lstStyle/>
        <a:p>
          <a:endParaRPr lang="zh-CN" altLang="en-US"/>
        </a:p>
      </dgm:t>
    </dgm:pt>
    <dgm:pt modelId="{EA3D618B-A01E-464B-A3BF-61B45C3E0FD0}" cxnId="{890C6A71-6D44-4F5D-9ED6-AD9D8804C69A}" type="sibTrans">
      <dgm:prSet/>
      <dgm:spPr/>
      <dgm:t>
        <a:bodyPr/>
        <a:lstStyle/>
        <a:p>
          <a:endParaRPr lang="zh-CN" altLang="en-US"/>
        </a:p>
      </dgm:t>
    </dgm:pt>
    <dgm:pt modelId="{B42CAA31-0FFA-43C3-957C-2FA86B5ED255}">
      <dgm:prSet phldrT="[文本]"/>
      <dgm:spPr/>
      <dgm:t>
        <a:bodyPr/>
        <a:lstStyle/>
        <a:p>
          <a:r>
            <a:rPr lang="zh-CN" altLang="en-US" dirty="0"/>
            <a:t>雇佣团队对商品需求趋势预测</a:t>
          </a:r>
        </a:p>
      </dgm:t>
    </dgm:pt>
    <dgm:pt modelId="{737FD74B-619D-40D6-B5DF-BA85BB7514C8}" cxnId="{1E7983CF-A9EE-412B-BC65-F49AB7A50EBD}" type="parTrans">
      <dgm:prSet/>
      <dgm:spPr/>
      <dgm:t>
        <a:bodyPr/>
        <a:lstStyle/>
        <a:p>
          <a:endParaRPr lang="zh-CN" altLang="en-US"/>
        </a:p>
      </dgm:t>
    </dgm:pt>
    <dgm:pt modelId="{D5311D8D-8FD3-450D-8E88-FFAA6C0DF080}" cxnId="{1E7983CF-A9EE-412B-BC65-F49AB7A50EBD}" type="sibTrans">
      <dgm:prSet/>
      <dgm:spPr/>
      <dgm:t>
        <a:bodyPr/>
        <a:lstStyle/>
        <a:p>
          <a:endParaRPr lang="zh-CN" altLang="en-US"/>
        </a:p>
      </dgm:t>
    </dgm:pt>
    <dgm:pt modelId="{562A99EC-4A02-4727-8C16-08564C23168F}">
      <dgm:prSet phldrT="[文本]"/>
      <dgm:spPr/>
      <dgm:t>
        <a:bodyPr/>
        <a:lstStyle/>
        <a:p>
          <a:r>
            <a:rPr lang="zh-CN" altLang="en-US" dirty="0"/>
            <a:t>带来销售</a:t>
          </a:r>
          <a:endParaRPr lang="en-US" altLang="zh-CN" dirty="0"/>
        </a:p>
        <a:p>
          <a:r>
            <a:rPr lang="zh-CN" altLang="en-US" dirty="0"/>
            <a:t>利润增加</a:t>
          </a:r>
        </a:p>
      </dgm:t>
    </dgm:pt>
    <dgm:pt modelId="{6C6F7BA2-6F58-41C2-9B70-C0D610F80514}" cxnId="{4A82DE31-9106-43D3-AEB6-520988FE9572}" type="parTrans">
      <dgm:prSet/>
      <dgm:spPr/>
      <dgm:t>
        <a:bodyPr/>
        <a:lstStyle/>
        <a:p>
          <a:endParaRPr lang="zh-CN" altLang="en-US"/>
        </a:p>
      </dgm:t>
    </dgm:pt>
    <dgm:pt modelId="{28ABAA0D-70C3-418E-ACF3-8C7831D875FC}" cxnId="{4A82DE31-9106-43D3-AEB6-520988FE9572}" type="sibTrans">
      <dgm:prSet/>
      <dgm:spPr/>
      <dgm:t>
        <a:bodyPr/>
        <a:lstStyle/>
        <a:p>
          <a:endParaRPr lang="zh-CN" altLang="en-US"/>
        </a:p>
      </dgm:t>
    </dgm:pt>
    <dgm:pt modelId="{F3EF705F-9537-449F-94DF-68DA5FDE2BD1}" type="pres">
      <dgm:prSet presAssocID="{FD2B79DA-EC71-4644-8153-CA1D8CB6CE0E}" presName="linearFlow" presStyleCnt="0">
        <dgm:presLayoutVars>
          <dgm:resizeHandles val="exact"/>
        </dgm:presLayoutVars>
      </dgm:prSet>
      <dgm:spPr/>
    </dgm:pt>
    <dgm:pt modelId="{64D1125E-329F-4591-B51B-4A6FF1AFE12F}" type="pres">
      <dgm:prSet presAssocID="{233D4CF1-AD41-4AFD-A7C0-E3AD1B829168}" presName="node" presStyleLbl="node1" presStyleIdx="0" presStyleCnt="3">
        <dgm:presLayoutVars>
          <dgm:bulletEnabled val="1"/>
        </dgm:presLayoutVars>
      </dgm:prSet>
      <dgm:spPr/>
    </dgm:pt>
    <dgm:pt modelId="{C9A0F23E-EF05-4252-9B7D-9C0E0ACD8A48}" type="pres">
      <dgm:prSet presAssocID="{EA3D618B-A01E-464B-A3BF-61B45C3E0FD0}" presName="sibTrans" presStyleLbl="sibTrans2D1" presStyleIdx="0" presStyleCnt="2"/>
      <dgm:spPr/>
    </dgm:pt>
    <dgm:pt modelId="{4682F43A-93C0-48A2-B5A7-ABD2F07F652F}" type="pres">
      <dgm:prSet presAssocID="{EA3D618B-A01E-464B-A3BF-61B45C3E0FD0}" presName="connectorText" presStyleLbl="sibTrans2D1" presStyleIdx="0" presStyleCnt="2"/>
      <dgm:spPr/>
    </dgm:pt>
    <dgm:pt modelId="{0EE555FF-C475-454F-AC80-B44DE474D3C8}" type="pres">
      <dgm:prSet presAssocID="{B42CAA31-0FFA-43C3-957C-2FA86B5ED255}" presName="node" presStyleLbl="node1" presStyleIdx="1" presStyleCnt="3">
        <dgm:presLayoutVars>
          <dgm:bulletEnabled val="1"/>
        </dgm:presLayoutVars>
      </dgm:prSet>
      <dgm:spPr/>
    </dgm:pt>
    <dgm:pt modelId="{838EE850-C683-4E66-B7A4-6F7C81A9542B}" type="pres">
      <dgm:prSet presAssocID="{D5311D8D-8FD3-450D-8E88-FFAA6C0DF080}" presName="sibTrans" presStyleLbl="sibTrans2D1" presStyleIdx="1" presStyleCnt="2"/>
      <dgm:spPr/>
    </dgm:pt>
    <dgm:pt modelId="{8F7F079A-B57D-4CF5-8041-C9B6F3B76A48}" type="pres">
      <dgm:prSet presAssocID="{D5311D8D-8FD3-450D-8E88-FFAA6C0DF080}" presName="connectorText" presStyleLbl="sibTrans2D1" presStyleIdx="1" presStyleCnt="2"/>
      <dgm:spPr/>
    </dgm:pt>
    <dgm:pt modelId="{57D0EBD3-CC41-482A-BFAF-17A79B847D19}" type="pres">
      <dgm:prSet presAssocID="{562A99EC-4A02-4727-8C16-08564C23168F}" presName="node" presStyleLbl="node1" presStyleIdx="2" presStyleCnt="3">
        <dgm:presLayoutVars>
          <dgm:bulletEnabled val="1"/>
        </dgm:presLayoutVars>
      </dgm:prSet>
      <dgm:spPr/>
    </dgm:pt>
  </dgm:ptLst>
  <dgm:cxnLst>
    <dgm:cxn modelId="{50A8A40D-E6B4-4C42-AE44-51841C2432E4}" type="presOf" srcId="{EA3D618B-A01E-464B-A3BF-61B45C3E0FD0}" destId="{C9A0F23E-EF05-4252-9B7D-9C0E0ACD8A48}" srcOrd="0" destOrd="0" presId="urn:microsoft.com/office/officeart/2005/8/layout/process2"/>
    <dgm:cxn modelId="{4A82DE31-9106-43D3-AEB6-520988FE9572}" srcId="{FD2B79DA-EC71-4644-8153-CA1D8CB6CE0E}" destId="{562A99EC-4A02-4727-8C16-08564C23168F}" srcOrd="2" destOrd="0" parTransId="{6C6F7BA2-6F58-41C2-9B70-C0D610F80514}" sibTransId="{28ABAA0D-70C3-418E-ACF3-8C7831D875FC}"/>
    <dgm:cxn modelId="{573D6038-3E12-4E00-A5B1-E79B64BDA412}" type="presOf" srcId="{B42CAA31-0FFA-43C3-957C-2FA86B5ED255}" destId="{0EE555FF-C475-454F-AC80-B44DE474D3C8}" srcOrd="0" destOrd="0" presId="urn:microsoft.com/office/officeart/2005/8/layout/process2"/>
    <dgm:cxn modelId="{DA969E3C-9B85-4D6C-91AE-9C194A414E93}" type="presOf" srcId="{EA3D618B-A01E-464B-A3BF-61B45C3E0FD0}" destId="{4682F43A-93C0-48A2-B5A7-ABD2F07F652F}" srcOrd="1" destOrd="0" presId="urn:microsoft.com/office/officeart/2005/8/layout/process2"/>
    <dgm:cxn modelId="{E82F555B-05AE-4D16-8001-BD41E8E014DE}" type="presOf" srcId="{233D4CF1-AD41-4AFD-A7C0-E3AD1B829168}" destId="{64D1125E-329F-4591-B51B-4A6FF1AFE12F}" srcOrd="0" destOrd="0" presId="urn:microsoft.com/office/officeart/2005/8/layout/process2"/>
    <dgm:cxn modelId="{F4C63D6B-CC51-488D-8287-2D579C7780DF}" type="presOf" srcId="{D5311D8D-8FD3-450D-8E88-FFAA6C0DF080}" destId="{8F7F079A-B57D-4CF5-8041-C9B6F3B76A48}" srcOrd="1" destOrd="0" presId="urn:microsoft.com/office/officeart/2005/8/layout/process2"/>
    <dgm:cxn modelId="{890C6A71-6D44-4F5D-9ED6-AD9D8804C69A}" srcId="{FD2B79DA-EC71-4644-8153-CA1D8CB6CE0E}" destId="{233D4CF1-AD41-4AFD-A7C0-E3AD1B829168}" srcOrd="0" destOrd="0" parTransId="{F9F3CB22-2DDD-441D-9675-20B539A9D7F0}" sibTransId="{EA3D618B-A01E-464B-A3BF-61B45C3E0FD0}"/>
    <dgm:cxn modelId="{6C03B29B-4337-4B86-9974-88F7CF16C2F0}" type="presOf" srcId="{562A99EC-4A02-4727-8C16-08564C23168F}" destId="{57D0EBD3-CC41-482A-BFAF-17A79B847D19}" srcOrd="0" destOrd="0" presId="urn:microsoft.com/office/officeart/2005/8/layout/process2"/>
    <dgm:cxn modelId="{1E7983CF-A9EE-412B-BC65-F49AB7A50EBD}" srcId="{FD2B79DA-EC71-4644-8153-CA1D8CB6CE0E}" destId="{B42CAA31-0FFA-43C3-957C-2FA86B5ED255}" srcOrd="1" destOrd="0" parTransId="{737FD74B-619D-40D6-B5DF-BA85BB7514C8}" sibTransId="{D5311D8D-8FD3-450D-8E88-FFAA6C0DF080}"/>
    <dgm:cxn modelId="{391B11D4-4927-4526-B6FF-12698BC9C9B6}" type="presOf" srcId="{D5311D8D-8FD3-450D-8E88-FFAA6C0DF080}" destId="{838EE850-C683-4E66-B7A4-6F7C81A9542B}" srcOrd="0" destOrd="0" presId="urn:microsoft.com/office/officeart/2005/8/layout/process2"/>
    <dgm:cxn modelId="{F0972FF4-7975-444D-9E18-EEC77824B93C}" type="presOf" srcId="{FD2B79DA-EC71-4644-8153-CA1D8CB6CE0E}" destId="{F3EF705F-9537-449F-94DF-68DA5FDE2BD1}" srcOrd="0" destOrd="0" presId="urn:microsoft.com/office/officeart/2005/8/layout/process2"/>
    <dgm:cxn modelId="{37C8EA87-C544-4301-9F0A-363E1FB0E82C}" type="presParOf" srcId="{F3EF705F-9537-449F-94DF-68DA5FDE2BD1}" destId="{64D1125E-329F-4591-B51B-4A6FF1AFE12F}" srcOrd="0" destOrd="0" presId="urn:microsoft.com/office/officeart/2005/8/layout/process2"/>
    <dgm:cxn modelId="{42EA5E0C-A5FC-40D5-A276-BC92550027A7}" type="presParOf" srcId="{F3EF705F-9537-449F-94DF-68DA5FDE2BD1}" destId="{C9A0F23E-EF05-4252-9B7D-9C0E0ACD8A48}" srcOrd="1" destOrd="0" presId="urn:microsoft.com/office/officeart/2005/8/layout/process2"/>
    <dgm:cxn modelId="{59CCE52F-06B2-4095-8F10-F287E1D45F7B}" type="presParOf" srcId="{C9A0F23E-EF05-4252-9B7D-9C0E0ACD8A48}" destId="{4682F43A-93C0-48A2-B5A7-ABD2F07F652F}" srcOrd="0" destOrd="0" presId="urn:microsoft.com/office/officeart/2005/8/layout/process2"/>
    <dgm:cxn modelId="{538083D2-F907-49F0-A575-9EB5AEC84264}" type="presParOf" srcId="{F3EF705F-9537-449F-94DF-68DA5FDE2BD1}" destId="{0EE555FF-C475-454F-AC80-B44DE474D3C8}" srcOrd="2" destOrd="0" presId="urn:microsoft.com/office/officeart/2005/8/layout/process2"/>
    <dgm:cxn modelId="{D091E2BB-9B02-4518-BC7B-54D518170AC1}" type="presParOf" srcId="{F3EF705F-9537-449F-94DF-68DA5FDE2BD1}" destId="{838EE850-C683-4E66-B7A4-6F7C81A9542B}" srcOrd="3" destOrd="0" presId="urn:microsoft.com/office/officeart/2005/8/layout/process2"/>
    <dgm:cxn modelId="{141EEFD7-2ADB-4C3A-81F8-763F27104D54}" type="presParOf" srcId="{838EE850-C683-4E66-B7A4-6F7C81A9542B}" destId="{8F7F079A-B57D-4CF5-8041-C9B6F3B76A48}" srcOrd="0" destOrd="0" presId="urn:microsoft.com/office/officeart/2005/8/layout/process2"/>
    <dgm:cxn modelId="{9B920B66-144F-4839-80F2-FA60CF5B9F7A}" type="presParOf" srcId="{F3EF705F-9537-449F-94DF-68DA5FDE2BD1}" destId="{57D0EBD3-CC41-482A-BFAF-17A79B847D19}" srcOrd="4" destOrd="0" presId="urn:microsoft.com/office/officeart/2005/8/layout/process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D53AD0-60C9-4082-9610-1605B2EBAF5B}" type="doc">
      <dgm:prSet loTypeId="urn:microsoft.com/office/officeart/2005/8/layout/vList2#1" loCatId="list" qsTypeId="urn:microsoft.com/office/officeart/2005/8/quickstyle/simple1#3" qsCatId="simple" csTypeId="urn:microsoft.com/office/officeart/2005/8/colors/colorful4#2" csCatId="colorful" phldr="1"/>
      <dgm:spPr/>
      <dgm:t>
        <a:bodyPr/>
        <a:lstStyle/>
        <a:p>
          <a:endParaRPr lang="zh-CN" altLang="en-US"/>
        </a:p>
      </dgm:t>
    </dgm:pt>
    <dgm:pt modelId="{63341DB0-53FC-4ED2-A0ED-61007DD089ED}">
      <dgm:prSet phldrT="[文本]"/>
      <dgm:spPr/>
      <dgm:t>
        <a:bodyPr/>
        <a:lstStyle/>
        <a:p>
          <a:r>
            <a:rPr lang="zh-CN" altLang="en-US" dirty="0"/>
            <a:t>科学研究</a:t>
          </a:r>
        </a:p>
      </dgm:t>
    </dgm:pt>
    <dgm:pt modelId="{CBE22ADD-ECC1-4F7B-939C-A221ACCAD5C3}" cxnId="{1B914623-A95D-4A4A-B0AC-0A1F890891A1}" type="parTrans">
      <dgm:prSet/>
      <dgm:spPr/>
      <dgm:t>
        <a:bodyPr/>
        <a:lstStyle/>
        <a:p>
          <a:endParaRPr lang="zh-CN" altLang="en-US"/>
        </a:p>
      </dgm:t>
    </dgm:pt>
    <dgm:pt modelId="{E5930A7A-F44C-4AB2-9BD1-D8EF5B5AF1BA}" cxnId="{1B914623-A95D-4A4A-B0AC-0A1F890891A1}" type="sibTrans">
      <dgm:prSet/>
      <dgm:spPr/>
      <dgm:t>
        <a:bodyPr/>
        <a:lstStyle/>
        <a:p>
          <a:endParaRPr lang="zh-CN" altLang="en-US"/>
        </a:p>
      </dgm:t>
    </dgm:pt>
    <dgm:pt modelId="{F96E0B48-5E2F-4CB1-A9E4-F886A8446E4E}">
      <dgm:prSet/>
      <dgm:spPr/>
      <dgm:t>
        <a:bodyPr/>
        <a:lstStyle/>
        <a:p>
          <a:r>
            <a:rPr lang="zh-CN" altLang="en-US"/>
            <a:t>思维方式</a:t>
          </a:r>
          <a:endParaRPr lang="en-US" altLang="zh-CN" dirty="0"/>
        </a:p>
      </dgm:t>
    </dgm:pt>
    <dgm:pt modelId="{DC7E0DE1-A111-41C2-9A43-CE45DAE3977D}" cxnId="{339E5195-D406-4022-B8F8-782AB63ACF26}" type="parTrans">
      <dgm:prSet/>
      <dgm:spPr/>
      <dgm:t>
        <a:bodyPr/>
        <a:lstStyle/>
        <a:p>
          <a:endParaRPr lang="zh-CN" altLang="en-US"/>
        </a:p>
      </dgm:t>
    </dgm:pt>
    <dgm:pt modelId="{5C5968D9-1325-4D72-A747-76EBFE0C22DC}" cxnId="{339E5195-D406-4022-B8F8-782AB63ACF26}" type="sibTrans">
      <dgm:prSet/>
      <dgm:spPr/>
      <dgm:t>
        <a:bodyPr/>
        <a:lstStyle/>
        <a:p>
          <a:endParaRPr lang="zh-CN" altLang="en-US"/>
        </a:p>
      </dgm:t>
    </dgm:pt>
    <dgm:pt modelId="{04CCE2E8-49F7-431C-8BE1-1446D1C3B157}">
      <dgm:prSet/>
      <dgm:spPr/>
      <dgm:t>
        <a:bodyPr/>
        <a:lstStyle/>
        <a:p>
          <a:r>
            <a:rPr lang="zh-CN" altLang="en-US"/>
            <a:t>社会发展</a:t>
          </a:r>
          <a:endParaRPr lang="en-US" altLang="zh-CN" dirty="0"/>
        </a:p>
      </dgm:t>
    </dgm:pt>
    <dgm:pt modelId="{31CAE5E8-1805-4A3D-84BD-DE5E2B5C6209}" cxnId="{513E0C10-4860-4368-923C-D428DFD58A40}" type="parTrans">
      <dgm:prSet/>
      <dgm:spPr/>
      <dgm:t>
        <a:bodyPr/>
        <a:lstStyle/>
        <a:p>
          <a:endParaRPr lang="zh-CN" altLang="en-US"/>
        </a:p>
      </dgm:t>
    </dgm:pt>
    <dgm:pt modelId="{60BB03D1-4B44-41C3-A2A8-4C28FD71FDB8}" cxnId="{513E0C10-4860-4368-923C-D428DFD58A40}" type="sibTrans">
      <dgm:prSet/>
      <dgm:spPr/>
      <dgm:t>
        <a:bodyPr/>
        <a:lstStyle/>
        <a:p>
          <a:endParaRPr lang="zh-CN" altLang="en-US"/>
        </a:p>
      </dgm:t>
    </dgm:pt>
    <dgm:pt modelId="{44D544D5-ED2B-4FE3-9985-1FE5FDC698AF}">
      <dgm:prSet/>
      <dgm:spPr/>
      <dgm:t>
        <a:bodyPr/>
        <a:lstStyle/>
        <a:p>
          <a:r>
            <a:rPr lang="zh-CN" altLang="en-US" dirty="0"/>
            <a:t>就业市场</a:t>
          </a:r>
          <a:endParaRPr lang="en-US" altLang="zh-CN" dirty="0"/>
        </a:p>
      </dgm:t>
    </dgm:pt>
    <dgm:pt modelId="{187982E3-3992-46C0-B708-DF8C88E737DD}" cxnId="{35B0CD1F-7331-45CD-B5C2-C817FAB4F43A}" type="parTrans">
      <dgm:prSet/>
      <dgm:spPr/>
      <dgm:t>
        <a:bodyPr/>
        <a:lstStyle/>
        <a:p>
          <a:endParaRPr lang="zh-CN" altLang="en-US"/>
        </a:p>
      </dgm:t>
    </dgm:pt>
    <dgm:pt modelId="{A0C43158-9DBD-46F3-B4A1-068B7022BD90}" cxnId="{35B0CD1F-7331-45CD-B5C2-C817FAB4F43A}" type="sibTrans">
      <dgm:prSet/>
      <dgm:spPr/>
      <dgm:t>
        <a:bodyPr/>
        <a:lstStyle/>
        <a:p>
          <a:endParaRPr lang="zh-CN" altLang="en-US"/>
        </a:p>
      </dgm:t>
    </dgm:pt>
    <dgm:pt modelId="{80B632F4-41C2-427F-8045-52902200E86A}">
      <dgm:prSet/>
      <dgm:spPr/>
      <dgm:t>
        <a:bodyPr/>
        <a:lstStyle/>
        <a:p>
          <a:r>
            <a:rPr lang="zh-CN" altLang="en-US"/>
            <a:t>人才培养</a:t>
          </a:r>
          <a:endParaRPr lang="zh-CN" altLang="en-US" dirty="0"/>
        </a:p>
      </dgm:t>
    </dgm:pt>
    <dgm:pt modelId="{6D795EB8-EBFC-44FA-AD4D-5CD500084A79}" cxnId="{34CADEF5-3FDB-4D2C-B136-B72846E20E86}" type="parTrans">
      <dgm:prSet/>
      <dgm:spPr/>
      <dgm:t>
        <a:bodyPr/>
        <a:lstStyle/>
        <a:p>
          <a:endParaRPr lang="zh-CN" altLang="en-US"/>
        </a:p>
      </dgm:t>
    </dgm:pt>
    <dgm:pt modelId="{D38ED642-3B9A-4803-BCBE-76478C327753}" cxnId="{34CADEF5-3FDB-4D2C-B136-B72846E20E86}" type="sibTrans">
      <dgm:prSet/>
      <dgm:spPr/>
      <dgm:t>
        <a:bodyPr/>
        <a:lstStyle/>
        <a:p>
          <a:endParaRPr lang="zh-CN" altLang="en-US"/>
        </a:p>
      </dgm:t>
    </dgm:pt>
    <dgm:pt modelId="{BC0BA848-2C72-4C62-BF42-6E392F34E92D}" type="pres">
      <dgm:prSet presAssocID="{DAD53AD0-60C9-4082-9610-1605B2EBAF5B}" presName="linear" presStyleCnt="0">
        <dgm:presLayoutVars>
          <dgm:animLvl val="lvl"/>
          <dgm:resizeHandles val="exact"/>
        </dgm:presLayoutVars>
      </dgm:prSet>
      <dgm:spPr/>
    </dgm:pt>
    <dgm:pt modelId="{B1143ECF-F0F2-460A-99F0-BE69EA443633}" type="pres">
      <dgm:prSet presAssocID="{63341DB0-53FC-4ED2-A0ED-61007DD089ED}" presName="parentText" presStyleLbl="node1" presStyleIdx="0" presStyleCnt="5">
        <dgm:presLayoutVars>
          <dgm:chMax val="0"/>
          <dgm:bulletEnabled val="1"/>
        </dgm:presLayoutVars>
      </dgm:prSet>
      <dgm:spPr/>
    </dgm:pt>
    <dgm:pt modelId="{4BDBC65D-9B73-48A5-8AB9-CC946AA280F7}" type="pres">
      <dgm:prSet presAssocID="{E5930A7A-F44C-4AB2-9BD1-D8EF5B5AF1BA}" presName="spacer" presStyleCnt="0"/>
      <dgm:spPr/>
    </dgm:pt>
    <dgm:pt modelId="{DE508B65-684B-4B81-9CAC-B703E582F80E}" type="pres">
      <dgm:prSet presAssocID="{F96E0B48-5E2F-4CB1-A9E4-F886A8446E4E}" presName="parentText" presStyleLbl="node1" presStyleIdx="1" presStyleCnt="5">
        <dgm:presLayoutVars>
          <dgm:chMax val="0"/>
          <dgm:bulletEnabled val="1"/>
        </dgm:presLayoutVars>
      </dgm:prSet>
      <dgm:spPr/>
    </dgm:pt>
    <dgm:pt modelId="{CC51AEEF-52F1-4574-B0F9-D1ADA9AC7ADF}" type="pres">
      <dgm:prSet presAssocID="{5C5968D9-1325-4D72-A747-76EBFE0C22DC}" presName="spacer" presStyleCnt="0"/>
      <dgm:spPr/>
    </dgm:pt>
    <dgm:pt modelId="{4D9B941B-55D5-41D6-8DB3-1027ED7ADFC6}" type="pres">
      <dgm:prSet presAssocID="{04CCE2E8-49F7-431C-8BE1-1446D1C3B157}" presName="parentText" presStyleLbl="node1" presStyleIdx="2" presStyleCnt="5">
        <dgm:presLayoutVars>
          <dgm:chMax val="0"/>
          <dgm:bulletEnabled val="1"/>
        </dgm:presLayoutVars>
      </dgm:prSet>
      <dgm:spPr/>
    </dgm:pt>
    <dgm:pt modelId="{7D222212-0027-4E1B-9C0D-6355895D1BC2}" type="pres">
      <dgm:prSet presAssocID="{60BB03D1-4B44-41C3-A2A8-4C28FD71FDB8}" presName="spacer" presStyleCnt="0"/>
      <dgm:spPr/>
    </dgm:pt>
    <dgm:pt modelId="{8CDE5494-961A-4BAC-AA83-27614B7A5F4C}" type="pres">
      <dgm:prSet presAssocID="{44D544D5-ED2B-4FE3-9985-1FE5FDC698AF}" presName="parentText" presStyleLbl="node1" presStyleIdx="3" presStyleCnt="5">
        <dgm:presLayoutVars>
          <dgm:chMax val="0"/>
          <dgm:bulletEnabled val="1"/>
        </dgm:presLayoutVars>
      </dgm:prSet>
      <dgm:spPr/>
    </dgm:pt>
    <dgm:pt modelId="{A94E7A26-418C-4004-8317-596F0418583B}" type="pres">
      <dgm:prSet presAssocID="{A0C43158-9DBD-46F3-B4A1-068B7022BD90}" presName="spacer" presStyleCnt="0"/>
      <dgm:spPr/>
    </dgm:pt>
    <dgm:pt modelId="{2C92C8C5-02D7-4439-AFE4-D65377BD61DC}" type="pres">
      <dgm:prSet presAssocID="{80B632F4-41C2-427F-8045-52902200E86A}" presName="parentText" presStyleLbl="node1" presStyleIdx="4" presStyleCnt="5">
        <dgm:presLayoutVars>
          <dgm:chMax val="0"/>
          <dgm:bulletEnabled val="1"/>
        </dgm:presLayoutVars>
      </dgm:prSet>
      <dgm:spPr/>
    </dgm:pt>
  </dgm:ptLst>
  <dgm:cxnLst>
    <dgm:cxn modelId="{513E0C10-4860-4368-923C-D428DFD58A40}" srcId="{DAD53AD0-60C9-4082-9610-1605B2EBAF5B}" destId="{04CCE2E8-49F7-431C-8BE1-1446D1C3B157}" srcOrd="2" destOrd="0" parTransId="{31CAE5E8-1805-4A3D-84BD-DE5E2B5C6209}" sibTransId="{60BB03D1-4B44-41C3-A2A8-4C28FD71FDB8}"/>
    <dgm:cxn modelId="{35B0CD1F-7331-45CD-B5C2-C817FAB4F43A}" srcId="{DAD53AD0-60C9-4082-9610-1605B2EBAF5B}" destId="{44D544D5-ED2B-4FE3-9985-1FE5FDC698AF}" srcOrd="3" destOrd="0" parTransId="{187982E3-3992-46C0-B708-DF8C88E737DD}" sibTransId="{A0C43158-9DBD-46F3-B4A1-068B7022BD90}"/>
    <dgm:cxn modelId="{1B914623-A95D-4A4A-B0AC-0A1F890891A1}" srcId="{DAD53AD0-60C9-4082-9610-1605B2EBAF5B}" destId="{63341DB0-53FC-4ED2-A0ED-61007DD089ED}" srcOrd="0" destOrd="0" parTransId="{CBE22ADD-ECC1-4F7B-939C-A221ACCAD5C3}" sibTransId="{E5930A7A-F44C-4AB2-9BD1-D8EF5B5AF1BA}"/>
    <dgm:cxn modelId="{DDD62F2B-026A-443A-8013-AA25BBC826F2}" type="presOf" srcId="{63341DB0-53FC-4ED2-A0ED-61007DD089ED}" destId="{B1143ECF-F0F2-460A-99F0-BE69EA443633}" srcOrd="0" destOrd="0" presId="urn:microsoft.com/office/officeart/2005/8/layout/vList2#1"/>
    <dgm:cxn modelId="{CD06EB2C-05CD-47D5-8261-66F9B3806C3D}" type="presOf" srcId="{F96E0B48-5E2F-4CB1-A9E4-F886A8446E4E}" destId="{DE508B65-684B-4B81-9CAC-B703E582F80E}" srcOrd="0" destOrd="0" presId="urn:microsoft.com/office/officeart/2005/8/layout/vList2#1"/>
    <dgm:cxn modelId="{D4F21E72-FB28-4049-8555-C8548A741B19}" type="presOf" srcId="{DAD53AD0-60C9-4082-9610-1605B2EBAF5B}" destId="{BC0BA848-2C72-4C62-BF42-6E392F34E92D}" srcOrd="0" destOrd="0" presId="urn:microsoft.com/office/officeart/2005/8/layout/vList2#1"/>
    <dgm:cxn modelId="{F2F73177-7985-4536-9EF1-1774314288BC}" type="presOf" srcId="{80B632F4-41C2-427F-8045-52902200E86A}" destId="{2C92C8C5-02D7-4439-AFE4-D65377BD61DC}" srcOrd="0" destOrd="0" presId="urn:microsoft.com/office/officeart/2005/8/layout/vList2#1"/>
    <dgm:cxn modelId="{339E5195-D406-4022-B8F8-782AB63ACF26}" srcId="{DAD53AD0-60C9-4082-9610-1605B2EBAF5B}" destId="{F96E0B48-5E2F-4CB1-A9E4-F886A8446E4E}" srcOrd="1" destOrd="0" parTransId="{DC7E0DE1-A111-41C2-9A43-CE45DAE3977D}" sibTransId="{5C5968D9-1325-4D72-A747-76EBFE0C22DC}"/>
    <dgm:cxn modelId="{2741E99D-5015-45AA-88E1-2EC010D84AB1}" type="presOf" srcId="{44D544D5-ED2B-4FE3-9985-1FE5FDC698AF}" destId="{8CDE5494-961A-4BAC-AA83-27614B7A5F4C}" srcOrd="0" destOrd="0" presId="urn:microsoft.com/office/officeart/2005/8/layout/vList2#1"/>
    <dgm:cxn modelId="{40D460AC-9C80-4C75-BCEE-6152C119B11F}" type="presOf" srcId="{04CCE2E8-49F7-431C-8BE1-1446D1C3B157}" destId="{4D9B941B-55D5-41D6-8DB3-1027ED7ADFC6}" srcOrd="0" destOrd="0" presId="urn:microsoft.com/office/officeart/2005/8/layout/vList2#1"/>
    <dgm:cxn modelId="{34CADEF5-3FDB-4D2C-B136-B72846E20E86}" srcId="{DAD53AD0-60C9-4082-9610-1605B2EBAF5B}" destId="{80B632F4-41C2-427F-8045-52902200E86A}" srcOrd="4" destOrd="0" parTransId="{6D795EB8-EBFC-44FA-AD4D-5CD500084A79}" sibTransId="{D38ED642-3B9A-4803-BCBE-76478C327753}"/>
    <dgm:cxn modelId="{3F4C7472-3339-4757-A857-E158AD6BF93F}" type="presParOf" srcId="{BC0BA848-2C72-4C62-BF42-6E392F34E92D}" destId="{B1143ECF-F0F2-460A-99F0-BE69EA443633}" srcOrd="0" destOrd="0" presId="urn:microsoft.com/office/officeart/2005/8/layout/vList2#1"/>
    <dgm:cxn modelId="{17265669-8FD0-4D91-94A8-B9344F4D672C}" type="presParOf" srcId="{BC0BA848-2C72-4C62-BF42-6E392F34E92D}" destId="{4BDBC65D-9B73-48A5-8AB9-CC946AA280F7}" srcOrd="1" destOrd="0" presId="urn:microsoft.com/office/officeart/2005/8/layout/vList2#1"/>
    <dgm:cxn modelId="{C9A7B426-63CF-4749-A297-BF0FEFA5044C}" type="presParOf" srcId="{BC0BA848-2C72-4C62-BF42-6E392F34E92D}" destId="{DE508B65-684B-4B81-9CAC-B703E582F80E}" srcOrd="2" destOrd="0" presId="urn:microsoft.com/office/officeart/2005/8/layout/vList2#1"/>
    <dgm:cxn modelId="{71310EB3-103D-4039-A3A8-21C977874DD5}" type="presParOf" srcId="{BC0BA848-2C72-4C62-BF42-6E392F34E92D}" destId="{CC51AEEF-52F1-4574-B0F9-D1ADA9AC7ADF}" srcOrd="3" destOrd="0" presId="urn:microsoft.com/office/officeart/2005/8/layout/vList2#1"/>
    <dgm:cxn modelId="{03E7D9A2-8A1B-459A-AE28-56E82A172C91}" type="presParOf" srcId="{BC0BA848-2C72-4C62-BF42-6E392F34E92D}" destId="{4D9B941B-55D5-41D6-8DB3-1027ED7ADFC6}" srcOrd="4" destOrd="0" presId="urn:microsoft.com/office/officeart/2005/8/layout/vList2#1"/>
    <dgm:cxn modelId="{DBDF41E0-83B7-425E-B116-494937B469E2}" type="presParOf" srcId="{BC0BA848-2C72-4C62-BF42-6E392F34E92D}" destId="{7D222212-0027-4E1B-9C0D-6355895D1BC2}" srcOrd="5" destOrd="0" presId="urn:microsoft.com/office/officeart/2005/8/layout/vList2#1"/>
    <dgm:cxn modelId="{E8D817F3-6037-4C4E-80C9-BD4F383A563A}" type="presParOf" srcId="{BC0BA848-2C72-4C62-BF42-6E392F34E92D}" destId="{8CDE5494-961A-4BAC-AA83-27614B7A5F4C}" srcOrd="6" destOrd="0" presId="urn:microsoft.com/office/officeart/2005/8/layout/vList2#1"/>
    <dgm:cxn modelId="{ACBC18FA-A94F-498B-AB06-1A4195E7C66F}" type="presParOf" srcId="{BC0BA848-2C72-4C62-BF42-6E392F34E92D}" destId="{A94E7A26-418C-4004-8317-596F0418583B}" srcOrd="7" destOrd="0" presId="urn:microsoft.com/office/officeart/2005/8/layout/vList2#1"/>
    <dgm:cxn modelId="{A628FDCD-C28B-4FA1-80B4-91226938C2A4}" type="presParOf" srcId="{BC0BA848-2C72-4C62-BF42-6E392F34E92D}" destId="{2C92C8C5-02D7-4439-AFE4-D65377BD61DC}" srcOrd="8" destOrd="0" presId="urn:microsoft.com/office/officeart/2005/8/layout/vList2#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AA462F5-57E8-424D-9FEB-6E6BF906F139}" type="doc">
      <dgm:prSet loTypeId="urn:microsoft.com/office/officeart/2005/8/layout/vList2#2" loCatId="list" qsTypeId="urn:microsoft.com/office/officeart/2005/8/quickstyle/simple1#4" qsCatId="simple" csTypeId="urn:microsoft.com/office/officeart/2005/8/colors/colorful4#3" csCatId="colorful" phldr="1"/>
      <dgm:spPr/>
      <dgm:t>
        <a:bodyPr/>
        <a:lstStyle/>
        <a:p>
          <a:endParaRPr lang="zh-CN" altLang="en-US"/>
        </a:p>
      </dgm:t>
    </dgm:pt>
    <dgm:pt modelId="{1BD76735-D21C-468F-BD59-BA58B9D80EB9}">
      <dgm:prSet phldrT="[文本]"/>
      <dgm:spPr/>
      <dgm:t>
        <a:bodyPr/>
        <a:lstStyle/>
        <a:p>
          <a:r>
            <a:rPr lang="zh-CN" altLang="en-US" dirty="0"/>
            <a:t>新决策方式</a:t>
          </a:r>
        </a:p>
      </dgm:t>
    </dgm:pt>
    <dgm:pt modelId="{AAB0F636-0AEA-4948-86D2-2CE9AFCCF6EA}" cxnId="{A261AE87-F311-43E8-91F7-138136147F5D}" type="parTrans">
      <dgm:prSet/>
      <dgm:spPr/>
      <dgm:t>
        <a:bodyPr/>
        <a:lstStyle/>
        <a:p>
          <a:endParaRPr lang="zh-CN" altLang="en-US"/>
        </a:p>
      </dgm:t>
    </dgm:pt>
    <dgm:pt modelId="{F4633C16-55D4-4496-ACDB-E098DBC144E0}" cxnId="{A261AE87-F311-43E8-91F7-138136147F5D}" type="sibTrans">
      <dgm:prSet/>
      <dgm:spPr/>
      <dgm:t>
        <a:bodyPr/>
        <a:lstStyle/>
        <a:p>
          <a:endParaRPr lang="zh-CN" altLang="en-US"/>
        </a:p>
      </dgm:t>
    </dgm:pt>
    <dgm:pt modelId="{E266B735-BAF4-44B9-93FE-DEF5E5292324}">
      <dgm:prSet phldrT="[文本]"/>
      <dgm:spPr/>
      <dgm:t>
        <a:bodyPr/>
        <a:lstStyle/>
        <a:p>
          <a:pPr>
            <a:buNone/>
          </a:pPr>
          <a:r>
            <a:rPr lang="zh-CN" altLang="en-US" dirty="0"/>
            <a:t>例如：企业决策（基于数据仓库）；</a:t>
          </a:r>
        </a:p>
      </dgm:t>
    </dgm:pt>
    <dgm:pt modelId="{FA3779CB-F132-4307-BD82-CD47E09C804E}" cxnId="{4BCCA8E9-F120-4097-9FD0-CAEC1A22802D}" type="parTrans">
      <dgm:prSet/>
      <dgm:spPr/>
      <dgm:t>
        <a:bodyPr/>
        <a:lstStyle/>
        <a:p>
          <a:endParaRPr lang="zh-CN" altLang="en-US"/>
        </a:p>
      </dgm:t>
    </dgm:pt>
    <dgm:pt modelId="{08876AF4-3C62-42E4-90B0-890AB4A1D444}" cxnId="{4BCCA8E9-F120-4097-9FD0-CAEC1A22802D}" type="sibTrans">
      <dgm:prSet/>
      <dgm:spPr/>
      <dgm:t>
        <a:bodyPr/>
        <a:lstStyle/>
        <a:p>
          <a:endParaRPr lang="zh-CN" altLang="en-US"/>
        </a:p>
      </dgm:t>
    </dgm:pt>
    <dgm:pt modelId="{DFE72628-F06D-40A7-BBD4-1DE0A43EAB65}">
      <dgm:prSet phldrT="[文本]"/>
      <dgm:spPr/>
      <dgm:t>
        <a:bodyPr/>
        <a:lstStyle/>
        <a:p>
          <a:r>
            <a:rPr lang="zh-CN" altLang="en-US" dirty="0"/>
            <a:t>促进信息技术与各行业的深度融合</a:t>
          </a:r>
        </a:p>
      </dgm:t>
    </dgm:pt>
    <dgm:pt modelId="{3077C20B-1CE9-47CF-B465-7882F750EAEF}" cxnId="{FABDABB3-59A2-4EFE-8E4F-1CFEA5D12C20}" type="parTrans">
      <dgm:prSet/>
      <dgm:spPr/>
      <dgm:t>
        <a:bodyPr/>
        <a:lstStyle/>
        <a:p>
          <a:endParaRPr lang="zh-CN" altLang="en-US"/>
        </a:p>
      </dgm:t>
    </dgm:pt>
    <dgm:pt modelId="{C16B939D-C255-499C-B320-978E76C9A992}" cxnId="{FABDABB3-59A2-4EFE-8E4F-1CFEA5D12C20}" type="sibTrans">
      <dgm:prSet/>
      <dgm:spPr/>
      <dgm:t>
        <a:bodyPr/>
        <a:lstStyle/>
        <a:p>
          <a:endParaRPr lang="zh-CN" altLang="en-US"/>
        </a:p>
      </dgm:t>
    </dgm:pt>
    <dgm:pt modelId="{521494AD-45BE-4A72-9C77-44B8B30BE9C7}">
      <dgm:prSet phldrT="[文本]"/>
      <dgm:spPr/>
      <dgm:t>
        <a:bodyPr/>
        <a:lstStyle/>
        <a:p>
          <a:pPr>
            <a:buNone/>
          </a:pPr>
          <a:r>
            <a:rPr lang="zh-CN" altLang="en-US" dirty="0"/>
            <a:t>例如：物流</a:t>
          </a:r>
          <a:r>
            <a:rPr lang="en-US" altLang="zh-CN" dirty="0"/>
            <a:t>+</a:t>
          </a:r>
          <a:r>
            <a:rPr lang="zh-CN" altLang="en-US" dirty="0"/>
            <a:t>实时交通；销售</a:t>
          </a:r>
          <a:r>
            <a:rPr lang="en-US" altLang="zh-CN" dirty="0"/>
            <a:t>+</a:t>
          </a:r>
          <a:r>
            <a:rPr lang="zh-CN" altLang="en-US" dirty="0"/>
            <a:t>广告投放</a:t>
          </a:r>
        </a:p>
      </dgm:t>
    </dgm:pt>
    <dgm:pt modelId="{551A8321-5679-4ECF-B0C0-9386B30A9A17}" cxnId="{176BF7BD-B142-41D6-B058-AE0344C1F234}" type="parTrans">
      <dgm:prSet/>
      <dgm:spPr/>
      <dgm:t>
        <a:bodyPr/>
        <a:lstStyle/>
        <a:p>
          <a:endParaRPr lang="zh-CN" altLang="en-US"/>
        </a:p>
      </dgm:t>
    </dgm:pt>
    <dgm:pt modelId="{F4C833E1-9DD2-43E8-A90E-91A2DBBE053C}" cxnId="{176BF7BD-B142-41D6-B058-AE0344C1F234}" type="sibTrans">
      <dgm:prSet/>
      <dgm:spPr/>
      <dgm:t>
        <a:bodyPr/>
        <a:lstStyle/>
        <a:p>
          <a:endParaRPr lang="zh-CN" altLang="en-US"/>
        </a:p>
      </dgm:t>
    </dgm:pt>
    <dgm:pt modelId="{A82BB279-A946-47DB-8096-6FB8EDED7560}">
      <dgm:prSet phldrT="[文本]"/>
      <dgm:spPr/>
      <dgm:t>
        <a:bodyPr/>
        <a:lstStyle/>
        <a:p>
          <a:r>
            <a:rPr lang="zh-CN" altLang="en-US" dirty="0"/>
            <a:t>推动新技术和新应用不断涌现</a:t>
          </a:r>
        </a:p>
      </dgm:t>
    </dgm:pt>
    <dgm:pt modelId="{394FAB68-8EA0-40ED-A762-82C3EF41AE67}" cxnId="{ACDD3A32-7972-4AE0-B3CE-AF2264A578B2}" type="parTrans">
      <dgm:prSet/>
      <dgm:spPr/>
      <dgm:t>
        <a:bodyPr/>
        <a:lstStyle/>
        <a:p>
          <a:endParaRPr lang="zh-CN" altLang="en-US"/>
        </a:p>
      </dgm:t>
    </dgm:pt>
    <dgm:pt modelId="{E4210E3F-D2A7-41AA-8285-D5E124989643}" cxnId="{ACDD3A32-7972-4AE0-B3CE-AF2264A578B2}" type="sibTrans">
      <dgm:prSet/>
      <dgm:spPr/>
      <dgm:t>
        <a:bodyPr/>
        <a:lstStyle/>
        <a:p>
          <a:endParaRPr lang="zh-CN" altLang="en-US"/>
        </a:p>
      </dgm:t>
    </dgm:pt>
    <dgm:pt modelId="{6286B297-F2DD-4BBC-BA28-3627D9DCD988}">
      <dgm:prSet phldrT="[文本]"/>
      <dgm:spPr/>
      <dgm:t>
        <a:bodyPr/>
        <a:lstStyle/>
        <a:p>
          <a:pPr>
            <a:buNone/>
          </a:pPr>
          <a:r>
            <a:rPr lang="zh-CN" altLang="en-US"/>
            <a:t>例如：汽车保险方案（普遍性</a:t>
          </a:r>
          <a:r>
            <a:rPr lang="en-US" altLang="zh-CN">
              <a:sym typeface="Wingdings" panose="05000000000000000000" pitchFamily="2" charset="2"/>
            </a:rPr>
            <a:t></a:t>
          </a:r>
          <a:r>
            <a:rPr lang="zh-CN" altLang="en-US">
              <a:sym typeface="Wingdings" panose="05000000000000000000" pitchFamily="2" charset="2"/>
            </a:rPr>
            <a:t>针对性）</a:t>
          </a:r>
          <a:endParaRPr lang="zh-CN" altLang="en-US" dirty="0"/>
        </a:p>
      </dgm:t>
    </dgm:pt>
    <dgm:pt modelId="{D502EC1B-45BD-4F94-B953-24988B2ACDF9}" cxnId="{F1028E01-256D-402F-98EE-824BE4A6755F}" type="parTrans">
      <dgm:prSet/>
      <dgm:spPr/>
      <dgm:t>
        <a:bodyPr/>
        <a:lstStyle/>
        <a:p>
          <a:endParaRPr lang="zh-CN" altLang="en-US"/>
        </a:p>
      </dgm:t>
    </dgm:pt>
    <dgm:pt modelId="{E433ACCF-4965-421F-A8BE-4F3F4E0842B8}" cxnId="{F1028E01-256D-402F-98EE-824BE4A6755F}" type="sibTrans">
      <dgm:prSet/>
      <dgm:spPr/>
      <dgm:t>
        <a:bodyPr/>
        <a:lstStyle/>
        <a:p>
          <a:endParaRPr lang="zh-CN" altLang="en-US"/>
        </a:p>
      </dgm:t>
    </dgm:pt>
    <dgm:pt modelId="{FAFA885F-DA12-433A-9A70-8177DB77EE6F}">
      <dgm:prSet phldrT="[文本]"/>
      <dgm:spPr/>
      <dgm:t>
        <a:bodyPr/>
        <a:lstStyle/>
        <a:p>
          <a:pPr>
            <a:buNone/>
          </a:pPr>
          <a:r>
            <a:rPr lang="zh-CN" altLang="en-US" dirty="0"/>
            <a:t>政府决策（基于舆情分析）</a:t>
          </a:r>
        </a:p>
      </dgm:t>
    </dgm:pt>
    <dgm:pt modelId="{E98B5343-D4D5-48F3-BABE-32A4BC453500}" cxnId="{9475C58D-4E42-4A88-9BC2-1BFE4D396314}" type="parTrans">
      <dgm:prSet/>
      <dgm:spPr/>
      <dgm:t>
        <a:bodyPr/>
        <a:lstStyle/>
        <a:p>
          <a:endParaRPr lang="zh-CN" altLang="en-US"/>
        </a:p>
      </dgm:t>
    </dgm:pt>
    <dgm:pt modelId="{1B48D80D-059E-4D5D-ACB2-77629A2DD9F1}" cxnId="{9475C58D-4E42-4A88-9BC2-1BFE4D396314}" type="sibTrans">
      <dgm:prSet/>
      <dgm:spPr/>
      <dgm:t>
        <a:bodyPr/>
        <a:lstStyle/>
        <a:p>
          <a:endParaRPr lang="zh-CN" altLang="en-US"/>
        </a:p>
      </dgm:t>
    </dgm:pt>
    <dgm:pt modelId="{D065AC7C-F59A-4547-B29A-2DEC98C83CA3}" type="pres">
      <dgm:prSet presAssocID="{1AA462F5-57E8-424D-9FEB-6E6BF906F139}" presName="linear" presStyleCnt="0">
        <dgm:presLayoutVars>
          <dgm:animLvl val="lvl"/>
          <dgm:resizeHandles val="exact"/>
        </dgm:presLayoutVars>
      </dgm:prSet>
      <dgm:spPr/>
    </dgm:pt>
    <dgm:pt modelId="{FA5C6374-CF9F-48BA-B7D6-9A457D84E7F9}" type="pres">
      <dgm:prSet presAssocID="{1BD76735-D21C-468F-BD59-BA58B9D80EB9}" presName="parentText" presStyleLbl="node1" presStyleIdx="0" presStyleCnt="3" custScaleY="75193">
        <dgm:presLayoutVars>
          <dgm:chMax val="0"/>
          <dgm:bulletEnabled val="1"/>
        </dgm:presLayoutVars>
      </dgm:prSet>
      <dgm:spPr/>
    </dgm:pt>
    <dgm:pt modelId="{B79A0902-16D6-4A27-A597-4158DED682BB}" type="pres">
      <dgm:prSet presAssocID="{1BD76735-D21C-468F-BD59-BA58B9D80EB9}" presName="childText" presStyleLbl="revTx" presStyleIdx="0" presStyleCnt="3">
        <dgm:presLayoutVars>
          <dgm:bulletEnabled val="1"/>
        </dgm:presLayoutVars>
      </dgm:prSet>
      <dgm:spPr/>
    </dgm:pt>
    <dgm:pt modelId="{7E2181F7-18B3-4F5A-A6FE-5180210E58AE}" type="pres">
      <dgm:prSet presAssocID="{DFE72628-F06D-40A7-BBD4-1DE0A43EAB65}" presName="parentText" presStyleLbl="node1" presStyleIdx="1" presStyleCnt="3" custScaleY="75193">
        <dgm:presLayoutVars>
          <dgm:chMax val="0"/>
          <dgm:bulletEnabled val="1"/>
        </dgm:presLayoutVars>
      </dgm:prSet>
      <dgm:spPr/>
    </dgm:pt>
    <dgm:pt modelId="{5F3AD757-98E7-45B9-87E5-A71DF4A43DFE}" type="pres">
      <dgm:prSet presAssocID="{DFE72628-F06D-40A7-BBD4-1DE0A43EAB65}" presName="childText" presStyleLbl="revTx" presStyleIdx="1" presStyleCnt="3">
        <dgm:presLayoutVars>
          <dgm:bulletEnabled val="1"/>
        </dgm:presLayoutVars>
      </dgm:prSet>
      <dgm:spPr/>
    </dgm:pt>
    <dgm:pt modelId="{2395A60E-2864-4180-B019-E4F00F619F7C}" type="pres">
      <dgm:prSet presAssocID="{A82BB279-A946-47DB-8096-6FB8EDED7560}" presName="parentText" presStyleLbl="node1" presStyleIdx="2" presStyleCnt="3" custScaleY="75193">
        <dgm:presLayoutVars>
          <dgm:chMax val="0"/>
          <dgm:bulletEnabled val="1"/>
        </dgm:presLayoutVars>
      </dgm:prSet>
      <dgm:spPr/>
    </dgm:pt>
    <dgm:pt modelId="{9941BE0E-3D68-4B33-A7BE-42E628836482}" type="pres">
      <dgm:prSet presAssocID="{A82BB279-A946-47DB-8096-6FB8EDED7560}" presName="childText" presStyleLbl="revTx" presStyleIdx="2" presStyleCnt="3">
        <dgm:presLayoutVars>
          <dgm:bulletEnabled val="1"/>
        </dgm:presLayoutVars>
      </dgm:prSet>
      <dgm:spPr/>
    </dgm:pt>
  </dgm:ptLst>
  <dgm:cxnLst>
    <dgm:cxn modelId="{F1028E01-256D-402F-98EE-824BE4A6755F}" srcId="{A82BB279-A946-47DB-8096-6FB8EDED7560}" destId="{6286B297-F2DD-4BBC-BA28-3627D9DCD988}" srcOrd="0" destOrd="0" parTransId="{D502EC1B-45BD-4F94-B953-24988B2ACDF9}" sibTransId="{E433ACCF-4965-421F-A8BE-4F3F4E0842B8}"/>
    <dgm:cxn modelId="{0F1C3C0A-0C19-4965-9B5A-5F73F1A7EE36}" type="presOf" srcId="{521494AD-45BE-4A72-9C77-44B8B30BE9C7}" destId="{5F3AD757-98E7-45B9-87E5-A71DF4A43DFE}" srcOrd="0" destOrd="0" presId="urn:microsoft.com/office/officeart/2005/8/layout/vList2#2"/>
    <dgm:cxn modelId="{ACDD3A32-7972-4AE0-B3CE-AF2264A578B2}" srcId="{1AA462F5-57E8-424D-9FEB-6E6BF906F139}" destId="{A82BB279-A946-47DB-8096-6FB8EDED7560}" srcOrd="2" destOrd="0" parTransId="{394FAB68-8EA0-40ED-A762-82C3EF41AE67}" sibTransId="{E4210E3F-D2A7-41AA-8285-D5E124989643}"/>
    <dgm:cxn modelId="{891A284D-1E02-48D3-9426-CE180138791F}" type="presOf" srcId="{1AA462F5-57E8-424D-9FEB-6E6BF906F139}" destId="{D065AC7C-F59A-4547-B29A-2DEC98C83CA3}" srcOrd="0" destOrd="0" presId="urn:microsoft.com/office/officeart/2005/8/layout/vList2#2"/>
    <dgm:cxn modelId="{3DB09A79-F686-4C54-B719-04C9531942A2}" type="presOf" srcId="{FAFA885F-DA12-433A-9A70-8177DB77EE6F}" destId="{B79A0902-16D6-4A27-A597-4158DED682BB}" srcOrd="0" destOrd="1" presId="urn:microsoft.com/office/officeart/2005/8/layout/vList2#2"/>
    <dgm:cxn modelId="{D2FF7A5A-7ACA-4F5E-BEAD-71D4E21D41AC}" type="presOf" srcId="{E266B735-BAF4-44B9-93FE-DEF5E5292324}" destId="{B79A0902-16D6-4A27-A597-4158DED682BB}" srcOrd="0" destOrd="0" presId="urn:microsoft.com/office/officeart/2005/8/layout/vList2#2"/>
    <dgm:cxn modelId="{A261AE87-F311-43E8-91F7-138136147F5D}" srcId="{1AA462F5-57E8-424D-9FEB-6E6BF906F139}" destId="{1BD76735-D21C-468F-BD59-BA58B9D80EB9}" srcOrd="0" destOrd="0" parTransId="{AAB0F636-0AEA-4948-86D2-2CE9AFCCF6EA}" sibTransId="{F4633C16-55D4-4496-ACDB-E098DBC144E0}"/>
    <dgm:cxn modelId="{9475C58D-4E42-4A88-9BC2-1BFE4D396314}" srcId="{1BD76735-D21C-468F-BD59-BA58B9D80EB9}" destId="{FAFA885F-DA12-433A-9A70-8177DB77EE6F}" srcOrd="1" destOrd="0" parTransId="{E98B5343-D4D5-48F3-BABE-32A4BC453500}" sibTransId="{1B48D80D-059E-4D5D-ACB2-77629A2DD9F1}"/>
    <dgm:cxn modelId="{17010490-CB37-42DB-A319-DC1A39684752}" type="presOf" srcId="{1BD76735-D21C-468F-BD59-BA58B9D80EB9}" destId="{FA5C6374-CF9F-48BA-B7D6-9A457D84E7F9}" srcOrd="0" destOrd="0" presId="urn:microsoft.com/office/officeart/2005/8/layout/vList2#2"/>
    <dgm:cxn modelId="{FABDABB3-59A2-4EFE-8E4F-1CFEA5D12C20}" srcId="{1AA462F5-57E8-424D-9FEB-6E6BF906F139}" destId="{DFE72628-F06D-40A7-BBD4-1DE0A43EAB65}" srcOrd="1" destOrd="0" parTransId="{3077C20B-1CE9-47CF-B465-7882F750EAEF}" sibTransId="{C16B939D-C255-499C-B320-978E76C9A992}"/>
    <dgm:cxn modelId="{176BF7BD-B142-41D6-B058-AE0344C1F234}" srcId="{DFE72628-F06D-40A7-BBD4-1DE0A43EAB65}" destId="{521494AD-45BE-4A72-9C77-44B8B30BE9C7}" srcOrd="0" destOrd="0" parTransId="{551A8321-5679-4ECF-B0C0-9386B30A9A17}" sibTransId="{F4C833E1-9DD2-43E8-A90E-91A2DBBE053C}"/>
    <dgm:cxn modelId="{34BEB2CA-63C9-42BC-AB0C-69ABC1EF8EA2}" type="presOf" srcId="{DFE72628-F06D-40A7-BBD4-1DE0A43EAB65}" destId="{7E2181F7-18B3-4F5A-A6FE-5180210E58AE}" srcOrd="0" destOrd="0" presId="urn:microsoft.com/office/officeart/2005/8/layout/vList2#2"/>
    <dgm:cxn modelId="{4BCCA8E9-F120-4097-9FD0-CAEC1A22802D}" srcId="{1BD76735-D21C-468F-BD59-BA58B9D80EB9}" destId="{E266B735-BAF4-44B9-93FE-DEF5E5292324}" srcOrd="0" destOrd="0" parTransId="{FA3779CB-F132-4307-BD82-CD47E09C804E}" sibTransId="{08876AF4-3C62-42E4-90B0-890AB4A1D444}"/>
    <dgm:cxn modelId="{9BE216EF-E58E-4316-AF34-CAB5334E9D12}" type="presOf" srcId="{6286B297-F2DD-4BBC-BA28-3627D9DCD988}" destId="{9941BE0E-3D68-4B33-A7BE-42E628836482}" srcOrd="0" destOrd="0" presId="urn:microsoft.com/office/officeart/2005/8/layout/vList2#2"/>
    <dgm:cxn modelId="{5DD8FDF9-492C-4D79-844A-E6E6B632A890}" type="presOf" srcId="{A82BB279-A946-47DB-8096-6FB8EDED7560}" destId="{2395A60E-2864-4180-B019-E4F00F619F7C}" srcOrd="0" destOrd="0" presId="urn:microsoft.com/office/officeart/2005/8/layout/vList2#2"/>
    <dgm:cxn modelId="{B9D939F8-1E71-4711-B0F0-545BAE0D042D}" type="presParOf" srcId="{D065AC7C-F59A-4547-B29A-2DEC98C83CA3}" destId="{FA5C6374-CF9F-48BA-B7D6-9A457D84E7F9}" srcOrd="0" destOrd="0" presId="urn:microsoft.com/office/officeart/2005/8/layout/vList2#2"/>
    <dgm:cxn modelId="{BD4AF522-71B3-4956-805F-23FA75F8655D}" type="presParOf" srcId="{D065AC7C-F59A-4547-B29A-2DEC98C83CA3}" destId="{B79A0902-16D6-4A27-A597-4158DED682BB}" srcOrd="1" destOrd="0" presId="urn:microsoft.com/office/officeart/2005/8/layout/vList2#2"/>
    <dgm:cxn modelId="{67FEF137-8652-4F24-A582-B3259A6BDDDB}" type="presParOf" srcId="{D065AC7C-F59A-4547-B29A-2DEC98C83CA3}" destId="{7E2181F7-18B3-4F5A-A6FE-5180210E58AE}" srcOrd="2" destOrd="0" presId="urn:microsoft.com/office/officeart/2005/8/layout/vList2#2"/>
    <dgm:cxn modelId="{B4BAA71E-B990-40C3-B6C0-D66085DC85EF}" type="presParOf" srcId="{D065AC7C-F59A-4547-B29A-2DEC98C83CA3}" destId="{5F3AD757-98E7-45B9-87E5-A71DF4A43DFE}" srcOrd="3" destOrd="0" presId="urn:microsoft.com/office/officeart/2005/8/layout/vList2#2"/>
    <dgm:cxn modelId="{6DB17BF3-19D2-411D-9886-628F64C658AD}" type="presParOf" srcId="{D065AC7C-F59A-4547-B29A-2DEC98C83CA3}" destId="{2395A60E-2864-4180-B019-E4F00F619F7C}" srcOrd="4" destOrd="0" presId="urn:microsoft.com/office/officeart/2005/8/layout/vList2#2"/>
    <dgm:cxn modelId="{28C9F286-6948-4D2D-BAFC-344F6A949197}" type="presParOf" srcId="{D065AC7C-F59A-4547-B29A-2DEC98C83CA3}" destId="{9941BE0E-3D68-4B33-A7BE-42E628836482}" srcOrd="5" destOrd="0" presId="urn:microsoft.com/office/officeart/2005/8/layout/vList2#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921135" cy="5418667"/>
        <a:chOff x="0" y="0"/>
        <a:chExt cx="8921135" cy="5418667"/>
      </a:xfrm>
    </dsp:grpSpPr>
    <dsp:sp modelId="{2E92C8AF-6043-43EC-BD45-E6130DB1A5F1}">
      <dsp:nvSpPr>
        <dsp:cNvPr id="4" name="同侧圆角矩形 3"/>
        <dsp:cNvSpPr/>
      </dsp:nvSpPr>
      <dsp:spPr bwMode="white">
        <a:xfrm rot="5400000">
          <a:off x="5162423" y="-2201912"/>
          <a:ext cx="1044562" cy="5709526"/>
        </a:xfrm>
        <a:prstGeom prst="round2SameRect">
          <a:avLst/>
        </a:prstGeom>
      </dsp:spPr>
      <dsp:style>
        <a:lnRef idx="2">
          <a:schemeClr val="accent4">
            <a:tint val="40000"/>
            <a:alpha val="90000"/>
            <a:hueOff val="0"/>
            <a:satOff val="0"/>
            <a:lumOff val="0"/>
            <a:alpha val="90196"/>
          </a:schemeClr>
        </a:lnRef>
        <a:fillRef idx="1">
          <a:schemeClr val="accent4">
            <a:tint val="40000"/>
            <a:alpha val="90000"/>
            <a:hueOff val="0"/>
            <a:satOff val="0"/>
            <a:lumOff val="0"/>
            <a:alpha val="90196"/>
          </a:schemeClr>
        </a:fillRef>
        <a:effectRef idx="0">
          <a:scrgbClr r="0" g="0" b="0"/>
        </a:effectRef>
        <a:fontRef idx="minor"/>
      </dsp:style>
      <dsp:txBody>
        <a:bodyPr rot="-5400000" lIns="95250" tIns="47625" rIns="95250" bIns="47625" anchor="ctr"/>
        <a:lstStyle>
          <a:lvl1pPr algn="l">
            <a:defRPr sz="25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1">
            <a:lnSpc>
              <a:spcPct val="100000"/>
            </a:lnSpc>
            <a:spcBef>
              <a:spcPct val="0"/>
            </a:spcBef>
            <a:spcAft>
              <a:spcPct val="15000"/>
            </a:spcAft>
            <a:buChar char="•"/>
          </a:pPr>
          <a:r>
            <a:rPr lang="zh-CN" altLang="en-US" dirty="0">
              <a:solidFill>
                <a:schemeClr val="dk1"/>
              </a:solidFill>
            </a:rPr>
            <a:t>大数据概述</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大数据处理架构</a:t>
          </a:r>
          <a:r>
            <a:rPr lang="en-US" altLang="zh-CN" dirty="0">
              <a:solidFill>
                <a:schemeClr val="dk1"/>
              </a:solidFill>
            </a:rPr>
            <a:t>Hadoop</a:t>
          </a:r>
          <a:endParaRPr lang="zh-CN" altLang="en-US" dirty="0">
            <a:solidFill>
              <a:schemeClr val="dk1"/>
            </a:solidFill>
          </a:endParaRPr>
        </a:p>
      </dsp:txBody>
      <dsp:txXfrm rot="5400000">
        <a:off x="5162423" y="-2201912"/>
        <a:ext cx="1044562" cy="5709526"/>
      </dsp:txXfrm>
    </dsp:sp>
    <dsp:sp modelId="{7D9F4DA7-3AC4-407E-B9D6-A6F985ECF70B}">
      <dsp:nvSpPr>
        <dsp:cNvPr id="3" name="圆角矩形 2"/>
        <dsp:cNvSpPr/>
      </dsp:nvSpPr>
      <dsp:spPr bwMode="white">
        <a:xfrm>
          <a:off x="381668" y="0"/>
          <a:ext cx="2448273" cy="1305703"/>
        </a:xfrm>
        <a:prstGeom prst="roundRect">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110489" tIns="55244" rIns="110489" bIns="55244"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t>大数据基础</a:t>
          </a:r>
        </a:p>
      </dsp:txBody>
      <dsp:txXfrm>
        <a:off x="381668" y="0"/>
        <a:ext cx="2448273" cy="1305703"/>
      </dsp:txXfrm>
    </dsp:sp>
    <dsp:sp modelId="{3A6A9D4C-AE2A-4713-96F7-C0905D1AF835}">
      <dsp:nvSpPr>
        <dsp:cNvPr id="6" name="同侧圆角矩形 5"/>
        <dsp:cNvSpPr/>
      </dsp:nvSpPr>
      <dsp:spPr bwMode="white">
        <a:xfrm rot="5400000">
          <a:off x="5162423" y="-830924"/>
          <a:ext cx="1044562" cy="5709526"/>
        </a:xfrm>
        <a:prstGeom prst="round2SameRect">
          <a:avLst/>
        </a:prstGeom>
      </dsp:spPr>
      <dsp:style>
        <a:lnRef idx="2">
          <a:schemeClr val="accent4">
            <a:tint val="40000"/>
            <a:alpha val="90000"/>
            <a:hueOff val="3640000"/>
            <a:satOff val="-17515"/>
            <a:lumOff val="-522"/>
            <a:alpha val="90196"/>
          </a:schemeClr>
        </a:lnRef>
        <a:fillRef idx="1">
          <a:schemeClr val="accent4">
            <a:tint val="40000"/>
            <a:alpha val="90000"/>
            <a:hueOff val="3640000"/>
            <a:satOff val="-17515"/>
            <a:lumOff val="-522"/>
            <a:alpha val="90196"/>
          </a:schemeClr>
        </a:fillRef>
        <a:effectRef idx="0">
          <a:scrgbClr r="0" g="0" b="0"/>
        </a:effectRef>
        <a:fontRef idx="minor"/>
      </dsp:style>
      <dsp:txBody>
        <a:bodyPr rot="-5400000" lIns="76200" tIns="38100" rIns="76200" bIns="38100" anchor="ctr"/>
        <a:lstStyle>
          <a:lvl1pPr algn="l">
            <a:defRPr sz="25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marL="228600" lvl="1" indent="-228600">
            <a:lnSpc>
              <a:spcPct val="100000"/>
            </a:lnSpc>
            <a:spcBef>
              <a:spcPct val="0"/>
            </a:spcBef>
            <a:spcAft>
              <a:spcPct val="15000"/>
            </a:spcAft>
            <a:buChar char="•"/>
          </a:pPr>
          <a:r>
            <a:rPr lang="zh-CN" altLang="en-US" sz="2000" dirty="0">
              <a:solidFill>
                <a:schemeClr val="dk1"/>
              </a:solidFill>
            </a:rPr>
            <a:t>分布式文件系统</a:t>
          </a:r>
          <a:r>
            <a:rPr lang="en-US" altLang="zh-CN" sz="2000" dirty="0">
              <a:solidFill>
                <a:schemeClr val="dk1"/>
              </a:solidFill>
            </a:rPr>
            <a:t>HDFS</a:t>
          </a:r>
          <a:r>
            <a:rPr lang="zh-CN" altLang="en-US" sz="2000" dirty="0">
              <a:solidFill>
                <a:schemeClr val="dk1"/>
              </a:solidFill>
            </a:rPr>
            <a:t>、分布式数据库</a:t>
          </a:r>
          <a:r>
            <a:rPr lang="en-US" altLang="zh-CN" sz="2000" dirty="0">
              <a:solidFill>
                <a:schemeClr val="dk1"/>
              </a:solidFill>
            </a:rPr>
            <a:t>HBase</a:t>
          </a:r>
          <a:endParaRPr lang="zh-CN" altLang="en-US" sz="2000" dirty="0">
            <a:solidFill>
              <a:schemeClr val="dk1"/>
            </a:solidFill>
          </a:endParaRPr>
        </a:p>
        <a:p>
          <a:pPr marL="228600" lvl="1" indent="-228600">
            <a:lnSpc>
              <a:spcPct val="100000"/>
            </a:lnSpc>
            <a:spcBef>
              <a:spcPct val="0"/>
            </a:spcBef>
            <a:spcAft>
              <a:spcPct val="15000"/>
            </a:spcAft>
            <a:buChar char="•"/>
          </a:pPr>
          <a:r>
            <a:rPr lang="en-US" altLang="zh-CN" sz="2000" dirty="0">
              <a:solidFill>
                <a:schemeClr val="dk1"/>
              </a:solidFill>
            </a:rPr>
            <a:t>NoSQL</a:t>
          </a:r>
          <a:r>
            <a:rPr lang="zh-CN" altLang="en-US" sz="2000" dirty="0">
              <a:solidFill>
                <a:schemeClr val="dk1"/>
              </a:solidFill>
            </a:rPr>
            <a:t>数据库、云数据库</a:t>
          </a:r>
          <a:endParaRPr>
            <a:solidFill>
              <a:schemeClr val="dk1"/>
            </a:solidFill>
          </a:endParaRPr>
        </a:p>
      </dsp:txBody>
      <dsp:txXfrm rot="5400000">
        <a:off x="5162423" y="-830924"/>
        <a:ext cx="1044562" cy="5709526"/>
      </dsp:txXfrm>
    </dsp:sp>
    <dsp:sp modelId="{8AD653AE-F103-4ACB-BCFE-AA63A73328EC}">
      <dsp:nvSpPr>
        <dsp:cNvPr id="5" name="圆角矩形 4"/>
        <dsp:cNvSpPr/>
      </dsp:nvSpPr>
      <dsp:spPr bwMode="white">
        <a:xfrm>
          <a:off x="381668" y="1370988"/>
          <a:ext cx="2448273" cy="1305703"/>
        </a:xfrm>
        <a:prstGeom prst="roundRect">
          <a:avLst/>
        </a:prstGeom>
      </dsp:spPr>
      <dsp:style>
        <a:lnRef idx="2">
          <a:schemeClr val="lt1"/>
        </a:lnRef>
        <a:fillRef idx="1">
          <a:schemeClr val="accent4">
            <a:hueOff val="3259999"/>
            <a:satOff val="-13594"/>
            <a:lumOff val="3137"/>
            <a:alpha val="100000"/>
          </a:schemeClr>
        </a:fillRef>
        <a:effectRef idx="0">
          <a:scrgbClr r="0" g="0" b="0"/>
        </a:effectRef>
        <a:fontRef idx="minor">
          <a:schemeClr val="lt1"/>
        </a:fontRef>
      </dsp:style>
      <dsp:txBody>
        <a:bodyPr lIns="110489" tIns="55244" rIns="110489" bIns="55244"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t>大数据</a:t>
          </a:r>
          <a:endParaRPr lang="en-US" altLang="zh-CN" dirty="0"/>
        </a:p>
        <a:p>
          <a:pPr lvl="0">
            <a:lnSpc>
              <a:spcPct val="100000"/>
            </a:lnSpc>
            <a:spcBef>
              <a:spcPct val="0"/>
            </a:spcBef>
            <a:spcAft>
              <a:spcPct val="35000"/>
            </a:spcAft>
          </a:pPr>
          <a:r>
            <a:rPr lang="zh-CN" altLang="en-US" dirty="0"/>
            <a:t>存储与管理</a:t>
          </a:r>
        </a:p>
      </dsp:txBody>
      <dsp:txXfrm>
        <a:off x="381668" y="1370988"/>
        <a:ext cx="2448273" cy="1305703"/>
      </dsp:txXfrm>
    </dsp:sp>
    <dsp:sp modelId="{4E83E948-A852-4150-A36B-B84545B268D7}">
      <dsp:nvSpPr>
        <dsp:cNvPr id="8" name="同侧圆角矩形 7"/>
        <dsp:cNvSpPr/>
      </dsp:nvSpPr>
      <dsp:spPr bwMode="white">
        <a:xfrm rot="5400000">
          <a:off x="5162423" y="540064"/>
          <a:ext cx="1044562" cy="5709526"/>
        </a:xfrm>
        <a:prstGeom prst="round2SameRect">
          <a:avLst/>
        </a:prstGeom>
      </dsp:spPr>
      <dsp:style>
        <a:lnRef idx="2">
          <a:schemeClr val="accent4">
            <a:tint val="40000"/>
            <a:alpha val="90000"/>
            <a:hueOff val="7280000"/>
            <a:satOff val="-35032"/>
            <a:lumOff val="-1045"/>
            <a:alpha val="90196"/>
          </a:schemeClr>
        </a:lnRef>
        <a:fillRef idx="1">
          <a:schemeClr val="accent4">
            <a:tint val="40000"/>
            <a:alpha val="90000"/>
            <a:hueOff val="7280000"/>
            <a:satOff val="-35032"/>
            <a:lumOff val="-1045"/>
            <a:alpha val="90196"/>
          </a:schemeClr>
        </a:fillRef>
        <a:effectRef idx="0">
          <a:scrgbClr r="0" g="0" b="0"/>
        </a:effectRef>
        <a:fontRef idx="minor"/>
      </dsp:style>
      <dsp:txBody>
        <a:bodyPr rot="-5400000" lIns="76200" tIns="38100" rIns="76200" bIns="38100" anchor="ctr"/>
        <a:lstStyle>
          <a:lvl1pPr algn="l">
            <a:defRPr sz="25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marL="228600" lvl="1" indent="-228600">
            <a:lnSpc>
              <a:spcPct val="100000"/>
            </a:lnSpc>
            <a:spcBef>
              <a:spcPct val="0"/>
            </a:spcBef>
            <a:spcAft>
              <a:spcPct val="15000"/>
            </a:spcAft>
            <a:buChar char="•"/>
          </a:pPr>
          <a:r>
            <a:rPr lang="en-US" altLang="zh-CN" sz="2000" dirty="0">
              <a:solidFill>
                <a:schemeClr val="dk1"/>
              </a:solidFill>
            </a:rPr>
            <a:t>MapReduce</a:t>
          </a:r>
          <a:r>
            <a:rPr lang="zh-CN" altLang="en-US" sz="2000" dirty="0">
              <a:solidFill>
                <a:schemeClr val="dk1"/>
              </a:solidFill>
            </a:rPr>
            <a:t>、数据仓库</a:t>
          </a:r>
          <a:r>
            <a:rPr lang="en-US" altLang="zh-CN" sz="2000" dirty="0">
              <a:solidFill>
                <a:schemeClr val="dk1"/>
              </a:solidFill>
            </a:rPr>
            <a:t>Hive</a:t>
          </a:r>
          <a:endParaRPr lang="zh-CN" altLang="en-US" sz="2000" dirty="0">
            <a:solidFill>
              <a:schemeClr val="dk1"/>
            </a:solidFill>
          </a:endParaRPr>
        </a:p>
        <a:p>
          <a:pPr marL="228600" lvl="1" indent="-228600">
            <a:lnSpc>
              <a:spcPct val="100000"/>
            </a:lnSpc>
            <a:spcBef>
              <a:spcPct val="0"/>
            </a:spcBef>
            <a:spcAft>
              <a:spcPct val="15000"/>
            </a:spcAft>
            <a:buChar char="•"/>
          </a:pPr>
          <a:r>
            <a:rPr lang="zh-CN" altLang="en-US" sz="2000" dirty="0">
              <a:solidFill>
                <a:schemeClr val="dk1"/>
              </a:solidFill>
            </a:rPr>
            <a:t>基于内存的分布式计算框架</a:t>
          </a:r>
          <a:r>
            <a:rPr lang="en-US" altLang="zh-CN" sz="2000" dirty="0">
              <a:solidFill>
                <a:schemeClr val="dk1"/>
              </a:solidFill>
            </a:rPr>
            <a:t>Spark</a:t>
          </a:r>
          <a:endParaRPr lang="zh-CN" altLang="en-US" sz="2000" dirty="0">
            <a:solidFill>
              <a:schemeClr val="dk1"/>
            </a:solidFill>
          </a:endParaRPr>
        </a:p>
        <a:p>
          <a:pPr marL="228600" lvl="1" indent="-228600">
            <a:lnSpc>
              <a:spcPct val="100000"/>
            </a:lnSpc>
            <a:spcBef>
              <a:spcPct val="0"/>
            </a:spcBef>
            <a:spcAft>
              <a:spcPct val="15000"/>
            </a:spcAft>
            <a:buChar char="•"/>
          </a:pPr>
          <a:r>
            <a:rPr lang="zh-CN" altLang="en-US" sz="2000" dirty="0">
              <a:solidFill>
                <a:schemeClr val="dk1"/>
              </a:solidFill>
            </a:rPr>
            <a:t>流计算、流处理框架</a:t>
          </a:r>
          <a:r>
            <a:rPr lang="en-US" altLang="zh-CN" sz="2000" dirty="0" err="1">
              <a:solidFill>
                <a:schemeClr val="dk1"/>
              </a:solidFill>
            </a:rPr>
            <a:t>Flink</a:t>
          </a:r>
          <a:r>
            <a:rPr lang="zh-CN" altLang="en-US" sz="2000" dirty="0">
              <a:solidFill>
                <a:schemeClr val="dk1"/>
              </a:solidFill>
            </a:rPr>
            <a:t>、图计算</a:t>
          </a:r>
          <a:endParaRPr>
            <a:solidFill>
              <a:schemeClr val="dk1"/>
            </a:solidFill>
          </a:endParaRPr>
        </a:p>
      </dsp:txBody>
      <dsp:txXfrm rot="5400000">
        <a:off x="5162423" y="540064"/>
        <a:ext cx="1044562" cy="5709526"/>
      </dsp:txXfrm>
    </dsp:sp>
    <dsp:sp modelId="{96C08F7A-5B9F-445E-831E-C0E9F0D5AC10}">
      <dsp:nvSpPr>
        <dsp:cNvPr id="7" name="圆角矩形 6"/>
        <dsp:cNvSpPr/>
      </dsp:nvSpPr>
      <dsp:spPr bwMode="white">
        <a:xfrm>
          <a:off x="381668" y="2741976"/>
          <a:ext cx="2448273" cy="1305703"/>
        </a:xfrm>
        <a:prstGeom prst="roundRect">
          <a:avLst/>
        </a:prstGeom>
      </dsp:spPr>
      <dsp:style>
        <a:lnRef idx="2">
          <a:schemeClr val="lt1"/>
        </a:lnRef>
        <a:fillRef idx="1">
          <a:schemeClr val="accent4">
            <a:hueOff val="6519999"/>
            <a:satOff val="-27189"/>
            <a:lumOff val="6275"/>
            <a:alpha val="100000"/>
          </a:schemeClr>
        </a:fillRef>
        <a:effectRef idx="0">
          <a:scrgbClr r="0" g="0" b="0"/>
        </a:effectRef>
        <a:fontRef idx="minor">
          <a:schemeClr val="lt1"/>
        </a:fontRef>
      </dsp:style>
      <dsp:txBody>
        <a:bodyPr lIns="110489" tIns="55244" rIns="110489" bIns="55244"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t>大数据</a:t>
          </a:r>
          <a:endParaRPr lang="en-US" altLang="zh-CN" dirty="0"/>
        </a:p>
        <a:p>
          <a:pPr lvl="0">
            <a:lnSpc>
              <a:spcPct val="100000"/>
            </a:lnSpc>
            <a:spcBef>
              <a:spcPct val="0"/>
            </a:spcBef>
            <a:spcAft>
              <a:spcPct val="35000"/>
            </a:spcAft>
          </a:pPr>
          <a:r>
            <a:rPr lang="zh-CN" altLang="en-US" dirty="0"/>
            <a:t>处理与分析</a:t>
          </a:r>
        </a:p>
      </dsp:txBody>
      <dsp:txXfrm>
        <a:off x="381668" y="2741976"/>
        <a:ext cx="2448273" cy="1305703"/>
      </dsp:txXfrm>
    </dsp:sp>
    <dsp:sp modelId="{6E45D275-376C-4E14-9554-E298493655CB}">
      <dsp:nvSpPr>
        <dsp:cNvPr id="10" name="同侧圆角矩形 9"/>
        <dsp:cNvSpPr/>
      </dsp:nvSpPr>
      <dsp:spPr bwMode="white">
        <a:xfrm rot="5400000">
          <a:off x="5162423" y="1911052"/>
          <a:ext cx="1044562" cy="5709526"/>
        </a:xfrm>
        <a:prstGeom prst="round2SameRect">
          <a:avLst/>
        </a:prstGeom>
      </dsp:spPr>
      <dsp:style>
        <a:lnRef idx="2">
          <a:schemeClr val="accent4">
            <a:tint val="40000"/>
            <a:alpha val="90000"/>
            <a:hueOff val="10920000"/>
            <a:satOff val="-52548"/>
            <a:lumOff val="-1568"/>
            <a:alpha val="90196"/>
          </a:schemeClr>
        </a:lnRef>
        <a:fillRef idx="1">
          <a:schemeClr val="accent4">
            <a:tint val="40000"/>
            <a:alpha val="90000"/>
            <a:hueOff val="10920000"/>
            <a:satOff val="-52548"/>
            <a:lumOff val="-1568"/>
            <a:alpha val="90196"/>
          </a:schemeClr>
        </a:fillRef>
        <a:effectRef idx="0">
          <a:scrgbClr r="0" g="0" b="0"/>
        </a:effectRef>
        <a:fontRef idx="minor"/>
      </dsp:style>
      <dsp:txBody>
        <a:bodyPr rot="-5400000" lIns="95250" tIns="47625" rIns="95250" bIns="47625" anchor="ctr"/>
        <a:lstStyle>
          <a:lvl1pPr algn="l">
            <a:defRPr sz="25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1">
            <a:lnSpc>
              <a:spcPct val="100000"/>
            </a:lnSpc>
            <a:spcBef>
              <a:spcPct val="0"/>
            </a:spcBef>
            <a:spcAft>
              <a:spcPct val="15000"/>
            </a:spcAft>
            <a:buChar char="•"/>
          </a:pPr>
          <a:r>
            <a:rPr lang="zh-CN" altLang="en-US" dirty="0">
              <a:solidFill>
                <a:schemeClr val="dk1"/>
              </a:solidFill>
            </a:rPr>
            <a:t>互联网、生物医学、物流、金融等领域</a:t>
          </a:r>
          <a:endParaRPr>
            <a:solidFill>
              <a:schemeClr val="dk1"/>
            </a:solidFill>
          </a:endParaRPr>
        </a:p>
      </dsp:txBody>
      <dsp:txXfrm rot="5400000">
        <a:off x="5162423" y="1911052"/>
        <a:ext cx="1044562" cy="5709526"/>
      </dsp:txXfrm>
    </dsp:sp>
    <dsp:sp modelId="{601500C3-7FAD-4900-8456-3C98E611C319}">
      <dsp:nvSpPr>
        <dsp:cNvPr id="9" name="圆角矩形 8"/>
        <dsp:cNvSpPr/>
      </dsp:nvSpPr>
      <dsp:spPr bwMode="white">
        <a:xfrm>
          <a:off x="381668" y="4112964"/>
          <a:ext cx="2448273" cy="1305703"/>
        </a:xfrm>
        <a:prstGeom prst="roundRect">
          <a:avLst/>
        </a:prstGeom>
      </dsp:spPr>
      <dsp:style>
        <a:lnRef idx="2">
          <a:schemeClr val="lt1"/>
        </a:lnRef>
        <a:fillRef idx="1">
          <a:schemeClr val="accent4">
            <a:hueOff val="9780000"/>
            <a:satOff val="-40783"/>
            <a:lumOff val="9412"/>
            <a:alpha val="100000"/>
          </a:schemeClr>
        </a:fillRef>
        <a:effectRef idx="0">
          <a:scrgbClr r="0" g="0" b="0"/>
        </a:effectRef>
        <a:fontRef idx="minor">
          <a:schemeClr val="lt1"/>
        </a:fontRef>
      </dsp:style>
      <dsp:txBody>
        <a:bodyPr lIns="110489" tIns="55244" rIns="110489" bIns="55244"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t>大数据应用</a:t>
          </a:r>
        </a:p>
      </dsp:txBody>
      <dsp:txXfrm>
        <a:off x="381668" y="4112964"/>
        <a:ext cx="2448273" cy="1305703"/>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388032" cy="4596731"/>
        <a:chOff x="0" y="0"/>
        <a:chExt cx="3388032" cy="4596731"/>
      </a:xfrm>
    </dsp:grpSpPr>
    <dsp:sp modelId="{64D1125E-329F-4591-B51B-4A6FF1AFE12F}">
      <dsp:nvSpPr>
        <dsp:cNvPr id="3" name="圆角矩形 2"/>
        <dsp:cNvSpPr/>
      </dsp:nvSpPr>
      <dsp:spPr bwMode="white">
        <a:xfrm>
          <a:off x="659752" y="0"/>
          <a:ext cx="2068529" cy="1149183"/>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t>构建能存储和分析的大数据平台</a:t>
          </a:r>
        </a:p>
      </dsp:txBody>
      <dsp:txXfrm>
        <a:off x="659752" y="0"/>
        <a:ext cx="2068529" cy="1149183"/>
      </dsp:txXfrm>
    </dsp:sp>
    <dsp:sp modelId="{C9A0F23E-EF05-4252-9B7D-9C0E0ACD8A48}">
      <dsp:nvSpPr>
        <dsp:cNvPr id="4" name="右箭头 3"/>
        <dsp:cNvSpPr/>
      </dsp:nvSpPr>
      <dsp:spPr bwMode="white">
        <a:xfrm rot="5399999">
          <a:off x="1478544" y="1177912"/>
          <a:ext cx="430944" cy="517132"/>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zh-CN" altLang="en-US"/>
        </a:p>
      </dsp:txBody>
      <dsp:txXfrm rot="5399999">
        <a:off x="1478544" y="1177912"/>
        <a:ext cx="430944" cy="517132"/>
      </dsp:txXfrm>
    </dsp:sp>
    <dsp:sp modelId="{0EE555FF-C475-454F-AC80-B44DE474D3C8}">
      <dsp:nvSpPr>
        <dsp:cNvPr id="5" name="圆角矩形 4"/>
        <dsp:cNvSpPr/>
      </dsp:nvSpPr>
      <dsp:spPr bwMode="white">
        <a:xfrm>
          <a:off x="659752" y="1723774"/>
          <a:ext cx="2068529" cy="1149183"/>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t>雇佣团队对商品需求趋势预测</a:t>
          </a:r>
        </a:p>
      </dsp:txBody>
      <dsp:txXfrm>
        <a:off x="659752" y="1723774"/>
        <a:ext cx="2068529" cy="1149183"/>
      </dsp:txXfrm>
    </dsp:sp>
    <dsp:sp modelId="{838EE850-C683-4E66-B7A4-6F7C81A9542B}">
      <dsp:nvSpPr>
        <dsp:cNvPr id="6" name="右箭头 5"/>
        <dsp:cNvSpPr/>
      </dsp:nvSpPr>
      <dsp:spPr bwMode="white">
        <a:xfrm rot="5399999">
          <a:off x="1478544" y="2901686"/>
          <a:ext cx="430944" cy="517132"/>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zh-CN" altLang="en-US"/>
        </a:p>
      </dsp:txBody>
      <dsp:txXfrm rot="5399999">
        <a:off x="1478544" y="2901686"/>
        <a:ext cx="430944" cy="517132"/>
      </dsp:txXfrm>
    </dsp:sp>
    <dsp:sp modelId="{57D0EBD3-CC41-482A-BFAF-17A79B847D19}">
      <dsp:nvSpPr>
        <dsp:cNvPr id="7" name="圆角矩形 6"/>
        <dsp:cNvSpPr/>
      </dsp:nvSpPr>
      <dsp:spPr bwMode="white">
        <a:xfrm>
          <a:off x="659752" y="3447548"/>
          <a:ext cx="2068529" cy="1149183"/>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0" tIns="76200" rIns="7620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t>带来销售</a:t>
          </a:r>
          <a:endParaRPr lang="en-US" altLang="zh-CN" dirty="0"/>
        </a:p>
        <a:p>
          <a:pPr lvl="0">
            <a:lnSpc>
              <a:spcPct val="100000"/>
            </a:lnSpc>
            <a:spcBef>
              <a:spcPct val="0"/>
            </a:spcBef>
            <a:spcAft>
              <a:spcPct val="35000"/>
            </a:spcAft>
          </a:pPr>
          <a:r>
            <a:rPr lang="zh-CN" altLang="en-US" dirty="0"/>
            <a:t>利润增加</a:t>
          </a:r>
        </a:p>
      </dsp:txBody>
      <dsp:txXfrm>
        <a:off x="659752" y="3447548"/>
        <a:ext cx="2068529" cy="1149183"/>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795905" cy="5092700"/>
        <a:chOff x="0" y="0"/>
        <a:chExt cx="2795905" cy="5092700"/>
      </a:xfrm>
    </dsp:grpSpPr>
    <dsp:sp modelId="{B1143ECF-F0F2-460A-99F0-BE69EA443633}">
      <dsp:nvSpPr>
        <dsp:cNvPr id="3" name="圆角矩形 2"/>
        <dsp:cNvSpPr/>
      </dsp:nvSpPr>
      <dsp:spPr bwMode="white">
        <a:xfrm>
          <a:off x="0" y="57753"/>
          <a:ext cx="2795905" cy="912495"/>
        </a:xfrm>
        <a:prstGeom prst="roundRect">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137160" tIns="137160" rIns="137160" bIns="137160" anchor="ctr"/>
        <a:lstStyle>
          <a:lvl1pPr algn="l">
            <a:defRPr sz="3600"/>
          </a:lvl1pPr>
          <a:lvl2pPr marL="285750" indent="-285750" algn="l">
            <a:defRPr sz="2800"/>
          </a:lvl2pPr>
          <a:lvl3pPr marL="571500" indent="-285750" algn="l">
            <a:defRPr sz="2800"/>
          </a:lvl3pPr>
          <a:lvl4pPr marL="857250" indent="-285750" algn="l">
            <a:defRPr sz="2800"/>
          </a:lvl4pPr>
          <a:lvl5pPr marL="1143000" indent="-285750" algn="l">
            <a:defRPr sz="2800"/>
          </a:lvl5pPr>
          <a:lvl6pPr marL="1428750" indent="-285750" algn="l">
            <a:defRPr sz="2800"/>
          </a:lvl6pPr>
          <a:lvl7pPr marL="1714500" indent="-285750" algn="l">
            <a:defRPr sz="2800"/>
          </a:lvl7pPr>
          <a:lvl8pPr marL="2000250" indent="-285750" algn="l">
            <a:defRPr sz="2800"/>
          </a:lvl8pPr>
          <a:lvl9pPr marL="2286000" indent="-285750" algn="l">
            <a:defRPr sz="2800"/>
          </a:lvl9pPr>
        </a:lstStyle>
        <a:p>
          <a:pPr lvl="0">
            <a:lnSpc>
              <a:spcPct val="100000"/>
            </a:lnSpc>
            <a:spcBef>
              <a:spcPct val="0"/>
            </a:spcBef>
            <a:spcAft>
              <a:spcPct val="35000"/>
            </a:spcAft>
          </a:pPr>
          <a:r>
            <a:rPr lang="zh-CN" altLang="en-US" dirty="0"/>
            <a:t>科学研究</a:t>
          </a:r>
        </a:p>
      </dsp:txBody>
      <dsp:txXfrm>
        <a:off x="0" y="57753"/>
        <a:ext cx="2795905" cy="912495"/>
      </dsp:txXfrm>
    </dsp:sp>
    <dsp:sp modelId="{DE508B65-684B-4B81-9CAC-B703E582F80E}">
      <dsp:nvSpPr>
        <dsp:cNvPr id="4" name="圆角矩形 3"/>
        <dsp:cNvSpPr/>
      </dsp:nvSpPr>
      <dsp:spPr bwMode="white">
        <a:xfrm>
          <a:off x="0" y="1073928"/>
          <a:ext cx="2795905" cy="912495"/>
        </a:xfrm>
        <a:prstGeom prst="roundRect">
          <a:avLst/>
        </a:prstGeom>
      </dsp:spPr>
      <dsp:style>
        <a:lnRef idx="2">
          <a:schemeClr val="lt1"/>
        </a:lnRef>
        <a:fillRef idx="1">
          <a:schemeClr val="accent4">
            <a:hueOff val="2445000"/>
            <a:satOff val="-10195"/>
            <a:lumOff val="2353"/>
            <a:alpha val="100000"/>
          </a:schemeClr>
        </a:fillRef>
        <a:effectRef idx="0">
          <a:scrgbClr r="0" g="0" b="0"/>
        </a:effectRef>
        <a:fontRef idx="minor">
          <a:schemeClr val="lt1"/>
        </a:fontRef>
      </dsp:style>
      <dsp:txBody>
        <a:bodyPr lIns="137160" tIns="137160" rIns="137160" bIns="137160" anchor="ctr"/>
        <a:lstStyle>
          <a:lvl1pPr algn="l">
            <a:defRPr sz="3600"/>
          </a:lvl1pPr>
          <a:lvl2pPr marL="285750" indent="-285750" algn="l">
            <a:defRPr sz="2800"/>
          </a:lvl2pPr>
          <a:lvl3pPr marL="571500" indent="-285750" algn="l">
            <a:defRPr sz="2800"/>
          </a:lvl3pPr>
          <a:lvl4pPr marL="857250" indent="-285750" algn="l">
            <a:defRPr sz="2800"/>
          </a:lvl4pPr>
          <a:lvl5pPr marL="1143000" indent="-285750" algn="l">
            <a:defRPr sz="2800"/>
          </a:lvl5pPr>
          <a:lvl6pPr marL="1428750" indent="-285750" algn="l">
            <a:defRPr sz="2800"/>
          </a:lvl6pPr>
          <a:lvl7pPr marL="1714500" indent="-285750" algn="l">
            <a:defRPr sz="2800"/>
          </a:lvl7pPr>
          <a:lvl8pPr marL="2000250" indent="-285750" algn="l">
            <a:defRPr sz="2800"/>
          </a:lvl8pPr>
          <a:lvl9pPr marL="2286000" indent="-285750" algn="l">
            <a:defRPr sz="2800"/>
          </a:lvl9pPr>
        </a:lstStyle>
        <a:p>
          <a:pPr lvl="0">
            <a:lnSpc>
              <a:spcPct val="100000"/>
            </a:lnSpc>
            <a:spcBef>
              <a:spcPct val="0"/>
            </a:spcBef>
            <a:spcAft>
              <a:spcPct val="35000"/>
            </a:spcAft>
          </a:pPr>
          <a:r>
            <a:rPr lang="zh-CN" altLang="en-US"/>
            <a:t>思维方式</a:t>
          </a:r>
          <a:endParaRPr lang="en-US" altLang="zh-CN" dirty="0"/>
        </a:p>
      </dsp:txBody>
      <dsp:txXfrm>
        <a:off x="0" y="1073928"/>
        <a:ext cx="2795905" cy="912495"/>
      </dsp:txXfrm>
    </dsp:sp>
    <dsp:sp modelId="{4D9B941B-55D5-41D6-8DB3-1027ED7ADFC6}">
      <dsp:nvSpPr>
        <dsp:cNvPr id="5" name="圆角矩形 4"/>
        <dsp:cNvSpPr/>
      </dsp:nvSpPr>
      <dsp:spPr bwMode="white">
        <a:xfrm>
          <a:off x="0" y="2090103"/>
          <a:ext cx="2795905" cy="912495"/>
        </a:xfrm>
        <a:prstGeom prst="roundRect">
          <a:avLst/>
        </a:prstGeom>
      </dsp:spPr>
      <dsp:style>
        <a:lnRef idx="2">
          <a:schemeClr val="lt1"/>
        </a:lnRef>
        <a:fillRef idx="1">
          <a:schemeClr val="accent4">
            <a:hueOff val="4890000"/>
            <a:satOff val="-20391"/>
            <a:lumOff val="4706"/>
            <a:alpha val="100000"/>
          </a:schemeClr>
        </a:fillRef>
        <a:effectRef idx="0">
          <a:scrgbClr r="0" g="0" b="0"/>
        </a:effectRef>
        <a:fontRef idx="minor">
          <a:schemeClr val="lt1"/>
        </a:fontRef>
      </dsp:style>
      <dsp:txBody>
        <a:bodyPr lIns="137160" tIns="137160" rIns="137160" bIns="137160" anchor="ctr"/>
        <a:lstStyle>
          <a:lvl1pPr algn="l">
            <a:defRPr sz="3600"/>
          </a:lvl1pPr>
          <a:lvl2pPr marL="285750" indent="-285750" algn="l">
            <a:defRPr sz="2800"/>
          </a:lvl2pPr>
          <a:lvl3pPr marL="571500" indent="-285750" algn="l">
            <a:defRPr sz="2800"/>
          </a:lvl3pPr>
          <a:lvl4pPr marL="857250" indent="-285750" algn="l">
            <a:defRPr sz="2800"/>
          </a:lvl4pPr>
          <a:lvl5pPr marL="1143000" indent="-285750" algn="l">
            <a:defRPr sz="2800"/>
          </a:lvl5pPr>
          <a:lvl6pPr marL="1428750" indent="-285750" algn="l">
            <a:defRPr sz="2800"/>
          </a:lvl6pPr>
          <a:lvl7pPr marL="1714500" indent="-285750" algn="l">
            <a:defRPr sz="2800"/>
          </a:lvl7pPr>
          <a:lvl8pPr marL="2000250" indent="-285750" algn="l">
            <a:defRPr sz="2800"/>
          </a:lvl8pPr>
          <a:lvl9pPr marL="2286000" indent="-285750" algn="l">
            <a:defRPr sz="2800"/>
          </a:lvl9pPr>
        </a:lstStyle>
        <a:p>
          <a:pPr lvl="0">
            <a:lnSpc>
              <a:spcPct val="100000"/>
            </a:lnSpc>
            <a:spcBef>
              <a:spcPct val="0"/>
            </a:spcBef>
            <a:spcAft>
              <a:spcPct val="35000"/>
            </a:spcAft>
          </a:pPr>
          <a:r>
            <a:rPr lang="zh-CN" altLang="en-US"/>
            <a:t>社会发展</a:t>
          </a:r>
          <a:endParaRPr lang="en-US" altLang="zh-CN" dirty="0"/>
        </a:p>
      </dsp:txBody>
      <dsp:txXfrm>
        <a:off x="0" y="2090103"/>
        <a:ext cx="2795905" cy="912495"/>
      </dsp:txXfrm>
    </dsp:sp>
    <dsp:sp modelId="{8CDE5494-961A-4BAC-AA83-27614B7A5F4C}">
      <dsp:nvSpPr>
        <dsp:cNvPr id="6" name="圆角矩形 5"/>
        <dsp:cNvSpPr/>
      </dsp:nvSpPr>
      <dsp:spPr bwMode="white">
        <a:xfrm>
          <a:off x="0" y="3106278"/>
          <a:ext cx="2795905" cy="912495"/>
        </a:xfrm>
        <a:prstGeom prst="roundRect">
          <a:avLst/>
        </a:prstGeom>
      </dsp:spPr>
      <dsp:style>
        <a:lnRef idx="2">
          <a:schemeClr val="lt1"/>
        </a:lnRef>
        <a:fillRef idx="1">
          <a:schemeClr val="accent4">
            <a:hueOff val="7335000"/>
            <a:satOff val="-30587"/>
            <a:lumOff val="7059"/>
            <a:alpha val="100000"/>
          </a:schemeClr>
        </a:fillRef>
        <a:effectRef idx="0">
          <a:scrgbClr r="0" g="0" b="0"/>
        </a:effectRef>
        <a:fontRef idx="minor">
          <a:schemeClr val="lt1"/>
        </a:fontRef>
      </dsp:style>
      <dsp:txBody>
        <a:bodyPr lIns="137160" tIns="137160" rIns="137160" bIns="137160" anchor="ctr"/>
        <a:lstStyle>
          <a:lvl1pPr algn="l">
            <a:defRPr sz="3600"/>
          </a:lvl1pPr>
          <a:lvl2pPr marL="285750" indent="-285750" algn="l">
            <a:defRPr sz="2800"/>
          </a:lvl2pPr>
          <a:lvl3pPr marL="571500" indent="-285750" algn="l">
            <a:defRPr sz="2800"/>
          </a:lvl3pPr>
          <a:lvl4pPr marL="857250" indent="-285750" algn="l">
            <a:defRPr sz="2800"/>
          </a:lvl4pPr>
          <a:lvl5pPr marL="1143000" indent="-285750" algn="l">
            <a:defRPr sz="2800"/>
          </a:lvl5pPr>
          <a:lvl6pPr marL="1428750" indent="-285750" algn="l">
            <a:defRPr sz="2800"/>
          </a:lvl6pPr>
          <a:lvl7pPr marL="1714500" indent="-285750" algn="l">
            <a:defRPr sz="2800"/>
          </a:lvl7pPr>
          <a:lvl8pPr marL="2000250" indent="-285750" algn="l">
            <a:defRPr sz="2800"/>
          </a:lvl8pPr>
          <a:lvl9pPr marL="2286000" indent="-285750" algn="l">
            <a:defRPr sz="2800"/>
          </a:lvl9pPr>
        </a:lstStyle>
        <a:p>
          <a:pPr lvl="0">
            <a:lnSpc>
              <a:spcPct val="100000"/>
            </a:lnSpc>
            <a:spcBef>
              <a:spcPct val="0"/>
            </a:spcBef>
            <a:spcAft>
              <a:spcPct val="35000"/>
            </a:spcAft>
          </a:pPr>
          <a:r>
            <a:rPr lang="zh-CN" altLang="en-US" dirty="0"/>
            <a:t>就业市场</a:t>
          </a:r>
          <a:endParaRPr lang="en-US" altLang="zh-CN" dirty="0"/>
        </a:p>
      </dsp:txBody>
      <dsp:txXfrm>
        <a:off x="0" y="3106278"/>
        <a:ext cx="2795905" cy="912495"/>
      </dsp:txXfrm>
    </dsp:sp>
    <dsp:sp modelId="{2C92C8C5-02D7-4439-AFE4-D65377BD61DC}">
      <dsp:nvSpPr>
        <dsp:cNvPr id="7" name="圆角矩形 6"/>
        <dsp:cNvSpPr/>
      </dsp:nvSpPr>
      <dsp:spPr bwMode="white">
        <a:xfrm>
          <a:off x="0" y="4122453"/>
          <a:ext cx="2795905" cy="912495"/>
        </a:xfrm>
        <a:prstGeom prst="roundRect">
          <a:avLst/>
        </a:prstGeom>
      </dsp:spPr>
      <dsp:style>
        <a:lnRef idx="2">
          <a:schemeClr val="lt1"/>
        </a:lnRef>
        <a:fillRef idx="1">
          <a:schemeClr val="accent4">
            <a:hueOff val="9780000"/>
            <a:satOff val="-40783"/>
            <a:lumOff val="9412"/>
            <a:alpha val="100000"/>
          </a:schemeClr>
        </a:fillRef>
        <a:effectRef idx="0">
          <a:scrgbClr r="0" g="0" b="0"/>
        </a:effectRef>
        <a:fontRef idx="minor">
          <a:schemeClr val="lt1"/>
        </a:fontRef>
      </dsp:style>
      <dsp:txBody>
        <a:bodyPr lIns="137160" tIns="137160" rIns="137160" bIns="137160" anchor="ctr"/>
        <a:lstStyle>
          <a:lvl1pPr algn="l">
            <a:defRPr sz="3600"/>
          </a:lvl1pPr>
          <a:lvl2pPr marL="285750" indent="-285750" algn="l">
            <a:defRPr sz="2800"/>
          </a:lvl2pPr>
          <a:lvl3pPr marL="571500" indent="-285750" algn="l">
            <a:defRPr sz="2800"/>
          </a:lvl3pPr>
          <a:lvl4pPr marL="857250" indent="-285750" algn="l">
            <a:defRPr sz="2800"/>
          </a:lvl4pPr>
          <a:lvl5pPr marL="1143000" indent="-285750" algn="l">
            <a:defRPr sz="2800"/>
          </a:lvl5pPr>
          <a:lvl6pPr marL="1428750" indent="-285750" algn="l">
            <a:defRPr sz="2800"/>
          </a:lvl6pPr>
          <a:lvl7pPr marL="1714500" indent="-285750" algn="l">
            <a:defRPr sz="2800"/>
          </a:lvl7pPr>
          <a:lvl8pPr marL="2000250" indent="-285750" algn="l">
            <a:defRPr sz="2800"/>
          </a:lvl8pPr>
          <a:lvl9pPr marL="2286000" indent="-285750" algn="l">
            <a:defRPr sz="2800"/>
          </a:lvl9pPr>
        </a:lstStyle>
        <a:p>
          <a:pPr lvl="0">
            <a:lnSpc>
              <a:spcPct val="100000"/>
            </a:lnSpc>
            <a:spcBef>
              <a:spcPct val="0"/>
            </a:spcBef>
            <a:spcAft>
              <a:spcPct val="35000"/>
            </a:spcAft>
          </a:pPr>
          <a:r>
            <a:rPr lang="zh-CN" altLang="en-US"/>
            <a:t>人才培养</a:t>
          </a:r>
          <a:endParaRPr lang="zh-CN" altLang="en-US" dirty="0"/>
        </a:p>
      </dsp:txBody>
      <dsp:txXfrm>
        <a:off x="0" y="4122453"/>
        <a:ext cx="2795905" cy="912495"/>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435257" cy="5418667"/>
        <a:chOff x="0" y="0"/>
        <a:chExt cx="8435257" cy="5418667"/>
      </a:xfrm>
    </dsp:grpSpPr>
    <dsp:sp modelId="{FA5C6374-CF9F-48BA-B7D6-9A457D84E7F9}">
      <dsp:nvSpPr>
        <dsp:cNvPr id="3" name="圆角矩形 2"/>
        <dsp:cNvSpPr/>
      </dsp:nvSpPr>
      <dsp:spPr bwMode="white">
        <a:xfrm>
          <a:off x="0" y="219715"/>
          <a:ext cx="8435257" cy="800249"/>
        </a:xfrm>
        <a:prstGeom prst="roundRect">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118109" tIns="118109" rIns="118109" bIns="118109"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zh-CN" altLang="en-US" dirty="0"/>
            <a:t>新决策方式</a:t>
          </a:r>
        </a:p>
      </dsp:txBody>
      <dsp:txXfrm>
        <a:off x="0" y="219715"/>
        <a:ext cx="8435257" cy="800249"/>
      </dsp:txXfrm>
    </dsp:sp>
    <dsp:sp modelId="{B79A0902-16D6-4A27-A597-4158DED682BB}">
      <dsp:nvSpPr>
        <dsp:cNvPr id="4" name="矩形 3"/>
        <dsp:cNvSpPr/>
      </dsp:nvSpPr>
      <dsp:spPr bwMode="white">
        <a:xfrm>
          <a:off x="0" y="1019964"/>
          <a:ext cx="8435257" cy="118745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7819" tIns="39370" rIns="220472" bIns="39370" anchor="t"/>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1">
            <a:lnSpc>
              <a:spcPct val="100000"/>
            </a:lnSpc>
            <a:spcBef>
              <a:spcPct val="0"/>
            </a:spcBef>
            <a:spcAft>
              <a:spcPct val="20000"/>
            </a:spcAft>
            <a:buChar char="•"/>
          </a:pPr>
          <a:r>
            <a:rPr lang="zh-CN" altLang="en-US" dirty="0">
              <a:solidFill>
                <a:schemeClr val="tx1"/>
              </a:solidFill>
            </a:rPr>
            <a:t>例如：企业决策（基于数据仓库）；</a:t>
          </a:r>
          <a:endParaRPr lang="zh-CN" altLang="en-US" dirty="0">
            <a:solidFill>
              <a:schemeClr val="tx1"/>
            </a:solidFill>
          </a:endParaRPr>
        </a:p>
        <a:p>
          <a:pPr lvl="1">
            <a:lnSpc>
              <a:spcPct val="100000"/>
            </a:lnSpc>
            <a:spcBef>
              <a:spcPct val="0"/>
            </a:spcBef>
            <a:spcAft>
              <a:spcPct val="20000"/>
            </a:spcAft>
            <a:buChar char="•"/>
          </a:pPr>
          <a:r>
            <a:rPr lang="zh-CN" altLang="en-US" dirty="0">
              <a:solidFill>
                <a:schemeClr val="tx1"/>
              </a:solidFill>
            </a:rPr>
            <a:t>政府决策（基于舆情分析）</a:t>
          </a:r>
          <a:endParaRPr>
            <a:solidFill>
              <a:schemeClr val="tx1"/>
            </a:solidFill>
          </a:endParaRPr>
        </a:p>
      </dsp:txBody>
      <dsp:txXfrm>
        <a:off x="0" y="1019964"/>
        <a:ext cx="8435257" cy="1187450"/>
      </dsp:txXfrm>
    </dsp:sp>
    <dsp:sp modelId="{7E2181F7-18B3-4F5A-A6FE-5180210E58AE}">
      <dsp:nvSpPr>
        <dsp:cNvPr id="5" name="圆角矩形 4"/>
        <dsp:cNvSpPr/>
      </dsp:nvSpPr>
      <dsp:spPr bwMode="white">
        <a:xfrm>
          <a:off x="0" y="2207414"/>
          <a:ext cx="8435257" cy="800249"/>
        </a:xfrm>
        <a:prstGeom prst="roundRect">
          <a:avLst/>
        </a:prstGeom>
      </dsp:spPr>
      <dsp:style>
        <a:lnRef idx="2">
          <a:schemeClr val="lt1"/>
        </a:lnRef>
        <a:fillRef idx="1">
          <a:schemeClr val="accent4">
            <a:hueOff val="4890000"/>
            <a:satOff val="-20391"/>
            <a:lumOff val="4706"/>
            <a:alpha val="100000"/>
          </a:schemeClr>
        </a:fillRef>
        <a:effectRef idx="0">
          <a:scrgbClr r="0" g="0" b="0"/>
        </a:effectRef>
        <a:fontRef idx="minor">
          <a:schemeClr val="lt1"/>
        </a:fontRef>
      </dsp:style>
      <dsp:txBody>
        <a:bodyPr lIns="118109" tIns="118109" rIns="118109" bIns="118109"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zh-CN" altLang="en-US" dirty="0"/>
            <a:t>促进信息技术与各行业的深度融合</a:t>
          </a:r>
        </a:p>
      </dsp:txBody>
      <dsp:txXfrm>
        <a:off x="0" y="2207414"/>
        <a:ext cx="8435257" cy="800249"/>
      </dsp:txXfrm>
    </dsp:sp>
    <dsp:sp modelId="{5F3AD757-98E7-45B9-87E5-A71DF4A43DFE}">
      <dsp:nvSpPr>
        <dsp:cNvPr id="6" name="矩形 5"/>
        <dsp:cNvSpPr/>
      </dsp:nvSpPr>
      <dsp:spPr bwMode="white">
        <a:xfrm>
          <a:off x="0" y="3007663"/>
          <a:ext cx="8435257" cy="69552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7819" tIns="39370" rIns="220472" bIns="39370" anchor="t"/>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1">
            <a:lnSpc>
              <a:spcPct val="100000"/>
            </a:lnSpc>
            <a:spcBef>
              <a:spcPct val="0"/>
            </a:spcBef>
            <a:spcAft>
              <a:spcPct val="20000"/>
            </a:spcAft>
            <a:buChar char="•"/>
          </a:pPr>
          <a:r>
            <a:rPr lang="zh-CN" altLang="en-US" dirty="0">
              <a:solidFill>
                <a:schemeClr val="tx1"/>
              </a:solidFill>
            </a:rPr>
            <a:t>例如：物流</a:t>
          </a:r>
          <a:r>
            <a:rPr lang="en-US" altLang="zh-CN" dirty="0">
              <a:solidFill>
                <a:schemeClr val="tx1"/>
              </a:solidFill>
            </a:rPr>
            <a:t>+</a:t>
          </a:r>
          <a:r>
            <a:rPr lang="zh-CN" altLang="en-US" dirty="0">
              <a:solidFill>
                <a:schemeClr val="tx1"/>
              </a:solidFill>
            </a:rPr>
            <a:t>实时交通；销售</a:t>
          </a:r>
          <a:r>
            <a:rPr lang="en-US" altLang="zh-CN" dirty="0">
              <a:solidFill>
                <a:schemeClr val="tx1"/>
              </a:solidFill>
            </a:rPr>
            <a:t>+</a:t>
          </a:r>
          <a:r>
            <a:rPr lang="zh-CN" altLang="en-US" dirty="0">
              <a:solidFill>
                <a:schemeClr val="tx1"/>
              </a:solidFill>
            </a:rPr>
            <a:t>广告投放</a:t>
          </a:r>
          <a:endParaRPr>
            <a:solidFill>
              <a:schemeClr val="tx1"/>
            </a:solidFill>
          </a:endParaRPr>
        </a:p>
      </dsp:txBody>
      <dsp:txXfrm>
        <a:off x="0" y="3007663"/>
        <a:ext cx="8435257" cy="695520"/>
      </dsp:txXfrm>
    </dsp:sp>
    <dsp:sp modelId="{2395A60E-2864-4180-B019-E4F00F619F7C}">
      <dsp:nvSpPr>
        <dsp:cNvPr id="7" name="圆角矩形 6"/>
        <dsp:cNvSpPr/>
      </dsp:nvSpPr>
      <dsp:spPr bwMode="white">
        <a:xfrm>
          <a:off x="0" y="3703183"/>
          <a:ext cx="8435257" cy="800249"/>
        </a:xfrm>
        <a:prstGeom prst="roundRect">
          <a:avLst/>
        </a:prstGeom>
      </dsp:spPr>
      <dsp:style>
        <a:lnRef idx="2">
          <a:schemeClr val="lt1"/>
        </a:lnRef>
        <a:fillRef idx="1">
          <a:schemeClr val="accent4">
            <a:hueOff val="9780000"/>
            <a:satOff val="-40783"/>
            <a:lumOff val="9412"/>
            <a:alpha val="100000"/>
          </a:schemeClr>
        </a:fillRef>
        <a:effectRef idx="0">
          <a:scrgbClr r="0" g="0" b="0"/>
        </a:effectRef>
        <a:fontRef idx="minor">
          <a:schemeClr val="lt1"/>
        </a:fontRef>
      </dsp:style>
      <dsp:txBody>
        <a:bodyPr lIns="118109" tIns="118109" rIns="118109" bIns="118109"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zh-CN" altLang="en-US" dirty="0"/>
            <a:t>推动新技术和新应用不断涌现</a:t>
          </a:r>
        </a:p>
      </dsp:txBody>
      <dsp:txXfrm>
        <a:off x="0" y="3703183"/>
        <a:ext cx="8435257" cy="800249"/>
      </dsp:txXfrm>
    </dsp:sp>
    <dsp:sp modelId="{9941BE0E-3D68-4B33-A7BE-42E628836482}">
      <dsp:nvSpPr>
        <dsp:cNvPr id="8" name="矩形 7"/>
        <dsp:cNvSpPr/>
      </dsp:nvSpPr>
      <dsp:spPr bwMode="white">
        <a:xfrm>
          <a:off x="0" y="4503432"/>
          <a:ext cx="8435257" cy="69552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7819" tIns="39370" rIns="220472" bIns="39370" anchor="t"/>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1">
            <a:lnSpc>
              <a:spcPct val="100000"/>
            </a:lnSpc>
            <a:spcBef>
              <a:spcPct val="0"/>
            </a:spcBef>
            <a:spcAft>
              <a:spcPct val="20000"/>
            </a:spcAft>
            <a:buChar char="•"/>
          </a:pPr>
          <a:r>
            <a:rPr lang="zh-CN" altLang="en-US">
              <a:solidFill>
                <a:schemeClr val="tx1"/>
              </a:solidFill>
            </a:rPr>
            <a:t>例如：汽车保险方案（普遍性</a:t>
          </a:r>
          <a:r>
            <a:rPr lang="en-US" altLang="zh-CN">
              <a:solidFill>
                <a:schemeClr val="tx1"/>
              </a:solidFill>
              <a:sym typeface="Wingdings" panose="05000000000000000000" pitchFamily="2" charset="2"/>
            </a:rPr>
            <a:t></a:t>
          </a:r>
          <a:r>
            <a:rPr lang="zh-CN" altLang="en-US">
              <a:solidFill>
                <a:schemeClr val="tx1"/>
              </a:solidFill>
              <a:sym typeface="Wingdings" panose="05000000000000000000" pitchFamily="2" charset="2"/>
            </a:rPr>
            <a:t>针对性）</a:t>
          </a:r>
          <a:endParaRPr lang="zh-CN" altLang="en-US" dirty="0">
            <a:solidFill>
              <a:schemeClr val="tx1"/>
            </a:solidFill>
          </a:endParaRPr>
        </a:p>
      </dsp:txBody>
      <dsp:txXfrm>
        <a:off x="0" y="4503432"/>
        <a:ext cx="8435257" cy="69552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A424B-F2C7-4EC9-8DA2-5CFAACF65E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60B0A-E707-4489-B72C-209A0C1058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万平方千米</a:t>
            </a:r>
            <a:r>
              <a:rPr lang="en-US" altLang="zh-CN" dirty="0"/>
              <a:t>=2.5</a:t>
            </a:r>
            <a:r>
              <a:rPr lang="zh-CN" altLang="en-US" dirty="0"/>
              <a:t>北京</a:t>
            </a:r>
            <a:r>
              <a:rPr lang="en-US" altLang="zh-CN" dirty="0"/>
              <a:t>=6-7</a:t>
            </a:r>
            <a:r>
              <a:rPr lang="zh-CN" altLang="en-US" dirty="0"/>
              <a:t>个广州</a:t>
            </a:r>
            <a:endParaRPr lang="zh-CN" altLang="en-US" dirty="0"/>
          </a:p>
        </p:txBody>
      </p:sp>
      <p:sp>
        <p:nvSpPr>
          <p:cNvPr id="4" name="灯片编号占位符 3"/>
          <p:cNvSpPr>
            <a:spLocks noGrp="1"/>
          </p:cNvSpPr>
          <p:nvPr>
            <p:ph type="sldNum" sz="quarter" idx="5"/>
          </p:nvPr>
        </p:nvSpPr>
        <p:spPr/>
        <p:txBody>
          <a:bodyPr/>
          <a:lstStyle/>
          <a:p>
            <a:fld id="{23860B0A-E707-4489-B72C-209A0C1058F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image" Target="../media/image1.png"/><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40.xml"/><Relationship Id="rId8" Type="http://schemas.openxmlformats.org/officeDocument/2006/relationships/slideLayout" Target="../slideLayouts/slideLayout39.xml"/><Relationship Id="rId7" Type="http://schemas.openxmlformats.org/officeDocument/2006/relationships/slideLayout" Target="../slideLayouts/slideLayout38.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 Id="rId3" Type="http://schemas.openxmlformats.org/officeDocument/2006/relationships/slideLayout" Target="../slideLayouts/slideLayout34.xml"/><Relationship Id="rId2" Type="http://schemas.openxmlformats.org/officeDocument/2006/relationships/slideLayout" Target="../slideLayouts/slideLayout33.xml"/><Relationship Id="rId15" Type="http://schemas.openxmlformats.org/officeDocument/2006/relationships/theme" Target="../theme/theme2.xml"/><Relationship Id="rId14" Type="http://schemas.openxmlformats.org/officeDocument/2006/relationships/image" Target="../media/image1.png"/><Relationship Id="rId13" Type="http://schemas.openxmlformats.org/officeDocument/2006/relationships/slideLayout" Target="../slideLayouts/slideLayout44.xml"/><Relationship Id="rId12" Type="http://schemas.openxmlformats.org/officeDocument/2006/relationships/slideLayout" Target="../slideLayouts/slideLayout43.xml"/><Relationship Id="rId11" Type="http://schemas.openxmlformats.org/officeDocument/2006/relationships/slideLayout" Target="../slideLayouts/slideLayout42.xml"/><Relationship Id="rId10" Type="http://schemas.openxmlformats.org/officeDocument/2006/relationships/slideLayout" Target="../slideLayouts/slideLayout41.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mailto:xxx@mail.sysu.edu.c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hyperlink" Target="https://jsjds.dhu.edu.cn/2025/0126/c20379a371443/page.ht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38.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5.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38.xml"/><Relationship Id="rId4" Type="http://schemas.openxmlformats.org/officeDocument/2006/relationships/image" Target="../media/image13.png"/><Relationship Id="rId3" Type="http://schemas.openxmlformats.org/officeDocument/2006/relationships/image" Target="../media/image12.jpeg"/><Relationship Id="rId2" Type="http://schemas.openxmlformats.org/officeDocument/2006/relationships/hyperlink" Target="http://www.gov.cn/xinwen/2023-02/02/content_5739680.htm" TargetMode="Externa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9.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6" Type="http://schemas.openxmlformats.org/officeDocument/2006/relationships/slideLayout" Target="../slideLayouts/slideLayout2.xml"/><Relationship Id="rId15" Type="http://schemas.openxmlformats.org/officeDocument/2006/relationships/image" Target="../media/image35.wmf"/><Relationship Id="rId14" Type="http://schemas.openxmlformats.org/officeDocument/2006/relationships/image" Target="../media/image34.svg"/><Relationship Id="rId13" Type="http://schemas.openxmlformats.org/officeDocument/2006/relationships/image" Target="../media/image33.png"/><Relationship Id="rId12" Type="http://schemas.openxmlformats.org/officeDocument/2006/relationships/image" Target="../media/image32.svg"/><Relationship Id="rId11" Type="http://schemas.openxmlformats.org/officeDocument/2006/relationships/image" Target="../media/image31.png"/><Relationship Id="rId10" Type="http://schemas.openxmlformats.org/officeDocument/2006/relationships/image" Target="../media/image30.svg"/><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microsoft.com/office/2007/relationships/diagramDrawing" Target="../diagrams/drawing2.xml"/><Relationship Id="rId8" Type="http://schemas.openxmlformats.org/officeDocument/2006/relationships/diagramColors" Target="../diagrams/colors2.xml"/><Relationship Id="rId7" Type="http://schemas.openxmlformats.org/officeDocument/2006/relationships/diagramQuickStyle" Target="../diagrams/quickStyle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9.jpeg"/><Relationship Id="rId3" Type="http://schemas.openxmlformats.org/officeDocument/2006/relationships/image" Target="../media/image38.jpeg"/><Relationship Id="rId2" Type="http://schemas.openxmlformats.org/officeDocument/2006/relationships/image" Target="../media/image37.jpeg"/><Relationship Id="rId10" Type="http://schemas.openxmlformats.org/officeDocument/2006/relationships/slideLayout" Target="../slideLayouts/slideLayout2.xml"/><Relationship Id="rId1" Type="http://schemas.openxmlformats.org/officeDocument/2006/relationships/image" Target="../media/image36.jpeg"/></Relationships>
</file>

<file path=ppt/slides/_rels/slide2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6" Type="http://schemas.openxmlformats.org/officeDocument/2006/relationships/slideLayout" Target="../slideLayouts/slideLayout7.xml"/><Relationship Id="rId25" Type="http://schemas.openxmlformats.org/officeDocument/2006/relationships/tags" Target="../tags/tag30.xml"/><Relationship Id="rId24" Type="http://schemas.openxmlformats.org/officeDocument/2006/relationships/image" Target="../media/image40.png"/><Relationship Id="rId23" Type="http://schemas.openxmlformats.org/officeDocument/2006/relationships/tags" Target="../tags/tag29.xml"/><Relationship Id="rId22" Type="http://schemas.openxmlformats.org/officeDocument/2006/relationships/tags" Target="../tags/tag28.xml"/><Relationship Id="rId21" Type="http://schemas.openxmlformats.org/officeDocument/2006/relationships/tags" Target="../tags/tag27.xml"/><Relationship Id="rId20" Type="http://schemas.openxmlformats.org/officeDocument/2006/relationships/tags" Target="../tags/tag26.xml"/><Relationship Id="rId2" Type="http://schemas.openxmlformats.org/officeDocument/2006/relationships/tags" Target="../tags/tag8.xml"/><Relationship Id="rId19" Type="http://schemas.openxmlformats.org/officeDocument/2006/relationships/tags" Target="../tags/tag25.xml"/><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jpeg"/><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image" Target="../media/image41.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6" Type="http://schemas.openxmlformats.org/officeDocument/2006/relationships/slideLayout" Target="../slideLayouts/slideLayout7.xml"/><Relationship Id="rId25" Type="http://schemas.openxmlformats.org/officeDocument/2006/relationships/tags" Target="../tags/tag54.xml"/><Relationship Id="rId24" Type="http://schemas.openxmlformats.org/officeDocument/2006/relationships/image" Target="../media/image40.png"/><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2.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56.xml"/><Relationship Id="rId1" Type="http://schemas.openxmlformats.org/officeDocument/2006/relationships/tags" Target="../tags/tag5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57.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49.png"/><Relationship Id="rId3" Type="http://schemas.openxmlformats.org/officeDocument/2006/relationships/tags" Target="../tags/tag59.xml"/><Relationship Id="rId2" Type="http://schemas.openxmlformats.org/officeDocument/2006/relationships/image" Target="../media/image48.emf"/><Relationship Id="rId1" Type="http://schemas.openxmlformats.org/officeDocument/2006/relationships/tags" Target="../tags/tag5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60.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61.xml"/><Relationship Id="rId1" Type="http://schemas.openxmlformats.org/officeDocument/2006/relationships/image" Target="../media/image50.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1.xml"/><Relationship Id="rId5" Type="http://schemas.openxmlformats.org/officeDocument/2006/relationships/image" Target="../media/image54.jpe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tags" Target="../tags/tag62.xml"/><Relationship Id="rId1" Type="http://schemas.openxmlformats.org/officeDocument/2006/relationships/image" Target="../media/image51.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55.jpeg"/><Relationship Id="rId1" Type="http://schemas.openxmlformats.org/officeDocument/2006/relationships/tags" Target="../tags/tag63.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64.xml"/><Relationship Id="rId1" Type="http://schemas.openxmlformats.org/officeDocument/2006/relationships/image" Target="../media/image56.emf"/></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image" Target="../media/image57.png"/><Relationship Id="rId1" Type="http://schemas.openxmlformats.org/officeDocument/2006/relationships/tags" Target="../tags/tag65.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image" Target="../media/image58.png"/><Relationship Id="rId1" Type="http://schemas.openxmlformats.org/officeDocument/2006/relationships/tags" Target="../tags/tag66.xml"/></Relationships>
</file>

<file path=ppt/slides/_rels/slide46.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67.xml"/><Relationship Id="rId5" Type="http://schemas.openxmlformats.org/officeDocument/2006/relationships/image" Target="../media/image63.emf"/><Relationship Id="rId4" Type="http://schemas.openxmlformats.org/officeDocument/2006/relationships/image" Target="../media/image62.jpeg"/><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image" Target="../media/image59.jpe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68.xml"/><Relationship Id="rId1" Type="http://schemas.openxmlformats.org/officeDocument/2006/relationships/image" Target="../media/image64.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69.xml"/><Relationship Id="rId1" Type="http://schemas.openxmlformats.org/officeDocument/2006/relationships/image" Target="../media/image65.emf"/></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70.xml"/><Relationship Id="rId1" Type="http://schemas.openxmlformats.org/officeDocument/2006/relationships/image" Target="../media/image66.e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7200" b="1" dirty="0"/>
              <a:t>大数据管理</a:t>
            </a:r>
            <a:endParaRPr lang="zh-CN" altLang="en-US" sz="7200" b="1" dirty="0"/>
          </a:p>
        </p:txBody>
      </p:sp>
      <p:sp>
        <p:nvSpPr>
          <p:cNvPr id="3" name="副标题 2"/>
          <p:cNvSpPr>
            <a:spLocks noGrp="1"/>
          </p:cNvSpPr>
          <p:nvPr>
            <p:ph type="subTitle" idx="1"/>
          </p:nvPr>
        </p:nvSpPr>
        <p:spPr/>
        <p:txBody>
          <a:bodyPr>
            <a:normAutofit/>
          </a:bodyPr>
          <a:lstStyle/>
          <a:p>
            <a:r>
              <a:rPr lang="zh-CN" altLang="en-US" sz="2800" dirty="0">
                <a:latin typeface="楷体" panose="02010609060101010101" pitchFamily="49" charset="-122"/>
                <a:ea typeface="楷体" panose="02010609060101010101" pitchFamily="49" charset="-122"/>
              </a:rPr>
              <a:t>主讲：陈梓潼</a:t>
            </a:r>
            <a:endParaRPr lang="en-US" altLang="zh-CN" sz="2800" dirty="0">
              <a:latin typeface="楷体" panose="02010609060101010101" pitchFamily="49" charset="-122"/>
              <a:ea typeface="楷体" panose="02010609060101010101" pitchFamily="49" charset="-122"/>
            </a:endParaRPr>
          </a:p>
          <a:p>
            <a:r>
              <a:rPr lang="zh-CN" altLang="en-US" sz="2800" dirty="0">
                <a:latin typeface="楷体" panose="02010609060101010101" pitchFamily="49" charset="-122"/>
                <a:ea typeface="楷体" panose="02010609060101010101" pitchFamily="49" charset="-122"/>
              </a:rPr>
              <a:t>公共实验楼</a:t>
            </a:r>
            <a:r>
              <a:rPr lang="en-US" altLang="zh-CN" sz="2800" dirty="0">
                <a:latin typeface="楷体" panose="02010609060101010101" pitchFamily="49" charset="-122"/>
                <a:ea typeface="楷体" panose="02010609060101010101" pitchFamily="49" charset="-122"/>
              </a:rPr>
              <a:t>A408</a:t>
            </a:r>
            <a:endParaRPr lang="en-GB" altLang="zh-CN" sz="2800" dirty="0">
              <a:latin typeface="楷体" panose="02010609060101010101" pitchFamily="49" charset="-122"/>
              <a:ea typeface="楷体" panose="02010609060101010101" pitchFamily="49" charset="-122"/>
            </a:endParaRPr>
          </a:p>
          <a:p>
            <a:r>
              <a:rPr lang="en-US" altLang="zh-CN" sz="2800" b="1" u="sng" dirty="0">
                <a:solidFill>
                  <a:schemeClr val="hlink"/>
                </a:solidFill>
              </a:rPr>
              <a:t>chenzt53</a:t>
            </a:r>
            <a:r>
              <a:rPr lang="en-US" altLang="zh-CN" sz="2800" b="1" u="sng" dirty="0">
                <a:solidFill>
                  <a:schemeClr val="hlink"/>
                </a:solidFill>
                <a:hlinkClick r:id="rId1"/>
              </a:rPr>
              <a:t>@mail.sysu.edu.cn</a:t>
            </a:r>
            <a:r>
              <a:rPr lang="en-GB" altLang="zh-CN" sz="2800" u="sng" dirty="0">
                <a:latin typeface="楷体" panose="02010609060101010101" pitchFamily="49" charset="-122"/>
                <a:ea typeface="楷体" panose="02010609060101010101" pitchFamily="49" charset="-122"/>
              </a:rPr>
              <a:t> </a:t>
            </a:r>
            <a:endParaRPr lang="en-GB" altLang="zh-CN" sz="2800" u="sng" dirty="0">
              <a:latin typeface="楷体" panose="02010609060101010101" pitchFamily="49" charset="-122"/>
              <a:ea typeface="楷体" panose="02010609060101010101" pitchFamily="49" charset="-122"/>
            </a:endParaRPr>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380" y="173355"/>
            <a:ext cx="10515600" cy="1325563"/>
          </a:xfrm>
        </p:spPr>
        <p:txBody>
          <a:bodyPr/>
          <a:lstStyle/>
          <a:p>
            <a:r>
              <a:rPr lang="zh-CN" altLang="en-US" sz="3600" dirty="0">
                <a:solidFill>
                  <a:srgbClr val="0000FF"/>
                </a:solidFill>
                <a:latin typeface="微软雅黑" panose="020B0503020204020204" charset="-122"/>
                <a:ea typeface="微软雅黑" panose="020B0503020204020204" charset="-122"/>
              </a:rPr>
              <a:t>成绩评定</a:t>
            </a:r>
            <a:endParaRPr lang="zh-CN" altLang="en-US" sz="3600" dirty="0">
              <a:solidFill>
                <a:srgbClr val="0000FF"/>
              </a:solidFill>
              <a:latin typeface="微软雅黑" panose="020B0503020204020204" charset="-122"/>
              <a:ea typeface="微软雅黑" panose="020B0503020204020204" charset="-122"/>
            </a:endParaRPr>
          </a:p>
        </p:txBody>
      </p:sp>
      <p:sp>
        <p:nvSpPr>
          <p:cNvPr id="4" name="Slide Number Placeholder 3"/>
          <p:cNvSpPr>
            <a:spLocks noGrp="1"/>
          </p:cNvSpPr>
          <p:nvPr>
            <p:ph type="sldNum" sz="quarter" idx="12"/>
          </p:nvPr>
        </p:nvSpPr>
        <p:spPr/>
        <p:txBody>
          <a:bodyPr/>
          <a:lstStyle/>
          <a:p>
            <a:fld id="{6D4A46F3-AB2B-49E1-B890-48D22C4427CA}" type="slidenum">
              <a:rPr lang="en-GB" smtClean="0"/>
            </a:fld>
            <a:endParaRPr lang="en-GB"/>
          </a:p>
        </p:txBody>
      </p:sp>
      <p:graphicFrame>
        <p:nvGraphicFramePr>
          <p:cNvPr id="6" name="表格 6"/>
          <p:cNvGraphicFramePr>
            <a:graphicFrameLocks noGrp="1"/>
          </p:cNvGraphicFramePr>
          <p:nvPr>
            <p:custDataLst>
              <p:tags r:id="rId1"/>
            </p:custDataLst>
          </p:nvPr>
        </p:nvGraphicFramePr>
        <p:xfrm>
          <a:off x="1851025" y="1600835"/>
          <a:ext cx="8707120" cy="3869690"/>
        </p:xfrm>
        <a:graphic>
          <a:graphicData uri="http://schemas.openxmlformats.org/drawingml/2006/table">
            <a:tbl>
              <a:tblPr firstRow="1" bandRow="1">
                <a:tableStyleId>{6E25E649-3F16-4E02-A733-19D2CDBF48F0}</a:tableStyleId>
              </a:tblPr>
              <a:tblGrid>
                <a:gridCol w="2193925"/>
                <a:gridCol w="1297305"/>
                <a:gridCol w="5215890"/>
              </a:tblGrid>
              <a:tr h="887095">
                <a:tc>
                  <a:txBody>
                    <a:bodyPr/>
                    <a:lstStyle/>
                    <a:p>
                      <a:r>
                        <a:rPr lang="zh-CN" altLang="en-US" sz="3200" dirty="0"/>
                        <a:t>项目</a:t>
                      </a:r>
                      <a:endParaRPr lang="zh-CN" altLang="en-US" sz="3200" dirty="0"/>
                    </a:p>
                  </a:txBody>
                  <a:tcPr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r>
                        <a:rPr lang="zh-CN" altLang="en-US" sz="3200" dirty="0"/>
                        <a:t>占比</a:t>
                      </a:r>
                      <a:endParaRPr lang="zh-CN" altLang="en-US" sz="3200" dirty="0"/>
                    </a:p>
                  </a:txBody>
                  <a:tcPr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buNone/>
                      </a:pPr>
                      <a:r>
                        <a:rPr lang="zh-CN" altLang="en-US" sz="3200" dirty="0"/>
                        <a:t>形式</a:t>
                      </a:r>
                      <a:endParaRPr lang="zh-CN" altLang="en-US" sz="3200" dirty="0"/>
                    </a:p>
                  </a:txBody>
                  <a:tcPr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lstStyle/>
                    <a:p>
                      <a:r>
                        <a:rPr lang="zh-CN" altLang="en-US" sz="3200" dirty="0">
                          <a:sym typeface="+mn-ea"/>
                        </a:rPr>
                        <a:t>考勤</a:t>
                      </a:r>
                      <a:endParaRPr lang="zh-CN" altLang="en-US"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r>
                        <a:rPr lang="en-US" altLang="zh-CN" sz="3200" dirty="0"/>
                        <a:t>10%</a:t>
                      </a:r>
                      <a:endParaRPr lang="en-US" altLang="zh-CN"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p>
                      <a:pPr>
                        <a:buNone/>
                      </a:pPr>
                      <a:r>
                        <a:rPr lang="zh-CN" altLang="en-US" sz="3200" dirty="0"/>
                        <a:t>中山大学在线教学平台签到，第三周开始。</a:t>
                      </a:r>
                      <a:endParaRPr lang="zh-CN" altLang="en-US"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1066800">
                <a:tc>
                  <a:txBody>
                    <a:bodyPr/>
                    <a:lstStyle/>
                    <a:p>
                      <a:r>
                        <a:rPr lang="zh-CN" altLang="en-US" sz="3200" dirty="0"/>
                        <a:t>作业</a:t>
                      </a:r>
                      <a:endParaRPr lang="zh-CN" altLang="en-US"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r>
                        <a:rPr lang="en-US" altLang="zh-CN" sz="3200" dirty="0"/>
                        <a:t>30%</a:t>
                      </a:r>
                      <a:endParaRPr lang="en-US" altLang="zh-CN"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p>
                      <a:pPr>
                        <a:buNone/>
                      </a:pPr>
                      <a:r>
                        <a:rPr lang="zh-CN" altLang="en-US" sz="3200" dirty="0"/>
                        <a:t>中山大学在线教学平台发布及提交</a:t>
                      </a:r>
                      <a:endParaRPr lang="zh-CN" altLang="en-US"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r>
              <a:tr h="887095">
                <a:tc>
                  <a:txBody>
                    <a:bodyPr/>
                    <a:lstStyle/>
                    <a:p>
                      <a:r>
                        <a:rPr lang="zh-CN" altLang="en-US" sz="3200" dirty="0"/>
                        <a:t>期末考</a:t>
                      </a:r>
                      <a:endParaRPr lang="zh-CN" altLang="en-US"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r>
                        <a:rPr lang="en-US" altLang="zh-CN" sz="3200" dirty="0"/>
                        <a:t>60%</a:t>
                      </a:r>
                      <a:endParaRPr lang="en-US" altLang="zh-CN"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p>
                      <a:pPr>
                        <a:buNone/>
                      </a:pPr>
                      <a:r>
                        <a:rPr lang="zh-CN" altLang="en-US" sz="3200" dirty="0"/>
                        <a:t>闭卷，只考理论部分。</a:t>
                      </a:r>
                      <a:endParaRPr lang="zh-CN" altLang="en-US" sz="3200" dirty="0"/>
                    </a:p>
                  </a:txBody>
                  <a:tcPr anchor="ctr" anchorCtr="0">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1941"/>
            <a:ext cx="10515600" cy="1325563"/>
          </a:xfrm>
        </p:spPr>
        <p:txBody>
          <a:bodyPr/>
          <a:lstStyle/>
          <a:p>
            <a:r>
              <a:rPr lang="zh-CN" altLang="en-US" sz="4800" b="1" dirty="0">
                <a:solidFill>
                  <a:srgbClr val="000000"/>
                </a:solidFill>
                <a:latin typeface="宋体" panose="02010600030101010101" pitchFamily="2" charset="-122"/>
                <a:ea typeface="宋体" panose="02010600030101010101" pitchFamily="2" charset="-122"/>
              </a:rPr>
              <a:t>教学设计</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567690" y="1507490"/>
            <a:ext cx="7308850" cy="4827905"/>
          </a:xfrm>
        </p:spPr>
        <p:txBody>
          <a:bodyPr>
            <a:noAutofit/>
          </a:bodyPr>
          <a:lstStyle/>
          <a:p>
            <a:pPr marL="0" indent="0" eaLnBrk="1" hangingPunct="1">
              <a:buNone/>
            </a:pPr>
            <a:r>
              <a:rPr lang="zh-CN" altLang="en-US" sz="2400" dirty="0"/>
              <a:t>课堂上：</a:t>
            </a:r>
            <a:endParaRPr lang="en-US" altLang="zh-CN" sz="2400" dirty="0"/>
          </a:p>
          <a:p>
            <a:pPr eaLnBrk="1" hangingPunct="1"/>
            <a:r>
              <a:rPr lang="zh-CN" altLang="en-US" sz="2400" dirty="0"/>
              <a:t>重理论：阐明基本原理、了解相关应用</a:t>
            </a:r>
            <a:endParaRPr lang="zh-CN" altLang="en-US" sz="2400" dirty="0"/>
          </a:p>
          <a:p>
            <a:pPr eaLnBrk="1" hangingPunct="1"/>
            <a:r>
              <a:rPr lang="zh-CN" altLang="en-US" sz="2400" dirty="0"/>
              <a:t>轻实践：在</a:t>
            </a:r>
            <a:r>
              <a:rPr lang="en-US" altLang="zh-CN" sz="2400" dirty="0"/>
              <a:t>Hadoop</a:t>
            </a:r>
            <a:r>
              <a:rPr lang="zh-CN" altLang="en-US" sz="2400" dirty="0"/>
              <a:t>、</a:t>
            </a:r>
            <a:r>
              <a:rPr lang="en-US" altLang="zh-CN" sz="2400" dirty="0"/>
              <a:t>HDFS</a:t>
            </a:r>
            <a:r>
              <a:rPr lang="zh-CN" altLang="en-US" sz="2400" dirty="0"/>
              <a:t>、</a:t>
            </a:r>
            <a:r>
              <a:rPr lang="en-US" altLang="zh-CN" sz="2400" dirty="0"/>
              <a:t>HBase</a:t>
            </a:r>
            <a:r>
              <a:rPr lang="zh-CN" altLang="en-US" sz="2400" dirty="0"/>
              <a:t>、</a:t>
            </a:r>
            <a:r>
              <a:rPr lang="en-US" altLang="zh-CN" sz="2400" dirty="0"/>
              <a:t>MapReduce</a:t>
            </a:r>
            <a:r>
              <a:rPr lang="zh-CN" altLang="en-US" sz="2400" dirty="0"/>
              <a:t>、</a:t>
            </a:r>
            <a:r>
              <a:rPr lang="en-US" altLang="zh-CN" sz="2400" dirty="0"/>
              <a:t>Hive</a:t>
            </a:r>
            <a:r>
              <a:rPr lang="zh-CN" altLang="en-US" sz="2400" dirty="0"/>
              <a:t>、</a:t>
            </a:r>
            <a:r>
              <a:rPr lang="en-US" altLang="zh-CN" sz="2400" dirty="0"/>
              <a:t>Spark</a:t>
            </a:r>
            <a:r>
              <a:rPr lang="zh-CN" altLang="en-US" sz="2400" dirty="0"/>
              <a:t>和</a:t>
            </a:r>
            <a:r>
              <a:rPr lang="en-US" altLang="zh-CN" sz="2400" dirty="0" err="1"/>
              <a:t>Flink</a:t>
            </a:r>
            <a:r>
              <a:rPr lang="zh-CN" altLang="en-US" sz="2400" dirty="0"/>
              <a:t>等重要章节，引导入门级实践操作</a:t>
            </a:r>
            <a:endParaRPr lang="en-US" altLang="zh-CN" sz="2400" dirty="0"/>
          </a:p>
          <a:p>
            <a:pPr marL="0" indent="0">
              <a:lnSpc>
                <a:spcPct val="90000"/>
              </a:lnSpc>
              <a:buNone/>
            </a:pPr>
            <a:endParaRPr lang="en-US" altLang="zh-CN" sz="2400" dirty="0"/>
          </a:p>
          <a:p>
            <a:pPr marL="0" indent="0">
              <a:lnSpc>
                <a:spcPct val="90000"/>
              </a:lnSpc>
              <a:buNone/>
            </a:pPr>
            <a:endParaRPr lang="en-US" altLang="zh-CN" sz="2400" dirty="0"/>
          </a:p>
          <a:p>
            <a:pPr marL="0" indent="0" eaLnBrk="1" hangingPunct="1">
              <a:buNone/>
            </a:pPr>
            <a:r>
              <a:rPr lang="zh-CN" altLang="en-US" sz="2400" dirty="0"/>
              <a:t>课后：</a:t>
            </a:r>
            <a:endParaRPr lang="zh-CN" altLang="en-US" sz="2400" dirty="0"/>
          </a:p>
          <a:p>
            <a:pPr eaLnBrk="1" hangingPunct="1"/>
            <a:r>
              <a:rPr lang="zh-CN" altLang="en-US" sz="2400" dirty="0"/>
              <a:t>布置习题考查原理</a:t>
            </a:r>
            <a:endParaRPr lang="en-US" altLang="zh-CN" sz="2400" dirty="0"/>
          </a:p>
          <a:p>
            <a:pPr eaLnBrk="1" hangingPunct="1"/>
            <a:r>
              <a:rPr lang="zh-CN" altLang="en-US" sz="2400" dirty="0"/>
              <a:t>提交初级实践报告（选做）</a:t>
            </a:r>
            <a:endParaRPr lang="zh-CN" altLang="en-US" sz="2400" dirty="0"/>
          </a:p>
        </p:txBody>
      </p:sp>
      <p:sp>
        <p:nvSpPr>
          <p:cNvPr id="4" name="TextBox 9"/>
          <p:cNvSpPr txBox="1">
            <a:spLocks noChangeArrowheads="1"/>
          </p:cNvSpPr>
          <p:nvPr/>
        </p:nvSpPr>
        <p:spPr bwMode="auto">
          <a:xfrm>
            <a:off x="8008118" y="5009869"/>
            <a:ext cx="37512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厦门大学 林子雨编著</a:t>
            </a:r>
            <a:endParaRPr lang="en-US" altLang="zh-CN" sz="2400" dirty="0"/>
          </a:p>
          <a:p>
            <a:pPr eaLnBrk="1" hangingPunct="1"/>
            <a:r>
              <a:rPr lang="zh-CN" altLang="en-US" sz="2400" dirty="0"/>
              <a:t>人民邮电出版社</a:t>
            </a:r>
            <a:endParaRPr lang="en-US" altLang="zh-CN" sz="2400" dirty="0"/>
          </a:p>
          <a:p>
            <a:pPr eaLnBrk="1" hangingPunct="1"/>
            <a:r>
              <a:rPr lang="en-US" altLang="zh-CN" sz="2400" dirty="0"/>
              <a:t>2021</a:t>
            </a:r>
            <a:r>
              <a:rPr lang="zh-CN" altLang="en-US" sz="2400" dirty="0"/>
              <a:t>年</a:t>
            </a:r>
            <a:r>
              <a:rPr lang="en-US" altLang="zh-CN" sz="2400" dirty="0"/>
              <a:t>1</a:t>
            </a:r>
            <a:r>
              <a:rPr lang="zh-CN" altLang="en-US" sz="2400" dirty="0"/>
              <a:t>月第</a:t>
            </a:r>
            <a:r>
              <a:rPr lang="en-US" altLang="zh-CN" sz="2400" dirty="0"/>
              <a:t>3</a:t>
            </a:r>
            <a:r>
              <a:rPr lang="zh-CN" altLang="en-US" sz="2400" dirty="0"/>
              <a:t>版</a:t>
            </a:r>
            <a:br>
              <a:rPr lang="en-US" altLang="zh-CN" sz="2400" dirty="0"/>
            </a:br>
            <a:r>
              <a:rPr lang="en-US" altLang="zh-CN" sz="2400" dirty="0"/>
              <a:t>ISBN:978-7-115-54405-6</a:t>
            </a:r>
            <a:endParaRPr lang="zh-CN" altLang="en-US" sz="2400" dirty="0"/>
          </a:p>
        </p:txBody>
      </p:sp>
      <p:pic>
        <p:nvPicPr>
          <p:cNvPr id="5" name="Picture 11" descr="http://dblab.xmu.edu.cn/wp-content/uploads/2020/11/%E5%A4%A7%E6%95%B0%E6%8D%AE%E6%8A%80%E6%9C%AF%E5%8E%9F%E7%90%86%E4%B8%8E%E5%BA%94%E7%94%A8%EF%BC%88%E7%AC%AC3%E7%89%88%EF%BC%89%E5%B0%81%E9%9D%A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08489" y="718445"/>
            <a:ext cx="4050891" cy="4050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07808"/>
            <a:ext cx="10515600" cy="1325563"/>
          </a:xfrm>
        </p:spPr>
        <p:txBody>
          <a:bodyPr>
            <a:normAutofit/>
          </a:bodyPr>
          <a:lstStyle/>
          <a:p>
            <a:r>
              <a:rPr lang="zh-CN" altLang="en-US" sz="4800" b="1" i="0" dirty="0">
                <a:solidFill>
                  <a:srgbClr val="000000"/>
                </a:solidFill>
                <a:effectLst/>
                <a:latin typeface="宋体" panose="02010600030101010101" pitchFamily="2" charset="-122"/>
                <a:ea typeface="宋体" panose="02010600030101010101" pitchFamily="2" charset="-122"/>
              </a:rPr>
              <a:t>课程概述</a:t>
            </a:r>
            <a:endParaRPr lang="zh-CN" altLang="en-US" sz="4800" dirty="0"/>
          </a:p>
        </p:txBody>
      </p:sp>
      <p:graphicFrame>
        <p:nvGraphicFramePr>
          <p:cNvPr id="4" name="图示 3"/>
          <p:cNvGraphicFramePr/>
          <p:nvPr/>
        </p:nvGraphicFramePr>
        <p:xfrm>
          <a:off x="694813" y="1231525"/>
          <a:ext cx="8921135" cy="541866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右大括号 4"/>
          <p:cNvSpPr/>
          <p:nvPr/>
        </p:nvSpPr>
        <p:spPr>
          <a:xfrm>
            <a:off x="9368911" y="1966452"/>
            <a:ext cx="698091" cy="3136490"/>
          </a:xfrm>
          <a:prstGeom prst="rightBrace">
            <a:avLst/>
          </a:prstGeom>
          <a:effectLst>
            <a:outerShdw blurRad="50800" dist="38100" dir="2700000" algn="tl" rotWithShape="0">
              <a:prstClr val="black">
                <a:alpha val="40000"/>
              </a:prstClr>
            </a:outerShdw>
          </a:effectLst>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dirty="0"/>
          </a:p>
        </p:txBody>
      </p:sp>
      <p:sp>
        <p:nvSpPr>
          <p:cNvPr id="6" name="文本框 5"/>
          <p:cNvSpPr txBox="1"/>
          <p:nvPr/>
        </p:nvSpPr>
        <p:spPr>
          <a:xfrm>
            <a:off x="10067002" y="3014563"/>
            <a:ext cx="1005403" cy="1077218"/>
          </a:xfrm>
          <a:prstGeom prst="rect">
            <a:avLst/>
          </a:prstGeom>
          <a:noFill/>
        </p:spPr>
        <p:txBody>
          <a:bodyPr wrap="none" rtlCol="0">
            <a:spAutoFit/>
          </a:bodyPr>
          <a:lstStyle/>
          <a:p>
            <a:r>
              <a:rPr lang="zh-CN" altLang="en-US" sz="3200" dirty="0"/>
              <a:t>重点</a:t>
            </a:r>
            <a:endParaRPr lang="en-US" altLang="zh-CN" sz="3200" dirty="0"/>
          </a:p>
          <a:p>
            <a:r>
              <a:rPr lang="zh-CN" altLang="en-US" sz="3200" dirty="0"/>
              <a:t>掌握</a:t>
            </a:r>
            <a:endParaRPr lang="zh-CN" altLang="en-US" sz="3200" dirty="0"/>
          </a:p>
        </p:txBody>
      </p:sp>
      <p:sp>
        <p:nvSpPr>
          <p:cNvPr id="3" name="灯片编号占位符 2"/>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800" b="1" dirty="0">
                <a:solidFill>
                  <a:srgbClr val="000000"/>
                </a:solidFill>
                <a:latin typeface="宋体" panose="02010600030101010101" pitchFamily="2" charset="-122"/>
                <a:ea typeface="宋体" panose="02010600030101010101" pitchFamily="2" charset="-122"/>
              </a:rPr>
              <a:t>课程思政</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838200" y="1825625"/>
            <a:ext cx="10124768" cy="4351338"/>
          </a:xfrm>
        </p:spPr>
        <p:txBody>
          <a:bodyPr>
            <a:normAutofit/>
          </a:bodyPr>
          <a:lstStyle/>
          <a:p>
            <a:pPr>
              <a:lnSpc>
                <a:spcPct val="200000"/>
              </a:lnSpc>
            </a:pPr>
            <a:r>
              <a:rPr lang="zh-CN" altLang="zh-CN" dirty="0">
                <a:latin typeface="宋体" panose="02010600030101010101" pitchFamily="2" charset="-122"/>
                <a:ea typeface="宋体" panose="02010600030101010101" pitchFamily="2" charset="-122"/>
              </a:rPr>
              <a:t>引导学生步入大数据时代，积极投身大数据</a:t>
            </a:r>
            <a:r>
              <a:rPr lang="zh-CN" altLang="en-US" dirty="0">
                <a:latin typeface="宋体" panose="02010600030101010101" pitchFamily="2" charset="-122"/>
                <a:ea typeface="宋体" panose="02010600030101010101" pitchFamily="2" charset="-122"/>
              </a:rPr>
              <a:t>的</a:t>
            </a:r>
            <a:r>
              <a:rPr lang="zh-CN" altLang="zh-CN" dirty="0">
                <a:latin typeface="宋体" panose="02010600030101010101" pitchFamily="2" charset="-122"/>
                <a:ea typeface="宋体" panose="02010600030101010101" pitchFamily="2" charset="-122"/>
              </a:rPr>
              <a:t>变革浪潮之中</a:t>
            </a:r>
            <a:endParaRPr lang="zh-CN" altLang="zh-CN" dirty="0">
              <a:latin typeface="宋体" panose="02010600030101010101" pitchFamily="2" charset="-122"/>
              <a:ea typeface="宋体" panose="02010600030101010101" pitchFamily="2" charset="-122"/>
            </a:endParaRPr>
          </a:p>
          <a:p>
            <a:pPr>
              <a:lnSpc>
                <a:spcPct val="200000"/>
              </a:lnSpc>
            </a:pPr>
            <a:r>
              <a:rPr lang="zh-CN" altLang="zh-CN" dirty="0">
                <a:latin typeface="宋体" panose="02010600030101010101" pitchFamily="2" charset="-122"/>
                <a:ea typeface="宋体" panose="02010600030101010101" pitchFamily="2" charset="-122"/>
              </a:rPr>
              <a:t>熟悉大数据应用，探寻大数据与自己专业的应用结合点</a:t>
            </a:r>
            <a:endParaRPr lang="zh-CN" altLang="zh-CN" dirty="0">
              <a:latin typeface="宋体" panose="02010600030101010101" pitchFamily="2" charset="-122"/>
              <a:ea typeface="宋体" panose="02010600030101010101" pitchFamily="2" charset="-122"/>
            </a:endParaRPr>
          </a:p>
          <a:p>
            <a:pPr>
              <a:lnSpc>
                <a:spcPct val="200000"/>
              </a:lnSpc>
            </a:pPr>
            <a:r>
              <a:rPr lang="zh-CN" altLang="zh-CN" dirty="0">
                <a:latin typeface="宋体" panose="02010600030101010101" pitchFamily="2" charset="-122"/>
                <a:ea typeface="宋体" panose="02010600030101010101" pitchFamily="2" charset="-122"/>
              </a:rPr>
              <a:t>激发学生基于大数据的创新创业热情</a:t>
            </a:r>
            <a:endParaRPr lang="zh-CN" altLang="en-US" dirty="0">
              <a:latin typeface="宋体" panose="02010600030101010101" pitchFamily="2" charset="-122"/>
              <a:ea typeface="宋体" panose="02010600030101010101" pitchFamily="2" charset="-122"/>
            </a:endParaRPr>
          </a:p>
          <a:p>
            <a:pPr marL="0" indent="0">
              <a:buNone/>
            </a:pP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800" b="1" dirty="0">
                <a:solidFill>
                  <a:srgbClr val="000000"/>
                </a:solidFill>
                <a:latin typeface="宋体" panose="02010600030101010101" pitchFamily="2" charset="-122"/>
                <a:ea typeface="宋体" panose="02010600030101010101" pitchFamily="2" charset="-122"/>
              </a:rPr>
              <a:t>大数据赛事</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p>
            <a:r>
              <a:rPr lang="zh-CN" altLang="en-US" dirty="0">
                <a:sym typeface="+mn-ea"/>
              </a:rPr>
              <a:t>中国高校计算机大赛</a:t>
            </a:r>
            <a:r>
              <a:rPr lang="en-US" altLang="zh-CN" dirty="0">
                <a:sym typeface="+mn-ea"/>
              </a:rPr>
              <a:t>—</a:t>
            </a:r>
            <a:r>
              <a:rPr lang="zh-CN" altLang="en-US" dirty="0">
                <a:sym typeface="+mn-ea"/>
              </a:rPr>
              <a:t>大数据挑战赛</a:t>
            </a:r>
            <a:endParaRPr lang="zh-CN" altLang="en-US" dirty="0">
              <a:sym typeface="+mn-ea"/>
            </a:endParaRPr>
          </a:p>
          <a:p>
            <a:pPr marL="0" indent="0">
              <a:buNone/>
            </a:pPr>
            <a:r>
              <a:rPr lang="zh-CN" altLang="en-US" dirty="0"/>
              <a:t>通常每年</a:t>
            </a:r>
            <a:r>
              <a:rPr lang="en-US" altLang="zh-CN" dirty="0"/>
              <a:t>4</a:t>
            </a:r>
            <a:r>
              <a:rPr lang="zh-CN" altLang="en-US" dirty="0"/>
              <a:t>月开始热身赛，</a:t>
            </a:r>
            <a:r>
              <a:rPr lang="en-US" altLang="zh-CN" dirty="0"/>
              <a:t>6</a:t>
            </a:r>
            <a:r>
              <a:rPr lang="zh-CN" altLang="en-US" dirty="0"/>
              <a:t>月初赛，</a:t>
            </a:r>
            <a:r>
              <a:rPr lang="en-US" altLang="zh-CN" dirty="0"/>
              <a:t>7-8</a:t>
            </a:r>
            <a:r>
              <a:rPr lang="zh-CN" altLang="en-US" dirty="0"/>
              <a:t>月复赛</a:t>
            </a:r>
            <a:r>
              <a:rPr lang="en-US" altLang="zh-CN" dirty="0"/>
              <a:t>/</a:t>
            </a:r>
            <a:r>
              <a:rPr lang="zh-CN" altLang="en-US" dirty="0"/>
              <a:t>决赛</a:t>
            </a:r>
            <a:endParaRPr lang="zh-CN" altLang="en-US" dirty="0"/>
          </a:p>
          <a:p>
            <a:pPr marL="0" indent="0">
              <a:buNone/>
            </a:pPr>
            <a:r>
              <a:rPr lang="en-US" altLang="zh-CN" dirty="0">
                <a:hlinkClick r:id="rId1" tooltip="" action="ppaction://hlinkfile"/>
              </a:rPr>
              <a:t>https://jsjds.dhu.edu.cn/2025/0126/c20379a371443/page.htm</a:t>
            </a:r>
            <a:endParaRPr lang="en-US" altLang="zh-CN" dirty="0"/>
          </a:p>
          <a:p>
            <a:pPr marL="0" indent="0">
              <a:buNone/>
            </a:pPr>
            <a:endParaRPr lang="en-US" altLang="zh-CN" dirty="0"/>
          </a:p>
          <a:p>
            <a:endParaRPr lang="zh-CN" altLang="en-US"/>
          </a:p>
        </p:txBody>
      </p:sp>
      <p:sp>
        <p:nvSpPr>
          <p:cNvPr id="4" name="灯片编号占位符 3"/>
          <p:cNvSpPr>
            <a:spLocks noGrp="1"/>
          </p:cNvSpPr>
          <p:nvPr>
            <p:ph type="sldNum" sz="quarter" idx="12"/>
          </p:nvPr>
        </p:nvSpPr>
        <p:spPr/>
        <p:txBody>
          <a:bodyPr/>
          <a:p>
            <a:fld id="{7E57CE09-A6DF-4F65-B9AD-CB157D51E68C}" type="slidenum">
              <a:rPr lang="zh-CN" altLang="en-US" smtClean="0"/>
            </a:fld>
            <a:endParaRPr lang="zh-CN" altLang="en-US"/>
          </a:p>
        </p:txBody>
      </p:sp>
      <p:pic>
        <p:nvPicPr>
          <p:cNvPr id="6" name="图片 5"/>
          <p:cNvPicPr>
            <a:picLocks noChangeAspect="1"/>
          </p:cNvPicPr>
          <p:nvPr/>
        </p:nvPicPr>
        <p:blipFill>
          <a:blip r:embed="rId2"/>
          <a:stretch>
            <a:fillRect/>
          </a:stretch>
        </p:blipFill>
        <p:spPr>
          <a:xfrm>
            <a:off x="631190" y="3801110"/>
            <a:ext cx="10319385" cy="2171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zh-CN" altLang="en-US"/>
              <a:t>第一篇</a:t>
            </a:r>
            <a:r>
              <a:rPr lang="en-US" altLang="zh-CN"/>
              <a:t>	</a:t>
            </a:r>
            <a:r>
              <a:rPr lang="zh-CN" altLang="en-US"/>
              <a:t>大数据基础</a:t>
            </a:r>
            <a:endParaRPr lang="zh-CN" altLang="en-US"/>
          </a:p>
        </p:txBody>
      </p:sp>
      <p:sp>
        <p:nvSpPr>
          <p:cNvPr id="6" name="副标题 5"/>
          <p:cNvSpPr>
            <a:spLocks noGrp="1"/>
          </p:cNvSpPr>
          <p:nvPr>
            <p:ph type="subTitle" idx="1"/>
          </p:nvPr>
        </p:nvSpPr>
        <p:spPr/>
        <p:txBody>
          <a:bodyPr/>
          <a:lstStyle/>
          <a:p>
            <a:r>
              <a:rPr lang="zh-CN" altLang="en-US"/>
              <a:t>重点：大数据概念、大数据影响、大数据处理架构</a:t>
            </a:r>
            <a:r>
              <a:rPr lang="en-US" altLang="zh-CN"/>
              <a:t>Hadoop</a:t>
            </a:r>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92175"/>
          </a:xfrm>
        </p:spPr>
        <p:txBody>
          <a:bodyPr/>
          <a:lstStyle/>
          <a:p>
            <a:r>
              <a:rPr lang="zh-CN" altLang="en-US" sz="4800" b="1" dirty="0">
                <a:solidFill>
                  <a:srgbClr val="000000"/>
                </a:solidFill>
                <a:effectLst/>
                <a:latin typeface="宋体" panose="02010600030101010101" pitchFamily="2" charset="-122"/>
                <a:ea typeface="宋体" panose="02010600030101010101" pitchFamily="2" charset="-122"/>
                <a:sym typeface="+mn-ea"/>
              </a:rPr>
              <a:t>第1章	大数据概述</a:t>
            </a:r>
            <a:endParaRPr lang="zh-CN" altLang="en-US" sz="4800" b="1" dirty="0">
              <a:solidFill>
                <a:srgbClr val="000000"/>
              </a:solidFill>
              <a:effectLst/>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pic>
        <p:nvPicPr>
          <p:cNvPr id="5122" name="Picture 5" descr="166458753"/>
          <p:cNvPicPr>
            <a:picLocks noChangeAspect="1"/>
          </p:cNvPicPr>
          <p:nvPr>
            <p:custDataLst>
              <p:tags r:id="rId1"/>
            </p:custDataLst>
          </p:nvPr>
        </p:nvPicPr>
        <p:blipFill>
          <a:blip r:embed="rId2"/>
          <a:stretch>
            <a:fillRect/>
          </a:stretch>
        </p:blipFill>
        <p:spPr>
          <a:xfrm>
            <a:off x="4008755" y="2662555"/>
            <a:ext cx="3429000" cy="2000250"/>
          </a:xfrm>
          <a:prstGeom prst="rect">
            <a:avLst/>
          </a:prstGeom>
          <a:noFill/>
          <a:ln w="9525">
            <a:noFill/>
          </a:ln>
        </p:spPr>
      </p:pic>
      <p:sp>
        <p:nvSpPr>
          <p:cNvPr id="5" name="圆角矩形 4"/>
          <p:cNvSpPr/>
          <p:nvPr/>
        </p:nvSpPr>
        <p:spPr>
          <a:xfrm>
            <a:off x="534670" y="2072005"/>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1.1 </a:t>
            </a:r>
            <a:r>
              <a:rPr lang="zh-CN" altLang="en-US" sz="2800"/>
              <a:t>大数据时代</a:t>
            </a:r>
            <a:endParaRPr lang="zh-CN" altLang="en-US" sz="2800"/>
          </a:p>
        </p:txBody>
      </p:sp>
      <p:sp>
        <p:nvSpPr>
          <p:cNvPr id="6" name="圆角矩形 5"/>
          <p:cNvSpPr/>
          <p:nvPr/>
        </p:nvSpPr>
        <p:spPr>
          <a:xfrm>
            <a:off x="4309745" y="1553210"/>
            <a:ext cx="2787650" cy="590550"/>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1.2 </a:t>
            </a:r>
            <a:r>
              <a:rPr lang="zh-CN" altLang="en-US" sz="2800"/>
              <a:t>概念</a:t>
            </a:r>
            <a:endParaRPr lang="zh-CN" altLang="en-US" sz="2800"/>
          </a:p>
        </p:txBody>
      </p:sp>
      <p:sp>
        <p:nvSpPr>
          <p:cNvPr id="7" name="圆角矩形 6"/>
          <p:cNvSpPr/>
          <p:nvPr/>
        </p:nvSpPr>
        <p:spPr>
          <a:xfrm>
            <a:off x="8047990" y="2072005"/>
            <a:ext cx="2787650" cy="590550"/>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1.3 </a:t>
            </a:r>
            <a:r>
              <a:rPr lang="zh-CN" altLang="en-US" sz="2800" dirty="0"/>
              <a:t>影响</a:t>
            </a:r>
            <a:endParaRPr lang="zh-CN" altLang="en-US" sz="2800" dirty="0"/>
          </a:p>
        </p:txBody>
      </p:sp>
      <p:sp>
        <p:nvSpPr>
          <p:cNvPr id="8" name="圆角矩形 7"/>
          <p:cNvSpPr/>
          <p:nvPr/>
        </p:nvSpPr>
        <p:spPr>
          <a:xfrm>
            <a:off x="8047990" y="3286760"/>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1.4 </a:t>
            </a:r>
            <a:r>
              <a:rPr lang="zh-CN" altLang="en-US" sz="2800"/>
              <a:t>应用</a:t>
            </a:r>
            <a:endParaRPr lang="zh-CN" altLang="en-US" sz="2800"/>
          </a:p>
        </p:txBody>
      </p:sp>
      <p:sp>
        <p:nvSpPr>
          <p:cNvPr id="9" name="圆角矩形 8"/>
          <p:cNvSpPr/>
          <p:nvPr/>
        </p:nvSpPr>
        <p:spPr>
          <a:xfrm>
            <a:off x="8048625" y="4624070"/>
            <a:ext cx="284607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1.5 </a:t>
            </a:r>
            <a:r>
              <a:rPr lang="zh-CN" altLang="en-US" sz="2800"/>
              <a:t>关键技术</a:t>
            </a:r>
            <a:endParaRPr lang="zh-CN" altLang="en-US" sz="2800"/>
          </a:p>
        </p:txBody>
      </p:sp>
      <p:sp>
        <p:nvSpPr>
          <p:cNvPr id="10" name="圆角矩形 9"/>
          <p:cNvSpPr/>
          <p:nvPr/>
        </p:nvSpPr>
        <p:spPr>
          <a:xfrm>
            <a:off x="4186555" y="5634355"/>
            <a:ext cx="2910205"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1.6 </a:t>
            </a:r>
            <a:r>
              <a:rPr lang="zh-CN" altLang="en-US" sz="2800"/>
              <a:t>计算模式</a:t>
            </a:r>
            <a:endParaRPr lang="zh-CN" altLang="en-US" sz="2800"/>
          </a:p>
        </p:txBody>
      </p:sp>
      <p:sp>
        <p:nvSpPr>
          <p:cNvPr id="11" name="圆角矩形 10"/>
          <p:cNvSpPr/>
          <p:nvPr/>
        </p:nvSpPr>
        <p:spPr>
          <a:xfrm>
            <a:off x="534670" y="4624070"/>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1.7 </a:t>
            </a:r>
            <a:r>
              <a:rPr lang="zh-CN" altLang="en-US" sz="2800"/>
              <a:t>产业</a:t>
            </a:r>
            <a:endParaRPr lang="zh-CN" altLang="en-US" sz="2800"/>
          </a:p>
        </p:txBody>
      </p:sp>
      <p:sp>
        <p:nvSpPr>
          <p:cNvPr id="12" name="圆角矩形 11"/>
          <p:cNvSpPr/>
          <p:nvPr/>
        </p:nvSpPr>
        <p:spPr>
          <a:xfrm>
            <a:off x="534670" y="3187065"/>
            <a:ext cx="2788285" cy="7905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1.8 </a:t>
            </a:r>
            <a:r>
              <a:rPr lang="zh-CN" altLang="en-US" sz="2800"/>
              <a:t>与云计算、</a:t>
            </a:r>
            <a:endParaRPr lang="zh-CN" altLang="en-US" sz="2800"/>
          </a:p>
          <a:p>
            <a:pPr algn="ctr"/>
            <a:r>
              <a:rPr lang="zh-CN" altLang="en-US" sz="2800"/>
              <a:t>物联网</a:t>
            </a:r>
            <a:endParaRPr lang="zh-CN" altLang="en-US" sz="2800"/>
          </a:p>
        </p:txBody>
      </p:sp>
    </p:spTree>
  </p:cSld>
  <p:clrMapOvr>
    <a:masterClrMapping/>
  </p:clrMapOvr>
  <p:timing>
    <p:tnLst>
      <p:par>
        <p:cTn id="1" dur="indefinite" restart="never" nodeType="tmRoot"/>
      </p:par>
    </p:tnLst>
    <p:bldLst>
      <p:bldP spid="5" grpId="1" animBg="1"/>
      <p:bldP spid="6" grpId="1" animBg="1"/>
      <p:bldP spid="7" grpId="1" animBg="1"/>
      <p:bldP spid="8" grpId="1" animBg="1"/>
      <p:bldP spid="9" grpId="1" animBg="1"/>
      <p:bldP spid="10" grpId="1" animBg="1"/>
      <p:bldP spid="11" grpId="1" animBg="1"/>
      <p:bldP spid="12"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5" descr="166458753"/>
          <p:cNvPicPr>
            <a:picLocks noChangeAspect="1"/>
          </p:cNvPicPr>
          <p:nvPr/>
        </p:nvPicPr>
        <p:blipFill>
          <a:blip r:embed="rId1"/>
          <a:stretch>
            <a:fillRect/>
          </a:stretch>
        </p:blipFill>
        <p:spPr>
          <a:xfrm>
            <a:off x="8392160" y="2324100"/>
            <a:ext cx="3429000" cy="2000250"/>
          </a:xfrm>
          <a:prstGeom prst="rect">
            <a:avLst/>
          </a:prstGeom>
          <a:noFill/>
          <a:ln w="9525">
            <a:noFill/>
          </a:ln>
        </p:spPr>
      </p:pic>
      <p:sp>
        <p:nvSpPr>
          <p:cNvPr id="5124" name="Rectangle 2"/>
          <p:cNvSpPr>
            <a:spLocks noGrp="1"/>
          </p:cNvSpPr>
          <p:nvPr>
            <p:ph type="title"/>
          </p:nvPr>
        </p:nvSpPr>
        <p:spPr>
          <a:xfrm>
            <a:off x="838200" y="365125"/>
            <a:ext cx="10515600" cy="866775"/>
          </a:xfrm>
        </p:spPr>
        <p:txBody>
          <a:bodyPr vert="horz" wrap="square" lIns="91440" tIns="45720" rIns="91440" bIns="45720" anchor="ctr" anchorCtr="0"/>
          <a:lstStyle/>
          <a:p>
            <a:pPr algn="l">
              <a:buClrTx/>
              <a:buSzTx/>
              <a:buFontTx/>
            </a:pPr>
            <a:r>
              <a:rPr lang="zh-CN" altLang="en-US" sz="4800" b="1" dirty="0">
                <a:solidFill>
                  <a:srgbClr val="000000"/>
                </a:solidFill>
                <a:effectLst/>
                <a:latin typeface="宋体" panose="02010600030101010101" pitchFamily="2" charset="-122"/>
                <a:ea typeface="宋体" panose="02010600030101010101" pitchFamily="2" charset="-122"/>
              </a:rPr>
              <a:t>1.1大数据时代</a:t>
            </a:r>
            <a:endParaRPr lang="zh-CN" altLang="en-US" sz="4800" b="1" dirty="0">
              <a:solidFill>
                <a:srgbClr val="000000"/>
              </a:solidFill>
              <a:effectLst/>
              <a:latin typeface="宋体" panose="02010600030101010101" pitchFamily="2" charset="-122"/>
              <a:ea typeface="宋体" panose="02010600030101010101" pitchFamily="2" charset="-122"/>
            </a:endParaRPr>
          </a:p>
        </p:txBody>
      </p:sp>
      <p:pic>
        <p:nvPicPr>
          <p:cNvPr id="5125" name="Picture 10" descr="2012082010222178120"/>
          <p:cNvPicPr>
            <a:picLocks noChangeAspect="1"/>
          </p:cNvPicPr>
          <p:nvPr/>
        </p:nvPicPr>
        <p:blipFill>
          <a:blip r:embed="rId2"/>
          <a:srcRect l="16199" r="16199"/>
          <a:stretch>
            <a:fillRect/>
          </a:stretch>
        </p:blipFill>
        <p:spPr>
          <a:xfrm>
            <a:off x="343535" y="2022158"/>
            <a:ext cx="1981200" cy="2925762"/>
          </a:xfrm>
          <a:prstGeom prst="rect">
            <a:avLst/>
          </a:prstGeom>
          <a:noFill/>
          <a:ln w="9525">
            <a:noFill/>
          </a:ln>
        </p:spPr>
      </p:pic>
      <p:pic>
        <p:nvPicPr>
          <p:cNvPr id="5126" name="Picture 5" descr="Img369511502"/>
          <p:cNvPicPr>
            <a:picLocks noChangeAspect="1"/>
          </p:cNvPicPr>
          <p:nvPr/>
        </p:nvPicPr>
        <p:blipFill>
          <a:blip r:embed="rId3"/>
          <a:stretch>
            <a:fillRect/>
          </a:stretch>
        </p:blipFill>
        <p:spPr>
          <a:xfrm>
            <a:off x="5214620" y="1981200"/>
            <a:ext cx="2400300" cy="2895600"/>
          </a:xfrm>
          <a:prstGeom prst="rect">
            <a:avLst/>
          </a:prstGeom>
          <a:noFill/>
          <a:ln w="9525">
            <a:noFill/>
          </a:ln>
        </p:spPr>
      </p:pic>
      <p:sp>
        <p:nvSpPr>
          <p:cNvPr id="2" name="文本框 1"/>
          <p:cNvSpPr txBox="1"/>
          <p:nvPr/>
        </p:nvSpPr>
        <p:spPr>
          <a:xfrm>
            <a:off x="838200" y="5126355"/>
            <a:ext cx="956310" cy="521970"/>
          </a:xfrm>
          <a:prstGeom prst="rect">
            <a:avLst/>
          </a:prstGeom>
          <a:noFill/>
        </p:spPr>
        <p:txBody>
          <a:bodyPr wrap="square" rtlCol="0">
            <a:spAutoFit/>
          </a:bodyPr>
          <a:lstStyle/>
          <a:p>
            <a:r>
              <a:rPr lang="en-US" altLang="zh-CN" sz="2800"/>
              <a:t>1.1.1</a:t>
            </a:r>
            <a:endParaRPr lang="en-US" altLang="zh-CN" sz="2800"/>
          </a:p>
        </p:txBody>
      </p:sp>
      <p:sp>
        <p:nvSpPr>
          <p:cNvPr id="3" name="文本框 2"/>
          <p:cNvSpPr txBox="1"/>
          <p:nvPr/>
        </p:nvSpPr>
        <p:spPr>
          <a:xfrm>
            <a:off x="2393950" y="2632075"/>
            <a:ext cx="955040" cy="1383665"/>
          </a:xfrm>
          <a:prstGeom prst="rect">
            <a:avLst/>
          </a:prstGeom>
          <a:noFill/>
        </p:spPr>
        <p:txBody>
          <a:bodyPr wrap="square" rtlCol="0">
            <a:spAutoFit/>
          </a:bodyPr>
          <a:lstStyle/>
          <a:p>
            <a:r>
              <a:rPr lang="en-US" altLang="zh-CN" sz="2800"/>
              <a:t>1.1.2</a:t>
            </a:r>
            <a:endParaRPr lang="en-US" altLang="zh-CN" sz="2800"/>
          </a:p>
          <a:p>
            <a:r>
              <a:rPr lang="zh-CN" altLang="en-US" sz="2800"/>
              <a:t>信息科技</a:t>
            </a:r>
            <a:endParaRPr lang="zh-CN" altLang="en-US" sz="2800"/>
          </a:p>
        </p:txBody>
      </p:sp>
      <p:sp>
        <p:nvSpPr>
          <p:cNvPr id="4" name="右箭头 3"/>
          <p:cNvSpPr/>
          <p:nvPr/>
        </p:nvSpPr>
        <p:spPr>
          <a:xfrm>
            <a:off x="3348990" y="3037840"/>
            <a:ext cx="1835150" cy="72834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a:t>技术支撑</a:t>
            </a:r>
            <a:endParaRPr lang="zh-CN" altLang="en-US" sz="2800"/>
          </a:p>
        </p:txBody>
      </p:sp>
      <p:sp>
        <p:nvSpPr>
          <p:cNvPr id="6" name="文本框 5"/>
          <p:cNvSpPr txBox="1"/>
          <p:nvPr/>
        </p:nvSpPr>
        <p:spPr>
          <a:xfrm>
            <a:off x="4424680" y="6304915"/>
            <a:ext cx="3463290" cy="521970"/>
          </a:xfrm>
          <a:prstGeom prst="rect">
            <a:avLst/>
          </a:prstGeom>
          <a:noFill/>
        </p:spPr>
        <p:txBody>
          <a:bodyPr wrap="square" rtlCol="0">
            <a:spAutoFit/>
          </a:bodyPr>
          <a:lstStyle/>
          <a:p>
            <a:r>
              <a:rPr lang="en-US" altLang="zh-CN" sz="2800"/>
              <a:t>1.1.3 </a:t>
            </a:r>
            <a:r>
              <a:rPr lang="zh-CN" altLang="en-US" sz="2800"/>
              <a:t>数据产生方式</a:t>
            </a:r>
            <a:endParaRPr lang="zh-CN" altLang="en-US" sz="2800"/>
          </a:p>
        </p:txBody>
      </p:sp>
      <p:sp>
        <p:nvSpPr>
          <p:cNvPr id="8" name="上箭头 7"/>
          <p:cNvSpPr/>
          <p:nvPr/>
        </p:nvSpPr>
        <p:spPr>
          <a:xfrm>
            <a:off x="6028690" y="4575810"/>
            <a:ext cx="772160" cy="1729105"/>
          </a:xfrm>
          <a:prstGeom prst="up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ym typeface="+mn-ea"/>
              </a:rPr>
              <a:t>至要因素</a:t>
            </a:r>
            <a:endParaRPr lang="zh-CN" altLang="en-US" sz="2800">
              <a:sym typeface="+mn-ea"/>
            </a:endParaRPr>
          </a:p>
        </p:txBody>
      </p:sp>
      <p:sp>
        <p:nvSpPr>
          <p:cNvPr id="9" name="文本框 8"/>
          <p:cNvSpPr txBox="1"/>
          <p:nvPr/>
        </p:nvSpPr>
        <p:spPr>
          <a:xfrm>
            <a:off x="8392160" y="4876800"/>
            <a:ext cx="3584575" cy="521970"/>
          </a:xfrm>
          <a:prstGeom prst="rect">
            <a:avLst/>
          </a:prstGeom>
          <a:noFill/>
        </p:spPr>
        <p:txBody>
          <a:bodyPr wrap="square" rtlCol="0">
            <a:spAutoFit/>
          </a:bodyPr>
          <a:lstStyle/>
          <a:p>
            <a:r>
              <a:rPr lang="en-US" altLang="zh-CN" sz="2800"/>
              <a:t>1.1.4 </a:t>
            </a:r>
            <a:r>
              <a:rPr lang="zh-CN" altLang="en-US" sz="2800"/>
              <a:t>大数据发展历程</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wipe(left)">
                                      <p:cBhvr>
                                        <p:cTn id="7" dur="500"/>
                                        <p:tgtEl>
                                          <p:spTgt spid="512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5126"/>
                                        </p:tgtEl>
                                        <p:attrNameLst>
                                          <p:attrName>style.visibility</p:attrName>
                                        </p:attrNameLst>
                                      </p:cBhvr>
                                      <p:to>
                                        <p:strVal val="visible"/>
                                      </p:to>
                                    </p:set>
                                    <p:animEffect transition="in" filter="wipe(left)">
                                      <p:cBhvr>
                                        <p:cTn id="14" dur="500"/>
                                        <p:tgtEl>
                                          <p:spTgt spid="512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22"/>
                                        </p:tgtEl>
                                        <p:attrNameLst>
                                          <p:attrName>style.visibility</p:attrName>
                                        </p:attrNameLst>
                                      </p:cBhvr>
                                      <p:to>
                                        <p:strVal val="visible"/>
                                      </p:to>
                                    </p:set>
                                    <p:animEffect transition="in" filter="wipe(left)">
                                      <p:cBhvr>
                                        <p:cTn id="39" dur="500"/>
                                        <p:tgtEl>
                                          <p:spTgt spid="512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animBg="1"/>
      <p:bldP spid="4" grpId="1" animBg="1"/>
      <p:bldP spid="6" grpId="0"/>
      <p:bldP spid="6" grpId="1"/>
      <p:bldP spid="8" grpId="0" animBg="1"/>
      <p:bldP spid="8" grpId="1" animBg="1"/>
      <p:bldP spid="9" grpId="0"/>
      <p:bldP spid="9"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p:cNvSpPr>
          <p:nvPr>
            <p:ph type="body" idx="4294967295"/>
          </p:nvPr>
        </p:nvSpPr>
        <p:spPr>
          <a:xfrm>
            <a:off x="986155" y="1295400"/>
            <a:ext cx="9879965" cy="1021715"/>
          </a:xfrm>
        </p:spPr>
        <p:txBody>
          <a:bodyPr vert="horz" wrap="square" lIns="91440" tIns="45720" rIns="91440" bIns="45720" anchor="t" anchorCtr="0">
            <a:noAutofit/>
          </a:bodyPr>
          <a:lstStyle/>
          <a:p>
            <a:pPr marL="0" indent="0">
              <a:buNone/>
            </a:pPr>
            <a:r>
              <a:rPr lang="en-US" altLang="zh-CN" dirty="0"/>
              <a:t>IT</a:t>
            </a:r>
            <a:r>
              <a:rPr lang="zh-CN" altLang="en-US" dirty="0"/>
              <a:t>领域每隔</a:t>
            </a:r>
            <a:r>
              <a:rPr lang="zh-CN" altLang="en-US" dirty="0">
                <a:highlight>
                  <a:srgbClr val="FFFF00"/>
                </a:highlight>
              </a:rPr>
              <a:t>十五年</a:t>
            </a:r>
            <a:r>
              <a:rPr lang="zh-CN" altLang="en-US" dirty="0"/>
              <a:t>就会迎来一次重大变革。</a:t>
            </a:r>
            <a:endParaRPr lang="zh-CN" altLang="en-US" dirty="0"/>
          </a:p>
          <a:p>
            <a:pPr marL="0" indent="0">
              <a:buNone/>
            </a:pPr>
            <a:r>
              <a:rPr lang="en-US" altLang="zh-CN" dirty="0"/>
              <a:t>                                                         --</a:t>
            </a:r>
            <a:r>
              <a:rPr lang="en-US" altLang="zh-CN" dirty="0">
                <a:sym typeface="+mn-ea"/>
              </a:rPr>
              <a:t>IBM</a:t>
            </a:r>
            <a:r>
              <a:rPr lang="zh-CN" altLang="en-US" dirty="0">
                <a:sym typeface="+mn-ea"/>
              </a:rPr>
              <a:t>前首席执行官郭士纳</a:t>
            </a:r>
            <a:endParaRPr lang="zh-CN" altLang="en-US" dirty="0">
              <a:sym typeface="+mn-ea"/>
            </a:endParaRPr>
          </a:p>
        </p:txBody>
      </p:sp>
      <p:graphicFrame>
        <p:nvGraphicFramePr>
          <p:cNvPr id="6149" name="Group 5"/>
          <p:cNvGraphicFramePr>
            <a:graphicFrameLocks noGrp="1"/>
          </p:cNvGraphicFramePr>
          <p:nvPr>
            <p:custDataLst>
              <p:tags r:id="rId1"/>
            </p:custDataLst>
          </p:nvPr>
        </p:nvGraphicFramePr>
        <p:xfrm>
          <a:off x="986790" y="2472690"/>
          <a:ext cx="9879330" cy="4191762"/>
        </p:xfrm>
        <a:graphic>
          <a:graphicData uri="http://schemas.openxmlformats.org/drawingml/2006/table">
            <a:tbl>
              <a:tblPr/>
              <a:tblGrid>
                <a:gridCol w="1339215"/>
                <a:gridCol w="1115060"/>
                <a:gridCol w="2014855"/>
                <a:gridCol w="1428750"/>
                <a:gridCol w="3981450"/>
              </a:tblGrid>
              <a:tr h="107442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信息化</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浪潮</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发生</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时间</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标志</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解决</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问题</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代表企业</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r h="94551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第一次</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1980</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前后</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个人计算机</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信息处理</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Intel、AMD、IBM、苹果、微软、联想、戴尔、惠普等</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r h="90995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第二次</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1995</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前后</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互联网</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信息传输</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雅虎、谷歌、</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阿里巴巴、百度、腾讯等</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r>
              <a:tr h="98615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第三次</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2010</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前后</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400">
                          <a:ln>
                            <a:noFill/>
                          </a:ln>
                          <a:solidFill>
                            <a:srgbClr val="000000"/>
                          </a:solidFill>
                          <a:effectLst/>
                          <a:latin typeface="Calibri" panose="020F0502020204030204" pitchFamily="34" charset="0"/>
                          <a:ea typeface="宋体" panose="02010600030101010101" pitchFamily="2" charset="-122"/>
                          <a:sym typeface="+mn-ea"/>
                        </a:rPr>
                        <a:t>大数据、云计算、</a:t>
                      </a: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物联网</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信息爆炸</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亚马逊、</a:t>
                      </a:r>
                      <a:r>
                        <a:rPr lang="en-US" altLang="zh-CN" sz="2400">
                          <a:ln>
                            <a:noFill/>
                          </a:ln>
                          <a:solidFill>
                            <a:srgbClr val="000000"/>
                          </a:solidFill>
                          <a:effectLst/>
                          <a:latin typeface="Calibri" panose="020F0502020204030204" pitchFamily="34" charset="0"/>
                          <a:ea typeface="宋体" panose="02010600030101010101" pitchFamily="2" charset="-122"/>
                          <a:sym typeface="+mn-ea"/>
                        </a:rPr>
                        <a:t>VMware</a:t>
                      </a:r>
                      <a:r>
                        <a:rPr lang="zh-CN" altLang="en-US" sz="2400">
                          <a:ln>
                            <a:noFill/>
                          </a:ln>
                          <a:solidFill>
                            <a:srgbClr val="000000"/>
                          </a:solidFill>
                          <a:effectLst/>
                          <a:latin typeface="Calibri" panose="020F0502020204030204" pitchFamily="34" charset="0"/>
                          <a:ea typeface="宋体" panose="02010600030101010101" pitchFamily="2" charset="-122"/>
                          <a:sym typeface="+mn-ea"/>
                        </a:rPr>
                        <a:t>、</a:t>
                      </a:r>
                      <a:r>
                        <a:rPr lang="en-US" altLang="zh-CN" sz="2400">
                          <a:ln>
                            <a:noFill/>
                          </a:ln>
                          <a:solidFill>
                            <a:srgbClr val="000000"/>
                          </a:solidFill>
                          <a:effectLst/>
                          <a:latin typeface="Calibri" panose="020F0502020204030204" pitchFamily="34" charset="0"/>
                          <a:ea typeface="宋体" panose="02010600030101010101" pitchFamily="2" charset="-122"/>
                          <a:sym typeface="+mn-ea"/>
                        </a:rPr>
                        <a:t>...</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rPr>
                        <a:t>阿里云、美团、今日头条、滴滴等</a:t>
                      </a:r>
                      <a:endParaRPr kumimoji="0" lang="zh-CN" altLang="en-US" sz="24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r>
            </a:tbl>
          </a:graphicData>
        </a:graphic>
      </p:graphicFrame>
      <p:sp>
        <p:nvSpPr>
          <p:cNvPr id="5124" name="Rectangle 2"/>
          <p:cNvSpPr>
            <a:spLocks noGrp="1"/>
          </p:cNvSpPr>
          <p:nvPr/>
        </p:nvSpPr>
        <p:spPr>
          <a:xfrm>
            <a:off x="838200" y="365125"/>
            <a:ext cx="10515600" cy="866775"/>
          </a:xfrm>
          <a:prstGeom prst="rect">
            <a:avLst/>
          </a:prstGeom>
        </p:spPr>
        <p:txBody>
          <a:bodyPr vert="horz" wrap="square"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pPr>
            <a:r>
              <a:rPr lang="zh-CN" altLang="en-US" sz="4800" b="1" dirty="0">
                <a:solidFill>
                  <a:srgbClr val="000000"/>
                </a:solidFill>
                <a:effectLst/>
                <a:latin typeface="宋体" panose="02010600030101010101" pitchFamily="2" charset="-122"/>
                <a:ea typeface="宋体" panose="02010600030101010101" pitchFamily="2" charset="-122"/>
              </a:rPr>
              <a:t>1.1.1第三次信息化浪潮</a:t>
            </a:r>
            <a:endParaRPr lang="zh-CN" altLang="en-US" sz="4800" b="1" dirty="0">
              <a:solidFill>
                <a:srgbClr val="000000"/>
              </a:solidFill>
              <a:effectLst/>
              <a:latin typeface="宋体" panose="02010600030101010101" pitchFamily="2" charset="-122"/>
              <a:ea typeface="宋体" panose="02010600030101010101" pitchFamily="2" charset="-122"/>
            </a:endParaRPr>
          </a:p>
        </p:txBody>
      </p:sp>
      <p:cxnSp>
        <p:nvCxnSpPr>
          <p:cNvPr id="2" name="直接箭头连接符 1"/>
          <p:cNvCxnSpPr/>
          <p:nvPr/>
        </p:nvCxnSpPr>
        <p:spPr>
          <a:xfrm flipV="1">
            <a:off x="2898140" y="1757680"/>
            <a:ext cx="370205" cy="925830"/>
          </a:xfrm>
          <a:prstGeom prst="straightConnector1">
            <a:avLst/>
          </a:prstGeom>
          <a:ln w="5715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47">
                                            <p:txEl>
                                              <p:pRg st="0" end="0"/>
                                            </p:txEl>
                                          </p:spTgt>
                                        </p:tgtEl>
                                        <p:attrNameLst>
                                          <p:attrName>style.visibility</p:attrName>
                                        </p:attrNameLst>
                                      </p:cBhvr>
                                      <p:to>
                                        <p:strVal val="visible"/>
                                      </p:to>
                                    </p:set>
                                    <p:animEffect transition="in" filter="wipe(left)">
                                      <p:cBhvr>
                                        <p:cTn id="11" dur="500"/>
                                        <p:tgtEl>
                                          <p:spTgt spid="614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47">
                                            <p:txEl>
                                              <p:pRg st="1" end="1"/>
                                            </p:txEl>
                                          </p:spTgt>
                                        </p:tgtEl>
                                        <p:attrNameLst>
                                          <p:attrName>style.visibility</p:attrName>
                                        </p:attrNameLst>
                                      </p:cBhvr>
                                      <p:to>
                                        <p:strVal val="visible"/>
                                      </p:to>
                                    </p:set>
                                    <p:animEffect transition="in" filter="wipe(left)">
                                      <p:cBhvr>
                                        <p:cTn id="15" dur="500"/>
                                        <p:tgtEl>
                                          <p:spTgt spid="6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7"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5445" y="2365375"/>
            <a:ext cx="1725930" cy="94043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124" name="Rectangle 2"/>
          <p:cNvSpPr>
            <a:spLocks noGrp="1"/>
          </p:cNvSpPr>
          <p:nvPr/>
        </p:nvSpPr>
        <p:spPr>
          <a:xfrm>
            <a:off x="838200" y="365125"/>
            <a:ext cx="10515600" cy="866775"/>
          </a:xfrm>
          <a:prstGeom prst="rect">
            <a:avLst/>
          </a:prstGeom>
        </p:spPr>
        <p:txBody>
          <a:bodyPr vert="horz" wrap="square"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pPr>
            <a:r>
              <a:rPr lang="zh-CN" altLang="en-US" sz="4800" b="1" dirty="0">
                <a:solidFill>
                  <a:srgbClr val="000000"/>
                </a:solidFill>
                <a:effectLst/>
                <a:latin typeface="宋体" panose="02010600030101010101" pitchFamily="2" charset="-122"/>
                <a:ea typeface="宋体" panose="02010600030101010101" pitchFamily="2" charset="-122"/>
              </a:rPr>
              <a:t>1.1.2</a:t>
            </a:r>
            <a:r>
              <a:rPr lang="zh-CN" altLang="en-US" sz="4800" b="1" dirty="0">
                <a:solidFill>
                  <a:srgbClr val="000000"/>
                </a:solidFill>
                <a:effectLst/>
                <a:latin typeface="宋体" panose="02010600030101010101" pitchFamily="2" charset="-122"/>
                <a:ea typeface="宋体" panose="02010600030101010101" pitchFamily="2" charset="-122"/>
                <a:sym typeface="+mn-ea"/>
              </a:rPr>
              <a:t>技术支撑：</a:t>
            </a:r>
            <a:r>
              <a:rPr lang="zh-CN" altLang="en-US" sz="4800" b="1" dirty="0">
                <a:solidFill>
                  <a:srgbClr val="000000"/>
                </a:solidFill>
                <a:effectLst/>
                <a:latin typeface="宋体" panose="02010600030101010101" pitchFamily="2" charset="-122"/>
                <a:ea typeface="宋体" panose="02010600030101010101" pitchFamily="2" charset="-122"/>
              </a:rPr>
              <a:t>信息科技</a:t>
            </a:r>
            <a:endParaRPr lang="zh-CN" altLang="en-US" sz="4800" b="1" dirty="0">
              <a:solidFill>
                <a:srgbClr val="000000"/>
              </a:solidFill>
              <a:effectLst/>
              <a:latin typeface="宋体" panose="02010600030101010101" pitchFamily="2" charset="-122"/>
              <a:ea typeface="宋体" panose="02010600030101010101" pitchFamily="2" charset="-122"/>
            </a:endParaRPr>
          </a:p>
        </p:txBody>
      </p:sp>
      <p:graphicFrame>
        <p:nvGraphicFramePr>
          <p:cNvPr id="3" name="Group 5"/>
          <p:cNvGraphicFramePr>
            <a:graphicFrameLocks noGrp="1"/>
          </p:cNvGraphicFramePr>
          <p:nvPr>
            <p:custDataLst>
              <p:tags r:id="rId1"/>
            </p:custDataLst>
          </p:nvPr>
        </p:nvGraphicFramePr>
        <p:xfrm>
          <a:off x="378460" y="2364740"/>
          <a:ext cx="1732915" cy="2841625"/>
        </p:xfrm>
        <a:graphic>
          <a:graphicData uri="http://schemas.openxmlformats.org/drawingml/2006/table">
            <a:tbl>
              <a:tblPr/>
              <a:tblGrid>
                <a:gridCol w="1732915"/>
              </a:tblGrid>
              <a:tr h="94551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信息存储</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90995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信息处理</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98615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信息传输</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pic>
        <p:nvPicPr>
          <p:cNvPr id="7" name="图片 6"/>
          <p:cNvPicPr>
            <a:picLocks noChangeAspect="1"/>
          </p:cNvPicPr>
          <p:nvPr/>
        </p:nvPicPr>
        <p:blipFill>
          <a:blip r:embed="rId2"/>
          <a:stretch>
            <a:fillRect/>
          </a:stretch>
        </p:blipFill>
        <p:spPr>
          <a:xfrm>
            <a:off x="6614160" y="2006600"/>
            <a:ext cx="5194300" cy="3854450"/>
          </a:xfrm>
          <a:prstGeom prst="rect">
            <a:avLst/>
          </a:prstGeom>
        </p:spPr>
      </p:pic>
      <p:sp>
        <p:nvSpPr>
          <p:cNvPr id="8" name="文本框 7"/>
          <p:cNvSpPr txBox="1"/>
          <p:nvPr/>
        </p:nvSpPr>
        <p:spPr>
          <a:xfrm>
            <a:off x="2968625" y="1478280"/>
            <a:ext cx="3645535" cy="1814830"/>
          </a:xfrm>
          <a:prstGeom prst="rect">
            <a:avLst/>
          </a:prstGeom>
          <a:noFill/>
        </p:spPr>
        <p:txBody>
          <a:bodyPr wrap="square" rtlCol="0" anchor="t">
            <a:spAutoFit/>
          </a:bodyPr>
          <a:lstStyle/>
          <a:p>
            <a:r>
              <a:rPr lang="zh-CN" altLang="en-US" sz="2800" dirty="0">
                <a:latin typeface="Arial" panose="020B0604020202020204" pitchFamily="34" charset="0"/>
                <a:sym typeface="+mn-ea"/>
              </a:rPr>
              <a:t>存储设备：</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容量不断增加</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读写速度不断提升</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价格不断下降</a:t>
            </a:r>
            <a:endParaRPr lang="zh-CN" altLang="en-US" sz="2800" dirty="0">
              <a:latin typeface="Arial" panose="020B0604020202020204" pitchFamily="34" charset="0"/>
              <a:sym typeface="+mn-ea"/>
            </a:endParaRPr>
          </a:p>
        </p:txBody>
      </p:sp>
      <p:pic>
        <p:nvPicPr>
          <p:cNvPr id="9" name="图片 8"/>
          <p:cNvPicPr>
            <a:picLocks noChangeAspect="1"/>
          </p:cNvPicPr>
          <p:nvPr/>
        </p:nvPicPr>
        <p:blipFill>
          <a:blip r:embed="rId3"/>
          <a:stretch>
            <a:fillRect/>
          </a:stretch>
        </p:blipFill>
        <p:spPr>
          <a:xfrm>
            <a:off x="3568065" y="3538855"/>
            <a:ext cx="1833880" cy="2146935"/>
          </a:xfrm>
          <a:prstGeom prst="rect">
            <a:avLst/>
          </a:prstGeom>
        </p:spPr>
      </p:pic>
      <p:sp>
        <p:nvSpPr>
          <p:cNvPr id="10" name="文本框 9"/>
          <p:cNvSpPr txBox="1"/>
          <p:nvPr/>
        </p:nvSpPr>
        <p:spPr>
          <a:xfrm>
            <a:off x="3200400" y="5799455"/>
            <a:ext cx="3181985" cy="922020"/>
          </a:xfrm>
          <a:prstGeom prst="rect">
            <a:avLst/>
          </a:prstGeom>
          <a:noFill/>
        </p:spPr>
        <p:txBody>
          <a:bodyPr wrap="square" rtlCol="0">
            <a:spAutoFit/>
          </a:bodyPr>
          <a:lstStyle/>
          <a:p>
            <a:r>
              <a:rPr lang="en-US" altLang="zh-CN"/>
              <a:t>1956-9-13   IBM-Model-350</a:t>
            </a:r>
            <a:endParaRPr lang="en-US" altLang="zh-CN"/>
          </a:p>
          <a:p>
            <a:r>
              <a:rPr lang="zh-CN" altLang="en-US"/>
              <a:t>世界第一款硬盘</a:t>
            </a:r>
            <a:endParaRPr lang="zh-CN" altLang="en-US"/>
          </a:p>
          <a:p>
            <a:r>
              <a:rPr lang="zh-CN" altLang="en-US"/>
              <a:t>容量</a:t>
            </a:r>
            <a:r>
              <a:rPr lang="en-US" altLang="zh-CN"/>
              <a:t>5MB</a:t>
            </a:r>
            <a:r>
              <a:rPr lang="zh-CN" altLang="en-US"/>
              <a:t>，大小如冰箱</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8" grpId="0"/>
      <p:bldP spid="8" grpId="1"/>
      <p:bldP spid="10" grpId="0"/>
      <p:bldP spid="10"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85445" y="3315335"/>
            <a:ext cx="1725930" cy="9220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124" name="Rectangle 2"/>
          <p:cNvSpPr>
            <a:spLocks noGrp="1"/>
          </p:cNvSpPr>
          <p:nvPr/>
        </p:nvSpPr>
        <p:spPr>
          <a:xfrm>
            <a:off x="838200" y="365125"/>
            <a:ext cx="10515600" cy="866775"/>
          </a:xfrm>
          <a:prstGeom prst="rect">
            <a:avLst/>
          </a:prstGeom>
        </p:spPr>
        <p:txBody>
          <a:bodyPr vert="horz" wrap="square"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pPr>
            <a:r>
              <a:rPr lang="zh-CN" altLang="en-US" sz="4800" b="1" dirty="0">
                <a:solidFill>
                  <a:srgbClr val="000000"/>
                </a:solidFill>
                <a:effectLst/>
                <a:latin typeface="宋体" panose="02010600030101010101" pitchFamily="2" charset="-122"/>
                <a:ea typeface="宋体" panose="02010600030101010101" pitchFamily="2" charset="-122"/>
              </a:rPr>
              <a:t>1.1.2</a:t>
            </a:r>
            <a:r>
              <a:rPr lang="zh-CN" altLang="en-US" sz="4800" b="1" dirty="0">
                <a:solidFill>
                  <a:srgbClr val="000000"/>
                </a:solidFill>
                <a:effectLst/>
                <a:latin typeface="宋体" panose="02010600030101010101" pitchFamily="2" charset="-122"/>
                <a:ea typeface="宋体" panose="02010600030101010101" pitchFamily="2" charset="-122"/>
                <a:sym typeface="+mn-ea"/>
              </a:rPr>
              <a:t>技术支撑：</a:t>
            </a:r>
            <a:r>
              <a:rPr lang="zh-CN" altLang="en-US" sz="4800" b="1" dirty="0">
                <a:solidFill>
                  <a:srgbClr val="000000"/>
                </a:solidFill>
                <a:effectLst/>
                <a:latin typeface="宋体" panose="02010600030101010101" pitchFamily="2" charset="-122"/>
                <a:ea typeface="宋体" panose="02010600030101010101" pitchFamily="2" charset="-122"/>
              </a:rPr>
              <a:t>信息科技</a:t>
            </a:r>
            <a:endParaRPr lang="zh-CN" altLang="en-US" sz="4800" b="1" dirty="0">
              <a:solidFill>
                <a:srgbClr val="000000"/>
              </a:solidFill>
              <a:effectLst/>
              <a:latin typeface="宋体" panose="02010600030101010101" pitchFamily="2" charset="-122"/>
              <a:ea typeface="宋体" panose="02010600030101010101" pitchFamily="2" charset="-122"/>
            </a:endParaRPr>
          </a:p>
        </p:txBody>
      </p:sp>
      <p:graphicFrame>
        <p:nvGraphicFramePr>
          <p:cNvPr id="3" name="Group 5"/>
          <p:cNvGraphicFramePr>
            <a:graphicFrameLocks noGrp="1"/>
          </p:cNvGraphicFramePr>
          <p:nvPr>
            <p:custDataLst>
              <p:tags r:id="rId1"/>
            </p:custDataLst>
          </p:nvPr>
        </p:nvGraphicFramePr>
        <p:xfrm>
          <a:off x="378460" y="2364740"/>
          <a:ext cx="1732915" cy="2841625"/>
        </p:xfrm>
        <a:graphic>
          <a:graphicData uri="http://schemas.openxmlformats.org/drawingml/2006/table">
            <a:tbl>
              <a:tblPr/>
              <a:tblGrid>
                <a:gridCol w="1732915"/>
              </a:tblGrid>
              <a:tr h="94551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信息存储</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90995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信息处理</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98615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信息传输</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8" name="文本框 7"/>
          <p:cNvSpPr txBox="1"/>
          <p:nvPr/>
        </p:nvSpPr>
        <p:spPr>
          <a:xfrm>
            <a:off x="2968625" y="1478280"/>
            <a:ext cx="3909695" cy="1814830"/>
          </a:xfrm>
          <a:prstGeom prst="rect">
            <a:avLst/>
          </a:prstGeom>
          <a:noFill/>
        </p:spPr>
        <p:txBody>
          <a:bodyPr wrap="square" rtlCol="0" anchor="t">
            <a:spAutoFit/>
          </a:bodyPr>
          <a:lstStyle/>
          <a:p>
            <a:r>
              <a:rPr lang="en-US" altLang="zh-CN" sz="2800" dirty="0">
                <a:latin typeface="Arial" panose="020B0604020202020204" pitchFamily="34" charset="0"/>
                <a:sym typeface="+mn-ea"/>
              </a:rPr>
              <a:t>CPU</a:t>
            </a:r>
            <a:r>
              <a:rPr lang="zh-CN" altLang="en-US" sz="2800" dirty="0">
                <a:latin typeface="Arial" panose="020B0604020202020204" pitchFamily="34" charset="0"/>
                <a:sym typeface="+mn-ea"/>
              </a:rPr>
              <a:t>处理器：</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晶体管数量不断增加</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运行频率不断提高</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价格不断下降</a:t>
            </a:r>
            <a:endParaRPr lang="zh-CN" altLang="en-US" sz="2800" dirty="0">
              <a:latin typeface="Arial" panose="020B0604020202020204" pitchFamily="34" charset="0"/>
              <a:sym typeface="+mn-ea"/>
            </a:endParaRPr>
          </a:p>
        </p:txBody>
      </p:sp>
      <p:pic>
        <p:nvPicPr>
          <p:cNvPr id="4" name="图片 3"/>
          <p:cNvPicPr>
            <a:picLocks noChangeAspect="1"/>
          </p:cNvPicPr>
          <p:nvPr/>
        </p:nvPicPr>
        <p:blipFill>
          <a:blip r:embed="rId2"/>
          <a:stretch>
            <a:fillRect/>
          </a:stretch>
        </p:blipFill>
        <p:spPr>
          <a:xfrm>
            <a:off x="2620010" y="3315335"/>
            <a:ext cx="4480560" cy="3487420"/>
          </a:xfrm>
          <a:prstGeom prst="rect">
            <a:avLst/>
          </a:prstGeom>
        </p:spPr>
      </p:pic>
      <p:sp>
        <p:nvSpPr>
          <p:cNvPr id="12" name="文本框 11"/>
          <p:cNvSpPr txBox="1"/>
          <p:nvPr/>
        </p:nvSpPr>
        <p:spPr>
          <a:xfrm>
            <a:off x="3591560" y="3429000"/>
            <a:ext cx="1299210" cy="1198880"/>
          </a:xfrm>
          <a:prstGeom prst="rect">
            <a:avLst/>
          </a:prstGeom>
          <a:noFill/>
        </p:spPr>
        <p:txBody>
          <a:bodyPr wrap="square" rtlCol="0">
            <a:spAutoFit/>
          </a:bodyPr>
          <a:lstStyle/>
          <a:p>
            <a:r>
              <a:rPr lang="zh-CN"/>
              <a:t>摩尔定律：</a:t>
            </a:r>
            <a:endParaRPr lang="zh-CN"/>
          </a:p>
          <a:p>
            <a:r>
              <a:rPr lang="zh-CN" altLang="en-US"/>
              <a:t>每</a:t>
            </a:r>
            <a:r>
              <a:rPr lang="en-US" altLang="zh-CN"/>
              <a:t>18</a:t>
            </a:r>
            <a:r>
              <a:rPr lang="zh-CN" altLang="en-US"/>
              <a:t>个月，</a:t>
            </a:r>
            <a:endParaRPr lang="zh-CN" altLang="en-US"/>
          </a:p>
          <a:p>
            <a:r>
              <a:rPr lang="zh-CN" altLang="en-US"/>
              <a:t>性能加倍，</a:t>
            </a:r>
            <a:endParaRPr lang="zh-CN" altLang="en-US"/>
          </a:p>
          <a:p>
            <a:r>
              <a:rPr lang="zh-CN" altLang="en-US"/>
              <a:t>价格减半。</a:t>
            </a:r>
            <a:endParaRPr lang="zh-CN" altLang="en-US"/>
          </a:p>
        </p:txBody>
      </p:sp>
      <p:pic>
        <p:nvPicPr>
          <p:cNvPr id="103" name="图片 102"/>
          <p:cNvPicPr/>
          <p:nvPr/>
        </p:nvPicPr>
        <p:blipFill>
          <a:blip r:embed="rId3"/>
          <a:stretch>
            <a:fillRect/>
          </a:stretch>
        </p:blipFill>
        <p:spPr>
          <a:xfrm>
            <a:off x="7735570" y="1069340"/>
            <a:ext cx="3858260" cy="1894205"/>
          </a:xfrm>
          <a:prstGeom prst="rect">
            <a:avLst/>
          </a:prstGeom>
          <a:noFill/>
          <a:ln w="9525">
            <a:noFill/>
          </a:ln>
        </p:spPr>
      </p:pic>
      <p:sp>
        <p:nvSpPr>
          <p:cNvPr id="13" name="文本框 12"/>
          <p:cNvSpPr txBox="1"/>
          <p:nvPr/>
        </p:nvSpPr>
        <p:spPr>
          <a:xfrm>
            <a:off x="7782560" y="3006725"/>
            <a:ext cx="3454400" cy="368300"/>
          </a:xfrm>
          <a:prstGeom prst="rect">
            <a:avLst/>
          </a:prstGeom>
          <a:noFill/>
        </p:spPr>
        <p:txBody>
          <a:bodyPr wrap="square" rtlCol="0" anchor="t">
            <a:spAutoFit/>
          </a:bodyPr>
          <a:lstStyle/>
          <a:p>
            <a:r>
              <a:rPr lang="en-US" altLang="zh-CN" dirty="0"/>
              <a:t>Intel: </a:t>
            </a:r>
            <a:r>
              <a:rPr lang="zh-CN" altLang="en-US" dirty="0"/>
              <a:t>奔腾、赛扬、志强、酷睿</a:t>
            </a:r>
            <a:endParaRPr lang="zh-CN" altLang="en-US" dirty="0"/>
          </a:p>
        </p:txBody>
      </p:sp>
      <p:sp>
        <p:nvSpPr>
          <p:cNvPr id="14" name="文本框 13"/>
          <p:cNvSpPr txBox="1"/>
          <p:nvPr/>
        </p:nvSpPr>
        <p:spPr>
          <a:xfrm>
            <a:off x="7706360" y="3325495"/>
            <a:ext cx="4081780" cy="368300"/>
          </a:xfrm>
          <a:prstGeom prst="rect">
            <a:avLst/>
          </a:prstGeom>
          <a:noFill/>
        </p:spPr>
        <p:txBody>
          <a:bodyPr wrap="square" rtlCol="0" anchor="t">
            <a:spAutoFit/>
          </a:bodyPr>
          <a:lstStyle/>
          <a:p>
            <a:r>
              <a:rPr lang="en-US" altLang="zh-CN"/>
              <a:t>AMD: </a:t>
            </a:r>
            <a:r>
              <a:rPr lang="zh-CN" altLang="en-US"/>
              <a:t>速龙、羿龙、皓龙、锐龙、霄龙</a:t>
            </a:r>
            <a:endParaRPr lang="zh-CN" altLang="en-US"/>
          </a:p>
        </p:txBody>
      </p:sp>
      <p:pic>
        <p:nvPicPr>
          <p:cNvPr id="104" name="图片 103"/>
          <p:cNvPicPr/>
          <p:nvPr/>
        </p:nvPicPr>
        <p:blipFill>
          <a:blip r:embed="rId4"/>
          <a:stretch>
            <a:fillRect/>
          </a:stretch>
        </p:blipFill>
        <p:spPr>
          <a:xfrm>
            <a:off x="7745095" y="3693795"/>
            <a:ext cx="3858260" cy="2049780"/>
          </a:xfrm>
          <a:prstGeom prst="rect">
            <a:avLst/>
          </a:prstGeom>
          <a:noFill/>
          <a:ln w="9525">
            <a:noFill/>
          </a:ln>
        </p:spPr>
      </p:pic>
      <p:sp>
        <p:nvSpPr>
          <p:cNvPr id="15" name="文本框 14"/>
          <p:cNvSpPr txBox="1"/>
          <p:nvPr/>
        </p:nvSpPr>
        <p:spPr>
          <a:xfrm>
            <a:off x="7734935" y="5787390"/>
            <a:ext cx="3867785" cy="922020"/>
          </a:xfrm>
          <a:prstGeom prst="rect">
            <a:avLst/>
          </a:prstGeom>
          <a:noFill/>
        </p:spPr>
        <p:txBody>
          <a:bodyPr wrap="square" rtlCol="0" anchor="t">
            <a:spAutoFit/>
          </a:bodyPr>
          <a:lstStyle/>
          <a:p>
            <a:r>
              <a:rPr lang="zh-CN" altLang="en-US" dirty="0"/>
              <a:t>国产芯片正从</a:t>
            </a:r>
            <a:r>
              <a:rPr lang="en-US" altLang="zh-CN" dirty="0"/>
              <a:t>“</a:t>
            </a:r>
            <a:r>
              <a:rPr lang="zh-CN" altLang="en-US" dirty="0"/>
              <a:t>跟跑</a:t>
            </a:r>
            <a:r>
              <a:rPr lang="en-US" altLang="zh-CN" dirty="0"/>
              <a:t>”</a:t>
            </a:r>
            <a:r>
              <a:rPr lang="zh-CN" altLang="en-US" dirty="0"/>
              <a:t>向</a:t>
            </a:r>
            <a:r>
              <a:rPr lang="en-US" altLang="zh-CN" dirty="0"/>
              <a:t>“</a:t>
            </a:r>
            <a:r>
              <a:rPr lang="zh-CN" altLang="en-US" dirty="0"/>
              <a:t>并跑</a:t>
            </a:r>
            <a:r>
              <a:rPr lang="en-US" altLang="zh-CN" dirty="0"/>
              <a:t>”</a:t>
            </a:r>
            <a:r>
              <a:rPr lang="zh-CN" altLang="en-US" dirty="0"/>
              <a:t>甚至局部领先迈进，</a:t>
            </a:r>
            <a:r>
              <a:rPr lang="en-US" altLang="zh-CN" dirty="0"/>
              <a:t>AI</a:t>
            </a:r>
            <a:r>
              <a:rPr lang="zh-CN" altLang="en-US" dirty="0"/>
              <a:t>芯片、</a:t>
            </a:r>
            <a:r>
              <a:rPr lang="en-US" altLang="zh-CN" dirty="0"/>
              <a:t>CPU</a:t>
            </a:r>
            <a:r>
              <a:rPr lang="zh-CN" altLang="en-US" dirty="0"/>
              <a:t>、</a:t>
            </a:r>
            <a:r>
              <a:rPr lang="en-US" altLang="zh-CN" dirty="0"/>
              <a:t>GPU</a:t>
            </a:r>
            <a:r>
              <a:rPr lang="zh-CN" altLang="en-US" dirty="0"/>
              <a:t>及存储芯片均取得显著突破。</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barn(inVertical)">
                                      <p:cBhvr>
                                        <p:cTn id="24" dur="500"/>
                                        <p:tgtEl>
                                          <p:spTgt spid="103"/>
                                        </p:tgtEl>
                                      </p:cBhvr>
                                    </p:animEffec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04"/>
                                        </p:tgtEl>
                                        <p:attrNameLst>
                                          <p:attrName>style.visibility</p:attrName>
                                        </p:attrNameLst>
                                      </p:cBhvr>
                                      <p:to>
                                        <p:strVal val="visible"/>
                                      </p:to>
                                    </p:set>
                                    <p:animEffect transition="in" filter="fade">
                                      <p:cBhvr>
                                        <p:cTn id="34" dur="1000"/>
                                        <p:tgtEl>
                                          <p:spTgt spid="104"/>
                                        </p:tgtEl>
                                      </p:cBhvr>
                                    </p:animEffect>
                                    <p:anim calcmode="lin" valueType="num">
                                      <p:cBhvr>
                                        <p:cTn id="35" dur="1000" fill="hold"/>
                                        <p:tgtEl>
                                          <p:spTgt spid="104"/>
                                        </p:tgtEl>
                                        <p:attrNameLst>
                                          <p:attrName>ppt_x</p:attrName>
                                        </p:attrNameLst>
                                      </p:cBhvr>
                                      <p:tavLst>
                                        <p:tav tm="0">
                                          <p:val>
                                            <p:strVal val="#ppt_x"/>
                                          </p:val>
                                        </p:tav>
                                        <p:tav tm="100000">
                                          <p:val>
                                            <p:strVal val="#ppt_x"/>
                                          </p:val>
                                        </p:tav>
                                      </p:tavLst>
                                    </p:anim>
                                    <p:anim calcmode="lin" valueType="num">
                                      <p:cBhvr>
                                        <p:cTn id="36"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1000"/>
                                        <p:tgtEl>
                                          <p:spTgt spid="15"/>
                                        </p:tgtEl>
                                      </p:cBhvr>
                                    </p:animEffect>
                                    <p:anim calcmode="lin" valueType="num">
                                      <p:cBhvr>
                                        <p:cTn id="42" dur="1000" fill="hold"/>
                                        <p:tgtEl>
                                          <p:spTgt spid="15"/>
                                        </p:tgtEl>
                                        <p:attrNameLst>
                                          <p:attrName>ppt_x</p:attrName>
                                        </p:attrNameLst>
                                      </p:cBhvr>
                                      <p:tavLst>
                                        <p:tav tm="0">
                                          <p:val>
                                            <p:strVal val="#ppt_x"/>
                                          </p:val>
                                        </p:tav>
                                        <p:tav tm="100000">
                                          <p:val>
                                            <p:strVal val="#ppt_x"/>
                                          </p:val>
                                        </p:tav>
                                      </p:tavLst>
                                    </p:anim>
                                    <p:anim calcmode="lin" valueType="num">
                                      <p:cBhvr>
                                        <p:cTn id="4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8" grpId="0"/>
      <p:bldP spid="12" grpId="0"/>
      <p:bldP spid="13" grpId="0"/>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60680" y="4226560"/>
            <a:ext cx="1725930" cy="97980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124" name="Rectangle 2"/>
          <p:cNvSpPr>
            <a:spLocks noGrp="1"/>
          </p:cNvSpPr>
          <p:nvPr/>
        </p:nvSpPr>
        <p:spPr>
          <a:xfrm>
            <a:off x="838200" y="365125"/>
            <a:ext cx="10515600" cy="866775"/>
          </a:xfrm>
          <a:prstGeom prst="rect">
            <a:avLst/>
          </a:prstGeom>
        </p:spPr>
        <p:txBody>
          <a:bodyPr vert="horz" wrap="square"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pPr>
            <a:r>
              <a:rPr lang="zh-CN" altLang="en-US" sz="4800" b="1" dirty="0">
                <a:solidFill>
                  <a:srgbClr val="000000"/>
                </a:solidFill>
                <a:effectLst/>
                <a:latin typeface="宋体" panose="02010600030101010101" pitchFamily="2" charset="-122"/>
                <a:ea typeface="宋体" panose="02010600030101010101" pitchFamily="2" charset="-122"/>
              </a:rPr>
              <a:t>1.1.2</a:t>
            </a:r>
            <a:r>
              <a:rPr lang="zh-CN" altLang="en-US" sz="4800" b="1" dirty="0">
                <a:solidFill>
                  <a:srgbClr val="000000"/>
                </a:solidFill>
                <a:effectLst/>
                <a:latin typeface="宋体" panose="02010600030101010101" pitchFamily="2" charset="-122"/>
                <a:ea typeface="宋体" panose="02010600030101010101" pitchFamily="2" charset="-122"/>
                <a:sym typeface="+mn-ea"/>
              </a:rPr>
              <a:t>技术支撑：</a:t>
            </a:r>
            <a:r>
              <a:rPr lang="zh-CN" altLang="en-US" sz="4800" b="1" dirty="0">
                <a:solidFill>
                  <a:srgbClr val="000000"/>
                </a:solidFill>
                <a:effectLst/>
                <a:latin typeface="宋体" panose="02010600030101010101" pitchFamily="2" charset="-122"/>
                <a:ea typeface="宋体" panose="02010600030101010101" pitchFamily="2" charset="-122"/>
              </a:rPr>
              <a:t>信息科技</a:t>
            </a:r>
            <a:endParaRPr lang="zh-CN" altLang="en-US" sz="4800" b="1" dirty="0">
              <a:solidFill>
                <a:srgbClr val="000000"/>
              </a:solidFill>
              <a:effectLst/>
              <a:latin typeface="宋体" panose="02010600030101010101" pitchFamily="2" charset="-122"/>
              <a:ea typeface="宋体" panose="02010600030101010101" pitchFamily="2" charset="-122"/>
            </a:endParaRPr>
          </a:p>
        </p:txBody>
      </p:sp>
      <p:sp>
        <p:nvSpPr>
          <p:cNvPr id="8" name="文本框 7"/>
          <p:cNvSpPr txBox="1"/>
          <p:nvPr/>
        </p:nvSpPr>
        <p:spPr>
          <a:xfrm>
            <a:off x="2451735" y="1301750"/>
            <a:ext cx="3419475" cy="1814830"/>
          </a:xfrm>
          <a:prstGeom prst="rect">
            <a:avLst/>
          </a:prstGeom>
          <a:noFill/>
        </p:spPr>
        <p:txBody>
          <a:bodyPr wrap="square" rtlCol="0" anchor="t">
            <a:spAutoFit/>
          </a:bodyPr>
          <a:lstStyle/>
          <a:p>
            <a:r>
              <a:rPr lang="zh-CN" altLang="en-US" sz="2800" dirty="0">
                <a:latin typeface="Arial" panose="020B0604020202020204" pitchFamily="34" charset="0"/>
                <a:sym typeface="+mn-ea"/>
              </a:rPr>
              <a:t>网络带宽不断增加：</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建设力度</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覆盖范围</a:t>
            </a:r>
            <a:endParaRPr lang="zh-CN" altLang="en-US" sz="2800" dirty="0">
              <a:latin typeface="Arial" panose="020B0604020202020204" pitchFamily="34" charset="0"/>
              <a:sym typeface="+mn-ea"/>
            </a:endParaRPr>
          </a:p>
          <a:p>
            <a:pPr marL="457200" indent="-457200">
              <a:buFont typeface="Arial" panose="020B0604020202020204" pitchFamily="34" charset="0"/>
              <a:buChar char="•"/>
            </a:pPr>
            <a:r>
              <a:rPr lang="zh-CN" altLang="en-US" sz="2800" dirty="0">
                <a:latin typeface="Arial" panose="020B0604020202020204" pitchFamily="34" charset="0"/>
                <a:sym typeface="+mn-ea"/>
              </a:rPr>
              <a:t>传输速度</a:t>
            </a:r>
            <a:endParaRPr lang="zh-CN" altLang="en-US" sz="2800" dirty="0">
              <a:latin typeface="Arial" panose="020B0604020202020204" pitchFamily="34" charset="0"/>
              <a:sym typeface="+mn-ea"/>
            </a:endParaRPr>
          </a:p>
        </p:txBody>
      </p:sp>
      <p:graphicFrame>
        <p:nvGraphicFramePr>
          <p:cNvPr id="6" name="Group 5"/>
          <p:cNvGraphicFramePr>
            <a:graphicFrameLocks noGrp="1"/>
          </p:cNvGraphicFramePr>
          <p:nvPr>
            <p:custDataLst>
              <p:tags r:id="rId1"/>
            </p:custDataLst>
          </p:nvPr>
        </p:nvGraphicFramePr>
        <p:xfrm>
          <a:off x="378460" y="2364740"/>
          <a:ext cx="1732915" cy="2841625"/>
        </p:xfrm>
        <a:graphic>
          <a:graphicData uri="http://schemas.openxmlformats.org/drawingml/2006/table">
            <a:tbl>
              <a:tblPr/>
              <a:tblGrid>
                <a:gridCol w="1732915"/>
              </a:tblGrid>
              <a:tr h="94551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信息存储</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90995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信息处理</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98615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信息传输</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9" name="文本框 8"/>
          <p:cNvSpPr txBox="1"/>
          <p:nvPr/>
        </p:nvSpPr>
        <p:spPr>
          <a:xfrm>
            <a:off x="6865620" y="1434465"/>
            <a:ext cx="4657090" cy="368300"/>
          </a:xfrm>
          <a:prstGeom prst="rect">
            <a:avLst/>
          </a:prstGeom>
          <a:noFill/>
        </p:spPr>
        <p:txBody>
          <a:bodyPr wrap="square" rtlCol="0">
            <a:spAutoFit/>
          </a:bodyPr>
          <a:lstStyle/>
          <a:p>
            <a:r>
              <a:rPr lang="zh-CN" altLang="en-US" dirty="0">
                <a:latin typeface="Arial" panose="020B0604020202020204" pitchFamily="34" charset="0"/>
                <a:sym typeface="+mn-ea"/>
              </a:rPr>
              <a:t>我国：市市通千兆、县县通5G、村村通宽带</a:t>
            </a:r>
            <a:endParaRPr lang="zh-CN" altLang="en-US" dirty="0">
              <a:latin typeface="Arial" panose="020B0604020202020204" pitchFamily="34" charset="0"/>
              <a:sym typeface="+mn-ea"/>
            </a:endParaRPr>
          </a:p>
        </p:txBody>
      </p:sp>
      <p:sp>
        <p:nvSpPr>
          <p:cNvPr id="10" name="文本框 9"/>
          <p:cNvSpPr txBox="1"/>
          <p:nvPr/>
        </p:nvSpPr>
        <p:spPr>
          <a:xfrm>
            <a:off x="7034530" y="5592445"/>
            <a:ext cx="4488180" cy="922020"/>
          </a:xfrm>
          <a:prstGeom prst="rect">
            <a:avLst/>
          </a:prstGeom>
          <a:noFill/>
        </p:spPr>
        <p:txBody>
          <a:bodyPr wrap="square" rtlCol="0" anchor="t">
            <a:spAutoFit/>
          </a:bodyPr>
          <a:lstStyle/>
          <a:p>
            <a:pPr algn="ctr"/>
            <a:r>
              <a:rPr lang="zh-CN" altLang="en-US" dirty="0"/>
              <a:t>截至</a:t>
            </a:r>
            <a:r>
              <a:rPr lang="en-US" altLang="zh-CN" dirty="0"/>
              <a:t>2022</a:t>
            </a:r>
            <a:r>
              <a:rPr lang="zh-CN" altLang="en-US" dirty="0"/>
              <a:t>年底，我国5G基站达231.2万个</a:t>
            </a:r>
            <a:endParaRPr lang="zh-CN" altLang="en-US" dirty="0"/>
          </a:p>
          <a:p>
            <a:pPr algn="ctr"/>
            <a:r>
              <a:rPr lang="zh-CN" altLang="en-US" dirty="0"/>
              <a:t>5G专利居全球第一</a:t>
            </a:r>
            <a:endParaRPr lang="zh-CN" altLang="en-US" dirty="0"/>
          </a:p>
          <a:p>
            <a:pPr algn="ctr"/>
            <a:r>
              <a:rPr lang="zh-CN" altLang="en-US" dirty="0">
                <a:hlinkClick r:id="rId2"/>
              </a:rPr>
              <a:t>《2022年通信业统计公报》</a:t>
            </a:r>
            <a:endParaRPr lang="zh-CN" altLang="en-US" dirty="0"/>
          </a:p>
        </p:txBody>
      </p:sp>
      <p:pic>
        <p:nvPicPr>
          <p:cNvPr id="105" name="图片 104"/>
          <p:cNvPicPr/>
          <p:nvPr/>
        </p:nvPicPr>
        <p:blipFill>
          <a:blip r:embed="rId3"/>
          <a:stretch>
            <a:fillRect/>
          </a:stretch>
        </p:blipFill>
        <p:spPr>
          <a:xfrm>
            <a:off x="6746875" y="2005330"/>
            <a:ext cx="4881880" cy="3384550"/>
          </a:xfrm>
          <a:prstGeom prst="rect">
            <a:avLst/>
          </a:prstGeom>
          <a:noFill/>
          <a:ln w="9525">
            <a:noFill/>
          </a:ln>
        </p:spPr>
      </p:pic>
      <p:pic>
        <p:nvPicPr>
          <p:cNvPr id="11" name="图片 10"/>
          <p:cNvPicPr>
            <a:picLocks noChangeAspect="1"/>
          </p:cNvPicPr>
          <p:nvPr/>
        </p:nvPicPr>
        <p:blipFill>
          <a:blip r:embed="rId4"/>
          <a:stretch>
            <a:fillRect/>
          </a:stretch>
        </p:blipFill>
        <p:spPr>
          <a:xfrm>
            <a:off x="2320290" y="3686175"/>
            <a:ext cx="4210050" cy="25234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par>
                          <p:cTn id="19" fill="hold">
                            <p:stCondLst>
                              <p:cond delay="0"/>
                            </p:stCondLst>
                            <p:childTnLst>
                              <p:par>
                                <p:cTn id="20" presetID="6" presetClass="entr" presetSubtype="32" fill="hold" nodeType="after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circle(out)">
                                      <p:cBhvr>
                                        <p:cTn id="22" dur="2000"/>
                                        <p:tgtEl>
                                          <p:spTgt spid="1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8"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124" name="Rectangle 2"/>
          <p:cNvSpPr>
            <a:spLocks noGrp="1"/>
          </p:cNvSpPr>
          <p:nvPr/>
        </p:nvSpPr>
        <p:spPr>
          <a:xfrm>
            <a:off x="289560" y="377190"/>
            <a:ext cx="10515600" cy="866775"/>
          </a:xfrm>
          <a:prstGeom prst="rect">
            <a:avLst/>
          </a:prstGeom>
        </p:spPr>
        <p:txBody>
          <a:bodyPr vert="horz" wrap="square" lIns="91440" tIns="45720" rIns="91440" bIns="45720" rtlCol="0" anchor="ctr" anchorCtr="0">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pPr>
            <a:r>
              <a:rPr lang="zh-CN" altLang="en-US" sz="4800" b="1" dirty="0">
                <a:solidFill>
                  <a:srgbClr val="000000"/>
                </a:solidFill>
                <a:effectLst/>
                <a:latin typeface="宋体" panose="02010600030101010101" pitchFamily="2" charset="-122"/>
                <a:ea typeface="宋体" panose="02010600030101010101" pitchFamily="2" charset="-122"/>
              </a:rPr>
              <a:t>1.1.</a:t>
            </a:r>
            <a:r>
              <a:rPr lang="en-US" altLang="zh-CN" sz="4800" b="1" dirty="0">
                <a:solidFill>
                  <a:srgbClr val="000000"/>
                </a:solidFill>
                <a:effectLst/>
                <a:latin typeface="宋体" panose="02010600030101010101" pitchFamily="2" charset="-122"/>
                <a:ea typeface="宋体" panose="02010600030101010101" pitchFamily="2" charset="-122"/>
              </a:rPr>
              <a:t>3</a:t>
            </a:r>
            <a:r>
              <a:rPr lang="zh-CN" altLang="en-US" sz="4800" b="1" dirty="0">
                <a:solidFill>
                  <a:srgbClr val="000000"/>
                </a:solidFill>
                <a:effectLst/>
                <a:latin typeface="宋体" panose="02010600030101010101" pitchFamily="2" charset="-122"/>
                <a:ea typeface="宋体" panose="02010600030101010101" pitchFamily="2" charset="-122"/>
              </a:rPr>
              <a:t>数据产生方式的变革促成大数据时代的来临</a:t>
            </a:r>
            <a:endParaRPr lang="zh-CN" altLang="en-US" sz="4800" b="1" dirty="0">
              <a:solidFill>
                <a:srgbClr val="000000"/>
              </a:solidFill>
              <a:effectLst/>
              <a:latin typeface="宋体" panose="02010600030101010101" pitchFamily="2" charset="-122"/>
              <a:ea typeface="宋体" panose="02010600030101010101" pitchFamily="2" charset="-122"/>
            </a:endParaRPr>
          </a:p>
        </p:txBody>
      </p:sp>
      <p:grpSp>
        <p:nvGrpSpPr>
          <p:cNvPr id="12" name="组合 11"/>
          <p:cNvGrpSpPr/>
          <p:nvPr/>
        </p:nvGrpSpPr>
        <p:grpSpPr>
          <a:xfrm>
            <a:off x="1821815" y="1831340"/>
            <a:ext cx="8183880" cy="2941320"/>
            <a:chOff x="2919" y="5463"/>
            <a:chExt cx="11730" cy="4029"/>
          </a:xfrm>
        </p:grpSpPr>
        <p:pic>
          <p:nvPicPr>
            <p:cNvPr id="9" name="图片 8"/>
            <p:cNvPicPr>
              <a:picLocks noChangeAspect="1"/>
            </p:cNvPicPr>
            <p:nvPr/>
          </p:nvPicPr>
          <p:blipFill>
            <a:blip r:embed="rId1"/>
            <a:stretch>
              <a:fillRect/>
            </a:stretch>
          </p:blipFill>
          <p:spPr>
            <a:xfrm>
              <a:off x="2919" y="5463"/>
              <a:ext cx="11730" cy="1440"/>
            </a:xfrm>
            <a:prstGeom prst="rect">
              <a:avLst/>
            </a:prstGeom>
          </p:spPr>
        </p:pic>
        <p:pic>
          <p:nvPicPr>
            <p:cNvPr id="10" name="图片 9"/>
            <p:cNvPicPr>
              <a:picLocks noChangeAspect="1"/>
            </p:cNvPicPr>
            <p:nvPr/>
          </p:nvPicPr>
          <p:blipFill>
            <a:blip r:embed="rId2"/>
            <a:stretch>
              <a:fillRect/>
            </a:stretch>
          </p:blipFill>
          <p:spPr>
            <a:xfrm>
              <a:off x="3009" y="6988"/>
              <a:ext cx="11565" cy="2505"/>
            </a:xfrm>
            <a:prstGeom prst="rect">
              <a:avLst/>
            </a:prstGeom>
          </p:spPr>
        </p:pic>
      </p:grpSp>
      <p:sp>
        <p:nvSpPr>
          <p:cNvPr id="11" name="圆角矩形 10"/>
          <p:cNvSpPr/>
          <p:nvPr/>
        </p:nvSpPr>
        <p:spPr>
          <a:xfrm>
            <a:off x="2314575" y="4834890"/>
            <a:ext cx="1186815" cy="55880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数据库</a:t>
            </a:r>
            <a:endParaRPr lang="zh-CN" altLang="en-US" sz="2400"/>
          </a:p>
        </p:txBody>
      </p:sp>
      <p:sp>
        <p:nvSpPr>
          <p:cNvPr id="13" name="圆角矩形 12"/>
          <p:cNvSpPr/>
          <p:nvPr/>
        </p:nvSpPr>
        <p:spPr>
          <a:xfrm>
            <a:off x="2314575" y="6163310"/>
            <a:ext cx="1186815" cy="55880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en-US" sz="2400"/>
              <a:t>被动式</a:t>
            </a:r>
            <a:endParaRPr lang="zh-CN" altLang="en-US" sz="2400"/>
          </a:p>
        </p:txBody>
      </p:sp>
      <p:sp>
        <p:nvSpPr>
          <p:cNvPr id="14" name="圆角矩形 13"/>
          <p:cNvSpPr/>
          <p:nvPr/>
        </p:nvSpPr>
        <p:spPr>
          <a:xfrm>
            <a:off x="5354955" y="4834890"/>
            <a:ext cx="1186815" cy="55880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互联网</a:t>
            </a:r>
            <a:endParaRPr lang="zh-CN" altLang="en-US" sz="2400"/>
          </a:p>
        </p:txBody>
      </p:sp>
      <p:sp>
        <p:nvSpPr>
          <p:cNvPr id="15" name="圆角矩形 14"/>
          <p:cNvSpPr/>
          <p:nvPr/>
        </p:nvSpPr>
        <p:spPr>
          <a:xfrm>
            <a:off x="8266430" y="4834890"/>
            <a:ext cx="1186815" cy="55880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物联网</a:t>
            </a:r>
            <a:endParaRPr lang="zh-CN" altLang="en-US" sz="2400"/>
          </a:p>
        </p:txBody>
      </p:sp>
      <p:sp>
        <p:nvSpPr>
          <p:cNvPr id="16" name="圆角矩形 15"/>
          <p:cNvSpPr/>
          <p:nvPr/>
        </p:nvSpPr>
        <p:spPr>
          <a:xfrm>
            <a:off x="8266430" y="6163310"/>
            <a:ext cx="1186815" cy="55880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en-US" sz="2400"/>
              <a:t>自动式</a:t>
            </a:r>
            <a:endParaRPr lang="zh-CN" altLang="en-US" sz="2400"/>
          </a:p>
        </p:txBody>
      </p:sp>
      <p:sp>
        <p:nvSpPr>
          <p:cNvPr id="17" name="圆角矩形 16"/>
          <p:cNvSpPr/>
          <p:nvPr/>
        </p:nvSpPr>
        <p:spPr>
          <a:xfrm>
            <a:off x="5354955" y="6163310"/>
            <a:ext cx="1186815" cy="55880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en-US" sz="2400"/>
              <a:t>井喷式</a:t>
            </a:r>
            <a:endParaRPr lang="zh-CN" altLang="en-US" sz="2400"/>
          </a:p>
        </p:txBody>
      </p:sp>
      <p:sp>
        <p:nvSpPr>
          <p:cNvPr id="18" name="Text Box 5"/>
          <p:cNvSpPr txBox="1"/>
          <p:nvPr/>
        </p:nvSpPr>
        <p:spPr>
          <a:xfrm>
            <a:off x="1352550" y="1172845"/>
            <a:ext cx="5657850" cy="521970"/>
          </a:xfrm>
          <a:prstGeom prst="rect">
            <a:avLst/>
          </a:prstGeom>
          <a:noFill/>
          <a:ln w="9525">
            <a:noFill/>
          </a:ln>
        </p:spPr>
        <p:txBody>
          <a:bodyPr wrap="square">
            <a:spAutoFit/>
          </a:bodyPr>
          <a:lstStyle/>
          <a:p>
            <a:r>
              <a:rPr lang="zh-CN" sz="2800" dirty="0">
                <a:latin typeface="Arial" panose="020B0604020202020204" pitchFamily="34" charset="0"/>
              </a:rPr>
              <a:t>信息：由</a:t>
            </a:r>
            <a:r>
              <a:rPr lang="zh-CN" altLang="en-US" sz="2800" dirty="0">
                <a:latin typeface="Arial" panose="020B0604020202020204" pitchFamily="34" charset="0"/>
              </a:rPr>
              <a:t>数据有序排列组合而成</a:t>
            </a:r>
            <a:endParaRPr lang="zh-CN" altLang="en-US" sz="2800" dirty="0">
              <a:latin typeface="Arial" panose="020B0604020202020204" pitchFamily="34" charset="0"/>
            </a:endParaRPr>
          </a:p>
        </p:txBody>
      </p:sp>
      <p:sp>
        <p:nvSpPr>
          <p:cNvPr id="19" name="文本框 18"/>
          <p:cNvSpPr txBox="1"/>
          <p:nvPr/>
        </p:nvSpPr>
        <p:spPr>
          <a:xfrm>
            <a:off x="739140" y="2374265"/>
            <a:ext cx="613410" cy="3384550"/>
          </a:xfrm>
          <a:prstGeom prst="rect">
            <a:avLst/>
          </a:prstGeom>
          <a:noFill/>
        </p:spPr>
        <p:txBody>
          <a:bodyPr vert="eaVert" wrap="square" rtlCol="0">
            <a:spAutoFit/>
          </a:bodyPr>
          <a:lstStyle/>
          <a:p>
            <a:r>
              <a:rPr lang="zh-CN" altLang="en-US" sz="2800" dirty="0">
                <a:latin typeface="Arial" panose="020B0604020202020204" pitchFamily="34" charset="0"/>
                <a:sym typeface="+mn-ea"/>
              </a:rPr>
              <a:t>数据产生方式的变革</a:t>
            </a:r>
            <a:endParaRPr lang="zh-CN" altLang="en-US" sz="2800" dirty="0">
              <a:latin typeface="Arial" panose="020B0604020202020204" pitchFamily="34" charset="0"/>
              <a:sym typeface="+mn-ea"/>
            </a:endParaRPr>
          </a:p>
        </p:txBody>
      </p:sp>
      <p:sp>
        <p:nvSpPr>
          <p:cNvPr id="26" name="圆角矩形 25"/>
          <p:cNvSpPr/>
          <p:nvPr/>
        </p:nvSpPr>
        <p:spPr>
          <a:xfrm>
            <a:off x="2314575" y="5499100"/>
            <a:ext cx="1186815" cy="55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结构化</a:t>
            </a:r>
            <a:endParaRPr lang="zh-CN" altLang="en-US" sz="2400"/>
          </a:p>
        </p:txBody>
      </p:sp>
      <p:sp>
        <p:nvSpPr>
          <p:cNvPr id="27" name="圆角矩形 26"/>
          <p:cNvSpPr/>
          <p:nvPr/>
        </p:nvSpPr>
        <p:spPr>
          <a:xfrm>
            <a:off x="8266430" y="5499100"/>
            <a:ext cx="1186815" cy="55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大数据</a:t>
            </a:r>
            <a:endParaRPr lang="zh-CN" altLang="en-US" sz="2400"/>
          </a:p>
        </p:txBody>
      </p:sp>
      <p:sp>
        <p:nvSpPr>
          <p:cNvPr id="28" name="圆角矩形 27"/>
          <p:cNvSpPr/>
          <p:nvPr/>
        </p:nvSpPr>
        <p:spPr>
          <a:xfrm>
            <a:off x="5354955" y="5499100"/>
            <a:ext cx="1186815" cy="55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多媒体</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up)">
                                      <p:cBhvr>
                                        <p:cTn id="20" dur="500"/>
                                        <p:tgtEl>
                                          <p:spTgt spid="11"/>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up)">
                                      <p:cBhvr>
                                        <p:cTn id="24" dur="500"/>
                                        <p:tgtEl>
                                          <p:spTgt spid="26"/>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up)">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up)">
                                      <p:cBhvr>
                                        <p:cTn id="33" dur="500"/>
                                        <p:tgtEl>
                                          <p:spTgt spid="14"/>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up)">
                                      <p:cBhvr>
                                        <p:cTn id="37" dur="500"/>
                                        <p:tgtEl>
                                          <p:spTgt spid="28"/>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up)">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up)">
                                      <p:cBhvr>
                                        <p:cTn id="46" dur="500"/>
                                        <p:tgtEl>
                                          <p:spTgt spid="15"/>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up)">
                                      <p:cBhvr>
                                        <p:cTn id="50" dur="500"/>
                                        <p:tgtEl>
                                          <p:spTgt spid="27"/>
                                        </p:tgtEl>
                                      </p:cBhvr>
                                    </p:animEffect>
                                  </p:childTnLst>
                                </p:cTn>
                              </p:par>
                            </p:childTnLst>
                          </p:cTn>
                        </p:par>
                        <p:par>
                          <p:cTn id="51" fill="hold">
                            <p:stCondLst>
                              <p:cond delay="1000"/>
                            </p:stCondLst>
                            <p:childTnLst>
                              <p:par>
                                <p:cTn id="52" presetID="22" presetClass="entr" presetSubtype="1"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up)">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p:bldP spid="18" grpId="1"/>
      <p:bldP spid="19" grpId="0"/>
      <p:bldP spid="19" grpId="1"/>
      <p:bldP spid="26" grpId="0" animBg="1"/>
      <p:bldP spid="26" grpId="1" animBg="1"/>
      <p:bldP spid="27" grpId="0" animBg="1"/>
      <p:bldP spid="27" grpId="1" animBg="1"/>
      <p:bldP spid="28" grpId="0" animBg="1"/>
      <p:bldP spid="2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124" name="Rectangle 2"/>
          <p:cNvSpPr>
            <a:spLocks noGrp="1"/>
          </p:cNvSpPr>
          <p:nvPr/>
        </p:nvSpPr>
        <p:spPr>
          <a:xfrm>
            <a:off x="838200" y="365125"/>
            <a:ext cx="10515600" cy="866775"/>
          </a:xfrm>
          <a:prstGeom prst="rect">
            <a:avLst/>
          </a:prstGeom>
        </p:spPr>
        <p:txBody>
          <a:bodyPr vert="horz" wrap="square"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buClrTx/>
              <a:buSzTx/>
              <a:buFontTx/>
            </a:pPr>
            <a:r>
              <a:rPr lang="zh-CN" altLang="en-US" sz="4800" b="1" dirty="0">
                <a:solidFill>
                  <a:srgbClr val="000000"/>
                </a:solidFill>
                <a:effectLst/>
                <a:latin typeface="宋体" panose="02010600030101010101" pitchFamily="2" charset="-122"/>
                <a:ea typeface="宋体" panose="02010600030101010101" pitchFamily="2" charset="-122"/>
              </a:rPr>
              <a:t>1.1.</a:t>
            </a:r>
            <a:r>
              <a:rPr lang="en-US" altLang="zh-CN" sz="4800" b="1" dirty="0">
                <a:solidFill>
                  <a:srgbClr val="000000"/>
                </a:solidFill>
                <a:effectLst/>
                <a:latin typeface="宋体" panose="02010600030101010101" pitchFamily="2" charset="-122"/>
                <a:ea typeface="宋体" panose="02010600030101010101" pitchFamily="2" charset="-122"/>
              </a:rPr>
              <a:t>4</a:t>
            </a:r>
            <a:r>
              <a:rPr lang="zh-CN" altLang="en-US" sz="4800" b="1" dirty="0">
                <a:solidFill>
                  <a:srgbClr val="000000"/>
                </a:solidFill>
                <a:effectLst/>
                <a:latin typeface="宋体" panose="02010600030101010101" pitchFamily="2" charset="-122"/>
                <a:ea typeface="宋体" panose="02010600030101010101" pitchFamily="2" charset="-122"/>
                <a:sym typeface="+mn-ea"/>
              </a:rPr>
              <a:t>大数据的发展历程</a:t>
            </a:r>
            <a:endParaRPr lang="zh-CN" altLang="en-US" sz="4800" b="1" dirty="0">
              <a:solidFill>
                <a:srgbClr val="000000"/>
              </a:solidFill>
              <a:effectLst/>
              <a:latin typeface="宋体" panose="02010600030101010101" pitchFamily="2" charset="-122"/>
              <a:ea typeface="宋体" panose="02010600030101010101" pitchFamily="2" charset="-122"/>
            </a:endParaRPr>
          </a:p>
        </p:txBody>
      </p:sp>
      <p:sp>
        <p:nvSpPr>
          <p:cNvPr id="3" name="文本框 2"/>
          <p:cNvSpPr txBox="1"/>
          <p:nvPr/>
        </p:nvSpPr>
        <p:spPr>
          <a:xfrm>
            <a:off x="764540" y="1366520"/>
            <a:ext cx="4928235" cy="521970"/>
          </a:xfrm>
          <a:prstGeom prst="rect">
            <a:avLst/>
          </a:prstGeom>
          <a:noFill/>
        </p:spPr>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dirty="0">
                <a:ln>
                  <a:noFill/>
                </a:ln>
                <a:solidFill>
                  <a:srgbClr val="000000"/>
                </a:solidFill>
                <a:effectLst/>
                <a:latin typeface="Calibri" panose="020F0502020204030204" pitchFamily="34" charset="0"/>
                <a:ea typeface="宋体" panose="02010600030101010101" pitchFamily="2" charset="-122"/>
                <a:sym typeface="+mn-ea"/>
              </a:rPr>
              <a:t>第一阶段</a:t>
            </a:r>
            <a:r>
              <a:rPr lang="en-US" altLang="zh-CN" sz="2800" dirty="0">
                <a:ln>
                  <a:noFill/>
                </a:ln>
                <a:solidFill>
                  <a:srgbClr val="000000"/>
                </a:solidFill>
                <a:effectLst/>
                <a:latin typeface="Calibri" panose="020F0502020204030204" pitchFamily="34" charset="0"/>
                <a:ea typeface="宋体" panose="02010600030101010101" pitchFamily="2" charset="-122"/>
                <a:sym typeface="+mn-ea"/>
              </a:rPr>
              <a:t>: </a:t>
            </a:r>
            <a:r>
              <a:rPr lang="zh-CN" altLang="en-US" sz="2800" dirty="0">
                <a:ln>
                  <a:noFill/>
                </a:ln>
                <a:solidFill>
                  <a:srgbClr val="000000"/>
                </a:solidFill>
                <a:effectLst/>
                <a:latin typeface="Calibri" panose="020F0502020204030204" pitchFamily="34" charset="0"/>
                <a:ea typeface="宋体" panose="02010600030101010101" pitchFamily="2" charset="-122"/>
                <a:sym typeface="+mn-ea"/>
              </a:rPr>
              <a:t>萌芽期</a:t>
            </a:r>
            <a:r>
              <a:rPr lang="en-US" altLang="zh-CN" sz="2800" dirty="0">
                <a:ln>
                  <a:noFill/>
                </a:ln>
                <a:solidFill>
                  <a:srgbClr val="000000"/>
                </a:solidFill>
                <a:effectLst/>
                <a:latin typeface="Calibri" panose="020F0502020204030204" pitchFamily="34" charset="0"/>
                <a:ea typeface="宋体" panose="02010600030101010101" pitchFamily="2" charset="-122"/>
                <a:sym typeface="+mn-ea"/>
              </a:rPr>
              <a:t>(1890-2000)</a:t>
            </a:r>
            <a:endParaRPr lang="en-US" altLang="zh-CN" sz="2800" dirty="0">
              <a:ln>
                <a:noFill/>
              </a:ln>
              <a:solidFill>
                <a:srgbClr val="000000"/>
              </a:solidFill>
              <a:effectLst/>
              <a:latin typeface="Calibri" panose="020F0502020204030204" pitchFamily="34" charset="0"/>
              <a:ea typeface="宋体" panose="02010600030101010101" pitchFamily="2" charset="-122"/>
              <a:sym typeface="+mn-ea"/>
            </a:endParaRPr>
          </a:p>
        </p:txBody>
      </p:sp>
      <p:sp>
        <p:nvSpPr>
          <p:cNvPr id="11" name="圆角矩形 10"/>
          <p:cNvSpPr/>
          <p:nvPr/>
        </p:nvSpPr>
        <p:spPr>
          <a:xfrm>
            <a:off x="2536825" y="2160270"/>
            <a:ext cx="2112010" cy="55880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理论技术成熟</a:t>
            </a:r>
            <a:endParaRPr lang="zh-CN" altLang="en-US" sz="2400"/>
          </a:p>
        </p:txBody>
      </p:sp>
      <p:sp>
        <p:nvSpPr>
          <p:cNvPr id="4" name="右箭头 3"/>
          <p:cNvSpPr/>
          <p:nvPr/>
        </p:nvSpPr>
        <p:spPr>
          <a:xfrm>
            <a:off x="4942840" y="2160270"/>
            <a:ext cx="647700" cy="558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圆角矩形 4"/>
          <p:cNvSpPr/>
          <p:nvPr/>
        </p:nvSpPr>
        <p:spPr>
          <a:xfrm>
            <a:off x="5819140" y="2160270"/>
            <a:ext cx="2604135" cy="55880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初始应用</a:t>
            </a:r>
            <a:endParaRPr lang="zh-CN" altLang="en-US" sz="2400"/>
          </a:p>
        </p:txBody>
      </p:sp>
      <p:sp>
        <p:nvSpPr>
          <p:cNvPr id="6" name="文本框 5"/>
          <p:cNvSpPr txBox="1"/>
          <p:nvPr/>
        </p:nvSpPr>
        <p:spPr>
          <a:xfrm>
            <a:off x="827405" y="2139950"/>
            <a:ext cx="1709420" cy="645160"/>
          </a:xfrm>
          <a:prstGeom prst="rect">
            <a:avLst/>
          </a:prstGeom>
          <a:noFill/>
        </p:spPr>
        <p:txBody>
          <a:bodyPr wrap="square" rtlCol="0" anchor="t">
            <a:spAutoFit/>
          </a:bodyPr>
          <a:lstStyle/>
          <a:p>
            <a:pPr algn="r"/>
            <a:r>
              <a:rPr lang="zh-CN" altLang="en-US">
                <a:ln>
                  <a:noFill/>
                </a:ln>
                <a:solidFill>
                  <a:srgbClr val="000000"/>
                </a:solidFill>
                <a:effectLst/>
                <a:latin typeface="Calibri" panose="020F0502020204030204" pitchFamily="34" charset="0"/>
                <a:ea typeface="宋体" panose="02010600030101010101" pitchFamily="2" charset="-122"/>
                <a:sym typeface="+mn-ea"/>
              </a:rPr>
              <a:t>数据挖掘理论</a:t>
            </a:r>
            <a:endParaRPr lang="zh-CN" altLang="en-US">
              <a:ln>
                <a:noFill/>
              </a:ln>
              <a:solidFill>
                <a:srgbClr val="000000"/>
              </a:solidFill>
              <a:effectLst/>
              <a:latin typeface="Calibri" panose="020F0502020204030204" pitchFamily="34" charset="0"/>
              <a:ea typeface="宋体" panose="02010600030101010101" pitchFamily="2" charset="-122"/>
              <a:sym typeface="+mn-ea"/>
            </a:endParaRPr>
          </a:p>
          <a:p>
            <a:pPr algn="r"/>
            <a:r>
              <a:rPr lang="zh-CN" altLang="en-US">
                <a:ln>
                  <a:noFill/>
                </a:ln>
                <a:solidFill>
                  <a:srgbClr val="000000"/>
                </a:solidFill>
                <a:effectLst/>
                <a:latin typeface="Calibri" panose="020F0502020204030204" pitchFamily="34" charset="0"/>
                <a:ea typeface="宋体" panose="02010600030101010101" pitchFamily="2" charset="-122"/>
                <a:sym typeface="+mn-ea"/>
              </a:rPr>
              <a:t>数据库</a:t>
            </a:r>
            <a:endParaRPr lang="zh-CN" altLang="en-US">
              <a:ln>
                <a:noFill/>
              </a:ln>
              <a:solidFill>
                <a:srgbClr val="000000"/>
              </a:solidFill>
              <a:effectLst/>
              <a:latin typeface="Calibri" panose="020F0502020204030204" pitchFamily="34" charset="0"/>
              <a:ea typeface="宋体" panose="02010600030101010101" pitchFamily="2" charset="-122"/>
              <a:sym typeface="+mn-ea"/>
            </a:endParaRPr>
          </a:p>
        </p:txBody>
      </p:sp>
      <p:sp>
        <p:nvSpPr>
          <p:cNvPr id="7" name="文本框 6"/>
          <p:cNvSpPr txBox="1"/>
          <p:nvPr/>
        </p:nvSpPr>
        <p:spPr>
          <a:xfrm>
            <a:off x="8499475" y="1916430"/>
            <a:ext cx="1969135" cy="1032510"/>
          </a:xfrm>
          <a:prstGeom prst="rect">
            <a:avLst/>
          </a:prstGeom>
          <a:noFill/>
        </p:spPr>
        <p:txBody>
          <a:bodyPr wrap="square" rtlCol="0" anchor="t">
            <a:spAutoFit/>
          </a:bodyPr>
          <a:lstStyle/>
          <a:p>
            <a:pPr marL="0" marR="0" lvl="0" indent="0" algn="l" defTabSz="914400" rtl="0" eaLnBrk="0" fontAlgn="base" latinLnBrk="0" hangingPunct="0">
              <a:lnSpc>
                <a:spcPct val="100000"/>
              </a:lnSpc>
              <a:spcBef>
                <a:spcPct val="20000"/>
              </a:spcBef>
              <a:spcAft>
                <a:spcPct val="0"/>
              </a:spcAft>
              <a:buClrTx/>
              <a:buSzTx/>
              <a:buFontTx/>
              <a:buNone/>
            </a:pPr>
            <a:r>
              <a:rPr lang="zh-CN" altLang="en-US">
                <a:ln>
                  <a:noFill/>
                </a:ln>
                <a:solidFill>
                  <a:srgbClr val="000000"/>
                </a:solidFill>
                <a:effectLst/>
                <a:latin typeface="Calibri" panose="020F0502020204030204" pitchFamily="34" charset="0"/>
                <a:ea typeface="宋体" panose="02010600030101010101" pitchFamily="2" charset="-122"/>
                <a:sym typeface="+mn-ea"/>
              </a:rPr>
              <a:t>数据仓库</a:t>
            </a:r>
            <a:endParaRPr lang="zh-CN" altLang="en-US">
              <a:ln>
                <a:noFill/>
              </a:ln>
              <a:solidFill>
                <a:srgbClr val="000000"/>
              </a:solidFill>
              <a:effectLst/>
              <a:latin typeface="Calibri" panose="020F0502020204030204" pitchFamily="34" charset="0"/>
              <a:ea typeface="宋体" panose="02010600030101010101" pitchFamily="2" charset="-122"/>
              <a:sym typeface="+mn-ea"/>
            </a:endParaRPr>
          </a:p>
          <a:p>
            <a:pPr marL="0" marR="0" lvl="0" indent="0" algn="l" defTabSz="914400" rtl="0" eaLnBrk="0" fontAlgn="base" latinLnBrk="0" hangingPunct="0">
              <a:lnSpc>
                <a:spcPct val="100000"/>
              </a:lnSpc>
              <a:spcBef>
                <a:spcPct val="20000"/>
              </a:spcBef>
              <a:spcAft>
                <a:spcPct val="0"/>
              </a:spcAft>
              <a:buClrTx/>
              <a:buSzTx/>
              <a:buFontTx/>
              <a:buNone/>
            </a:pPr>
            <a:r>
              <a:rPr lang="zh-CN" altLang="en-US">
                <a:ln>
                  <a:noFill/>
                </a:ln>
                <a:solidFill>
                  <a:srgbClr val="000000"/>
                </a:solidFill>
                <a:effectLst/>
                <a:latin typeface="Calibri" panose="020F0502020204030204" pitchFamily="34" charset="0"/>
                <a:ea typeface="宋体" panose="02010600030101010101" pitchFamily="2" charset="-122"/>
                <a:sym typeface="+mn-ea"/>
              </a:rPr>
              <a:t>专家系统</a:t>
            </a:r>
            <a:endParaRPr lang="zh-CN" altLang="en-US">
              <a:ln>
                <a:noFill/>
              </a:ln>
              <a:solidFill>
                <a:srgbClr val="000000"/>
              </a:solidFill>
              <a:effectLst/>
              <a:latin typeface="Calibri" panose="020F0502020204030204" pitchFamily="34" charset="0"/>
              <a:ea typeface="宋体" panose="02010600030101010101" pitchFamily="2" charset="-122"/>
              <a:sym typeface="+mn-ea"/>
            </a:endParaRPr>
          </a:p>
          <a:p>
            <a:pPr marL="0" marR="0" lvl="0" indent="0" algn="l" defTabSz="914400" rtl="0" eaLnBrk="0" fontAlgn="base" latinLnBrk="0" hangingPunct="0">
              <a:lnSpc>
                <a:spcPct val="100000"/>
              </a:lnSpc>
              <a:spcBef>
                <a:spcPct val="20000"/>
              </a:spcBef>
              <a:spcAft>
                <a:spcPct val="0"/>
              </a:spcAft>
              <a:buClrTx/>
              <a:buSzTx/>
              <a:buFontTx/>
              <a:buNone/>
            </a:pPr>
            <a:r>
              <a:rPr lang="zh-CN" altLang="en-US">
                <a:ln>
                  <a:noFill/>
                </a:ln>
                <a:solidFill>
                  <a:srgbClr val="000000"/>
                </a:solidFill>
                <a:effectLst/>
                <a:latin typeface="Calibri" panose="020F0502020204030204" pitchFamily="34" charset="0"/>
                <a:ea typeface="宋体" panose="02010600030101010101" pitchFamily="2" charset="-122"/>
                <a:sym typeface="+mn-ea"/>
              </a:rPr>
              <a:t>知识管理系统等</a:t>
            </a:r>
            <a:endParaRPr lang="zh-CN" altLang="en-US">
              <a:ln>
                <a:noFill/>
              </a:ln>
              <a:solidFill>
                <a:srgbClr val="000000"/>
              </a:solidFill>
              <a:effectLst/>
              <a:latin typeface="Calibri" panose="020F0502020204030204" pitchFamily="34" charset="0"/>
              <a:ea typeface="宋体" panose="02010600030101010101" pitchFamily="2" charset="-122"/>
              <a:sym typeface="+mn-ea"/>
            </a:endParaRPr>
          </a:p>
        </p:txBody>
      </p:sp>
      <p:sp>
        <p:nvSpPr>
          <p:cNvPr id="8" name="文本框 7"/>
          <p:cNvSpPr txBox="1"/>
          <p:nvPr/>
        </p:nvSpPr>
        <p:spPr>
          <a:xfrm>
            <a:off x="764540" y="3213100"/>
            <a:ext cx="4928235" cy="521970"/>
          </a:xfrm>
          <a:prstGeom prst="rect">
            <a:avLst/>
          </a:prstGeom>
          <a:noFill/>
        </p:spPr>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第二阶段</a:t>
            </a:r>
            <a:r>
              <a:rPr lang="en-US" altLang="zh-CN" sz="2800">
                <a:ln>
                  <a:noFill/>
                </a:ln>
                <a:solidFill>
                  <a:srgbClr val="000000"/>
                </a:solidFill>
                <a:effectLst/>
                <a:latin typeface="Calibri" panose="020F0502020204030204" pitchFamily="34" charset="0"/>
                <a:ea typeface="宋体" panose="02010600030101010101" pitchFamily="2" charset="-122"/>
                <a:sym typeface="+mn-ea"/>
              </a:rPr>
              <a:t>: </a:t>
            </a:r>
            <a:r>
              <a:rPr lang="zh-CN" altLang="en-US" sz="2800">
                <a:ln>
                  <a:noFill/>
                </a:ln>
                <a:solidFill>
                  <a:srgbClr val="000000"/>
                </a:solidFill>
                <a:effectLst/>
                <a:latin typeface="Calibri" panose="020F0502020204030204" pitchFamily="34" charset="0"/>
                <a:ea typeface="宋体" panose="02010600030101010101" pitchFamily="2" charset="-122"/>
                <a:sym typeface="+mn-ea"/>
              </a:rPr>
              <a:t>成熟期</a:t>
            </a:r>
            <a:r>
              <a:rPr lang="en-US" altLang="zh-CN" sz="2800">
                <a:ln>
                  <a:noFill/>
                </a:ln>
                <a:solidFill>
                  <a:srgbClr val="000000"/>
                </a:solidFill>
                <a:effectLst/>
                <a:latin typeface="Calibri" panose="020F0502020204030204" pitchFamily="34" charset="0"/>
                <a:ea typeface="宋体" panose="02010600030101010101" pitchFamily="2" charset="-122"/>
                <a:sym typeface="+mn-ea"/>
              </a:rPr>
              <a:t>(2000-2010)</a:t>
            </a:r>
            <a:endParaRPr lang="en-US" altLang="zh-CN"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9" name="圆角矩形 8"/>
          <p:cNvSpPr/>
          <p:nvPr/>
        </p:nvSpPr>
        <p:spPr>
          <a:xfrm>
            <a:off x="2536825" y="3905250"/>
            <a:ext cx="2047240" cy="55880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dirty="0"/>
              <a:t>大数据产生</a:t>
            </a:r>
            <a:endParaRPr lang="zh-CN" altLang="en-US" sz="2400" dirty="0"/>
          </a:p>
        </p:txBody>
      </p:sp>
      <p:sp>
        <p:nvSpPr>
          <p:cNvPr id="10" name="右箭头 9"/>
          <p:cNvSpPr/>
          <p:nvPr/>
        </p:nvSpPr>
        <p:spPr>
          <a:xfrm>
            <a:off x="4878070" y="3905250"/>
            <a:ext cx="647700" cy="558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5820410" y="3790315"/>
            <a:ext cx="2602230" cy="789305"/>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技术突破、</a:t>
            </a:r>
            <a:endParaRPr lang="zh-CN" altLang="en-US" sz="2400"/>
          </a:p>
          <a:p>
            <a:pPr algn="ctr"/>
            <a:r>
              <a:rPr lang="zh-CN" altLang="en-US" sz="2400"/>
              <a:t>解决方案成熟</a:t>
            </a:r>
            <a:endParaRPr lang="zh-CN" altLang="en-US" sz="2400"/>
          </a:p>
        </p:txBody>
      </p:sp>
      <p:sp>
        <p:nvSpPr>
          <p:cNvPr id="13" name="文本框 12"/>
          <p:cNvSpPr txBox="1"/>
          <p:nvPr/>
        </p:nvSpPr>
        <p:spPr>
          <a:xfrm>
            <a:off x="0" y="3874770"/>
            <a:ext cx="2471420" cy="645160"/>
          </a:xfrm>
          <a:prstGeom prst="rect">
            <a:avLst/>
          </a:prstGeom>
          <a:noFill/>
        </p:spPr>
        <p:txBody>
          <a:bodyPr wrap="square" rtlCol="0" anchor="t">
            <a:spAutoFit/>
          </a:bodyPr>
          <a:lstStyle/>
          <a:p>
            <a:pPr algn="r"/>
            <a:r>
              <a:rPr lang="zh-CN" altLang="en-US" dirty="0">
                <a:ln>
                  <a:noFill/>
                </a:ln>
                <a:solidFill>
                  <a:srgbClr val="000000"/>
                </a:solidFill>
                <a:effectLst/>
                <a:latin typeface="Calibri" panose="020F0502020204030204" pitchFamily="34" charset="0"/>
                <a:ea typeface="宋体" panose="02010600030101010101" pitchFamily="2" charset="-122"/>
                <a:sym typeface="+mn-ea"/>
              </a:rPr>
              <a:t>Web2.0应用迅猛发展</a:t>
            </a:r>
            <a:endParaRPr lang="zh-CN" altLang="en-US" dirty="0">
              <a:ln>
                <a:noFill/>
              </a:ln>
              <a:solidFill>
                <a:srgbClr val="000000"/>
              </a:solidFill>
              <a:effectLst/>
              <a:latin typeface="Calibri" panose="020F0502020204030204" pitchFamily="34" charset="0"/>
              <a:ea typeface="宋体" panose="02010600030101010101" pitchFamily="2" charset="-122"/>
              <a:sym typeface="+mn-ea"/>
            </a:endParaRPr>
          </a:p>
          <a:p>
            <a:pPr algn="r"/>
            <a:r>
              <a:rPr lang="zh-CN" altLang="en-US" dirty="0">
                <a:ln>
                  <a:noFill/>
                </a:ln>
                <a:solidFill>
                  <a:srgbClr val="000000"/>
                </a:solidFill>
                <a:effectLst/>
                <a:latin typeface="Calibri" panose="020F0502020204030204" pitchFamily="34" charset="0"/>
                <a:ea typeface="宋体" panose="02010600030101010101" pitchFamily="2" charset="-122"/>
                <a:sym typeface="+mn-ea"/>
              </a:rPr>
              <a:t>非结构化数据大量产生</a:t>
            </a:r>
            <a:endParaRPr lang="zh-CN" altLang="en-US" dirty="0">
              <a:ln>
                <a:noFill/>
              </a:ln>
              <a:solidFill>
                <a:srgbClr val="000000"/>
              </a:solidFill>
              <a:effectLst/>
              <a:latin typeface="Calibri" panose="020F0502020204030204" pitchFamily="34" charset="0"/>
              <a:ea typeface="宋体" panose="02010600030101010101" pitchFamily="2" charset="-122"/>
              <a:sym typeface="+mn-ea"/>
            </a:endParaRPr>
          </a:p>
        </p:txBody>
      </p:sp>
      <p:sp>
        <p:nvSpPr>
          <p:cNvPr id="14" name="文本框 13"/>
          <p:cNvSpPr txBox="1"/>
          <p:nvPr/>
        </p:nvSpPr>
        <p:spPr>
          <a:xfrm>
            <a:off x="8499475" y="3459480"/>
            <a:ext cx="3394075" cy="1476375"/>
          </a:xfrm>
          <a:prstGeom prst="rect">
            <a:avLst/>
          </a:prstGeom>
          <a:noFill/>
        </p:spPr>
        <p:txBody>
          <a:bodyPr wrap="square" rtlCol="0" anchor="t">
            <a:spAutoFit/>
          </a:bodyPr>
          <a:lstStyle/>
          <a:p>
            <a:r>
              <a:rPr lang="zh-CN" altLang="en-US" dirty="0">
                <a:ln>
                  <a:noFill/>
                </a:ln>
                <a:solidFill>
                  <a:srgbClr val="000000"/>
                </a:solidFill>
                <a:effectLst/>
                <a:latin typeface="Calibri" panose="020F0502020204030204" pitchFamily="34" charset="0"/>
                <a:ea typeface="宋体" panose="02010600030101010101" pitchFamily="2" charset="-122"/>
                <a:sym typeface="+mn-ea"/>
              </a:rPr>
              <a:t>两大核心技术：</a:t>
            </a:r>
            <a:endParaRPr lang="zh-CN" altLang="en-US" dirty="0">
              <a:ln>
                <a:noFill/>
              </a:ln>
              <a:solidFill>
                <a:srgbClr val="000000"/>
              </a:solidFill>
              <a:effectLst/>
              <a:latin typeface="Calibri" panose="020F0502020204030204" pitchFamily="34" charset="0"/>
              <a:ea typeface="宋体" panose="02010600030101010101" pitchFamily="2" charset="-122"/>
              <a:sym typeface="+mn-ea"/>
            </a:endParaRPr>
          </a:p>
          <a:p>
            <a:r>
              <a:rPr lang="zh-CN" altLang="en-US" dirty="0">
                <a:ln>
                  <a:noFill/>
                </a:ln>
                <a:solidFill>
                  <a:srgbClr val="000000"/>
                </a:solidFill>
                <a:effectLst/>
                <a:latin typeface="Calibri" panose="020F0502020204030204" pitchFamily="34" charset="0"/>
                <a:ea typeface="宋体" panose="02010600030101010101" pitchFamily="2" charset="-122"/>
                <a:sym typeface="+mn-ea"/>
              </a:rPr>
              <a:t>并行计算</a:t>
            </a:r>
            <a:r>
              <a:rPr lang="en-US" altLang="zh-CN" dirty="0">
                <a:ln>
                  <a:noFill/>
                </a:ln>
                <a:solidFill>
                  <a:srgbClr val="000000"/>
                </a:solidFill>
                <a:effectLst/>
                <a:latin typeface="Calibri" panose="020F0502020204030204" pitchFamily="34" charset="0"/>
                <a:ea typeface="宋体" panose="02010600030101010101" pitchFamily="2" charset="-122"/>
                <a:sym typeface="+mn-ea"/>
              </a:rPr>
              <a:t>(</a:t>
            </a:r>
            <a:r>
              <a:rPr lang="zh-CN" altLang="en-US" dirty="0">
                <a:ln>
                  <a:noFill/>
                </a:ln>
                <a:solidFill>
                  <a:srgbClr val="000000"/>
                </a:solidFill>
                <a:effectLst/>
                <a:latin typeface="Calibri" panose="020F0502020204030204" pitchFamily="34" charset="0"/>
                <a:ea typeface="宋体" panose="02010600030101010101" pitchFamily="2" charset="-122"/>
                <a:sym typeface="+mn-ea"/>
              </a:rPr>
              <a:t>如</a:t>
            </a:r>
            <a:r>
              <a:rPr lang="en-US" altLang="zh-CN" dirty="0">
                <a:ln>
                  <a:noFill/>
                </a:ln>
                <a:solidFill>
                  <a:srgbClr val="000000"/>
                </a:solidFill>
                <a:effectLst/>
                <a:latin typeface="Calibri" panose="020F0502020204030204" pitchFamily="34" charset="0"/>
                <a:ea typeface="宋体" panose="02010600030101010101" pitchFamily="2" charset="-122"/>
                <a:sym typeface="+mn-ea"/>
              </a:rPr>
              <a:t>MapReduce)</a:t>
            </a:r>
            <a:endParaRPr lang="zh-CN" altLang="en-US" dirty="0">
              <a:ln>
                <a:noFill/>
              </a:ln>
              <a:solidFill>
                <a:srgbClr val="000000"/>
              </a:solidFill>
              <a:effectLst/>
              <a:latin typeface="Calibri" panose="020F0502020204030204" pitchFamily="34" charset="0"/>
              <a:ea typeface="宋体" panose="02010600030101010101" pitchFamily="2" charset="-122"/>
              <a:sym typeface="+mn-ea"/>
            </a:endParaRPr>
          </a:p>
          <a:p>
            <a:r>
              <a:rPr lang="zh-CN" altLang="en-US" dirty="0">
                <a:ln>
                  <a:noFill/>
                </a:ln>
                <a:solidFill>
                  <a:srgbClr val="000000"/>
                </a:solidFill>
                <a:effectLst/>
                <a:latin typeface="Calibri" panose="020F0502020204030204" pitchFamily="34" charset="0"/>
                <a:ea typeface="宋体" panose="02010600030101010101" pitchFamily="2" charset="-122"/>
                <a:sym typeface="+mn-ea"/>
              </a:rPr>
              <a:t>分布式系统</a:t>
            </a:r>
            <a:r>
              <a:rPr lang="en-US" altLang="zh-CN" dirty="0">
                <a:ln>
                  <a:noFill/>
                </a:ln>
                <a:solidFill>
                  <a:srgbClr val="000000"/>
                </a:solidFill>
                <a:effectLst/>
                <a:latin typeface="Calibri" panose="020F0502020204030204" pitchFamily="34" charset="0"/>
                <a:ea typeface="宋体" panose="02010600030101010101" pitchFamily="2" charset="-122"/>
                <a:sym typeface="+mn-ea"/>
              </a:rPr>
              <a:t>(</a:t>
            </a:r>
            <a:r>
              <a:rPr lang="zh-CN" altLang="en-US" dirty="0">
                <a:ln>
                  <a:noFill/>
                </a:ln>
                <a:solidFill>
                  <a:srgbClr val="000000"/>
                </a:solidFill>
                <a:effectLst/>
                <a:latin typeface="Calibri" panose="020F0502020204030204" pitchFamily="34" charset="0"/>
                <a:ea typeface="宋体" panose="02010600030101010101" pitchFamily="2" charset="-122"/>
                <a:sym typeface="+mn-ea"/>
              </a:rPr>
              <a:t>如谷歌文件系统</a:t>
            </a:r>
            <a:r>
              <a:rPr lang="en-US" altLang="zh-CN" dirty="0">
                <a:ln>
                  <a:noFill/>
                </a:ln>
                <a:solidFill>
                  <a:srgbClr val="000000"/>
                </a:solidFill>
                <a:effectLst/>
                <a:latin typeface="Calibri" panose="020F0502020204030204" pitchFamily="34" charset="0"/>
                <a:ea typeface="宋体" panose="02010600030101010101" pitchFamily="2" charset="-122"/>
                <a:sym typeface="+mn-ea"/>
              </a:rPr>
              <a:t>GFS)</a:t>
            </a:r>
            <a:endParaRPr lang="en-US" altLang="zh-CN" dirty="0">
              <a:ln>
                <a:noFill/>
              </a:ln>
              <a:solidFill>
                <a:srgbClr val="000000"/>
              </a:solidFill>
              <a:effectLst/>
              <a:latin typeface="Calibri" panose="020F0502020204030204" pitchFamily="34" charset="0"/>
              <a:ea typeface="宋体" panose="02010600030101010101" pitchFamily="2" charset="-122"/>
              <a:sym typeface="+mn-ea"/>
            </a:endParaRPr>
          </a:p>
          <a:p>
            <a:endParaRPr lang="en-US" altLang="zh-CN" dirty="0">
              <a:ln>
                <a:noFill/>
              </a:ln>
              <a:solidFill>
                <a:srgbClr val="000000"/>
              </a:solidFill>
              <a:effectLst/>
              <a:latin typeface="Calibri" panose="020F0502020204030204" pitchFamily="34" charset="0"/>
              <a:ea typeface="宋体" panose="02010600030101010101" pitchFamily="2" charset="-122"/>
              <a:sym typeface="+mn-ea"/>
            </a:endParaRPr>
          </a:p>
          <a:p>
            <a:r>
              <a:rPr lang="en-US" altLang="zh-CN" dirty="0">
                <a:ln>
                  <a:noFill/>
                </a:ln>
                <a:solidFill>
                  <a:srgbClr val="000000"/>
                </a:solidFill>
                <a:effectLst/>
                <a:latin typeface="Calibri" panose="020F0502020204030204" pitchFamily="34" charset="0"/>
                <a:ea typeface="宋体" panose="02010600030101010101" pitchFamily="2" charset="-122"/>
                <a:sym typeface="+mn-ea"/>
              </a:rPr>
              <a:t>Hadoop</a:t>
            </a:r>
            <a:r>
              <a:rPr lang="zh-CN" altLang="en-US" dirty="0">
                <a:ln>
                  <a:noFill/>
                </a:ln>
                <a:solidFill>
                  <a:srgbClr val="000000"/>
                </a:solidFill>
                <a:effectLst/>
                <a:latin typeface="Calibri" panose="020F0502020204030204" pitchFamily="34" charset="0"/>
                <a:ea typeface="宋体" panose="02010600030101010101" pitchFamily="2" charset="-122"/>
                <a:sym typeface="+mn-ea"/>
              </a:rPr>
              <a:t>平台盛行</a:t>
            </a:r>
            <a:endParaRPr lang="zh-CN" altLang="en-US" dirty="0">
              <a:ln>
                <a:noFill/>
              </a:ln>
              <a:solidFill>
                <a:srgbClr val="000000"/>
              </a:solidFill>
              <a:effectLst/>
              <a:latin typeface="Calibri" panose="020F0502020204030204" pitchFamily="34" charset="0"/>
              <a:ea typeface="宋体" panose="02010600030101010101" pitchFamily="2" charset="-122"/>
              <a:sym typeface="+mn-ea"/>
            </a:endParaRPr>
          </a:p>
        </p:txBody>
      </p:sp>
      <p:sp>
        <p:nvSpPr>
          <p:cNvPr id="15" name="文本框 14"/>
          <p:cNvSpPr txBox="1"/>
          <p:nvPr/>
        </p:nvSpPr>
        <p:spPr>
          <a:xfrm>
            <a:off x="764540" y="4953635"/>
            <a:ext cx="5446395" cy="521970"/>
          </a:xfrm>
          <a:prstGeom prst="rect">
            <a:avLst/>
          </a:prstGeom>
          <a:noFill/>
        </p:spPr>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第三阶段</a:t>
            </a:r>
            <a:r>
              <a:rPr lang="en-US" altLang="zh-CN" sz="2800">
                <a:ln>
                  <a:noFill/>
                </a:ln>
                <a:solidFill>
                  <a:srgbClr val="000000"/>
                </a:solidFill>
                <a:effectLst/>
                <a:latin typeface="Calibri" panose="020F0502020204030204" pitchFamily="34" charset="0"/>
                <a:ea typeface="宋体" panose="02010600030101010101" pitchFamily="2" charset="-122"/>
                <a:sym typeface="+mn-ea"/>
              </a:rPr>
              <a:t>: </a:t>
            </a:r>
            <a:r>
              <a:rPr lang="zh-CN" altLang="en-US" sz="2800">
                <a:ln>
                  <a:noFill/>
                </a:ln>
                <a:solidFill>
                  <a:srgbClr val="000000"/>
                </a:solidFill>
                <a:effectLst/>
                <a:latin typeface="Calibri" panose="020F0502020204030204" pitchFamily="34" charset="0"/>
                <a:ea typeface="宋体" panose="02010600030101010101" pitchFamily="2" charset="-122"/>
                <a:sym typeface="+mn-ea"/>
              </a:rPr>
              <a:t>大规模应用期</a:t>
            </a:r>
            <a:r>
              <a:rPr lang="en-US" altLang="zh-CN" sz="2800">
                <a:ln>
                  <a:noFill/>
                </a:ln>
                <a:solidFill>
                  <a:srgbClr val="000000"/>
                </a:solidFill>
                <a:effectLst/>
                <a:latin typeface="Calibri" panose="020F0502020204030204" pitchFamily="34" charset="0"/>
                <a:ea typeface="宋体" panose="02010600030101010101" pitchFamily="2" charset="-122"/>
                <a:sym typeface="+mn-ea"/>
              </a:rPr>
              <a:t>(2010-)</a:t>
            </a:r>
            <a:endParaRPr lang="en-US" altLang="zh-CN"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16" name="圆角矩形 15"/>
          <p:cNvSpPr/>
          <p:nvPr/>
        </p:nvSpPr>
        <p:spPr>
          <a:xfrm>
            <a:off x="2537460" y="5654040"/>
            <a:ext cx="2046605" cy="558800"/>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大数据应用</a:t>
            </a:r>
            <a:endParaRPr lang="zh-CN" altLang="en-US" sz="2400"/>
          </a:p>
        </p:txBody>
      </p:sp>
      <p:sp>
        <p:nvSpPr>
          <p:cNvPr id="17" name="右箭头 16"/>
          <p:cNvSpPr/>
          <p:nvPr/>
        </p:nvSpPr>
        <p:spPr>
          <a:xfrm>
            <a:off x="4878070" y="5654040"/>
            <a:ext cx="647700" cy="558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5819775" y="5539105"/>
            <a:ext cx="2603500" cy="789305"/>
          </a:xfrm>
          <a:prstGeom prst="round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数据驱动决策</a:t>
            </a:r>
            <a:endParaRPr lang="zh-CN" altLang="en-US" sz="2400"/>
          </a:p>
          <a:p>
            <a:pPr algn="ctr"/>
            <a:r>
              <a:rPr lang="zh-CN" altLang="en-US" sz="2400"/>
              <a:t>智能化程度提高</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2"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2"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2"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par>
                          <p:cTn id="33" fill="hold">
                            <p:stCondLst>
                              <p:cond delay="1000"/>
                            </p:stCondLst>
                            <p:childTnLst>
                              <p:par>
                                <p:cTn id="34" presetID="22" presetClass="entr" presetSubtype="8" fill="hold" grpId="2"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2"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500"/>
                                        <p:tgtEl>
                                          <p:spTgt spid="16"/>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par>
                          <p:cTn id="54" fill="hold">
                            <p:stCondLst>
                              <p:cond delay="1000"/>
                            </p:stCondLst>
                            <p:childTnLst>
                              <p:par>
                                <p:cTn id="55" presetID="22" presetClass="entr" presetSubtype="8" fill="hold" grpId="2" nodeType="after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animBg="1"/>
      <p:bldP spid="11" grpId="2" animBg="1"/>
      <p:bldP spid="4" grpId="0" animBg="1"/>
      <p:bldP spid="5" grpId="1" animBg="1"/>
      <p:bldP spid="5" grpId="2" animBg="1"/>
      <p:bldP spid="6" grpId="0"/>
      <p:bldP spid="7" grpId="0"/>
      <p:bldP spid="9" grpId="1" animBg="1"/>
      <p:bldP spid="9" grpId="2" animBg="1"/>
      <p:bldP spid="10" grpId="0" animBg="1"/>
      <p:bldP spid="12" grpId="1" animBg="1"/>
      <p:bldP spid="12" grpId="2" animBg="1"/>
      <p:bldP spid="13" grpId="0"/>
      <p:bldP spid="14" grpId="0"/>
      <p:bldP spid="16" grpId="1" animBg="1"/>
      <p:bldP spid="16" grpId="2" animBg="1"/>
      <p:bldP spid="17" grpId="0" animBg="1"/>
      <p:bldP spid="18" grpId="1" animBg="1"/>
      <p:bldP spid="18" grpId="2"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en-US" altLang="zh-CN" sz="4800" b="1" dirty="0">
                <a:solidFill>
                  <a:srgbClr val="000000"/>
                </a:solidFill>
                <a:latin typeface="宋体" panose="02010600030101010101" pitchFamily="2" charset="-122"/>
                <a:ea typeface="宋体" panose="02010600030101010101" pitchFamily="2" charset="-122"/>
              </a:rPr>
              <a:t>1.2 </a:t>
            </a:r>
            <a:r>
              <a:rPr lang="zh-CN" altLang="en-US" sz="4800" b="1" dirty="0">
                <a:solidFill>
                  <a:srgbClr val="000000"/>
                </a:solidFill>
                <a:latin typeface="宋体" panose="02010600030101010101" pitchFamily="2" charset="-122"/>
                <a:ea typeface="宋体" panose="02010600030101010101" pitchFamily="2" charset="-122"/>
              </a:rPr>
              <a:t>大数据的概念</a:t>
            </a:r>
            <a:endParaRPr lang="zh-CN" altLang="en-US" sz="4800" b="1" dirty="0">
              <a:solidFill>
                <a:srgbClr val="000000"/>
              </a:solidFill>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8200" y="3152816"/>
            <a:ext cx="1973751" cy="2423370"/>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5380" y="3404298"/>
            <a:ext cx="2133785" cy="2171888"/>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7132" y="2329785"/>
            <a:ext cx="2339543" cy="3246401"/>
          </a:xfrm>
          <a:prstGeom prst="rect">
            <a:avLst/>
          </a:prstGeom>
        </p:spPr>
      </p:pic>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60789" y="3350953"/>
            <a:ext cx="2293819" cy="2225233"/>
          </a:xfrm>
          <a:prstGeom prst="rect">
            <a:avLst/>
          </a:prstGeom>
        </p:spPr>
      </p:pic>
      <p:sp>
        <p:nvSpPr>
          <p:cNvPr id="14" name="文本框 13"/>
          <p:cNvSpPr txBox="1"/>
          <p:nvPr/>
        </p:nvSpPr>
        <p:spPr>
          <a:xfrm>
            <a:off x="1014595" y="5717919"/>
            <a:ext cx="1620957" cy="954107"/>
          </a:xfrm>
          <a:prstGeom prst="rect">
            <a:avLst/>
          </a:prstGeom>
          <a:noFill/>
        </p:spPr>
        <p:txBody>
          <a:bodyPr wrap="none" rtlCol="0">
            <a:spAutoFit/>
          </a:bodyPr>
          <a:lstStyle/>
          <a:p>
            <a:pPr algn="ctr"/>
            <a:r>
              <a:rPr lang="en-US" altLang="zh-CN" sz="2800" dirty="0">
                <a:highlight>
                  <a:srgbClr val="FFFF00"/>
                </a:highlight>
              </a:rPr>
              <a:t>V</a:t>
            </a:r>
            <a:r>
              <a:rPr lang="en-US" altLang="zh-CN" sz="2800" dirty="0"/>
              <a:t>olume</a:t>
            </a:r>
            <a:endParaRPr lang="en-US" altLang="zh-CN" sz="2800" dirty="0"/>
          </a:p>
          <a:p>
            <a:pPr algn="ctr"/>
            <a:r>
              <a:rPr lang="zh-CN" altLang="en-US" sz="2800" dirty="0"/>
              <a:t>数据量大</a:t>
            </a:r>
            <a:endParaRPr lang="zh-CN" altLang="en-US" sz="2800" dirty="0"/>
          </a:p>
        </p:txBody>
      </p:sp>
      <p:sp>
        <p:nvSpPr>
          <p:cNvPr id="15" name="文本框 14"/>
          <p:cNvSpPr txBox="1"/>
          <p:nvPr/>
        </p:nvSpPr>
        <p:spPr>
          <a:xfrm>
            <a:off x="4060963" y="5717918"/>
            <a:ext cx="1620957" cy="954107"/>
          </a:xfrm>
          <a:prstGeom prst="rect">
            <a:avLst/>
          </a:prstGeom>
          <a:noFill/>
        </p:spPr>
        <p:txBody>
          <a:bodyPr wrap="none" rtlCol="0">
            <a:spAutoFit/>
          </a:bodyPr>
          <a:lstStyle/>
          <a:p>
            <a:pPr algn="ctr"/>
            <a:r>
              <a:rPr lang="en-US" altLang="zh-CN" sz="2800" dirty="0">
                <a:highlight>
                  <a:srgbClr val="FFFF00"/>
                </a:highlight>
              </a:rPr>
              <a:t>V</a:t>
            </a:r>
            <a:r>
              <a:rPr lang="en-US" altLang="zh-CN" sz="2800" dirty="0"/>
              <a:t>ariety</a:t>
            </a:r>
            <a:endParaRPr lang="en-US" altLang="zh-CN" sz="2800" dirty="0"/>
          </a:p>
          <a:p>
            <a:pPr algn="ctr"/>
            <a:r>
              <a:rPr lang="zh-CN" altLang="en-US" sz="2800" dirty="0"/>
              <a:t>类型繁多</a:t>
            </a:r>
            <a:endParaRPr lang="zh-CN" altLang="en-US" sz="2800" dirty="0"/>
          </a:p>
        </p:txBody>
      </p:sp>
      <p:sp>
        <p:nvSpPr>
          <p:cNvPr id="16" name="文本框 15"/>
          <p:cNvSpPr txBox="1"/>
          <p:nvPr/>
        </p:nvSpPr>
        <p:spPr>
          <a:xfrm>
            <a:off x="7226048" y="5733127"/>
            <a:ext cx="1386205" cy="953135"/>
          </a:xfrm>
          <a:prstGeom prst="rect">
            <a:avLst/>
          </a:prstGeom>
          <a:noFill/>
        </p:spPr>
        <p:txBody>
          <a:bodyPr wrap="none" rtlCol="0">
            <a:spAutoFit/>
          </a:bodyPr>
          <a:lstStyle/>
          <a:p>
            <a:pPr algn="ctr"/>
            <a:r>
              <a:rPr lang="en-US" altLang="zh-CN" sz="2800" dirty="0">
                <a:highlight>
                  <a:srgbClr val="FFFF00"/>
                </a:highlight>
              </a:rPr>
              <a:t>V</a:t>
            </a:r>
            <a:r>
              <a:rPr lang="en-US" altLang="zh-CN" sz="2800" dirty="0"/>
              <a:t>elocity</a:t>
            </a:r>
            <a:endParaRPr lang="en-US" altLang="zh-CN" sz="2800" dirty="0"/>
          </a:p>
          <a:p>
            <a:pPr algn="ctr"/>
            <a:r>
              <a:rPr lang="zh-CN" altLang="en-US" sz="2800" dirty="0"/>
              <a:t>速度快</a:t>
            </a:r>
            <a:endParaRPr lang="zh-CN" altLang="en-US" sz="2800" dirty="0"/>
          </a:p>
        </p:txBody>
      </p:sp>
      <p:sp>
        <p:nvSpPr>
          <p:cNvPr id="17" name="文本框 16"/>
          <p:cNvSpPr txBox="1"/>
          <p:nvPr/>
        </p:nvSpPr>
        <p:spPr>
          <a:xfrm>
            <a:off x="9517683" y="5733127"/>
            <a:ext cx="1980029" cy="954107"/>
          </a:xfrm>
          <a:prstGeom prst="rect">
            <a:avLst/>
          </a:prstGeom>
          <a:noFill/>
        </p:spPr>
        <p:txBody>
          <a:bodyPr wrap="none" rtlCol="0">
            <a:spAutoFit/>
          </a:bodyPr>
          <a:lstStyle/>
          <a:p>
            <a:pPr algn="ctr"/>
            <a:r>
              <a:rPr lang="en-US" altLang="zh-CN" sz="2800" dirty="0">
                <a:highlight>
                  <a:srgbClr val="FFFF00"/>
                </a:highlight>
              </a:rPr>
              <a:t>V</a:t>
            </a:r>
            <a:r>
              <a:rPr lang="en-US" altLang="zh-CN" sz="2800" dirty="0"/>
              <a:t>alue</a:t>
            </a:r>
            <a:endParaRPr lang="en-US" altLang="zh-CN" sz="2800" dirty="0"/>
          </a:p>
          <a:p>
            <a:pPr algn="ctr"/>
            <a:r>
              <a:rPr lang="zh-CN" altLang="en-US" sz="2800" dirty="0"/>
              <a:t>价值密度低</a:t>
            </a:r>
            <a:endParaRPr lang="zh-CN" altLang="en-US" sz="2800" dirty="0"/>
          </a:p>
        </p:txBody>
      </p:sp>
      <p:sp>
        <p:nvSpPr>
          <p:cNvPr id="18" name="文本框 17"/>
          <p:cNvSpPr txBox="1"/>
          <p:nvPr/>
        </p:nvSpPr>
        <p:spPr>
          <a:xfrm>
            <a:off x="838200" y="1641067"/>
            <a:ext cx="1826141" cy="584775"/>
          </a:xfrm>
          <a:prstGeom prst="rect">
            <a:avLst/>
          </a:prstGeom>
          <a:noFill/>
        </p:spPr>
        <p:txBody>
          <a:bodyPr wrap="none" rtlCol="0">
            <a:spAutoFit/>
          </a:bodyPr>
          <a:lstStyle/>
          <a:p>
            <a:r>
              <a:rPr lang="zh-CN" altLang="en-US" sz="3200" dirty="0"/>
              <a:t>四个特点</a:t>
            </a:r>
            <a:endParaRPr lang="zh-CN" altLang="en-US" sz="3200" dirty="0"/>
          </a:p>
        </p:txBody>
      </p:sp>
      <p:sp>
        <p:nvSpPr>
          <p:cNvPr id="20" name="文本框 19"/>
          <p:cNvSpPr txBox="1"/>
          <p:nvPr/>
        </p:nvSpPr>
        <p:spPr>
          <a:xfrm>
            <a:off x="3222826" y="1577014"/>
            <a:ext cx="1247215" cy="646986"/>
          </a:xfrm>
          <a:prstGeom prst="wedgeRoundRectCallout">
            <a:avLst>
              <a:gd name="adj1" fmla="val -90207"/>
              <a:gd name="adj2" fmla="val 3231"/>
              <a:gd name="adj3" fmla="val 16667"/>
            </a:avLst>
          </a:prstGeom>
          <a:solidFill>
            <a:srgbClr val="FFFF00"/>
          </a:solidFill>
          <a:ln>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CN" sz="3200" dirty="0"/>
              <a:t>4V</a:t>
            </a:r>
            <a:endParaRPr lang="zh-CN" altLang="en-US" sz="3200" dirty="0"/>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3" name="文本框 2"/>
          <p:cNvSpPr txBox="1"/>
          <p:nvPr/>
        </p:nvSpPr>
        <p:spPr>
          <a:xfrm>
            <a:off x="9690100" y="2614295"/>
            <a:ext cx="1469390" cy="578840"/>
          </a:xfrm>
          <a:prstGeom prst="wedgeRoundRectCallout">
            <a:avLst>
              <a:gd name="adj1" fmla="val -25280"/>
              <a:gd name="adj2" fmla="val 106532"/>
              <a:gd name="adj3" fmla="val 16667"/>
            </a:avLst>
          </a:prstGeom>
          <a:ln>
            <a:noFill/>
          </a:ln>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r>
              <a:rPr lang="zh-CN" altLang="en-US" sz="2800" dirty="0"/>
              <a:t>稀疏性</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anim calcmode="lin" valueType="num">
                                      <p:cBhvr>
                                        <p:cTn id="31" dur="1000" fill="hold"/>
                                        <p:tgtEl>
                                          <p:spTgt spid="15"/>
                                        </p:tgtEl>
                                        <p:attrNameLst>
                                          <p:attrName>ppt_x</p:attrName>
                                        </p:attrNameLst>
                                      </p:cBhvr>
                                      <p:tavLst>
                                        <p:tav tm="0">
                                          <p:val>
                                            <p:strVal val="#ppt_x"/>
                                          </p:val>
                                        </p:tav>
                                        <p:tav tm="100000">
                                          <p:val>
                                            <p:strVal val="#ppt_x"/>
                                          </p:val>
                                        </p:tav>
                                      </p:tavLst>
                                    </p:anim>
                                    <p:anim calcmode="lin" valueType="num">
                                      <p:cBhvr>
                                        <p:cTn id="3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anim calcmode="lin" valueType="num">
                                      <p:cBhvr>
                                        <p:cTn id="48" dur="1000" fill="hold"/>
                                        <p:tgtEl>
                                          <p:spTgt spid="13"/>
                                        </p:tgtEl>
                                        <p:attrNameLst>
                                          <p:attrName>ppt_x</p:attrName>
                                        </p:attrNameLst>
                                      </p:cBhvr>
                                      <p:tavLst>
                                        <p:tav tm="0">
                                          <p:val>
                                            <p:strVal val="#ppt_x"/>
                                          </p:val>
                                        </p:tav>
                                        <p:tav tm="100000">
                                          <p:val>
                                            <p:strVal val="#ppt_x"/>
                                          </p:val>
                                        </p:tav>
                                      </p:tavLst>
                                    </p:anim>
                                    <p:anim calcmode="lin" valueType="num">
                                      <p:cBhvr>
                                        <p:cTn id="49" dur="10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1000"/>
                                        <p:tgtEl>
                                          <p:spTgt spid="17"/>
                                        </p:tgtEl>
                                      </p:cBhvr>
                                    </p:animEffect>
                                    <p:anim calcmode="lin" valueType="num">
                                      <p:cBhvr>
                                        <p:cTn id="53" dur="1000" fill="hold"/>
                                        <p:tgtEl>
                                          <p:spTgt spid="17"/>
                                        </p:tgtEl>
                                        <p:attrNameLst>
                                          <p:attrName>ppt_x</p:attrName>
                                        </p:attrNameLst>
                                      </p:cBhvr>
                                      <p:tavLst>
                                        <p:tav tm="0">
                                          <p:val>
                                            <p:strVal val="#ppt_x"/>
                                          </p:val>
                                        </p:tav>
                                        <p:tav tm="100000">
                                          <p:val>
                                            <p:strVal val="#ppt_x"/>
                                          </p:val>
                                        </p:tav>
                                      </p:tavLst>
                                    </p:anim>
                                    <p:anim calcmode="lin" valueType="num">
                                      <p:cBhvr>
                                        <p:cTn id="5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fade">
                                      <p:cBhvr>
                                        <p:cTn id="59" dur="500"/>
                                        <p:tgtEl>
                                          <p:spTgt spid="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20" grpId="0" animBg="1"/>
      <p:bldP spid="3"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zh-CN" sz="4800" b="1" dirty="0">
                <a:solidFill>
                  <a:srgbClr val="000000"/>
                </a:solidFill>
                <a:latin typeface="宋体" panose="02010600030101010101" pitchFamily="2" charset="-122"/>
                <a:ea typeface="宋体" panose="02010600030101010101" pitchFamily="2" charset="-122"/>
              </a:rPr>
              <a:t>1.2.1	</a:t>
            </a:r>
            <a:r>
              <a:rPr lang="zh-CN" altLang="en-US" sz="4800" b="1" dirty="0">
                <a:solidFill>
                  <a:srgbClr val="000000"/>
                </a:solidFill>
                <a:latin typeface="宋体" panose="02010600030101010101" pitchFamily="2" charset="-122"/>
                <a:ea typeface="宋体" panose="02010600030101010101" pitchFamily="2" charset="-122"/>
              </a:rPr>
              <a:t>数据量大</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14339" name="Rectangle 6"/>
          <p:cNvSpPr>
            <a:spLocks noChangeArrowheads="1"/>
          </p:cNvSpPr>
          <p:nvPr/>
        </p:nvSpPr>
        <p:spPr bwMode="auto">
          <a:xfrm>
            <a:off x="1000431" y="2085748"/>
            <a:ext cx="9677401" cy="85939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4000" dirty="0"/>
              <a:t>造纸术 </a:t>
            </a:r>
            <a:r>
              <a:rPr lang="en-US" altLang="zh-CN" sz="4000" dirty="0"/>
              <a:t>+ </a:t>
            </a:r>
            <a:r>
              <a:rPr lang="zh-CN" altLang="en-US" sz="4000" dirty="0"/>
              <a:t>印刷术</a:t>
            </a:r>
            <a:endParaRPr lang="zh-CN" altLang="en-US" sz="4000" dirty="0"/>
          </a:p>
        </p:txBody>
      </p:sp>
      <p:sp>
        <p:nvSpPr>
          <p:cNvPr id="4" name="矩形: 圆角 3"/>
          <p:cNvSpPr/>
          <p:nvPr/>
        </p:nvSpPr>
        <p:spPr>
          <a:xfrm>
            <a:off x="1295400" y="1619584"/>
            <a:ext cx="2843982" cy="6784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r>
              <a:rPr lang="zh-CN" altLang="en-US" sz="2800" dirty="0"/>
              <a:t>第一次数据爆炸</a:t>
            </a:r>
            <a:endParaRPr lang="zh-CN" altLang="en-US" sz="2800" dirty="0"/>
          </a:p>
        </p:txBody>
      </p:sp>
      <p:sp>
        <p:nvSpPr>
          <p:cNvPr id="5" name="Rectangle 6"/>
          <p:cNvSpPr>
            <a:spLocks noChangeArrowheads="1"/>
          </p:cNvSpPr>
          <p:nvPr/>
        </p:nvSpPr>
        <p:spPr bwMode="auto">
          <a:xfrm>
            <a:off x="1000431" y="3627448"/>
            <a:ext cx="9677401" cy="2968033"/>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4000" dirty="0"/>
              <a:t>进入信息社会后</a:t>
            </a:r>
            <a:endParaRPr lang="en-US" altLang="zh-CN" sz="4000" dirty="0"/>
          </a:p>
          <a:p>
            <a:pPr eaLnBrk="1" hangingPunct="1"/>
            <a:r>
              <a:rPr lang="zh-CN" altLang="en-US" sz="2800" b="1" dirty="0">
                <a:latin typeface="宋体" panose="02010600030101010101" pitchFamily="2" charset="-122"/>
              </a:rPr>
              <a:t>数据摩尔定律：</a:t>
            </a:r>
            <a:endParaRPr lang="en-US" altLang="zh-CN" sz="2800" b="1" dirty="0">
              <a:latin typeface="宋体" panose="02010600030101010101" pitchFamily="2" charset="-122"/>
            </a:endParaRPr>
          </a:p>
          <a:p>
            <a:pPr eaLnBrk="1" hangingPunct="1"/>
            <a:r>
              <a:rPr lang="en-US" altLang="zh-CN" sz="2800" dirty="0">
                <a:latin typeface="宋体" panose="02010600030101010101" pitchFamily="2" charset="-122"/>
              </a:rPr>
              <a:t>	</a:t>
            </a:r>
            <a:r>
              <a:rPr lang="zh-CN" altLang="en-US" sz="2800" dirty="0">
                <a:latin typeface="宋体" panose="02010600030101010101" pitchFamily="2" charset="-122"/>
              </a:rPr>
              <a:t>数据量在以每年</a:t>
            </a:r>
            <a:r>
              <a:rPr lang="en-US" altLang="zh-CN" sz="2800" dirty="0">
                <a:latin typeface="宋体" panose="02010600030101010101" pitchFamily="2" charset="-122"/>
              </a:rPr>
              <a:t>50%</a:t>
            </a:r>
            <a:r>
              <a:rPr lang="zh-CN" altLang="en-US" sz="2800" dirty="0">
                <a:latin typeface="宋体" panose="02010600030101010101" pitchFamily="2" charset="-122"/>
              </a:rPr>
              <a:t>的速度增长，即每两年就增长一倍</a:t>
            </a:r>
            <a:endParaRPr lang="zh-CN" altLang="en-US" sz="2800" dirty="0">
              <a:latin typeface="宋体" panose="02010600030101010101" pitchFamily="2" charset="-122"/>
            </a:endParaRPr>
          </a:p>
          <a:p>
            <a:pPr eaLnBrk="1" hangingPunct="1">
              <a:buFontTx/>
              <a:buNone/>
            </a:pPr>
            <a:endParaRPr lang="en-US" altLang="zh-CN" sz="2800" dirty="0"/>
          </a:p>
          <a:p>
            <a:pPr eaLnBrk="1" hangingPunct="1">
              <a:buFontTx/>
              <a:buNone/>
            </a:pPr>
            <a:r>
              <a:rPr lang="en-US" altLang="zh-CN" sz="2800" dirty="0"/>
              <a:t>2010</a:t>
            </a:r>
            <a:r>
              <a:rPr lang="zh-CN" altLang="en-US" sz="2800" dirty="0"/>
              <a:t>年 </a:t>
            </a:r>
            <a:r>
              <a:rPr lang="en-US" altLang="zh-CN" sz="2800" dirty="0"/>
              <a:t>= 100 * 1986</a:t>
            </a:r>
            <a:r>
              <a:rPr lang="zh-CN" altLang="en-US" sz="2800" dirty="0"/>
              <a:t>年</a:t>
            </a:r>
            <a:endParaRPr lang="en-US" altLang="zh-CN" sz="2800" dirty="0"/>
          </a:p>
          <a:p>
            <a:pPr eaLnBrk="1" hangingPunct="1">
              <a:buFontTx/>
              <a:buNone/>
            </a:pPr>
            <a:r>
              <a:rPr lang="en-US" altLang="zh-CN" sz="2800" dirty="0"/>
              <a:t>2020</a:t>
            </a:r>
            <a:r>
              <a:rPr lang="zh-CN" altLang="en-US" sz="2800" dirty="0"/>
              <a:t>年</a:t>
            </a:r>
            <a:r>
              <a:rPr lang="en-US" altLang="zh-CN" sz="2800" dirty="0"/>
              <a:t> =   40 * 2010</a:t>
            </a:r>
            <a:r>
              <a:rPr lang="zh-CN" altLang="en-US" sz="2800" dirty="0"/>
              <a:t>年 </a:t>
            </a:r>
            <a:r>
              <a:rPr lang="en-US" altLang="zh-CN" sz="2800" dirty="0"/>
              <a:t>= </a:t>
            </a:r>
            <a:r>
              <a:rPr lang="en-US" altLang="zh-CN" sz="2800" dirty="0">
                <a:latin typeface="微软雅黑" panose="020B0503020204020204" charset="-122"/>
                <a:ea typeface="微软雅黑" panose="020B0503020204020204" charset="-122"/>
              </a:rPr>
              <a:t>44ZB</a:t>
            </a:r>
            <a:endParaRPr lang="zh-CN" altLang="en-US" sz="2800" dirty="0"/>
          </a:p>
        </p:txBody>
      </p:sp>
      <p:sp>
        <p:nvSpPr>
          <p:cNvPr id="6" name="矩形: 圆角 5"/>
          <p:cNvSpPr/>
          <p:nvPr/>
        </p:nvSpPr>
        <p:spPr>
          <a:xfrm>
            <a:off x="1295400" y="3288235"/>
            <a:ext cx="2843982" cy="6784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lvl="0"/>
            <a:r>
              <a:rPr lang="zh-CN" altLang="en-US" sz="2800" dirty="0"/>
              <a:t>第二次数据爆炸</a:t>
            </a:r>
            <a:endParaRPr lang="zh-CN" altLang="en-US" sz="2800" dirty="0"/>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nimBg="1"/>
      <p:bldP spid="4"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zh-CN" sz="4800" b="1" dirty="0">
                <a:solidFill>
                  <a:srgbClr val="000000"/>
                </a:solidFill>
                <a:latin typeface="宋体" panose="02010600030101010101" pitchFamily="2" charset="-122"/>
                <a:ea typeface="宋体" panose="02010600030101010101" pitchFamily="2" charset="-122"/>
              </a:rPr>
              <a:t>1.2.1	</a:t>
            </a:r>
            <a:r>
              <a:rPr lang="zh-CN" altLang="en-US" sz="4800" b="1" dirty="0">
                <a:solidFill>
                  <a:srgbClr val="000000"/>
                </a:solidFill>
                <a:latin typeface="宋体" panose="02010600030101010101" pitchFamily="2" charset="-122"/>
                <a:ea typeface="宋体" panose="02010600030101010101" pitchFamily="2" charset="-122"/>
              </a:rPr>
              <a:t>数据量大</a:t>
            </a:r>
            <a:endParaRPr lang="zh-CN" altLang="en-US" sz="4800" b="1" dirty="0">
              <a:solidFill>
                <a:srgbClr val="000000"/>
              </a:solidFill>
              <a:latin typeface="宋体" panose="02010600030101010101" pitchFamily="2" charset="-122"/>
              <a:ea typeface="宋体" panose="02010600030101010101" pitchFamily="2"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43399" y="2553181"/>
            <a:ext cx="7315200" cy="408717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表格 2"/>
          <p:cNvGraphicFramePr>
            <a:graphicFrameLocks noGrp="1"/>
          </p:cNvGraphicFramePr>
          <p:nvPr/>
        </p:nvGraphicFramePr>
        <p:xfrm>
          <a:off x="671052" y="1976918"/>
          <a:ext cx="2426110" cy="4663440"/>
        </p:xfrm>
        <a:graphic>
          <a:graphicData uri="http://schemas.openxmlformats.org/drawingml/2006/table">
            <a:tbl>
              <a:tblPr firstRow="1" bandRow="1">
                <a:tableStyleId>{5C22544A-7EE6-4342-B048-85BDC9FD1C3A}</a:tableStyleId>
              </a:tblPr>
              <a:tblGrid>
                <a:gridCol w="2426110"/>
              </a:tblGrid>
              <a:tr h="370840">
                <a:tc>
                  <a:txBody>
                    <a:bodyPr/>
                    <a:lstStyle/>
                    <a:p>
                      <a:r>
                        <a:rPr lang="zh-CN" altLang="en-US" sz="2800" dirty="0"/>
                        <a:t>数据存储单位</a:t>
                      </a:r>
                      <a:endParaRPr lang="zh-CN" altLang="en-US" sz="2800" dirty="0"/>
                    </a:p>
                  </a:txBody>
                  <a:tcPr/>
                </a:tc>
              </a:tr>
              <a:tr h="370840">
                <a:tc>
                  <a:txBody>
                    <a:bodyPr/>
                    <a:lstStyle/>
                    <a:p>
                      <a:r>
                        <a:rPr lang="en-US" altLang="zh-CN" sz="2800" dirty="0"/>
                        <a:t>Byte</a:t>
                      </a:r>
                      <a:endParaRPr lang="zh-CN" altLang="en-US" sz="2800" dirty="0"/>
                    </a:p>
                  </a:txBody>
                  <a:tcPr/>
                </a:tc>
              </a:tr>
              <a:tr h="370840">
                <a:tc>
                  <a:txBody>
                    <a:bodyPr/>
                    <a:lstStyle/>
                    <a:p>
                      <a:r>
                        <a:rPr lang="en-US" altLang="zh-CN" sz="2800" dirty="0"/>
                        <a:t>KB</a:t>
                      </a:r>
                      <a:endParaRPr lang="zh-CN" altLang="en-US" sz="2800" dirty="0"/>
                    </a:p>
                  </a:txBody>
                  <a:tcPr/>
                </a:tc>
              </a:tr>
              <a:tr h="370840">
                <a:tc>
                  <a:txBody>
                    <a:bodyPr/>
                    <a:lstStyle/>
                    <a:p>
                      <a:r>
                        <a:rPr lang="en-US" altLang="zh-CN" sz="2800" dirty="0"/>
                        <a:t>MB</a:t>
                      </a:r>
                      <a:endParaRPr lang="zh-CN" altLang="en-US" sz="2800" dirty="0"/>
                    </a:p>
                  </a:txBody>
                  <a:tcPr/>
                </a:tc>
              </a:tr>
              <a:tr h="370840">
                <a:tc>
                  <a:txBody>
                    <a:bodyPr/>
                    <a:lstStyle/>
                    <a:p>
                      <a:r>
                        <a:rPr lang="en-US" altLang="zh-CN" sz="2800" dirty="0"/>
                        <a:t>GB</a:t>
                      </a:r>
                      <a:endParaRPr lang="zh-CN" altLang="en-US" sz="2800" dirty="0"/>
                    </a:p>
                  </a:txBody>
                  <a:tcPr/>
                </a:tc>
              </a:tr>
              <a:tr h="370840">
                <a:tc>
                  <a:txBody>
                    <a:bodyPr/>
                    <a:lstStyle/>
                    <a:p>
                      <a:r>
                        <a:rPr lang="en-US" altLang="zh-CN" sz="2800" dirty="0"/>
                        <a:t>TB</a:t>
                      </a:r>
                      <a:r>
                        <a:rPr lang="zh-CN" altLang="en-US" sz="2800" dirty="0"/>
                        <a:t>（太字节）</a:t>
                      </a:r>
                      <a:endParaRPr lang="zh-CN" altLang="en-US" sz="2800" dirty="0"/>
                    </a:p>
                  </a:txBody>
                  <a:tcPr/>
                </a:tc>
              </a:tr>
              <a:tr h="370840">
                <a:tc>
                  <a:txBody>
                    <a:bodyPr/>
                    <a:lstStyle/>
                    <a:p>
                      <a:r>
                        <a:rPr lang="en-US" altLang="zh-CN" sz="2800" dirty="0"/>
                        <a:t>PB</a:t>
                      </a:r>
                      <a:r>
                        <a:rPr lang="zh-CN" altLang="en-US" sz="2800" dirty="0"/>
                        <a:t>（拍字节）</a:t>
                      </a:r>
                      <a:endParaRPr lang="zh-CN" altLang="en-US" sz="2800" dirty="0"/>
                    </a:p>
                  </a:txBody>
                  <a:tcPr/>
                </a:tc>
              </a:tr>
              <a:tr h="370840">
                <a:tc>
                  <a:txBody>
                    <a:bodyPr/>
                    <a:lstStyle/>
                    <a:p>
                      <a:r>
                        <a:rPr lang="en-US" altLang="zh-CN" sz="2800" dirty="0"/>
                        <a:t>EB</a:t>
                      </a:r>
                      <a:r>
                        <a:rPr lang="zh-CN" altLang="en-US" sz="2800" dirty="0"/>
                        <a:t>（艾字节）</a:t>
                      </a:r>
                      <a:endParaRPr lang="zh-CN" altLang="en-US" sz="2800" dirty="0"/>
                    </a:p>
                  </a:txBody>
                  <a:tcPr/>
                </a:tc>
              </a:tr>
              <a:tr h="370840">
                <a:tc>
                  <a:txBody>
                    <a:bodyPr/>
                    <a:lstStyle/>
                    <a:p>
                      <a:r>
                        <a:rPr lang="en-US" altLang="zh-CN" sz="2800" dirty="0"/>
                        <a:t>ZB</a:t>
                      </a:r>
                      <a:r>
                        <a:rPr lang="zh-CN" altLang="en-US" sz="2800" dirty="0"/>
                        <a:t>（泽字节</a:t>
                      </a:r>
                      <a:r>
                        <a:rPr lang="en-US" altLang="zh-CN" sz="2800" dirty="0"/>
                        <a:t>)</a:t>
                      </a:r>
                      <a:endParaRPr lang="zh-CN" altLang="en-US" sz="2800" dirty="0"/>
                    </a:p>
                  </a:txBody>
                  <a:tcPr/>
                </a:tc>
              </a:tr>
            </a:tbl>
          </a:graphicData>
        </a:graphic>
      </p:graphicFrame>
      <p:sp>
        <p:nvSpPr>
          <p:cNvPr id="4" name="文本框 3"/>
          <p:cNvSpPr txBox="1"/>
          <p:nvPr/>
        </p:nvSpPr>
        <p:spPr>
          <a:xfrm>
            <a:off x="4758813" y="1561420"/>
            <a:ext cx="6762135" cy="830997"/>
          </a:xfrm>
          <a:prstGeom prst="rect">
            <a:avLst/>
          </a:prstGeom>
          <a:noFill/>
        </p:spPr>
        <p:txBody>
          <a:bodyPr wrap="square">
            <a:spAutoFit/>
          </a:bodyPr>
          <a:lstStyle/>
          <a:p>
            <a:pPr algn="ctr"/>
            <a:r>
              <a:rPr lang="zh-CN" altLang="en-US" sz="2400" b="0" i="0" dirty="0">
                <a:solidFill>
                  <a:srgbClr val="333333"/>
                </a:solidFill>
                <a:effectLst/>
                <a:latin typeface="微软雅黑" panose="020B0503020204020204" charset="-122"/>
                <a:ea typeface="微软雅黑" panose="020B0503020204020204" charset="-122"/>
              </a:rPr>
              <a:t>国家超级计算广州中心业务主机</a:t>
            </a:r>
            <a:r>
              <a:rPr lang="en-US" altLang="zh-CN" sz="2400" b="0" i="0" dirty="0">
                <a:solidFill>
                  <a:srgbClr val="333333"/>
                </a:solidFill>
                <a:effectLst/>
                <a:latin typeface="微软雅黑" panose="020B0503020204020204" charset="-122"/>
                <a:ea typeface="微软雅黑" panose="020B0503020204020204" charset="-122"/>
              </a:rPr>
              <a:t>——“</a:t>
            </a:r>
            <a:r>
              <a:rPr lang="zh-CN" altLang="en-US" sz="2400" b="0" i="0" dirty="0">
                <a:solidFill>
                  <a:srgbClr val="333333"/>
                </a:solidFill>
                <a:effectLst/>
                <a:latin typeface="微软雅黑" panose="020B0503020204020204" charset="-122"/>
                <a:ea typeface="微软雅黑" panose="020B0503020204020204" charset="-122"/>
              </a:rPr>
              <a:t>天河二号”</a:t>
            </a:r>
            <a:endParaRPr lang="en-US" altLang="zh-CN" sz="2400" b="0" i="0" dirty="0">
              <a:solidFill>
                <a:srgbClr val="333333"/>
              </a:solidFill>
              <a:effectLst/>
              <a:latin typeface="微软雅黑" panose="020B0503020204020204" charset="-122"/>
              <a:ea typeface="微软雅黑" panose="020B0503020204020204" charset="-122"/>
            </a:endParaRPr>
          </a:p>
          <a:p>
            <a:pPr algn="ctr"/>
            <a:r>
              <a:rPr lang="zh-CN" altLang="en-US" sz="2400" dirty="0">
                <a:solidFill>
                  <a:srgbClr val="333333"/>
                </a:solidFill>
                <a:latin typeface="微软雅黑" panose="020B0503020204020204" charset="-122"/>
                <a:ea typeface="微软雅黑" panose="020B0503020204020204" charset="-122"/>
              </a:rPr>
              <a:t>机房占地</a:t>
            </a:r>
            <a:r>
              <a:rPr lang="en-US" altLang="zh-CN" sz="2400" dirty="0">
                <a:solidFill>
                  <a:srgbClr val="333333"/>
                </a:solidFill>
                <a:latin typeface="微软雅黑" panose="020B0503020204020204" charset="-122"/>
                <a:ea typeface="微软雅黑" panose="020B0503020204020204" charset="-122"/>
              </a:rPr>
              <a:t>17500</a:t>
            </a:r>
            <a:r>
              <a:rPr lang="zh-CN" altLang="en-US" sz="2400" dirty="0">
                <a:solidFill>
                  <a:srgbClr val="333333"/>
                </a:solidFill>
                <a:latin typeface="微软雅黑" panose="020B0503020204020204" charset="-122"/>
                <a:ea typeface="微软雅黑" panose="020B0503020204020204" charset="-122"/>
              </a:rPr>
              <a:t>平方米，总容量</a:t>
            </a:r>
            <a:r>
              <a:rPr lang="en-US" altLang="zh-CN" sz="2400" dirty="0">
                <a:solidFill>
                  <a:srgbClr val="333333"/>
                </a:solidFill>
                <a:latin typeface="微软雅黑" panose="020B0503020204020204" charset="-122"/>
                <a:ea typeface="微软雅黑" panose="020B0503020204020204" charset="-122"/>
              </a:rPr>
              <a:t>19PB</a:t>
            </a:r>
            <a:endParaRPr lang="zh-CN" altLang="en-US" sz="2400" dirty="0"/>
          </a:p>
        </p:txBody>
      </p:sp>
      <p:sp>
        <p:nvSpPr>
          <p:cNvPr id="3" name="灯片编号占位符 2"/>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ircle(out)">
                                      <p:cBhvr>
                                        <p:cTn id="7" dur="2000"/>
                                        <p:tgtEl>
                                          <p:spTgt spid="102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sz="4800" b="1" dirty="0">
                <a:solidFill>
                  <a:srgbClr val="000000"/>
                </a:solidFill>
                <a:latin typeface="宋体" panose="02010600030101010101" pitchFamily="2" charset="-122"/>
                <a:ea typeface="宋体" panose="02010600030101010101" pitchFamily="2" charset="-122"/>
              </a:rPr>
              <a:t>1.2.2 </a:t>
            </a:r>
            <a:r>
              <a:rPr lang="zh-CN" altLang="en-US" sz="4800" b="1" dirty="0">
                <a:solidFill>
                  <a:srgbClr val="000000"/>
                </a:solidFill>
                <a:latin typeface="宋体" panose="02010600030101010101" pitchFamily="2" charset="-122"/>
                <a:ea typeface="宋体" panose="02010600030101010101" pitchFamily="2" charset="-122"/>
              </a:rPr>
              <a:t>数据类型繁多</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15364" name="Rectangle 3"/>
          <p:cNvSpPr>
            <a:spLocks noChangeArrowheads="1"/>
          </p:cNvSpPr>
          <p:nvPr/>
        </p:nvSpPr>
        <p:spPr bwMode="auto">
          <a:xfrm>
            <a:off x="230465" y="1994729"/>
            <a:ext cx="707923" cy="387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indent="0">
              <a:spcBef>
                <a:spcPct val="20000"/>
              </a:spcBef>
              <a:buClr>
                <a:srgbClr val="FF3300"/>
              </a:buClr>
            </a:pPr>
            <a:r>
              <a:rPr lang="zh-CN" altLang="en-US" sz="3200" dirty="0"/>
              <a:t>大</a:t>
            </a:r>
            <a:endParaRPr lang="en-US" altLang="zh-CN" sz="3200" dirty="0"/>
          </a:p>
          <a:p>
            <a:pPr marL="0" indent="0">
              <a:spcBef>
                <a:spcPct val="20000"/>
              </a:spcBef>
              <a:buClr>
                <a:srgbClr val="FF3300"/>
              </a:buClr>
            </a:pPr>
            <a:r>
              <a:rPr lang="zh-CN" altLang="en-US" sz="3200" dirty="0"/>
              <a:t>数</a:t>
            </a:r>
            <a:endParaRPr lang="en-US" altLang="zh-CN" sz="3200" dirty="0"/>
          </a:p>
          <a:p>
            <a:pPr marL="0" indent="0">
              <a:spcBef>
                <a:spcPct val="20000"/>
              </a:spcBef>
              <a:buClr>
                <a:srgbClr val="FF3300"/>
              </a:buClr>
            </a:pPr>
            <a:r>
              <a:rPr lang="zh-CN" altLang="en-US" sz="3200" dirty="0"/>
              <a:t>据</a:t>
            </a:r>
            <a:endParaRPr lang="en-US" altLang="zh-CN" sz="3200" dirty="0"/>
          </a:p>
          <a:p>
            <a:pPr marL="0" indent="0">
              <a:spcBef>
                <a:spcPct val="20000"/>
              </a:spcBef>
              <a:buClr>
                <a:srgbClr val="FF3300"/>
              </a:buClr>
            </a:pPr>
            <a:r>
              <a:rPr lang="zh-CN" altLang="en-US" sz="3200" dirty="0"/>
              <a:t>类型</a:t>
            </a:r>
            <a:endParaRPr lang="en-US" altLang="zh-CN" sz="3200" dirty="0"/>
          </a:p>
          <a:p>
            <a:pPr marL="0" indent="0">
              <a:spcBef>
                <a:spcPct val="20000"/>
              </a:spcBef>
              <a:buClr>
                <a:srgbClr val="FF3300"/>
              </a:buClr>
            </a:pPr>
            <a:r>
              <a:rPr lang="zh-CN" altLang="en-US" sz="3200" dirty="0"/>
              <a:t>组成</a:t>
            </a:r>
            <a:endParaRPr lang="zh-CN" altLang="en-US" sz="3200" dirty="0"/>
          </a:p>
        </p:txBody>
      </p:sp>
      <p:sp>
        <p:nvSpPr>
          <p:cNvPr id="15366" name="Text Box 5"/>
          <p:cNvSpPr txBox="1">
            <a:spLocks noChangeArrowheads="1"/>
          </p:cNvSpPr>
          <p:nvPr/>
        </p:nvSpPr>
        <p:spPr bwMode="auto">
          <a:xfrm>
            <a:off x="6853036" y="1092549"/>
            <a:ext cx="285206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Clr>
                <a:srgbClr val="FF3300"/>
              </a:buClr>
              <a:buFont typeface="Wingdings" panose="05000000000000000000" pitchFamily="2" charset="2"/>
              <a:buChar char="p"/>
            </a:pPr>
            <a:r>
              <a:rPr lang="zh-CN" altLang="en-US" dirty="0"/>
              <a:t>科学研究</a:t>
            </a:r>
            <a:endParaRPr lang="zh-CN" altLang="en-US" dirty="0"/>
          </a:p>
          <a:p>
            <a:pPr lvl="1" eaLnBrk="1" hangingPunct="1"/>
            <a:r>
              <a:rPr lang="en-US" altLang="zh-CN" dirty="0"/>
              <a:t>–</a:t>
            </a:r>
            <a:r>
              <a:rPr lang="zh-CN" altLang="en-US" dirty="0"/>
              <a:t>基因组</a:t>
            </a:r>
            <a:endParaRPr lang="zh-CN" altLang="en-US" dirty="0"/>
          </a:p>
          <a:p>
            <a:pPr lvl="1" eaLnBrk="1" hangingPunct="1"/>
            <a:r>
              <a:rPr lang="en-US" altLang="zh-CN" dirty="0"/>
              <a:t>–</a:t>
            </a:r>
            <a:r>
              <a:rPr lang="zh-CN" altLang="en-US" dirty="0"/>
              <a:t>地球与空间探测</a:t>
            </a:r>
            <a:endParaRPr lang="zh-CN" altLang="en-US" dirty="0"/>
          </a:p>
          <a:p>
            <a:pPr eaLnBrk="1" hangingPunct="1">
              <a:buClr>
                <a:srgbClr val="FF3300"/>
              </a:buClr>
              <a:buFont typeface="Wingdings" panose="05000000000000000000" pitchFamily="2" charset="2"/>
              <a:buChar char="p"/>
            </a:pPr>
            <a:r>
              <a:rPr lang="zh-CN" altLang="en-US" dirty="0"/>
              <a:t>企业应用</a:t>
            </a:r>
            <a:endParaRPr lang="zh-CN" altLang="en-US" dirty="0"/>
          </a:p>
          <a:p>
            <a:pPr lvl="1" eaLnBrk="1" hangingPunct="1"/>
            <a:r>
              <a:rPr lang="en-US" altLang="zh-CN" dirty="0"/>
              <a:t>–Email</a:t>
            </a:r>
            <a:r>
              <a:rPr lang="zh-CN" altLang="en-US" dirty="0"/>
              <a:t>、文档、文件</a:t>
            </a:r>
            <a:endParaRPr lang="zh-CN" altLang="en-US" dirty="0"/>
          </a:p>
          <a:p>
            <a:pPr lvl="1" eaLnBrk="1" hangingPunct="1"/>
            <a:r>
              <a:rPr lang="en-US" altLang="zh-CN" dirty="0"/>
              <a:t>–</a:t>
            </a:r>
            <a:r>
              <a:rPr lang="zh-CN" altLang="en-US" dirty="0"/>
              <a:t>应用日志、交易记录</a:t>
            </a:r>
            <a:endParaRPr lang="zh-CN" altLang="en-US" dirty="0"/>
          </a:p>
        </p:txBody>
      </p:sp>
      <p:pic>
        <p:nvPicPr>
          <p:cNvPr id="12" name="图形 11" descr="聊天气泡 纯色填充"/>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6775" y="4413249"/>
            <a:ext cx="914400" cy="914400"/>
          </a:xfrm>
          <a:prstGeom prst="rect">
            <a:avLst/>
          </a:prstGeom>
        </p:spPr>
      </p:pic>
      <p:sp>
        <p:nvSpPr>
          <p:cNvPr id="16" name="椭圆 15"/>
          <p:cNvSpPr/>
          <p:nvPr/>
        </p:nvSpPr>
        <p:spPr>
          <a:xfrm>
            <a:off x="938458" y="1629050"/>
            <a:ext cx="4551680" cy="4834685"/>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875679" y="1604644"/>
            <a:ext cx="4551680" cy="4551680"/>
            <a:chOff x="5897134" y="919395"/>
            <a:chExt cx="4551680" cy="4551680"/>
          </a:xfrm>
        </p:grpSpPr>
        <p:sp>
          <p:nvSpPr>
            <p:cNvPr id="18" name="不完整圆 17"/>
            <p:cNvSpPr/>
            <p:nvPr/>
          </p:nvSpPr>
          <p:spPr>
            <a:xfrm>
              <a:off x="5897134" y="919395"/>
              <a:ext cx="4551680" cy="4551680"/>
            </a:xfrm>
            <a:prstGeom prst="pie">
              <a:avLst>
                <a:gd name="adj1" fmla="val 16200000"/>
                <a:gd name="adj2" fmla="val 19285716"/>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不完整圆 4"/>
            <p:cNvSpPr txBox="1"/>
            <p:nvPr/>
          </p:nvSpPr>
          <p:spPr>
            <a:xfrm>
              <a:off x="8172974" y="1377295"/>
              <a:ext cx="1246293" cy="7857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lvl="0" indent="0" algn="ctr" defTabSz="1866900">
                <a:lnSpc>
                  <a:spcPct val="90000"/>
                </a:lnSpc>
                <a:spcBef>
                  <a:spcPct val="0"/>
                </a:spcBef>
                <a:spcAft>
                  <a:spcPct val="35000"/>
                </a:spcAft>
                <a:buNone/>
              </a:pPr>
              <a:r>
                <a:rPr lang="en-US" altLang="zh-CN" sz="3200" kern="1200" dirty="0"/>
                <a:t>10%</a:t>
              </a:r>
              <a:endParaRPr lang="zh-CN" altLang="en-US" sz="3200" kern="1200" dirty="0"/>
            </a:p>
          </p:txBody>
        </p:sp>
      </p:grpSp>
      <p:sp>
        <p:nvSpPr>
          <p:cNvPr id="20" name="文本框 19"/>
          <p:cNvSpPr txBox="1"/>
          <p:nvPr/>
        </p:nvSpPr>
        <p:spPr>
          <a:xfrm>
            <a:off x="1387848" y="4074180"/>
            <a:ext cx="3695242" cy="584775"/>
          </a:xfrm>
          <a:prstGeom prst="rect">
            <a:avLst/>
          </a:prstGeom>
          <a:noFill/>
        </p:spPr>
        <p:txBody>
          <a:bodyPr wrap="none" rtlCol="0">
            <a:spAutoFit/>
          </a:bodyPr>
          <a:lstStyle/>
          <a:p>
            <a:r>
              <a:rPr lang="en-US" altLang="zh-CN" sz="3200" dirty="0"/>
              <a:t>90%</a:t>
            </a:r>
            <a:r>
              <a:rPr lang="zh-CN" altLang="en-US" sz="3200" dirty="0"/>
              <a:t>的非结构化数据</a:t>
            </a:r>
            <a:endParaRPr lang="zh-CN" altLang="en-US" sz="3200" dirty="0"/>
          </a:p>
        </p:txBody>
      </p:sp>
      <p:pic>
        <p:nvPicPr>
          <p:cNvPr id="21" name="图形 20" descr="信封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87149" y="4637896"/>
            <a:ext cx="914400" cy="914400"/>
          </a:xfrm>
          <a:prstGeom prst="rect">
            <a:avLst/>
          </a:prstGeom>
        </p:spPr>
      </p:pic>
      <p:pic>
        <p:nvPicPr>
          <p:cNvPr id="22" name="图形 21" descr="音乐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61180" y="2089615"/>
            <a:ext cx="914400" cy="914400"/>
          </a:xfrm>
          <a:prstGeom prst="rect">
            <a:avLst/>
          </a:prstGeom>
        </p:spPr>
      </p:pic>
      <p:pic>
        <p:nvPicPr>
          <p:cNvPr id="23" name="图形 22" descr="摄像机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22329" y="3128339"/>
            <a:ext cx="914400" cy="914400"/>
          </a:xfrm>
          <a:prstGeom prst="rect">
            <a:avLst/>
          </a:prstGeom>
        </p:spPr>
      </p:pic>
      <p:pic>
        <p:nvPicPr>
          <p:cNvPr id="24" name="图形 23" descr="标记 纯色填充"/>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757098" y="5312904"/>
            <a:ext cx="914400" cy="914400"/>
          </a:xfrm>
          <a:prstGeom prst="rect">
            <a:avLst/>
          </a:prstGeom>
        </p:spPr>
      </p:pic>
      <p:pic>
        <p:nvPicPr>
          <p:cNvPr id="25" name="图形 24" descr="聊天 纯色填充"/>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523509" y="4709880"/>
            <a:ext cx="914400" cy="914400"/>
          </a:xfrm>
          <a:prstGeom prst="rect">
            <a:avLst/>
          </a:prstGeom>
        </p:spPr>
      </p:pic>
      <p:sp>
        <p:nvSpPr>
          <p:cNvPr id="26" name="文本框 25"/>
          <p:cNvSpPr txBox="1"/>
          <p:nvPr/>
        </p:nvSpPr>
        <p:spPr>
          <a:xfrm>
            <a:off x="4126047" y="1334582"/>
            <a:ext cx="2373076" cy="783193"/>
          </a:xfrm>
          <a:prstGeom prst="wedgeRoundRectCallout">
            <a:avLst>
              <a:gd name="adj1" fmla="val -41390"/>
              <a:gd name="adj2" fmla="val 83674"/>
              <a:gd name="adj3" fmla="val 16667"/>
            </a:avLst>
          </a:prstGeom>
          <a:noFill/>
          <a:ln>
            <a:solidFill>
              <a:srgbClr val="00B0F0"/>
            </a:solidFill>
          </a:ln>
        </p:spPr>
        <p:txBody>
          <a:bodyPr wrap="square">
            <a:spAutoFit/>
          </a:bodyPr>
          <a:lstStyle/>
          <a:p>
            <a:r>
              <a:rPr lang="zh-CN" altLang="en-US" sz="2000" dirty="0"/>
              <a:t>结构化数据</a:t>
            </a:r>
            <a:endParaRPr lang="zh-CN" altLang="en-US" sz="2000" dirty="0"/>
          </a:p>
          <a:p>
            <a:r>
              <a:rPr lang="zh-CN" altLang="en-US" sz="2000" dirty="0"/>
              <a:t>存储于关系数据库</a:t>
            </a:r>
            <a:endParaRPr lang="zh-CN" altLang="en-US" sz="2000" dirty="0"/>
          </a:p>
        </p:txBody>
      </p:sp>
      <p:pic>
        <p:nvPicPr>
          <p:cNvPr id="28" name="图形 27" descr="照相机 纯色填充"/>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282727" y="3035456"/>
            <a:ext cx="914400" cy="914400"/>
          </a:xfrm>
          <a:prstGeom prst="rect">
            <a:avLst/>
          </a:prstGeom>
        </p:spPr>
      </p:pic>
      <p:sp>
        <p:nvSpPr>
          <p:cNvPr id="29" name="Rectangle 3"/>
          <p:cNvSpPr>
            <a:spLocks noChangeArrowheads="1"/>
          </p:cNvSpPr>
          <p:nvPr/>
        </p:nvSpPr>
        <p:spPr bwMode="auto">
          <a:xfrm>
            <a:off x="6119333" y="2062544"/>
            <a:ext cx="707923" cy="387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indent="0">
              <a:spcBef>
                <a:spcPct val="20000"/>
              </a:spcBef>
              <a:buClr>
                <a:srgbClr val="FF3300"/>
              </a:buClr>
            </a:pPr>
            <a:r>
              <a:rPr lang="zh-CN" altLang="en-US" sz="3200" dirty="0"/>
              <a:t>大</a:t>
            </a:r>
            <a:endParaRPr lang="en-US" altLang="zh-CN" sz="3200" dirty="0"/>
          </a:p>
          <a:p>
            <a:pPr marL="0" indent="0">
              <a:spcBef>
                <a:spcPct val="20000"/>
              </a:spcBef>
              <a:buClr>
                <a:srgbClr val="FF3300"/>
              </a:buClr>
            </a:pPr>
            <a:r>
              <a:rPr lang="zh-CN" altLang="en-US" sz="3200" dirty="0"/>
              <a:t>数</a:t>
            </a:r>
            <a:endParaRPr lang="en-US" altLang="zh-CN" sz="3200" dirty="0"/>
          </a:p>
          <a:p>
            <a:pPr marL="0" indent="0">
              <a:spcBef>
                <a:spcPct val="20000"/>
              </a:spcBef>
              <a:buClr>
                <a:srgbClr val="FF3300"/>
              </a:buClr>
            </a:pPr>
            <a:r>
              <a:rPr lang="zh-CN" altLang="en-US" sz="3200" dirty="0"/>
              <a:t>据</a:t>
            </a:r>
            <a:endParaRPr lang="en-US" altLang="zh-CN" sz="3200" dirty="0"/>
          </a:p>
          <a:p>
            <a:pPr marL="0" indent="0">
              <a:spcBef>
                <a:spcPct val="20000"/>
              </a:spcBef>
              <a:buClr>
                <a:srgbClr val="FF3300"/>
              </a:buClr>
            </a:pPr>
            <a:r>
              <a:rPr lang="zh-CN" altLang="en-US" sz="3200" dirty="0"/>
              <a:t>来源</a:t>
            </a:r>
            <a:endParaRPr lang="en-US" altLang="zh-CN" sz="3200" dirty="0"/>
          </a:p>
          <a:p>
            <a:pPr marL="0" indent="0">
              <a:spcBef>
                <a:spcPct val="20000"/>
              </a:spcBef>
              <a:buClr>
                <a:srgbClr val="FF3300"/>
              </a:buClr>
            </a:pPr>
            <a:r>
              <a:rPr lang="zh-CN" altLang="en-US" sz="3200" dirty="0"/>
              <a:t>众多</a:t>
            </a:r>
            <a:endParaRPr lang="zh-CN" altLang="en-US" sz="3200" dirty="0"/>
          </a:p>
        </p:txBody>
      </p:sp>
      <p:pic>
        <p:nvPicPr>
          <p:cNvPr id="30" name="Picture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76805" y="3130325"/>
            <a:ext cx="4316194" cy="3488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文本框 31"/>
          <p:cNvSpPr txBox="1"/>
          <p:nvPr/>
        </p:nvSpPr>
        <p:spPr>
          <a:xfrm>
            <a:off x="9499579" y="1117566"/>
            <a:ext cx="2828749" cy="1754326"/>
          </a:xfrm>
          <a:prstGeom prst="rect">
            <a:avLst/>
          </a:prstGeom>
          <a:noFill/>
        </p:spPr>
        <p:txBody>
          <a:bodyPr wrap="square">
            <a:spAutoFit/>
          </a:bodyPr>
          <a:lstStyle/>
          <a:p>
            <a:pPr eaLnBrk="1" hangingPunct="1">
              <a:buClr>
                <a:srgbClr val="FF3300"/>
              </a:buClr>
              <a:buFont typeface="Wingdings" panose="05000000000000000000" pitchFamily="2" charset="2"/>
              <a:buChar char="p"/>
            </a:pPr>
            <a:r>
              <a:rPr lang="en-US" altLang="zh-CN" dirty="0"/>
              <a:t>Web 1.0</a:t>
            </a:r>
            <a:r>
              <a:rPr lang="zh-CN" altLang="en-US" dirty="0"/>
              <a:t>数据</a:t>
            </a:r>
            <a:endParaRPr lang="zh-CN" altLang="en-US" dirty="0"/>
          </a:p>
          <a:p>
            <a:pPr lvl="1" eaLnBrk="1" hangingPunct="1"/>
            <a:r>
              <a:rPr lang="en-US" altLang="zh-CN" dirty="0"/>
              <a:t>–</a:t>
            </a:r>
            <a:r>
              <a:rPr lang="zh-CN" altLang="en-US" dirty="0"/>
              <a:t>文本、图像、视频</a:t>
            </a:r>
            <a:endParaRPr lang="en-US" altLang="zh-CN" dirty="0"/>
          </a:p>
          <a:p>
            <a:pPr lvl="1" eaLnBrk="1" hangingPunct="1"/>
            <a:endParaRPr lang="zh-CN" altLang="en-US" dirty="0"/>
          </a:p>
          <a:p>
            <a:pPr eaLnBrk="1" hangingPunct="1">
              <a:buClr>
                <a:srgbClr val="FF3300"/>
              </a:buClr>
              <a:buFont typeface="Wingdings" panose="05000000000000000000" pitchFamily="2" charset="2"/>
              <a:buChar char="p"/>
            </a:pPr>
            <a:r>
              <a:rPr lang="en-US" altLang="zh-CN" b="1" dirty="0"/>
              <a:t>Web 2.0</a:t>
            </a:r>
            <a:r>
              <a:rPr lang="zh-CN" altLang="en-US" dirty="0"/>
              <a:t>数据</a:t>
            </a:r>
            <a:endParaRPr lang="zh-CN" altLang="en-US" dirty="0"/>
          </a:p>
          <a:p>
            <a:pPr lvl="1" eaLnBrk="1" hangingPunct="1"/>
            <a:r>
              <a:rPr lang="en-US" altLang="zh-CN" dirty="0"/>
              <a:t>–</a:t>
            </a:r>
            <a:r>
              <a:rPr lang="zh-CN" altLang="en-US" dirty="0"/>
              <a:t>查询日志</a:t>
            </a:r>
            <a:r>
              <a:rPr lang="en-US" altLang="zh-CN" b="1" dirty="0"/>
              <a:t>/</a:t>
            </a:r>
            <a:r>
              <a:rPr lang="zh-CN" altLang="en-US" dirty="0"/>
              <a:t>点击流</a:t>
            </a:r>
            <a:endParaRPr lang="zh-CN" altLang="en-US" dirty="0"/>
          </a:p>
          <a:p>
            <a:pPr lvl="1" eaLnBrk="1" hangingPunct="1"/>
            <a:r>
              <a:rPr lang="en-US" altLang="zh-CN" dirty="0"/>
              <a:t>–</a:t>
            </a:r>
            <a:r>
              <a:rPr lang="en-US" altLang="zh-CN" b="1" dirty="0"/>
              <a:t>Twitter/ Blog </a:t>
            </a:r>
            <a:endParaRPr lang="en-US" altLang="zh-CN" dirty="0"/>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1000"/>
                                        <p:tgtEl>
                                          <p:spTgt spid="28"/>
                                        </p:tgtEl>
                                      </p:cBhvr>
                                    </p:animEffect>
                                    <p:anim calcmode="lin" valueType="num">
                                      <p:cBhvr>
                                        <p:cTn id="26" dur="1000" fill="hold"/>
                                        <p:tgtEl>
                                          <p:spTgt spid="28"/>
                                        </p:tgtEl>
                                        <p:attrNameLst>
                                          <p:attrName>ppt_x</p:attrName>
                                        </p:attrNameLst>
                                      </p:cBhvr>
                                      <p:tavLst>
                                        <p:tav tm="0">
                                          <p:val>
                                            <p:strVal val="#ppt_x"/>
                                          </p:val>
                                        </p:tav>
                                        <p:tav tm="100000">
                                          <p:val>
                                            <p:strVal val="#ppt_x"/>
                                          </p:val>
                                        </p:tav>
                                      </p:tavLst>
                                    </p:anim>
                                    <p:anim calcmode="lin" valueType="num">
                                      <p:cBhvr>
                                        <p:cTn id="27" dur="1000" fill="hold"/>
                                        <p:tgtEl>
                                          <p:spTgt spid="28"/>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1000"/>
                                        <p:tgtEl>
                                          <p:spTgt spid="23"/>
                                        </p:tgtEl>
                                      </p:cBhvr>
                                    </p:animEffect>
                                    <p:anim calcmode="lin" valueType="num">
                                      <p:cBhvr>
                                        <p:cTn id="32" dur="1000" fill="hold"/>
                                        <p:tgtEl>
                                          <p:spTgt spid="23"/>
                                        </p:tgtEl>
                                        <p:attrNameLst>
                                          <p:attrName>ppt_x</p:attrName>
                                        </p:attrNameLst>
                                      </p:cBhvr>
                                      <p:tavLst>
                                        <p:tav tm="0">
                                          <p:val>
                                            <p:strVal val="#ppt_x"/>
                                          </p:val>
                                        </p:tav>
                                        <p:tav tm="100000">
                                          <p:val>
                                            <p:strVal val="#ppt_x"/>
                                          </p:val>
                                        </p:tav>
                                      </p:tavLst>
                                    </p:anim>
                                    <p:anim calcmode="lin" valueType="num">
                                      <p:cBhvr>
                                        <p:cTn id="33" dur="1000" fill="hold"/>
                                        <p:tgtEl>
                                          <p:spTgt spid="23"/>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nodeType="after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1000"/>
                                        <p:tgtEl>
                                          <p:spTgt spid="25"/>
                                        </p:tgtEl>
                                      </p:cBhvr>
                                    </p:animEffect>
                                    <p:anim calcmode="lin" valueType="num">
                                      <p:cBhvr>
                                        <p:cTn id="38" dur="1000" fill="hold"/>
                                        <p:tgtEl>
                                          <p:spTgt spid="25"/>
                                        </p:tgtEl>
                                        <p:attrNameLst>
                                          <p:attrName>ppt_x</p:attrName>
                                        </p:attrNameLst>
                                      </p:cBhvr>
                                      <p:tavLst>
                                        <p:tav tm="0">
                                          <p:val>
                                            <p:strVal val="#ppt_x"/>
                                          </p:val>
                                        </p:tav>
                                        <p:tav tm="100000">
                                          <p:val>
                                            <p:strVal val="#ppt_x"/>
                                          </p:val>
                                        </p:tav>
                                      </p:tavLst>
                                    </p:anim>
                                    <p:anim calcmode="lin" valueType="num">
                                      <p:cBhvr>
                                        <p:cTn id="39" dur="1000" fill="hold"/>
                                        <p:tgtEl>
                                          <p:spTgt spid="25"/>
                                        </p:tgtEl>
                                        <p:attrNameLst>
                                          <p:attrName>ppt_y</p:attrName>
                                        </p:attrNameLst>
                                      </p:cBhvr>
                                      <p:tavLst>
                                        <p:tav tm="0">
                                          <p:val>
                                            <p:strVal val="#ppt_y+.1"/>
                                          </p:val>
                                        </p:tav>
                                        <p:tav tm="100000">
                                          <p:val>
                                            <p:strVal val="#ppt_y"/>
                                          </p:val>
                                        </p:tav>
                                      </p:tavLst>
                                    </p:anim>
                                  </p:childTnLst>
                                </p:cTn>
                              </p:par>
                            </p:childTnLst>
                          </p:cTn>
                        </p:par>
                        <p:par>
                          <p:cTn id="40" fill="hold">
                            <p:stCondLst>
                              <p:cond delay="5000"/>
                            </p:stCondLst>
                            <p:childTnLst>
                              <p:par>
                                <p:cTn id="41" presetID="42" presetClass="entr" presetSubtype="0"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1000"/>
                                        <p:tgtEl>
                                          <p:spTgt spid="24"/>
                                        </p:tgtEl>
                                      </p:cBhvr>
                                    </p:animEffect>
                                    <p:anim calcmode="lin" valueType="num">
                                      <p:cBhvr>
                                        <p:cTn id="44" dur="1000" fill="hold"/>
                                        <p:tgtEl>
                                          <p:spTgt spid="24"/>
                                        </p:tgtEl>
                                        <p:attrNameLst>
                                          <p:attrName>ppt_x</p:attrName>
                                        </p:attrNameLst>
                                      </p:cBhvr>
                                      <p:tavLst>
                                        <p:tav tm="0">
                                          <p:val>
                                            <p:strVal val="#ppt_x"/>
                                          </p:val>
                                        </p:tav>
                                        <p:tav tm="100000">
                                          <p:val>
                                            <p:strVal val="#ppt_x"/>
                                          </p:val>
                                        </p:tav>
                                      </p:tavLst>
                                    </p:anim>
                                    <p:anim calcmode="lin" valueType="num">
                                      <p:cBhvr>
                                        <p:cTn id="45" dur="1000" fill="hold"/>
                                        <p:tgtEl>
                                          <p:spTgt spid="24"/>
                                        </p:tgtEl>
                                        <p:attrNameLst>
                                          <p:attrName>ppt_y</p:attrName>
                                        </p:attrNameLst>
                                      </p:cBhvr>
                                      <p:tavLst>
                                        <p:tav tm="0">
                                          <p:val>
                                            <p:strVal val="#ppt_y+.1"/>
                                          </p:val>
                                        </p:tav>
                                        <p:tav tm="100000">
                                          <p:val>
                                            <p:strVal val="#ppt_y"/>
                                          </p:val>
                                        </p:tav>
                                      </p:tavLst>
                                    </p:anim>
                                  </p:childTnLst>
                                </p:cTn>
                              </p:par>
                            </p:childTnLst>
                          </p:cTn>
                        </p:par>
                        <p:par>
                          <p:cTn id="46" fill="hold">
                            <p:stCondLst>
                              <p:cond delay="6000"/>
                            </p:stCondLst>
                            <p:childTnLst>
                              <p:par>
                                <p:cTn id="47" presetID="42" presetClass="entr" presetSubtype="0" fill="hold"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000"/>
                                        <p:tgtEl>
                                          <p:spTgt spid="21"/>
                                        </p:tgtEl>
                                      </p:cBhvr>
                                    </p:animEffect>
                                    <p:anim calcmode="lin" valueType="num">
                                      <p:cBhvr>
                                        <p:cTn id="50" dur="1000" fill="hold"/>
                                        <p:tgtEl>
                                          <p:spTgt spid="21"/>
                                        </p:tgtEl>
                                        <p:attrNameLst>
                                          <p:attrName>ppt_x</p:attrName>
                                        </p:attrNameLst>
                                      </p:cBhvr>
                                      <p:tavLst>
                                        <p:tav tm="0">
                                          <p:val>
                                            <p:strVal val="#ppt_x"/>
                                          </p:val>
                                        </p:tav>
                                        <p:tav tm="100000">
                                          <p:val>
                                            <p:strVal val="#ppt_x"/>
                                          </p:val>
                                        </p:tav>
                                      </p:tavLst>
                                    </p:anim>
                                    <p:anim calcmode="lin" valueType="num">
                                      <p:cBhvr>
                                        <p:cTn id="5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5366"/>
                                        </p:tgtEl>
                                        <p:attrNameLst>
                                          <p:attrName>style.visibility</p:attrName>
                                        </p:attrNameLst>
                                      </p:cBhvr>
                                      <p:to>
                                        <p:strVal val="visible"/>
                                      </p:to>
                                    </p:set>
                                    <p:animEffect transition="in" filter="wipe(up)">
                                      <p:cBhvr>
                                        <p:cTn id="60" dur="500"/>
                                        <p:tgtEl>
                                          <p:spTgt spid="15366"/>
                                        </p:tgtEl>
                                      </p:cBhvr>
                                    </p:animEffect>
                                  </p:childTnLst>
                                </p:cTn>
                              </p:par>
                            </p:childTnLst>
                          </p:cTn>
                        </p:par>
                        <p:par>
                          <p:cTn id="61" fill="hold">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wipe(up)">
                                      <p:cBhvr>
                                        <p:cTn id="64" dur="500"/>
                                        <p:tgtEl>
                                          <p:spTgt spid="32"/>
                                        </p:tgtEl>
                                      </p:cBhvr>
                                    </p:animEffect>
                                  </p:childTnLst>
                                </p:cTn>
                              </p:par>
                            </p:childTnLst>
                          </p:cTn>
                        </p:par>
                        <p:par>
                          <p:cTn id="65" fill="hold">
                            <p:stCondLst>
                              <p:cond delay="1000"/>
                            </p:stCondLst>
                            <p:childTnLst>
                              <p:par>
                                <p:cTn id="66" presetID="6" presetClass="entr" presetSubtype="32" fill="hold" nodeType="after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circle(out)">
                                      <p:cBhvr>
                                        <p:cTn id="68"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p:bldP spid="20" grpId="0"/>
      <p:bldP spid="26" grpId="0" animBg="1"/>
      <p:bldP spid="29" grpId="0"/>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sz="4800" b="1" dirty="0">
                <a:solidFill>
                  <a:srgbClr val="000000"/>
                </a:solidFill>
                <a:latin typeface="宋体" panose="02010600030101010101" pitchFamily="2" charset="-122"/>
                <a:ea typeface="宋体" panose="02010600030101010101" pitchFamily="2" charset="-122"/>
              </a:rPr>
              <a:t>1.2.3	</a:t>
            </a:r>
            <a:r>
              <a:rPr lang="zh-CN" altLang="en-US" sz="4800" b="1" dirty="0">
                <a:solidFill>
                  <a:srgbClr val="000000"/>
                </a:solidFill>
                <a:latin typeface="宋体" panose="02010600030101010101" pitchFamily="2" charset="-122"/>
                <a:ea typeface="宋体" panose="02010600030101010101" pitchFamily="2" charset="-122"/>
              </a:rPr>
              <a:t>速度快</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16387" name="Rectangle 3"/>
          <p:cNvSpPr>
            <a:spLocks noChangeArrowheads="1"/>
          </p:cNvSpPr>
          <p:nvPr/>
        </p:nvSpPr>
        <p:spPr bwMode="auto">
          <a:xfrm>
            <a:off x="6130476" y="2482840"/>
            <a:ext cx="4636034" cy="4215811"/>
          </a:xfrm>
          <a:prstGeom prst="rect">
            <a:avLst/>
          </a:prstGeom>
          <a:solidFill>
            <a:schemeClr val="bg1">
              <a:lumMod val="95000"/>
            </a:schemeClr>
          </a:solid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Clr>
                <a:srgbClr val="FF3300"/>
              </a:buClr>
              <a:buFont typeface="Wingdings" panose="05000000000000000000" pitchFamily="2" charset="2"/>
              <a:buChar char="p"/>
            </a:pPr>
            <a:r>
              <a:rPr lang="zh-CN" altLang="en-US" sz="2800" dirty="0"/>
              <a:t>大数据时代的很多应用都需要基于快速生成的数据给出实时分析结果，用于指导生产和生活实践</a:t>
            </a:r>
            <a:endParaRPr lang="en-US" altLang="zh-CN" sz="2800" dirty="0"/>
          </a:p>
          <a:p>
            <a:pPr>
              <a:spcBef>
                <a:spcPct val="20000"/>
              </a:spcBef>
              <a:buClr>
                <a:srgbClr val="FF3300"/>
              </a:buClr>
              <a:buFont typeface="Wingdings" panose="05000000000000000000" pitchFamily="2" charset="2"/>
              <a:buChar char="p"/>
            </a:pPr>
            <a:endParaRPr lang="en-US" altLang="zh-CN" sz="2800" dirty="0"/>
          </a:p>
          <a:p>
            <a:pPr>
              <a:spcBef>
                <a:spcPct val="20000"/>
              </a:spcBef>
              <a:buClr>
                <a:srgbClr val="FF3300"/>
              </a:buClr>
              <a:buFont typeface="Wingdings" panose="05000000000000000000" pitchFamily="2" charset="2"/>
              <a:buChar char="p"/>
            </a:pPr>
            <a:r>
              <a:rPr lang="zh-CN" altLang="en-US" sz="2800" dirty="0"/>
              <a:t>处理和分析通常需要秒级响应：这一点也是和传统的数据挖掘技术有着本质的不同</a:t>
            </a:r>
            <a:endParaRPr lang="zh-CN" altLang="en-US" sz="2800" dirty="0"/>
          </a:p>
        </p:txBody>
      </p:sp>
      <p:sp>
        <p:nvSpPr>
          <p:cNvPr id="2" name="Rectangle 6"/>
          <p:cNvSpPr>
            <a:spLocks noChangeArrowheads="1"/>
          </p:cNvSpPr>
          <p:nvPr/>
        </p:nvSpPr>
        <p:spPr bwMode="auto">
          <a:xfrm>
            <a:off x="1000431" y="2499949"/>
            <a:ext cx="4323409" cy="4215811"/>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4000" dirty="0"/>
              <a:t>一分钟内</a:t>
            </a:r>
            <a:endParaRPr lang="en-US" altLang="zh-CN" sz="4000" dirty="0"/>
          </a:p>
          <a:p>
            <a:pPr marL="457200" indent="-457200" eaLnBrk="1" hangingPunct="1">
              <a:lnSpc>
                <a:spcPct val="150000"/>
              </a:lnSpc>
              <a:buFont typeface="Wingdings" panose="05000000000000000000" pitchFamily="2" charset="2"/>
              <a:buChar char="ü"/>
            </a:pPr>
            <a:r>
              <a:rPr lang="zh-CN" altLang="en-US" sz="2800" dirty="0">
                <a:latin typeface="宋体" panose="02010600030101010101" pitchFamily="2" charset="-122"/>
              </a:rPr>
              <a:t>新浪微博     </a:t>
            </a:r>
            <a:r>
              <a:rPr lang="en-US" altLang="zh-CN" sz="2800" dirty="0">
                <a:latin typeface="宋体" panose="02010600030101010101" pitchFamily="2" charset="-122"/>
              </a:rPr>
              <a:t>2</a:t>
            </a:r>
            <a:r>
              <a:rPr lang="zh-CN" altLang="en-US" sz="2800" dirty="0">
                <a:latin typeface="宋体" panose="02010600030101010101" pitchFamily="2" charset="-122"/>
              </a:rPr>
              <a:t>万条</a:t>
            </a:r>
            <a:endParaRPr lang="en-US" altLang="zh-CN" sz="2800" dirty="0">
              <a:latin typeface="宋体" panose="02010600030101010101" pitchFamily="2" charset="-122"/>
            </a:endParaRPr>
          </a:p>
          <a:p>
            <a:pPr marL="457200" indent="-457200" eaLnBrk="1" hangingPunct="1">
              <a:lnSpc>
                <a:spcPct val="150000"/>
              </a:lnSpc>
              <a:buFont typeface="Wingdings" panose="05000000000000000000" pitchFamily="2" charset="2"/>
              <a:buChar char="ü"/>
            </a:pPr>
            <a:r>
              <a:rPr lang="en-US" altLang="zh-CN" sz="2800" dirty="0">
                <a:latin typeface="宋体" panose="02010600030101010101" pitchFamily="2" charset="-122"/>
              </a:rPr>
              <a:t>Twitter</a:t>
            </a:r>
            <a:r>
              <a:rPr lang="zh-CN" altLang="en-US" sz="2800" dirty="0">
                <a:latin typeface="宋体" panose="02010600030101010101" pitchFamily="2" charset="-122"/>
              </a:rPr>
              <a:t>推文  </a:t>
            </a:r>
            <a:r>
              <a:rPr lang="en-US" altLang="zh-CN" sz="2800" dirty="0">
                <a:latin typeface="宋体" panose="02010600030101010101" pitchFamily="2" charset="-122"/>
              </a:rPr>
              <a:t>10</a:t>
            </a:r>
            <a:r>
              <a:rPr lang="zh-CN" altLang="en-US" sz="2800" dirty="0">
                <a:latin typeface="宋体" panose="02010600030101010101" pitchFamily="2" charset="-122"/>
              </a:rPr>
              <a:t>万条</a:t>
            </a:r>
            <a:endParaRPr lang="en-US" altLang="zh-CN" sz="2800" dirty="0">
              <a:latin typeface="宋体" panose="02010600030101010101" pitchFamily="2" charset="-122"/>
            </a:endParaRPr>
          </a:p>
          <a:p>
            <a:pPr marL="457200" indent="-457200" eaLnBrk="1" hangingPunct="1">
              <a:lnSpc>
                <a:spcPct val="150000"/>
              </a:lnSpc>
              <a:buFont typeface="Wingdings" panose="05000000000000000000" pitchFamily="2" charset="2"/>
              <a:buChar char="ü"/>
            </a:pPr>
            <a:r>
              <a:rPr lang="zh-CN" altLang="en-US" sz="2800" dirty="0">
                <a:latin typeface="宋体" panose="02010600030101010101" pitchFamily="2" charset="-122"/>
              </a:rPr>
              <a:t>苹果应用下载 </a:t>
            </a:r>
            <a:r>
              <a:rPr lang="en-US" altLang="zh-CN" sz="2800" dirty="0">
                <a:latin typeface="宋体" panose="02010600030101010101" pitchFamily="2" charset="-122"/>
              </a:rPr>
              <a:t>4.7</a:t>
            </a:r>
            <a:r>
              <a:rPr lang="zh-CN" altLang="en-US" sz="2800" dirty="0">
                <a:latin typeface="宋体" panose="02010600030101010101" pitchFamily="2" charset="-122"/>
              </a:rPr>
              <a:t>万次</a:t>
            </a:r>
            <a:endParaRPr lang="en-US" altLang="zh-CN" sz="2800" dirty="0">
              <a:latin typeface="宋体" panose="02010600030101010101" pitchFamily="2" charset="-122"/>
            </a:endParaRPr>
          </a:p>
          <a:p>
            <a:pPr marL="457200" indent="-457200" eaLnBrk="1" hangingPunct="1">
              <a:lnSpc>
                <a:spcPct val="150000"/>
              </a:lnSpc>
              <a:buFont typeface="Wingdings" panose="05000000000000000000" pitchFamily="2" charset="2"/>
              <a:buChar char="ü"/>
            </a:pPr>
            <a:r>
              <a:rPr lang="zh-CN" altLang="en-US" sz="2800" dirty="0">
                <a:latin typeface="宋体" panose="02010600030101010101" pitchFamily="2" charset="-122"/>
              </a:rPr>
              <a:t>淘宝卖出商品 </a:t>
            </a:r>
            <a:r>
              <a:rPr lang="en-US" altLang="zh-CN" sz="2800" dirty="0">
                <a:latin typeface="宋体" panose="02010600030101010101" pitchFamily="2" charset="-122"/>
              </a:rPr>
              <a:t>6</a:t>
            </a:r>
            <a:r>
              <a:rPr lang="zh-CN" altLang="en-US" sz="2800" dirty="0">
                <a:latin typeface="宋体" panose="02010600030101010101" pitchFamily="2" charset="-122"/>
              </a:rPr>
              <a:t>万件</a:t>
            </a:r>
            <a:endParaRPr lang="en-US" altLang="zh-CN" sz="2800" dirty="0">
              <a:latin typeface="宋体" panose="02010600030101010101" pitchFamily="2" charset="-122"/>
            </a:endParaRPr>
          </a:p>
          <a:p>
            <a:pPr marL="457200" indent="-457200" eaLnBrk="1" hangingPunct="1">
              <a:lnSpc>
                <a:spcPct val="150000"/>
              </a:lnSpc>
              <a:buFont typeface="Wingdings" panose="05000000000000000000" pitchFamily="2" charset="2"/>
              <a:buChar char="ü"/>
            </a:pPr>
            <a:r>
              <a:rPr lang="zh-CN" altLang="en-US" sz="2800" dirty="0">
                <a:latin typeface="宋体" panose="02010600030101010101" pitchFamily="2" charset="-122"/>
              </a:rPr>
              <a:t>百度搜索查询 </a:t>
            </a:r>
            <a:r>
              <a:rPr lang="en-US" altLang="zh-CN" sz="2800" dirty="0">
                <a:latin typeface="宋体" panose="02010600030101010101" pitchFamily="2" charset="-122"/>
              </a:rPr>
              <a:t>90</a:t>
            </a:r>
            <a:r>
              <a:rPr lang="zh-CN" altLang="en-US" sz="2800" dirty="0">
                <a:latin typeface="宋体" panose="02010600030101010101" pitchFamily="2" charset="-122"/>
              </a:rPr>
              <a:t>万次</a:t>
            </a:r>
            <a:endParaRPr lang="zh-CN" altLang="en-US" sz="2800" dirty="0"/>
          </a:p>
        </p:txBody>
      </p:sp>
      <p:sp>
        <p:nvSpPr>
          <p:cNvPr id="3" name="矩形: 圆角 2"/>
          <p:cNvSpPr/>
          <p:nvPr/>
        </p:nvSpPr>
        <p:spPr>
          <a:xfrm>
            <a:off x="899527" y="1821523"/>
            <a:ext cx="2843982" cy="67842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a:r>
              <a:rPr lang="zh-CN" altLang="en-US" sz="2800" dirty="0"/>
              <a:t>数据产生速度快</a:t>
            </a:r>
            <a:endParaRPr lang="zh-CN" altLang="en-US" sz="2800" dirty="0"/>
          </a:p>
        </p:txBody>
      </p:sp>
      <p:sp>
        <p:nvSpPr>
          <p:cNvPr id="4" name="矩形: 圆角 3"/>
          <p:cNvSpPr/>
          <p:nvPr/>
        </p:nvSpPr>
        <p:spPr>
          <a:xfrm>
            <a:off x="6013021" y="1804414"/>
            <a:ext cx="3526093" cy="678426"/>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a:r>
              <a:rPr lang="zh-CN" altLang="en-US" sz="2800" dirty="0"/>
              <a:t>快速处理数据的需求</a:t>
            </a:r>
            <a:endParaRPr lang="zh-CN" altLang="en-US" sz="2800" dirty="0"/>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zh-CN" sz="4800" b="1" dirty="0">
                <a:solidFill>
                  <a:srgbClr val="000000"/>
                </a:solidFill>
                <a:latin typeface="宋体" panose="02010600030101010101" pitchFamily="2" charset="-122"/>
                <a:ea typeface="宋体" panose="02010600030101010101" pitchFamily="2" charset="-122"/>
              </a:rPr>
              <a:t>1.2.4	</a:t>
            </a:r>
            <a:r>
              <a:rPr lang="zh-CN" altLang="en-US" sz="4800" b="1" dirty="0">
                <a:solidFill>
                  <a:srgbClr val="000000"/>
                </a:solidFill>
                <a:latin typeface="宋体" panose="02010600030101010101" pitchFamily="2" charset="-122"/>
                <a:ea typeface="宋体" panose="02010600030101010101" pitchFamily="2" charset="-122"/>
              </a:rPr>
              <a:t>价值密度低</a:t>
            </a:r>
            <a:endParaRPr lang="zh-CN" altLang="en-US" sz="4800" b="1" dirty="0">
              <a:solidFill>
                <a:srgbClr val="000000"/>
              </a:solidFill>
              <a:latin typeface="宋体" panose="02010600030101010101" pitchFamily="2" charset="-122"/>
              <a:ea typeface="宋体" panose="02010600030101010101" pitchFamily="2" charset="-122"/>
            </a:endParaRPr>
          </a:p>
        </p:txBody>
      </p:sp>
      <p:pic>
        <p:nvPicPr>
          <p:cNvPr id="17412" name="Picture 7" descr="C:\Users\lzy\Documents\Tencent Files\70004972\FileRecv\MobileFile\IMG_20150925_122146.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15900" y="2819400"/>
            <a:ext cx="2840050" cy="1595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8" descr="C:\Users\lzy\Documents\Tencent Files\70004972\FileRecv\MobileFile\IMG_20150925_12223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55950" y="2819400"/>
            <a:ext cx="2840050" cy="1595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9" descr="C:\Users\lzy\Documents\Tencent Files\70004972\FileRecv\MobileFile\IMG_20150925_14372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900" y="4414411"/>
            <a:ext cx="2840050" cy="1865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10" descr="C:\Users\lzy\Documents\Tencent Files\70004972\FileRecv\MobileFile\IMG_20150925_143423.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55950" y="4414410"/>
            <a:ext cx="2840050" cy="1865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727326" y="1942237"/>
            <a:ext cx="3057247" cy="584775"/>
          </a:xfrm>
          <a:prstGeom prst="rect">
            <a:avLst/>
          </a:prstGeom>
          <a:noFill/>
        </p:spPr>
        <p:txBody>
          <a:bodyPr wrap="none" rtlCol="0">
            <a:spAutoFit/>
          </a:bodyPr>
          <a:lstStyle/>
          <a:p>
            <a:r>
              <a:rPr lang="zh-CN" altLang="en-US" sz="3200" dirty="0"/>
              <a:t>例如：监控数据</a:t>
            </a:r>
            <a:endParaRPr lang="zh-CN" altLang="en-US" sz="3200" dirty="0"/>
          </a:p>
        </p:txBody>
      </p:sp>
      <p:sp>
        <p:nvSpPr>
          <p:cNvPr id="3" name="文本框 2"/>
          <p:cNvSpPr txBox="1"/>
          <p:nvPr/>
        </p:nvSpPr>
        <p:spPr>
          <a:xfrm>
            <a:off x="7886582" y="1027906"/>
            <a:ext cx="3057247" cy="584775"/>
          </a:xfrm>
          <a:prstGeom prst="rect">
            <a:avLst/>
          </a:prstGeom>
          <a:noFill/>
        </p:spPr>
        <p:txBody>
          <a:bodyPr wrap="none" rtlCol="0">
            <a:spAutoFit/>
          </a:bodyPr>
          <a:lstStyle/>
          <a:p>
            <a:r>
              <a:rPr lang="zh-CN" altLang="en-US" sz="3200" dirty="0"/>
              <a:t>例如：营销推荐</a:t>
            </a:r>
            <a:endParaRPr lang="zh-CN" altLang="en-US" sz="3200" dirty="0"/>
          </a:p>
        </p:txBody>
      </p:sp>
      <p:graphicFrame>
        <p:nvGraphicFramePr>
          <p:cNvPr id="4" name="图示 3"/>
          <p:cNvGraphicFramePr/>
          <p:nvPr/>
        </p:nvGraphicFramePr>
        <p:xfrm>
          <a:off x="7801078" y="1896144"/>
          <a:ext cx="3388032" cy="459673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412"/>
                                        </p:tgtEl>
                                        <p:attrNameLst>
                                          <p:attrName>style.visibility</p:attrName>
                                        </p:attrNameLst>
                                      </p:cBhvr>
                                      <p:to>
                                        <p:strVal val="visible"/>
                                      </p:to>
                                    </p:set>
                                    <p:animEffect transition="in" filter="wipe(left)">
                                      <p:cBhvr>
                                        <p:cTn id="10" dur="500"/>
                                        <p:tgtEl>
                                          <p:spTgt spid="17412"/>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17413"/>
                                        </p:tgtEl>
                                        <p:attrNameLst>
                                          <p:attrName>style.visibility</p:attrName>
                                        </p:attrNameLst>
                                      </p:cBhvr>
                                      <p:to>
                                        <p:strVal val="visible"/>
                                      </p:to>
                                    </p:set>
                                    <p:animEffect transition="in" filter="wipe(up)">
                                      <p:cBhvr>
                                        <p:cTn id="14" dur="500"/>
                                        <p:tgtEl>
                                          <p:spTgt spid="17413"/>
                                        </p:tgtEl>
                                      </p:cBhvr>
                                    </p:animEffect>
                                  </p:childTnLst>
                                </p:cTn>
                              </p:par>
                            </p:childTnLst>
                          </p:cTn>
                        </p:par>
                        <p:par>
                          <p:cTn id="15" fill="hold">
                            <p:stCondLst>
                              <p:cond delay="1000"/>
                            </p:stCondLst>
                            <p:childTnLst>
                              <p:par>
                                <p:cTn id="16" presetID="22" presetClass="entr" presetSubtype="2" fill="hold" nodeType="afterEffect">
                                  <p:stCondLst>
                                    <p:cond delay="0"/>
                                  </p:stCondLst>
                                  <p:childTnLst>
                                    <p:set>
                                      <p:cBhvr>
                                        <p:cTn id="17" dur="1" fill="hold">
                                          <p:stCondLst>
                                            <p:cond delay="0"/>
                                          </p:stCondLst>
                                        </p:cTn>
                                        <p:tgtEl>
                                          <p:spTgt spid="17415"/>
                                        </p:tgtEl>
                                        <p:attrNameLst>
                                          <p:attrName>style.visibility</p:attrName>
                                        </p:attrNameLst>
                                      </p:cBhvr>
                                      <p:to>
                                        <p:strVal val="visible"/>
                                      </p:to>
                                    </p:set>
                                    <p:animEffect transition="in" filter="wipe(right)">
                                      <p:cBhvr>
                                        <p:cTn id="18" dur="500"/>
                                        <p:tgtEl>
                                          <p:spTgt spid="17415"/>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17414"/>
                                        </p:tgtEl>
                                        <p:attrNameLst>
                                          <p:attrName>style.visibility</p:attrName>
                                        </p:attrNameLst>
                                      </p:cBhvr>
                                      <p:to>
                                        <p:strVal val="visible"/>
                                      </p:to>
                                    </p:set>
                                    <p:animEffect transition="in" filter="wipe(down)">
                                      <p:cBhvr>
                                        <p:cTn id="22" dur="500"/>
                                        <p:tgtEl>
                                          <p:spTgt spid="1741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par>
                          <p:cTn id="27" fill="hold">
                            <p:stCondLst>
                              <p:cond delay="0"/>
                            </p:stCondLst>
                            <p:childTnLst>
                              <p:par>
                                <p:cTn id="28" presetID="22" presetClass="entr" presetSubtype="1" fill="hold" grpId="0"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Graphic spid="4"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7" name="文本框 6"/>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下列关于大数据特点描述，错误的是（）</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数据量大</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多样化</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速度快</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文本框 10"/>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价值低</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椭圆 14"/>
          <p:cNvSpPr>
            <a:spLocks noChangeAspect="1"/>
          </p:cNvSpPr>
          <p:nvPr>
            <p:custDataLst>
              <p:tags r:id="rId10"/>
            </p:custDataLst>
          </p:nvPr>
        </p:nvSpPr>
        <p:spPr>
          <a:xfrm>
            <a:off x="15716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6" name="矩形: 圆角 15"/>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8" name="文本框 27"/>
          <p:cNvSpPr txBox="1"/>
          <p:nvPr>
            <p:custDataLst>
              <p:tags r:id="rId12"/>
            </p:custDataLst>
          </p:nvPr>
        </p:nvSpPr>
        <p:spPr>
          <a:xfrm>
            <a:off x="12661900" y="6326832"/>
            <a:ext cx="3662680" cy="461665"/>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可为此题添加文本、图片、公式等解析，且需将内容全部放在本区域内。</a:t>
            </a:r>
            <a:endParaRPr lang="zh-CN" altLang="en-US" sz="1200">
              <a:solidFill>
                <a:srgbClr val="F84F41"/>
              </a:solidFill>
              <a:latin typeface="微软雅黑" panose="020B0503020204020204" charset="-122"/>
              <a:ea typeface="微软雅黑" panose="020B0503020204020204" charset="-122"/>
              <a:sym typeface="微软雅黑" panose="020B0503020204020204" charset="-122"/>
            </a:endParaRPr>
          </a:p>
        </p:txBody>
      </p:sp>
      <p:sp>
        <p:nvSpPr>
          <p:cNvPr id="29" name="文本框 28"/>
          <p:cNvSpPr txBox="1"/>
          <p:nvPr>
            <p:custDataLst>
              <p:tags r:id="rId13"/>
            </p:custDataLst>
          </p:nvPr>
        </p:nvSpPr>
        <p:spPr>
          <a:xfrm>
            <a:off x="12827000" y="1270000"/>
            <a:ext cx="3332480" cy="400110"/>
          </a:xfrm>
          <a:prstGeom prst="rect">
            <a:avLst/>
          </a:prstGeom>
          <a:noFill/>
        </p:spPr>
        <p:txBody>
          <a:bodyPr vert="horz"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sym typeface="微软雅黑" panose="020B0503020204020204" charset="-122"/>
              </a:rPr>
              <a:t>应该是价值密度低</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微软雅黑" panose="020B0503020204020204" charset="-122"/>
            </a:endParaRPr>
          </a:p>
        </p:txBody>
      </p:sp>
      <p:grpSp>
        <p:nvGrpSpPr>
          <p:cNvPr id="27" name="组合 26"/>
          <p:cNvGrpSpPr/>
          <p:nvPr>
            <p:custDataLst>
              <p:tags r:id="rId14"/>
            </p:custDataLst>
          </p:nvPr>
        </p:nvGrpSpPr>
        <p:grpSpPr>
          <a:xfrm>
            <a:off x="12585700" y="0"/>
            <a:ext cx="3815080" cy="647700"/>
            <a:chOff x="12585700" y="0"/>
            <a:chExt cx="3815080" cy="647700"/>
          </a:xfrm>
        </p:grpSpPr>
        <p:sp>
          <p:nvSpPr>
            <p:cNvPr id="24" name="RemarkBack"/>
            <p:cNvSpPr/>
            <p:nvPr>
              <p:custDataLst>
                <p:tags r:id="rId15"/>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Block"/>
            <p:cNvSpPr/>
            <p:nvPr>
              <p:custDataLst>
                <p:tags r:id="rId16"/>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TitleText"/>
            <p:cNvSpPr txBox="1"/>
            <p:nvPr>
              <p:custDataLst>
                <p:tags r:id="rId17"/>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charset="-122"/>
                  <a:ea typeface="微软雅黑" panose="020B0503020204020204" charset="-122"/>
                  <a:sym typeface="微软雅黑" panose="020B0503020204020204" charset="-122"/>
                </a:rPr>
                <a:t>答案解析</a:t>
              </a:r>
              <a:endParaRPr lang="zh-CN" altLang="en-US">
                <a:solidFill>
                  <a:srgbClr val="000000"/>
                </a:solidFill>
                <a:latin typeface="微软雅黑" panose="020B0503020204020204" charset="-122"/>
                <a:ea typeface="微软雅黑" panose="020B0503020204020204" charset="-122"/>
                <a:sym typeface="微软雅黑" panose="020B0503020204020204" charset="-122"/>
              </a:endParaRPr>
            </a:p>
          </p:txBody>
        </p:sp>
      </p:grpSp>
      <p:grpSp>
        <p:nvGrpSpPr>
          <p:cNvPr id="21" name="组合 20"/>
          <p:cNvGrpSpPr/>
          <p:nvPr>
            <p:custDataLst>
              <p:tags r:id="rId18"/>
            </p:custDataLst>
          </p:nvPr>
        </p:nvGrpSpPr>
        <p:grpSpPr>
          <a:xfrm>
            <a:off x="0" y="0"/>
            <a:ext cx="12192000" cy="635000"/>
            <a:chOff x="0" y="0"/>
            <a:chExt cx="12192000" cy="635000"/>
          </a:xfrm>
        </p:grpSpPr>
        <p:sp>
          <p:nvSpPr>
            <p:cNvPr id="17" name="TitleBackground"/>
            <p:cNvSpPr/>
            <p:nvPr>
              <p:custDataLst>
                <p:tags r:id="rId1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ColorBlock"/>
            <p:cNvSpPr/>
            <p:nvPr>
              <p:custDataLst>
                <p:tags r:id="rId2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20" name="TipText"/>
            <p:cNvSpPr txBox="1"/>
            <p:nvPr>
              <p:custDataLst>
                <p:tags r:id="rId22"/>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6" name="图片 5"/>
          <p:cNvPicPr/>
          <p:nvPr>
            <p:custDataLst>
              <p:tags r:id="rId23"/>
            </p:custDataLst>
          </p:nvPr>
        </p:nvPicPr>
        <p:blipFill>
          <a:blip r:embed="rId24">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2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示 4"/>
          <p:cNvGraphicFramePr/>
          <p:nvPr/>
        </p:nvGraphicFramePr>
        <p:xfrm>
          <a:off x="4347845" y="1526540"/>
          <a:ext cx="2795905" cy="50927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标题 1"/>
          <p:cNvSpPr>
            <a:spLocks noGrp="1" noChangeArrowheads="1"/>
          </p:cNvSpPr>
          <p:nvPr>
            <p:ph type="title"/>
          </p:nvPr>
        </p:nvSpPr>
        <p:spPr>
          <a:xfrm>
            <a:off x="838200" y="365125"/>
            <a:ext cx="10515600" cy="1325563"/>
          </a:xfrm>
        </p:spPr>
        <p:txBody>
          <a:bodyPr/>
          <a:lstStyle/>
          <a:p>
            <a:r>
              <a:rPr lang="en-US" altLang="zh-CN" sz="4800" b="1" dirty="0">
                <a:solidFill>
                  <a:srgbClr val="000000"/>
                </a:solidFill>
                <a:latin typeface="宋体" panose="02010600030101010101" pitchFamily="2" charset="-122"/>
                <a:ea typeface="宋体" panose="02010600030101010101" pitchFamily="2" charset="-122"/>
              </a:rPr>
              <a:t>1.</a:t>
            </a:r>
            <a:r>
              <a:rPr lang="zh-CN" altLang="en-US" sz="4800" b="1" dirty="0">
                <a:solidFill>
                  <a:srgbClr val="000000"/>
                </a:solidFill>
                <a:latin typeface="宋体" panose="02010600030101010101" pitchFamily="2" charset="-122"/>
                <a:ea typeface="宋体" panose="02010600030101010101" pitchFamily="2" charset="-122"/>
              </a:rPr>
              <a:t>3大数据的影响</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txBox="1">
            <a:spLocks noChangeArrowheads="1"/>
          </p:cNvSpPr>
          <p:nvPr/>
        </p:nvSpPr>
        <p:spPr bwMode="auto">
          <a:xfrm>
            <a:off x="585019" y="1562100"/>
            <a:ext cx="10515599"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rgbClr val="FF3300"/>
              </a:buClr>
              <a:buFontTx/>
              <a:buNone/>
            </a:pPr>
            <a:r>
              <a:rPr lang="en-US" altLang="zh-CN" sz="2400" dirty="0"/>
              <a:t>	</a:t>
            </a:r>
            <a:r>
              <a:rPr lang="zh-CN" altLang="en-US" sz="2400" dirty="0"/>
              <a:t>图灵奖获得者、著名数据库专家</a:t>
            </a:r>
            <a:r>
              <a:rPr lang="en-US" altLang="zh-CN" sz="2400" dirty="0"/>
              <a:t>Jim Gray </a:t>
            </a:r>
            <a:r>
              <a:rPr lang="zh-CN" altLang="en-US" sz="2400" dirty="0"/>
              <a:t>博士观察并总结人类自古以来，</a:t>
            </a:r>
            <a:endParaRPr lang="en-US" altLang="zh-CN" sz="2400" dirty="0"/>
          </a:p>
          <a:p>
            <a:pPr>
              <a:lnSpc>
                <a:spcPct val="90000"/>
              </a:lnSpc>
              <a:spcBef>
                <a:spcPct val="20000"/>
              </a:spcBef>
              <a:buClr>
                <a:srgbClr val="FF3300"/>
              </a:buClr>
              <a:buFontTx/>
              <a:buNone/>
            </a:pPr>
            <a:r>
              <a:rPr lang="zh-CN" altLang="en-US" sz="2400" dirty="0"/>
              <a:t>在科学研究上，先后历经了实验、理论、计算和数据四种范式</a:t>
            </a:r>
            <a:endParaRPr lang="zh-CN" altLang="en-US" sz="2400" dirty="0"/>
          </a:p>
        </p:txBody>
      </p:sp>
      <p:pic>
        <p:nvPicPr>
          <p:cNvPr id="18436" name="Picture 9" descr="http://dl.zhishi.sina.com.cn/upload/01/68/87/1236016887.19128608.JPG"/>
          <p:cNvPicPr>
            <a:picLocks noChangeAspect="1" noChangeArrowheads="1"/>
          </p:cNvPicPr>
          <p:nvPr/>
        </p:nvPicPr>
        <p:blipFill>
          <a:blip r:embed="rId1">
            <a:extLst>
              <a:ext uri="{28A0092B-C50C-407E-A947-70E740481C1C}">
                <a14:useLocalDpi xmlns:a14="http://schemas.microsoft.com/office/drawing/2010/main" val="0"/>
              </a:ext>
            </a:extLst>
          </a:blip>
          <a:srcRect r="37456" b="11111"/>
          <a:stretch>
            <a:fillRect/>
          </a:stretch>
        </p:blipFill>
        <p:spPr bwMode="auto">
          <a:xfrm>
            <a:off x="2859317" y="2957512"/>
            <a:ext cx="2032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11" descr="http://imgk.zol.com.cn/techbbs/3055/a30540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4391" y="2957512"/>
            <a:ext cx="2438400"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15" descr="http://www.hinews.cn/pic/0/14/54/25/14542582_37173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974" y="3276600"/>
            <a:ext cx="1382713"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19" descr="http://photocdn.sohu.com/20130521/Img37654966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9552" y="2678112"/>
            <a:ext cx="1738313" cy="131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7"/>
          <p:cNvCxnSpPr/>
          <p:nvPr/>
        </p:nvCxnSpPr>
        <p:spPr>
          <a:xfrm>
            <a:off x="1726079" y="6064251"/>
            <a:ext cx="7543800" cy="1588"/>
          </a:xfrm>
          <a:prstGeom prst="line">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 name="直接连接符 8"/>
          <p:cNvCxnSpPr/>
          <p:nvPr/>
        </p:nvCxnSpPr>
        <p:spPr>
          <a:xfrm rot="5400000" flipH="1" flipV="1">
            <a:off x="1848873" y="5797550"/>
            <a:ext cx="438150" cy="635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直接连接符 9"/>
          <p:cNvCxnSpPr/>
          <p:nvPr/>
        </p:nvCxnSpPr>
        <p:spPr>
          <a:xfrm rot="5400000" flipH="1" flipV="1">
            <a:off x="3322074" y="5524501"/>
            <a:ext cx="990600" cy="3175"/>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直接连接符 10"/>
          <p:cNvCxnSpPr/>
          <p:nvPr/>
        </p:nvCxnSpPr>
        <p:spPr>
          <a:xfrm flipV="1">
            <a:off x="6330386" y="4385187"/>
            <a:ext cx="2" cy="1636201"/>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直接连接符 11"/>
          <p:cNvCxnSpPr/>
          <p:nvPr/>
        </p:nvCxnSpPr>
        <p:spPr>
          <a:xfrm flipV="1">
            <a:off x="8768786" y="3967162"/>
            <a:ext cx="19846" cy="2052638"/>
          </a:xfrm>
          <a:prstGeom prst="line">
            <a:avLst/>
          </a:prstGeom>
        </p:spPr>
        <p:style>
          <a:lnRef idx="2">
            <a:schemeClr val="accent1"/>
          </a:lnRef>
          <a:fillRef idx="0">
            <a:schemeClr val="accent1"/>
          </a:fillRef>
          <a:effectRef idx="1">
            <a:schemeClr val="accent1"/>
          </a:effectRef>
          <a:fontRef idx="minor">
            <a:schemeClr val="tx1"/>
          </a:fontRef>
        </p:style>
      </p:cxnSp>
      <p:sp>
        <p:nvSpPr>
          <p:cNvPr id="18445" name="TextBox 21"/>
          <p:cNvSpPr txBox="1">
            <a:spLocks noChangeArrowheads="1"/>
          </p:cNvSpPr>
          <p:nvPr/>
        </p:nvSpPr>
        <p:spPr bwMode="auto">
          <a:xfrm>
            <a:off x="1613367" y="6064251"/>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t>实验</a:t>
            </a:r>
            <a:endParaRPr lang="zh-CN" altLang="en-US" sz="2800" dirty="0"/>
          </a:p>
        </p:txBody>
      </p:sp>
      <p:sp>
        <p:nvSpPr>
          <p:cNvPr id="18446" name="TextBox 22"/>
          <p:cNvSpPr txBox="1">
            <a:spLocks noChangeArrowheads="1"/>
          </p:cNvSpPr>
          <p:nvPr/>
        </p:nvSpPr>
        <p:spPr bwMode="auto">
          <a:xfrm>
            <a:off x="3442167" y="6064251"/>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理论</a:t>
            </a:r>
            <a:endParaRPr lang="zh-CN" altLang="en-US" sz="2800"/>
          </a:p>
        </p:txBody>
      </p:sp>
      <p:sp>
        <p:nvSpPr>
          <p:cNvPr id="18447" name="TextBox 23"/>
          <p:cNvSpPr txBox="1">
            <a:spLocks noChangeArrowheads="1"/>
          </p:cNvSpPr>
          <p:nvPr/>
        </p:nvSpPr>
        <p:spPr bwMode="auto">
          <a:xfrm>
            <a:off x="5917080" y="6064251"/>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计算</a:t>
            </a:r>
            <a:endParaRPr lang="zh-CN" altLang="en-US" sz="2800"/>
          </a:p>
        </p:txBody>
      </p:sp>
      <p:sp>
        <p:nvSpPr>
          <p:cNvPr id="18448" name="TextBox 24"/>
          <p:cNvSpPr txBox="1">
            <a:spLocks noChangeArrowheads="1"/>
          </p:cNvSpPr>
          <p:nvPr/>
        </p:nvSpPr>
        <p:spPr bwMode="auto">
          <a:xfrm>
            <a:off x="7778771" y="6108701"/>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t>数据密集型</a:t>
            </a:r>
            <a:endParaRPr lang="zh-CN" altLang="en-US" sz="2800" dirty="0"/>
          </a:p>
        </p:txBody>
      </p:sp>
      <p:sp>
        <p:nvSpPr>
          <p:cNvPr id="14" name="标题 1"/>
          <p:cNvSpPr>
            <a:spLocks noGrp="1" noChangeArrowheads="1"/>
          </p:cNvSpPr>
          <p:nvPr>
            <p:ph type="title"/>
          </p:nvPr>
        </p:nvSpPr>
        <p:spPr>
          <a:xfrm>
            <a:off x="838200" y="365125"/>
            <a:ext cx="10515600" cy="1325563"/>
          </a:xfrm>
        </p:spPr>
        <p:txBody>
          <a:bodyPr/>
          <a:lstStyle/>
          <a:p>
            <a:r>
              <a:rPr lang="en-US" altLang="zh-CN" sz="4800" b="1" dirty="0">
                <a:solidFill>
                  <a:srgbClr val="000000"/>
                </a:solidFill>
                <a:latin typeface="宋体" panose="02010600030101010101" pitchFamily="2" charset="-122"/>
                <a:ea typeface="宋体" panose="02010600030101010101" pitchFamily="2" charset="-122"/>
              </a:rPr>
              <a:t>1.</a:t>
            </a:r>
            <a:r>
              <a:rPr lang="zh-CN" altLang="en-US" sz="4800" b="1" dirty="0">
                <a:solidFill>
                  <a:srgbClr val="000000"/>
                </a:solidFill>
                <a:latin typeface="宋体" panose="02010600030101010101" pitchFamily="2" charset="-122"/>
                <a:ea typeface="宋体" panose="02010600030101010101" pitchFamily="2" charset="-122"/>
              </a:rPr>
              <a:t>3</a:t>
            </a:r>
            <a:r>
              <a:rPr lang="en-US" altLang="zh-CN" sz="4800" b="1" dirty="0">
                <a:solidFill>
                  <a:srgbClr val="000000"/>
                </a:solidFill>
                <a:latin typeface="宋体" panose="02010600030101010101" pitchFamily="2" charset="-122"/>
                <a:ea typeface="宋体" panose="02010600030101010101" pitchFamily="2" charset="-122"/>
              </a:rPr>
              <a:t>.1 </a:t>
            </a:r>
            <a:r>
              <a:rPr lang="zh-CN" altLang="en-US" sz="4800" b="1" dirty="0">
                <a:solidFill>
                  <a:srgbClr val="000000"/>
                </a:solidFill>
                <a:latin typeface="宋体" panose="02010600030101010101" pitchFamily="2" charset="-122"/>
                <a:ea typeface="宋体" panose="02010600030101010101" pitchFamily="2" charset="-122"/>
              </a:rPr>
              <a:t>大数据对科学研究的影响</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17" name="对话气泡: 圆角矩形 16"/>
          <p:cNvSpPr/>
          <p:nvPr/>
        </p:nvSpPr>
        <p:spPr>
          <a:xfrm>
            <a:off x="9868949" y="2532392"/>
            <a:ext cx="1504154" cy="523220"/>
          </a:xfrm>
          <a:prstGeom prst="wedgeRoundRectCallout">
            <a:avLst>
              <a:gd name="adj1" fmla="val -62668"/>
              <a:gd name="adj2" fmla="val 230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仿真模拟</a:t>
            </a:r>
            <a:endParaRPr lang="zh-CN" altLang="en-US" sz="2400" dirty="0"/>
          </a:p>
        </p:txBody>
      </p:sp>
      <p:sp>
        <p:nvSpPr>
          <p:cNvPr id="18" name="对话气泡: 圆角矩形 17"/>
          <p:cNvSpPr/>
          <p:nvPr/>
        </p:nvSpPr>
        <p:spPr>
          <a:xfrm>
            <a:off x="9865957" y="3570597"/>
            <a:ext cx="1504154" cy="523220"/>
          </a:xfrm>
          <a:prstGeom prst="wedgeRoundRectCallout">
            <a:avLst>
              <a:gd name="adj1" fmla="val -62014"/>
              <a:gd name="adj2" fmla="val -427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数据分析</a:t>
            </a:r>
            <a:endParaRPr lang="zh-CN" altLang="en-US" sz="2400" dirty="0"/>
          </a:p>
        </p:txBody>
      </p:sp>
      <p:sp>
        <p:nvSpPr>
          <p:cNvPr id="19" name="对话气泡: 圆角矩形 18"/>
          <p:cNvSpPr/>
          <p:nvPr/>
        </p:nvSpPr>
        <p:spPr>
          <a:xfrm>
            <a:off x="9865957" y="4608802"/>
            <a:ext cx="1504154" cy="523220"/>
          </a:xfrm>
          <a:prstGeom prst="wedgeRoundRectCallout">
            <a:avLst>
              <a:gd name="adj1" fmla="val -72473"/>
              <a:gd name="adj2" fmla="val -11790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数据查询</a:t>
            </a:r>
            <a:endParaRPr lang="zh-CN" altLang="en-US" sz="2400" dirty="0"/>
          </a:p>
        </p:txBody>
      </p:sp>
      <p:sp>
        <p:nvSpPr>
          <p:cNvPr id="20" name="对话气泡: 圆角矩形 19"/>
          <p:cNvSpPr/>
          <p:nvPr/>
        </p:nvSpPr>
        <p:spPr>
          <a:xfrm>
            <a:off x="9865957" y="5585481"/>
            <a:ext cx="1504154" cy="523220"/>
          </a:xfrm>
          <a:prstGeom prst="wedgeRoundRectCallout">
            <a:avLst>
              <a:gd name="adj1" fmla="val -79663"/>
              <a:gd name="adj2" fmla="val -22125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数据挖掘</a:t>
            </a:r>
            <a:endParaRPr lang="zh-CN" altLang="en-US" sz="2400" dirty="0"/>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445"/>
                                        </p:tgtEl>
                                        <p:attrNameLst>
                                          <p:attrName>style.visibility</p:attrName>
                                        </p:attrNameLst>
                                      </p:cBhvr>
                                      <p:to>
                                        <p:strVal val="visible"/>
                                      </p:to>
                                    </p:set>
                                    <p:animEffect transition="in" filter="wipe(up)">
                                      <p:cBhvr>
                                        <p:cTn id="7" dur="500"/>
                                        <p:tgtEl>
                                          <p:spTgt spid="18445"/>
                                        </p:tgtEl>
                                      </p:cBhvr>
                                    </p:animEffect>
                                  </p:childTnLst>
                                </p:cTn>
                              </p:par>
                              <p:par>
                                <p:cTn id="8" presetID="22" presetClass="entr" presetSubtype="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par>
                                <p:cTn id="11" presetID="22" presetClass="entr" presetSubtype="1" fill="hold" nodeType="withEffect">
                                  <p:stCondLst>
                                    <p:cond delay="0"/>
                                  </p:stCondLst>
                                  <p:childTnLst>
                                    <p:set>
                                      <p:cBhvr>
                                        <p:cTn id="12" dur="1" fill="hold">
                                          <p:stCondLst>
                                            <p:cond delay="0"/>
                                          </p:stCondLst>
                                        </p:cTn>
                                        <p:tgtEl>
                                          <p:spTgt spid="18438"/>
                                        </p:tgtEl>
                                        <p:attrNameLst>
                                          <p:attrName>style.visibility</p:attrName>
                                        </p:attrNameLst>
                                      </p:cBhvr>
                                      <p:to>
                                        <p:strVal val="visible"/>
                                      </p:to>
                                    </p:set>
                                    <p:animEffect transition="in" filter="wipe(up)">
                                      <p:cBhvr>
                                        <p:cTn id="13" dur="500"/>
                                        <p:tgtEl>
                                          <p:spTgt spid="1843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8436"/>
                                        </p:tgtEl>
                                        <p:attrNameLst>
                                          <p:attrName>style.visibility</p:attrName>
                                        </p:attrNameLst>
                                      </p:cBhvr>
                                      <p:to>
                                        <p:strVal val="visible"/>
                                      </p:to>
                                    </p:set>
                                    <p:animEffect transition="in" filter="wipe(up)">
                                      <p:cBhvr>
                                        <p:cTn id="18" dur="500"/>
                                        <p:tgtEl>
                                          <p:spTgt spid="18436"/>
                                        </p:tgtEl>
                                      </p:cBhvr>
                                    </p:animEffect>
                                  </p:childTnLst>
                                </p:cTn>
                              </p:par>
                              <p:par>
                                <p:cTn id="19" presetID="22" presetClass="entr" presetSubtype="1"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500"/>
                                        <p:tgtEl>
                                          <p:spTgt spid="10"/>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8446"/>
                                        </p:tgtEl>
                                        <p:attrNameLst>
                                          <p:attrName>style.visibility</p:attrName>
                                        </p:attrNameLst>
                                      </p:cBhvr>
                                      <p:to>
                                        <p:strVal val="visible"/>
                                      </p:to>
                                    </p:set>
                                    <p:animEffect transition="in" filter="wipe(up)">
                                      <p:cBhvr>
                                        <p:cTn id="24" dur="500"/>
                                        <p:tgtEl>
                                          <p:spTgt spid="1844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8437"/>
                                        </p:tgtEl>
                                        <p:attrNameLst>
                                          <p:attrName>style.visibility</p:attrName>
                                        </p:attrNameLst>
                                      </p:cBhvr>
                                      <p:to>
                                        <p:strVal val="visible"/>
                                      </p:to>
                                    </p:set>
                                    <p:animEffect transition="in" filter="wipe(up)">
                                      <p:cBhvr>
                                        <p:cTn id="29" dur="500"/>
                                        <p:tgtEl>
                                          <p:spTgt spid="18437"/>
                                        </p:tgtEl>
                                      </p:cBhvr>
                                    </p:animEffect>
                                  </p:childTnLst>
                                </p:cTn>
                              </p:par>
                              <p:par>
                                <p:cTn id="30" presetID="22" presetClass="entr" presetSubtype="1"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8447"/>
                                        </p:tgtEl>
                                        <p:attrNameLst>
                                          <p:attrName>style.visibility</p:attrName>
                                        </p:attrNameLst>
                                      </p:cBhvr>
                                      <p:to>
                                        <p:strVal val="visible"/>
                                      </p:to>
                                    </p:set>
                                    <p:animEffect transition="in" filter="wipe(up)">
                                      <p:cBhvr>
                                        <p:cTn id="35" dur="500"/>
                                        <p:tgtEl>
                                          <p:spTgt spid="1844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8439"/>
                                        </p:tgtEl>
                                        <p:attrNameLst>
                                          <p:attrName>style.visibility</p:attrName>
                                        </p:attrNameLst>
                                      </p:cBhvr>
                                      <p:to>
                                        <p:strVal val="visible"/>
                                      </p:to>
                                    </p:set>
                                    <p:animEffect transition="in" filter="wipe(up)">
                                      <p:cBhvr>
                                        <p:cTn id="40" dur="500"/>
                                        <p:tgtEl>
                                          <p:spTgt spid="18439"/>
                                        </p:tgtEl>
                                      </p:cBhvr>
                                    </p:animEffect>
                                  </p:childTnLst>
                                </p:cTn>
                              </p:par>
                              <p:par>
                                <p:cTn id="41" presetID="22" presetClass="entr" presetSubtype="1"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up)">
                                      <p:cBhvr>
                                        <p:cTn id="43" dur="500"/>
                                        <p:tgtEl>
                                          <p:spTgt spid="12"/>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18448"/>
                                        </p:tgtEl>
                                        <p:attrNameLst>
                                          <p:attrName>style.visibility</p:attrName>
                                        </p:attrNameLst>
                                      </p:cBhvr>
                                      <p:to>
                                        <p:strVal val="visible"/>
                                      </p:to>
                                    </p:set>
                                    <p:animEffect transition="in" filter="wipe(up)">
                                      <p:cBhvr>
                                        <p:cTn id="46" dur="500"/>
                                        <p:tgtEl>
                                          <p:spTgt spid="18448"/>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1000"/>
                                        <p:tgtEl>
                                          <p:spTgt spid="17"/>
                                        </p:tgtEl>
                                      </p:cBhvr>
                                    </p:animEffect>
                                    <p:anim calcmode="lin" valueType="num">
                                      <p:cBhvr>
                                        <p:cTn id="52" dur="1000" fill="hold"/>
                                        <p:tgtEl>
                                          <p:spTgt spid="17"/>
                                        </p:tgtEl>
                                        <p:attrNameLst>
                                          <p:attrName>ppt_x</p:attrName>
                                        </p:attrNameLst>
                                      </p:cBhvr>
                                      <p:tavLst>
                                        <p:tav tm="0">
                                          <p:val>
                                            <p:strVal val="#ppt_x"/>
                                          </p:val>
                                        </p:tav>
                                        <p:tav tm="100000">
                                          <p:val>
                                            <p:strVal val="#ppt_x"/>
                                          </p:val>
                                        </p:tav>
                                      </p:tavLst>
                                    </p:anim>
                                    <p:anim calcmode="lin" valueType="num">
                                      <p:cBhvr>
                                        <p:cTn id="53" dur="1000" fill="hold"/>
                                        <p:tgtEl>
                                          <p:spTgt spid="17"/>
                                        </p:tgtEl>
                                        <p:attrNameLst>
                                          <p:attrName>ppt_y</p:attrName>
                                        </p:attrNameLst>
                                      </p:cBhvr>
                                      <p:tavLst>
                                        <p:tav tm="0">
                                          <p:val>
                                            <p:strVal val="#ppt_y+.1"/>
                                          </p:val>
                                        </p:tav>
                                        <p:tav tm="100000">
                                          <p:val>
                                            <p:strVal val="#ppt_y"/>
                                          </p:val>
                                        </p:tav>
                                      </p:tavLst>
                                    </p:anim>
                                  </p:childTnLst>
                                </p:cTn>
                              </p:par>
                            </p:childTnLst>
                          </p:cTn>
                        </p:par>
                        <p:par>
                          <p:cTn id="54" fill="hold">
                            <p:stCondLst>
                              <p:cond delay="1000"/>
                            </p:stCondLst>
                            <p:childTnLst>
                              <p:par>
                                <p:cTn id="55" presetID="42" presetClass="entr" presetSubtype="0" fill="hold" grpId="0" nodeType="after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childTnLst>
                          </p:cTn>
                        </p:par>
                        <p:par>
                          <p:cTn id="60" fill="hold">
                            <p:stCondLst>
                              <p:cond delay="2000"/>
                            </p:stCondLst>
                            <p:childTnLst>
                              <p:par>
                                <p:cTn id="61" presetID="42" presetClass="entr" presetSubtype="0"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1000"/>
                                        <p:tgtEl>
                                          <p:spTgt spid="19"/>
                                        </p:tgtEl>
                                      </p:cBhvr>
                                    </p:animEffect>
                                    <p:anim calcmode="lin" valueType="num">
                                      <p:cBhvr>
                                        <p:cTn id="64" dur="1000" fill="hold"/>
                                        <p:tgtEl>
                                          <p:spTgt spid="19"/>
                                        </p:tgtEl>
                                        <p:attrNameLst>
                                          <p:attrName>ppt_x</p:attrName>
                                        </p:attrNameLst>
                                      </p:cBhvr>
                                      <p:tavLst>
                                        <p:tav tm="0">
                                          <p:val>
                                            <p:strVal val="#ppt_x"/>
                                          </p:val>
                                        </p:tav>
                                        <p:tav tm="100000">
                                          <p:val>
                                            <p:strVal val="#ppt_x"/>
                                          </p:val>
                                        </p:tav>
                                      </p:tavLst>
                                    </p:anim>
                                    <p:anim calcmode="lin" valueType="num">
                                      <p:cBhvr>
                                        <p:cTn id="65" dur="1000" fill="hold"/>
                                        <p:tgtEl>
                                          <p:spTgt spid="19"/>
                                        </p:tgtEl>
                                        <p:attrNameLst>
                                          <p:attrName>ppt_y</p:attrName>
                                        </p:attrNameLst>
                                      </p:cBhvr>
                                      <p:tavLst>
                                        <p:tav tm="0">
                                          <p:val>
                                            <p:strVal val="#ppt_y+.1"/>
                                          </p:val>
                                        </p:tav>
                                        <p:tav tm="100000">
                                          <p:val>
                                            <p:strVal val="#ppt_y"/>
                                          </p:val>
                                        </p:tav>
                                      </p:tavLst>
                                    </p:anim>
                                  </p:childTnLst>
                                </p:cTn>
                              </p:par>
                            </p:childTnLst>
                          </p:cTn>
                        </p:par>
                        <p:par>
                          <p:cTn id="66" fill="hold">
                            <p:stCondLst>
                              <p:cond delay="3000"/>
                            </p:stCondLst>
                            <p:childTnLst>
                              <p:par>
                                <p:cTn id="67" presetID="42" presetClass="entr" presetSubtype="0" fill="hold" grpId="0" nodeType="after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1000"/>
                                        <p:tgtEl>
                                          <p:spTgt spid="20"/>
                                        </p:tgtEl>
                                      </p:cBhvr>
                                    </p:animEffect>
                                    <p:anim calcmode="lin" valueType="num">
                                      <p:cBhvr>
                                        <p:cTn id="70" dur="1000" fill="hold"/>
                                        <p:tgtEl>
                                          <p:spTgt spid="20"/>
                                        </p:tgtEl>
                                        <p:attrNameLst>
                                          <p:attrName>ppt_x</p:attrName>
                                        </p:attrNameLst>
                                      </p:cBhvr>
                                      <p:tavLst>
                                        <p:tav tm="0">
                                          <p:val>
                                            <p:strVal val="#ppt_x"/>
                                          </p:val>
                                        </p:tav>
                                        <p:tav tm="100000">
                                          <p:val>
                                            <p:strVal val="#ppt_x"/>
                                          </p:val>
                                        </p:tav>
                                      </p:tavLst>
                                    </p:anim>
                                    <p:anim calcmode="lin" valueType="num">
                                      <p:cBhvr>
                                        <p:cTn id="7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5" grpId="0"/>
      <p:bldP spid="18446" grpId="0"/>
      <p:bldP spid="18447" grpId="0"/>
      <p:bldP spid="18448" grpId="0"/>
      <p:bldP spid="17" grpId="0" animBg="1"/>
      <p:bldP spid="18" grpId="0" animBg="1"/>
      <p:bldP spid="19" grpId="0" animBg="1"/>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sz="4800" b="1" dirty="0">
                <a:solidFill>
                  <a:srgbClr val="000000"/>
                </a:solidFill>
                <a:latin typeface="宋体" panose="02010600030101010101" pitchFamily="2" charset="-122"/>
                <a:ea typeface="宋体" panose="02010600030101010101" pitchFamily="2" charset="-122"/>
              </a:rPr>
              <a:t>1.</a:t>
            </a:r>
            <a:r>
              <a:rPr lang="zh-CN" altLang="en-US" sz="4800" b="1" dirty="0">
                <a:solidFill>
                  <a:srgbClr val="000000"/>
                </a:solidFill>
                <a:latin typeface="宋体" panose="02010600030101010101" pitchFamily="2" charset="-122"/>
                <a:ea typeface="宋体" panose="02010600030101010101" pitchFamily="2" charset="-122"/>
              </a:rPr>
              <a:t>3</a:t>
            </a:r>
            <a:r>
              <a:rPr lang="en-US" altLang="zh-CN" sz="4800" b="1" dirty="0">
                <a:solidFill>
                  <a:srgbClr val="000000"/>
                </a:solidFill>
                <a:latin typeface="宋体" panose="02010600030101010101" pitchFamily="2" charset="-122"/>
                <a:ea typeface="宋体" panose="02010600030101010101" pitchFamily="2" charset="-122"/>
              </a:rPr>
              <a:t>.2 </a:t>
            </a:r>
            <a:r>
              <a:rPr lang="zh-CN" altLang="en-US" sz="4800" b="1" dirty="0">
                <a:solidFill>
                  <a:srgbClr val="000000"/>
                </a:solidFill>
                <a:latin typeface="宋体" panose="02010600030101010101" pitchFamily="2" charset="-122"/>
                <a:ea typeface="宋体" panose="02010600030101010101" pitchFamily="2" charset="-122"/>
              </a:rPr>
              <a:t>大数据对思维方式的影响</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文本框 3"/>
          <p:cNvSpPr txBox="1"/>
          <p:nvPr/>
        </p:nvSpPr>
        <p:spPr>
          <a:xfrm>
            <a:off x="889817" y="1602198"/>
            <a:ext cx="7981336" cy="1574918"/>
          </a:xfrm>
          <a:prstGeom prst="rect">
            <a:avLst/>
          </a:prstGeom>
          <a:noFill/>
        </p:spPr>
        <p:txBody>
          <a:bodyPr wrap="square">
            <a:spAutoFit/>
          </a:bodyPr>
          <a:lstStyle/>
          <a:p>
            <a:pPr marL="285750" indent="-285750">
              <a:buFont typeface="Arial" panose="020B0604020202020204" pitchFamily="34" charset="0"/>
              <a:buChar char="•"/>
            </a:pPr>
            <a:r>
              <a:rPr lang="zh-CN" altLang="en-US" sz="2800" dirty="0"/>
              <a:t>全样而非抽样</a:t>
            </a:r>
            <a:endParaRPr lang="en-US" altLang="zh-CN" sz="2800" dirty="0"/>
          </a:p>
          <a:p>
            <a:pPr marL="914400" lvl="1" indent="-457200">
              <a:lnSpc>
                <a:spcPct val="150000"/>
              </a:lnSpc>
              <a:buClr>
                <a:srgbClr val="FF0000"/>
              </a:buClr>
              <a:buFont typeface="Wingdings" panose="05000000000000000000" pitchFamily="2" charset="2"/>
              <a:buChar char="Ø"/>
            </a:pPr>
            <a:r>
              <a:rPr lang="zh-CN" altLang="en-US" sz="2400" dirty="0"/>
              <a:t>传统抽样：存储受限代价又高</a:t>
            </a:r>
            <a:r>
              <a:rPr lang="en-US" altLang="zh-CN" sz="2400" dirty="0"/>
              <a:t>--</a:t>
            </a:r>
            <a:r>
              <a:rPr lang="zh-CN" altLang="en-US" sz="2400" dirty="0"/>
              <a:t>以小见大</a:t>
            </a:r>
            <a:endParaRPr lang="en-US" altLang="zh-CN" sz="2400" dirty="0"/>
          </a:p>
          <a:p>
            <a:pPr marL="914400" lvl="1" indent="-457200">
              <a:lnSpc>
                <a:spcPct val="150000"/>
              </a:lnSpc>
              <a:buClr>
                <a:srgbClr val="FF0000"/>
              </a:buClr>
              <a:buFont typeface="Wingdings" panose="05000000000000000000" pitchFamily="2" charset="2"/>
              <a:buChar char="Ø"/>
            </a:pPr>
            <a:r>
              <a:rPr lang="zh-CN" altLang="en-US" sz="2400" dirty="0"/>
              <a:t>现在全样：海量存储并行处理</a:t>
            </a:r>
            <a:r>
              <a:rPr lang="en-US" altLang="zh-CN" sz="2400" dirty="0"/>
              <a:t>--</a:t>
            </a:r>
            <a:r>
              <a:rPr lang="zh-CN" altLang="en-US" sz="2400" dirty="0"/>
              <a:t>分而治之</a:t>
            </a:r>
            <a:endParaRPr lang="zh-CN" altLang="en-US" sz="2400" dirty="0"/>
          </a:p>
        </p:txBody>
      </p:sp>
      <p:sp>
        <p:nvSpPr>
          <p:cNvPr id="6" name="文本框 5"/>
          <p:cNvSpPr txBox="1"/>
          <p:nvPr/>
        </p:nvSpPr>
        <p:spPr>
          <a:xfrm>
            <a:off x="838200" y="5146557"/>
            <a:ext cx="6096000" cy="1574918"/>
          </a:xfrm>
          <a:prstGeom prst="rect">
            <a:avLst/>
          </a:prstGeom>
          <a:noFill/>
        </p:spPr>
        <p:txBody>
          <a:bodyPr wrap="square">
            <a:spAutoFit/>
          </a:bodyPr>
          <a:lstStyle/>
          <a:p>
            <a:pPr marL="285750" indent="-285750">
              <a:buFont typeface="Arial" panose="020B0604020202020204" pitchFamily="34" charset="0"/>
              <a:buChar char="•"/>
            </a:pPr>
            <a:r>
              <a:rPr lang="zh-CN" altLang="en-US" sz="2800" dirty="0"/>
              <a:t>相关而非因果</a:t>
            </a:r>
            <a:endParaRPr lang="en-US" altLang="zh-CN" sz="2800" dirty="0"/>
          </a:p>
          <a:p>
            <a:pPr marL="914400" lvl="1" indent="-457200">
              <a:lnSpc>
                <a:spcPct val="150000"/>
              </a:lnSpc>
              <a:buClr>
                <a:srgbClr val="FF0000"/>
              </a:buClr>
              <a:buFont typeface="Wingdings" panose="05000000000000000000" pitchFamily="2" charset="2"/>
              <a:buChar char="Ø"/>
            </a:pPr>
            <a:r>
              <a:rPr lang="zh-CN" altLang="en-US" sz="2400" dirty="0"/>
              <a:t>传统：因果性</a:t>
            </a:r>
            <a:endParaRPr lang="en-US" altLang="zh-CN" sz="2400" dirty="0"/>
          </a:p>
          <a:p>
            <a:pPr marL="914400" lvl="1" indent="-457200">
              <a:lnSpc>
                <a:spcPct val="150000"/>
              </a:lnSpc>
              <a:buClr>
                <a:srgbClr val="FF0000"/>
              </a:buClr>
              <a:buFont typeface="Wingdings" panose="05000000000000000000" pitchFamily="2" charset="2"/>
              <a:buChar char="Ø"/>
            </a:pPr>
            <a:r>
              <a:rPr lang="zh-CN" altLang="en-US" sz="2400" dirty="0"/>
              <a:t>现在：相关性</a:t>
            </a:r>
            <a:endParaRPr lang="zh-CN" altLang="en-US" sz="1600" dirty="0"/>
          </a:p>
        </p:txBody>
      </p:sp>
      <p:sp>
        <p:nvSpPr>
          <p:cNvPr id="8" name="文本框 7"/>
          <p:cNvSpPr txBox="1"/>
          <p:nvPr/>
        </p:nvSpPr>
        <p:spPr>
          <a:xfrm>
            <a:off x="838200" y="3375674"/>
            <a:ext cx="7155426" cy="1574918"/>
          </a:xfrm>
          <a:prstGeom prst="rect">
            <a:avLst/>
          </a:prstGeom>
          <a:noFill/>
        </p:spPr>
        <p:txBody>
          <a:bodyPr wrap="square">
            <a:spAutoFit/>
          </a:bodyPr>
          <a:lstStyle/>
          <a:p>
            <a:pPr marL="285750" indent="-285750">
              <a:buFont typeface="Arial" panose="020B0604020202020204" pitchFamily="34" charset="0"/>
              <a:buChar char="•"/>
            </a:pPr>
            <a:r>
              <a:rPr lang="zh-CN" altLang="en-US" sz="2800" dirty="0"/>
              <a:t>效率而非精确</a:t>
            </a:r>
            <a:endParaRPr lang="en-US" altLang="zh-CN" sz="2800" dirty="0"/>
          </a:p>
          <a:p>
            <a:pPr marL="914400" lvl="1" indent="-457200">
              <a:lnSpc>
                <a:spcPct val="150000"/>
              </a:lnSpc>
              <a:buClr>
                <a:srgbClr val="FF0000"/>
              </a:buClr>
              <a:buFont typeface="Wingdings" panose="05000000000000000000" pitchFamily="2" charset="2"/>
              <a:buChar char="Ø"/>
            </a:pPr>
            <a:r>
              <a:rPr lang="zh-CN" altLang="en-US" sz="2400" dirty="0"/>
              <a:t>传统抽样：存在误差，要求精确</a:t>
            </a:r>
            <a:endParaRPr lang="en-US" altLang="zh-CN" sz="2400" dirty="0"/>
          </a:p>
          <a:p>
            <a:pPr marL="914400" lvl="1" indent="-457200">
              <a:lnSpc>
                <a:spcPct val="150000"/>
              </a:lnSpc>
              <a:buClr>
                <a:srgbClr val="FF0000"/>
              </a:buClr>
              <a:buFont typeface="Wingdings" panose="05000000000000000000" pitchFamily="2" charset="2"/>
              <a:buChar char="Ø"/>
            </a:pPr>
            <a:r>
              <a:rPr lang="zh-CN" altLang="en-US" sz="2400" dirty="0"/>
              <a:t>现在全样：结果精确，要求秒级响应</a:t>
            </a:r>
            <a:endParaRPr lang="zh-CN" altLang="en-US" sz="2400" dirty="0"/>
          </a:p>
        </p:txBody>
      </p:sp>
      <p:pic>
        <p:nvPicPr>
          <p:cNvPr id="9" name="Picture 5" descr="Img3695115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05800" y="1842560"/>
            <a:ext cx="3048000"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8610600" y="5694082"/>
            <a:ext cx="2605200" cy="400110"/>
          </a:xfrm>
          <a:prstGeom prst="rect">
            <a:avLst/>
          </a:prstGeom>
          <a:noFill/>
        </p:spPr>
        <p:txBody>
          <a:bodyPr wrap="none" rtlCol="0">
            <a:spAutoFit/>
          </a:bodyPr>
          <a:lstStyle/>
          <a:p>
            <a:r>
              <a:rPr lang="zh-CN" altLang="en-US" sz="2000" dirty="0"/>
              <a:t>维克托</a:t>
            </a:r>
            <a:r>
              <a:rPr lang="en-US" altLang="zh-CN" sz="2000" dirty="0"/>
              <a:t>·</a:t>
            </a:r>
            <a:r>
              <a:rPr lang="zh-CN" altLang="en-US" sz="2000" dirty="0"/>
              <a:t>迈尔</a:t>
            </a:r>
            <a:r>
              <a:rPr lang="en-US" altLang="zh-CN" sz="2000" dirty="0"/>
              <a:t>·</a:t>
            </a:r>
            <a:r>
              <a:rPr lang="zh-CN" altLang="en-US" sz="2000" dirty="0"/>
              <a:t>舍恩伯格</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up)">
                                      <p:cBhvr>
                                        <p:cTn id="7" dur="500"/>
                                        <p:tgtEl>
                                          <p:spTgt spid="4">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wipe(up)">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wipe(up)">
                                      <p:cBhvr>
                                        <p:cTn id="15" dur="500"/>
                                        <p:tgtEl>
                                          <p:spTgt spid="8">
                                            <p:txEl>
                                              <p:pRg st="1" end="1"/>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wipe(up)">
                                      <p:cBhvr>
                                        <p:cTn id="18" dur="5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wipe(up)">
                                      <p:cBhvr>
                                        <p:cTn id="23" dur="500"/>
                                        <p:tgtEl>
                                          <p:spTgt spid="6">
                                            <p:txEl>
                                              <p:pRg st="1" end="1"/>
                                            </p:txEl>
                                          </p:spTgt>
                                        </p:tgtEl>
                                      </p:cBhvr>
                                    </p:animEffect>
                                  </p:childTnLst>
                                </p:cTn>
                              </p:par>
                              <p:par>
                                <p:cTn id="24" presetID="22" presetClass="entr" presetSubtype="1" fill="hold" nodeType="with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wipe(up)">
                                      <p:cBhvr>
                                        <p:cTn id="26"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3</a:t>
            </a:r>
            <a:r>
              <a:rPr lang="en-US" altLang="zh-CN" sz="4400" b="1" dirty="0">
                <a:solidFill>
                  <a:srgbClr val="000000"/>
                </a:solidFill>
                <a:latin typeface="宋体" panose="02010600030101010101" pitchFamily="2" charset="-122"/>
                <a:ea typeface="宋体" panose="02010600030101010101" pitchFamily="2" charset="-122"/>
              </a:rPr>
              <a:t>.3 </a:t>
            </a:r>
            <a:r>
              <a:rPr lang="zh-CN" altLang="en-US" sz="4400" b="1" dirty="0">
                <a:solidFill>
                  <a:srgbClr val="000000"/>
                </a:solidFill>
                <a:latin typeface="宋体" panose="02010600030101010101" pitchFamily="2" charset="-122"/>
                <a:ea typeface="宋体" panose="02010600030101010101" pitchFamily="2" charset="-122"/>
              </a:rPr>
              <a:t>大数据对社会发展的影响</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graphicFrame>
        <p:nvGraphicFramePr>
          <p:cNvPr id="5" name="图示 4"/>
          <p:cNvGraphicFramePr/>
          <p:nvPr/>
        </p:nvGraphicFramePr>
        <p:xfrm>
          <a:off x="1546943" y="1302808"/>
          <a:ext cx="8435257" cy="541866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3</a:t>
            </a:r>
            <a:r>
              <a:rPr lang="en-US" altLang="zh-CN" sz="4400" b="1" dirty="0">
                <a:solidFill>
                  <a:srgbClr val="000000"/>
                </a:solidFill>
                <a:latin typeface="宋体" panose="02010600030101010101" pitchFamily="2" charset="-122"/>
                <a:ea typeface="宋体" panose="02010600030101010101" pitchFamily="2" charset="-122"/>
              </a:rPr>
              <a:t>.3 </a:t>
            </a:r>
            <a:r>
              <a:rPr lang="zh-CN" altLang="en-US" sz="4400" b="1" dirty="0">
                <a:solidFill>
                  <a:srgbClr val="000000"/>
                </a:solidFill>
                <a:latin typeface="宋体" panose="02010600030101010101" pitchFamily="2" charset="-122"/>
                <a:ea typeface="宋体" panose="02010600030101010101" pitchFamily="2" charset="-122"/>
              </a:rPr>
              <a:t>大数据对其它方面的影响</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sz="2800" dirty="0"/>
              <a:t>在就业市场方面：</a:t>
            </a:r>
            <a:endParaRPr lang="en-US" altLang="zh-CN" sz="2800" dirty="0"/>
          </a:p>
          <a:p>
            <a:pPr lvl="1">
              <a:lnSpc>
                <a:spcPct val="150000"/>
              </a:lnSpc>
              <a:buClr>
                <a:srgbClr val="FF0000"/>
              </a:buClr>
              <a:buFont typeface="Wingdings" panose="05000000000000000000" pitchFamily="2" charset="2"/>
              <a:buChar char="Ø"/>
            </a:pPr>
            <a:r>
              <a:rPr lang="zh-CN" altLang="en-US" dirty="0">
                <a:highlight>
                  <a:srgbClr val="FFFF00"/>
                </a:highlight>
              </a:rPr>
              <a:t>数据科学家</a:t>
            </a:r>
            <a:r>
              <a:rPr lang="zh-CN" altLang="en-US" dirty="0"/>
              <a:t>成为热门职业</a:t>
            </a:r>
            <a:endParaRPr lang="en-US" altLang="zh-CN" dirty="0"/>
          </a:p>
          <a:p>
            <a:endParaRPr lang="en-US" altLang="zh-CN" sz="2800" dirty="0"/>
          </a:p>
          <a:p>
            <a:pPr marL="0" indent="0">
              <a:buNone/>
            </a:pPr>
            <a:endParaRPr lang="zh-CN" altLang="en-US" sz="2800" dirty="0"/>
          </a:p>
          <a:p>
            <a:pPr>
              <a:lnSpc>
                <a:spcPct val="150000"/>
              </a:lnSpc>
            </a:pPr>
            <a:endParaRPr lang="en-US" altLang="zh-CN" sz="2800" dirty="0"/>
          </a:p>
          <a:p>
            <a:pPr>
              <a:lnSpc>
                <a:spcPct val="150000"/>
              </a:lnSpc>
            </a:pPr>
            <a:r>
              <a:rPr lang="zh-CN" altLang="en-US" sz="2800" dirty="0"/>
              <a:t>在人才培养方面：</a:t>
            </a:r>
            <a:endParaRPr lang="en-US" altLang="zh-CN" dirty="0"/>
          </a:p>
          <a:p>
            <a:pPr lvl="1">
              <a:lnSpc>
                <a:spcPct val="150000"/>
              </a:lnSpc>
              <a:buClr>
                <a:srgbClr val="FF0000"/>
              </a:buClr>
              <a:buFont typeface="Wingdings" panose="05000000000000000000" pitchFamily="2" charset="2"/>
              <a:buChar char="Ø"/>
            </a:pPr>
            <a:r>
              <a:rPr lang="zh-CN" altLang="en-US" dirty="0"/>
              <a:t>影响中国高校信息技术相关专业的现有教学和科研体制</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对话气泡: 圆角矩形 4"/>
          <p:cNvSpPr/>
          <p:nvPr/>
        </p:nvSpPr>
        <p:spPr>
          <a:xfrm>
            <a:off x="1425676" y="3534262"/>
            <a:ext cx="5948517" cy="934064"/>
          </a:xfrm>
          <a:prstGeom prst="wedgeRoundRectCallout">
            <a:avLst>
              <a:gd name="adj1" fmla="val -34949"/>
              <a:gd name="adj2" fmla="val -90132"/>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400" dirty="0"/>
              <a:t>复合型人才（数据科学相关专业）：</a:t>
            </a:r>
            <a:endParaRPr lang="en-US" altLang="zh-CN" sz="2400" dirty="0"/>
          </a:p>
          <a:p>
            <a:r>
              <a:rPr lang="zh-CN" altLang="en-US" sz="2400" dirty="0"/>
              <a:t>统计学、数学、机器学习、可视化、编程</a:t>
            </a:r>
            <a:endParaRPr lang="zh-CN" altLang="en-US" sz="2400" dirty="0"/>
          </a:p>
        </p:txBody>
      </p:sp>
      <p:sp>
        <p:nvSpPr>
          <p:cNvPr id="6" name="对话气泡: 圆角矩形 5"/>
          <p:cNvSpPr/>
          <p:nvPr/>
        </p:nvSpPr>
        <p:spPr>
          <a:xfrm>
            <a:off x="5078360" y="1646238"/>
            <a:ext cx="5948517" cy="934064"/>
          </a:xfrm>
          <a:prstGeom prst="wedgeRoundRectCallout">
            <a:avLst>
              <a:gd name="adj1" fmla="val -81561"/>
              <a:gd name="adj2" fmla="val 6565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400" dirty="0"/>
              <a:t>大数据应用实战并融会贯通，</a:t>
            </a:r>
            <a:endParaRPr lang="en-US" altLang="zh-CN" sz="2400" dirty="0"/>
          </a:p>
          <a:p>
            <a:r>
              <a:rPr lang="zh-CN" altLang="en-US" sz="2400" dirty="0"/>
              <a:t>自身专业背景与所在行业业务深度融合</a:t>
            </a:r>
            <a:endParaRPr lang="zh-CN" alt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6" name="文本框 5"/>
          <p:cNvSpPr txBox="1"/>
          <p:nvPr>
            <p:custDataLst>
              <p:tags r:id="rId1"/>
            </p:custDataLst>
          </p:nvPr>
        </p:nvSpPr>
        <p:spPr>
          <a:xfrm>
            <a:off x="1219200" y="635000"/>
            <a:ext cx="97536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下列不属于大数据对思维方式的影响的是（）</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2"/>
            </p:custDataLst>
          </p:nvPr>
        </p:nvSpPr>
        <p:spPr>
          <a:xfrm>
            <a:off x="2438400" y="27857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全样而非抽样</a:t>
            </a:r>
            <a:endParaRPr lang="zh-CN" altLang="en-US" sz="2600">
              <a:solidFill>
                <a:srgbClr val="000000"/>
              </a:solidFill>
              <a:latin typeface="微软雅黑" panose="020B0503020204020204" charset="-122"/>
              <a:ea typeface="微软雅黑" panose="020B0503020204020204" charset="-122"/>
            </a:endParaRPr>
          </a:p>
        </p:txBody>
      </p:sp>
      <p:sp>
        <p:nvSpPr>
          <p:cNvPr id="8" name="文本框 7"/>
          <p:cNvSpPr txBox="1"/>
          <p:nvPr>
            <p:custDataLst>
              <p:tags r:id="rId3"/>
            </p:custDataLst>
          </p:nvPr>
        </p:nvSpPr>
        <p:spPr>
          <a:xfrm>
            <a:off x="2438400" y="36429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效率而非精确</a:t>
            </a:r>
            <a:endParaRPr lang="zh-CN" altLang="en-US" sz="2600">
              <a:solidFill>
                <a:srgbClr val="000000"/>
              </a:solidFill>
              <a:latin typeface="微软雅黑" panose="020B0503020204020204" charset="-122"/>
              <a:ea typeface="微软雅黑" panose="020B0503020204020204" charset="-122"/>
            </a:endParaRPr>
          </a:p>
        </p:txBody>
      </p:sp>
      <p:sp>
        <p:nvSpPr>
          <p:cNvPr id="9" name="文本框 8"/>
          <p:cNvSpPr txBox="1"/>
          <p:nvPr>
            <p:custDataLst>
              <p:tags r:id="rId4"/>
            </p:custDataLst>
          </p:nvPr>
        </p:nvSpPr>
        <p:spPr>
          <a:xfrm>
            <a:off x="2438400" y="450024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相关而非因果</a:t>
            </a:r>
            <a:endParaRPr lang="zh-CN" altLang="en-US" sz="2600">
              <a:solidFill>
                <a:srgbClr val="000000"/>
              </a:solidFill>
              <a:latin typeface="微软雅黑" panose="020B0503020204020204" charset="-122"/>
              <a:ea typeface="微软雅黑" panose="020B0503020204020204" charset="-122"/>
            </a:endParaRPr>
          </a:p>
        </p:txBody>
      </p:sp>
      <p:sp>
        <p:nvSpPr>
          <p:cNvPr id="10" name="文本框 9"/>
          <p:cNvSpPr txBox="1"/>
          <p:nvPr>
            <p:custDataLst>
              <p:tags r:id="rId5"/>
            </p:custDataLst>
          </p:nvPr>
        </p:nvSpPr>
        <p:spPr>
          <a:xfrm>
            <a:off x="2438400" y="5357495"/>
            <a:ext cx="85344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数据密集型科学</a:t>
            </a:r>
            <a:endParaRPr lang="zh-CN" altLang="en-US" sz="2600">
              <a:solidFill>
                <a:srgbClr val="000000"/>
              </a:solidFill>
              <a:latin typeface="微软雅黑" panose="020B0503020204020204" charset="-122"/>
              <a:ea typeface="微软雅黑" panose="020B0503020204020204" charset="-122"/>
            </a:endParaRPr>
          </a:p>
        </p:txBody>
      </p:sp>
      <p:sp>
        <p:nvSpPr>
          <p:cNvPr id="11" name="椭圆 10"/>
          <p:cNvSpPr>
            <a:spLocks noChangeAspect="1"/>
          </p:cNvSpPr>
          <p:nvPr>
            <p:custDataLst>
              <p:tags r:id="rId6"/>
            </p:custDataLst>
          </p:nvPr>
        </p:nvSpPr>
        <p:spPr>
          <a:xfrm>
            <a:off x="1571625" y="28498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12" name="椭圆 11"/>
          <p:cNvSpPr>
            <a:spLocks noChangeAspect="1"/>
          </p:cNvSpPr>
          <p:nvPr>
            <p:custDataLst>
              <p:tags r:id="rId7"/>
            </p:custDataLst>
          </p:nvPr>
        </p:nvSpPr>
        <p:spPr>
          <a:xfrm>
            <a:off x="1571625" y="37071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3" name="椭圆 12"/>
          <p:cNvSpPr>
            <a:spLocks noChangeAspect="1"/>
          </p:cNvSpPr>
          <p:nvPr>
            <p:custDataLst>
              <p:tags r:id="rId8"/>
            </p:custDataLst>
          </p:nvPr>
        </p:nvSpPr>
        <p:spPr>
          <a:xfrm>
            <a:off x="1571625" y="45643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4" name="椭圆 13"/>
          <p:cNvSpPr>
            <a:spLocks noChangeAspect="1"/>
          </p:cNvSpPr>
          <p:nvPr>
            <p:custDataLst>
              <p:tags r:id="rId9"/>
            </p:custDataLst>
          </p:nvPr>
        </p:nvSpPr>
        <p:spPr>
          <a:xfrm>
            <a:off x="1571625" y="542163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5" name="圆角矩形 14"/>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sp>
        <p:nvSpPr>
          <p:cNvPr id="22" name="矩形 21"/>
          <p:cNvSpPr/>
          <p:nvPr>
            <p:custDataLst>
              <p:tags r:id="rId11"/>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7" name="文本框 26"/>
          <p:cNvSpPr txBox="1"/>
          <p:nvPr>
            <p:custDataLst>
              <p:tags r:id="rId12"/>
            </p:custDataLst>
          </p:nvPr>
        </p:nvSpPr>
        <p:spPr>
          <a:xfrm>
            <a:off x="12661900" y="6326823"/>
            <a:ext cx="3662045" cy="460375"/>
          </a:xfrm>
          <a:prstGeom prst="rect">
            <a:avLst/>
          </a:prstGeom>
          <a:solidFill>
            <a:srgbClr val="FBFAEF"/>
          </a:solidFill>
          <a:ln w="12700">
            <a:noFill/>
          </a:ln>
        </p:spPr>
        <p:txBody>
          <a:bodyPr wrap="square" rtlCol="0" anchor="ctr">
            <a:spAutoFit/>
          </a:bodyPr>
          <a:lstStyle/>
          <a:p>
            <a:pPr lvl="0" algn="l">
              <a:buNone/>
            </a:pPr>
            <a:r>
              <a:rPr lang="zh-CN" altLang="en-US" sz="1200">
                <a:solidFill>
                  <a:srgbClr val="F84F41"/>
                </a:solidFill>
                <a:latin typeface="微软雅黑" panose="020B0503020204020204" charset="-122"/>
                <a:ea typeface="微软雅黑" panose="020B0503020204020204" charset="-122"/>
              </a:rPr>
              <a:t>可为此题添加文本、图片、公式等解析，且需将内容全部放在本区域内。</a:t>
            </a:r>
            <a:endParaRPr lang="zh-CN" altLang="en-US" sz="1200">
              <a:solidFill>
                <a:srgbClr val="F84F41"/>
              </a:solidFill>
              <a:latin typeface="微软雅黑" panose="020B0503020204020204" charset="-122"/>
              <a:ea typeface="微软雅黑" panose="020B0503020204020204" charset="-122"/>
            </a:endParaRPr>
          </a:p>
        </p:txBody>
      </p:sp>
      <p:sp>
        <p:nvSpPr>
          <p:cNvPr id="28" name="文本框 27"/>
          <p:cNvSpPr txBox="1"/>
          <p:nvPr>
            <p:custDataLst>
              <p:tags r:id="rId13"/>
            </p:custDataLst>
          </p:nvPr>
        </p:nvSpPr>
        <p:spPr>
          <a:xfrm>
            <a:off x="12827000" y="1270000"/>
            <a:ext cx="3331845" cy="398780"/>
          </a:xfrm>
          <a:prstGeom prst="rect">
            <a:avLst/>
          </a:prstGeom>
          <a:noFill/>
        </p:spPr>
        <p:txBody>
          <a:bodyPr wrap="square"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D</a:t>
            </a:r>
            <a:r>
              <a:rPr kumimoji="0" lang="zh-CN" altLang="en-US" sz="20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属于对科学研究的影响</a:t>
            </a:r>
            <a:endParaRPr kumimoji="0" lang="zh-CN" altLang="en-US" sz="20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endParaRPr>
          </a:p>
        </p:txBody>
      </p:sp>
      <p:grpSp>
        <p:nvGrpSpPr>
          <p:cNvPr id="26" name="组合 25"/>
          <p:cNvGrpSpPr/>
          <p:nvPr>
            <p:custDataLst>
              <p:tags r:id="rId14"/>
            </p:custDataLst>
          </p:nvPr>
        </p:nvGrpSpPr>
        <p:grpSpPr>
          <a:xfrm>
            <a:off x="12585700" y="0"/>
            <a:ext cx="3813810" cy="647700"/>
            <a:chOff x="19820" y="0"/>
            <a:chExt cx="6006" cy="1020"/>
          </a:xfrm>
        </p:grpSpPr>
        <p:sp>
          <p:nvSpPr>
            <p:cNvPr id="23" name="RemarkBack"/>
            <p:cNvSpPr/>
            <p:nvPr>
              <p:custDataLst>
                <p:tags r:id="rId15"/>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markBlock"/>
            <p:cNvSpPr/>
            <p:nvPr>
              <p:custDataLst>
                <p:tags r:id="rId16"/>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TitleText"/>
            <p:cNvSpPr txBox="1"/>
            <p:nvPr>
              <p:custDataLst>
                <p:tags r:id="rId17"/>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charset="-122"/>
                  <a:ea typeface="微软雅黑" panose="020B0503020204020204" charset="-122"/>
                </a:rPr>
                <a:t>答案解析</a:t>
              </a:r>
              <a:endParaRPr lang="zh-CN" altLang="en-US">
                <a:solidFill>
                  <a:srgbClr val="000000"/>
                </a:solidFill>
                <a:latin typeface="微软雅黑" panose="020B0503020204020204" charset="-122"/>
                <a:ea typeface="微软雅黑" panose="020B0503020204020204" charset="-122"/>
              </a:endParaRPr>
            </a:p>
          </p:txBody>
        </p:sp>
      </p:grpSp>
      <p:grpSp>
        <p:nvGrpSpPr>
          <p:cNvPr id="20" name="组合 19"/>
          <p:cNvGrpSpPr/>
          <p:nvPr>
            <p:custDataLst>
              <p:tags r:id="rId18"/>
            </p:custDataLst>
          </p:nvPr>
        </p:nvGrpSpPr>
        <p:grpSpPr>
          <a:xfrm>
            <a:off x="0" y="0"/>
            <a:ext cx="12192000" cy="635000"/>
            <a:chOff x="0" y="0"/>
            <a:chExt cx="19200" cy="1000"/>
          </a:xfrm>
        </p:grpSpPr>
        <p:sp>
          <p:nvSpPr>
            <p:cNvPr id="16" name="TitleBackground"/>
            <p:cNvSpPr/>
            <p:nvPr>
              <p:custDataLst>
                <p:tags r:id="rId19"/>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20"/>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21"/>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endParaRPr>
            </a:p>
          </p:txBody>
        </p:sp>
        <p:sp>
          <p:nvSpPr>
            <p:cNvPr id="19" name="TipText"/>
            <p:cNvSpPr txBox="1"/>
            <p:nvPr>
              <p:custDataLst>
                <p:tags r:id="rId22"/>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5" name="图片 4" descr="tmp7818"/>
          <p:cNvPicPr>
            <a:picLocks noChangeAspect="1"/>
          </p:cNvPicPr>
          <p:nvPr>
            <p:custDataLst>
              <p:tags r:id="rId23"/>
            </p:custDataLst>
          </p:nvPr>
        </p:nvPicPr>
        <p:blipFill>
          <a:blip r:embed="rId24"/>
          <a:stretch>
            <a:fillRect/>
          </a:stretch>
        </p:blipFill>
        <p:spPr>
          <a:xfrm>
            <a:off x="10642600" y="63500"/>
            <a:ext cx="1422400" cy="508000"/>
          </a:xfrm>
          <a:prstGeom prst="rect">
            <a:avLst/>
          </a:prstGeom>
        </p:spPr>
      </p:pic>
    </p:spTree>
    <p:custDataLst>
      <p:tags r:id="rId25"/>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b="1" dirty="0">
                <a:solidFill>
                  <a:srgbClr val="000000"/>
                </a:solidFill>
                <a:latin typeface="宋体" panose="02010600030101010101" pitchFamily="2" charset="-122"/>
                <a:ea typeface="宋体" panose="02010600030101010101" pitchFamily="2" charset="-122"/>
              </a:rPr>
              <a:t>1.4 </a:t>
            </a:r>
            <a:r>
              <a:rPr lang="zh-CN" altLang="en-US" sz="4400" b="1" dirty="0">
                <a:solidFill>
                  <a:srgbClr val="000000"/>
                </a:solidFill>
                <a:latin typeface="宋体" panose="02010600030101010101" pitchFamily="2" charset="-122"/>
                <a:ea typeface="宋体" panose="02010600030101010101" pitchFamily="2" charset="-122"/>
              </a:rPr>
              <a:t>大数据</a:t>
            </a:r>
            <a:r>
              <a:rPr lang="zh-CN" altLang="en-US" b="1" dirty="0">
                <a:solidFill>
                  <a:srgbClr val="000000"/>
                </a:solidFill>
                <a:latin typeface="宋体" panose="02010600030101010101" pitchFamily="2" charset="-122"/>
                <a:ea typeface="宋体" panose="02010600030101010101" pitchFamily="2" charset="-122"/>
              </a:rPr>
              <a:t>的应用</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11" name="矩形: 圆角 10"/>
          <p:cNvSpPr/>
          <p:nvPr/>
        </p:nvSpPr>
        <p:spPr>
          <a:xfrm>
            <a:off x="5052550" y="3154428"/>
            <a:ext cx="1936955" cy="1002890"/>
          </a:xfrm>
          <a:prstGeom prst="roundRect">
            <a:avLst/>
          </a:prstGeom>
          <a:solidFill>
            <a:srgbClr val="0070C0"/>
          </a:solidFill>
          <a:ln>
            <a:noFill/>
          </a:ln>
          <a:effectLst>
            <a:outerShdw blurRad="50800" dist="38100" dir="2700000" algn="tl" rotWithShape="0">
              <a:prstClr val="black">
                <a:alpha val="40000"/>
              </a:prstClr>
            </a:outerShdw>
          </a:effectLst>
          <a:scene3d>
            <a:camera prst="obliqueTop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大数据的</a:t>
            </a:r>
            <a:endParaRPr lang="en-US" altLang="zh-CN" sz="2800" dirty="0"/>
          </a:p>
          <a:p>
            <a:pPr algn="ctr"/>
            <a:r>
              <a:rPr lang="zh-CN" altLang="en-US" sz="2800" dirty="0"/>
              <a:t>应用领域</a:t>
            </a:r>
            <a:endParaRPr lang="zh-CN" altLang="en-US" sz="2800" dirty="0"/>
          </a:p>
        </p:txBody>
      </p:sp>
      <p:sp>
        <p:nvSpPr>
          <p:cNvPr id="12" name="矩形 11"/>
          <p:cNvSpPr/>
          <p:nvPr/>
        </p:nvSpPr>
        <p:spPr>
          <a:xfrm>
            <a:off x="7521142" y="4943138"/>
            <a:ext cx="3416709" cy="1549737"/>
          </a:xfrm>
          <a:prstGeom prst="rect">
            <a:avLst/>
          </a:prstGeom>
          <a:ln>
            <a:noFill/>
          </a:ln>
          <a:effectLst>
            <a:outerShdw blurRad="63500" sx="102000" sy="102000" algn="c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400" dirty="0"/>
              <a:t>其它：</a:t>
            </a:r>
            <a:endParaRPr lang="en-US" altLang="zh-CN" sz="2400" dirty="0"/>
          </a:p>
          <a:p>
            <a:r>
              <a:rPr lang="zh-CN" altLang="en-US" sz="2400" dirty="0"/>
              <a:t>提升制造业水平、</a:t>
            </a:r>
            <a:endParaRPr lang="en-US" altLang="zh-CN" sz="2400" dirty="0"/>
          </a:p>
          <a:p>
            <a:r>
              <a:rPr lang="zh-CN" altLang="en-US" sz="2400" dirty="0"/>
              <a:t>金融创新领域应用、</a:t>
            </a:r>
            <a:endParaRPr lang="en-US" altLang="zh-CN" sz="2400" dirty="0"/>
          </a:p>
          <a:p>
            <a:r>
              <a:rPr lang="zh-CN" altLang="en-US" sz="2400" dirty="0"/>
              <a:t>体育和娱乐</a:t>
            </a:r>
            <a:endParaRPr lang="zh-CN" altLang="en-US" sz="2400" dirty="0"/>
          </a:p>
        </p:txBody>
      </p:sp>
      <p:sp>
        <p:nvSpPr>
          <p:cNvPr id="14" name="矩形 13"/>
          <p:cNvSpPr/>
          <p:nvPr/>
        </p:nvSpPr>
        <p:spPr>
          <a:xfrm>
            <a:off x="7583126" y="1068460"/>
            <a:ext cx="3416709" cy="1175185"/>
          </a:xfrm>
          <a:prstGeom prst="rect">
            <a:avLst/>
          </a:prstGeom>
          <a:ln>
            <a:noFill/>
          </a:ln>
          <a:effectLst>
            <a:outerShdw blurRad="63500" sx="102000" sy="102000" algn="c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400" dirty="0"/>
              <a:t>生物医学：</a:t>
            </a:r>
            <a:endParaRPr lang="en-US" altLang="zh-CN" sz="2400" dirty="0"/>
          </a:p>
          <a:p>
            <a:r>
              <a:rPr lang="zh-CN" altLang="en-US" sz="2400" dirty="0"/>
              <a:t>流行病预测、智慧医疗、</a:t>
            </a:r>
            <a:endParaRPr lang="en-US" altLang="zh-CN" sz="2400" dirty="0"/>
          </a:p>
          <a:p>
            <a:r>
              <a:rPr lang="zh-CN" altLang="en-US" sz="2400" dirty="0"/>
              <a:t>健康管理、解读</a:t>
            </a:r>
            <a:r>
              <a:rPr lang="en-US" altLang="zh-CN" sz="2400" dirty="0"/>
              <a:t>DNA</a:t>
            </a:r>
            <a:endParaRPr lang="en-US" altLang="zh-CN" sz="2400" dirty="0"/>
          </a:p>
        </p:txBody>
      </p:sp>
      <p:sp>
        <p:nvSpPr>
          <p:cNvPr id="15" name="矩形 14"/>
          <p:cNvSpPr/>
          <p:nvPr/>
        </p:nvSpPr>
        <p:spPr>
          <a:xfrm>
            <a:off x="641555" y="1656052"/>
            <a:ext cx="3372464" cy="3240881"/>
          </a:xfrm>
          <a:prstGeom prst="rect">
            <a:avLst/>
          </a:prstGeom>
          <a:ln>
            <a:noFill/>
          </a:ln>
          <a:effectLst>
            <a:outerShdw blurRad="63500" sx="102000" sy="102000" algn="c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pPr>
              <a:lnSpc>
                <a:spcPct val="150000"/>
              </a:lnSpc>
            </a:pPr>
            <a:r>
              <a:rPr lang="zh-CN" altLang="en-US" sz="2400" dirty="0"/>
              <a:t>行为分析：</a:t>
            </a:r>
            <a:endParaRPr lang="en-US" altLang="zh-CN" sz="2400" dirty="0"/>
          </a:p>
          <a:p>
            <a:pPr>
              <a:lnSpc>
                <a:spcPct val="150000"/>
              </a:lnSpc>
            </a:pPr>
            <a:r>
              <a:rPr lang="zh-CN" altLang="en-US" sz="2400" dirty="0"/>
              <a:t>互联网针对性推荐、</a:t>
            </a:r>
            <a:endParaRPr lang="en-US" altLang="zh-CN" sz="2400" dirty="0"/>
          </a:p>
          <a:p>
            <a:pPr>
              <a:lnSpc>
                <a:spcPct val="150000"/>
              </a:lnSpc>
            </a:pPr>
            <a:r>
              <a:rPr lang="zh-CN" altLang="en-US" sz="2400" dirty="0"/>
              <a:t>电信出台挽留将离客户、</a:t>
            </a:r>
            <a:endParaRPr lang="en-US" altLang="zh-CN" sz="2400" dirty="0"/>
          </a:p>
          <a:p>
            <a:pPr>
              <a:lnSpc>
                <a:spcPct val="150000"/>
              </a:lnSpc>
            </a:pPr>
            <a:r>
              <a:rPr lang="zh-CN" altLang="en-US" sz="2400" dirty="0"/>
              <a:t>电网合理设计电力、</a:t>
            </a:r>
            <a:endParaRPr lang="en-US" altLang="zh-CN" sz="2400" dirty="0"/>
          </a:p>
          <a:p>
            <a:pPr>
              <a:lnSpc>
                <a:spcPct val="150000"/>
              </a:lnSpc>
            </a:pPr>
            <a:r>
              <a:rPr lang="zh-CN" altLang="en-US" sz="2400" dirty="0"/>
              <a:t>周到的个性化服务、</a:t>
            </a:r>
            <a:endParaRPr lang="en-US" altLang="zh-CN" sz="2400" dirty="0"/>
          </a:p>
          <a:p>
            <a:pPr>
              <a:lnSpc>
                <a:spcPct val="150000"/>
              </a:lnSpc>
            </a:pPr>
            <a:r>
              <a:rPr lang="en-US" altLang="zh-CN" sz="2400" dirty="0"/>
              <a:t>……</a:t>
            </a:r>
            <a:endParaRPr lang="en-US" altLang="zh-CN" sz="2400" dirty="0"/>
          </a:p>
        </p:txBody>
      </p:sp>
      <p:sp>
        <p:nvSpPr>
          <p:cNvPr id="16" name="矩形 15"/>
          <p:cNvSpPr/>
          <p:nvPr/>
        </p:nvSpPr>
        <p:spPr>
          <a:xfrm>
            <a:off x="8057533" y="3059944"/>
            <a:ext cx="3416709" cy="1175185"/>
          </a:xfrm>
          <a:prstGeom prst="rect">
            <a:avLst/>
          </a:prstGeom>
          <a:ln>
            <a:noFill/>
          </a:ln>
          <a:effectLst>
            <a:outerShdw blurRad="63500" sx="102000" sy="102000" algn="ctr" rotWithShape="0">
              <a:prstClr val="black">
                <a:alpha val="40000"/>
              </a:prstClr>
            </a:outerShdw>
          </a:effectLst>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400" dirty="0"/>
              <a:t>智慧城市：</a:t>
            </a:r>
            <a:endParaRPr lang="en-US" altLang="zh-CN" sz="2400" dirty="0"/>
          </a:p>
          <a:p>
            <a:r>
              <a:rPr lang="zh-CN" altLang="en-US" sz="2400" dirty="0"/>
              <a:t>智能交通、智慧物流、</a:t>
            </a:r>
            <a:endParaRPr lang="en-US" altLang="zh-CN" sz="2400" dirty="0"/>
          </a:p>
          <a:p>
            <a:r>
              <a:rPr lang="zh-CN" altLang="en-US" sz="2400" dirty="0"/>
              <a:t>智能安防、预防犯罪</a:t>
            </a:r>
            <a:endParaRPr lang="en-US" altLang="zh-CN" sz="2400" dirty="0"/>
          </a:p>
        </p:txBody>
      </p:sp>
      <p:sp>
        <p:nvSpPr>
          <p:cNvPr id="17" name="箭头: 左 16"/>
          <p:cNvSpPr/>
          <p:nvPr/>
        </p:nvSpPr>
        <p:spPr>
          <a:xfrm>
            <a:off x="4188542" y="3429000"/>
            <a:ext cx="570271" cy="501445"/>
          </a:xfrm>
          <a:prstGeom prst="lef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p:cNvSpPr/>
          <p:nvPr/>
        </p:nvSpPr>
        <p:spPr>
          <a:xfrm>
            <a:off x="7283242" y="3414475"/>
            <a:ext cx="599768" cy="50144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rot="2700000">
            <a:off x="6945259" y="4279741"/>
            <a:ext cx="599768" cy="50144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p:cNvSpPr/>
          <p:nvPr/>
        </p:nvSpPr>
        <p:spPr>
          <a:xfrm rot="-2700000">
            <a:off x="6831920" y="2425262"/>
            <a:ext cx="599768" cy="50144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73677" y="5006247"/>
            <a:ext cx="2696312" cy="151478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512681" y="5061584"/>
            <a:ext cx="3785419" cy="1477328"/>
          </a:xfrm>
          <a:prstGeom prst="rect">
            <a:avLst/>
          </a:prstGeom>
          <a:noFill/>
        </p:spPr>
        <p:txBody>
          <a:bodyPr wrap="square">
            <a:spAutoFit/>
          </a:bodyPr>
          <a:lstStyle/>
          <a:p>
            <a:r>
              <a:rPr lang="en-US" altLang="zh-CN" b="1" i="0" dirty="0">
                <a:solidFill>
                  <a:srgbClr val="191919"/>
                </a:solidFill>
                <a:effectLst/>
                <a:latin typeface="PingFang SC"/>
              </a:rPr>
              <a:t>3000</a:t>
            </a:r>
            <a:r>
              <a:rPr lang="zh-CN" altLang="en-US" b="1" i="0" dirty="0">
                <a:solidFill>
                  <a:srgbClr val="191919"/>
                </a:solidFill>
                <a:effectLst/>
                <a:latin typeface="PingFang SC"/>
              </a:rPr>
              <a:t>万用户的收视选择、</a:t>
            </a:r>
            <a:endParaRPr lang="en-US" altLang="zh-CN" b="1" i="0" dirty="0">
              <a:solidFill>
                <a:srgbClr val="191919"/>
              </a:solidFill>
              <a:effectLst/>
              <a:latin typeface="PingFang SC"/>
            </a:endParaRPr>
          </a:p>
          <a:p>
            <a:r>
              <a:rPr lang="en-US" altLang="zh-CN" b="1" i="0" dirty="0">
                <a:solidFill>
                  <a:srgbClr val="191919"/>
                </a:solidFill>
                <a:effectLst/>
                <a:latin typeface="PingFang SC"/>
              </a:rPr>
              <a:t>400</a:t>
            </a:r>
            <a:r>
              <a:rPr lang="zh-CN" altLang="en-US" b="1" i="0" dirty="0">
                <a:solidFill>
                  <a:srgbClr val="191919"/>
                </a:solidFill>
                <a:effectLst/>
                <a:latin typeface="PingFang SC"/>
              </a:rPr>
              <a:t>万条评论、</a:t>
            </a:r>
            <a:endParaRPr lang="en-US" altLang="zh-CN" b="1" i="0" dirty="0">
              <a:solidFill>
                <a:srgbClr val="191919"/>
              </a:solidFill>
              <a:effectLst/>
              <a:latin typeface="PingFang SC"/>
            </a:endParaRPr>
          </a:p>
          <a:p>
            <a:r>
              <a:rPr lang="en-US" altLang="zh-CN" b="1" i="0" dirty="0">
                <a:solidFill>
                  <a:srgbClr val="191919"/>
                </a:solidFill>
                <a:effectLst/>
                <a:latin typeface="PingFang SC"/>
              </a:rPr>
              <a:t>300</a:t>
            </a:r>
            <a:r>
              <a:rPr lang="zh-CN" altLang="en-US" b="1" i="0" dirty="0">
                <a:solidFill>
                  <a:srgbClr val="191919"/>
                </a:solidFill>
                <a:effectLst/>
                <a:latin typeface="PingFang SC"/>
              </a:rPr>
              <a:t>万次主题搜索</a:t>
            </a:r>
            <a:r>
              <a:rPr lang="zh-CN" altLang="en-US" b="0" i="0" dirty="0">
                <a:solidFill>
                  <a:srgbClr val="191919"/>
                </a:solidFill>
                <a:effectLst/>
                <a:latin typeface="PingFang SC"/>
              </a:rPr>
              <a:t>。</a:t>
            </a:r>
            <a:endParaRPr lang="en-US" altLang="zh-CN" b="0" i="0" dirty="0">
              <a:solidFill>
                <a:srgbClr val="191919"/>
              </a:solidFill>
              <a:effectLst/>
              <a:latin typeface="PingFang SC"/>
            </a:endParaRPr>
          </a:p>
          <a:p>
            <a:endParaRPr lang="en-US" altLang="zh-CN" b="0" i="0" dirty="0">
              <a:solidFill>
                <a:srgbClr val="191919"/>
              </a:solidFill>
              <a:effectLst/>
              <a:latin typeface="PingFang SC"/>
            </a:endParaRPr>
          </a:p>
          <a:p>
            <a:r>
              <a:rPr lang="zh-CN" altLang="en-US" b="1" i="0" dirty="0">
                <a:solidFill>
                  <a:srgbClr val="FF0000"/>
                </a:solidFill>
                <a:effectLst/>
                <a:latin typeface="PingFang SC"/>
              </a:rPr>
              <a:t>拍什么、谁来拍、谁来演、怎么播</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500"/>
                                        <p:tgtEl>
                                          <p:spTgt spid="19"/>
                                        </p:tgtEl>
                                      </p:cBhvr>
                                    </p:animEffect>
                                  </p:childTnLst>
                                </p:cTn>
                              </p:par>
                            </p:childTnLst>
                          </p:cTn>
                        </p:par>
                        <p:par>
                          <p:cTn id="29" fill="hold">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up)">
                                      <p:cBhvr>
                                        <p:cTn id="32" dur="500"/>
                                        <p:tgtEl>
                                          <p:spTgt spid="14"/>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up)">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026"/>
                                        </p:tgtEl>
                                        <p:attrNameLst>
                                          <p:attrName>style.visibility</p:attrName>
                                        </p:attrNameLst>
                                      </p:cBhvr>
                                      <p:to>
                                        <p:strVal val="visible"/>
                                      </p:to>
                                    </p:set>
                                    <p:animEffect transition="in" filter="fade">
                                      <p:cBhvr>
                                        <p:cTn id="40" dur="1000"/>
                                        <p:tgtEl>
                                          <p:spTgt spid="1026"/>
                                        </p:tgtEl>
                                      </p:cBhvr>
                                    </p:animEffect>
                                    <p:anim calcmode="lin" valueType="num">
                                      <p:cBhvr>
                                        <p:cTn id="41" dur="1000" fill="hold"/>
                                        <p:tgtEl>
                                          <p:spTgt spid="1026"/>
                                        </p:tgtEl>
                                        <p:attrNameLst>
                                          <p:attrName>ppt_x</p:attrName>
                                        </p:attrNameLst>
                                      </p:cBhvr>
                                      <p:tavLst>
                                        <p:tav tm="0">
                                          <p:val>
                                            <p:strVal val="#ppt_x"/>
                                          </p:val>
                                        </p:tav>
                                        <p:tav tm="100000">
                                          <p:val>
                                            <p:strVal val="#ppt_x"/>
                                          </p:val>
                                        </p:tav>
                                      </p:tavLst>
                                    </p:anim>
                                    <p:anim calcmode="lin" valueType="num">
                                      <p:cBhvr>
                                        <p:cTn id="42" dur="1000" fill="hold"/>
                                        <p:tgtEl>
                                          <p:spTgt spid="1026"/>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16" presetClass="entr" presetSubtype="21"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barn(inVertical)">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7" grpId="0" animBg="1"/>
      <p:bldP spid="18" grpId="0" animBg="1"/>
      <p:bldP spid="19" grpId="0" animBg="1"/>
      <p:bldP spid="20" grpId="0" animBg="1"/>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38200" y="2113936"/>
            <a:ext cx="1963994" cy="1101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sz="4400" b="1" dirty="0">
                <a:solidFill>
                  <a:srgbClr val="000000"/>
                </a:solidFill>
                <a:latin typeface="宋体" panose="02010600030101010101" pitchFamily="2" charset="-122"/>
                <a:ea typeface="宋体" panose="02010600030101010101" pitchFamily="2" charset="-122"/>
              </a:rPr>
              <a:t>1.5 </a:t>
            </a:r>
            <a:r>
              <a:rPr lang="zh-CN" altLang="en-US" sz="4400" b="1" dirty="0">
                <a:solidFill>
                  <a:srgbClr val="000000"/>
                </a:solidFill>
                <a:latin typeface="宋体" panose="02010600030101010101" pitchFamily="2" charset="-122"/>
                <a:ea typeface="宋体" panose="02010600030101010101" pitchFamily="2" charset="-122"/>
              </a:rPr>
              <a:t>大数据关键技术</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dirty="0"/>
          </a:p>
        </p:txBody>
      </p:sp>
      <p:sp>
        <p:nvSpPr>
          <p:cNvPr id="23" name="文本框 22"/>
          <p:cNvSpPr txBox="1"/>
          <p:nvPr/>
        </p:nvSpPr>
        <p:spPr>
          <a:xfrm>
            <a:off x="124325" y="2269196"/>
            <a:ext cx="615553" cy="3683060"/>
          </a:xfrm>
          <a:prstGeom prst="rect">
            <a:avLst/>
          </a:prstGeom>
          <a:noFill/>
        </p:spPr>
        <p:txBody>
          <a:bodyPr vert="eaVert" wrap="none" rtlCol="0">
            <a:spAutoFit/>
          </a:bodyPr>
          <a:lstStyle/>
          <a:p>
            <a:r>
              <a:rPr lang="zh-CN" altLang="en-US" sz="2800" dirty="0">
                <a:latin typeface="Times New Roman" panose="02020603050405020304" pitchFamily="18" charset="0"/>
              </a:rPr>
              <a:t>大数据技术的不同层面</a:t>
            </a:r>
            <a:endParaRPr lang="zh-CN" altLang="en-US" sz="2800" dirty="0"/>
          </a:p>
        </p:txBody>
      </p:sp>
      <p:graphicFrame>
        <p:nvGraphicFramePr>
          <p:cNvPr id="24" name="表格 23"/>
          <p:cNvGraphicFramePr>
            <a:graphicFrameLocks noGrp="1"/>
          </p:cNvGraphicFramePr>
          <p:nvPr/>
        </p:nvGraphicFramePr>
        <p:xfrm>
          <a:off x="838200" y="1504335"/>
          <a:ext cx="1963994" cy="5073448"/>
        </p:xfrm>
        <a:graphic>
          <a:graphicData uri="http://schemas.openxmlformats.org/drawingml/2006/table">
            <a:tbl>
              <a:tblPr/>
              <a:tblGrid>
                <a:gridCol w="1963994"/>
              </a:tblGrid>
              <a:tr h="611692">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技术层面</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数据采集</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与预处理</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数据存储</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和管理</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数据处理</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与分析</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数据隐私</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和安全</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文本框 4"/>
          <p:cNvSpPr txBox="1"/>
          <p:nvPr/>
        </p:nvSpPr>
        <p:spPr>
          <a:xfrm>
            <a:off x="8292087" y="2113936"/>
            <a:ext cx="3221487" cy="223824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eaLnBrk="0" fontAlgn="base" hangingPunct="0">
              <a:lnSpc>
                <a:spcPct val="150000"/>
              </a:lnSpc>
              <a:spcBef>
                <a:spcPct val="0"/>
              </a:spcBef>
              <a:spcAft>
                <a:spcPct val="0"/>
              </a:spcAft>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实时采集的数据</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eaLnBrk="0" fontAlgn="base" hangingPunct="0">
              <a:lnSpc>
                <a:spcPct val="150000"/>
              </a:lnSpc>
              <a:spcBef>
                <a:spcPct val="0"/>
              </a:spcBef>
              <a:spcAft>
                <a:spcPct val="0"/>
              </a:spcAft>
            </a:pP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日志采集工具</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eaLnBrk="0" fontAlgn="base" hangingPunct="0">
              <a:lnSpc>
                <a:spcPct val="150000"/>
              </a:lnSpc>
              <a:spcBef>
                <a:spcPct val="0"/>
              </a:spcBef>
              <a:spcAft>
                <a:spcPct val="0"/>
              </a:spcAft>
            </a:pP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流计算系统的输入</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eaLnBrk="0" fontAlgn="base" hangingPunct="0">
              <a:lnSpc>
                <a:spcPct val="150000"/>
              </a:lnSpc>
              <a:spcBef>
                <a:spcPct val="0"/>
              </a:spcBef>
              <a:spcAft>
                <a:spcPct val="0"/>
              </a:spcAft>
            </a:pP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实时处理分析</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p:cNvSpPr/>
          <p:nvPr/>
        </p:nvSpPr>
        <p:spPr>
          <a:xfrm>
            <a:off x="2900516" y="1504336"/>
            <a:ext cx="8613058" cy="609600"/>
          </a:xfrm>
          <a:prstGeom prst="rect">
            <a:avLst/>
          </a:prstGeom>
          <a:solidFill>
            <a:srgbClr val="FFC000"/>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latin typeface="宋体" panose="02010600030101010101" pitchFamily="2" charset="-122"/>
                <a:ea typeface="宋体" panose="02010600030101010101" pitchFamily="2" charset="-122"/>
              </a:rPr>
              <a:t>功能</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8" name="文本框 7"/>
          <p:cNvSpPr txBox="1"/>
          <p:nvPr/>
        </p:nvSpPr>
        <p:spPr>
          <a:xfrm>
            <a:off x="2890683" y="2124194"/>
            <a:ext cx="5102942" cy="230695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静态数据源</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ETL</a:t>
            </a:r>
            <a:r>
              <a:rPr lang="en-US" altLang="zh-CN" sz="2400" b="0" i="0" kern="1200" dirty="0">
                <a:solidFill>
                  <a:schemeClr val="tx1"/>
                </a:solidFill>
                <a:effectLst/>
                <a:latin typeface="+mn-lt"/>
                <a:ea typeface="+mn-ea"/>
                <a:cs typeface="+mn-cs"/>
              </a:rPr>
              <a:t>(Extract-Transform-Load)</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工具</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数据仓库或数据集市</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联机分析处理、数据挖掘</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animBg="1"/>
      <p:bldP spid="8"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38200" y="3244645"/>
            <a:ext cx="1963994" cy="1101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sz="4400" b="1" dirty="0">
                <a:solidFill>
                  <a:srgbClr val="000000"/>
                </a:solidFill>
                <a:latin typeface="宋体" panose="02010600030101010101" pitchFamily="2" charset="-122"/>
                <a:ea typeface="宋体" panose="02010600030101010101" pitchFamily="2" charset="-122"/>
              </a:rPr>
              <a:t>1.5 </a:t>
            </a:r>
            <a:r>
              <a:rPr lang="zh-CN" altLang="en-US" sz="4400" b="1" dirty="0">
                <a:solidFill>
                  <a:srgbClr val="000000"/>
                </a:solidFill>
                <a:latin typeface="宋体" panose="02010600030101010101" pitchFamily="2" charset="-122"/>
                <a:ea typeface="宋体" panose="02010600030101010101" pitchFamily="2" charset="-122"/>
              </a:rPr>
              <a:t>大数据关键技术</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dirty="0"/>
          </a:p>
        </p:txBody>
      </p:sp>
      <p:sp>
        <p:nvSpPr>
          <p:cNvPr id="23" name="文本框 22"/>
          <p:cNvSpPr txBox="1"/>
          <p:nvPr/>
        </p:nvSpPr>
        <p:spPr>
          <a:xfrm>
            <a:off x="124325" y="2269196"/>
            <a:ext cx="615553" cy="3683060"/>
          </a:xfrm>
          <a:prstGeom prst="rect">
            <a:avLst/>
          </a:prstGeom>
          <a:noFill/>
        </p:spPr>
        <p:txBody>
          <a:bodyPr vert="eaVert" wrap="none" rtlCol="0">
            <a:spAutoFit/>
          </a:bodyPr>
          <a:lstStyle/>
          <a:p>
            <a:r>
              <a:rPr lang="zh-CN" altLang="en-US" sz="2800" dirty="0">
                <a:latin typeface="Times New Roman" panose="02020603050405020304" pitchFamily="18" charset="0"/>
              </a:rPr>
              <a:t>大数据技术的不同层面</a:t>
            </a:r>
            <a:endParaRPr lang="zh-CN" altLang="en-US" sz="2800" dirty="0"/>
          </a:p>
        </p:txBody>
      </p:sp>
      <p:graphicFrame>
        <p:nvGraphicFramePr>
          <p:cNvPr id="24" name="表格 23"/>
          <p:cNvGraphicFramePr>
            <a:graphicFrameLocks noGrp="1"/>
          </p:cNvGraphicFramePr>
          <p:nvPr/>
        </p:nvGraphicFramePr>
        <p:xfrm>
          <a:off x="838200" y="1504335"/>
          <a:ext cx="1963994" cy="5073448"/>
        </p:xfrm>
        <a:graphic>
          <a:graphicData uri="http://schemas.openxmlformats.org/drawingml/2006/table">
            <a:tbl>
              <a:tblPr/>
              <a:tblGrid>
                <a:gridCol w="1963994"/>
              </a:tblGrid>
              <a:tr h="611692">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技术层面</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数据采集</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与预处理</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数据存储</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和管理</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数据处理</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与分析</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数据隐私</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和安全</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矩形 5"/>
          <p:cNvSpPr/>
          <p:nvPr/>
        </p:nvSpPr>
        <p:spPr>
          <a:xfrm>
            <a:off x="2900516" y="1504336"/>
            <a:ext cx="8613058" cy="609600"/>
          </a:xfrm>
          <a:prstGeom prst="rect">
            <a:avLst/>
          </a:prstGeom>
          <a:solidFill>
            <a:srgbClr val="FFC000"/>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latin typeface="宋体" panose="02010600030101010101" pitchFamily="2" charset="-122"/>
                <a:ea typeface="宋体" panose="02010600030101010101" pitchFamily="2" charset="-122"/>
              </a:rPr>
              <a:t>功能</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9" name="文本框 8"/>
          <p:cNvSpPr txBox="1"/>
          <p:nvPr/>
        </p:nvSpPr>
        <p:spPr>
          <a:xfrm>
            <a:off x="2900516" y="3231546"/>
            <a:ext cx="2871019" cy="34150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工具：</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分布式文件系统、</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数据仓库、</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关系数据库、</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NoSQL</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数据库、</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云数据库等。</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0"/>
          <p:cNvSpPr txBox="1"/>
          <p:nvPr/>
        </p:nvSpPr>
        <p:spPr>
          <a:xfrm>
            <a:off x="8514735" y="3645846"/>
            <a:ext cx="2998840" cy="230695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存储</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和管理海量数据：</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结构化、</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半结构化</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例：</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Jason</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非结构化。</a:t>
            </a:r>
            <a:endParaRPr lang="zh-CN" altLang="en-US" sz="2400" dirty="0"/>
          </a:p>
        </p:txBody>
      </p:sp>
      <p:sp>
        <p:nvSpPr>
          <p:cNvPr id="12" name="箭头: 右 11"/>
          <p:cNvSpPr/>
          <p:nvPr/>
        </p:nvSpPr>
        <p:spPr>
          <a:xfrm>
            <a:off x="6400800" y="4604385"/>
            <a:ext cx="1621790" cy="6610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6007100" y="2200275"/>
            <a:ext cx="2209800" cy="2247900"/>
            <a:chOff x="4320" y="4740"/>
            <a:chExt cx="3480" cy="3540"/>
          </a:xfrm>
        </p:grpSpPr>
        <p:sp>
          <p:nvSpPr>
            <p:cNvPr id="7" name="矩形 6"/>
            <p:cNvSpPr/>
            <p:nvPr/>
          </p:nvSpPr>
          <p:spPr>
            <a:xfrm>
              <a:off x="4320" y="5040"/>
              <a:ext cx="3480" cy="32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606" name="TextBox 8"/>
            <p:cNvSpPr txBox="1">
              <a:spLocks noChangeArrowheads="1"/>
            </p:cNvSpPr>
            <p:nvPr/>
          </p:nvSpPr>
          <p:spPr bwMode="auto">
            <a:xfrm>
              <a:off x="5040" y="7500"/>
              <a:ext cx="2108"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微软雅黑" panose="020B0503020204020204" charset="-122"/>
                  <a:ea typeface="微软雅黑" panose="020B0503020204020204" charset="-122"/>
                </a:rPr>
                <a:t>分布式存储</a:t>
              </a:r>
              <a:endParaRPr lang="zh-CN" altLang="en-US">
                <a:latin typeface="微软雅黑" panose="020B0503020204020204" charset="-122"/>
                <a:ea typeface="微软雅黑" panose="020B0503020204020204" charset="-122"/>
              </a:endParaRPr>
            </a:p>
          </p:txBody>
        </p:sp>
        <p:pic>
          <p:nvPicPr>
            <p:cNvPr id="25607" name="Picture 20" descr="http://img.watchstor.com/uploadimg/20090702/1744123.jpg"/>
            <p:cNvPicPr>
              <a:picLocks noChangeAspect="1" noChangeArrowheads="1"/>
            </p:cNvPicPr>
            <p:nvPr/>
          </p:nvPicPr>
          <p:blipFill>
            <a:blip r:embed="rId1">
              <a:extLst>
                <a:ext uri="{28A0092B-C50C-407E-A947-70E740481C1C}">
                  <a14:useLocalDpi xmlns:a14="http://schemas.microsoft.com/office/drawing/2010/main" val="0"/>
                </a:ext>
              </a:extLst>
            </a:blip>
            <a:srcRect l="14400" t="8000" r="23199" b="14000"/>
            <a:stretch>
              <a:fillRect/>
            </a:stretch>
          </p:blipFill>
          <p:spPr bwMode="auto">
            <a:xfrm>
              <a:off x="4680" y="4740"/>
              <a:ext cx="2640" cy="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up)">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bldLvl="0" animBg="1"/>
      <p:bldP spid="11" grpId="0" bldLvl="0" animBg="1"/>
      <p:bldP spid="12"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38200" y="4355690"/>
            <a:ext cx="1963994" cy="1101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sz="4400" b="1" dirty="0">
                <a:solidFill>
                  <a:srgbClr val="000000"/>
                </a:solidFill>
                <a:latin typeface="宋体" panose="02010600030101010101" pitchFamily="2" charset="-122"/>
                <a:ea typeface="宋体" panose="02010600030101010101" pitchFamily="2" charset="-122"/>
              </a:rPr>
              <a:t>1.5 </a:t>
            </a:r>
            <a:r>
              <a:rPr lang="zh-CN" altLang="en-US" sz="4400" b="1" dirty="0">
                <a:solidFill>
                  <a:srgbClr val="000000"/>
                </a:solidFill>
                <a:latin typeface="宋体" panose="02010600030101010101" pitchFamily="2" charset="-122"/>
                <a:ea typeface="宋体" panose="02010600030101010101" pitchFamily="2" charset="-122"/>
              </a:rPr>
              <a:t>大数据关键技术</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dirty="0"/>
          </a:p>
        </p:txBody>
      </p:sp>
      <p:sp>
        <p:nvSpPr>
          <p:cNvPr id="23" name="文本框 22"/>
          <p:cNvSpPr txBox="1"/>
          <p:nvPr/>
        </p:nvSpPr>
        <p:spPr>
          <a:xfrm>
            <a:off x="124325" y="2269196"/>
            <a:ext cx="615553" cy="3683060"/>
          </a:xfrm>
          <a:prstGeom prst="rect">
            <a:avLst/>
          </a:prstGeom>
          <a:noFill/>
        </p:spPr>
        <p:txBody>
          <a:bodyPr vert="eaVert" wrap="none" rtlCol="0">
            <a:spAutoFit/>
          </a:bodyPr>
          <a:lstStyle/>
          <a:p>
            <a:r>
              <a:rPr lang="zh-CN" altLang="en-US" sz="2800" dirty="0">
                <a:latin typeface="Times New Roman" panose="02020603050405020304" pitchFamily="18" charset="0"/>
              </a:rPr>
              <a:t>大数据技术的不同层面</a:t>
            </a:r>
            <a:endParaRPr lang="zh-CN" altLang="en-US" sz="2800" dirty="0"/>
          </a:p>
        </p:txBody>
      </p:sp>
      <p:graphicFrame>
        <p:nvGraphicFramePr>
          <p:cNvPr id="24" name="表格 23"/>
          <p:cNvGraphicFramePr>
            <a:graphicFrameLocks noGrp="1"/>
          </p:cNvGraphicFramePr>
          <p:nvPr/>
        </p:nvGraphicFramePr>
        <p:xfrm>
          <a:off x="838200" y="1504335"/>
          <a:ext cx="1963994" cy="5073448"/>
        </p:xfrm>
        <a:graphic>
          <a:graphicData uri="http://schemas.openxmlformats.org/drawingml/2006/table">
            <a:tbl>
              <a:tblPr/>
              <a:tblGrid>
                <a:gridCol w="1963994"/>
              </a:tblGrid>
              <a:tr h="611692">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技术层面</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数据采集</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与预处理</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数据存储</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和管理</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数据处理</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与分析</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数据隐私</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和安全</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矩形 5"/>
          <p:cNvSpPr/>
          <p:nvPr/>
        </p:nvSpPr>
        <p:spPr>
          <a:xfrm>
            <a:off x="2900516" y="1504336"/>
            <a:ext cx="8613058" cy="609600"/>
          </a:xfrm>
          <a:prstGeom prst="rect">
            <a:avLst/>
          </a:prstGeom>
          <a:solidFill>
            <a:srgbClr val="FFC000"/>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latin typeface="宋体" panose="02010600030101010101" pitchFamily="2" charset="-122"/>
                <a:ea typeface="宋体" panose="02010600030101010101" pitchFamily="2" charset="-122"/>
              </a:rPr>
              <a:t>功能</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7" name="文本框 6"/>
          <p:cNvSpPr txBox="1"/>
          <p:nvPr/>
        </p:nvSpPr>
        <p:spPr>
          <a:xfrm>
            <a:off x="6412230" y="4168775"/>
            <a:ext cx="5092065" cy="230695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工具：</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分布式并行编程模型和计算框架；</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机器学习和数据挖掘算法；</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可视化呈现</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 name="组合 4"/>
          <p:cNvGrpSpPr/>
          <p:nvPr/>
        </p:nvGrpSpPr>
        <p:grpSpPr>
          <a:xfrm>
            <a:off x="2896235" y="3895725"/>
            <a:ext cx="3422015" cy="2515235"/>
            <a:chOff x="9960" y="4500"/>
            <a:chExt cx="5280" cy="3660"/>
          </a:xfrm>
        </p:grpSpPr>
        <p:sp>
          <p:nvSpPr>
            <p:cNvPr id="8" name="矩形 7"/>
            <p:cNvSpPr/>
            <p:nvPr/>
          </p:nvSpPr>
          <p:spPr>
            <a:xfrm>
              <a:off x="9960" y="5160"/>
              <a:ext cx="5280" cy="3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25608" name="Picture 22" descr="http://static.open-open.com/lib/uploadImg/20120608/20120608155525_285.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00" y="4500"/>
              <a:ext cx="4800" cy="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9" name="TextBox 14"/>
            <p:cNvSpPr txBox="1">
              <a:spLocks noChangeArrowheads="1"/>
            </p:cNvSpPr>
            <p:nvPr/>
          </p:nvSpPr>
          <p:spPr bwMode="auto">
            <a:xfrm>
              <a:off x="11640" y="7440"/>
              <a:ext cx="2108"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微软雅黑" panose="020B0503020204020204" charset="-122"/>
                  <a:ea typeface="微软雅黑" panose="020B0503020204020204" charset="-122"/>
                </a:rPr>
                <a:t>分布式处理</a:t>
              </a:r>
              <a:endParaRPr lang="zh-CN" altLang="en-US">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38200" y="5476571"/>
            <a:ext cx="1963994" cy="1101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sz="4400" b="1" dirty="0">
                <a:solidFill>
                  <a:srgbClr val="000000"/>
                </a:solidFill>
                <a:latin typeface="宋体" panose="02010600030101010101" pitchFamily="2" charset="-122"/>
                <a:ea typeface="宋体" panose="02010600030101010101" pitchFamily="2" charset="-122"/>
              </a:rPr>
              <a:t>1.5 </a:t>
            </a:r>
            <a:r>
              <a:rPr lang="zh-CN" altLang="en-US" sz="4400" b="1" dirty="0">
                <a:solidFill>
                  <a:srgbClr val="000000"/>
                </a:solidFill>
                <a:latin typeface="宋体" panose="02010600030101010101" pitchFamily="2" charset="-122"/>
                <a:ea typeface="宋体" panose="02010600030101010101" pitchFamily="2" charset="-122"/>
              </a:rPr>
              <a:t>大数据关键技术</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dirty="0"/>
          </a:p>
        </p:txBody>
      </p:sp>
      <p:sp>
        <p:nvSpPr>
          <p:cNvPr id="23" name="文本框 22"/>
          <p:cNvSpPr txBox="1"/>
          <p:nvPr/>
        </p:nvSpPr>
        <p:spPr>
          <a:xfrm>
            <a:off x="124325" y="2269196"/>
            <a:ext cx="615553" cy="3683060"/>
          </a:xfrm>
          <a:prstGeom prst="rect">
            <a:avLst/>
          </a:prstGeom>
          <a:noFill/>
        </p:spPr>
        <p:txBody>
          <a:bodyPr vert="eaVert" wrap="none" rtlCol="0">
            <a:spAutoFit/>
          </a:bodyPr>
          <a:lstStyle/>
          <a:p>
            <a:r>
              <a:rPr lang="zh-CN" altLang="en-US" sz="2800" dirty="0">
                <a:latin typeface="Times New Roman" panose="02020603050405020304" pitchFamily="18" charset="0"/>
              </a:rPr>
              <a:t>大数据技术的不同层面</a:t>
            </a:r>
            <a:endParaRPr lang="zh-CN" altLang="en-US" sz="2800" dirty="0"/>
          </a:p>
        </p:txBody>
      </p:sp>
      <p:graphicFrame>
        <p:nvGraphicFramePr>
          <p:cNvPr id="24" name="表格 23"/>
          <p:cNvGraphicFramePr>
            <a:graphicFrameLocks noGrp="1"/>
          </p:cNvGraphicFramePr>
          <p:nvPr/>
        </p:nvGraphicFramePr>
        <p:xfrm>
          <a:off x="838200" y="1504335"/>
          <a:ext cx="1963994" cy="5073448"/>
        </p:xfrm>
        <a:graphic>
          <a:graphicData uri="http://schemas.openxmlformats.org/drawingml/2006/table">
            <a:tbl>
              <a:tblPr/>
              <a:tblGrid>
                <a:gridCol w="1963994"/>
              </a:tblGrid>
              <a:tr h="611692">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技术层面</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数据采集</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与预处理</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数据存储</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和管理</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数据处理</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与分析</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1543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数据隐私</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和安全</a:t>
                      </a:r>
                      <a:endParaRPr kumimoji="0" lang="zh-CN" altLang="en-US" sz="2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矩形 5"/>
          <p:cNvSpPr/>
          <p:nvPr/>
        </p:nvSpPr>
        <p:spPr>
          <a:xfrm>
            <a:off x="2900516" y="1504336"/>
            <a:ext cx="8613058" cy="609600"/>
          </a:xfrm>
          <a:prstGeom prst="rect">
            <a:avLst/>
          </a:prstGeom>
          <a:solidFill>
            <a:srgbClr val="FFC000"/>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latin typeface="宋体" panose="02010600030101010101" pitchFamily="2" charset="-122"/>
                <a:ea typeface="宋体" panose="02010600030101010101" pitchFamily="2" charset="-122"/>
              </a:rPr>
              <a:t>功能</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8" name="文本框 7"/>
          <p:cNvSpPr txBox="1"/>
          <p:nvPr/>
        </p:nvSpPr>
        <p:spPr>
          <a:xfrm>
            <a:off x="2911577" y="5447537"/>
            <a:ext cx="2104103" cy="113024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数据安全体系</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保护数据安全</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p:cNvSpPr txBox="1"/>
          <p:nvPr/>
        </p:nvSpPr>
        <p:spPr>
          <a:xfrm>
            <a:off x="5710698" y="5437708"/>
            <a:ext cx="2734597" cy="113024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隐私数据保护体系</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保护个人隐私</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8" grpId="1" animBg="1"/>
      <p:bldP spid="7" grpId="0" animBg="1"/>
      <p:bldP spid="7"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1.6大数据计算模式</a:t>
            </a:r>
            <a:endParaRPr lang="zh-CN" altLang="en-US" sz="4400" b="1" dirty="0">
              <a:solidFill>
                <a:srgbClr val="000000"/>
              </a:solidFill>
              <a:latin typeface="宋体" panose="02010600030101010101" pitchFamily="2" charset="-122"/>
              <a:ea typeface="宋体" panose="02010600030101010101" pitchFamily="2" charset="-122"/>
            </a:endParaRPr>
          </a:p>
        </p:txBody>
      </p:sp>
      <p:graphicFrame>
        <p:nvGraphicFramePr>
          <p:cNvPr id="3" name="Group 4"/>
          <p:cNvGraphicFramePr>
            <a:graphicFrameLocks noGrp="1"/>
          </p:cNvGraphicFramePr>
          <p:nvPr/>
        </p:nvGraphicFramePr>
        <p:xfrm>
          <a:off x="963295" y="1535430"/>
          <a:ext cx="10076815" cy="671195"/>
        </p:xfrm>
        <a:graphic>
          <a:graphicData uri="http://schemas.openxmlformats.org/drawingml/2006/table">
            <a:tbl>
              <a:tblPr/>
              <a:tblGrid>
                <a:gridCol w="2756535"/>
                <a:gridCol w="3122930"/>
                <a:gridCol w="4197350"/>
              </a:tblGrid>
              <a:tr h="67119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大数据计算模式</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解决问题</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代表产品</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bl>
          </a:graphicData>
        </a:graphic>
      </p:graphicFrame>
      <p:sp>
        <p:nvSpPr>
          <p:cNvPr id="4" name="文本框 3"/>
          <p:cNvSpPr txBox="1"/>
          <p:nvPr/>
        </p:nvSpPr>
        <p:spPr>
          <a:xfrm>
            <a:off x="7207250" y="2802255"/>
            <a:ext cx="1977390" cy="52197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zh-CN" altLang="en-US" sz="2800">
                <a:ln>
                  <a:noFill/>
                </a:ln>
                <a:solidFill>
                  <a:srgbClr val="000000"/>
                </a:solidFill>
                <a:effectLst/>
                <a:highlight>
                  <a:srgbClr val="FFFF00"/>
                </a:highlight>
                <a:latin typeface="Calibri" panose="020F0502020204030204" pitchFamily="34" charset="0"/>
                <a:ea typeface="宋体" panose="02010600030101010101" pitchFamily="2" charset="-122"/>
                <a:sym typeface="+mn-ea"/>
              </a:rPr>
              <a:t>MapReduce</a:t>
            </a:r>
            <a:endParaRPr lang="zh-CN" altLang="en-US" sz="2800">
              <a:ln>
                <a:noFill/>
              </a:ln>
              <a:solidFill>
                <a:srgbClr val="000000"/>
              </a:solidFill>
              <a:effectLst/>
              <a:highlight>
                <a:srgbClr val="FFFF00"/>
              </a:highlight>
              <a:latin typeface="Calibri" panose="020F0502020204030204" pitchFamily="34" charset="0"/>
              <a:ea typeface="宋体" panose="02010600030101010101" pitchFamily="2" charset="-122"/>
              <a:sym typeface="+mn-ea"/>
            </a:endParaRPr>
          </a:p>
        </p:txBody>
      </p:sp>
      <p:sp>
        <p:nvSpPr>
          <p:cNvPr id="5" name="文本框 4"/>
          <p:cNvSpPr txBox="1"/>
          <p:nvPr/>
        </p:nvSpPr>
        <p:spPr>
          <a:xfrm>
            <a:off x="9311640" y="2802255"/>
            <a:ext cx="1446530" cy="52197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r>
              <a:rPr lang="zh-CN" altLang="en-US" sz="2800">
                <a:ln>
                  <a:noFill/>
                </a:ln>
                <a:solidFill>
                  <a:srgbClr val="000000"/>
                </a:solidFill>
                <a:effectLst/>
                <a:highlight>
                  <a:srgbClr val="FFFF00"/>
                </a:highlight>
                <a:latin typeface="Calibri" panose="020F0502020204030204" pitchFamily="34" charset="0"/>
                <a:ea typeface="宋体" panose="02010600030101010101" pitchFamily="2" charset="-122"/>
                <a:sym typeface="+mn-ea"/>
              </a:rPr>
              <a:t>Spark</a:t>
            </a:r>
            <a:r>
              <a:rPr lang="zh-CN" altLang="en-US" sz="2800">
                <a:ln>
                  <a:noFill/>
                </a:ln>
                <a:solidFill>
                  <a:srgbClr val="000000"/>
                </a:solidFill>
                <a:effectLst/>
                <a:latin typeface="Calibri" panose="020F0502020204030204" pitchFamily="34" charset="0"/>
                <a:ea typeface="宋体" panose="02010600030101010101" pitchFamily="2" charset="-122"/>
                <a:sym typeface="+mn-ea"/>
              </a:rPr>
              <a:t>等</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6" name="文本框 5"/>
          <p:cNvSpPr txBox="1"/>
          <p:nvPr/>
        </p:nvSpPr>
        <p:spPr>
          <a:xfrm>
            <a:off x="963295" y="2802255"/>
            <a:ext cx="2757805" cy="52197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批处理计算</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7" name="文本框 6"/>
          <p:cNvSpPr txBox="1"/>
          <p:nvPr/>
        </p:nvSpPr>
        <p:spPr>
          <a:xfrm>
            <a:off x="3848100" y="2543810"/>
            <a:ext cx="2876550" cy="103886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大规模数据的</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批量处理</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8" name="文本框 7"/>
          <p:cNvSpPr txBox="1"/>
          <p:nvPr/>
        </p:nvSpPr>
        <p:spPr>
          <a:xfrm>
            <a:off x="3848100" y="4326255"/>
            <a:ext cx="2876550" cy="155575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大规模数据的</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存储管理和</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查询分析</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9" name="文本框 8"/>
          <p:cNvSpPr txBox="1"/>
          <p:nvPr/>
        </p:nvSpPr>
        <p:spPr>
          <a:xfrm>
            <a:off x="963295" y="4730115"/>
            <a:ext cx="2757805" cy="52197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查询分析计算</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10" name="文本框 9"/>
          <p:cNvSpPr txBox="1"/>
          <p:nvPr/>
        </p:nvSpPr>
        <p:spPr>
          <a:xfrm>
            <a:off x="7207250" y="4514850"/>
            <a:ext cx="3388995" cy="953135"/>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l"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highlight>
                  <a:srgbClr val="FFFF00"/>
                </a:highlight>
                <a:latin typeface="Calibri" panose="020F0502020204030204" pitchFamily="34" charset="0"/>
                <a:ea typeface="宋体" panose="02010600030101010101" pitchFamily="2" charset="-122"/>
                <a:sym typeface="+mn-ea"/>
              </a:rPr>
              <a:t>Hive</a:t>
            </a:r>
            <a:r>
              <a:rPr lang="zh-CN" altLang="en-US" sz="2800">
                <a:ln>
                  <a:noFill/>
                </a:ln>
                <a:solidFill>
                  <a:srgbClr val="000000"/>
                </a:solidFill>
                <a:effectLst/>
                <a:latin typeface="Calibri" panose="020F0502020204030204" pitchFamily="34" charset="0"/>
                <a:ea typeface="宋体" panose="02010600030101010101" pitchFamily="2" charset="-122"/>
                <a:sym typeface="+mn-ea"/>
              </a:rPr>
              <a:t>、Dremel、Cassandra、Impala等</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7" grpId="0" bldLvl="0" animBg="1"/>
      <p:bldP spid="7" grpId="1" animBg="1"/>
      <p:bldP spid="8" grpId="0" bldLvl="0" animBg="1"/>
      <p:bldP spid="8" grpId="1" animBg="1"/>
      <p:bldP spid="9" grpId="0" bldLvl="0" animBg="1"/>
      <p:bldP spid="9" grpId="1" animBg="1"/>
      <p:bldP spid="10" grpId="0" bldLvl="0" animBg="1"/>
      <p:bldP spid="10" grpId="1" animBg="1"/>
      <p:bldP spid="4" grpId="0" animBg="1"/>
      <p:bldP spid="4" grpId="1" animBg="1"/>
      <p:bldP spid="5" grpId="0" animBg="1"/>
      <p:bldP spid="5"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1.6大数据计算模式</a:t>
            </a:r>
            <a:endParaRPr lang="zh-CN" altLang="en-US" sz="4400" b="1" dirty="0">
              <a:solidFill>
                <a:srgbClr val="000000"/>
              </a:solidFill>
              <a:latin typeface="宋体" panose="02010600030101010101" pitchFamily="2" charset="-122"/>
              <a:ea typeface="宋体" panose="02010600030101010101" pitchFamily="2" charset="-122"/>
            </a:endParaRPr>
          </a:p>
        </p:txBody>
      </p:sp>
      <p:graphicFrame>
        <p:nvGraphicFramePr>
          <p:cNvPr id="3" name="Group 4"/>
          <p:cNvGraphicFramePr>
            <a:graphicFrameLocks noGrp="1"/>
          </p:cNvGraphicFramePr>
          <p:nvPr/>
        </p:nvGraphicFramePr>
        <p:xfrm>
          <a:off x="963295" y="1535430"/>
          <a:ext cx="10076815" cy="671195"/>
        </p:xfrm>
        <a:graphic>
          <a:graphicData uri="http://schemas.openxmlformats.org/drawingml/2006/table">
            <a:tbl>
              <a:tblPr/>
              <a:tblGrid>
                <a:gridCol w="2756535"/>
                <a:gridCol w="3122930"/>
                <a:gridCol w="4197350"/>
              </a:tblGrid>
              <a:tr h="67119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大数据计算模式</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解决问题</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rPr>
                        <a:t>代表产品</a:t>
                      </a:r>
                      <a:endParaRPr kumimoji="0" lang="zh-CN" altLang="en-US" sz="2800" b="1" i="0" u="none" strike="noStrike" cap="none" normalizeH="0" baseline="0">
                        <a:ln>
                          <a:noFill/>
                        </a:ln>
                        <a:solidFill>
                          <a:srgbClr val="FFFFFF"/>
                        </a:solidFill>
                        <a:effectLst/>
                        <a:latin typeface="Calibri" panose="020F0502020204030204" pitchFamily="34" charset="0"/>
                        <a:ea typeface="宋体" panose="02010600030101010101" pitchFamily="2" charset="-122"/>
                      </a:endParaRPr>
                    </a:p>
                  </a:txBody>
                  <a:tcPr marT="45712" marB="45712"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bl>
          </a:graphicData>
        </a:graphic>
      </p:graphicFrame>
      <p:sp>
        <p:nvSpPr>
          <p:cNvPr id="4" name="文本框 3"/>
          <p:cNvSpPr txBox="1"/>
          <p:nvPr/>
        </p:nvSpPr>
        <p:spPr>
          <a:xfrm>
            <a:off x="6804660" y="2291715"/>
            <a:ext cx="4251960" cy="171577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noAutofit/>
          </a:bodyPr>
          <a:lstStyle/>
          <a:p>
            <a:r>
              <a:rPr lang="en-US" altLang="zh-CN" sz="2800">
                <a:ln>
                  <a:noFill/>
                </a:ln>
                <a:solidFill>
                  <a:srgbClr val="000000"/>
                </a:solidFill>
                <a:effectLst/>
                <a:highlight>
                  <a:srgbClr val="FFFF00"/>
                </a:highlight>
                <a:latin typeface="Calibri" panose="020F0502020204030204" pitchFamily="34" charset="0"/>
                <a:ea typeface="宋体" panose="02010600030101010101" pitchFamily="2" charset="-122"/>
                <a:sym typeface="+mn-ea"/>
              </a:rPr>
              <a:t>Flink</a:t>
            </a:r>
            <a:r>
              <a:rPr lang="zh-CN" altLang="en-US" sz="2800">
                <a:ln>
                  <a:noFill/>
                </a:ln>
                <a:solidFill>
                  <a:srgbClr val="000000"/>
                </a:solidFill>
                <a:effectLst/>
                <a:highlight>
                  <a:srgbClr val="FFFF00"/>
                </a:highlight>
                <a:latin typeface="Calibri" panose="020F0502020204030204" pitchFamily="34" charset="0"/>
                <a:ea typeface="宋体" panose="02010600030101010101" pitchFamily="2" charset="-122"/>
                <a:sym typeface="+mn-ea"/>
              </a:rPr>
              <a:t>、Storm</a:t>
            </a:r>
            <a:r>
              <a:rPr lang="zh-CN" altLang="en-US" sz="2800">
                <a:ln>
                  <a:noFill/>
                </a:ln>
                <a:solidFill>
                  <a:srgbClr val="000000"/>
                </a:solidFill>
                <a:effectLst/>
                <a:latin typeface="Calibri" panose="020F0502020204030204" pitchFamily="34" charset="0"/>
                <a:ea typeface="宋体" panose="02010600030101010101" pitchFamily="2" charset="-122"/>
                <a:sym typeface="+mn-ea"/>
              </a:rPr>
              <a:t>、S4、Flume、Streams、Puma、DStream、Super Mario、银河流数据处理平台等</a:t>
            </a:r>
            <a:endParaRPr kumimoji="0" lang="zh-CN" altLang="en-US" sz="2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p>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6" name="文本框 5"/>
          <p:cNvSpPr txBox="1"/>
          <p:nvPr/>
        </p:nvSpPr>
        <p:spPr>
          <a:xfrm>
            <a:off x="963295" y="2864485"/>
            <a:ext cx="2757805" cy="52197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流计算</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7" name="文本框 6"/>
          <p:cNvSpPr txBox="1"/>
          <p:nvPr/>
        </p:nvSpPr>
        <p:spPr>
          <a:xfrm>
            <a:off x="3848100" y="2630170"/>
            <a:ext cx="2876550" cy="103886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流数据的</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实时计算</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8" name="文本框 7"/>
          <p:cNvSpPr txBox="1"/>
          <p:nvPr/>
        </p:nvSpPr>
        <p:spPr>
          <a:xfrm>
            <a:off x="3848100" y="4696460"/>
            <a:ext cx="2876550" cy="103886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大规模图结构</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数据的处理</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9" name="文本框 8"/>
          <p:cNvSpPr txBox="1"/>
          <p:nvPr/>
        </p:nvSpPr>
        <p:spPr>
          <a:xfrm>
            <a:off x="963295" y="4920615"/>
            <a:ext cx="2757805" cy="521970"/>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ctr"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latin typeface="Calibri" panose="020F0502020204030204" pitchFamily="34" charset="0"/>
                <a:ea typeface="宋体" panose="02010600030101010101" pitchFamily="2" charset="-122"/>
                <a:sym typeface="+mn-ea"/>
              </a:rPr>
              <a:t>图计算</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10" name="文本框 9"/>
          <p:cNvSpPr txBox="1"/>
          <p:nvPr/>
        </p:nvSpPr>
        <p:spPr>
          <a:xfrm>
            <a:off x="6852285" y="4524375"/>
            <a:ext cx="4185920" cy="1383665"/>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rtlCol="0" anchor="t">
            <a:spAutoFit/>
          </a:bodyPr>
          <a:lstStyle/>
          <a:p>
            <a:pPr marL="0" marR="0" lvl="0" indent="0" algn="l" defTabSz="914400" rtl="0" eaLnBrk="0" fontAlgn="base" latinLnBrk="0" hangingPunct="0">
              <a:lnSpc>
                <a:spcPct val="100000"/>
              </a:lnSpc>
              <a:spcBef>
                <a:spcPct val="20000"/>
              </a:spcBef>
              <a:spcAft>
                <a:spcPct val="0"/>
              </a:spcAft>
              <a:buClrTx/>
              <a:buSzTx/>
              <a:buFontTx/>
              <a:buNone/>
            </a:pPr>
            <a:r>
              <a:rPr lang="zh-CN" altLang="en-US" sz="2800">
                <a:ln>
                  <a:noFill/>
                </a:ln>
                <a:solidFill>
                  <a:srgbClr val="000000"/>
                </a:solidFill>
                <a:effectLst/>
                <a:highlight>
                  <a:srgbClr val="FFFF00"/>
                </a:highlight>
                <a:latin typeface="Calibri" panose="020F0502020204030204" pitchFamily="34" charset="0"/>
                <a:ea typeface="宋体" panose="02010600030101010101" pitchFamily="2" charset="-122"/>
                <a:sym typeface="+mn-ea"/>
              </a:rPr>
              <a:t>Pregel</a:t>
            </a:r>
            <a:r>
              <a:rPr lang="zh-CN" altLang="en-US" sz="2800">
                <a:ln>
                  <a:noFill/>
                </a:ln>
                <a:solidFill>
                  <a:srgbClr val="000000"/>
                </a:solidFill>
                <a:effectLst/>
                <a:latin typeface="Calibri" panose="020F0502020204030204" pitchFamily="34" charset="0"/>
                <a:ea typeface="宋体" panose="02010600030101010101" pitchFamily="2" charset="-122"/>
                <a:sym typeface="+mn-ea"/>
              </a:rPr>
              <a:t>、GraphX、Giraph、PowerGraph、Hama、GoldenOrb等</a:t>
            </a:r>
            <a:endParaRPr lang="zh-CN" altLang="en-US" sz="2800">
              <a:ln>
                <a:noFill/>
              </a:ln>
              <a:solidFill>
                <a:srgbClr val="000000"/>
              </a:solidFill>
              <a:effectLst/>
              <a:latin typeface="Calibri" panose="020F0502020204030204" pitchFamily="34" charset="0"/>
              <a:ea typeface="宋体" panose="02010600030101010101" pitchFamily="2" charset="-122"/>
              <a:sym typeface="+mn-ea"/>
            </a:endParaRPr>
          </a:p>
        </p:txBody>
      </p:sp>
      <p:sp>
        <p:nvSpPr>
          <p:cNvPr id="11" name="圆角矩形标注 10"/>
          <p:cNvSpPr/>
          <p:nvPr/>
        </p:nvSpPr>
        <p:spPr>
          <a:xfrm>
            <a:off x="1774825" y="3776980"/>
            <a:ext cx="2520950" cy="753110"/>
          </a:xfrm>
          <a:prstGeom prst="wedgeRoundRectCallout">
            <a:avLst>
              <a:gd name="adj1" fmla="val 58765"/>
              <a:gd name="adj2" fmla="val -152866"/>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a:t>数据价值随时间</a:t>
            </a:r>
            <a:endParaRPr lang="zh-CN" altLang="en-US" sz="2400"/>
          </a:p>
          <a:p>
            <a:pPr algn="ctr"/>
            <a:r>
              <a:rPr lang="zh-CN" altLang="en-US" sz="2400"/>
              <a:t>流逝而降低</a:t>
            </a:r>
            <a:endParaRPr lang="zh-CN" altLang="en-US" sz="2400"/>
          </a:p>
        </p:txBody>
      </p:sp>
      <p:sp>
        <p:nvSpPr>
          <p:cNvPr id="12" name="圆角矩形标注 11"/>
          <p:cNvSpPr/>
          <p:nvPr/>
        </p:nvSpPr>
        <p:spPr>
          <a:xfrm>
            <a:off x="2009140" y="5901690"/>
            <a:ext cx="3315970" cy="753110"/>
          </a:xfrm>
          <a:prstGeom prst="wedgeRoundRectCallout">
            <a:avLst>
              <a:gd name="adj1" fmla="val 58765"/>
              <a:gd name="adj2" fmla="val -152866"/>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400"/>
              <a:t>如社交网络、传染病传播途径、道路网络</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6" grpId="0" animBg="1"/>
      <p:bldP spid="6" grpId="1" animBg="1"/>
      <p:bldP spid="7" grpId="0" animBg="1"/>
      <p:bldP spid="7" grpId="1" animBg="1"/>
      <p:bldP spid="8" grpId="0" animBg="1"/>
      <p:bldP spid="8" grpId="1" animBg="1"/>
      <p:bldP spid="9" grpId="0" animBg="1"/>
      <p:bldP spid="9" grpId="1" animBg="1"/>
      <p:bldP spid="10" grpId="0" bldLvl="0" animBg="1"/>
      <p:bldP spid="10" grpId="1" animBg="1"/>
      <p:bldP spid="11" grpId="0" animBg="1"/>
      <p:bldP spid="11" grpId="1" animBg="1"/>
      <p:bldP spid="12" grpId="0" bldLvl="0" animBg="1"/>
      <p:bldP spid="12"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4294967295"/>
          </p:nvPr>
        </p:nvSpPr>
        <p:spPr>
          <a:xfrm>
            <a:off x="2057400" y="1331595"/>
            <a:ext cx="8229600" cy="416560"/>
          </a:xfrm>
        </p:spPr>
        <p:txBody>
          <a:bodyPr/>
          <a:lstStyle/>
          <a:p>
            <a:pPr marL="0" indent="0">
              <a:buNone/>
            </a:pPr>
            <a:r>
              <a:rPr lang="zh-CN" altLang="en-US" sz="2000"/>
              <a:t>指一切与支撑大数据组织管理和价值发现相关的企业经济活动的集合</a:t>
            </a:r>
            <a:endParaRPr lang="zh-CN" altLang="en-US" sz="2000"/>
          </a:p>
        </p:txBody>
      </p:sp>
      <p:graphicFrame>
        <p:nvGraphicFramePr>
          <p:cNvPr id="19551" name="Group 95"/>
          <p:cNvGraphicFramePr>
            <a:graphicFrameLocks noGrp="1"/>
          </p:cNvGraphicFramePr>
          <p:nvPr>
            <p:custDataLst>
              <p:tags r:id="rId1"/>
            </p:custDataLst>
          </p:nvPr>
        </p:nvGraphicFramePr>
        <p:xfrm>
          <a:off x="502920" y="1750695"/>
          <a:ext cx="11348720" cy="4754936"/>
        </p:xfrm>
        <a:graphic>
          <a:graphicData uri="http://schemas.openxmlformats.org/drawingml/2006/table">
            <a:tbl>
              <a:tblPr/>
              <a:tblGrid>
                <a:gridCol w="939165"/>
                <a:gridCol w="4926330"/>
                <a:gridCol w="5483225"/>
              </a:tblGrid>
              <a:tr h="640080">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产业链环节</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包含内容</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例子</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810260">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IT</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基础设施层</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提供硬件、软件、网络等基础设施</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提供咨询、规划和系统集成服务的企业</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提供数据中心解决方案的</a:t>
                      </a:r>
                      <a:r>
                        <a:rPr lang="en-US" alt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IBM</a:t>
                      </a: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、惠普和戴尔等</a:t>
                      </a:r>
                      <a:endPar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提供存储解决方案的</a:t>
                      </a:r>
                      <a:r>
                        <a:rPr lang="en-US" alt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EMC</a:t>
                      </a:r>
                      <a:endPar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提供虚拟化管理软件的微软</a:t>
                      </a:r>
                      <a:r>
                        <a:rPr 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等</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50545">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数据源层</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大数据生态圈里的数据提供者</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生物、交通、医疗、政务、电商、社交、搜索</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7060">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数据管理层</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数据抽取、转换、存储和管理等服务的各类企业或产品</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分布式文件系统、</a:t>
                      </a:r>
                      <a:r>
                        <a:rPr lang="en-US" alt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ETL</a:t>
                      </a: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工具、数据库和数据仓库</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8170">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数据分析层</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包括提供分布式计算、数据挖掘、统计分析等服务的各类企业或产品</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分布式计算框架</a:t>
                      </a:r>
                      <a:r>
                        <a:rPr lang="en-US" alt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MapReduce</a:t>
                      </a: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、统计分析软件</a:t>
                      </a:r>
                      <a:r>
                        <a:rPr lang="en-US" alt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SPSS</a:t>
                      </a: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SAS</a:t>
                      </a: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、数据挖掘工具</a:t>
                      </a:r>
                      <a:r>
                        <a:rPr lang="en-US" alt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Weka</a:t>
                      </a: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、数据可视化工具</a:t>
                      </a:r>
                      <a:r>
                        <a:rPr lang="en-US" altLang="zh-CN"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Tableau</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20">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数据平台层</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包括提供数据分享平台、数据分析平台、数据租售平台等服务的企业或产品</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阿里巴巴、谷歌、中国电信、百度</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17220">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数据应用层</a:t>
                      </a: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提供智能交通、智慧医疗、智能物流、智能电网等行业应用的企业、机构或政府部门</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zh-CN" altLang="en-US" sz="1800"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交通主管部门、各大医疗机构、菜鸟网络、国家电网</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 name="标题 1"/>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1.7大数据产业</a:t>
            </a:r>
            <a:endParaRPr lang="zh-CN" altLang="en-US" sz="44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4294967295"/>
          </p:nvPr>
        </p:nvSpPr>
        <p:spPr/>
        <p:txBody>
          <a:bodyPr/>
          <a:lstStyle/>
          <a:p>
            <a:pPr>
              <a:lnSpc>
                <a:spcPct val="150000"/>
              </a:lnSpc>
            </a:pPr>
            <a:r>
              <a:rPr lang="zh-CN" altLang="en-US"/>
              <a:t>云计算、大数据和物联网代表了</a:t>
            </a:r>
            <a:r>
              <a:rPr lang="en-US" altLang="zh-CN"/>
              <a:t>IT</a:t>
            </a:r>
            <a:r>
              <a:rPr lang="zh-CN" altLang="en-US"/>
              <a:t>领域最新的技术发展趋势，</a:t>
            </a:r>
            <a:endParaRPr lang="zh-CN" altLang="en-US"/>
          </a:p>
          <a:p>
            <a:pPr marL="0" indent="0">
              <a:lnSpc>
                <a:spcPct val="150000"/>
              </a:lnSpc>
              <a:buNone/>
            </a:pPr>
            <a:r>
              <a:rPr lang="zh-CN" altLang="en-US"/>
              <a:t>三者相辅相成，既有联系又有区别</a:t>
            </a:r>
            <a:endParaRPr lang="zh-CN" altLang="en-US"/>
          </a:p>
          <a:p>
            <a:pPr marL="0" indent="0">
              <a:lnSpc>
                <a:spcPct val="150000"/>
              </a:lnSpc>
              <a:buNone/>
            </a:pPr>
            <a:endParaRPr lang="zh-CN" altLang="en-US"/>
          </a:p>
          <a:p>
            <a:pPr>
              <a:lnSpc>
                <a:spcPct val="150000"/>
              </a:lnSpc>
            </a:pPr>
            <a:r>
              <a:rPr lang="zh-CN" altLang="en-US"/>
              <a:t>本节先介绍云计算和物联网的概念</a:t>
            </a:r>
            <a:endParaRPr lang="zh-CN" altLang="en-US"/>
          </a:p>
          <a:p>
            <a:pPr marL="0" indent="0">
              <a:lnSpc>
                <a:spcPct val="150000"/>
              </a:lnSpc>
              <a:buNone/>
            </a:pPr>
            <a:r>
              <a:rPr lang="zh-CN" altLang="en-US"/>
              <a:t>再分析三者的区别与联系</a:t>
            </a:r>
            <a:endParaRPr lang="zh-CN" altLang="en-US"/>
          </a:p>
        </p:txBody>
      </p:sp>
      <p:sp>
        <p:nvSpPr>
          <p:cNvPr id="2" name="标题 1"/>
          <p:cNvSpPr>
            <a:spLocks noGrp="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1.8大数据与云计算、物联网的关系</a:t>
            </a:r>
            <a:endParaRPr lang="zh-CN" altLang="en-US" sz="44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6"/>
          <p:cNvSpPr txBox="1">
            <a:spLocks noChangeArrowheads="1"/>
          </p:cNvSpPr>
          <p:nvPr/>
        </p:nvSpPr>
        <p:spPr bwMode="auto">
          <a:xfrm>
            <a:off x="6988176" y="6218852"/>
            <a:ext cx="3756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t>图</a:t>
            </a:r>
            <a:r>
              <a:rPr lang="en-US" altLang="zh-CN"/>
              <a:t>1-7 </a:t>
            </a:r>
            <a:r>
              <a:rPr lang="zh-CN" altLang="en-US"/>
              <a:t>云计算的</a:t>
            </a:r>
            <a:r>
              <a:rPr lang="zh-CN" altLang="en-US">
                <a:sym typeface="+mn-ea"/>
              </a:rPr>
              <a:t>类型</a:t>
            </a:r>
            <a:r>
              <a:rPr lang="zh-CN" altLang="en-US"/>
              <a:t>和</a:t>
            </a:r>
            <a:r>
              <a:rPr lang="zh-CN" altLang="en-US">
                <a:sym typeface="+mn-ea"/>
              </a:rPr>
              <a:t>服务模式</a:t>
            </a:r>
            <a:r>
              <a:rPr lang="zh-CN" altLang="en-US"/>
              <a:t> </a:t>
            </a:r>
            <a:endParaRPr lang="zh-CN" altLang="en-US"/>
          </a:p>
        </p:txBody>
      </p:sp>
      <p:sp>
        <p:nvSpPr>
          <p:cNvPr id="29701" name="Rectangle 7"/>
          <p:cNvSpPr>
            <a:spLocks noChangeArrowheads="1"/>
          </p:cNvSpPr>
          <p:nvPr/>
        </p:nvSpPr>
        <p:spPr bwMode="auto">
          <a:xfrm>
            <a:off x="607695" y="1598773"/>
            <a:ext cx="8978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800" b="1" dirty="0"/>
              <a:t>概念</a:t>
            </a:r>
            <a:endParaRPr lang="zh-CN" altLang="en-US" sz="2800" b="1" dirty="0"/>
          </a:p>
        </p:txBody>
      </p:sp>
      <p:pic>
        <p:nvPicPr>
          <p:cNvPr id="29702" name="Picture 8"/>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2470764"/>
            <a:ext cx="54864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custDataLst>
              <p:tags r:id="rId3"/>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云计算</a:t>
            </a:r>
            <a:endParaRPr lang="zh-CN" altLang="en-US" sz="4400" b="1" dirty="0">
              <a:solidFill>
                <a:srgbClr val="000000"/>
              </a:solidFill>
              <a:latin typeface="宋体" panose="02010600030101010101" pitchFamily="2" charset="-122"/>
              <a:ea typeface="宋体" panose="02010600030101010101" pitchFamily="2" charset="-122"/>
            </a:endParaRPr>
          </a:p>
        </p:txBody>
      </p:sp>
      <p:sp>
        <p:nvSpPr>
          <p:cNvPr id="5" name="圆角矩形 4"/>
          <p:cNvSpPr/>
          <p:nvPr/>
        </p:nvSpPr>
        <p:spPr>
          <a:xfrm>
            <a:off x="1609090" y="2308860"/>
            <a:ext cx="2157095" cy="5467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存储、计算</a:t>
            </a:r>
            <a:endParaRPr lang="zh-CN" altLang="en-US" sz="2800"/>
          </a:p>
        </p:txBody>
      </p:sp>
      <p:sp>
        <p:nvSpPr>
          <p:cNvPr id="6" name="下箭头 5"/>
          <p:cNvSpPr/>
          <p:nvPr/>
        </p:nvSpPr>
        <p:spPr>
          <a:xfrm>
            <a:off x="2188845" y="2915285"/>
            <a:ext cx="996950" cy="11023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网络</a:t>
            </a:r>
            <a:endParaRPr lang="zh-CN" altLang="en-US" sz="2800"/>
          </a:p>
        </p:txBody>
      </p:sp>
      <p:sp>
        <p:nvSpPr>
          <p:cNvPr id="8" name="云形 7"/>
          <p:cNvSpPr/>
          <p:nvPr/>
        </p:nvSpPr>
        <p:spPr>
          <a:xfrm>
            <a:off x="2068830" y="4131945"/>
            <a:ext cx="1236345" cy="555625"/>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云</a:t>
            </a:r>
            <a:endParaRPr lang="zh-CN" altLang="en-US" sz="2800"/>
          </a:p>
        </p:txBody>
      </p:sp>
      <p:sp>
        <p:nvSpPr>
          <p:cNvPr id="9" name="圆角矩形标注 8"/>
          <p:cNvSpPr/>
          <p:nvPr/>
        </p:nvSpPr>
        <p:spPr>
          <a:xfrm>
            <a:off x="1412240" y="5114925"/>
            <a:ext cx="2772410" cy="1286510"/>
          </a:xfrm>
          <a:prstGeom prst="wedgeRoundRectCallout">
            <a:avLst>
              <a:gd name="adj1" fmla="val -10673"/>
              <a:gd name="adj2" fmla="val -7408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联网的</a:t>
            </a:r>
            <a:endParaRPr lang="zh-CN" altLang="en-US" sz="2000"/>
          </a:p>
          <a:p>
            <a:pPr algn="ctr"/>
            <a:r>
              <a:rPr lang="zh-CN" altLang="en-US" sz="2000"/>
              <a:t>有存储和计算能力的</a:t>
            </a:r>
            <a:endParaRPr lang="zh-CN" altLang="en-US" sz="2000"/>
          </a:p>
          <a:p>
            <a:pPr algn="ctr"/>
            <a:r>
              <a:rPr lang="zh-CN" altLang="en-US" sz="2000"/>
              <a:t>服务器集群</a:t>
            </a:r>
            <a:endParaRPr lang="zh-CN" altLang="en-US" sz="200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7400" y="749489"/>
            <a:ext cx="5486400" cy="16879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970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9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00" grpId="1"/>
      <p:bldP spid="5" grpId="0" bldLvl="0" animBg="1"/>
      <p:bldP spid="5" grpId="1" animBg="1"/>
      <p:bldP spid="6" grpId="0" bldLvl="0" animBg="1"/>
      <p:bldP spid="6" grpId="1" animBg="1"/>
      <p:bldP spid="8" grpId="0" bldLvl="0" animBg="1"/>
      <p:bldP spid="8" grpId="1" animBg="1"/>
      <p:bldP spid="9" grpId="0" bldLvl="0" animBg="1"/>
      <p:bldP spid="9"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4"/>
          <p:cNvSpPr>
            <a:spLocks noChangeArrowheads="1"/>
          </p:cNvSpPr>
          <p:nvPr/>
        </p:nvSpPr>
        <p:spPr bwMode="auto">
          <a:xfrm>
            <a:off x="2169276" y="6213527"/>
            <a:ext cx="2896252" cy="452284"/>
          </a:xfrm>
          <a:prstGeom prst="rect">
            <a:avLst/>
          </a:prstGeom>
          <a:solidFill>
            <a:srgbClr val="33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Infrastructure as a Service</a:t>
            </a:r>
            <a:endParaRPr lang="en-US" altLang="zh-CN" sz="1400" b="1"/>
          </a:p>
        </p:txBody>
      </p:sp>
      <p:sp>
        <p:nvSpPr>
          <p:cNvPr id="30724" name="Rectangle 5"/>
          <p:cNvSpPr>
            <a:spLocks noChangeArrowheads="1"/>
          </p:cNvSpPr>
          <p:nvPr/>
        </p:nvSpPr>
        <p:spPr bwMode="auto">
          <a:xfrm>
            <a:off x="2169276" y="5489873"/>
            <a:ext cx="2896252" cy="452284"/>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Platform as a Service</a:t>
            </a:r>
            <a:endParaRPr lang="en-US" altLang="zh-CN" sz="1400" b="1"/>
          </a:p>
        </p:txBody>
      </p:sp>
      <p:sp>
        <p:nvSpPr>
          <p:cNvPr id="30725" name="Rectangle 6"/>
          <p:cNvSpPr>
            <a:spLocks noChangeArrowheads="1"/>
          </p:cNvSpPr>
          <p:nvPr/>
        </p:nvSpPr>
        <p:spPr bwMode="auto">
          <a:xfrm>
            <a:off x="2169276" y="4766219"/>
            <a:ext cx="2896252" cy="452284"/>
          </a:xfrm>
          <a:prstGeom prst="rect">
            <a:avLst/>
          </a:prstGeom>
          <a:solidFill>
            <a:srgbClr val="8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Software as a Service</a:t>
            </a:r>
            <a:endParaRPr lang="en-US" altLang="zh-CN" sz="1400" b="1"/>
          </a:p>
        </p:txBody>
      </p:sp>
      <p:sp>
        <p:nvSpPr>
          <p:cNvPr id="30726" name="Text Box 7"/>
          <p:cNvSpPr txBox="1">
            <a:spLocks noChangeArrowheads="1"/>
          </p:cNvSpPr>
          <p:nvPr/>
        </p:nvSpPr>
        <p:spPr bwMode="auto">
          <a:xfrm>
            <a:off x="1333409" y="4822754"/>
            <a:ext cx="851839" cy="36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CC0000"/>
                </a:solidFill>
              </a:rPr>
              <a:t>SaaS</a:t>
            </a:r>
            <a:endParaRPr lang="en-US" altLang="zh-CN" sz="1400" b="1">
              <a:solidFill>
                <a:srgbClr val="CC0000"/>
              </a:solidFill>
            </a:endParaRPr>
          </a:p>
        </p:txBody>
      </p:sp>
      <p:sp>
        <p:nvSpPr>
          <p:cNvPr id="30727" name="Text Box 8"/>
          <p:cNvSpPr txBox="1">
            <a:spLocks noChangeArrowheads="1"/>
          </p:cNvSpPr>
          <p:nvPr/>
        </p:nvSpPr>
        <p:spPr bwMode="auto">
          <a:xfrm>
            <a:off x="1317437" y="5580330"/>
            <a:ext cx="851839" cy="36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CC0000"/>
                </a:solidFill>
              </a:rPr>
              <a:t>PaaS</a:t>
            </a:r>
            <a:endParaRPr lang="en-US" altLang="zh-CN" sz="1400" b="1">
              <a:solidFill>
                <a:srgbClr val="CC0000"/>
              </a:solidFill>
            </a:endParaRPr>
          </a:p>
        </p:txBody>
      </p:sp>
      <p:sp>
        <p:nvSpPr>
          <p:cNvPr id="30728" name="Text Box 9"/>
          <p:cNvSpPr txBox="1">
            <a:spLocks noChangeArrowheads="1"/>
          </p:cNvSpPr>
          <p:nvPr/>
        </p:nvSpPr>
        <p:spPr bwMode="auto">
          <a:xfrm>
            <a:off x="1317437" y="6303984"/>
            <a:ext cx="851839" cy="36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CC0000"/>
                </a:solidFill>
              </a:rPr>
              <a:t>IaaS</a:t>
            </a:r>
            <a:endParaRPr lang="en-US" altLang="zh-CN" sz="1400" b="1">
              <a:solidFill>
                <a:srgbClr val="CC0000"/>
              </a:solidFill>
            </a:endParaRPr>
          </a:p>
        </p:txBody>
      </p:sp>
      <p:sp>
        <p:nvSpPr>
          <p:cNvPr id="30729" name="Text Box 11"/>
          <p:cNvSpPr txBox="1">
            <a:spLocks noChangeArrowheads="1"/>
          </p:cNvSpPr>
          <p:nvPr/>
        </p:nvSpPr>
        <p:spPr bwMode="auto">
          <a:xfrm>
            <a:off x="5321081" y="4856675"/>
            <a:ext cx="4461506" cy="36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Google Apps, Microsoft “Software+Services”</a:t>
            </a:r>
            <a:endParaRPr lang="en-US" altLang="zh-CN" sz="1400" b="1"/>
          </a:p>
        </p:txBody>
      </p:sp>
      <p:sp>
        <p:nvSpPr>
          <p:cNvPr id="30730" name="Text Box 12"/>
          <p:cNvSpPr txBox="1">
            <a:spLocks noChangeArrowheads="1"/>
          </p:cNvSpPr>
          <p:nvPr/>
        </p:nvSpPr>
        <p:spPr bwMode="auto">
          <a:xfrm>
            <a:off x="5321486" y="5580330"/>
            <a:ext cx="4630099" cy="36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IBM IT factory, Google App Engine,  Force.com</a:t>
            </a:r>
            <a:endParaRPr lang="en-US" altLang="zh-CN" sz="1400" b="1"/>
          </a:p>
        </p:txBody>
      </p:sp>
      <p:sp>
        <p:nvSpPr>
          <p:cNvPr id="30731" name="Text Box 13"/>
          <p:cNvSpPr txBox="1">
            <a:spLocks noChangeArrowheads="1"/>
          </p:cNvSpPr>
          <p:nvPr/>
        </p:nvSpPr>
        <p:spPr bwMode="auto">
          <a:xfrm>
            <a:off x="5484795" y="6303984"/>
            <a:ext cx="3941529" cy="36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a:t>Amazon EC2, IBM Blue Cloud, Sun Grid</a:t>
            </a:r>
            <a:endParaRPr lang="en-US" altLang="zh-CN" sz="1400" b="1"/>
          </a:p>
        </p:txBody>
      </p:sp>
      <p:sp>
        <p:nvSpPr>
          <p:cNvPr id="30732" name="Rectangle 15"/>
          <p:cNvSpPr>
            <a:spLocks noChangeArrowheads="1"/>
          </p:cNvSpPr>
          <p:nvPr/>
        </p:nvSpPr>
        <p:spPr bwMode="auto">
          <a:xfrm>
            <a:off x="6428470" y="3952108"/>
            <a:ext cx="937023" cy="452284"/>
          </a:xfrm>
          <a:prstGeom prst="rect">
            <a:avLst/>
          </a:prstGeom>
          <a:solidFill>
            <a:srgbClr val="8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Server</a:t>
            </a:r>
            <a:endParaRPr lang="en-US" altLang="zh-CN" sz="1400" b="1"/>
          </a:p>
        </p:txBody>
      </p:sp>
      <p:sp>
        <p:nvSpPr>
          <p:cNvPr id="30733" name="Rectangle 16"/>
          <p:cNvSpPr>
            <a:spLocks noChangeArrowheads="1"/>
          </p:cNvSpPr>
          <p:nvPr/>
        </p:nvSpPr>
        <p:spPr bwMode="auto">
          <a:xfrm>
            <a:off x="7535861" y="3952108"/>
            <a:ext cx="937023" cy="452284"/>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Storage</a:t>
            </a:r>
            <a:endParaRPr lang="en-US" altLang="zh-CN" sz="1400" b="1"/>
          </a:p>
        </p:txBody>
      </p:sp>
      <p:sp>
        <p:nvSpPr>
          <p:cNvPr id="30734" name="Rectangle 17"/>
          <p:cNvSpPr>
            <a:spLocks noChangeArrowheads="1"/>
          </p:cNvSpPr>
          <p:nvPr/>
        </p:nvSpPr>
        <p:spPr bwMode="auto">
          <a:xfrm>
            <a:off x="8643252" y="3952108"/>
            <a:ext cx="937023" cy="452284"/>
          </a:xfrm>
          <a:prstGeom prst="rect">
            <a:avLst/>
          </a:prstGeom>
          <a:solidFill>
            <a:srgbClr val="8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Server</a:t>
            </a:r>
            <a:endParaRPr lang="en-US" altLang="zh-CN" sz="1400" b="1"/>
          </a:p>
        </p:txBody>
      </p:sp>
      <p:sp>
        <p:nvSpPr>
          <p:cNvPr id="30735" name="Rectangle 18"/>
          <p:cNvSpPr>
            <a:spLocks noChangeArrowheads="1"/>
          </p:cNvSpPr>
          <p:nvPr/>
        </p:nvSpPr>
        <p:spPr bwMode="auto">
          <a:xfrm>
            <a:off x="9750642" y="3952108"/>
            <a:ext cx="937023" cy="452284"/>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Storage</a:t>
            </a:r>
            <a:endParaRPr lang="en-US" altLang="zh-CN" sz="1400" b="1"/>
          </a:p>
        </p:txBody>
      </p:sp>
      <p:sp>
        <p:nvSpPr>
          <p:cNvPr id="30736" name="Rectangle 19"/>
          <p:cNvSpPr>
            <a:spLocks noChangeArrowheads="1"/>
          </p:cNvSpPr>
          <p:nvPr/>
        </p:nvSpPr>
        <p:spPr bwMode="auto">
          <a:xfrm>
            <a:off x="6428470" y="3409367"/>
            <a:ext cx="4259195" cy="452284"/>
          </a:xfrm>
          <a:prstGeom prst="rect">
            <a:avLst/>
          </a:prstGeom>
          <a:solidFill>
            <a:srgbClr val="33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Visualization</a:t>
            </a:r>
            <a:endParaRPr lang="en-US" altLang="zh-CN" sz="1400" b="1"/>
          </a:p>
        </p:txBody>
      </p:sp>
      <p:sp>
        <p:nvSpPr>
          <p:cNvPr id="30737" name="Rectangle 20"/>
          <p:cNvSpPr>
            <a:spLocks noChangeArrowheads="1"/>
          </p:cNvSpPr>
          <p:nvPr/>
        </p:nvSpPr>
        <p:spPr bwMode="auto">
          <a:xfrm>
            <a:off x="6428470" y="2866626"/>
            <a:ext cx="4259195" cy="452284"/>
          </a:xfrm>
          <a:prstGeom prst="rect">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Infrastructure</a:t>
            </a:r>
            <a:endParaRPr lang="en-US" altLang="zh-CN" sz="1400" b="1"/>
          </a:p>
        </p:txBody>
      </p:sp>
      <p:sp>
        <p:nvSpPr>
          <p:cNvPr id="30738" name="Rectangle 21"/>
          <p:cNvSpPr>
            <a:spLocks noChangeArrowheads="1"/>
          </p:cNvSpPr>
          <p:nvPr/>
        </p:nvSpPr>
        <p:spPr bwMode="auto">
          <a:xfrm>
            <a:off x="6428470" y="2323885"/>
            <a:ext cx="4259195" cy="452284"/>
          </a:xfrm>
          <a:prstGeom prst="rect">
            <a:avLst/>
          </a:prstGeom>
          <a:solidFill>
            <a:srgbClr val="8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Platform</a:t>
            </a:r>
            <a:endParaRPr lang="en-US" altLang="zh-CN" sz="1400" b="1"/>
          </a:p>
        </p:txBody>
      </p:sp>
      <p:sp>
        <p:nvSpPr>
          <p:cNvPr id="30739" name="Rectangle 22"/>
          <p:cNvSpPr>
            <a:spLocks noChangeArrowheads="1"/>
          </p:cNvSpPr>
          <p:nvPr/>
        </p:nvSpPr>
        <p:spPr bwMode="auto">
          <a:xfrm>
            <a:off x="6428470" y="1781145"/>
            <a:ext cx="4259195" cy="452284"/>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t>Application</a:t>
            </a:r>
            <a:endParaRPr lang="en-US" altLang="zh-CN" sz="1400" b="1"/>
          </a:p>
        </p:txBody>
      </p:sp>
      <p:sp>
        <p:nvSpPr>
          <p:cNvPr id="30740" name="Rectangle 23"/>
          <p:cNvSpPr>
            <a:spLocks noChangeArrowheads="1"/>
          </p:cNvSpPr>
          <p:nvPr/>
        </p:nvSpPr>
        <p:spPr bwMode="auto">
          <a:xfrm>
            <a:off x="1061885" y="3318910"/>
            <a:ext cx="5111034" cy="1175938"/>
          </a:xfrm>
          <a:prstGeom prst="rect">
            <a:avLst/>
          </a:pr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41" name="Rectangle 24"/>
          <p:cNvSpPr>
            <a:spLocks noChangeArrowheads="1"/>
          </p:cNvSpPr>
          <p:nvPr/>
        </p:nvSpPr>
        <p:spPr bwMode="auto">
          <a:xfrm>
            <a:off x="1061885" y="2595256"/>
            <a:ext cx="5111034" cy="1175938"/>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42" name="Rectangle 25"/>
          <p:cNvSpPr>
            <a:spLocks noChangeArrowheads="1"/>
          </p:cNvSpPr>
          <p:nvPr/>
        </p:nvSpPr>
        <p:spPr bwMode="auto">
          <a:xfrm>
            <a:off x="1061885" y="1690688"/>
            <a:ext cx="5111034" cy="1175938"/>
          </a:xfrm>
          <a:prstGeom prst="rect">
            <a:avLst/>
          </a:prstGeom>
          <a:solidFill>
            <a:srgbClr val="99CC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43" name="Text Box 26"/>
          <p:cNvSpPr txBox="1">
            <a:spLocks noChangeArrowheads="1"/>
          </p:cNvSpPr>
          <p:nvPr/>
        </p:nvSpPr>
        <p:spPr bwMode="auto">
          <a:xfrm>
            <a:off x="2254460" y="1747225"/>
            <a:ext cx="391845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t>从一个集中的系统部署软件，使之在一台本地计算机上</a:t>
            </a:r>
            <a:r>
              <a:rPr lang="en-US" altLang="zh-CN" sz="1600" dirty="0"/>
              <a:t>(</a:t>
            </a:r>
            <a:r>
              <a:rPr lang="zh-CN" altLang="en-US" sz="1600" dirty="0"/>
              <a:t>或从云中远程地</a:t>
            </a:r>
            <a:r>
              <a:rPr lang="en-US" altLang="zh-CN" sz="1600" dirty="0"/>
              <a:t>)</a:t>
            </a:r>
            <a:r>
              <a:rPr lang="zh-CN" altLang="en-US" sz="1600" dirty="0"/>
              <a:t>运行的一个模型。由于是计量服务，</a:t>
            </a:r>
            <a:r>
              <a:rPr lang="en-US" altLang="zh-CN" sz="1600" dirty="0"/>
              <a:t>SaaS </a:t>
            </a:r>
            <a:r>
              <a:rPr lang="zh-CN" altLang="en-US" sz="1600" dirty="0"/>
              <a:t>允许出租一个应用程序，并计时收费    </a:t>
            </a:r>
            <a:endParaRPr lang="zh-CN" altLang="en-US" sz="1600" dirty="0"/>
          </a:p>
        </p:txBody>
      </p:sp>
      <p:sp>
        <p:nvSpPr>
          <p:cNvPr id="24" name="TextBox 23"/>
          <p:cNvSpPr txBox="1"/>
          <p:nvPr/>
        </p:nvSpPr>
        <p:spPr>
          <a:xfrm>
            <a:off x="1232253" y="3867306"/>
            <a:ext cx="937023" cy="446630"/>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algn="ctr">
              <a:defRPr/>
            </a:pPr>
            <a:r>
              <a:rPr lang="en-US" altLang="zh-CN">
                <a:solidFill>
                  <a:srgbClr val="000000"/>
                </a:solidFill>
                <a:latin typeface="Lucida Sans Unicode" panose="020B0602030504020204" pitchFamily="34" charset="0"/>
                <a:ea typeface="黑体" panose="02010609060101010101" pitchFamily="49" charset="-122"/>
              </a:rPr>
              <a:t>IaaS</a:t>
            </a:r>
            <a:endParaRPr lang="en-US" altLang="zh-CN">
              <a:solidFill>
                <a:srgbClr val="000000"/>
              </a:solidFill>
              <a:latin typeface="Lucida Sans Unicode" panose="020B0602030504020204" pitchFamily="34" charset="0"/>
              <a:ea typeface="黑体" panose="02010609060101010101" pitchFamily="49" charset="-122"/>
            </a:endParaRPr>
          </a:p>
        </p:txBody>
      </p:sp>
      <p:sp>
        <p:nvSpPr>
          <p:cNvPr id="30745" name="Text Box 28"/>
          <p:cNvSpPr txBox="1">
            <a:spLocks noChangeArrowheads="1"/>
          </p:cNvSpPr>
          <p:nvPr/>
        </p:nvSpPr>
        <p:spPr bwMode="auto">
          <a:xfrm>
            <a:off x="2254460" y="3850344"/>
            <a:ext cx="39184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t>将基础设施</a:t>
            </a:r>
            <a:r>
              <a:rPr lang="en-US" altLang="zh-CN" sz="1600" dirty="0"/>
              <a:t>(</a:t>
            </a:r>
            <a:r>
              <a:rPr lang="zh-CN" altLang="en-US" sz="1600" dirty="0"/>
              <a:t>计算资源和存储</a:t>
            </a:r>
            <a:r>
              <a:rPr lang="en-US" altLang="zh-CN" sz="1600" dirty="0"/>
              <a:t>)</a:t>
            </a:r>
            <a:r>
              <a:rPr lang="zh-CN" altLang="en-US" sz="1600" dirty="0"/>
              <a:t>作为服务出租</a:t>
            </a:r>
            <a:endParaRPr lang="zh-CN" altLang="en-US" sz="1600" dirty="0"/>
          </a:p>
        </p:txBody>
      </p:sp>
      <p:sp>
        <p:nvSpPr>
          <p:cNvPr id="2" name="TextBox 12"/>
          <p:cNvSpPr txBox="1">
            <a:spLocks noChangeArrowheads="1"/>
          </p:cNvSpPr>
          <p:nvPr/>
        </p:nvSpPr>
        <p:spPr bwMode="auto">
          <a:xfrm>
            <a:off x="1232253" y="3047540"/>
            <a:ext cx="937023" cy="446631"/>
          </a:xfrm>
          <a:prstGeom prst="rect">
            <a:avLst/>
          </a:prstGeom>
          <a:solidFill>
            <a:srgbClr val="FF9900"/>
          </a:solidFill>
          <a:ln w="9525">
            <a:solidFill>
              <a:srgbClr val="EB641B"/>
            </a:solidFill>
            <a:miter lim="800000"/>
          </a:ln>
          <a:effectLst>
            <a:outerShdw dist="38100" dir="5400000" rotWithShape="0">
              <a:srgbClr val="000000">
                <a:alpha val="34998"/>
              </a:srgbClr>
            </a:outerShdw>
          </a:effectLst>
        </p:spPr>
        <p:txBody>
          <a:bodyPr>
            <a:spAutoFit/>
          </a:bodyPr>
          <a:lstStyle/>
          <a:p>
            <a:pPr algn="ctr">
              <a:defRPr/>
            </a:pPr>
            <a:r>
              <a:rPr lang="en-US" altLang="zh-CN">
                <a:solidFill>
                  <a:srgbClr val="000000"/>
                </a:solidFill>
                <a:latin typeface="Lucida Sans Unicode" panose="020B0602030504020204" pitchFamily="34" charset="0"/>
                <a:ea typeface="黑体" panose="02010609060101010101" pitchFamily="49" charset="-122"/>
              </a:rPr>
              <a:t>PaaS</a:t>
            </a:r>
            <a:endParaRPr lang="en-US" altLang="zh-CN">
              <a:solidFill>
                <a:srgbClr val="000000"/>
              </a:solidFill>
              <a:latin typeface="Lucida Sans Unicode" panose="020B0602030504020204" pitchFamily="34" charset="0"/>
              <a:ea typeface="黑体" panose="02010609060101010101" pitchFamily="49" charset="-122"/>
            </a:endParaRPr>
          </a:p>
        </p:txBody>
      </p:sp>
      <p:sp>
        <p:nvSpPr>
          <p:cNvPr id="30747" name="Text Box 30"/>
          <p:cNvSpPr txBox="1">
            <a:spLocks noChangeArrowheads="1"/>
          </p:cNvSpPr>
          <p:nvPr/>
        </p:nvSpPr>
        <p:spPr bwMode="auto">
          <a:xfrm>
            <a:off x="2254460" y="2975928"/>
            <a:ext cx="3833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t>类似于 </a:t>
            </a:r>
            <a:r>
              <a:rPr lang="en-US" altLang="zh-CN" sz="1600" dirty="0"/>
              <a:t>IaaS</a:t>
            </a:r>
            <a:r>
              <a:rPr lang="zh-CN" altLang="en-US" sz="1600" dirty="0"/>
              <a:t>，但是它包括操作系统和围绕特定应用的必需的服务</a:t>
            </a:r>
            <a:endParaRPr lang="zh-CN" altLang="en-US" sz="1600" dirty="0"/>
          </a:p>
        </p:txBody>
      </p:sp>
      <p:sp>
        <p:nvSpPr>
          <p:cNvPr id="3" name="TextBox 12"/>
          <p:cNvSpPr txBox="1">
            <a:spLocks noChangeArrowheads="1"/>
          </p:cNvSpPr>
          <p:nvPr/>
        </p:nvSpPr>
        <p:spPr bwMode="auto">
          <a:xfrm>
            <a:off x="1232253" y="2058170"/>
            <a:ext cx="937023" cy="446630"/>
          </a:xfrm>
          <a:prstGeom prst="rect">
            <a:avLst/>
          </a:prstGeom>
          <a:solidFill>
            <a:schemeClr val="hlink"/>
          </a:solidFill>
          <a:ln w="9525">
            <a:solidFill>
              <a:srgbClr val="EB641B"/>
            </a:solidFill>
            <a:miter lim="800000"/>
          </a:ln>
          <a:effectLst>
            <a:outerShdw dist="38100" dir="5400000" rotWithShape="0">
              <a:srgbClr val="000000">
                <a:alpha val="34998"/>
              </a:srgbClr>
            </a:outerShdw>
          </a:effectLst>
        </p:spPr>
        <p:txBody>
          <a:bodyPr>
            <a:spAutoFit/>
          </a:bodyPr>
          <a:lstStyle/>
          <a:p>
            <a:pPr algn="ctr">
              <a:defRPr/>
            </a:pPr>
            <a:r>
              <a:rPr lang="en-US" altLang="zh-CN">
                <a:solidFill>
                  <a:srgbClr val="000000"/>
                </a:solidFill>
                <a:latin typeface="Lucida Sans Unicode" panose="020B0602030504020204" pitchFamily="34" charset="0"/>
                <a:ea typeface="黑体" panose="02010609060101010101" pitchFamily="49" charset="-122"/>
              </a:rPr>
              <a:t>SaaS</a:t>
            </a:r>
            <a:endParaRPr lang="en-US" altLang="zh-CN">
              <a:solidFill>
                <a:srgbClr val="000000"/>
              </a:solidFill>
              <a:latin typeface="Lucida Sans Unicode" panose="020B0602030504020204" pitchFamily="34" charset="0"/>
              <a:ea typeface="黑体" panose="02010609060101010101" pitchFamily="49" charset="-122"/>
            </a:endParaRPr>
          </a:p>
        </p:txBody>
      </p:sp>
      <p:sp>
        <p:nvSpPr>
          <p:cNvPr id="5" name="标题 1"/>
          <p:cNvSpPr>
            <a:spLocks noGrp="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云计算</a:t>
            </a:r>
            <a:endParaRPr lang="zh-CN" altLang="en-US" sz="44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8" name="Picture 5"/>
          <p:cNvPicPr>
            <a:picLocks noChangeAspect="1" noChangeArrowheads="1"/>
          </p:cNvPicPr>
          <p:nvPr/>
        </p:nvPicPr>
        <p:blipFill>
          <a:blip r:embed="rId1">
            <a:extLst>
              <a:ext uri="{28A0092B-C50C-407E-A947-70E740481C1C}">
                <a14:useLocalDpi xmlns:a14="http://schemas.microsoft.com/office/drawing/2010/main" val="0"/>
              </a:ext>
            </a:extLst>
          </a:blip>
          <a:srcRect l="8873" r="8873"/>
          <a:stretch>
            <a:fillRect/>
          </a:stretch>
        </p:blipFill>
        <p:spPr bwMode="auto">
          <a:xfrm>
            <a:off x="3162301" y="2479213"/>
            <a:ext cx="5181600" cy="346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云计算 关键技术</a:t>
            </a:r>
            <a:endParaRPr lang="zh-CN" altLang="en-US" sz="4400" b="1" dirty="0">
              <a:solidFill>
                <a:srgbClr val="000000"/>
              </a:solidFill>
              <a:latin typeface="宋体" panose="02010600030101010101" pitchFamily="2" charset="-122"/>
              <a:ea typeface="宋体" panose="02010600030101010101" pitchFamily="2" charset="-122"/>
            </a:endParaRPr>
          </a:p>
        </p:txBody>
      </p:sp>
      <p:sp>
        <p:nvSpPr>
          <p:cNvPr id="2" name="圆角矩形标注 1"/>
          <p:cNvSpPr/>
          <p:nvPr/>
        </p:nvSpPr>
        <p:spPr>
          <a:xfrm>
            <a:off x="354558" y="1816431"/>
            <a:ext cx="2629576" cy="1325563"/>
          </a:xfrm>
          <a:prstGeom prst="wedgeRoundRectCallout">
            <a:avLst>
              <a:gd name="adj1" fmla="val 63327"/>
              <a:gd name="adj2" fmla="val 4090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一台计算机</a:t>
            </a:r>
            <a:endParaRPr lang="zh-CN" altLang="en-US" sz="2400" dirty="0"/>
          </a:p>
          <a:p>
            <a:pPr algn="ctr"/>
            <a:r>
              <a:rPr lang="zh-CN" altLang="en-US" sz="2400" dirty="0"/>
              <a:t>虚拟为</a:t>
            </a:r>
            <a:endParaRPr lang="zh-CN" altLang="en-US" sz="2400" dirty="0"/>
          </a:p>
          <a:p>
            <a:pPr algn="ctr"/>
            <a:r>
              <a:rPr lang="zh-CN" altLang="en-US" sz="2400" dirty="0"/>
              <a:t>多台逻辑计算机</a:t>
            </a:r>
            <a:endParaRPr lang="zh-CN" altLang="en-US" sz="2400" dirty="0"/>
          </a:p>
        </p:txBody>
      </p:sp>
      <p:sp>
        <p:nvSpPr>
          <p:cNvPr id="4" name="圆角矩形标注 3"/>
          <p:cNvSpPr/>
          <p:nvPr/>
        </p:nvSpPr>
        <p:spPr>
          <a:xfrm>
            <a:off x="336080" y="4100566"/>
            <a:ext cx="2629576" cy="1576179"/>
          </a:xfrm>
          <a:prstGeom prst="wedgeRoundRectCallout">
            <a:avLst>
              <a:gd name="adj1" fmla="val 64924"/>
              <a:gd name="adj2" fmla="val 302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大规模集群上的</a:t>
            </a:r>
            <a:endParaRPr lang="zh-CN" altLang="en-US" sz="2400"/>
          </a:p>
          <a:p>
            <a:pPr algn="ctr"/>
            <a:r>
              <a:rPr lang="zh-CN" altLang="en-US" sz="2400"/>
              <a:t>并行计算</a:t>
            </a:r>
            <a:endParaRPr lang="zh-CN" altLang="en-US" sz="2400"/>
          </a:p>
          <a:p>
            <a:pPr algn="ctr"/>
            <a:r>
              <a:rPr lang="en-US" altLang="zh-CN" sz="2400"/>
              <a:t>MapReduce--</a:t>
            </a:r>
            <a:endParaRPr lang="en-US" altLang="zh-CN" sz="2400"/>
          </a:p>
          <a:p>
            <a:pPr algn="ctr"/>
            <a:r>
              <a:rPr lang="en-US" altLang="zh-CN" sz="2400"/>
              <a:t>Hadoop</a:t>
            </a:r>
            <a:endParaRPr lang="en-US" altLang="zh-CN" sz="2400"/>
          </a:p>
        </p:txBody>
      </p:sp>
      <p:sp>
        <p:nvSpPr>
          <p:cNvPr id="5" name="圆角矩形标注 4"/>
          <p:cNvSpPr/>
          <p:nvPr/>
        </p:nvSpPr>
        <p:spPr>
          <a:xfrm>
            <a:off x="8540546" y="1356852"/>
            <a:ext cx="3296896" cy="1716601"/>
          </a:xfrm>
          <a:prstGeom prst="wedgeRoundRectCallout">
            <a:avLst>
              <a:gd name="adj1" fmla="val -64349"/>
              <a:gd name="adj2" fmla="val 3728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分布式文件系统：</a:t>
            </a:r>
            <a:endParaRPr lang="zh-CN" altLang="en-US" sz="2400" dirty="0"/>
          </a:p>
          <a:p>
            <a:pPr algn="ctr"/>
            <a:r>
              <a:rPr lang="en-US" altLang="zh-CN" sz="2400" dirty="0"/>
              <a:t>GFS--HDFS</a:t>
            </a:r>
            <a:endParaRPr lang="en-US" altLang="zh-CN" sz="2400" dirty="0"/>
          </a:p>
          <a:p>
            <a:pPr algn="ctr"/>
            <a:r>
              <a:rPr lang="zh-CN" altLang="en-US" sz="2400" dirty="0"/>
              <a:t>分布式数据管理系统：</a:t>
            </a:r>
            <a:endParaRPr lang="zh-CN" altLang="en-US" sz="2400" dirty="0"/>
          </a:p>
          <a:p>
            <a:pPr algn="ctr"/>
            <a:r>
              <a:rPr lang="en-US" altLang="zh-CN" sz="2400" dirty="0" err="1"/>
              <a:t>BigTable</a:t>
            </a:r>
            <a:r>
              <a:rPr lang="en-US" altLang="zh-CN" sz="2400" dirty="0"/>
              <a:t>--HBase</a:t>
            </a:r>
            <a:endParaRPr lang="en-US" altLang="zh-CN" sz="2400" dirty="0"/>
          </a:p>
        </p:txBody>
      </p:sp>
      <p:sp>
        <p:nvSpPr>
          <p:cNvPr id="6" name="圆角矩形标注 5"/>
          <p:cNvSpPr/>
          <p:nvPr/>
        </p:nvSpPr>
        <p:spPr>
          <a:xfrm>
            <a:off x="8863516" y="4375355"/>
            <a:ext cx="2650955" cy="1569371"/>
          </a:xfrm>
          <a:prstGeom prst="wedgeRoundRectCallout">
            <a:avLst>
              <a:gd name="adj1" fmla="val -79114"/>
              <a:gd name="adj2" fmla="val 1659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数据隔离；</a:t>
            </a:r>
            <a:endParaRPr lang="zh-CN" altLang="en-US" sz="2400"/>
          </a:p>
          <a:p>
            <a:pPr algn="ctr"/>
            <a:r>
              <a:rPr lang="zh-CN" altLang="en-US" sz="2400"/>
              <a:t>客户化配置；</a:t>
            </a:r>
            <a:endParaRPr lang="zh-CN" altLang="en-US" sz="2400"/>
          </a:p>
          <a:p>
            <a:pPr algn="ctr"/>
            <a:r>
              <a:rPr lang="zh-CN" altLang="en-US" sz="2400"/>
              <a:t>架构扩展；</a:t>
            </a:r>
            <a:endParaRPr lang="zh-CN" altLang="en-US" sz="2400"/>
          </a:p>
          <a:p>
            <a:pPr algn="ctr"/>
            <a:r>
              <a:rPr lang="zh-CN" altLang="en-US" sz="2400"/>
              <a:t>性能定制</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bldLvl="0" animBg="1"/>
      <p:bldP spid="4" grpId="1" animBg="1"/>
      <p:bldP spid="5" grpId="0" animBg="1"/>
      <p:bldP spid="5" grpId="1" animBg="1"/>
      <p:bldP spid="6" grpId="0" animBg="1"/>
      <p:bldP spid="6"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3" name="Picture 6" descr="c:\users\lenovo\appdata\roaming\360se6\User Data\temp\1712963_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159" y="3693074"/>
            <a:ext cx="4274369"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云计算 数据中心</a:t>
            </a:r>
            <a:endParaRPr lang="zh-CN" altLang="en-US" sz="4400" b="1" dirty="0">
              <a:solidFill>
                <a:srgbClr val="000000"/>
              </a:solidFill>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8050606" y="4308562"/>
            <a:ext cx="1394581" cy="2430991"/>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3997" y="4569192"/>
            <a:ext cx="2409202" cy="2095682"/>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3528" y="4333433"/>
            <a:ext cx="3576638" cy="238125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2992467" y="1594181"/>
            <a:ext cx="6430296" cy="523220"/>
          </a:xfrm>
          <a:prstGeom prst="rect">
            <a:avLst/>
          </a:prstGeom>
          <a:noFill/>
        </p:spPr>
        <p:txBody>
          <a:bodyPr wrap="square">
            <a:spAutoFit/>
          </a:bodyPr>
          <a:lstStyle/>
          <a:p>
            <a:r>
              <a:rPr lang="zh-CN" altLang="en-US" sz="2800" dirty="0"/>
              <a:t>提供</a:t>
            </a:r>
            <a:r>
              <a:rPr lang="zh-CN" altLang="en-US" sz="2800" dirty="0">
                <a:highlight>
                  <a:srgbClr val="FFFF00"/>
                </a:highlight>
              </a:rPr>
              <a:t>存储、计算、带宽</a:t>
            </a:r>
            <a:r>
              <a:rPr lang="zh-CN" altLang="en-US" sz="2800" dirty="0"/>
              <a:t>等各种硬件资源</a:t>
            </a:r>
            <a:endParaRPr lang="zh-CN" altLang="en-US" sz="2800" dirty="0"/>
          </a:p>
        </p:txBody>
      </p:sp>
      <p:sp>
        <p:nvSpPr>
          <p:cNvPr id="12" name="文本框 11"/>
          <p:cNvSpPr txBox="1"/>
          <p:nvPr/>
        </p:nvSpPr>
        <p:spPr>
          <a:xfrm>
            <a:off x="4784628" y="3617623"/>
            <a:ext cx="2030772" cy="578882"/>
          </a:xfrm>
          <a:prstGeom prst="wedgeRoundRectCallout">
            <a:avLst>
              <a:gd name="adj1" fmla="val -51722"/>
              <a:gd name="adj2" fmla="val -246682"/>
              <a:gd name="adj3" fmla="val 16667"/>
            </a:avLst>
          </a:prstGeom>
          <a:noFill/>
          <a:ln>
            <a:solidFill>
              <a:schemeClr val="accent1"/>
            </a:solidFill>
          </a:ln>
        </p:spPr>
        <p:txBody>
          <a:bodyPr wrap="square">
            <a:spAutoFit/>
          </a:bodyPr>
          <a:lstStyle/>
          <a:p>
            <a:r>
              <a:rPr lang="zh-CN" altLang="en-US" sz="2800" dirty="0"/>
              <a:t>刀片服务器</a:t>
            </a:r>
            <a:endParaRPr lang="zh-CN" altLang="en-US" sz="2800" dirty="0"/>
          </a:p>
        </p:txBody>
      </p:sp>
      <p:sp>
        <p:nvSpPr>
          <p:cNvPr id="13" name="文本框 12"/>
          <p:cNvSpPr txBox="1"/>
          <p:nvPr/>
        </p:nvSpPr>
        <p:spPr>
          <a:xfrm>
            <a:off x="6207615" y="2339708"/>
            <a:ext cx="1713071" cy="1055608"/>
          </a:xfrm>
          <a:prstGeom prst="wedgeRoundRectCallout">
            <a:avLst>
              <a:gd name="adj1" fmla="val -43254"/>
              <a:gd name="adj2" fmla="val -78135"/>
              <a:gd name="adj3" fmla="val 16667"/>
            </a:avLst>
          </a:prstGeom>
          <a:noFill/>
          <a:ln>
            <a:solidFill>
              <a:schemeClr val="accent1"/>
            </a:solidFill>
          </a:ln>
        </p:spPr>
        <p:txBody>
          <a:bodyPr wrap="square">
            <a:spAutoFit/>
          </a:bodyPr>
          <a:lstStyle/>
          <a:p>
            <a:r>
              <a:rPr lang="zh-CN" altLang="en-US" sz="2800" dirty="0"/>
              <a:t>宽带网络连接设备</a:t>
            </a:r>
            <a:endParaRPr lang="zh-CN" altLang="en-US" sz="2800" dirty="0"/>
          </a:p>
        </p:txBody>
      </p:sp>
      <p:sp>
        <p:nvSpPr>
          <p:cNvPr id="15" name="文本框 14"/>
          <p:cNvSpPr txBox="1"/>
          <p:nvPr/>
        </p:nvSpPr>
        <p:spPr>
          <a:xfrm>
            <a:off x="9583639" y="1303880"/>
            <a:ext cx="2409202" cy="1200329"/>
          </a:xfrm>
          <a:prstGeom prst="rect">
            <a:avLst/>
          </a:prstGeom>
          <a:noFill/>
        </p:spPr>
        <p:txBody>
          <a:bodyPr wrap="square">
            <a:spAutoFit/>
          </a:bodyPr>
          <a:lstStyle/>
          <a:p>
            <a:r>
              <a:rPr lang="zh-CN" altLang="en-US" sz="2400" dirty="0"/>
              <a:t>环境控制设备</a:t>
            </a:r>
            <a:endParaRPr lang="en-US" altLang="zh-CN" sz="2400" dirty="0"/>
          </a:p>
          <a:p>
            <a:r>
              <a:rPr lang="zh-CN" altLang="en-US" sz="2400" dirty="0"/>
              <a:t>监控设备</a:t>
            </a:r>
            <a:endParaRPr lang="en-US" altLang="zh-CN" sz="2400" dirty="0"/>
          </a:p>
          <a:p>
            <a:r>
              <a:rPr lang="zh-CN" altLang="en-US" sz="2400" dirty="0"/>
              <a:t>各种安全装置</a:t>
            </a:r>
            <a:endParaRPr lang="zh-CN" altLang="en-US" sz="2400" dirty="0"/>
          </a:p>
        </p:txBody>
      </p:sp>
      <p:sp>
        <p:nvSpPr>
          <p:cNvPr id="16" name="左大括号 15"/>
          <p:cNvSpPr/>
          <p:nvPr/>
        </p:nvSpPr>
        <p:spPr>
          <a:xfrm>
            <a:off x="9170036" y="1419634"/>
            <a:ext cx="353961" cy="96882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左大括号 16"/>
          <p:cNvSpPr/>
          <p:nvPr/>
        </p:nvSpPr>
        <p:spPr>
          <a:xfrm rot="16200000" flipV="1">
            <a:off x="4557251" y="1441766"/>
            <a:ext cx="353961" cy="1622323"/>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圆角 17"/>
          <p:cNvSpPr/>
          <p:nvPr/>
        </p:nvSpPr>
        <p:spPr>
          <a:xfrm>
            <a:off x="7789251" y="3107370"/>
            <a:ext cx="1917290" cy="836453"/>
          </a:xfrm>
          <a:prstGeom prst="roundRect">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3200" b="1" dirty="0">
                <a:solidFill>
                  <a:srgbClr val="FFFF00"/>
                </a:solidFill>
              </a:rPr>
              <a:t>东数西算</a:t>
            </a:r>
            <a:endParaRPr lang="zh-CN" altLang="en-US" sz="3200" b="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wipe(up)">
                                      <p:cBhvr>
                                        <p:cTn id="15" dur="500"/>
                                        <p:tgtEl>
                                          <p:spTgt spid="102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randombar(horizont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up)">
                                      <p:cBhvr>
                                        <p:cTn id="30" dur="500"/>
                                        <p:tgtEl>
                                          <p:spTgt spid="13"/>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barn(inVertical)">
                                      <p:cBhvr>
                                        <p:cTn id="4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16" grpId="0" animBg="1"/>
      <p:bldP spid="17" grpId="0" animBg="1"/>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云计算 应用</a:t>
            </a:r>
            <a:endParaRPr lang="zh-CN" altLang="en-US" sz="4400" b="1" dirty="0">
              <a:solidFill>
                <a:srgbClr val="000000"/>
              </a:solidFill>
              <a:latin typeface="宋体" panose="02010600030101010101" pitchFamily="2" charset="-122"/>
              <a:ea typeface="宋体" panose="02010600030101010101" pitchFamily="2"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6113" y="1270845"/>
            <a:ext cx="6282352" cy="4020294"/>
          </a:xfrm>
          <a:prstGeom prst="rect">
            <a:avLst/>
          </a:prstGeom>
          <a:noFill/>
          <a:extLst>
            <a:ext uri="{909E8E84-426E-40DD-AFC4-6F175D3DCCD1}">
              <a14:hiddenFill xmlns:a14="http://schemas.microsoft.com/office/drawing/2010/main">
                <a:solidFill>
                  <a:srgbClr val="FFFFFF"/>
                </a:solidFill>
              </a14:hiddenFill>
            </a:ext>
          </a:extLst>
        </p:spPr>
      </p:pic>
      <p:sp>
        <p:nvSpPr>
          <p:cNvPr id="2" name="对话气泡: 圆角矩形 1"/>
          <p:cNvSpPr/>
          <p:nvPr/>
        </p:nvSpPr>
        <p:spPr>
          <a:xfrm>
            <a:off x="8905568" y="765176"/>
            <a:ext cx="2448232" cy="1395720"/>
          </a:xfrm>
          <a:prstGeom prst="wedgeRoundRectCallout">
            <a:avLst>
              <a:gd name="adj1" fmla="val -87098"/>
              <a:gd name="adj2" fmla="val 33052"/>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800"/>
              <a:t>部署公共安全管理、容灾备份、城市管理、应急管理、智能交通、社会保障等应用</a:t>
            </a:r>
            <a:endParaRPr lang="zh-CN" altLang="en-US"/>
          </a:p>
        </p:txBody>
      </p:sp>
      <p:sp>
        <p:nvSpPr>
          <p:cNvPr id="4" name="对话气泡: 圆角矩形 3"/>
          <p:cNvSpPr/>
          <p:nvPr/>
        </p:nvSpPr>
        <p:spPr>
          <a:xfrm>
            <a:off x="9743768" y="2943021"/>
            <a:ext cx="2448232" cy="1395720"/>
          </a:xfrm>
          <a:prstGeom prst="wedgeRoundRectCallout">
            <a:avLst>
              <a:gd name="adj1" fmla="val -79467"/>
              <a:gd name="adj2" fmla="val -72617"/>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nSpc>
                <a:spcPct val="80000"/>
              </a:lnSpc>
            </a:pPr>
            <a:r>
              <a:rPr lang="zh-CN" altLang="en-US" sz="1800" dirty="0"/>
              <a:t>有效整合优质教育资源，逐步实现教育信息共享、教育资源共享及教育资源深度挖掘等目标</a:t>
            </a:r>
            <a:endParaRPr lang="zh-CN" altLang="en-US" sz="1800" dirty="0"/>
          </a:p>
        </p:txBody>
      </p:sp>
      <p:sp>
        <p:nvSpPr>
          <p:cNvPr id="7" name="对话气泡: 圆角矩形 6"/>
          <p:cNvSpPr/>
          <p:nvPr/>
        </p:nvSpPr>
        <p:spPr>
          <a:xfrm>
            <a:off x="275303" y="4181885"/>
            <a:ext cx="3480620" cy="1540489"/>
          </a:xfrm>
          <a:prstGeom prst="wedgeRoundRectCallout">
            <a:avLst>
              <a:gd name="adj1" fmla="val 44766"/>
              <a:gd name="adj2" fmla="val -8787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800" dirty="0"/>
              <a:t>推动医院与医院、医院与社区、医院与急救中心、医院与家庭之间的服务共享，并形成一套全新的医疗健康服务系统</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3414" y="1524000"/>
            <a:ext cx="10800386"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云计算 </a:t>
            </a:r>
            <a:r>
              <a:rPr lang="zh-CN" altLang="en-US" b="1" dirty="0"/>
              <a:t>产业</a:t>
            </a:r>
            <a:endParaRPr lang="zh-CN" altLang="en-US" sz="44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.2</a:t>
            </a:r>
            <a:r>
              <a:rPr lang="zh-CN" altLang="en-US" sz="4400" b="1" dirty="0">
                <a:solidFill>
                  <a:srgbClr val="000000"/>
                </a:solidFill>
                <a:latin typeface="宋体" panose="02010600030101010101" pitchFamily="2" charset="-122"/>
                <a:ea typeface="宋体" panose="02010600030101010101" pitchFamily="2" charset="-122"/>
              </a:rPr>
              <a:t>物</a:t>
            </a:r>
            <a:r>
              <a:rPr lang="zh-CN" altLang="en-US" b="1" dirty="0">
                <a:solidFill>
                  <a:srgbClr val="000000"/>
                </a:solidFill>
                <a:latin typeface="宋体" panose="02010600030101010101" pitchFamily="2" charset="-122"/>
                <a:ea typeface="宋体" panose="02010600030101010101" pitchFamily="2" charset="-122"/>
              </a:rPr>
              <a:t>联网 概念</a:t>
            </a:r>
            <a:endParaRPr lang="zh-CN" altLang="en-US" b="1" dirty="0">
              <a:solidFill>
                <a:srgbClr val="000000"/>
              </a:solidFill>
              <a:latin typeface="宋体" panose="02010600030101010101" pitchFamily="2" charset="-122"/>
              <a:ea typeface="宋体" panose="02010600030101010101" pitchFamily="2" charset="-122"/>
            </a:endParaRPr>
          </a:p>
        </p:txBody>
      </p:sp>
      <p:sp>
        <p:nvSpPr>
          <p:cNvPr id="7" name="文本框 6"/>
          <p:cNvSpPr txBox="1"/>
          <p:nvPr/>
        </p:nvSpPr>
        <p:spPr>
          <a:xfrm>
            <a:off x="1684172" y="6231265"/>
            <a:ext cx="8101781" cy="523220"/>
          </a:xfrm>
          <a:prstGeom prst="rect">
            <a:avLst/>
          </a:prstGeom>
          <a:noFill/>
        </p:spPr>
        <p:txBody>
          <a:bodyPr wrap="square">
            <a:spAutoFit/>
          </a:bodyPr>
          <a:lstStyle/>
          <a:p>
            <a:r>
              <a:rPr lang="zh-CN" altLang="en-US" sz="2800" dirty="0"/>
              <a:t>人与物、物与物相联，实现信息化和远程管理控制</a:t>
            </a:r>
            <a:endParaRPr lang="zh-CN" altLang="en-US" sz="2800"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1461287"/>
            <a:ext cx="7542571" cy="47699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.2</a:t>
            </a:r>
            <a:r>
              <a:rPr lang="zh-CN" altLang="en-US" sz="4400" b="1" dirty="0">
                <a:solidFill>
                  <a:srgbClr val="000000"/>
                </a:solidFill>
                <a:latin typeface="宋体" panose="02010600030101010101" pitchFamily="2" charset="-122"/>
                <a:ea typeface="宋体" panose="02010600030101010101" pitchFamily="2" charset="-122"/>
              </a:rPr>
              <a:t>物联网 技术架构</a:t>
            </a:r>
            <a:endParaRPr lang="zh-CN" altLang="en-US" sz="4400" b="1" dirty="0">
              <a:solidFill>
                <a:srgbClr val="000000"/>
              </a:solidFill>
              <a:latin typeface="宋体" panose="02010600030101010101" pitchFamily="2" charset="-122"/>
              <a:ea typeface="宋体" panose="02010600030101010101" pitchFamily="2" charset="-122"/>
            </a:endParaRPr>
          </a:p>
        </p:txBody>
      </p:sp>
      <p:pic>
        <p:nvPicPr>
          <p:cNvPr id="10" name="图片 9"/>
          <p:cNvPicPr>
            <a:picLocks noChangeAspect="1"/>
          </p:cNvPicPr>
          <p:nvPr/>
        </p:nvPicPr>
        <p:blipFill>
          <a:blip r:embed="rId2"/>
          <a:stretch>
            <a:fillRect/>
          </a:stretch>
        </p:blipFill>
        <p:spPr>
          <a:xfrm>
            <a:off x="2197202" y="1823910"/>
            <a:ext cx="8210550" cy="3905250"/>
          </a:xfrm>
          <a:prstGeom prst="rect">
            <a:avLst/>
          </a:prstGeom>
        </p:spPr>
      </p:pic>
      <p:sp>
        <p:nvSpPr>
          <p:cNvPr id="11" name="矩形: 圆角 10"/>
          <p:cNvSpPr/>
          <p:nvPr/>
        </p:nvSpPr>
        <p:spPr>
          <a:xfrm>
            <a:off x="5633884" y="6096000"/>
            <a:ext cx="1553497" cy="5801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感知层</a:t>
            </a:r>
            <a:endParaRPr lang="zh-CN" altLang="en-US" sz="2800" dirty="0"/>
          </a:p>
        </p:txBody>
      </p:sp>
      <p:cxnSp>
        <p:nvCxnSpPr>
          <p:cNvPr id="15" name="直接箭头连接符 14"/>
          <p:cNvCxnSpPr>
            <a:stCxn id="11" idx="1"/>
          </p:cNvCxnSpPr>
          <p:nvPr/>
        </p:nvCxnSpPr>
        <p:spPr>
          <a:xfrm flipH="1" flipV="1">
            <a:off x="3873910" y="5122606"/>
            <a:ext cx="1759974" cy="12634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1" idx="0"/>
          </p:cNvCxnSpPr>
          <p:nvPr/>
        </p:nvCxnSpPr>
        <p:spPr>
          <a:xfrm flipV="1">
            <a:off x="6410633" y="5046918"/>
            <a:ext cx="1548580" cy="10490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1" idx="3"/>
          </p:cNvCxnSpPr>
          <p:nvPr/>
        </p:nvCxnSpPr>
        <p:spPr>
          <a:xfrm flipV="1">
            <a:off x="7187381" y="4031226"/>
            <a:ext cx="2281084" cy="23548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1" idx="0"/>
          </p:cNvCxnSpPr>
          <p:nvPr/>
        </p:nvCxnSpPr>
        <p:spPr>
          <a:xfrm flipH="1" flipV="1">
            <a:off x="6248094" y="5347430"/>
            <a:ext cx="162539" cy="7485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矩形: 圆角 23"/>
          <p:cNvSpPr/>
          <p:nvPr/>
        </p:nvSpPr>
        <p:spPr>
          <a:xfrm>
            <a:off x="339213" y="3414252"/>
            <a:ext cx="1553497" cy="5801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网络层</a:t>
            </a:r>
            <a:endParaRPr lang="zh-CN" altLang="en-US" sz="2800" dirty="0"/>
          </a:p>
        </p:txBody>
      </p:sp>
      <p:sp>
        <p:nvSpPr>
          <p:cNvPr id="27" name="任意多边形: 形状 26"/>
          <p:cNvSpPr/>
          <p:nvPr/>
        </p:nvSpPr>
        <p:spPr>
          <a:xfrm>
            <a:off x="1892710" y="2995735"/>
            <a:ext cx="8377083" cy="1179871"/>
          </a:xfrm>
          <a:custGeom>
            <a:avLst/>
            <a:gdLst>
              <a:gd name="connsiteX0" fmla="*/ 29496 w 8377083"/>
              <a:gd name="connsiteY0" fmla="*/ 845574 h 1179871"/>
              <a:gd name="connsiteX1" fmla="*/ 157316 w 8377083"/>
              <a:gd name="connsiteY1" fmla="*/ 884903 h 1179871"/>
              <a:gd name="connsiteX2" fmla="*/ 255638 w 8377083"/>
              <a:gd name="connsiteY2" fmla="*/ 894735 h 1179871"/>
              <a:gd name="connsiteX3" fmla="*/ 304800 w 8377083"/>
              <a:gd name="connsiteY3" fmla="*/ 904568 h 1179871"/>
              <a:gd name="connsiteX4" fmla="*/ 363793 w 8377083"/>
              <a:gd name="connsiteY4" fmla="*/ 914400 h 1179871"/>
              <a:gd name="connsiteX5" fmla="*/ 462116 w 8377083"/>
              <a:gd name="connsiteY5" fmla="*/ 924232 h 1179871"/>
              <a:gd name="connsiteX6" fmla="*/ 550606 w 8377083"/>
              <a:gd name="connsiteY6" fmla="*/ 963561 h 1179871"/>
              <a:gd name="connsiteX7" fmla="*/ 658761 w 8377083"/>
              <a:gd name="connsiteY7" fmla="*/ 973393 h 1179871"/>
              <a:gd name="connsiteX8" fmla="*/ 766916 w 8377083"/>
              <a:gd name="connsiteY8" fmla="*/ 993058 h 1179871"/>
              <a:gd name="connsiteX9" fmla="*/ 845574 w 8377083"/>
              <a:gd name="connsiteY9" fmla="*/ 1022555 h 1179871"/>
              <a:gd name="connsiteX10" fmla="*/ 1032387 w 8377083"/>
              <a:gd name="connsiteY10" fmla="*/ 1042219 h 1179871"/>
              <a:gd name="connsiteX11" fmla="*/ 1071716 w 8377083"/>
              <a:gd name="connsiteY11" fmla="*/ 1061884 h 1179871"/>
              <a:gd name="connsiteX12" fmla="*/ 1317522 w 8377083"/>
              <a:gd name="connsiteY12" fmla="*/ 1081548 h 1179871"/>
              <a:gd name="connsiteX13" fmla="*/ 1691148 w 8377083"/>
              <a:gd name="connsiteY13" fmla="*/ 1111045 h 1179871"/>
              <a:gd name="connsiteX14" fmla="*/ 2290916 w 8377083"/>
              <a:gd name="connsiteY14" fmla="*/ 1120877 h 1179871"/>
              <a:gd name="connsiteX15" fmla="*/ 2448232 w 8377083"/>
              <a:gd name="connsiteY15" fmla="*/ 1150374 h 1179871"/>
              <a:gd name="connsiteX16" fmla="*/ 2674374 w 8377083"/>
              <a:gd name="connsiteY16" fmla="*/ 1179871 h 1179871"/>
              <a:gd name="connsiteX17" fmla="*/ 3569109 w 8377083"/>
              <a:gd name="connsiteY17" fmla="*/ 1170039 h 1179871"/>
              <a:gd name="connsiteX18" fmla="*/ 3746090 w 8377083"/>
              <a:gd name="connsiteY18" fmla="*/ 1120877 h 1179871"/>
              <a:gd name="connsiteX19" fmla="*/ 3883741 w 8377083"/>
              <a:gd name="connsiteY19" fmla="*/ 1081548 h 1179871"/>
              <a:gd name="connsiteX20" fmla="*/ 3913238 w 8377083"/>
              <a:gd name="connsiteY20" fmla="*/ 1061884 h 1179871"/>
              <a:gd name="connsiteX21" fmla="*/ 4041058 w 8377083"/>
              <a:gd name="connsiteY21" fmla="*/ 1052051 h 1179871"/>
              <a:gd name="connsiteX22" fmla="*/ 4365522 w 8377083"/>
              <a:gd name="connsiteY22" fmla="*/ 1042219 h 1179871"/>
              <a:gd name="connsiteX23" fmla="*/ 4503174 w 8377083"/>
              <a:gd name="connsiteY23" fmla="*/ 1012722 h 1179871"/>
              <a:gd name="connsiteX24" fmla="*/ 4581832 w 8377083"/>
              <a:gd name="connsiteY24" fmla="*/ 1002890 h 1179871"/>
              <a:gd name="connsiteX25" fmla="*/ 4709651 w 8377083"/>
              <a:gd name="connsiteY25" fmla="*/ 973393 h 1179871"/>
              <a:gd name="connsiteX26" fmla="*/ 4827638 w 8377083"/>
              <a:gd name="connsiteY26" fmla="*/ 924232 h 1179871"/>
              <a:gd name="connsiteX27" fmla="*/ 4984954 w 8377083"/>
              <a:gd name="connsiteY27" fmla="*/ 865239 h 1179871"/>
              <a:gd name="connsiteX28" fmla="*/ 6086167 w 8377083"/>
              <a:gd name="connsiteY28" fmla="*/ 855406 h 1179871"/>
              <a:gd name="connsiteX29" fmla="*/ 6282812 w 8377083"/>
              <a:gd name="connsiteY29" fmla="*/ 845574 h 1179871"/>
              <a:gd name="connsiteX30" fmla="*/ 6322141 w 8377083"/>
              <a:gd name="connsiteY30" fmla="*/ 835742 h 1179871"/>
              <a:gd name="connsiteX31" fmla="*/ 6410632 w 8377083"/>
              <a:gd name="connsiteY31" fmla="*/ 825910 h 1179871"/>
              <a:gd name="connsiteX32" fmla="*/ 6617109 w 8377083"/>
              <a:gd name="connsiteY32" fmla="*/ 806245 h 1179871"/>
              <a:gd name="connsiteX33" fmla="*/ 6705600 w 8377083"/>
              <a:gd name="connsiteY33" fmla="*/ 776748 h 1179871"/>
              <a:gd name="connsiteX34" fmla="*/ 6951406 w 8377083"/>
              <a:gd name="connsiteY34" fmla="*/ 678426 h 1179871"/>
              <a:gd name="connsiteX35" fmla="*/ 7098890 w 8377083"/>
              <a:gd name="connsiteY35" fmla="*/ 648929 h 1179871"/>
              <a:gd name="connsiteX36" fmla="*/ 7256206 w 8377083"/>
              <a:gd name="connsiteY36" fmla="*/ 589935 h 1179871"/>
              <a:gd name="connsiteX37" fmla="*/ 7285703 w 8377083"/>
              <a:gd name="connsiteY37" fmla="*/ 580103 h 1179871"/>
              <a:gd name="connsiteX38" fmla="*/ 7334864 w 8377083"/>
              <a:gd name="connsiteY38" fmla="*/ 570271 h 1179871"/>
              <a:gd name="connsiteX39" fmla="*/ 7462683 w 8377083"/>
              <a:gd name="connsiteY39" fmla="*/ 511277 h 1179871"/>
              <a:gd name="connsiteX40" fmla="*/ 7511845 w 8377083"/>
              <a:gd name="connsiteY40" fmla="*/ 501445 h 1179871"/>
              <a:gd name="connsiteX41" fmla="*/ 7629832 w 8377083"/>
              <a:gd name="connsiteY41" fmla="*/ 452284 h 1179871"/>
              <a:gd name="connsiteX42" fmla="*/ 7777316 w 8377083"/>
              <a:gd name="connsiteY42" fmla="*/ 393290 h 1179871"/>
              <a:gd name="connsiteX43" fmla="*/ 7924800 w 8377083"/>
              <a:gd name="connsiteY43" fmla="*/ 373626 h 1179871"/>
              <a:gd name="connsiteX44" fmla="*/ 8190271 w 8377083"/>
              <a:gd name="connsiteY44" fmla="*/ 344129 h 1179871"/>
              <a:gd name="connsiteX45" fmla="*/ 8347587 w 8377083"/>
              <a:gd name="connsiteY45" fmla="*/ 255639 h 1179871"/>
              <a:gd name="connsiteX46" fmla="*/ 8377083 w 8377083"/>
              <a:gd name="connsiteY46" fmla="*/ 216310 h 1179871"/>
              <a:gd name="connsiteX47" fmla="*/ 8278761 w 8377083"/>
              <a:gd name="connsiteY47" fmla="*/ 68826 h 1179871"/>
              <a:gd name="connsiteX48" fmla="*/ 8111612 w 8377083"/>
              <a:gd name="connsiteY48" fmla="*/ 19664 h 1179871"/>
              <a:gd name="connsiteX49" fmla="*/ 8023122 w 8377083"/>
              <a:gd name="connsiteY49" fmla="*/ 9832 h 1179871"/>
              <a:gd name="connsiteX50" fmla="*/ 7964129 w 8377083"/>
              <a:gd name="connsiteY50" fmla="*/ 0 h 1179871"/>
              <a:gd name="connsiteX51" fmla="*/ 7846141 w 8377083"/>
              <a:gd name="connsiteY51" fmla="*/ 29497 h 1179871"/>
              <a:gd name="connsiteX52" fmla="*/ 7787148 w 8377083"/>
              <a:gd name="connsiteY52" fmla="*/ 39329 h 1179871"/>
              <a:gd name="connsiteX53" fmla="*/ 7698658 w 8377083"/>
              <a:gd name="connsiteY53" fmla="*/ 68826 h 1179871"/>
              <a:gd name="connsiteX54" fmla="*/ 7639664 w 8377083"/>
              <a:gd name="connsiteY54" fmla="*/ 98322 h 1179871"/>
              <a:gd name="connsiteX55" fmla="*/ 7492180 w 8377083"/>
              <a:gd name="connsiteY55" fmla="*/ 117987 h 1179871"/>
              <a:gd name="connsiteX56" fmla="*/ 6931741 w 8377083"/>
              <a:gd name="connsiteY56" fmla="*/ 186813 h 1179871"/>
              <a:gd name="connsiteX57" fmla="*/ 6656438 w 8377083"/>
              <a:gd name="connsiteY57" fmla="*/ 245806 h 1179871"/>
              <a:gd name="connsiteX58" fmla="*/ 6499122 w 8377083"/>
              <a:gd name="connsiteY58" fmla="*/ 255639 h 1179871"/>
              <a:gd name="connsiteX59" fmla="*/ 6125496 w 8377083"/>
              <a:gd name="connsiteY59" fmla="*/ 294968 h 1179871"/>
              <a:gd name="connsiteX60" fmla="*/ 6056671 w 8377083"/>
              <a:gd name="connsiteY60" fmla="*/ 304800 h 1179871"/>
              <a:gd name="connsiteX61" fmla="*/ 5987845 w 8377083"/>
              <a:gd name="connsiteY61" fmla="*/ 324464 h 1179871"/>
              <a:gd name="connsiteX62" fmla="*/ 5663380 w 8377083"/>
              <a:gd name="connsiteY62" fmla="*/ 334297 h 1179871"/>
              <a:gd name="connsiteX63" fmla="*/ 4935793 w 8377083"/>
              <a:gd name="connsiteY63" fmla="*/ 363793 h 1179871"/>
              <a:gd name="connsiteX64" fmla="*/ 4395019 w 8377083"/>
              <a:gd name="connsiteY64" fmla="*/ 353961 h 1179871"/>
              <a:gd name="connsiteX65" fmla="*/ 4326193 w 8377083"/>
              <a:gd name="connsiteY65" fmla="*/ 324464 h 1179871"/>
              <a:gd name="connsiteX66" fmla="*/ 4286864 w 8377083"/>
              <a:gd name="connsiteY66" fmla="*/ 314632 h 1179871"/>
              <a:gd name="connsiteX67" fmla="*/ 4227871 w 8377083"/>
              <a:gd name="connsiteY67" fmla="*/ 294968 h 1179871"/>
              <a:gd name="connsiteX68" fmla="*/ 4021393 w 8377083"/>
              <a:gd name="connsiteY68" fmla="*/ 304800 h 1179871"/>
              <a:gd name="connsiteX69" fmla="*/ 3972232 w 8377083"/>
              <a:gd name="connsiteY69" fmla="*/ 324464 h 1179871"/>
              <a:gd name="connsiteX70" fmla="*/ 3913238 w 8377083"/>
              <a:gd name="connsiteY70" fmla="*/ 344129 h 1179871"/>
              <a:gd name="connsiteX71" fmla="*/ 3834580 w 8377083"/>
              <a:gd name="connsiteY71" fmla="*/ 383458 h 1179871"/>
              <a:gd name="connsiteX72" fmla="*/ 3608438 w 8377083"/>
              <a:gd name="connsiteY72" fmla="*/ 422787 h 1179871"/>
              <a:gd name="connsiteX73" fmla="*/ 3382296 w 8377083"/>
              <a:gd name="connsiteY73" fmla="*/ 501445 h 1179871"/>
              <a:gd name="connsiteX74" fmla="*/ 3283974 w 8377083"/>
              <a:gd name="connsiteY74" fmla="*/ 530942 h 1179871"/>
              <a:gd name="connsiteX75" fmla="*/ 2969341 w 8377083"/>
              <a:gd name="connsiteY75" fmla="*/ 580103 h 1179871"/>
              <a:gd name="connsiteX76" fmla="*/ 2871019 w 8377083"/>
              <a:gd name="connsiteY76" fmla="*/ 589935 h 1179871"/>
              <a:gd name="connsiteX77" fmla="*/ 2585883 w 8377083"/>
              <a:gd name="connsiteY77" fmla="*/ 629264 h 1179871"/>
              <a:gd name="connsiteX78" fmla="*/ 1582993 w 8377083"/>
              <a:gd name="connsiteY78" fmla="*/ 609600 h 1179871"/>
              <a:gd name="connsiteX79" fmla="*/ 1474838 w 8377083"/>
              <a:gd name="connsiteY79" fmla="*/ 580103 h 1179871"/>
              <a:gd name="connsiteX80" fmla="*/ 1347019 w 8377083"/>
              <a:gd name="connsiteY80" fmla="*/ 560439 h 1179871"/>
              <a:gd name="connsiteX81" fmla="*/ 934064 w 8377083"/>
              <a:gd name="connsiteY81" fmla="*/ 521110 h 1179871"/>
              <a:gd name="connsiteX82" fmla="*/ 481780 w 8377083"/>
              <a:gd name="connsiteY82" fmla="*/ 511277 h 1179871"/>
              <a:gd name="connsiteX83" fmla="*/ 255638 w 8377083"/>
              <a:gd name="connsiteY83" fmla="*/ 530942 h 1179871"/>
              <a:gd name="connsiteX84" fmla="*/ 196645 w 8377083"/>
              <a:gd name="connsiteY84" fmla="*/ 560439 h 1179871"/>
              <a:gd name="connsiteX85" fmla="*/ 167148 w 8377083"/>
              <a:gd name="connsiteY85" fmla="*/ 580103 h 1179871"/>
              <a:gd name="connsiteX86" fmla="*/ 58993 w 8377083"/>
              <a:gd name="connsiteY86" fmla="*/ 678426 h 1179871"/>
              <a:gd name="connsiteX87" fmla="*/ 49161 w 8377083"/>
              <a:gd name="connsiteY87" fmla="*/ 707922 h 1179871"/>
              <a:gd name="connsiteX88" fmla="*/ 9832 w 8377083"/>
              <a:gd name="connsiteY88" fmla="*/ 766916 h 1179871"/>
              <a:gd name="connsiteX89" fmla="*/ 0 w 8377083"/>
              <a:gd name="connsiteY89" fmla="*/ 796413 h 117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8377083" h="1179871">
                <a:moveTo>
                  <a:pt x="29496" y="845574"/>
                </a:moveTo>
                <a:cubicBezTo>
                  <a:pt x="72103" y="858684"/>
                  <a:pt x="113755" y="875433"/>
                  <a:pt x="157316" y="884903"/>
                </a:cubicBezTo>
                <a:cubicBezTo>
                  <a:pt x="189502" y="891900"/>
                  <a:pt x="222989" y="890382"/>
                  <a:pt x="255638" y="894735"/>
                </a:cubicBezTo>
                <a:cubicBezTo>
                  <a:pt x="272203" y="896944"/>
                  <a:pt x="288358" y="901578"/>
                  <a:pt x="304800" y="904568"/>
                </a:cubicBezTo>
                <a:cubicBezTo>
                  <a:pt x="324414" y="908134"/>
                  <a:pt x="344011" y="911927"/>
                  <a:pt x="363793" y="914400"/>
                </a:cubicBezTo>
                <a:cubicBezTo>
                  <a:pt x="396476" y="918485"/>
                  <a:pt x="429342" y="920955"/>
                  <a:pt x="462116" y="924232"/>
                </a:cubicBezTo>
                <a:cubicBezTo>
                  <a:pt x="491613" y="937342"/>
                  <a:pt x="519291" y="955732"/>
                  <a:pt x="550606" y="963561"/>
                </a:cubicBezTo>
                <a:cubicBezTo>
                  <a:pt x="585725" y="972341"/>
                  <a:pt x="622893" y="968502"/>
                  <a:pt x="658761" y="973393"/>
                </a:cubicBezTo>
                <a:cubicBezTo>
                  <a:pt x="695068" y="978344"/>
                  <a:pt x="730864" y="986503"/>
                  <a:pt x="766916" y="993058"/>
                </a:cubicBezTo>
                <a:cubicBezTo>
                  <a:pt x="793135" y="1002890"/>
                  <a:pt x="818408" y="1015763"/>
                  <a:pt x="845574" y="1022555"/>
                </a:cubicBezTo>
                <a:cubicBezTo>
                  <a:pt x="870126" y="1028693"/>
                  <a:pt x="1021255" y="1041207"/>
                  <a:pt x="1032387" y="1042219"/>
                </a:cubicBezTo>
                <a:cubicBezTo>
                  <a:pt x="1045497" y="1048774"/>
                  <a:pt x="1057434" y="1058588"/>
                  <a:pt x="1071716" y="1061884"/>
                </a:cubicBezTo>
                <a:cubicBezTo>
                  <a:pt x="1112364" y="1071264"/>
                  <a:pt x="1307731" y="1080936"/>
                  <a:pt x="1317522" y="1081548"/>
                </a:cubicBezTo>
                <a:cubicBezTo>
                  <a:pt x="1481016" y="1128262"/>
                  <a:pt x="1375596" y="1104185"/>
                  <a:pt x="1691148" y="1111045"/>
                </a:cubicBezTo>
                <a:lnTo>
                  <a:pt x="2290916" y="1120877"/>
                </a:lnTo>
                <a:cubicBezTo>
                  <a:pt x="2337429" y="1130180"/>
                  <a:pt x="2398833" y="1143560"/>
                  <a:pt x="2448232" y="1150374"/>
                </a:cubicBezTo>
                <a:lnTo>
                  <a:pt x="2674374" y="1179871"/>
                </a:lnTo>
                <a:lnTo>
                  <a:pt x="3569109" y="1170039"/>
                </a:lnTo>
                <a:cubicBezTo>
                  <a:pt x="3794320" y="1165666"/>
                  <a:pt x="3604152" y="1177652"/>
                  <a:pt x="3746090" y="1120877"/>
                </a:cubicBezTo>
                <a:cubicBezTo>
                  <a:pt x="3790397" y="1103154"/>
                  <a:pt x="3883741" y="1081548"/>
                  <a:pt x="3883741" y="1081548"/>
                </a:cubicBezTo>
                <a:cubicBezTo>
                  <a:pt x="3893573" y="1074993"/>
                  <a:pt x="3901624" y="1064062"/>
                  <a:pt x="3913238" y="1061884"/>
                </a:cubicBezTo>
                <a:cubicBezTo>
                  <a:pt x="3955239" y="1054009"/>
                  <a:pt x="3998366" y="1053907"/>
                  <a:pt x="4041058" y="1052051"/>
                </a:cubicBezTo>
                <a:cubicBezTo>
                  <a:pt x="4149160" y="1047351"/>
                  <a:pt x="4257367" y="1045496"/>
                  <a:pt x="4365522" y="1042219"/>
                </a:cubicBezTo>
                <a:cubicBezTo>
                  <a:pt x="4411406" y="1032387"/>
                  <a:pt x="4457005" y="1021116"/>
                  <a:pt x="4503174" y="1012722"/>
                </a:cubicBezTo>
                <a:cubicBezTo>
                  <a:pt x="4529171" y="1007995"/>
                  <a:pt x="4555875" y="1007834"/>
                  <a:pt x="4581832" y="1002890"/>
                </a:cubicBezTo>
                <a:cubicBezTo>
                  <a:pt x="4624786" y="994708"/>
                  <a:pt x="4667045" y="983225"/>
                  <a:pt x="4709651" y="973393"/>
                </a:cubicBezTo>
                <a:cubicBezTo>
                  <a:pt x="4843652" y="906395"/>
                  <a:pt x="4694551" y="977467"/>
                  <a:pt x="4827638" y="924232"/>
                </a:cubicBezTo>
                <a:cubicBezTo>
                  <a:pt x="4857108" y="912444"/>
                  <a:pt x="4944835" y="866250"/>
                  <a:pt x="4984954" y="865239"/>
                </a:cubicBezTo>
                <a:cubicBezTo>
                  <a:pt x="5351923" y="855988"/>
                  <a:pt x="5719096" y="858684"/>
                  <a:pt x="6086167" y="855406"/>
                </a:cubicBezTo>
                <a:cubicBezTo>
                  <a:pt x="6151715" y="852129"/>
                  <a:pt x="6217408" y="851024"/>
                  <a:pt x="6282812" y="845574"/>
                </a:cubicBezTo>
                <a:cubicBezTo>
                  <a:pt x="6296278" y="844452"/>
                  <a:pt x="6308785" y="837797"/>
                  <a:pt x="6322141" y="835742"/>
                </a:cubicBezTo>
                <a:cubicBezTo>
                  <a:pt x="6351474" y="831229"/>
                  <a:pt x="6381101" y="828863"/>
                  <a:pt x="6410632" y="825910"/>
                </a:cubicBezTo>
                <a:lnTo>
                  <a:pt x="6617109" y="806245"/>
                </a:lnTo>
                <a:cubicBezTo>
                  <a:pt x="6646606" y="796413"/>
                  <a:pt x="6676731" y="788295"/>
                  <a:pt x="6705600" y="776748"/>
                </a:cubicBezTo>
                <a:cubicBezTo>
                  <a:pt x="6832022" y="726179"/>
                  <a:pt x="6808556" y="717833"/>
                  <a:pt x="6951406" y="678426"/>
                </a:cubicBezTo>
                <a:cubicBezTo>
                  <a:pt x="6999736" y="665094"/>
                  <a:pt x="7050743" y="662907"/>
                  <a:pt x="7098890" y="648929"/>
                </a:cubicBezTo>
                <a:cubicBezTo>
                  <a:pt x="7152674" y="633314"/>
                  <a:pt x="7203075" y="607645"/>
                  <a:pt x="7256206" y="589935"/>
                </a:cubicBezTo>
                <a:cubicBezTo>
                  <a:pt x="7266038" y="586658"/>
                  <a:pt x="7275648" y="582617"/>
                  <a:pt x="7285703" y="580103"/>
                </a:cubicBezTo>
                <a:cubicBezTo>
                  <a:pt x="7301916" y="576050"/>
                  <a:pt x="7318477" y="573548"/>
                  <a:pt x="7334864" y="570271"/>
                </a:cubicBezTo>
                <a:cubicBezTo>
                  <a:pt x="7371365" y="552021"/>
                  <a:pt x="7424530" y="523995"/>
                  <a:pt x="7462683" y="511277"/>
                </a:cubicBezTo>
                <a:cubicBezTo>
                  <a:pt x="7478537" y="505992"/>
                  <a:pt x="7495458" y="504722"/>
                  <a:pt x="7511845" y="501445"/>
                </a:cubicBezTo>
                <a:cubicBezTo>
                  <a:pt x="7551174" y="485058"/>
                  <a:pt x="7590898" y="469588"/>
                  <a:pt x="7629832" y="452284"/>
                </a:cubicBezTo>
                <a:cubicBezTo>
                  <a:pt x="7708302" y="417408"/>
                  <a:pt x="7679752" y="417681"/>
                  <a:pt x="7777316" y="393290"/>
                </a:cubicBezTo>
                <a:cubicBezTo>
                  <a:pt x="7792823" y="389413"/>
                  <a:pt x="7913765" y="375281"/>
                  <a:pt x="7924800" y="373626"/>
                </a:cubicBezTo>
                <a:cubicBezTo>
                  <a:pt x="8124711" y="343639"/>
                  <a:pt x="7961824" y="359358"/>
                  <a:pt x="8190271" y="344129"/>
                </a:cubicBezTo>
                <a:cubicBezTo>
                  <a:pt x="8262115" y="311473"/>
                  <a:pt x="8296868" y="306358"/>
                  <a:pt x="8347587" y="255639"/>
                </a:cubicBezTo>
                <a:cubicBezTo>
                  <a:pt x="8359174" y="244052"/>
                  <a:pt x="8367251" y="229420"/>
                  <a:pt x="8377083" y="216310"/>
                </a:cubicBezTo>
                <a:cubicBezTo>
                  <a:pt x="8344309" y="167149"/>
                  <a:pt x="8326239" y="103995"/>
                  <a:pt x="8278761" y="68826"/>
                </a:cubicBezTo>
                <a:cubicBezTo>
                  <a:pt x="8232093" y="34257"/>
                  <a:pt x="8168201" y="32723"/>
                  <a:pt x="8111612" y="19664"/>
                </a:cubicBezTo>
                <a:cubicBezTo>
                  <a:pt x="8082694" y="12991"/>
                  <a:pt x="8052540" y="13754"/>
                  <a:pt x="8023122" y="9832"/>
                </a:cubicBezTo>
                <a:cubicBezTo>
                  <a:pt x="8003361" y="7197"/>
                  <a:pt x="7983793" y="3277"/>
                  <a:pt x="7964129" y="0"/>
                </a:cubicBezTo>
                <a:cubicBezTo>
                  <a:pt x="7924800" y="9832"/>
                  <a:pt x="7885715" y="20703"/>
                  <a:pt x="7846141" y="29497"/>
                </a:cubicBezTo>
                <a:cubicBezTo>
                  <a:pt x="7826680" y="33822"/>
                  <a:pt x="7806410" y="34192"/>
                  <a:pt x="7787148" y="39329"/>
                </a:cubicBezTo>
                <a:cubicBezTo>
                  <a:pt x="7757106" y="47340"/>
                  <a:pt x="7727526" y="57279"/>
                  <a:pt x="7698658" y="68826"/>
                </a:cubicBezTo>
                <a:cubicBezTo>
                  <a:pt x="7678245" y="76991"/>
                  <a:pt x="7661052" y="93230"/>
                  <a:pt x="7639664" y="98322"/>
                </a:cubicBezTo>
                <a:cubicBezTo>
                  <a:pt x="7591416" y="109809"/>
                  <a:pt x="7541450" y="112302"/>
                  <a:pt x="7492180" y="117987"/>
                </a:cubicBezTo>
                <a:cubicBezTo>
                  <a:pt x="7322723" y="137540"/>
                  <a:pt x="7107591" y="153841"/>
                  <a:pt x="6931741" y="186813"/>
                </a:cubicBezTo>
                <a:cubicBezTo>
                  <a:pt x="6742045" y="222381"/>
                  <a:pt x="6879854" y="217879"/>
                  <a:pt x="6656438" y="245806"/>
                </a:cubicBezTo>
                <a:cubicBezTo>
                  <a:pt x="6604303" y="252323"/>
                  <a:pt x="6551561" y="252361"/>
                  <a:pt x="6499122" y="255639"/>
                </a:cubicBezTo>
                <a:cubicBezTo>
                  <a:pt x="6215172" y="305747"/>
                  <a:pt x="6448097" y="271924"/>
                  <a:pt x="6125496" y="294968"/>
                </a:cubicBezTo>
                <a:cubicBezTo>
                  <a:pt x="6102380" y="296619"/>
                  <a:pt x="6079331" y="299944"/>
                  <a:pt x="6056671" y="304800"/>
                </a:cubicBezTo>
                <a:cubicBezTo>
                  <a:pt x="6033341" y="309799"/>
                  <a:pt x="6011638" y="322680"/>
                  <a:pt x="5987845" y="324464"/>
                </a:cubicBezTo>
                <a:cubicBezTo>
                  <a:pt x="5879943" y="332557"/>
                  <a:pt x="5771509" y="330255"/>
                  <a:pt x="5663380" y="334297"/>
                </a:cubicBezTo>
                <a:lnTo>
                  <a:pt x="4935793" y="363793"/>
                </a:lnTo>
                <a:cubicBezTo>
                  <a:pt x="4755535" y="360516"/>
                  <a:pt x="4574933" y="365568"/>
                  <a:pt x="4395019" y="353961"/>
                </a:cubicBezTo>
                <a:cubicBezTo>
                  <a:pt x="4370111" y="352354"/>
                  <a:pt x="4349650" y="332994"/>
                  <a:pt x="4326193" y="324464"/>
                </a:cubicBezTo>
                <a:cubicBezTo>
                  <a:pt x="4313493" y="319846"/>
                  <a:pt x="4299807" y="318515"/>
                  <a:pt x="4286864" y="314632"/>
                </a:cubicBezTo>
                <a:cubicBezTo>
                  <a:pt x="4267010" y="308676"/>
                  <a:pt x="4247535" y="301523"/>
                  <a:pt x="4227871" y="294968"/>
                </a:cubicBezTo>
                <a:cubicBezTo>
                  <a:pt x="4159045" y="298245"/>
                  <a:pt x="4089843" y="296902"/>
                  <a:pt x="4021393" y="304800"/>
                </a:cubicBezTo>
                <a:cubicBezTo>
                  <a:pt x="4003860" y="306823"/>
                  <a:pt x="3988819" y="318432"/>
                  <a:pt x="3972232" y="324464"/>
                </a:cubicBezTo>
                <a:cubicBezTo>
                  <a:pt x="3952752" y="331548"/>
                  <a:pt x="3932290" y="335964"/>
                  <a:pt x="3913238" y="344129"/>
                </a:cubicBezTo>
                <a:cubicBezTo>
                  <a:pt x="3886294" y="355676"/>
                  <a:pt x="3862945" y="376059"/>
                  <a:pt x="3834580" y="383458"/>
                </a:cubicBezTo>
                <a:cubicBezTo>
                  <a:pt x="3573746" y="451501"/>
                  <a:pt x="3782380" y="366676"/>
                  <a:pt x="3608438" y="422787"/>
                </a:cubicBezTo>
                <a:cubicBezTo>
                  <a:pt x="3532482" y="447289"/>
                  <a:pt x="3458011" y="476207"/>
                  <a:pt x="3382296" y="501445"/>
                </a:cubicBezTo>
                <a:cubicBezTo>
                  <a:pt x="3349835" y="512265"/>
                  <a:pt x="3317639" y="524821"/>
                  <a:pt x="3283974" y="530942"/>
                </a:cubicBezTo>
                <a:cubicBezTo>
                  <a:pt x="3140929" y="556949"/>
                  <a:pt x="3148506" y="556985"/>
                  <a:pt x="2969341" y="580103"/>
                </a:cubicBezTo>
                <a:cubicBezTo>
                  <a:pt x="2936674" y="584318"/>
                  <a:pt x="2903739" y="586160"/>
                  <a:pt x="2871019" y="589935"/>
                </a:cubicBezTo>
                <a:cubicBezTo>
                  <a:pt x="2720969" y="607249"/>
                  <a:pt x="2725116" y="607844"/>
                  <a:pt x="2585883" y="629264"/>
                </a:cubicBezTo>
                <a:cubicBezTo>
                  <a:pt x="2251586" y="622709"/>
                  <a:pt x="1917027" y="624380"/>
                  <a:pt x="1582993" y="609600"/>
                </a:cubicBezTo>
                <a:cubicBezTo>
                  <a:pt x="1545661" y="607948"/>
                  <a:pt x="1511421" y="587724"/>
                  <a:pt x="1474838" y="580103"/>
                </a:cubicBezTo>
                <a:cubicBezTo>
                  <a:pt x="1432637" y="571311"/>
                  <a:pt x="1389810" y="565657"/>
                  <a:pt x="1347019" y="560439"/>
                </a:cubicBezTo>
                <a:cubicBezTo>
                  <a:pt x="1277729" y="551989"/>
                  <a:pt x="1038295" y="524584"/>
                  <a:pt x="934064" y="521110"/>
                </a:cubicBezTo>
                <a:cubicBezTo>
                  <a:pt x="783351" y="516086"/>
                  <a:pt x="632541" y="514555"/>
                  <a:pt x="481780" y="511277"/>
                </a:cubicBezTo>
                <a:cubicBezTo>
                  <a:pt x="406399" y="517832"/>
                  <a:pt x="330203" y="518086"/>
                  <a:pt x="255638" y="530942"/>
                </a:cubicBezTo>
                <a:cubicBezTo>
                  <a:pt x="233972" y="534678"/>
                  <a:pt x="215864" y="549762"/>
                  <a:pt x="196645" y="560439"/>
                </a:cubicBezTo>
                <a:cubicBezTo>
                  <a:pt x="186315" y="566178"/>
                  <a:pt x="176476" y="572848"/>
                  <a:pt x="167148" y="580103"/>
                </a:cubicBezTo>
                <a:cubicBezTo>
                  <a:pt x="109548" y="624902"/>
                  <a:pt x="108873" y="628545"/>
                  <a:pt x="58993" y="678426"/>
                </a:cubicBezTo>
                <a:cubicBezTo>
                  <a:pt x="55716" y="688258"/>
                  <a:pt x="54194" y="698862"/>
                  <a:pt x="49161" y="707922"/>
                </a:cubicBezTo>
                <a:cubicBezTo>
                  <a:pt x="37683" y="728582"/>
                  <a:pt x="17305" y="744495"/>
                  <a:pt x="9832" y="766916"/>
                </a:cubicBezTo>
                <a:lnTo>
                  <a:pt x="0" y="796413"/>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9773264" y="1820806"/>
            <a:ext cx="1553497" cy="5801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处理层</a:t>
            </a:r>
            <a:endParaRPr lang="zh-CN" altLang="en-US" sz="2800" dirty="0"/>
          </a:p>
        </p:txBody>
      </p:sp>
      <p:sp>
        <p:nvSpPr>
          <p:cNvPr id="29" name="任意多边形: 形状 28"/>
          <p:cNvSpPr/>
          <p:nvPr/>
        </p:nvSpPr>
        <p:spPr>
          <a:xfrm>
            <a:off x="3320937" y="2005781"/>
            <a:ext cx="6491657" cy="1455174"/>
          </a:xfrm>
          <a:custGeom>
            <a:avLst/>
            <a:gdLst>
              <a:gd name="connsiteX0" fmla="*/ 22031 w 6491657"/>
              <a:gd name="connsiteY0" fmla="*/ 973393 h 1455174"/>
              <a:gd name="connsiteX1" fmla="*/ 41695 w 6491657"/>
              <a:gd name="connsiteY1" fmla="*/ 1091380 h 1455174"/>
              <a:gd name="connsiteX2" fmla="*/ 140018 w 6491657"/>
              <a:gd name="connsiteY2" fmla="*/ 1209367 h 1455174"/>
              <a:gd name="connsiteX3" fmla="*/ 189179 w 6491657"/>
              <a:gd name="connsiteY3" fmla="*/ 1238864 h 1455174"/>
              <a:gd name="connsiteX4" fmla="*/ 238340 w 6491657"/>
              <a:gd name="connsiteY4" fmla="*/ 1258529 h 1455174"/>
              <a:gd name="connsiteX5" fmla="*/ 287502 w 6491657"/>
              <a:gd name="connsiteY5" fmla="*/ 1297858 h 1455174"/>
              <a:gd name="connsiteX6" fmla="*/ 385824 w 6491657"/>
              <a:gd name="connsiteY6" fmla="*/ 1376516 h 1455174"/>
              <a:gd name="connsiteX7" fmla="*/ 454650 w 6491657"/>
              <a:gd name="connsiteY7" fmla="*/ 1386348 h 1455174"/>
              <a:gd name="connsiteX8" fmla="*/ 729953 w 6491657"/>
              <a:gd name="connsiteY8" fmla="*/ 1425677 h 1455174"/>
              <a:gd name="connsiteX9" fmla="*/ 1103579 w 6491657"/>
              <a:gd name="connsiteY9" fmla="*/ 1455174 h 1455174"/>
              <a:gd name="connsiteX10" fmla="*/ 1683682 w 6491657"/>
              <a:gd name="connsiteY10" fmla="*/ 1435509 h 1455174"/>
              <a:gd name="connsiteX11" fmla="*/ 1860663 w 6491657"/>
              <a:gd name="connsiteY11" fmla="*/ 1406013 h 1455174"/>
              <a:gd name="connsiteX12" fmla="*/ 2037644 w 6491657"/>
              <a:gd name="connsiteY12" fmla="*/ 1386348 h 1455174"/>
              <a:gd name="connsiteX13" fmla="*/ 2224457 w 6491657"/>
              <a:gd name="connsiteY13" fmla="*/ 1356851 h 1455174"/>
              <a:gd name="connsiteX14" fmla="*/ 2322779 w 6491657"/>
              <a:gd name="connsiteY14" fmla="*/ 1337187 h 1455174"/>
              <a:gd name="connsiteX15" fmla="*/ 2588250 w 6491657"/>
              <a:gd name="connsiteY15" fmla="*/ 1317522 h 1455174"/>
              <a:gd name="connsiteX16" fmla="*/ 2696405 w 6491657"/>
              <a:gd name="connsiteY16" fmla="*/ 1288025 h 1455174"/>
              <a:gd name="connsiteX17" fmla="*/ 2755398 w 6491657"/>
              <a:gd name="connsiteY17" fmla="*/ 1278193 h 1455174"/>
              <a:gd name="connsiteX18" fmla="*/ 2902882 w 6491657"/>
              <a:gd name="connsiteY18" fmla="*/ 1258529 h 1455174"/>
              <a:gd name="connsiteX19" fmla="*/ 3001205 w 6491657"/>
              <a:gd name="connsiteY19" fmla="*/ 1238864 h 1455174"/>
              <a:gd name="connsiteX20" fmla="*/ 3197850 w 6491657"/>
              <a:gd name="connsiteY20" fmla="*/ 1209367 h 1455174"/>
              <a:gd name="connsiteX21" fmla="*/ 3433824 w 6491657"/>
              <a:gd name="connsiteY21" fmla="*/ 1150374 h 1455174"/>
              <a:gd name="connsiteX22" fmla="*/ 3532147 w 6491657"/>
              <a:gd name="connsiteY22" fmla="*/ 1140542 h 1455174"/>
              <a:gd name="connsiteX23" fmla="*/ 4092586 w 6491657"/>
              <a:gd name="connsiteY23" fmla="*/ 1120877 h 1455174"/>
              <a:gd name="connsiteX24" fmla="*/ 4318728 w 6491657"/>
              <a:gd name="connsiteY24" fmla="*/ 1091380 h 1455174"/>
              <a:gd name="connsiteX25" fmla="*/ 4584198 w 6491657"/>
              <a:gd name="connsiteY25" fmla="*/ 1042219 h 1455174"/>
              <a:gd name="connsiteX26" fmla="*/ 4977489 w 6491657"/>
              <a:gd name="connsiteY26" fmla="*/ 983225 h 1455174"/>
              <a:gd name="connsiteX27" fmla="*/ 5056147 w 6491657"/>
              <a:gd name="connsiteY27" fmla="*/ 963561 h 1455174"/>
              <a:gd name="connsiteX28" fmla="*/ 5164302 w 6491657"/>
              <a:gd name="connsiteY28" fmla="*/ 953729 h 1455174"/>
              <a:gd name="connsiteX29" fmla="*/ 5341282 w 6491657"/>
              <a:gd name="connsiteY29" fmla="*/ 934064 h 1455174"/>
              <a:gd name="connsiteX30" fmla="*/ 5547760 w 6491657"/>
              <a:gd name="connsiteY30" fmla="*/ 875071 h 1455174"/>
              <a:gd name="connsiteX31" fmla="*/ 5655915 w 6491657"/>
              <a:gd name="connsiteY31" fmla="*/ 825909 h 1455174"/>
              <a:gd name="connsiteX32" fmla="*/ 5695244 w 6491657"/>
              <a:gd name="connsiteY32" fmla="*/ 796413 h 1455174"/>
              <a:gd name="connsiteX33" fmla="*/ 5813231 w 6491657"/>
              <a:gd name="connsiteY33" fmla="*/ 678425 h 1455174"/>
              <a:gd name="connsiteX34" fmla="*/ 5921386 w 6491657"/>
              <a:gd name="connsiteY34" fmla="*/ 609600 h 1455174"/>
              <a:gd name="connsiteX35" fmla="*/ 5980379 w 6491657"/>
              <a:gd name="connsiteY35" fmla="*/ 550606 h 1455174"/>
              <a:gd name="connsiteX36" fmla="*/ 6196689 w 6491657"/>
              <a:gd name="connsiteY36" fmla="*/ 403122 h 1455174"/>
              <a:gd name="connsiteX37" fmla="*/ 6285179 w 6491657"/>
              <a:gd name="connsiteY37" fmla="*/ 344129 h 1455174"/>
              <a:gd name="connsiteX38" fmla="*/ 6403166 w 6491657"/>
              <a:gd name="connsiteY38" fmla="*/ 285135 h 1455174"/>
              <a:gd name="connsiteX39" fmla="*/ 6491657 w 6491657"/>
              <a:gd name="connsiteY39" fmla="*/ 196645 h 1455174"/>
              <a:gd name="connsiteX40" fmla="*/ 6481824 w 6491657"/>
              <a:gd name="connsiteY40" fmla="*/ 127819 h 1455174"/>
              <a:gd name="connsiteX41" fmla="*/ 6403166 w 6491657"/>
              <a:gd name="connsiteY41" fmla="*/ 58993 h 1455174"/>
              <a:gd name="connsiteX42" fmla="*/ 6285179 w 6491657"/>
              <a:gd name="connsiteY42" fmla="*/ 49161 h 1455174"/>
              <a:gd name="connsiteX43" fmla="*/ 6157360 w 6491657"/>
              <a:gd name="connsiteY43" fmla="*/ 19664 h 1455174"/>
              <a:gd name="connsiteX44" fmla="*/ 6078702 w 6491657"/>
              <a:gd name="connsiteY44" fmla="*/ 9832 h 1455174"/>
              <a:gd name="connsiteX45" fmla="*/ 6019708 w 6491657"/>
              <a:gd name="connsiteY45" fmla="*/ 0 h 1455174"/>
              <a:gd name="connsiteX46" fmla="*/ 5793566 w 6491657"/>
              <a:gd name="connsiteY46" fmla="*/ 19664 h 1455174"/>
              <a:gd name="connsiteX47" fmla="*/ 5734573 w 6491657"/>
              <a:gd name="connsiteY47" fmla="*/ 29496 h 1455174"/>
              <a:gd name="connsiteX48" fmla="*/ 5675579 w 6491657"/>
              <a:gd name="connsiteY48" fmla="*/ 49161 h 1455174"/>
              <a:gd name="connsiteX49" fmla="*/ 5478934 w 6491657"/>
              <a:gd name="connsiteY49" fmla="*/ 98322 h 1455174"/>
              <a:gd name="connsiteX50" fmla="*/ 5390444 w 6491657"/>
              <a:gd name="connsiteY50" fmla="*/ 137651 h 1455174"/>
              <a:gd name="connsiteX51" fmla="*/ 5321618 w 6491657"/>
              <a:gd name="connsiteY51" fmla="*/ 157316 h 1455174"/>
              <a:gd name="connsiteX52" fmla="*/ 5144637 w 6491657"/>
              <a:gd name="connsiteY52" fmla="*/ 245806 h 1455174"/>
              <a:gd name="connsiteX53" fmla="*/ 5046315 w 6491657"/>
              <a:gd name="connsiteY53" fmla="*/ 294967 h 1455174"/>
              <a:gd name="connsiteX54" fmla="*/ 4849669 w 6491657"/>
              <a:gd name="connsiteY54" fmla="*/ 363793 h 1455174"/>
              <a:gd name="connsiteX55" fmla="*/ 4771011 w 6491657"/>
              <a:gd name="connsiteY55" fmla="*/ 373625 h 1455174"/>
              <a:gd name="connsiteX56" fmla="*/ 4672689 w 6491657"/>
              <a:gd name="connsiteY56" fmla="*/ 403122 h 1455174"/>
              <a:gd name="connsiteX57" fmla="*/ 4613695 w 6491657"/>
              <a:gd name="connsiteY57" fmla="*/ 432619 h 1455174"/>
              <a:gd name="connsiteX58" fmla="*/ 4495708 w 6491657"/>
              <a:gd name="connsiteY58" fmla="*/ 452284 h 1455174"/>
              <a:gd name="connsiteX59" fmla="*/ 4318728 w 6491657"/>
              <a:gd name="connsiteY59" fmla="*/ 481780 h 1455174"/>
              <a:gd name="connsiteX60" fmla="*/ 4190908 w 6491657"/>
              <a:gd name="connsiteY60" fmla="*/ 530942 h 1455174"/>
              <a:gd name="connsiteX61" fmla="*/ 4063089 w 6491657"/>
              <a:gd name="connsiteY61" fmla="*/ 570271 h 1455174"/>
              <a:gd name="connsiteX62" fmla="*/ 3954934 w 6491657"/>
              <a:gd name="connsiteY62" fmla="*/ 629264 h 1455174"/>
              <a:gd name="connsiteX63" fmla="*/ 3846779 w 6491657"/>
              <a:gd name="connsiteY63" fmla="*/ 658761 h 1455174"/>
              <a:gd name="connsiteX64" fmla="*/ 3728792 w 6491657"/>
              <a:gd name="connsiteY64" fmla="*/ 698090 h 1455174"/>
              <a:gd name="connsiteX65" fmla="*/ 3581308 w 6491657"/>
              <a:gd name="connsiteY65" fmla="*/ 737419 h 1455174"/>
              <a:gd name="connsiteX66" fmla="*/ 3384663 w 6491657"/>
              <a:gd name="connsiteY66" fmla="*/ 796413 h 1455174"/>
              <a:gd name="connsiteX67" fmla="*/ 3138857 w 6491657"/>
              <a:gd name="connsiteY67" fmla="*/ 835742 h 1455174"/>
              <a:gd name="connsiteX68" fmla="*/ 2775063 w 6491657"/>
              <a:gd name="connsiteY68" fmla="*/ 875071 h 1455174"/>
              <a:gd name="connsiteX69" fmla="*/ 2607915 w 6491657"/>
              <a:gd name="connsiteY69" fmla="*/ 914400 h 1455174"/>
              <a:gd name="connsiteX70" fmla="*/ 2411269 w 6491657"/>
              <a:gd name="connsiteY70" fmla="*/ 924232 h 1455174"/>
              <a:gd name="connsiteX71" fmla="*/ 1496869 w 6491657"/>
              <a:gd name="connsiteY71" fmla="*/ 934064 h 1455174"/>
              <a:gd name="connsiteX72" fmla="*/ 897102 w 6491657"/>
              <a:gd name="connsiteY72" fmla="*/ 953729 h 1455174"/>
              <a:gd name="connsiteX73" fmla="*/ 641463 w 6491657"/>
              <a:gd name="connsiteY73" fmla="*/ 934064 h 1455174"/>
              <a:gd name="connsiteX74" fmla="*/ 523476 w 6491657"/>
              <a:gd name="connsiteY74" fmla="*/ 914400 h 1455174"/>
              <a:gd name="connsiteX75" fmla="*/ 346495 w 6491657"/>
              <a:gd name="connsiteY75" fmla="*/ 875071 h 1455174"/>
              <a:gd name="connsiteX76" fmla="*/ 120353 w 6491657"/>
              <a:gd name="connsiteY76" fmla="*/ 865238 h 1455174"/>
              <a:gd name="connsiteX77" fmla="*/ 51528 w 6491657"/>
              <a:gd name="connsiteY77" fmla="*/ 924232 h 1455174"/>
              <a:gd name="connsiteX78" fmla="*/ 22031 w 6491657"/>
              <a:gd name="connsiteY78" fmla="*/ 973393 h 14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491657" h="1455174">
                <a:moveTo>
                  <a:pt x="22031" y="973393"/>
                </a:moveTo>
                <a:cubicBezTo>
                  <a:pt x="20392" y="1001251"/>
                  <a:pt x="29689" y="1053359"/>
                  <a:pt x="41695" y="1091380"/>
                </a:cubicBezTo>
                <a:cubicBezTo>
                  <a:pt x="59950" y="1149188"/>
                  <a:pt x="93443" y="1175494"/>
                  <a:pt x="140018" y="1209367"/>
                </a:cubicBezTo>
                <a:cubicBezTo>
                  <a:pt x="155473" y="1220607"/>
                  <a:pt x="172086" y="1230317"/>
                  <a:pt x="189179" y="1238864"/>
                </a:cubicBezTo>
                <a:cubicBezTo>
                  <a:pt x="204965" y="1246757"/>
                  <a:pt x="223206" y="1249448"/>
                  <a:pt x="238340" y="1258529"/>
                </a:cubicBezTo>
                <a:cubicBezTo>
                  <a:pt x="256335" y="1269326"/>
                  <a:pt x="271903" y="1283819"/>
                  <a:pt x="287502" y="1297858"/>
                </a:cubicBezTo>
                <a:cubicBezTo>
                  <a:pt x="321840" y="1328762"/>
                  <a:pt x="340157" y="1361294"/>
                  <a:pt x="385824" y="1376516"/>
                </a:cubicBezTo>
                <a:cubicBezTo>
                  <a:pt x="407810" y="1383845"/>
                  <a:pt x="431828" y="1382321"/>
                  <a:pt x="454650" y="1386348"/>
                </a:cubicBezTo>
                <a:cubicBezTo>
                  <a:pt x="637535" y="1418622"/>
                  <a:pt x="472944" y="1400603"/>
                  <a:pt x="729953" y="1425677"/>
                </a:cubicBezTo>
                <a:cubicBezTo>
                  <a:pt x="910733" y="1443314"/>
                  <a:pt x="942098" y="1444409"/>
                  <a:pt x="1103579" y="1455174"/>
                </a:cubicBezTo>
                <a:lnTo>
                  <a:pt x="1683682" y="1435509"/>
                </a:lnTo>
                <a:cubicBezTo>
                  <a:pt x="1862214" y="1427747"/>
                  <a:pt x="1706303" y="1429761"/>
                  <a:pt x="1860663" y="1406013"/>
                </a:cubicBezTo>
                <a:cubicBezTo>
                  <a:pt x="1919330" y="1396987"/>
                  <a:pt x="2037644" y="1386348"/>
                  <a:pt x="2037644" y="1386348"/>
                </a:cubicBezTo>
                <a:cubicBezTo>
                  <a:pt x="2239825" y="1341420"/>
                  <a:pt x="2007186" y="1389442"/>
                  <a:pt x="2224457" y="1356851"/>
                </a:cubicBezTo>
                <a:cubicBezTo>
                  <a:pt x="2257510" y="1351893"/>
                  <a:pt x="2289726" y="1342145"/>
                  <a:pt x="2322779" y="1337187"/>
                </a:cubicBezTo>
                <a:cubicBezTo>
                  <a:pt x="2392276" y="1326762"/>
                  <a:pt x="2531170" y="1320880"/>
                  <a:pt x="2588250" y="1317522"/>
                </a:cubicBezTo>
                <a:cubicBezTo>
                  <a:pt x="2624302" y="1307690"/>
                  <a:pt x="2660030" y="1296584"/>
                  <a:pt x="2696405" y="1288025"/>
                </a:cubicBezTo>
                <a:cubicBezTo>
                  <a:pt x="2715811" y="1283459"/>
                  <a:pt x="2735663" y="1281012"/>
                  <a:pt x="2755398" y="1278193"/>
                </a:cubicBezTo>
                <a:cubicBezTo>
                  <a:pt x="2804496" y="1271179"/>
                  <a:pt x="2853909" y="1266365"/>
                  <a:pt x="2902882" y="1258529"/>
                </a:cubicBezTo>
                <a:cubicBezTo>
                  <a:pt x="2935886" y="1253248"/>
                  <a:pt x="2968236" y="1244359"/>
                  <a:pt x="3001205" y="1238864"/>
                </a:cubicBezTo>
                <a:cubicBezTo>
                  <a:pt x="3066585" y="1227967"/>
                  <a:pt x="3132855" y="1222366"/>
                  <a:pt x="3197850" y="1209367"/>
                </a:cubicBezTo>
                <a:cubicBezTo>
                  <a:pt x="3298866" y="1189164"/>
                  <a:pt x="3340602" y="1165093"/>
                  <a:pt x="3433824" y="1150374"/>
                </a:cubicBezTo>
                <a:cubicBezTo>
                  <a:pt x="3466359" y="1145237"/>
                  <a:pt x="3499411" y="1144179"/>
                  <a:pt x="3532147" y="1140542"/>
                </a:cubicBezTo>
                <a:cubicBezTo>
                  <a:pt x="3806659" y="1110040"/>
                  <a:pt x="3362701" y="1135772"/>
                  <a:pt x="4092586" y="1120877"/>
                </a:cubicBezTo>
                <a:cubicBezTo>
                  <a:pt x="4344761" y="1075028"/>
                  <a:pt x="4050928" y="1124855"/>
                  <a:pt x="4318728" y="1091380"/>
                </a:cubicBezTo>
                <a:cubicBezTo>
                  <a:pt x="4437457" y="1076539"/>
                  <a:pt x="4458866" y="1063108"/>
                  <a:pt x="4584198" y="1042219"/>
                </a:cubicBezTo>
                <a:cubicBezTo>
                  <a:pt x="4715538" y="1020329"/>
                  <a:pt x="4847327" y="1015765"/>
                  <a:pt x="4977489" y="983225"/>
                </a:cubicBezTo>
                <a:cubicBezTo>
                  <a:pt x="5003708" y="976670"/>
                  <a:pt x="5029451" y="967776"/>
                  <a:pt x="5056147" y="963561"/>
                </a:cubicBezTo>
                <a:cubicBezTo>
                  <a:pt x="5091904" y="957915"/>
                  <a:pt x="5128294" y="957454"/>
                  <a:pt x="5164302" y="953729"/>
                </a:cubicBezTo>
                <a:cubicBezTo>
                  <a:pt x="5223343" y="947621"/>
                  <a:pt x="5282522" y="942458"/>
                  <a:pt x="5341282" y="934064"/>
                </a:cubicBezTo>
                <a:cubicBezTo>
                  <a:pt x="5433170" y="920937"/>
                  <a:pt x="5458753" y="909685"/>
                  <a:pt x="5547760" y="875071"/>
                </a:cubicBezTo>
                <a:cubicBezTo>
                  <a:pt x="5560647" y="870059"/>
                  <a:pt x="5635020" y="838968"/>
                  <a:pt x="5655915" y="825909"/>
                </a:cubicBezTo>
                <a:cubicBezTo>
                  <a:pt x="5669811" y="817224"/>
                  <a:pt x="5683289" y="807621"/>
                  <a:pt x="5695244" y="796413"/>
                </a:cubicBezTo>
                <a:cubicBezTo>
                  <a:pt x="5735821" y="758372"/>
                  <a:pt x="5766307" y="708286"/>
                  <a:pt x="5813231" y="678425"/>
                </a:cubicBezTo>
                <a:cubicBezTo>
                  <a:pt x="5849283" y="655483"/>
                  <a:pt x="5887441" y="635558"/>
                  <a:pt x="5921386" y="609600"/>
                </a:cubicBezTo>
                <a:cubicBezTo>
                  <a:pt x="5943477" y="592707"/>
                  <a:pt x="5958131" y="567292"/>
                  <a:pt x="5980379" y="550606"/>
                </a:cubicBezTo>
                <a:cubicBezTo>
                  <a:pt x="6050193" y="498245"/>
                  <a:pt x="6124438" y="452066"/>
                  <a:pt x="6196689" y="403122"/>
                </a:cubicBezTo>
                <a:cubicBezTo>
                  <a:pt x="6226039" y="383240"/>
                  <a:pt x="6253471" y="359983"/>
                  <a:pt x="6285179" y="344129"/>
                </a:cubicBezTo>
                <a:cubicBezTo>
                  <a:pt x="6324508" y="324464"/>
                  <a:pt x="6372073" y="316227"/>
                  <a:pt x="6403166" y="285135"/>
                </a:cubicBezTo>
                <a:lnTo>
                  <a:pt x="6491657" y="196645"/>
                </a:lnTo>
                <a:cubicBezTo>
                  <a:pt x="6488379" y="173703"/>
                  <a:pt x="6492188" y="148547"/>
                  <a:pt x="6481824" y="127819"/>
                </a:cubicBezTo>
                <a:cubicBezTo>
                  <a:pt x="6481063" y="126297"/>
                  <a:pt x="6423005" y="62961"/>
                  <a:pt x="6403166" y="58993"/>
                </a:cubicBezTo>
                <a:cubicBezTo>
                  <a:pt x="6364467" y="51253"/>
                  <a:pt x="6324508" y="52438"/>
                  <a:pt x="6285179" y="49161"/>
                </a:cubicBezTo>
                <a:cubicBezTo>
                  <a:pt x="6242573" y="39329"/>
                  <a:pt x="6200314" y="27846"/>
                  <a:pt x="6157360" y="19664"/>
                </a:cubicBezTo>
                <a:cubicBezTo>
                  <a:pt x="6131403" y="14720"/>
                  <a:pt x="6104860" y="13569"/>
                  <a:pt x="6078702" y="9832"/>
                </a:cubicBezTo>
                <a:cubicBezTo>
                  <a:pt x="6058966" y="7013"/>
                  <a:pt x="6039373" y="3277"/>
                  <a:pt x="6019708" y="0"/>
                </a:cubicBezTo>
                <a:lnTo>
                  <a:pt x="5793566" y="19664"/>
                </a:lnTo>
                <a:cubicBezTo>
                  <a:pt x="5773736" y="21715"/>
                  <a:pt x="5753913" y="24661"/>
                  <a:pt x="5734573" y="29496"/>
                </a:cubicBezTo>
                <a:cubicBezTo>
                  <a:pt x="5714463" y="34523"/>
                  <a:pt x="5695595" y="43772"/>
                  <a:pt x="5675579" y="49161"/>
                </a:cubicBezTo>
                <a:cubicBezTo>
                  <a:pt x="5610337" y="66726"/>
                  <a:pt x="5540676" y="70881"/>
                  <a:pt x="5478934" y="98322"/>
                </a:cubicBezTo>
                <a:cubicBezTo>
                  <a:pt x="5449437" y="111432"/>
                  <a:pt x="5420667" y="126317"/>
                  <a:pt x="5390444" y="137651"/>
                </a:cubicBezTo>
                <a:cubicBezTo>
                  <a:pt x="5368103" y="146029"/>
                  <a:pt x="5343457" y="147707"/>
                  <a:pt x="5321618" y="157316"/>
                </a:cubicBezTo>
                <a:cubicBezTo>
                  <a:pt x="5261247" y="183879"/>
                  <a:pt x="5203631" y="216309"/>
                  <a:pt x="5144637" y="245806"/>
                </a:cubicBezTo>
                <a:cubicBezTo>
                  <a:pt x="5111863" y="262193"/>
                  <a:pt x="5080900" y="282862"/>
                  <a:pt x="5046315" y="294967"/>
                </a:cubicBezTo>
                <a:cubicBezTo>
                  <a:pt x="4980766" y="317909"/>
                  <a:pt x="4918580" y="355179"/>
                  <a:pt x="4849669" y="363793"/>
                </a:cubicBezTo>
                <a:lnTo>
                  <a:pt x="4771011" y="373625"/>
                </a:lnTo>
                <a:cubicBezTo>
                  <a:pt x="4738237" y="383457"/>
                  <a:pt x="4704727" y="391107"/>
                  <a:pt x="4672689" y="403122"/>
                </a:cubicBezTo>
                <a:cubicBezTo>
                  <a:pt x="4652103" y="410842"/>
                  <a:pt x="4634879" y="426735"/>
                  <a:pt x="4613695" y="432619"/>
                </a:cubicBezTo>
                <a:cubicBezTo>
                  <a:pt x="4575278" y="443290"/>
                  <a:pt x="4534046" y="441331"/>
                  <a:pt x="4495708" y="452284"/>
                </a:cubicBezTo>
                <a:cubicBezTo>
                  <a:pt x="4392075" y="481893"/>
                  <a:pt x="4450644" y="469788"/>
                  <a:pt x="4318728" y="481780"/>
                </a:cubicBezTo>
                <a:cubicBezTo>
                  <a:pt x="4276121" y="498167"/>
                  <a:pt x="4234046" y="516009"/>
                  <a:pt x="4190908" y="530942"/>
                </a:cubicBezTo>
                <a:cubicBezTo>
                  <a:pt x="4148783" y="545524"/>
                  <a:pt x="4104238" y="553126"/>
                  <a:pt x="4063089" y="570271"/>
                </a:cubicBezTo>
                <a:cubicBezTo>
                  <a:pt x="4025182" y="586066"/>
                  <a:pt x="3992942" y="613715"/>
                  <a:pt x="3954934" y="629264"/>
                </a:cubicBezTo>
                <a:cubicBezTo>
                  <a:pt x="3920348" y="643413"/>
                  <a:pt x="3882528" y="647881"/>
                  <a:pt x="3846779" y="658761"/>
                </a:cubicBezTo>
                <a:cubicBezTo>
                  <a:pt x="3807119" y="670832"/>
                  <a:pt x="3768540" y="686313"/>
                  <a:pt x="3728792" y="698090"/>
                </a:cubicBezTo>
                <a:cubicBezTo>
                  <a:pt x="3680009" y="712544"/>
                  <a:pt x="3630230" y="723441"/>
                  <a:pt x="3581308" y="737419"/>
                </a:cubicBezTo>
                <a:cubicBezTo>
                  <a:pt x="3515507" y="756219"/>
                  <a:pt x="3451468" y="781567"/>
                  <a:pt x="3384663" y="796413"/>
                </a:cubicBezTo>
                <a:cubicBezTo>
                  <a:pt x="3303661" y="814413"/>
                  <a:pt x="3221354" y="826823"/>
                  <a:pt x="3138857" y="835742"/>
                </a:cubicBezTo>
                <a:lnTo>
                  <a:pt x="2775063" y="875071"/>
                </a:lnTo>
                <a:cubicBezTo>
                  <a:pt x="2719347" y="888181"/>
                  <a:pt x="2664637" y="906735"/>
                  <a:pt x="2607915" y="914400"/>
                </a:cubicBezTo>
                <a:cubicBezTo>
                  <a:pt x="2542876" y="923189"/>
                  <a:pt x="2476889" y="923071"/>
                  <a:pt x="2411269" y="924232"/>
                </a:cubicBezTo>
                <a:lnTo>
                  <a:pt x="1496869" y="934064"/>
                </a:lnTo>
                <a:cubicBezTo>
                  <a:pt x="1263324" y="960013"/>
                  <a:pt x="1298143" y="958870"/>
                  <a:pt x="897102" y="953729"/>
                </a:cubicBezTo>
                <a:cubicBezTo>
                  <a:pt x="811644" y="952633"/>
                  <a:pt x="726676" y="940619"/>
                  <a:pt x="641463" y="934064"/>
                </a:cubicBezTo>
                <a:cubicBezTo>
                  <a:pt x="602134" y="927509"/>
                  <a:pt x="562437" y="922870"/>
                  <a:pt x="523476" y="914400"/>
                </a:cubicBezTo>
                <a:cubicBezTo>
                  <a:pt x="296065" y="864963"/>
                  <a:pt x="512407" y="898772"/>
                  <a:pt x="346495" y="875071"/>
                </a:cubicBezTo>
                <a:cubicBezTo>
                  <a:pt x="260864" y="850604"/>
                  <a:pt x="227243" y="832706"/>
                  <a:pt x="120353" y="865238"/>
                </a:cubicBezTo>
                <a:cubicBezTo>
                  <a:pt x="91446" y="874036"/>
                  <a:pt x="76669" y="907471"/>
                  <a:pt x="51528" y="924232"/>
                </a:cubicBezTo>
                <a:cubicBezTo>
                  <a:pt x="-44700" y="988384"/>
                  <a:pt x="23670" y="945535"/>
                  <a:pt x="22031" y="973393"/>
                </a:cubicBezTo>
                <a:close/>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p:cNvSpPr/>
          <p:nvPr/>
        </p:nvSpPr>
        <p:spPr>
          <a:xfrm>
            <a:off x="825909" y="1715729"/>
            <a:ext cx="1553497" cy="5801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应用层</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nodeType="after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down)">
                                      <p:cBhvr>
                                        <p:cTn id="14" dur="500"/>
                                        <p:tgtEl>
                                          <p:spTgt spid="21"/>
                                        </p:tgtEl>
                                      </p:cBhvr>
                                    </p:animEffect>
                                  </p:childTnLst>
                                </p:cTn>
                              </p:par>
                            </p:childTnLst>
                          </p:cTn>
                        </p:par>
                        <p:par>
                          <p:cTn id="15" fill="hold">
                            <p:stCondLst>
                              <p:cond delay="1000"/>
                            </p:stCondLst>
                            <p:childTnLst>
                              <p:par>
                                <p:cTn id="16" presetID="22" presetClass="entr" presetSubtype="4"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par>
                          <p:cTn id="27" fill="hold">
                            <p:stCondLst>
                              <p:cond delay="0"/>
                            </p:stCondLst>
                            <p:childTnLst>
                              <p:par>
                                <p:cTn id="28" presetID="22" presetClass="entr" presetSubtype="8" fill="hold" grpId="0"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left)">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par>
                          <p:cTn id="35" fill="hold">
                            <p:stCondLst>
                              <p:cond delay="0"/>
                            </p:stCondLst>
                            <p:childTnLst>
                              <p:par>
                                <p:cTn id="36" presetID="22" presetClass="entr" presetSubtype="4" fill="hold" grpId="0"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down)">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4" grpId="0" animBg="1"/>
      <p:bldP spid="27" grpId="0" animBg="1"/>
      <p:bldP spid="28" grpId="0" animBg="1"/>
      <p:bldP spid="29" grpId="0" animBg="1"/>
      <p:bldP spid="3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492760" y="2697161"/>
            <a:ext cx="8001000" cy="3795714"/>
            <a:chOff x="492760" y="2697161"/>
            <a:chExt cx="8001000" cy="3795714"/>
          </a:xfrm>
        </p:grpSpPr>
        <p:grpSp>
          <p:nvGrpSpPr>
            <p:cNvPr id="38917" name="Group 6"/>
            <p:cNvGrpSpPr>
              <a:grpSpLocks noChangeAspect="1"/>
            </p:cNvGrpSpPr>
            <p:nvPr/>
          </p:nvGrpSpPr>
          <p:grpSpPr bwMode="auto">
            <a:xfrm>
              <a:off x="492760" y="2697161"/>
              <a:ext cx="2870200" cy="1371600"/>
              <a:chOff x="3097" y="11510"/>
              <a:chExt cx="3930" cy="1881"/>
            </a:xfrm>
          </p:grpSpPr>
          <p:sp>
            <p:nvSpPr>
              <p:cNvPr id="38926" name="AutoShape 7"/>
              <p:cNvSpPr>
                <a:spLocks noChangeAspect="1" noChangeArrowheads="1"/>
              </p:cNvSpPr>
              <p:nvPr/>
            </p:nvSpPr>
            <p:spPr bwMode="auto">
              <a:xfrm>
                <a:off x="3097" y="11510"/>
                <a:ext cx="3930" cy="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38927" name="Picture 8" descr="t01e14838c83024a68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97" y="11510"/>
                <a:ext cx="1878" cy="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8" name="Picture 9" descr="7acb0a46f21fbe0981aca3076a600c338644ebf81a4c8d0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3" y="11615"/>
                <a:ext cx="1774" cy="1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8918" name="Group 11"/>
            <p:cNvGrpSpPr>
              <a:grpSpLocks noChangeAspect="1"/>
            </p:cNvGrpSpPr>
            <p:nvPr/>
          </p:nvGrpSpPr>
          <p:grpSpPr bwMode="auto">
            <a:xfrm>
              <a:off x="4378960" y="2773361"/>
              <a:ext cx="4114800" cy="1271588"/>
              <a:chOff x="3097" y="588"/>
              <a:chExt cx="5635" cy="1744"/>
            </a:xfrm>
          </p:grpSpPr>
          <p:sp>
            <p:nvSpPr>
              <p:cNvPr id="38923" name="AutoShape 12"/>
              <p:cNvSpPr>
                <a:spLocks noChangeAspect="1" noChangeArrowheads="1"/>
              </p:cNvSpPr>
              <p:nvPr/>
            </p:nvSpPr>
            <p:spPr bwMode="auto">
              <a:xfrm>
                <a:off x="3097" y="588"/>
                <a:ext cx="5635" cy="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38924" name="Picture 13" descr="rf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 y="588"/>
                <a:ext cx="2713" cy="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5" name="Picture 14" descr="13405428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97" y="588"/>
                <a:ext cx="2713" cy="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8919" name="Picture 15" descr="wpsB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2961" y="4602162"/>
              <a:ext cx="509587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Rectangle 16"/>
            <p:cNvSpPr>
              <a:spLocks noChangeArrowheads="1"/>
            </p:cNvSpPr>
            <p:nvPr/>
          </p:nvSpPr>
          <p:spPr bwMode="auto">
            <a:xfrm>
              <a:off x="797560" y="4068762"/>
              <a:ext cx="2368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a:t>图</a:t>
              </a:r>
              <a:r>
                <a:rPr lang="en-US" altLang="zh-CN"/>
                <a:t>1-10 </a:t>
              </a:r>
              <a:r>
                <a:rPr lang="zh-CN" altLang="en-US"/>
                <a:t>矩阵式二维码 </a:t>
              </a:r>
              <a:endParaRPr lang="zh-CN" altLang="en-US"/>
            </a:p>
          </p:txBody>
        </p:sp>
        <p:sp>
          <p:nvSpPr>
            <p:cNvPr id="38921" name="Rectangle 17"/>
            <p:cNvSpPr>
              <a:spLocks noChangeArrowheads="1"/>
            </p:cNvSpPr>
            <p:nvPr/>
          </p:nvSpPr>
          <p:spPr bwMode="auto">
            <a:xfrm>
              <a:off x="4912360" y="4000659"/>
              <a:ext cx="34848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l"/>
              <a:r>
                <a:rPr lang="zh-CN" altLang="en-US"/>
                <a:t>图</a:t>
              </a:r>
              <a:r>
                <a:rPr lang="en-US" altLang="zh-CN"/>
                <a:t>1-11 </a:t>
              </a:r>
              <a:r>
                <a:rPr lang="zh-CN" altLang="en-US"/>
                <a:t>采用</a:t>
              </a:r>
              <a:r>
                <a:rPr lang="en-US" altLang="zh-CN"/>
                <a:t>RFID</a:t>
              </a:r>
              <a:r>
                <a:rPr lang="zh-CN" altLang="en-US"/>
                <a:t>芯片的公交卡</a:t>
              </a:r>
              <a:endParaRPr lang="zh-CN" altLang="en-US"/>
            </a:p>
            <a:p>
              <a:pPr algn="l"/>
              <a:r>
                <a:rPr lang="en-US" altLang="zh-CN"/>
                <a:t>(Radio Frequency Identification)</a:t>
              </a:r>
              <a:r>
                <a:rPr lang="zh-CN" altLang="en-US"/>
                <a:t> </a:t>
              </a:r>
              <a:endParaRPr lang="zh-CN" altLang="en-US"/>
            </a:p>
          </p:txBody>
        </p:sp>
        <p:sp>
          <p:nvSpPr>
            <p:cNvPr id="38922" name="Rectangle 18"/>
            <p:cNvSpPr>
              <a:spLocks noChangeArrowheads="1"/>
            </p:cNvSpPr>
            <p:nvPr/>
          </p:nvSpPr>
          <p:spPr bwMode="auto">
            <a:xfrm>
              <a:off x="3312160" y="6126162"/>
              <a:ext cx="2825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a:t>图</a:t>
              </a:r>
              <a:r>
                <a:rPr lang="en-US" altLang="zh-CN"/>
                <a:t>1-12 </a:t>
              </a:r>
              <a:r>
                <a:rPr lang="zh-CN" altLang="en-US"/>
                <a:t>不同类型的传感器 </a:t>
              </a:r>
              <a:endParaRPr lang="zh-CN" altLang="en-US"/>
            </a:p>
          </p:txBody>
        </p:sp>
      </p:grpSp>
      <p:sp>
        <p:nvSpPr>
          <p:cNvPr id="2" name="对话气泡: 圆角矩形 1"/>
          <p:cNvSpPr/>
          <p:nvPr/>
        </p:nvSpPr>
        <p:spPr>
          <a:xfrm>
            <a:off x="8493964" y="4347528"/>
            <a:ext cx="3149545" cy="895964"/>
          </a:xfrm>
          <a:prstGeom prst="wedgeRoundRectCallout">
            <a:avLst>
              <a:gd name="adj1" fmla="val -51175"/>
              <a:gd name="adj2" fmla="val -103261"/>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b="0" i="0" dirty="0">
                <a:solidFill>
                  <a:srgbClr val="333333"/>
                </a:solidFill>
                <a:effectLst/>
                <a:latin typeface="Helvetica Neue"/>
              </a:rPr>
              <a:t>近场通信</a:t>
            </a:r>
            <a:r>
              <a:rPr lang="en-US" altLang="zh-CN" b="0" i="0" dirty="0">
                <a:solidFill>
                  <a:srgbClr val="333333"/>
                </a:solidFill>
                <a:effectLst/>
                <a:latin typeface="Helvetica Neue"/>
              </a:rPr>
              <a:t>NFC</a:t>
            </a:r>
            <a:endParaRPr lang="en-US" altLang="zh-CN" b="0" i="0" dirty="0">
              <a:solidFill>
                <a:srgbClr val="333333"/>
              </a:solidFill>
              <a:effectLst/>
              <a:latin typeface="Helvetica Neue"/>
            </a:endParaRPr>
          </a:p>
          <a:p>
            <a:pPr algn="ctr"/>
            <a:r>
              <a:rPr lang="en-US" altLang="zh-CN" b="0" i="0" dirty="0">
                <a:solidFill>
                  <a:srgbClr val="333333"/>
                </a:solidFill>
                <a:effectLst/>
                <a:latin typeface="Helvetica Neue"/>
              </a:rPr>
              <a:t>Near Field Communication</a:t>
            </a:r>
            <a:endParaRPr lang="zh-CN" altLang="en-US" dirty="0"/>
          </a:p>
        </p:txBody>
      </p:sp>
      <p:sp>
        <p:nvSpPr>
          <p:cNvPr id="5" name="标题 1"/>
          <p:cNvSpPr>
            <a:spLocks noGrp="1"/>
          </p:cNvSpPr>
          <p:nvPr>
            <p:custDataLst>
              <p:tags r:id="rId6"/>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.2</a:t>
            </a:r>
            <a:r>
              <a:rPr lang="zh-CN" altLang="en-US" sz="4400" b="1" dirty="0">
                <a:solidFill>
                  <a:srgbClr val="000000"/>
                </a:solidFill>
                <a:latin typeface="宋体" panose="02010600030101010101" pitchFamily="2" charset="-122"/>
                <a:ea typeface="宋体" panose="02010600030101010101" pitchFamily="2" charset="-122"/>
              </a:rPr>
              <a:t>物联网 </a:t>
            </a:r>
            <a:r>
              <a:rPr lang="zh-CN" altLang="en-US" b="1" dirty="0">
                <a:solidFill>
                  <a:srgbClr val="000000"/>
                </a:solidFill>
                <a:latin typeface="宋体" panose="02010600030101010101" pitchFamily="2" charset="-122"/>
                <a:ea typeface="宋体" panose="02010600030101010101" pitchFamily="2" charset="-122"/>
              </a:rPr>
              <a:t>关键</a:t>
            </a:r>
            <a:r>
              <a:rPr lang="zh-CN" altLang="en-US" sz="4400" b="1" dirty="0">
                <a:solidFill>
                  <a:srgbClr val="000000"/>
                </a:solidFill>
                <a:latin typeface="宋体" panose="02010600030101010101" pitchFamily="2" charset="-122"/>
                <a:ea typeface="宋体" panose="02010600030101010101" pitchFamily="2" charset="-122"/>
              </a:rPr>
              <a:t>技术</a:t>
            </a:r>
            <a:endParaRPr lang="zh-CN" altLang="en-US" sz="4400" b="1" dirty="0">
              <a:solidFill>
                <a:srgbClr val="000000"/>
              </a:solidFill>
              <a:latin typeface="宋体" panose="02010600030101010101" pitchFamily="2" charset="-122"/>
              <a:ea typeface="宋体" panose="02010600030101010101" pitchFamily="2" charset="-122"/>
            </a:endParaRPr>
          </a:p>
        </p:txBody>
      </p:sp>
      <p:sp>
        <p:nvSpPr>
          <p:cNvPr id="9" name="文本框 8"/>
          <p:cNvSpPr txBox="1"/>
          <p:nvPr/>
        </p:nvSpPr>
        <p:spPr>
          <a:xfrm>
            <a:off x="492760" y="1567698"/>
            <a:ext cx="3422444" cy="919401"/>
          </a:xfrm>
          <a:prstGeom prst="flowChartAlternateProcess">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marL="0" indent="0">
              <a:buNone/>
            </a:pPr>
            <a:r>
              <a:rPr lang="zh-CN" altLang="en-US" sz="2400" dirty="0"/>
              <a:t>感知层：</a:t>
            </a:r>
            <a:endParaRPr lang="en-US" altLang="zh-CN" sz="2400" dirty="0"/>
          </a:p>
          <a:p>
            <a:pPr marL="0" indent="0">
              <a:buNone/>
            </a:pPr>
            <a:r>
              <a:rPr lang="en-US" altLang="zh-CN" sz="2400" dirty="0"/>
              <a:t>	</a:t>
            </a:r>
            <a:r>
              <a:rPr lang="zh-CN" altLang="en-US" sz="2400" dirty="0"/>
              <a:t>识别和感知技术</a:t>
            </a:r>
            <a:endParaRPr lang="en-US" altLang="zh-CN" sz="2400" dirty="0"/>
          </a:p>
        </p:txBody>
      </p:sp>
      <p:sp>
        <p:nvSpPr>
          <p:cNvPr id="10" name="文本框 9"/>
          <p:cNvSpPr txBox="1"/>
          <p:nvPr/>
        </p:nvSpPr>
        <p:spPr>
          <a:xfrm>
            <a:off x="4045210" y="1561666"/>
            <a:ext cx="3422444" cy="919401"/>
          </a:xfrm>
          <a:prstGeom prst="flowChartAlternateProcess">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0" indent="0">
              <a:buNone/>
            </a:pPr>
            <a:r>
              <a:rPr lang="zh-CN" altLang="en-US" sz="2400" dirty="0"/>
              <a:t>网络层：</a:t>
            </a:r>
            <a:endParaRPr lang="en-US" altLang="zh-CN" sz="2400" dirty="0"/>
          </a:p>
          <a:p>
            <a:pPr marL="0" indent="0">
              <a:buNone/>
            </a:pPr>
            <a:r>
              <a:rPr lang="en-US" altLang="zh-CN" sz="2400" dirty="0"/>
              <a:t>	</a:t>
            </a:r>
            <a:r>
              <a:rPr lang="zh-CN" altLang="en-US" sz="2400" dirty="0"/>
              <a:t>网络与通信技术</a:t>
            </a:r>
            <a:endParaRPr lang="en-US" altLang="zh-CN" sz="2400" dirty="0"/>
          </a:p>
        </p:txBody>
      </p:sp>
      <p:sp>
        <p:nvSpPr>
          <p:cNvPr id="11" name="文本框 10"/>
          <p:cNvSpPr txBox="1"/>
          <p:nvPr/>
        </p:nvSpPr>
        <p:spPr>
          <a:xfrm>
            <a:off x="7597660" y="1561666"/>
            <a:ext cx="4268347" cy="919401"/>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zh-CN" altLang="en-US" sz="2400" dirty="0"/>
              <a:t>处理层：</a:t>
            </a:r>
            <a:endParaRPr lang="en-US" altLang="zh-CN" sz="2400" dirty="0"/>
          </a:p>
          <a:p>
            <a:r>
              <a:rPr lang="en-US" altLang="zh-CN" sz="2400" dirty="0"/>
              <a:t>	</a:t>
            </a:r>
            <a:r>
              <a:rPr lang="zh-CN" altLang="en-US" sz="2400" dirty="0"/>
              <a:t>数据挖掘与融合技术等</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9" grpId="0" animBg="1"/>
      <p:bldP spid="10"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0" name="Picture 5" descr="图片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4483" y="1690688"/>
            <a:ext cx="10151486"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.2</a:t>
            </a:r>
            <a:r>
              <a:rPr lang="zh-CN" altLang="en-US" sz="4400" b="1" dirty="0">
                <a:solidFill>
                  <a:srgbClr val="000000"/>
                </a:solidFill>
                <a:latin typeface="宋体" panose="02010600030101010101" pitchFamily="2" charset="-122"/>
                <a:ea typeface="宋体" panose="02010600030101010101" pitchFamily="2" charset="-122"/>
              </a:rPr>
              <a:t>物联网 应用</a:t>
            </a:r>
            <a:endParaRPr lang="zh-CN" altLang="en-US" sz="44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6" name="Picture 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72057" y="1452880"/>
            <a:ext cx="10447886" cy="530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.2</a:t>
            </a:r>
            <a:r>
              <a:rPr lang="zh-CN" altLang="en-US" sz="4400" b="1" dirty="0">
                <a:solidFill>
                  <a:srgbClr val="000000"/>
                </a:solidFill>
                <a:latin typeface="宋体" panose="02010600030101010101" pitchFamily="2" charset="-122"/>
                <a:ea typeface="宋体" panose="02010600030101010101" pitchFamily="2" charset="-122"/>
              </a:rPr>
              <a:t>物联网 产业链</a:t>
            </a:r>
            <a:endParaRPr lang="zh-CN" altLang="en-US" sz="44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9"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97933" y="1602659"/>
            <a:ext cx="10196134" cy="4890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1.8</a:t>
            </a:r>
            <a:r>
              <a:rPr lang="en-US" altLang="zh-CN" sz="4400" b="1" dirty="0">
                <a:solidFill>
                  <a:srgbClr val="000000"/>
                </a:solidFill>
                <a:latin typeface="宋体" panose="02010600030101010101" pitchFamily="2" charset="-122"/>
                <a:ea typeface="宋体" panose="02010600030101010101" pitchFamily="2" charset="-122"/>
              </a:rPr>
              <a:t>.3</a:t>
            </a:r>
            <a:r>
              <a:rPr lang="zh-CN" altLang="en-US" sz="4400" b="1" dirty="0">
                <a:solidFill>
                  <a:srgbClr val="000000"/>
                </a:solidFill>
                <a:latin typeface="宋体" panose="02010600030101010101" pitchFamily="2" charset="-122"/>
                <a:ea typeface="宋体" panose="02010600030101010101" pitchFamily="2" charset="-122"/>
              </a:rPr>
              <a:t>大数据与云计算、物联网的关系</a:t>
            </a:r>
            <a:endParaRPr lang="zh-CN" altLang="en-US" sz="44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400" b="1" dirty="0">
                <a:solidFill>
                  <a:srgbClr val="000000"/>
                </a:solidFill>
                <a:latin typeface="宋体" panose="02010600030101010101" pitchFamily="2" charset="-122"/>
                <a:ea typeface="宋体" panose="02010600030101010101" pitchFamily="2" charset="-122"/>
              </a:rPr>
              <a:t>第</a:t>
            </a:r>
            <a:r>
              <a:rPr lang="en-US" altLang="zh-CN" sz="4400" b="1" dirty="0">
                <a:solidFill>
                  <a:srgbClr val="000000"/>
                </a:solidFill>
                <a:latin typeface="宋体" panose="02010600030101010101" pitchFamily="2" charset="-122"/>
                <a:ea typeface="宋体" panose="02010600030101010101" pitchFamily="2" charset="-122"/>
              </a:rPr>
              <a:t>1</a:t>
            </a:r>
            <a:r>
              <a:rPr lang="zh-CN" altLang="en-US" sz="4400" b="1" dirty="0">
                <a:solidFill>
                  <a:srgbClr val="000000"/>
                </a:solidFill>
                <a:latin typeface="宋体" panose="02010600030101010101" pitchFamily="2" charset="-122"/>
                <a:ea typeface="宋体" panose="02010600030101010101" pitchFamily="2" charset="-122"/>
              </a:rPr>
              <a:t>章 小结</a:t>
            </a:r>
            <a:endParaRPr lang="zh-CN" altLang="en-US" sz="4400" b="1" dirty="0">
              <a:solidFill>
                <a:srgbClr val="000000"/>
              </a:solidFill>
              <a:latin typeface="宋体" panose="02010600030101010101" pitchFamily="2" charset="-122"/>
              <a:ea typeface="宋体" panose="02010600030101010101" pitchFamily="2" charset="-122"/>
            </a:endParaRPr>
          </a:p>
        </p:txBody>
      </p:sp>
      <p:sp>
        <p:nvSpPr>
          <p:cNvPr id="6" name="文本框 5"/>
          <p:cNvSpPr txBox="1"/>
          <p:nvPr/>
        </p:nvSpPr>
        <p:spPr>
          <a:xfrm>
            <a:off x="526026" y="1562869"/>
            <a:ext cx="11139948" cy="5016758"/>
          </a:xfrm>
          <a:prstGeom prst="rect">
            <a:avLst/>
          </a:prstGeom>
          <a:noFill/>
        </p:spPr>
        <p:txBody>
          <a:bodyPr wrap="square">
            <a:spAutoFit/>
          </a:bodyPr>
          <a:lstStyle/>
          <a:p>
            <a:pPr marL="285750" indent="-285750">
              <a:buFont typeface="Arial" panose="020B0604020202020204" pitchFamily="34" charset="0"/>
              <a:buChar char="•"/>
            </a:pPr>
            <a:r>
              <a:rPr lang="zh-CN" altLang="en-US" sz="2000" dirty="0"/>
              <a:t>介绍了大数据技术的发展历程，并指出</a:t>
            </a:r>
            <a:r>
              <a:rPr lang="zh-CN" altLang="en-US" sz="2000" dirty="0">
                <a:highlight>
                  <a:srgbClr val="FFFF00"/>
                </a:highlight>
              </a:rPr>
              <a:t>信息科技</a:t>
            </a:r>
            <a:r>
              <a:rPr lang="zh-CN" altLang="en-US" sz="2000" dirty="0"/>
              <a:t>的不断进步为大数据时代提供了技术支撑，</a:t>
            </a:r>
            <a:r>
              <a:rPr lang="zh-CN" altLang="en-US" sz="2000" dirty="0">
                <a:highlight>
                  <a:srgbClr val="FFFF00"/>
                </a:highlight>
              </a:rPr>
              <a:t>数据产生方式</a:t>
            </a:r>
            <a:r>
              <a:rPr lang="zh-CN" altLang="en-US" sz="2000" dirty="0"/>
              <a:t>的变革促成了大数据时代的来临</a:t>
            </a:r>
            <a:endParaRPr lang="zh-CN" altLang="en-US" sz="2000" dirty="0"/>
          </a:p>
          <a:p>
            <a:pPr marL="285750" indent="-285750">
              <a:buFont typeface="Arial" panose="020B0604020202020204" pitchFamily="34" charset="0"/>
              <a:buChar char="•"/>
            </a:pPr>
            <a:endParaRPr lang="zh-CN" altLang="en-US" sz="2000" dirty="0"/>
          </a:p>
          <a:p>
            <a:pPr marL="285750" indent="-285750">
              <a:buFont typeface="Arial" panose="020B0604020202020204" pitchFamily="34" charset="0"/>
              <a:buChar char="•"/>
            </a:pPr>
            <a:r>
              <a:rPr lang="zh-CN" altLang="en-US" sz="2000" dirty="0"/>
              <a:t>大数据具有</a:t>
            </a:r>
            <a:r>
              <a:rPr lang="zh-CN" altLang="en-US" sz="2000" dirty="0">
                <a:highlight>
                  <a:srgbClr val="FFFF00"/>
                </a:highlight>
              </a:rPr>
              <a:t>数据量大、数据类型繁多、处理速度快、价值密度低</a:t>
            </a:r>
            <a:r>
              <a:rPr lang="zh-CN" altLang="en-US" sz="2000" dirty="0"/>
              <a:t>等特点，统称“</a:t>
            </a:r>
            <a:r>
              <a:rPr lang="en-US" altLang="zh-CN" sz="2000" dirty="0"/>
              <a:t>4V”</a:t>
            </a:r>
            <a:r>
              <a:rPr lang="zh-CN" altLang="en-US" sz="2000" dirty="0"/>
              <a:t>。</a:t>
            </a:r>
            <a:endParaRPr lang="zh-CN" altLang="en-US" sz="2000" dirty="0"/>
          </a:p>
          <a:p>
            <a:pPr marL="285750" indent="-285750">
              <a:buFont typeface="Arial" panose="020B0604020202020204" pitchFamily="34" charset="0"/>
              <a:buChar char="•"/>
            </a:pPr>
            <a:r>
              <a:rPr lang="zh-CN" altLang="en-US" sz="2000" dirty="0"/>
              <a:t>大数据对</a:t>
            </a:r>
            <a:r>
              <a:rPr lang="zh-CN" altLang="en-US" sz="2000" dirty="0">
                <a:highlight>
                  <a:srgbClr val="FFFF00"/>
                </a:highlight>
              </a:rPr>
              <a:t>科学研究、思维方式</a:t>
            </a:r>
            <a:r>
              <a:rPr lang="zh-CN" altLang="en-US" sz="2000" dirty="0"/>
              <a:t>、社会发展、就业市场和人才培养等方面，都产生了重要的影响，深刻理解大数据的这些影响，有助于我们更好把握学习和应用大数据的方向</a:t>
            </a:r>
            <a:endParaRPr lang="zh-CN" altLang="en-US" sz="2000" dirty="0"/>
          </a:p>
          <a:p>
            <a:pPr marL="285750" indent="-285750">
              <a:buFont typeface="Arial" panose="020B0604020202020204" pitchFamily="34" charset="0"/>
              <a:buChar char="•"/>
            </a:pPr>
            <a:endParaRPr lang="zh-CN" altLang="en-US" sz="2000" dirty="0"/>
          </a:p>
          <a:p>
            <a:pPr marL="285750" indent="-285750">
              <a:buFont typeface="Arial" panose="020B0604020202020204" pitchFamily="34" charset="0"/>
              <a:buChar char="•"/>
            </a:pPr>
            <a:r>
              <a:rPr lang="zh-CN" altLang="en-US" sz="2000" dirty="0"/>
              <a:t>大数据在社会各行各业都得到了日益广泛的应用，深刻地改变着我们的社会生产和日常生活</a:t>
            </a:r>
            <a:endParaRPr lang="zh-CN" altLang="en-US" sz="2000" dirty="0"/>
          </a:p>
          <a:p>
            <a:pPr marL="285750" indent="-285750">
              <a:buFont typeface="Arial" panose="020B0604020202020204" pitchFamily="34" charset="0"/>
              <a:buChar char="•"/>
            </a:pPr>
            <a:endParaRPr lang="zh-CN" altLang="en-US" sz="2000" dirty="0"/>
          </a:p>
          <a:p>
            <a:pPr marL="285750" indent="-285750">
              <a:buFont typeface="Arial" panose="020B0604020202020204" pitchFamily="34" charset="0"/>
              <a:buChar char="•"/>
            </a:pPr>
            <a:r>
              <a:rPr lang="zh-CN" altLang="en-US" sz="2000" dirty="0"/>
              <a:t>大数据并非单一的数据或技术，而是数据和大数据技术的综合体。大数据技术主要包括数据采集、数据存储和管理、数据处理与分析、数据安全和隐私保护等几个层面的内容</a:t>
            </a:r>
            <a:endParaRPr lang="zh-CN" altLang="en-US" sz="2000" dirty="0"/>
          </a:p>
          <a:p>
            <a:pPr marL="285750" indent="-285750">
              <a:buFont typeface="Arial" panose="020B0604020202020204" pitchFamily="34" charset="0"/>
              <a:buChar char="•"/>
            </a:pPr>
            <a:endParaRPr lang="zh-CN" altLang="en-US" sz="2000" dirty="0"/>
          </a:p>
          <a:p>
            <a:pPr marL="285750" indent="-285750">
              <a:buFont typeface="Arial" panose="020B0604020202020204" pitchFamily="34" charset="0"/>
              <a:buChar char="•"/>
            </a:pPr>
            <a:r>
              <a:rPr lang="zh-CN" altLang="en-US" sz="2000" dirty="0"/>
              <a:t>大数据产业包括</a:t>
            </a:r>
            <a:r>
              <a:rPr lang="en-US" altLang="zh-CN" sz="2000" dirty="0"/>
              <a:t>IT</a:t>
            </a:r>
            <a:r>
              <a:rPr lang="zh-CN" altLang="en-US" sz="2000" dirty="0"/>
              <a:t>基础设施层、数据源层、数据管理层、数据分析层、数据平台层和数据应用层，在不同层面，都已经形成了一批引领市场的技术和企业</a:t>
            </a:r>
            <a:endParaRPr lang="zh-CN" altLang="en-US"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r>
              <a:rPr lang="zh-CN" altLang="en-US" sz="2000" dirty="0"/>
              <a:t>介绍了云计算和物联网的概念和关键技术，并阐述了三者之间的区别与联系</a:t>
            </a:r>
            <a:endParaRPr lang="zh-CN" altLang="en-US" sz="2000" dirty="0"/>
          </a:p>
        </p:txBody>
      </p:sp>
    </p:spTree>
  </p:cSld>
  <p:clrMapOvr>
    <a:masterClrMapping/>
  </p:clrMapOvr>
</p:sld>
</file>

<file path=ppt/tags/tag1.xml><?xml version="1.0" encoding="utf-8"?>
<p:tagLst xmlns:p="http://schemas.openxmlformats.org/presentationml/2006/main">
  <p:tag name="TABLE_ENDDRAG_ORIGIN_RECT" val="635*196"/>
  <p:tag name="TABLE_ENDDRAG_RECT" val="118*113*635*196"/>
</p:tagLst>
</file>

<file path=ppt/tags/tag2.xml><?xml version="1.0" encoding="utf-8"?>
<p:tagLst xmlns:p="http://schemas.openxmlformats.org/presentationml/2006/main">
  <p:tag name="KSO_WM_UNIT_PLACING_PICTURE_USER_VIEWPORT" val="{&quot;height&quot;:3150,&quot;width&quot;:5400}"/>
</p:tagLst>
</file>

<file path=ppt/tags/tag3.xml><?xml version="1.0" encoding="utf-8"?>
<p:tagLst xmlns:p="http://schemas.openxmlformats.org/presentationml/2006/main">
  <p:tag name="KSO_WM_UNIT_TABLE_BEAUTIFY" val="smartTable{8d59e54f-85bc-434b-9e10-1d0b8892690c}"/>
  <p:tag name="TABLE_ENDDRAG_ORIGIN_RECT" val="777*383"/>
  <p:tag name="TABLE_ENDDRAG_RECT" val="97*183*777*383"/>
</p:tagLst>
</file>

<file path=ppt/tags/tag4.xml><?xml version="1.0" encoding="utf-8"?>
<p:tagLst xmlns:p="http://schemas.openxmlformats.org/presentationml/2006/main">
  <p:tag name="TABLE_ENDDRAG_ORIGIN_RECT" val="136*226"/>
  <p:tag name="TABLE_ENDDRAG_RECT" val="29*186*136*226"/>
</p:tagLst>
</file>

<file path=ppt/tags/tag5.xml><?xml version="1.0" encoding="utf-8"?>
<p:tagLst xmlns:p="http://schemas.openxmlformats.org/presentationml/2006/main">
  <p:tag name="TABLE_ENDDRAG_ORIGIN_RECT" val="136*226"/>
  <p:tag name="TABLE_ENDDRAG_RECT" val="29*186*136*226"/>
</p:tagLst>
</file>

<file path=ppt/tags/tag6.xml><?xml version="1.0" encoding="utf-8"?>
<p:tagLst xmlns:p="http://schemas.openxmlformats.org/presentationml/2006/main">
  <p:tag name="TABLE_ENDDRAG_ORIGIN_RECT" val="136*226"/>
  <p:tag name="TABLE_ENDDRAG_RECT" val="29*186*136*226"/>
</p:tagLst>
</file>

<file path=ppt/tags/tag7.xml><?xml version="1.0" encoding="utf-8"?>
<p:tagLst xmlns:p="http://schemas.openxmlformats.org/presentationml/2006/main">
  <p:tag name="RAINPROBLEM" val="ProblemRemarkBoard"/>
</p:tagLst>
</file>

<file path=ppt/tags/tag8.xml><?xml version="1.0" encoding="utf-8"?>
<p:tagLst xmlns:p="http://schemas.openxmlformats.org/presentationml/2006/main">
  <p:tag name="RAINPROBLEM" val="ProblemBody"/>
</p:tagLst>
</file>

<file path=ppt/tags/tag9.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10.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11.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12.xml><?xml version="1.0" encoding="utf-8"?>
<p:tagLst xmlns:p="http://schemas.openxmlformats.org/presentationml/2006/main">
  <p:tag name="RAINPROBLEM" val="ProblemItem"/>
  <p:tag name="KSO_WM_DIAGRAM_VIRTUALLY_FRAME" val="{&quot;height&quot;:253.1250393700788,&quot;left&quot;:123.75,&quot;top&quot;:219.37503937007872,&quot;width&quot;:740.25}"/>
</p:tagLst>
</file>

<file path=ppt/tags/tag13.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14.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15.xml><?xml version="1.0" encoding="utf-8"?>
<p:tagLst xmlns:p="http://schemas.openxmlformats.org/presentationml/2006/main">
  <p:tag name="RAINPROBLEM" val="ProblemBullet"/>
  <p:tag name="RAINPROBLEMTYPE" val="MultipleChoice"/>
  <p:tag name="RAINBULLET" val="Wrong"/>
  <p:tag name="KSO_WM_DIAGRAM_VIRTUALLY_FRAME" val="{&quot;height&quot;:253.1250393700788,&quot;left&quot;:123.75,&quot;top&quot;:219.37503937007872,&quot;width&quot;:740.25}"/>
</p:tagLst>
</file>

<file path=ppt/tags/tag16.xml><?xml version="1.0" encoding="utf-8"?>
<p:tagLst xmlns:p="http://schemas.openxmlformats.org/presentationml/2006/main">
  <p:tag name="RAINPROBLEM" val="ProblemBullet"/>
  <p:tag name="RAINPROBLEMTYPE" val="MultipleChoice"/>
  <p:tag name="RAINBULLET" val="Correct"/>
  <p:tag name="KSO_WM_DIAGRAM_VIRTUALLY_FRAME" val="{&quot;height&quot;:253.1250393700788,&quot;left&quot;:123.75,&quot;top&quot;:219.37503937007872,&quot;width&quot;:740.25}"/>
</p:tagLst>
</file>

<file path=ppt/tags/tag17.xml><?xml version="1.0" encoding="utf-8"?>
<p:tagLst xmlns:p="http://schemas.openxmlformats.org/presentationml/2006/main">
  <p:tag name="RAINPROBLEM" val="ProblemSubmit"/>
  <p:tag name="RAINPROBLEMTYPE" val="MultipleChoice"/>
</p:tagLst>
</file>

<file path=ppt/tags/tag18.xml><?xml version="1.0" encoding="utf-8"?>
<p:tagLst xmlns:p="http://schemas.openxmlformats.org/presentationml/2006/main">
  <p:tag name="PROBLEMREMARKTITLE" val="ProblemRemarkBoardTip"/>
</p:tagLst>
</file>

<file path=ppt/tags/tag19.xml><?xml version="1.0" encoding="utf-8"?>
<p:tagLst xmlns:p="http://schemas.openxmlformats.org/presentationml/2006/main">
  <p:tag name="RAINPROBLEM" val="ProblemRemark"/>
</p:tagLst>
</file>

<file path=ppt/tags/tag20.xml><?xml version="1.0" encoding="utf-8"?>
<p:tagLst xmlns:p="http://schemas.openxmlformats.org/presentationml/2006/main">
  <p:tag name="PROBLEMREMARKTITLE" val="ProblemRemarkBoardTitle"/>
</p:tagLst>
</file>

<file path=ppt/tags/tag21.xml><?xml version="1.0" encoding="utf-8"?>
<p:tagLst xmlns:p="http://schemas.openxmlformats.org/presentationml/2006/main">
  <p:tag name="PROBLEMREMARKTITLE" val="ProblemRemarkBoardTitle"/>
</p:tagLst>
</file>

<file path=ppt/tags/tag22.xml><?xml version="1.0" encoding="utf-8"?>
<p:tagLst xmlns:p="http://schemas.openxmlformats.org/presentationml/2006/main">
  <p:tag name="PROBLEMREMARKTITLE" val="ProblemRemarkBoardTitle"/>
</p:tagLst>
</file>

<file path=ppt/tags/tag23.xml><?xml version="1.0" encoding="utf-8"?>
<p:tagLst xmlns:p="http://schemas.openxmlformats.org/presentationml/2006/main">
  <p:tag name="PROBLEMREMARKTITLE" val="ProblemRemarkBoardTitle"/>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 val="ProblemSetting"/>
  <p:tag name="RAINPROBLEMTYPE" val="MultipleChoice"/>
</p:tagLst>
</file>

<file path=ppt/tags/tag30.xml><?xml version="1.0" encoding="utf-8"?>
<p:tagLst xmlns:p="http://schemas.openxmlformats.org/presentationml/2006/main">
  <p:tag name="RAINPROBLEM" val="MultipleChoice"/>
  <p:tag name="PROBLEMSCORE" val="1.0"/>
  <p:tag name="PROBLEMHASREMARK" val="True"/>
  <p:tag name="PROBLEMREMARK" val="应该是价值密度低"/>
</p:tagLst>
</file>

<file path=ppt/tags/tag31.xml><?xml version="1.0" encoding="utf-8"?>
<p:tagLst xmlns:p="http://schemas.openxmlformats.org/presentationml/2006/main">
  <p:tag name="RAINPROBLEM" val="ProblemBody"/>
</p:tagLst>
</file>

<file path=ppt/tags/tag32.xml><?xml version="1.0" encoding="utf-8"?>
<p:tagLst xmlns:p="http://schemas.openxmlformats.org/presentationml/2006/main">
  <p:tag name="RAINPROBLEM" val="ProblemItem"/>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Item"/>
</p:tagLst>
</file>

<file path=ppt/tags/tag35.xml><?xml version="1.0" encoding="utf-8"?>
<p:tagLst xmlns:p="http://schemas.openxmlformats.org/presentationml/2006/main">
  <p:tag name="RAINPROBLEM" val="ProblemItem"/>
</p:tagLst>
</file>

<file path=ppt/tags/tag36.xml><?xml version="1.0" encoding="utf-8"?>
<p:tagLst xmlns:p="http://schemas.openxmlformats.org/presentationml/2006/main">
  <p:tag name="RAINPROBLEM" val="ProblemBullet"/>
  <p:tag name="RAINPROBLEMTYPE" val="MultipleChoice"/>
  <p:tag name="RAINBULLET" val="Wrong"/>
</p:tagLst>
</file>

<file path=ppt/tags/tag37.xml><?xml version="1.0" encoding="utf-8"?>
<p:tagLst xmlns:p="http://schemas.openxmlformats.org/presentationml/2006/main">
  <p:tag name="RAINPROBLEM" val="ProblemBullet"/>
  <p:tag name="RAINPROBLEMTYPE" val="MultipleChoice"/>
  <p:tag name="RAINBULLET" val="Wrong"/>
</p:tagLst>
</file>

<file path=ppt/tags/tag38.xml><?xml version="1.0" encoding="utf-8"?>
<p:tagLst xmlns:p="http://schemas.openxmlformats.org/presentationml/2006/main">
  <p:tag name="RAINPROBLEM" val="ProblemBullet"/>
  <p:tag name="RAINPROBLEMTYPE" val="MultipleChoice"/>
  <p:tag name="RAINBULLET" val="Wrong"/>
</p:tagLst>
</file>

<file path=ppt/tags/tag39.xml><?xml version="1.0" encoding="utf-8"?>
<p:tagLst xmlns:p="http://schemas.openxmlformats.org/presentationml/2006/main">
  <p:tag name="RAINPROBLEM" val="ProblemBullet"/>
  <p:tag name="RAINPROBLEMTYPE" val="MultipleChoice"/>
  <p:tag name="RAINBULLET" val="Correct"/>
</p:tagLst>
</file>

<file path=ppt/tags/tag40.xml><?xml version="1.0" encoding="utf-8"?>
<p:tagLst xmlns:p="http://schemas.openxmlformats.org/presentationml/2006/main">
  <p:tag name="RAINPROBLEM" val="ProblemSubmit"/>
  <p:tag name="RAINPROBLEMTYPE" val="MultipleChoice"/>
</p:tagLst>
</file>

<file path=ppt/tags/tag41.xml><?xml version="1.0" encoding="utf-8"?>
<p:tagLst xmlns:p="http://schemas.openxmlformats.org/presentationml/2006/main">
  <p:tag name="RAINPROBLEM" val="ProblemRemarkBoard"/>
</p:tagLst>
</file>

<file path=ppt/tags/tag42.xml><?xml version="1.0" encoding="utf-8"?>
<p:tagLst xmlns:p="http://schemas.openxmlformats.org/presentationml/2006/main">
  <p:tag name="PROBLEMREMARKTITLE" val="ProblemRemarkBoardTip"/>
</p:tagLst>
</file>

<file path=ppt/tags/tag43.xml><?xml version="1.0" encoding="utf-8"?>
<p:tagLst xmlns:p="http://schemas.openxmlformats.org/presentationml/2006/main">
  <p:tag name="RAINPROBLEM" val="ProblemRemark"/>
</p:tagLst>
</file>

<file path=ppt/tags/tag44.xml><?xml version="1.0" encoding="utf-8"?>
<p:tagLst xmlns:p="http://schemas.openxmlformats.org/presentationml/2006/main">
  <p:tag name="PROBLEMREMARKTITLE" val="ProblemRemarkBoardTitle"/>
</p:tagLst>
</file>

<file path=ppt/tags/tag45.xml><?xml version="1.0" encoding="utf-8"?>
<p:tagLst xmlns:p="http://schemas.openxmlformats.org/presentationml/2006/main">
  <p:tag name="PROBLEMREMARKTITLE" val="ProblemRemarkBoardTitle"/>
</p:tagLst>
</file>

<file path=ppt/tags/tag46.xml><?xml version="1.0" encoding="utf-8"?>
<p:tagLst xmlns:p="http://schemas.openxmlformats.org/presentationml/2006/main">
  <p:tag name="PROBLEMREMARKTITLE" val="ProblemRemarkBoardTitle"/>
</p:tagLst>
</file>

<file path=ppt/tags/tag47.xml><?xml version="1.0" encoding="utf-8"?>
<p:tagLst xmlns:p="http://schemas.openxmlformats.org/presentationml/2006/main">
  <p:tag name="PROBLEMREMARKTITLE" val="ProblemRemarkBoardTitle"/>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 val="ProblemSetting"/>
  <p:tag name="RAINPROBLEMTYPE" val="MultipleChoice"/>
</p:tagLst>
</file>

<file path=ppt/tags/tag54.xml><?xml version="1.0" encoding="utf-8"?>
<p:tagLst xmlns:p="http://schemas.openxmlformats.org/presentationml/2006/main">
  <p:tag name="RAINPROBLEM" val="MultipleChoice"/>
  <p:tag name="PROBLEMSCORE" val="1.0"/>
  <p:tag name="PROBLEMHASREMARK" val="True"/>
  <p:tag name="PROBLEMREMARK" val="D属于对科学研究的影响"/>
</p:tagLst>
</file>

<file path=ppt/tags/tag55.xml><?xml version="1.0" encoding="utf-8"?>
<p:tagLst xmlns:p="http://schemas.openxmlformats.org/presentationml/2006/main">
  <p:tag name="KSO_WM_UNIT_TABLE_BEAUTIFY" val="smartTable{67d702ec-940c-43d3-a12c-b19a6631abab}"/>
  <p:tag name="TABLE_ENDDRAG_ORIGIN_RECT" val="867*439"/>
  <p:tag name="TABLE_ENDDRAG_RECT" val="47*141*867*439"/>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UNIT_PLACING_PICTURE_USER_VIEWPORT" val="{&quot;height&quot;:5850,&quot;width&quot;:8640}"/>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PP_MARK_KEY" val="b6b11f8e-c8aa-4790-a55d-ceede10e912b"/>
  <p:tag name="COMMONDATA" val="eyJoZGlkIjoiOTRkNmFmZjRjMzI3MTQ3ZWFlYjhlZWM3YzFkOWNm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5672</Words>
  <Application>WPS 演示</Application>
  <PresentationFormat>宽屏</PresentationFormat>
  <Paragraphs>999</Paragraphs>
  <Slides>50</Slides>
  <Notes>1</Notes>
  <HiddenSlides>1</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50</vt:i4>
      </vt:variant>
    </vt:vector>
  </HeadingPairs>
  <TitlesOfParts>
    <vt:vector size="71" baseType="lpstr">
      <vt:lpstr>Arial</vt:lpstr>
      <vt:lpstr>宋体</vt:lpstr>
      <vt:lpstr>Wingdings</vt:lpstr>
      <vt:lpstr>楷体</vt:lpstr>
      <vt:lpstr>Calibri</vt:lpstr>
      <vt:lpstr>等线 Light</vt:lpstr>
      <vt:lpstr>等线</vt:lpstr>
      <vt:lpstr>微软雅黑</vt:lpstr>
      <vt:lpstr>Arial Unicode MS</vt:lpstr>
      <vt:lpstr>PingFang SC</vt:lpstr>
      <vt:lpstr>Segoe Print</vt:lpstr>
      <vt:lpstr>Times New Roman</vt:lpstr>
      <vt:lpstr>Lucida Sans Unicode</vt:lpstr>
      <vt:lpstr>黑体</vt:lpstr>
      <vt:lpstr>Helvetica Neue</vt:lpstr>
      <vt:lpstr>Helvetica Neue</vt:lpstr>
      <vt:lpstr>PingFang SC</vt:lpstr>
      <vt:lpstr>Wingdings</vt:lpstr>
      <vt:lpstr>Sweetie</vt:lpstr>
      <vt:lpstr>Office 主题​​</vt:lpstr>
      <vt:lpstr>1_Office 主题​​</vt:lpstr>
      <vt:lpstr>大数据管理</vt:lpstr>
      <vt:lpstr>成绩评定</vt:lpstr>
      <vt:lpstr>教学设计</vt:lpstr>
      <vt:lpstr>课程概述</vt:lpstr>
      <vt:lpstr>课程思政</vt:lpstr>
      <vt:lpstr>PowerPoint 演示文稿</vt:lpstr>
      <vt:lpstr>第一篇	大数据基础</vt:lpstr>
      <vt:lpstr>第1章	大数据概述</vt:lpstr>
      <vt:lpstr>1.1大数据时代</vt:lpstr>
      <vt:lpstr>PowerPoint 演示文稿</vt:lpstr>
      <vt:lpstr>PowerPoint 演示文稿</vt:lpstr>
      <vt:lpstr>PowerPoint 演示文稿</vt:lpstr>
      <vt:lpstr>PowerPoint 演示文稿</vt:lpstr>
      <vt:lpstr>PowerPoint 演示文稿</vt:lpstr>
      <vt:lpstr>PowerPoint 演示文稿</vt:lpstr>
      <vt:lpstr>1.2 大数据的概念</vt:lpstr>
      <vt:lpstr>1.2.1	数据量大</vt:lpstr>
      <vt:lpstr>1.2.1	数据量大</vt:lpstr>
      <vt:lpstr>1.2.2 数据类型繁多</vt:lpstr>
      <vt:lpstr>1.2.3	处理速度快</vt:lpstr>
      <vt:lpstr>1.2.4	价值密度低</vt:lpstr>
      <vt:lpstr>PowerPoint 演示文稿</vt:lpstr>
      <vt:lpstr>1.3大数据的影响</vt:lpstr>
      <vt:lpstr>1.3.1 大数据对科学研究的影响</vt:lpstr>
      <vt:lpstr>1.3.2 大数据对思维方式的影响</vt:lpstr>
      <vt:lpstr>1.3.3 大数据对社会发展的影响</vt:lpstr>
      <vt:lpstr>1.3.3 大数据对其它方面的影响</vt:lpstr>
      <vt:lpstr>PowerPoint 演示文稿</vt:lpstr>
      <vt:lpstr>1.4 大数据的应用</vt:lpstr>
      <vt:lpstr>1.5 大数据关键技术</vt:lpstr>
      <vt:lpstr>1.5 大数据关键技术</vt:lpstr>
      <vt:lpstr>1.5 大数据关键技术</vt:lpstr>
      <vt:lpstr>1.5 大数据关键技术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大数据管理</dc:title>
  <dc:creator>zitong chen</dc:creator>
  <cp:lastModifiedBy>大洋儿</cp:lastModifiedBy>
  <cp:revision>125</cp:revision>
  <dcterms:created xsi:type="dcterms:W3CDTF">2023-01-31T13:03:00Z</dcterms:created>
  <dcterms:modified xsi:type="dcterms:W3CDTF">2026-03-02T17:22:54Z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7CEE87793684416C98B6904C1664707A</vt:lpwstr>
  </property>
  <property fmtid="{D5CDD505-2E9C-101B-9397-08002B2CF9AE}" pid="3" name="KSOProductBuildVer">
    <vt:lpwstr>2052-12.1.0.25225</vt:lpwstr>
  </property>
</Properties>
</file>