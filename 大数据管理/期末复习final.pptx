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552" r:id="rId3"/>
    <p:sldId id="261" r:id="rId4"/>
    <p:sldId id="558" r:id="rId5"/>
    <p:sldId id="505" r:id="rId6"/>
    <p:sldId id="507" r:id="rId7"/>
    <p:sldId id="509" r:id="rId8"/>
    <p:sldId id="510" r:id="rId9"/>
    <p:sldId id="512" r:id="rId10"/>
    <p:sldId id="513" r:id="rId11"/>
    <p:sldId id="514" r:id="rId12"/>
    <p:sldId id="559" r:id="rId13"/>
    <p:sldId id="560" r:id="rId14"/>
    <p:sldId id="515" r:id="rId15"/>
    <p:sldId id="516" r:id="rId16"/>
    <p:sldId id="517" r:id="rId17"/>
    <p:sldId id="518" r:id="rId18"/>
    <p:sldId id="519" r:id="rId19"/>
    <p:sldId id="520" r:id="rId20"/>
    <p:sldId id="521" r:id="rId21"/>
    <p:sldId id="522" r:id="rId22"/>
    <p:sldId id="523" r:id="rId23"/>
    <p:sldId id="524" r:id="rId24"/>
    <p:sldId id="525" r:id="rId25"/>
    <p:sldId id="526" r:id="rId26"/>
    <p:sldId id="527" r:id="rId27"/>
    <p:sldId id="529" r:id="rId28"/>
    <p:sldId id="530" r:id="rId29"/>
    <p:sldId id="562" r:id="rId30"/>
    <p:sldId id="532" r:id="rId31"/>
    <p:sldId id="534" r:id="rId32"/>
    <p:sldId id="533" r:id="rId33"/>
    <p:sldId id="535" r:id="rId34"/>
    <p:sldId id="537" r:id="rId35"/>
    <p:sldId id="538" r:id="rId36"/>
    <p:sldId id="539" r:id="rId37"/>
    <p:sldId id="541" r:id="rId38"/>
    <p:sldId id="540" r:id="rId39"/>
    <p:sldId id="564" r:id="rId40"/>
    <p:sldId id="563" r:id="rId41"/>
    <p:sldId id="546" r:id="rId42"/>
    <p:sldId id="557" r:id="rId43"/>
    <p:sldId id="547" r:id="rId44"/>
    <p:sldId id="548" r:id="rId45"/>
    <p:sldId id="549" r:id="rId46"/>
    <p:sldId id="554" r:id="rId47"/>
  </p:sldIdLst>
  <p:sldSz cx="12192000" cy="6858000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7BAA017-895A-4695-977D-26ECAE1C0C07}">
          <p14:sldIdLst>
            <p14:sldId id="256"/>
            <p14:sldId id="552"/>
            <p14:sldId id="261"/>
            <p14:sldId id="558"/>
            <p14:sldId id="505"/>
            <p14:sldId id="507"/>
            <p14:sldId id="509"/>
            <p14:sldId id="510"/>
            <p14:sldId id="512"/>
            <p14:sldId id="513"/>
            <p14:sldId id="514"/>
            <p14:sldId id="559"/>
            <p14:sldId id="560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9"/>
            <p14:sldId id="530"/>
            <p14:sldId id="562"/>
            <p14:sldId id="532"/>
            <p14:sldId id="534"/>
            <p14:sldId id="533"/>
            <p14:sldId id="535"/>
            <p14:sldId id="537"/>
            <p14:sldId id="538"/>
            <p14:sldId id="539"/>
            <p14:sldId id="541"/>
            <p14:sldId id="540"/>
            <p14:sldId id="564"/>
            <p14:sldId id="563"/>
            <p14:sldId id="546"/>
            <p14:sldId id="557"/>
            <p14:sldId id="547"/>
            <p14:sldId id="548"/>
            <p14:sldId id="549"/>
            <p14:sldId id="5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#1">
  <dgm:title val=""/>
  <dgm:desc val=""/>
  <dgm:catLst>
    <dgm:cat type="accent6" pri="11400"/>
  </dgm:catLst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54C129-E42D-4829-8626-1BB8D7A2888D}" type="doc">
      <dgm:prSet loTypeId="urn:microsoft.com/office/officeart/2008/layout/RadialCluster#1" loCatId="relationship" qsTypeId="urn:microsoft.com/office/officeart/2005/8/quickstyle/simple2#1" qsCatId="simple" csTypeId="urn:microsoft.com/office/officeart/2005/8/colors/accent6_4#1" csCatId="accent6" phldr="1"/>
      <dgm:spPr/>
      <dgm:t>
        <a:bodyPr/>
        <a:lstStyle/>
        <a:p>
          <a:endParaRPr lang="zh-CN" altLang="en-US"/>
        </a:p>
      </dgm:t>
    </dgm:pt>
    <dgm:pt modelId="{748C12E9-83A0-415F-B588-D8EEF2CD3E2E}">
      <dgm:prSet phldrT="[文本]" custT="1"/>
      <dgm:spPr/>
      <dgm:t>
        <a:bodyPr/>
        <a:lstStyle/>
        <a:p>
          <a:r>
            <a:rPr lang="en-US" altLang="zh-CN" sz="3200" dirty="0"/>
            <a:t>NoSQL</a:t>
          </a:r>
          <a:endParaRPr lang="zh-CN" altLang="en-US" sz="3200" dirty="0"/>
        </a:p>
      </dgm:t>
    </dgm:pt>
    <dgm:pt modelId="{589F1C8D-45D5-444E-BA1A-5D95392D63EA}" type="parTrans" cxnId="{C1EF15B4-3682-484A-8E4B-A77976527A01}">
      <dgm:prSet/>
      <dgm:spPr/>
      <dgm:t>
        <a:bodyPr/>
        <a:lstStyle/>
        <a:p>
          <a:endParaRPr lang="zh-CN" altLang="en-US" sz="2400"/>
        </a:p>
      </dgm:t>
    </dgm:pt>
    <dgm:pt modelId="{BE15DA07-3E12-4D46-996E-2658B0DB6AC0}" type="sibTrans" cxnId="{C1EF15B4-3682-484A-8E4B-A77976527A01}">
      <dgm:prSet/>
      <dgm:spPr/>
      <dgm:t>
        <a:bodyPr/>
        <a:lstStyle/>
        <a:p>
          <a:endParaRPr lang="zh-CN" altLang="en-US" sz="2400"/>
        </a:p>
      </dgm:t>
    </dgm:pt>
    <dgm:pt modelId="{94B3BF18-F5AE-4643-85A1-A2BF5D1D1CEB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200" dirty="0"/>
            <a:t>CAP</a:t>
          </a:r>
        </a:p>
      </dgm:t>
    </dgm:pt>
    <dgm:pt modelId="{A86C564F-27BC-4B86-87AC-F119299E198A}" type="parTrans" cxnId="{960C1254-9A20-48F5-AD5B-6E05D25E62EA}">
      <dgm:prSet/>
      <dgm:spPr/>
      <dgm:t>
        <a:bodyPr/>
        <a:lstStyle/>
        <a:p>
          <a:endParaRPr lang="zh-CN" altLang="en-US" sz="2400"/>
        </a:p>
      </dgm:t>
    </dgm:pt>
    <dgm:pt modelId="{FA0F032E-B7A3-42B3-B1E5-28DE68E0C174}" type="sibTrans" cxnId="{960C1254-9A20-48F5-AD5B-6E05D25E62EA}">
      <dgm:prSet/>
      <dgm:spPr/>
      <dgm:t>
        <a:bodyPr/>
        <a:lstStyle/>
        <a:p>
          <a:endParaRPr lang="zh-CN" altLang="en-US" sz="2400"/>
        </a:p>
      </dgm:t>
    </dgm:pt>
    <dgm:pt modelId="{47BEC2F0-1933-4566-9A6F-CAF098B266DF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dirty="0"/>
            <a:t>BASE</a:t>
          </a:r>
        </a:p>
      </dgm:t>
    </dgm:pt>
    <dgm:pt modelId="{187F603D-9866-419E-9813-10E1ABC51234}" type="parTrans" cxnId="{4D1CC28F-63D8-4537-A888-C7EA4B8534FB}">
      <dgm:prSet/>
      <dgm:spPr/>
      <dgm:t>
        <a:bodyPr/>
        <a:lstStyle/>
        <a:p>
          <a:endParaRPr lang="zh-CN" altLang="en-US" sz="2400"/>
        </a:p>
      </dgm:t>
    </dgm:pt>
    <dgm:pt modelId="{2DAC2371-F4DB-4514-9FAA-CCEB7DD421E4}" type="sibTrans" cxnId="{4D1CC28F-63D8-4537-A888-C7EA4B8534FB}">
      <dgm:prSet/>
      <dgm:spPr/>
      <dgm:t>
        <a:bodyPr/>
        <a:lstStyle/>
        <a:p>
          <a:endParaRPr lang="zh-CN" altLang="en-US" sz="2400"/>
        </a:p>
      </dgm:t>
    </dgm:pt>
    <dgm:pt modelId="{D8E1DBE8-C1C6-41E2-9466-90648B8A1A82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/>
            <a:t>最终</a:t>
          </a:r>
          <a:endParaRPr lang="en-US" altLang="zh-CN" sz="2000" dirty="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/>
            <a:t>一致性</a:t>
          </a:r>
        </a:p>
      </dgm:t>
    </dgm:pt>
    <dgm:pt modelId="{41F7394E-D238-45A8-AFD7-12B42092C6CC}" type="parTrans" cxnId="{C2A4E16C-591A-4241-99B2-A117300C8C3C}">
      <dgm:prSet/>
      <dgm:spPr/>
      <dgm:t>
        <a:bodyPr/>
        <a:lstStyle/>
        <a:p>
          <a:endParaRPr lang="zh-CN" altLang="en-US" sz="2400"/>
        </a:p>
      </dgm:t>
    </dgm:pt>
    <dgm:pt modelId="{F35B9130-0DEE-498E-8F69-A331C9E8E2D7}" type="sibTrans" cxnId="{C2A4E16C-591A-4241-99B2-A117300C8C3C}">
      <dgm:prSet/>
      <dgm:spPr/>
      <dgm:t>
        <a:bodyPr/>
        <a:lstStyle/>
        <a:p>
          <a:endParaRPr lang="zh-CN" altLang="en-US" sz="2400"/>
        </a:p>
      </dgm:t>
    </dgm:pt>
    <dgm:pt modelId="{CD7B5C09-10A2-4AB6-85E3-1354D0E29527}" type="pres">
      <dgm:prSet presAssocID="{9154C129-E42D-4829-8626-1BB8D7A2888D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CAFD64B0-0088-4A3E-AE66-A377D0606BDB}" type="pres">
      <dgm:prSet presAssocID="{748C12E9-83A0-415F-B588-D8EEF2CD3E2E}" presName="singleCycle" presStyleCnt="0"/>
      <dgm:spPr/>
    </dgm:pt>
    <dgm:pt modelId="{59EB3A1F-8A1A-462D-A8C7-8C789BA3925B}" type="pres">
      <dgm:prSet presAssocID="{748C12E9-83A0-415F-B588-D8EEF2CD3E2E}" presName="singleCenter" presStyleLbl="node1" presStyleIdx="0" presStyleCnt="4">
        <dgm:presLayoutVars>
          <dgm:chMax val="7"/>
          <dgm:chPref val="7"/>
        </dgm:presLayoutVars>
      </dgm:prSet>
      <dgm:spPr/>
    </dgm:pt>
    <dgm:pt modelId="{1AE218AD-E25E-44EA-AF6E-E40E204F5863}" type="pres">
      <dgm:prSet presAssocID="{A86C564F-27BC-4B86-87AC-F119299E198A}" presName="Name56" presStyleLbl="parChTrans1D2" presStyleIdx="0" presStyleCnt="3"/>
      <dgm:spPr/>
    </dgm:pt>
    <dgm:pt modelId="{D4502F58-5DA6-4484-BB08-95E8AF133B29}" type="pres">
      <dgm:prSet presAssocID="{94B3BF18-F5AE-4643-85A1-A2BF5D1D1CEB}" presName="text0" presStyleLbl="node1" presStyleIdx="1" presStyleCnt="4" custScaleX="131508" custRadScaleRad="100006" custRadScaleInc="1062">
        <dgm:presLayoutVars>
          <dgm:bulletEnabled val="1"/>
        </dgm:presLayoutVars>
      </dgm:prSet>
      <dgm:spPr/>
    </dgm:pt>
    <dgm:pt modelId="{3BBD293F-5967-4853-A859-D7B44070FEB6}" type="pres">
      <dgm:prSet presAssocID="{187F603D-9866-419E-9813-10E1ABC51234}" presName="Name56" presStyleLbl="parChTrans1D2" presStyleIdx="1" presStyleCnt="3"/>
      <dgm:spPr/>
    </dgm:pt>
    <dgm:pt modelId="{E76BFB17-9000-450A-ABEE-32C43B12127B}" type="pres">
      <dgm:prSet presAssocID="{47BEC2F0-1933-4566-9A6F-CAF098B266DF}" presName="text0" presStyleLbl="node1" presStyleIdx="2" presStyleCnt="4" custScaleX="122196">
        <dgm:presLayoutVars>
          <dgm:bulletEnabled val="1"/>
        </dgm:presLayoutVars>
      </dgm:prSet>
      <dgm:spPr/>
    </dgm:pt>
    <dgm:pt modelId="{317B6C6F-FE95-4D3C-8738-7BF387218358}" type="pres">
      <dgm:prSet presAssocID="{41F7394E-D238-45A8-AFD7-12B42092C6CC}" presName="Name56" presStyleLbl="parChTrans1D2" presStyleIdx="2" presStyleCnt="3"/>
      <dgm:spPr/>
    </dgm:pt>
    <dgm:pt modelId="{B13E33E5-CAD6-48E1-BBE3-63F1F4956C16}" type="pres">
      <dgm:prSet presAssocID="{D8E1DBE8-C1C6-41E2-9466-90648B8A1A82}" presName="text0" presStyleLbl="node1" presStyleIdx="3" presStyleCnt="4" custScaleX="133840">
        <dgm:presLayoutVars>
          <dgm:bulletEnabled val="1"/>
        </dgm:presLayoutVars>
      </dgm:prSet>
      <dgm:spPr/>
    </dgm:pt>
  </dgm:ptLst>
  <dgm:cxnLst>
    <dgm:cxn modelId="{BBE88564-5BC0-4C04-9E21-9E7D88D2D883}" type="presOf" srcId="{41F7394E-D238-45A8-AFD7-12B42092C6CC}" destId="{317B6C6F-FE95-4D3C-8738-7BF387218358}" srcOrd="0" destOrd="0" presId="urn:microsoft.com/office/officeart/2008/layout/RadialCluster#1"/>
    <dgm:cxn modelId="{C2A4E16C-591A-4241-99B2-A117300C8C3C}" srcId="{748C12E9-83A0-415F-B588-D8EEF2CD3E2E}" destId="{D8E1DBE8-C1C6-41E2-9466-90648B8A1A82}" srcOrd="2" destOrd="0" parTransId="{41F7394E-D238-45A8-AFD7-12B42092C6CC}" sibTransId="{F35B9130-0DEE-498E-8F69-A331C9E8E2D7}"/>
    <dgm:cxn modelId="{720F5B73-B884-4DCB-A240-864542053E24}" type="presOf" srcId="{748C12E9-83A0-415F-B588-D8EEF2CD3E2E}" destId="{59EB3A1F-8A1A-462D-A8C7-8C789BA3925B}" srcOrd="0" destOrd="0" presId="urn:microsoft.com/office/officeart/2008/layout/RadialCluster#1"/>
    <dgm:cxn modelId="{960C1254-9A20-48F5-AD5B-6E05D25E62EA}" srcId="{748C12E9-83A0-415F-B588-D8EEF2CD3E2E}" destId="{94B3BF18-F5AE-4643-85A1-A2BF5D1D1CEB}" srcOrd="0" destOrd="0" parTransId="{A86C564F-27BC-4B86-87AC-F119299E198A}" sibTransId="{FA0F032E-B7A3-42B3-B1E5-28DE68E0C174}"/>
    <dgm:cxn modelId="{67DB9754-26BB-44FA-BB42-261B010494DD}" type="presOf" srcId="{47BEC2F0-1933-4566-9A6F-CAF098B266DF}" destId="{E76BFB17-9000-450A-ABEE-32C43B12127B}" srcOrd="0" destOrd="0" presId="urn:microsoft.com/office/officeart/2008/layout/RadialCluster#1"/>
    <dgm:cxn modelId="{A3A54C7A-C398-49F1-9B09-37EC635FA47E}" type="presOf" srcId="{D8E1DBE8-C1C6-41E2-9466-90648B8A1A82}" destId="{B13E33E5-CAD6-48E1-BBE3-63F1F4956C16}" srcOrd="0" destOrd="0" presId="urn:microsoft.com/office/officeart/2008/layout/RadialCluster#1"/>
    <dgm:cxn modelId="{365C5A89-81B8-4FAB-8CD6-0F3D3B877562}" type="presOf" srcId="{9154C129-E42D-4829-8626-1BB8D7A2888D}" destId="{CD7B5C09-10A2-4AB6-85E3-1354D0E29527}" srcOrd="0" destOrd="0" presId="urn:microsoft.com/office/officeart/2008/layout/RadialCluster#1"/>
    <dgm:cxn modelId="{B94AB88C-46D3-4B2A-98A6-A65877FA3C51}" type="presOf" srcId="{94B3BF18-F5AE-4643-85A1-A2BF5D1D1CEB}" destId="{D4502F58-5DA6-4484-BB08-95E8AF133B29}" srcOrd="0" destOrd="0" presId="urn:microsoft.com/office/officeart/2008/layout/RadialCluster#1"/>
    <dgm:cxn modelId="{4D1CC28F-63D8-4537-A888-C7EA4B8534FB}" srcId="{748C12E9-83A0-415F-B588-D8EEF2CD3E2E}" destId="{47BEC2F0-1933-4566-9A6F-CAF098B266DF}" srcOrd="1" destOrd="0" parTransId="{187F603D-9866-419E-9813-10E1ABC51234}" sibTransId="{2DAC2371-F4DB-4514-9FAA-CCEB7DD421E4}"/>
    <dgm:cxn modelId="{C1EF15B4-3682-484A-8E4B-A77976527A01}" srcId="{9154C129-E42D-4829-8626-1BB8D7A2888D}" destId="{748C12E9-83A0-415F-B588-D8EEF2CD3E2E}" srcOrd="0" destOrd="0" parTransId="{589F1C8D-45D5-444E-BA1A-5D95392D63EA}" sibTransId="{BE15DA07-3E12-4D46-996E-2658B0DB6AC0}"/>
    <dgm:cxn modelId="{12C4ADD5-3CFE-47D0-AF71-83B2D17667C9}" type="presOf" srcId="{A86C564F-27BC-4B86-87AC-F119299E198A}" destId="{1AE218AD-E25E-44EA-AF6E-E40E204F5863}" srcOrd="0" destOrd="0" presId="urn:microsoft.com/office/officeart/2008/layout/RadialCluster#1"/>
    <dgm:cxn modelId="{F6A6F0EB-C136-4B9D-8F69-98F1F506B8A5}" type="presOf" srcId="{187F603D-9866-419E-9813-10E1ABC51234}" destId="{3BBD293F-5967-4853-A859-D7B44070FEB6}" srcOrd="0" destOrd="0" presId="urn:microsoft.com/office/officeart/2008/layout/RadialCluster#1"/>
    <dgm:cxn modelId="{374B38EB-D822-4602-AC24-07172196DC2B}" type="presParOf" srcId="{CD7B5C09-10A2-4AB6-85E3-1354D0E29527}" destId="{CAFD64B0-0088-4A3E-AE66-A377D0606BDB}" srcOrd="0" destOrd="0" presId="urn:microsoft.com/office/officeart/2008/layout/RadialCluster#1"/>
    <dgm:cxn modelId="{09185656-3EC0-4C36-AC72-506D9D904FC0}" type="presParOf" srcId="{CAFD64B0-0088-4A3E-AE66-A377D0606BDB}" destId="{59EB3A1F-8A1A-462D-A8C7-8C789BA3925B}" srcOrd="0" destOrd="0" presId="urn:microsoft.com/office/officeart/2008/layout/RadialCluster#1"/>
    <dgm:cxn modelId="{7D478740-C615-4E19-9467-6F8FDA18E527}" type="presParOf" srcId="{CAFD64B0-0088-4A3E-AE66-A377D0606BDB}" destId="{1AE218AD-E25E-44EA-AF6E-E40E204F5863}" srcOrd="1" destOrd="0" presId="urn:microsoft.com/office/officeart/2008/layout/RadialCluster#1"/>
    <dgm:cxn modelId="{E46C8825-7B24-499B-BF46-661FF1190905}" type="presParOf" srcId="{CAFD64B0-0088-4A3E-AE66-A377D0606BDB}" destId="{D4502F58-5DA6-4484-BB08-95E8AF133B29}" srcOrd="2" destOrd="0" presId="urn:microsoft.com/office/officeart/2008/layout/RadialCluster#1"/>
    <dgm:cxn modelId="{CBD66EB7-1C47-482E-8117-9429B1B07F13}" type="presParOf" srcId="{CAFD64B0-0088-4A3E-AE66-A377D0606BDB}" destId="{3BBD293F-5967-4853-A859-D7B44070FEB6}" srcOrd="3" destOrd="0" presId="urn:microsoft.com/office/officeart/2008/layout/RadialCluster#1"/>
    <dgm:cxn modelId="{68AA650A-CA8B-4D82-99DC-1418E6B77B59}" type="presParOf" srcId="{CAFD64B0-0088-4A3E-AE66-A377D0606BDB}" destId="{E76BFB17-9000-450A-ABEE-32C43B12127B}" srcOrd="4" destOrd="0" presId="urn:microsoft.com/office/officeart/2008/layout/RadialCluster#1"/>
    <dgm:cxn modelId="{D233C2BA-522C-46D8-BFCF-CD8B725DC569}" type="presParOf" srcId="{CAFD64B0-0088-4A3E-AE66-A377D0606BDB}" destId="{317B6C6F-FE95-4D3C-8738-7BF387218358}" srcOrd="5" destOrd="0" presId="urn:microsoft.com/office/officeart/2008/layout/RadialCluster#1"/>
    <dgm:cxn modelId="{F784FD24-908B-4E27-B7A6-6D000D08D59A}" type="presParOf" srcId="{CAFD64B0-0088-4A3E-AE66-A377D0606BDB}" destId="{B13E33E5-CAD6-48E1-BBE3-63F1F4956C16}" srcOrd="6" destOrd="0" presId="urn:microsoft.com/office/officeart/2008/layout/RadialCluster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B3A1F-8A1A-462D-A8C7-8C789BA3925B}">
      <dsp:nvSpPr>
        <dsp:cNvPr id="0" name=""/>
        <dsp:cNvSpPr/>
      </dsp:nvSpPr>
      <dsp:spPr bwMode="white">
        <a:xfrm>
          <a:off x="3380157" y="2447881"/>
          <a:ext cx="1578483" cy="1578483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kern="1200" dirty="0"/>
            <a:t>NoSQL</a:t>
          </a:r>
          <a:endParaRPr lang="zh-CN" altLang="en-US" sz="3200" kern="1200" dirty="0"/>
        </a:p>
      </dsp:txBody>
      <dsp:txXfrm>
        <a:off x="3457212" y="2524936"/>
        <a:ext cx="1424373" cy="1424373"/>
      </dsp:txXfrm>
    </dsp:sp>
    <dsp:sp modelId="{1AE218AD-E25E-44EA-AF6E-E40E204F5863}">
      <dsp:nvSpPr>
        <dsp:cNvPr id="0" name=""/>
        <dsp:cNvSpPr/>
      </dsp:nvSpPr>
      <dsp:spPr>
        <a:xfrm rot="16238232">
          <a:off x="3630681" y="1894264"/>
          <a:ext cx="110730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07304" y="0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502F58-5DA6-4484-BB08-95E8AF133B29}">
      <dsp:nvSpPr>
        <dsp:cNvPr id="0" name=""/>
        <dsp:cNvSpPr/>
      </dsp:nvSpPr>
      <dsp:spPr bwMode="white">
        <a:xfrm>
          <a:off x="3500968" y="283062"/>
          <a:ext cx="1390807" cy="1057583"/>
        </a:xfrm>
        <a:prstGeom prst="roundRect">
          <a:avLst/>
        </a:prstGeom>
        <a:solidFill>
          <a:schemeClr val="accent6">
            <a:shade val="50000"/>
            <a:hueOff val="184212"/>
            <a:satOff val="-8053"/>
            <a:lumOff val="21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kern="1200" dirty="0"/>
            <a:t>CAP</a:t>
          </a:r>
        </a:p>
      </dsp:txBody>
      <dsp:txXfrm>
        <a:off x="3552595" y="334689"/>
        <a:ext cx="1287553" cy="954329"/>
      </dsp:txXfrm>
    </dsp:sp>
    <dsp:sp modelId="{3BBD293F-5967-4853-A859-D7B44070FEB6}">
      <dsp:nvSpPr>
        <dsp:cNvPr id="0" name=""/>
        <dsp:cNvSpPr/>
      </dsp:nvSpPr>
      <dsp:spPr>
        <a:xfrm rot="1800000">
          <a:off x="4907206" y="3884745"/>
          <a:ext cx="76781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67811" y="0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6BFB17-9000-450A-ABEE-32C43B12127B}">
      <dsp:nvSpPr>
        <dsp:cNvPr id="0" name=""/>
        <dsp:cNvSpPr/>
      </dsp:nvSpPr>
      <dsp:spPr bwMode="white">
        <a:xfrm>
          <a:off x="5623584" y="3920968"/>
          <a:ext cx="1292324" cy="1057583"/>
        </a:xfrm>
        <a:prstGeom prst="roundRect">
          <a:avLst/>
        </a:prstGeom>
        <a:solidFill>
          <a:schemeClr val="accent6">
            <a:shade val="50000"/>
            <a:hueOff val="368424"/>
            <a:satOff val="-16105"/>
            <a:lumOff val="43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BASE</a:t>
          </a:r>
        </a:p>
      </dsp:txBody>
      <dsp:txXfrm>
        <a:off x="5675211" y="3972595"/>
        <a:ext cx="1189070" cy="954329"/>
      </dsp:txXfrm>
    </dsp:sp>
    <dsp:sp modelId="{317B6C6F-FE95-4D3C-8738-7BF387218358}">
      <dsp:nvSpPr>
        <dsp:cNvPr id="0" name=""/>
        <dsp:cNvSpPr/>
      </dsp:nvSpPr>
      <dsp:spPr>
        <a:xfrm rot="9000000">
          <a:off x="2730114" y="3866970"/>
          <a:ext cx="69671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96713" y="0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3E33E5-CAD6-48E1-BBE3-63F1F4956C16}">
      <dsp:nvSpPr>
        <dsp:cNvPr id="0" name=""/>
        <dsp:cNvSpPr/>
      </dsp:nvSpPr>
      <dsp:spPr bwMode="white">
        <a:xfrm>
          <a:off x="1361315" y="3920968"/>
          <a:ext cx="1415469" cy="1057583"/>
        </a:xfrm>
        <a:prstGeom prst="roundRect">
          <a:avLst/>
        </a:prstGeom>
        <a:solidFill>
          <a:schemeClr val="accent6">
            <a:shade val="50000"/>
            <a:hueOff val="184212"/>
            <a:satOff val="-8053"/>
            <a:lumOff val="21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最终</a:t>
          </a:r>
          <a:endParaRPr lang="en-US" altLang="zh-CN" sz="2000" kern="1200" dirty="0"/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一致性</a:t>
          </a:r>
        </a:p>
      </dsp:txBody>
      <dsp:txXfrm>
        <a:off x="1412942" y="3972595"/>
        <a:ext cx="1312215" cy="9543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#1">
  <dgm:title val=""/>
  <dgm:desc val=""/>
  <dgm:catLst>
    <dgm:cat type="relationship" pri="19500"/>
    <dgm:cat type="cycle" pri="15000"/>
  </dgm:catLst>
  <dgm:samp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Sty" val="noArr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stAng" val="90"/>
                              <dgm:param type="ctrShpMap" val="fNode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stAng" val="45"/>
                              <dgm:param type="spanAng" val="90"/>
                              <dgm:param type="ctrShpMap" val="fNode"/>
                            </dgm:alg>
                          </dgm:if>
                          <dgm:else name="Name68">
                            <dgm:alg type="cycle">
                              <dgm:param type="stAng" val="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73">
                            <dgm:alg type="cycle">
                              <dgm:param type="stAng" val="27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78">
                            <dgm:alg type="cycle">
                              <dgm:param type="stAng" val="27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83">
                            <dgm:alg type="cycle">
                              <dgm:param type="stAng" val="292.5"/>
                              <dgm:param type="spanAng" val="135"/>
                              <dgm:param type="ctrShpMap" val="fNode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88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93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98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stAng" val="270"/>
                              <dgm:param type="ctrShpMap" val="fNode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stAng" val="315"/>
                              <dgm:param type="spanAng" val="-90"/>
                              <dgm:param type="ctrShpMap" val="fNode"/>
                            </dgm:alg>
                          </dgm:if>
                          <dgm:else name="Name106">
                            <dgm:alg type="cycle">
                              <dgm:param type="stAng" val="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11">
                            <dgm:alg type="cycle">
                              <dgm:param type="stAng" val="9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16">
                            <dgm:alg type="cycle">
                              <dgm:param type="stAng" val="9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21">
                            <dgm:alg type="cycle">
                              <dgm:param type="stAng" val="67.5"/>
                              <dgm:param type="spanAng" val="-135"/>
                              <dgm:param type="ctrShpMap" val="fNode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26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31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36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srcNode" val="textCenter"/>
                    <dgm:param type="dstNode" val="childCenter1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stAng" val="135"/>
                              <dgm:param type="spanAng" val="90"/>
                              <dgm:param type="ctrShpMap" val="fNode"/>
                            </dgm:alg>
                          </dgm:if>
                          <dgm:else name="Name155">
                            <dgm:alg type="cycle">
                              <dgm:param type="stAng" val="9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stAng" val="120"/>
                              <dgm:param type="ctrShpMap" val="fNode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stAng" val="75"/>
                              <dgm:param type="spanAng" val="90"/>
                              <dgm:param type="ctrShpMap" val="fNode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stAng" val="3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stAng" val="90"/>
                              <dgm:param type="ctrShpMap" val="fNode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stAng" val="45"/>
                              <dgm:param type="spanAng" val="90"/>
                              <dgm:param type="ctrShpMap" val="fNode"/>
                            </dgm:alg>
                          </dgm:if>
                          <dgm:else name="Name165">
                            <dgm:alg type="cycle">
                              <dgm:param type="stAng" val="22.5"/>
                              <dgm:param type="spanAng" val="135"/>
                              <dgm:param type="ctrShpMap" val="fNode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stAng" val="72"/>
                              <dgm:param type="ctrShpMap" val="fNode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stAng" val="27"/>
                              <dgm:param type="spanAng" val="90"/>
                              <dgm:param type="ctrShpMap" val="fNode"/>
                            </dgm:alg>
                          </dgm:if>
                          <dgm:else name="Name170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stAng" val="60"/>
                              <dgm:param type="ctrShpMap" val="fNode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stAng" val="15"/>
                              <dgm:param type="spanAng" val="90"/>
                              <dgm:param type="ctrShpMap" val="fNode"/>
                            </dgm:alg>
                          </dgm:if>
                          <dgm:else name="Name175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stAng" val="51"/>
                              <dgm:param type="ctrShpMap" val="fNode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stAng" val="6"/>
                              <dgm:param type="spanAng" val="90"/>
                              <dgm:param type="ctrShpMap" val="fNode"/>
                            </dgm:alg>
                          </dgm:if>
                          <dgm:else name="Name180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stAng" val="225"/>
                              <dgm:param type="spanAng" val="-90"/>
                              <dgm:param type="ctrShpMap" val="fNode"/>
                            </dgm:alg>
                          </dgm:if>
                          <dgm:else name="Name188">
                            <dgm:alg type="cycle">
                              <dgm:param type="stAng" val="27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stAng" val="240"/>
                              <dgm:param type="ctrShpMap" val="fNode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stAng" val="285"/>
                              <dgm:param type="spanAng" val="-90"/>
                              <dgm:param type="ctrShpMap" val="fNode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stAng" val="33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stAng" val="270"/>
                              <dgm:param type="ctrShpMap" val="fNode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stAng" val="315"/>
                              <dgm:param type="spanAng" val="-90"/>
                              <dgm:param type="ctrShpMap" val="fNode"/>
                            </dgm:alg>
                          </dgm:if>
                          <dgm:else name="Name198">
                            <dgm:alg type="cycle">
                              <dgm:param type="stAng" val="337.5"/>
                              <dgm:param type="spanAng" val="-135"/>
                              <dgm:param type="ctrShpMap" val="fNode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stAng" val="288"/>
                              <dgm:param type="ctrShpMap" val="fNode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stAng" val="333"/>
                              <dgm:param type="spanAng" val="-90"/>
                              <dgm:param type="ctrShpMap" val="fNode"/>
                            </dgm:alg>
                          </dgm:if>
                          <dgm:else name="Name203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stAng" val="300"/>
                              <dgm:param type="ctrShpMap" val="fNode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stAng" val="345"/>
                              <dgm:param type="spanAng" val="-90"/>
                              <dgm:param type="ctrShpMap" val="fNode"/>
                            </dgm:alg>
                          </dgm:if>
                          <dgm:else name="Name208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stAng" val="308"/>
                              <dgm:param type="ctrShpMap" val="fNode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stAng" val="353"/>
                              <dgm:param type="spanAng" val="-90"/>
                              <dgm:param type="ctrShpMap" val="fNode"/>
                            </dgm:alg>
                          </dgm:if>
                          <dgm:else name="Name213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srcNode" val="textCenter"/>
                    <dgm:param type="dstNode" val="childCenter2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stAng" val="240"/>
                              <dgm:param type="ctrShpMap" val="fNode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stAng" val="195"/>
                              <dgm:param type="spanAng" val="90"/>
                              <dgm:param type="ctrShpMap" val="fNode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stAng" val="15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stAng" val="135"/>
                              <dgm:param type="spanAng" val="90"/>
                              <dgm:param type="ctrShpMap" val="fNode"/>
                            </dgm:alg>
                          </dgm:if>
                          <dgm:else name="Name237">
                            <dgm:alg type="cycle">
                              <dgm:param type="stAng" val="112.5"/>
                              <dgm:param type="spanAng" val="135"/>
                              <dgm:param type="ctrShpMap" val="fNode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stAng" val="144"/>
                              <dgm:param type="ctrShpMap" val="fNode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stAng" val="99"/>
                              <dgm:param type="spanAng" val="90"/>
                              <dgm:param type="ctrShpMap" val="fNode"/>
                            </dgm:alg>
                          </dgm:if>
                          <dgm:else name="Name242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stAng" val="120"/>
                              <dgm:param type="ctrShpMap" val="fNode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stAng" val="75"/>
                              <dgm:param type="spanAng" val="90"/>
                              <dgm:param type="ctrShpMap" val="fNode"/>
                            </dgm:alg>
                          </dgm:if>
                          <dgm:else name="Name247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stAng" val="102"/>
                              <dgm:param type="ctrShpMap" val="fNode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stAng" val="57"/>
                              <dgm:param type="spanAng" val="90"/>
                              <dgm:param type="ctrShpMap" val="fNode"/>
                            </dgm:alg>
                          </dgm:if>
                          <dgm:else name="Name252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stAng" val="120"/>
                              <dgm:param type="ctrShpMap" val="fNode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stAng" val="165"/>
                              <dgm:param type="spanAng" val="-90"/>
                              <dgm:param type="ctrShpMap" val="fNode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stAng" val="21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stAng" val="225"/>
                              <dgm:param type="spanAng" val="-90"/>
                              <dgm:param type="ctrShpMap" val="fNode"/>
                            </dgm:alg>
                          </dgm:if>
                          <dgm:else name="Name265">
                            <dgm:alg type="cycle">
                              <dgm:param type="stAng" val="247.5"/>
                              <dgm:param type="spanAng" val="-135"/>
                              <dgm:param type="ctrShpMap" val="fNode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stAng" val="216"/>
                              <dgm:param type="ctrShpMap" val="fNode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stAng" val="261"/>
                              <dgm:param type="spanAng" val="-90"/>
                              <dgm:param type="ctrShpMap" val="fNode"/>
                            </dgm:alg>
                          </dgm:if>
                          <dgm:else name="Name270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stAng" val="240"/>
                              <dgm:param type="ctrShpMap" val="fNode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stAng" val="285"/>
                              <dgm:param type="spanAng" val="-90"/>
                              <dgm:param type="ctrShpMap" val="fNode"/>
                            </dgm:alg>
                          </dgm:if>
                          <dgm:else name="Name275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stAng" val="257"/>
                              <dgm:param type="ctrShpMap" val="fNode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stAng" val="302"/>
                              <dgm:param type="spanAng" val="-90"/>
                              <dgm:param type="ctrShpMap" val="fNode"/>
                            </dgm:alg>
                          </dgm:if>
                          <dgm:else name="Name280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srcNode" val="textCenter"/>
                    <dgm:param type="dstNode" val="childCenter3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stAng" val="270"/>
                              <dgm:param type="ctrShpMap" val="fNode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stAng" val="225"/>
                              <dgm:param type="spanAng" val="90"/>
                              <dgm:param type="ctrShpMap" val="fNode"/>
                            </dgm:alg>
                          </dgm:if>
                          <dgm:else name="Name299">
                            <dgm:alg type="cycle">
                              <dgm:param type="stAng" val="202.5"/>
                              <dgm:param type="spanAng" val="135"/>
                              <dgm:param type="ctrShpMap" val="fNode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stAng" val="216"/>
                              <dgm:param type="ctrShpMap" val="fNode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stAng" val="171"/>
                              <dgm:param type="spanAng" val="90"/>
                              <dgm:param type="ctrShpMap" val="fNode"/>
                            </dgm:alg>
                          </dgm:if>
                          <dgm:else name="Name304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stAng" val="135"/>
                              <dgm:param type="spanAng" val="90"/>
                              <dgm:param type="ctrShpMap" val="fNode"/>
                            </dgm:alg>
                          </dgm:if>
                          <dgm:else name="Name309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stAng" val="154"/>
                              <dgm:param type="ctrShpMap" val="fNode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stAng" val="109"/>
                              <dgm:param type="spanAng" val="90"/>
                              <dgm:param type="ctrShpMap" val="fNode"/>
                            </dgm:alg>
                          </dgm:if>
                          <dgm:else name="Name314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stAng" val="90"/>
                              <dgm:param type="ctrShpMap" val="fNode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stAng" val="135"/>
                              <dgm:param type="spanAng" val="-90"/>
                              <dgm:param type="ctrShpMap" val="fNode"/>
                            </dgm:alg>
                          </dgm:if>
                          <dgm:else name="Name322">
                            <dgm:alg type="cycle">
                              <dgm:param type="stAng" val="157.5"/>
                              <dgm:param type="spanAng" val="-135"/>
                              <dgm:param type="ctrShpMap" val="fNode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stAng" val="144"/>
                              <dgm:param type="ctrShpMap" val="fNode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stAng" val="189"/>
                              <dgm:param type="spanAng" val="-90"/>
                              <dgm:param type="ctrShpMap" val="fNode"/>
                            </dgm:alg>
                          </dgm:if>
                          <dgm:else name="Name327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stAng" val="225"/>
                              <dgm:param type="spanAng" val="-90"/>
                              <dgm:param type="ctrShpMap" val="fNode"/>
                            </dgm:alg>
                          </dgm:if>
                          <dgm:else name="Name332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stAng" val="205"/>
                              <dgm:param type="ctrShpMap" val="fNode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stAng" val="250"/>
                              <dgm:param type="spanAng" val="-90"/>
                              <dgm:param type="ctrShpMap" val="fNode"/>
                            </dgm:alg>
                          </dgm:if>
                          <dgm:else name="Name337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srcNode" val="textCenter"/>
                    <dgm:param type="dstNode" val="childCenter4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stAng" val="288"/>
                              <dgm:param type="ctrShpMap" val="fNode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stAng" val="243"/>
                              <dgm:param type="spanAng" val="90"/>
                              <dgm:param type="ctrShpMap" val="fNode"/>
                            </dgm:alg>
                          </dgm:if>
                          <dgm:else name="Name356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stAng" val="240"/>
                              <dgm:param type="ctrShpMap" val="fNode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stAng" val="195"/>
                              <dgm:param type="spanAng" val="90"/>
                              <dgm:param type="ctrShpMap" val="fNode"/>
                            </dgm:alg>
                          </dgm:if>
                          <dgm:else name="Name361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stAng" val="205"/>
                              <dgm:param type="ctrShpMap" val="fNode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stAng" val="160"/>
                              <dgm:param type="spanAng" val="90"/>
                              <dgm:param type="ctrShpMap" val="fNode"/>
                            </dgm:alg>
                          </dgm:if>
                          <dgm:else name="Name366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stAng" val="72"/>
                              <dgm:param type="ctrShpMap" val="fNode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stAng" val="117"/>
                              <dgm:param type="spanAng" val="-90"/>
                              <dgm:param type="ctrShpMap" val="fNode"/>
                            </dgm:alg>
                          </dgm:if>
                          <dgm:else name="Name374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stAng" val="120"/>
                              <dgm:param type="ctrShpMap" val="fNode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stAng" val="165"/>
                              <dgm:param type="spanAng" val="-90"/>
                              <dgm:param type="ctrShpMap" val="fNode"/>
                            </dgm:alg>
                          </dgm:if>
                          <dgm:else name="Name379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stAng" val="154"/>
                              <dgm:param type="ctrShpMap" val="fNode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stAng" val="199"/>
                              <dgm:param type="spanAng" val="-90"/>
                              <dgm:param type="ctrShpMap" val="fNode"/>
                            </dgm:alg>
                          </dgm:if>
                          <dgm:else name="Name384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srcNode" val="textCenter"/>
                    <dgm:param type="dstNode" val="childCenter5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stAng" val="300"/>
                              <dgm:param type="ctrShpMap" val="fNode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stAng" val="255"/>
                              <dgm:param type="spanAng" val="90"/>
                              <dgm:param type="ctrShpMap" val="fNode"/>
                            </dgm:alg>
                          </dgm:if>
                          <dgm:else name="Name403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stAng" val="257"/>
                              <dgm:param type="ctrShpMap" val="fNode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stAng" val="212"/>
                              <dgm:param type="spanAng" val="90"/>
                              <dgm:param type="ctrShpMap" val="fNode"/>
                            </dgm:alg>
                          </dgm:if>
                          <dgm:else name="Name408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stAng" val="60"/>
                              <dgm:param type="ctrShpMap" val="fNode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stAng" val="105"/>
                              <dgm:param type="spanAng" val="-90"/>
                              <dgm:param type="ctrShpMap" val="fNode"/>
                            </dgm:alg>
                          </dgm:if>
                          <dgm:else name="Name416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stAng" val="102"/>
                              <dgm:param type="ctrShpMap" val="fNode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stAng" val="147"/>
                              <dgm:param type="spanAng" val="-90"/>
                              <dgm:param type="ctrShpMap" val="fNode"/>
                            </dgm:alg>
                          </dgm:if>
                          <dgm:else name="Name421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srcNode" val="textCenter"/>
                    <dgm:param type="dstNode" val="childCenter6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stAng" val="308"/>
                              <dgm:param type="ctrShpMap" val="fNode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stAng" val="263"/>
                              <dgm:param type="spanAng" val="90"/>
                              <dgm:param type="ctrShpMap" val="fNode"/>
                            </dgm:alg>
                          </dgm:if>
                          <dgm:else name="Name440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stAng" val="51"/>
                              <dgm:param type="ctrShpMap" val="fNode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stAng" val="96"/>
                              <dgm:param type="spanAng" val="-90"/>
                              <dgm:param type="ctrShpMap" val="fNode"/>
                            </dgm:alg>
                          </dgm:if>
                          <dgm:else name="Name448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srcNode" val="textCenter"/>
                    <dgm:param type="dstNode" val="childCenter7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A424B-F2C7-4EC9-8DA2-5CFAACF65E18}" type="datetimeFigureOut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60B0A-E707-4489-B72C-209A0C105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01BD-4741-4184-BE56-DAF04E336C97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F920-1DC5-4C71-8718-0D3D51DA5754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FB8C7-156C-4269-A9D3-236C9122148A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35BB-B880-4407-ACFF-512D8BC24B90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A4FC-A20D-40C9-ABAC-C696099A86F2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C5C66-F7B6-4A16-8359-13B29DD706AB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52A2-5CC8-435E-A513-EF450F74AF85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93F0-41FC-4EC0-B9B0-30C4E0373CF4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D0A6-25F9-45E6-B1AB-8802F7FB4BFD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DAC9-C380-4E94-9EDF-CE70C1A17B94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58E9-DE7D-4AC4-86BB-A1A3764A53E4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0D025-EB81-4291-9E40-972558CDBCB9}" type="datetime1">
              <a:rPr lang="zh-CN" altLang="en-US" smtClean="0"/>
              <a:t>2026/06/23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7CE09-A6DF-4F65-B9AD-CB157D51E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11.emf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14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image" Target="../media/image21.emf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20.emf"/><Relationship Id="rId5" Type="http://schemas.openxmlformats.org/officeDocument/2006/relationships/tags" Target="../tags/tag5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1.xml"/><Relationship Id="rId9" Type="http://schemas.openxmlformats.org/officeDocument/2006/relationships/tags" Target="../tags/tag5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image" Target="../media/image24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7200" b="1" dirty="0"/>
              <a:t>大数据管理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>
                <a:latin typeface="楷体" panose="02010609060101010101" pitchFamily="49" charset="-122"/>
                <a:ea typeface="楷体" panose="02010609060101010101" pitchFamily="49" charset="-122"/>
              </a:rPr>
              <a:t>期末复习</a:t>
            </a:r>
            <a:r>
              <a:rPr lang="en-GB" altLang="zh-CN" sz="2800" u="sng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范围</a:t>
            </a:r>
            <a:r>
              <a:rPr lang="en-US" altLang="zh-CN" b="1"/>
              <a:t>+</a:t>
            </a:r>
            <a:r>
              <a:rPr lang="zh-CN" altLang="en-US" b="1"/>
              <a:t>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zh-CN" altLang="en-US" sz="3600"/>
              <a:t>范围：第1章至第13章</a:t>
            </a:r>
          </a:p>
          <a:p>
            <a:pPr marL="0" indent="0">
              <a:buNone/>
            </a:pPr>
            <a:endParaRPr lang="zh-CN" altLang="en-US" sz="3600"/>
          </a:p>
          <a:p>
            <a:pPr marL="0" indent="0">
              <a:buNone/>
            </a:pPr>
            <a:r>
              <a:rPr lang="zh-CN" altLang="en-US" sz="3600"/>
              <a:t>单选题1</a:t>
            </a:r>
            <a:r>
              <a:rPr lang="en-US" altLang="zh-CN" sz="3600"/>
              <a:t>2</a:t>
            </a:r>
            <a:r>
              <a:rPr lang="zh-CN" altLang="en-US" sz="3600"/>
              <a:t>道，每道2分。</a:t>
            </a:r>
          </a:p>
          <a:p>
            <a:pPr marL="0" indent="0">
              <a:buNone/>
            </a:pPr>
            <a:endParaRPr lang="zh-CN" altLang="en-US" sz="3600"/>
          </a:p>
          <a:p>
            <a:pPr marL="0" indent="0">
              <a:buNone/>
            </a:pPr>
            <a:r>
              <a:rPr lang="zh-CN" altLang="en-US" sz="3600"/>
              <a:t>简答题</a:t>
            </a:r>
            <a:r>
              <a:rPr lang="en-US" altLang="zh-CN" sz="3600"/>
              <a:t>6</a:t>
            </a:r>
            <a:r>
              <a:rPr lang="zh-CN" altLang="en-US" sz="3600"/>
              <a:t>道，共</a:t>
            </a:r>
            <a:r>
              <a:rPr lang="en-US" altLang="zh-CN" sz="3600"/>
              <a:t>26</a:t>
            </a:r>
            <a:r>
              <a:rPr lang="zh-CN" altLang="en-US" sz="3600"/>
              <a:t>分。</a:t>
            </a:r>
          </a:p>
          <a:p>
            <a:pPr marL="0" indent="0">
              <a:buNone/>
            </a:pPr>
            <a:endParaRPr lang="zh-CN" altLang="en-US" sz="3600"/>
          </a:p>
          <a:p>
            <a:pPr marL="0" indent="0">
              <a:buNone/>
            </a:pPr>
            <a:r>
              <a:rPr lang="zh-CN" altLang="en-US" sz="3600"/>
              <a:t>综合题</a:t>
            </a:r>
            <a:r>
              <a:rPr lang="en-US" altLang="zh-CN" sz="3600"/>
              <a:t>4</a:t>
            </a:r>
            <a:r>
              <a:rPr lang="zh-CN" altLang="en-US" sz="3600"/>
              <a:t>道，共</a:t>
            </a:r>
            <a:r>
              <a:rPr lang="en-US" altLang="zh-CN" sz="3600"/>
              <a:t>50</a:t>
            </a:r>
            <a:r>
              <a:rPr lang="zh-CN" altLang="en-US" sz="3600"/>
              <a:t>分。</a:t>
            </a:r>
          </a:p>
          <a:p>
            <a:pPr marL="0" indent="0">
              <a:buNone/>
            </a:pPr>
            <a:r>
              <a:rPr lang="zh-CN" altLang="en-US" sz="3600"/>
              <a:t>数据的存储（1道）、组织（1道）、</a:t>
            </a:r>
          </a:p>
          <a:p>
            <a:pPr marL="0" indent="0">
              <a:buNone/>
            </a:pPr>
            <a:r>
              <a:rPr lang="zh-CN" altLang="en-US" sz="3600"/>
              <a:t>计算（</a:t>
            </a:r>
            <a:r>
              <a:rPr lang="en-US" altLang="zh-CN" sz="3600"/>
              <a:t>MapReduce</a:t>
            </a:r>
            <a:r>
              <a:rPr lang="zh-CN" altLang="en-US" sz="3600"/>
              <a:t>和</a:t>
            </a:r>
            <a:r>
              <a:rPr lang="en-US" altLang="zh-CN" sz="3600"/>
              <a:t>Pregel</a:t>
            </a:r>
            <a:r>
              <a:rPr lang="zh-CN" altLang="en-US" sz="3600"/>
              <a:t>各</a:t>
            </a:r>
            <a:r>
              <a:rPr lang="en-US" altLang="zh-CN" sz="3600"/>
              <a:t>1</a:t>
            </a:r>
            <a:r>
              <a:rPr lang="zh-CN" altLang="en-US" sz="3600"/>
              <a:t>道）。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1.2 </a:t>
            </a:r>
            <a:r>
              <a:rPr lang="zh-CN" altLang="en-US" sz="4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大数据的概念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52816"/>
            <a:ext cx="1973751" cy="24233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380" y="3404298"/>
            <a:ext cx="2133785" cy="217188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132" y="2329785"/>
            <a:ext cx="2339543" cy="324640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789" y="3350953"/>
            <a:ext cx="2293819" cy="222523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014595" y="5717919"/>
            <a:ext cx="16209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highlight>
                  <a:srgbClr val="FFFF00"/>
                </a:highlight>
              </a:rPr>
              <a:t>V</a:t>
            </a:r>
            <a:r>
              <a:rPr lang="en-US" altLang="zh-CN" sz="2800" dirty="0"/>
              <a:t>olume</a:t>
            </a:r>
          </a:p>
          <a:p>
            <a:pPr algn="ctr"/>
            <a:r>
              <a:rPr lang="zh-CN" altLang="en-US" sz="2800" dirty="0"/>
              <a:t>数据量大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060963" y="5717918"/>
            <a:ext cx="16209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highlight>
                  <a:srgbClr val="FFFF00"/>
                </a:highlight>
              </a:rPr>
              <a:t>V</a:t>
            </a:r>
            <a:r>
              <a:rPr lang="en-US" altLang="zh-CN" sz="2800" dirty="0"/>
              <a:t>ariety</a:t>
            </a:r>
          </a:p>
          <a:p>
            <a:pPr algn="ctr"/>
            <a:r>
              <a:rPr lang="zh-CN" altLang="en-US" sz="2800" dirty="0"/>
              <a:t>类型繁多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929136" y="5733127"/>
            <a:ext cx="19800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highlight>
                  <a:srgbClr val="FFFF00"/>
                </a:highlight>
              </a:rPr>
              <a:t>V</a:t>
            </a:r>
            <a:r>
              <a:rPr lang="en-US" altLang="zh-CN" sz="2800" dirty="0"/>
              <a:t>elocity</a:t>
            </a:r>
          </a:p>
          <a:p>
            <a:pPr algn="ctr"/>
            <a:r>
              <a:rPr lang="zh-CN" altLang="en-US" sz="2800" dirty="0"/>
              <a:t>处理速度快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517683" y="5733127"/>
            <a:ext cx="19800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highlight>
                  <a:srgbClr val="FFFF00"/>
                </a:highlight>
              </a:rPr>
              <a:t>V</a:t>
            </a:r>
            <a:r>
              <a:rPr lang="en-US" altLang="zh-CN" sz="2800" dirty="0"/>
              <a:t>alue</a:t>
            </a:r>
          </a:p>
          <a:p>
            <a:pPr algn="ctr"/>
            <a:r>
              <a:rPr lang="zh-CN" altLang="en-US" sz="2800" dirty="0"/>
              <a:t>价值密度低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38200" y="16410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四个特点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222826" y="1577014"/>
            <a:ext cx="1247215" cy="646986"/>
          </a:xfrm>
          <a:prstGeom prst="wedgeRoundRectCallout">
            <a:avLst>
              <a:gd name="adj1" fmla="val -90207"/>
              <a:gd name="adj2" fmla="val 3231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3200" dirty="0"/>
              <a:t>4V</a:t>
            </a:r>
            <a:endParaRPr lang="zh-CN" altLang="en-US"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690100" y="2614295"/>
            <a:ext cx="1469390" cy="578840"/>
          </a:xfrm>
          <a:prstGeom prst="wedgeRoundRectCallout">
            <a:avLst>
              <a:gd name="adj1" fmla="val -25280"/>
              <a:gd name="adj2" fmla="val 106532"/>
              <a:gd name="adj3" fmla="val 16667"/>
            </a:avLst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稀疏性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20" grpId="0" animBg="1"/>
      <p:bldP spid="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124" name="Rectangle 2"/>
          <p:cNvSpPr>
            <a:spLocks noGrp="1"/>
          </p:cNvSpPr>
          <p:nvPr/>
        </p:nvSpPr>
        <p:spPr>
          <a:xfrm>
            <a:off x="838200" y="365125"/>
            <a:ext cx="10515600" cy="8667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4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1.1.2</a:t>
            </a:r>
            <a:r>
              <a:rPr lang="zh-CN" altLang="en-US" sz="4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技术支撑：</a:t>
            </a:r>
            <a:r>
              <a:rPr lang="zh-CN" altLang="en-US" sz="4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信息科技</a:t>
            </a:r>
          </a:p>
        </p:txBody>
      </p:sp>
      <p:graphicFrame>
        <p:nvGraphicFramePr>
          <p:cNvPr id="3" name="Group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99770" y="2294890"/>
          <a:ext cx="1732915" cy="2841625"/>
        </p:xfrm>
        <a:graphic>
          <a:graphicData uri="http://schemas.openxmlformats.org/drawingml/2006/table">
            <a:tbl>
              <a:tblPr/>
              <a:tblGrid>
                <a:gridCol w="173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55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信息存储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95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信息处理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615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信息传输</a:t>
                      </a:r>
                    </a:p>
                  </a:txBody>
                  <a:tcPr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968625" y="1478280"/>
            <a:ext cx="364553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sym typeface="+mn-ea"/>
              </a:rPr>
              <a:t>存储设备：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容量不断增加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读写速度不断提升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价格不断下降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908300" y="4291330"/>
            <a:ext cx="390969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sym typeface="+mn-ea"/>
              </a:rPr>
              <a:t>CPU</a:t>
            </a: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处理器：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晶体管数量不断增加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运行频率不断提高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价格不断下降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471410" y="2863850"/>
            <a:ext cx="341947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sym typeface="+mn-ea"/>
              </a:rPr>
              <a:t>网络带宽不断增加：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建设力度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覆盖范围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传输速度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395748" y="275858"/>
            <a:ext cx="10515600" cy="8921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2.1.3 </a:t>
            </a:r>
            <a:r>
              <a:rPr lang="zh-CN" altLang="en-US" sz="4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特性</a:t>
            </a:r>
            <a:endParaRPr lang="zh-CN" altLang="en-US" sz="4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97742" y="1496649"/>
            <a:ext cx="9313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Hadoop</a:t>
            </a:r>
            <a:r>
              <a:rPr lang="zh-CN" altLang="zh-CN" sz="2800" dirty="0"/>
              <a:t>是一个能够对大量数据进行分布式处理的软件框架</a:t>
            </a:r>
            <a:endParaRPr lang="zh-CN" altLang="en-US" sz="2800" dirty="0"/>
          </a:p>
        </p:txBody>
      </p:sp>
      <p:sp>
        <p:nvSpPr>
          <p:cNvPr id="6" name="圆角矩形 4"/>
          <p:cNvSpPr/>
          <p:nvPr/>
        </p:nvSpPr>
        <p:spPr>
          <a:xfrm>
            <a:off x="655433" y="2348485"/>
            <a:ext cx="1920619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高可靠性</a:t>
            </a:r>
          </a:p>
        </p:txBody>
      </p:sp>
      <p:sp>
        <p:nvSpPr>
          <p:cNvPr id="7" name="圆角矩形 4"/>
          <p:cNvSpPr/>
          <p:nvPr/>
        </p:nvSpPr>
        <p:spPr>
          <a:xfrm>
            <a:off x="637432" y="3751203"/>
            <a:ext cx="1920619" cy="5905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冗余存储</a:t>
            </a:r>
          </a:p>
        </p:txBody>
      </p:sp>
      <p:sp>
        <p:nvSpPr>
          <p:cNvPr id="8" name="圆角矩形 4"/>
          <p:cNvSpPr/>
          <p:nvPr/>
        </p:nvSpPr>
        <p:spPr>
          <a:xfrm>
            <a:off x="3413381" y="2339639"/>
            <a:ext cx="1920619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高效性</a:t>
            </a:r>
          </a:p>
        </p:txBody>
      </p:sp>
      <p:sp>
        <p:nvSpPr>
          <p:cNvPr id="9" name="圆角矩形 4"/>
          <p:cNvSpPr/>
          <p:nvPr/>
        </p:nvSpPr>
        <p:spPr>
          <a:xfrm>
            <a:off x="3279018" y="3602356"/>
            <a:ext cx="2189343" cy="91813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分布式</a:t>
            </a:r>
            <a:endParaRPr lang="en-US" altLang="zh-CN" sz="2800" dirty="0"/>
          </a:p>
          <a:p>
            <a:pPr algn="ctr"/>
            <a:r>
              <a:rPr lang="zh-CN" altLang="en-US" sz="2800" dirty="0"/>
              <a:t>存储、处理</a:t>
            </a:r>
          </a:p>
        </p:txBody>
      </p:sp>
      <p:sp>
        <p:nvSpPr>
          <p:cNvPr id="10" name="圆角矩形 4"/>
          <p:cNvSpPr/>
          <p:nvPr/>
        </p:nvSpPr>
        <p:spPr>
          <a:xfrm>
            <a:off x="6102503" y="2334548"/>
            <a:ext cx="205498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高可扩展性</a:t>
            </a:r>
          </a:p>
        </p:txBody>
      </p:sp>
      <p:sp>
        <p:nvSpPr>
          <p:cNvPr id="11" name="圆角矩形 4"/>
          <p:cNvSpPr/>
          <p:nvPr/>
        </p:nvSpPr>
        <p:spPr>
          <a:xfrm>
            <a:off x="7522906" y="3772822"/>
            <a:ext cx="2820629" cy="5905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Java</a:t>
            </a:r>
            <a:r>
              <a:rPr lang="zh-CN" altLang="en-US" sz="2800" dirty="0"/>
              <a:t>、廉价集群</a:t>
            </a:r>
          </a:p>
        </p:txBody>
      </p:sp>
      <p:sp>
        <p:nvSpPr>
          <p:cNvPr id="12" name="圆角矩形 4"/>
          <p:cNvSpPr/>
          <p:nvPr/>
        </p:nvSpPr>
        <p:spPr>
          <a:xfrm>
            <a:off x="655433" y="5202886"/>
            <a:ext cx="1920619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高容错性</a:t>
            </a:r>
          </a:p>
        </p:txBody>
      </p:sp>
      <p:sp>
        <p:nvSpPr>
          <p:cNvPr id="14" name="圆角矩形 4"/>
          <p:cNvSpPr/>
          <p:nvPr/>
        </p:nvSpPr>
        <p:spPr>
          <a:xfrm>
            <a:off x="8423787" y="2348485"/>
            <a:ext cx="1457632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成本低</a:t>
            </a:r>
          </a:p>
        </p:txBody>
      </p:sp>
      <p:sp>
        <p:nvSpPr>
          <p:cNvPr id="15" name="圆角矩形 4"/>
          <p:cNvSpPr/>
          <p:nvPr/>
        </p:nvSpPr>
        <p:spPr>
          <a:xfrm>
            <a:off x="10078934" y="2348485"/>
            <a:ext cx="1798433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支持</a:t>
            </a:r>
            <a:r>
              <a:rPr lang="en-US" altLang="zh-CN" sz="2800" dirty="0"/>
              <a:t>Linux</a:t>
            </a:r>
            <a:endParaRPr lang="zh-CN" altLang="en-US" sz="2800" dirty="0"/>
          </a:p>
        </p:txBody>
      </p:sp>
      <p:sp>
        <p:nvSpPr>
          <p:cNvPr id="16" name="圆角矩形 4"/>
          <p:cNvSpPr/>
          <p:nvPr/>
        </p:nvSpPr>
        <p:spPr>
          <a:xfrm>
            <a:off x="7400873" y="5197159"/>
            <a:ext cx="2942662" cy="91916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支持多编程语言</a:t>
            </a:r>
            <a:endParaRPr lang="en-US" altLang="zh-CN" sz="2800" dirty="0"/>
          </a:p>
          <a:p>
            <a:pPr algn="ctr"/>
            <a:r>
              <a:rPr lang="zh-CN" altLang="en-US" sz="2800" dirty="0"/>
              <a:t>如</a:t>
            </a:r>
            <a:r>
              <a:rPr lang="en-US" altLang="zh-CN" sz="2800" dirty="0"/>
              <a:t>C++</a:t>
            </a:r>
            <a:endParaRPr lang="zh-CN" altLang="en-US" sz="2800" dirty="0"/>
          </a:p>
        </p:txBody>
      </p:sp>
      <p:cxnSp>
        <p:nvCxnSpPr>
          <p:cNvPr id="18" name="直接箭头连接符 17"/>
          <p:cNvCxnSpPr>
            <a:stCxn id="7" idx="0"/>
            <a:endCxn id="6" idx="2"/>
          </p:cNvCxnSpPr>
          <p:nvPr/>
        </p:nvCxnSpPr>
        <p:spPr>
          <a:xfrm flipV="1">
            <a:off x="1597742" y="2939035"/>
            <a:ext cx="18001" cy="812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7" idx="2"/>
            <a:endCxn id="12" idx="0"/>
          </p:cNvCxnSpPr>
          <p:nvPr/>
        </p:nvCxnSpPr>
        <p:spPr>
          <a:xfrm>
            <a:off x="1597742" y="4341753"/>
            <a:ext cx="18001" cy="8611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9" idx="0"/>
            <a:endCxn id="8" idx="2"/>
          </p:cNvCxnSpPr>
          <p:nvPr/>
        </p:nvCxnSpPr>
        <p:spPr>
          <a:xfrm flipV="1">
            <a:off x="4373690" y="2930189"/>
            <a:ext cx="1" cy="6721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0" idx="2"/>
          </p:cNvCxnSpPr>
          <p:nvPr/>
        </p:nvCxnSpPr>
        <p:spPr>
          <a:xfrm flipH="1" flipV="1">
            <a:off x="7129993" y="2925098"/>
            <a:ext cx="982847" cy="8322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1" idx="0"/>
            <a:endCxn id="14" idx="2"/>
          </p:cNvCxnSpPr>
          <p:nvPr/>
        </p:nvCxnSpPr>
        <p:spPr>
          <a:xfrm flipV="1">
            <a:off x="8933221" y="2939035"/>
            <a:ext cx="219382" cy="8337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15" idx="2"/>
          </p:cNvCxnSpPr>
          <p:nvPr/>
        </p:nvCxnSpPr>
        <p:spPr>
          <a:xfrm flipV="1">
            <a:off x="10167385" y="2939035"/>
            <a:ext cx="810766" cy="8392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6" grpId="2" bldLvl="0" animBg="1"/>
      <p:bldP spid="7" grpId="1" animBg="1"/>
      <p:bldP spid="7" grpId="2" bldLvl="0" animBg="1"/>
      <p:bldP spid="8" grpId="1" animBg="1"/>
      <p:bldP spid="8" grpId="2" bldLvl="0" animBg="1"/>
      <p:bldP spid="9" grpId="1" animBg="1"/>
      <p:bldP spid="9" grpId="2" bldLvl="0" animBg="1"/>
      <p:bldP spid="10" grpId="1" animBg="1"/>
      <p:bldP spid="10" grpId="2" bldLvl="0" animBg="1"/>
      <p:bldP spid="11" grpId="1" animBg="1"/>
      <p:bldP spid="11" grpId="2" bldLvl="0" animBg="1"/>
      <p:bldP spid="12" grpId="1" animBg="1"/>
      <p:bldP spid="12" grpId="2" bldLvl="0" animBg="1"/>
      <p:bldP spid="14" grpId="1" animBg="1"/>
      <p:bldP spid="14" grpId="2" bldLvl="0" animBg="1"/>
      <p:bldP spid="15" grpId="1" animBg="1"/>
      <p:bldP spid="15" grpId="2" bldLvl="0" animBg="1"/>
      <p:bldP spid="16" grpId="1" animBg="1"/>
      <p:bldP spid="16" grpId="2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3.1.1	</a:t>
            </a:r>
            <a:r>
              <a:rPr lang="en-US" altLang="en-US" b="1" dirty="0" err="1"/>
              <a:t>计算机集群结构</a:t>
            </a:r>
            <a:endParaRPr lang="zh-CN" altLang="en-US" b="1" dirty="0"/>
          </a:p>
        </p:txBody>
      </p:sp>
      <p:pic>
        <p:nvPicPr>
          <p:cNvPr id="3" name="图片 5" descr="_架(01-22-15-12-55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660" y="2533967"/>
            <a:ext cx="6019800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对话气泡: 圆角矩形 3"/>
          <p:cNvSpPr/>
          <p:nvPr/>
        </p:nvSpPr>
        <p:spPr>
          <a:xfrm>
            <a:off x="198120" y="2992120"/>
            <a:ext cx="2738120" cy="873760"/>
          </a:xfrm>
          <a:prstGeom prst="wedgeRoundRectCallout">
            <a:avLst>
              <a:gd name="adj1" fmla="val 112477"/>
              <a:gd name="adj2" fmla="val -5261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/>
            <a:r>
              <a:rPr lang="zh-CN" altLang="en-US" sz="2400" dirty="0"/>
              <a:t>文件分布存储到多个计算机节点上</a:t>
            </a:r>
            <a:endParaRPr lang="en-US" altLang="zh-CN" sz="2400" dirty="0"/>
          </a:p>
        </p:txBody>
      </p:sp>
      <p:sp>
        <p:nvSpPr>
          <p:cNvPr id="5" name="对话气泡: 圆角矩形 4"/>
          <p:cNvSpPr/>
          <p:nvPr/>
        </p:nvSpPr>
        <p:spPr>
          <a:xfrm>
            <a:off x="8295640" y="3234331"/>
            <a:ext cx="3210560" cy="873760"/>
          </a:xfrm>
          <a:prstGeom prst="wedgeRoundRectCallout">
            <a:avLst>
              <a:gd name="adj1" fmla="val -100298"/>
              <a:gd name="adj2" fmla="val -6424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/>
            <a:r>
              <a:rPr lang="zh-CN" altLang="en-US" sz="2400" dirty="0"/>
              <a:t>成千上万的计算机节点构成计算机集群</a:t>
            </a:r>
            <a:endParaRPr lang="en-US" altLang="zh-CN" sz="2400" dirty="0"/>
          </a:p>
        </p:txBody>
      </p:sp>
      <p:sp>
        <p:nvSpPr>
          <p:cNvPr id="6" name="对话气泡: 圆角矩形 5"/>
          <p:cNvSpPr/>
          <p:nvPr/>
        </p:nvSpPr>
        <p:spPr>
          <a:xfrm>
            <a:off x="8420100" y="1360308"/>
            <a:ext cx="2738120" cy="873760"/>
          </a:xfrm>
          <a:prstGeom prst="wedgeRoundRectCallout">
            <a:avLst>
              <a:gd name="adj1" fmla="val -116465"/>
              <a:gd name="adj2" fmla="val 938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/>
            <a:r>
              <a:rPr lang="zh-CN" altLang="en-US" sz="2400" dirty="0"/>
              <a:t>集群由普通硬件构成的，成本低</a:t>
            </a:r>
          </a:p>
        </p:txBody>
      </p:sp>
      <p:sp>
        <p:nvSpPr>
          <p:cNvPr id="7" name="对话气泡: 圆角矩形 6"/>
          <p:cNvSpPr/>
          <p:nvPr/>
        </p:nvSpPr>
        <p:spPr>
          <a:xfrm>
            <a:off x="748030" y="4634229"/>
            <a:ext cx="1992630" cy="533083"/>
          </a:xfrm>
          <a:prstGeom prst="wedgeRoundRectCallout">
            <a:avLst>
              <a:gd name="adj1" fmla="val 61904"/>
              <a:gd name="adj2" fmla="val -94380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/>
            <a:r>
              <a:rPr lang="en-US" altLang="zh-CN" sz="2400" dirty="0"/>
              <a:t>8~64</a:t>
            </a:r>
            <a:r>
              <a:rPr lang="zh-CN" altLang="en-US" sz="2400" dirty="0"/>
              <a:t>个节点</a:t>
            </a:r>
            <a:endParaRPr lang="en-US" altLang="zh-CN" sz="2400" dirty="0"/>
          </a:p>
        </p:txBody>
      </p:sp>
      <p:sp>
        <p:nvSpPr>
          <p:cNvPr id="8" name="对话气泡: 圆角矩形 7"/>
          <p:cNvSpPr/>
          <p:nvPr/>
        </p:nvSpPr>
        <p:spPr>
          <a:xfrm>
            <a:off x="9043670" y="4733310"/>
            <a:ext cx="1709420" cy="764382"/>
          </a:xfrm>
          <a:prstGeom prst="wedgeRoundRectCallout">
            <a:avLst>
              <a:gd name="adj1" fmla="val -131759"/>
              <a:gd name="adj2" fmla="val -8449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hangingPunct="1"/>
            <a:r>
              <a:rPr lang="zh-CN" altLang="en-US" sz="2400" dirty="0"/>
              <a:t>节点间</a:t>
            </a:r>
            <a:endParaRPr lang="en-US" altLang="zh-CN" sz="2400" dirty="0"/>
          </a:p>
          <a:p>
            <a:pPr algn="ctr" eaLnBrk="1" hangingPunct="1"/>
            <a:r>
              <a:rPr lang="zh-CN" altLang="en-US" sz="2400" dirty="0"/>
              <a:t>网络互连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2"/>
          <p:cNvSpPr>
            <a:spLocks noGrp="1" noChangeArrowheads="1"/>
          </p:cNvSpPr>
          <p:nvPr>
            <p:ph type="title"/>
          </p:nvPr>
        </p:nvSpPr>
        <p:spPr>
          <a:xfrm>
            <a:off x="851058" y="213679"/>
            <a:ext cx="10515600" cy="1325563"/>
          </a:xfrm>
        </p:spPr>
        <p:txBody>
          <a:bodyPr/>
          <a:lstStyle/>
          <a:p>
            <a:r>
              <a:rPr lang="en-US" altLang="zh-CN" b="1" dirty="0"/>
              <a:t>3.1.2	</a:t>
            </a:r>
            <a:r>
              <a:rPr lang="zh-CN" altLang="en-US" b="1" dirty="0"/>
              <a:t>分布式文件系统的结构</a:t>
            </a: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6547802" y="5323681"/>
            <a:ext cx="658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128078" y="1560513"/>
            <a:ext cx="2000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3" name="Group 79"/>
          <p:cNvGrpSpPr/>
          <p:nvPr/>
        </p:nvGrpSpPr>
        <p:grpSpPr bwMode="auto">
          <a:xfrm>
            <a:off x="1236028" y="1549401"/>
            <a:ext cx="9375774" cy="5162549"/>
            <a:chOff x="945" y="950"/>
            <a:chExt cx="5906" cy="3252"/>
          </a:xfrm>
        </p:grpSpPr>
        <p:sp>
          <p:nvSpPr>
            <p:cNvPr id="14" name="Freeform 5"/>
            <p:cNvSpPr/>
            <p:nvPr/>
          </p:nvSpPr>
          <p:spPr bwMode="auto">
            <a:xfrm>
              <a:off x="2009" y="1422"/>
              <a:ext cx="1181" cy="591"/>
            </a:xfrm>
            <a:custGeom>
              <a:avLst/>
              <a:gdLst>
                <a:gd name="T0" fmla="*/ 121 w 1209"/>
                <a:gd name="T1" fmla="*/ 605 h 605"/>
                <a:gd name="T2" fmla="*/ 1088 w 1209"/>
                <a:gd name="T3" fmla="*/ 605 h 605"/>
                <a:gd name="T4" fmla="*/ 1209 w 1209"/>
                <a:gd name="T5" fmla="*/ 484 h 605"/>
                <a:gd name="T6" fmla="*/ 1209 w 1209"/>
                <a:gd name="T7" fmla="*/ 484 h 605"/>
                <a:gd name="T8" fmla="*/ 1209 w 1209"/>
                <a:gd name="T9" fmla="*/ 484 h 605"/>
                <a:gd name="T10" fmla="*/ 1209 w 1209"/>
                <a:gd name="T11" fmla="*/ 121 h 605"/>
                <a:gd name="T12" fmla="*/ 1088 w 1209"/>
                <a:gd name="T13" fmla="*/ 0 h 605"/>
                <a:gd name="T14" fmla="*/ 121 w 1209"/>
                <a:gd name="T15" fmla="*/ 0 h 605"/>
                <a:gd name="T16" fmla="*/ 0 w 1209"/>
                <a:gd name="T17" fmla="*/ 121 h 605"/>
                <a:gd name="T18" fmla="*/ 0 w 1209"/>
                <a:gd name="T19" fmla="*/ 121 h 605"/>
                <a:gd name="T20" fmla="*/ 0 w 1209"/>
                <a:gd name="T21" fmla="*/ 484 h 605"/>
                <a:gd name="T22" fmla="*/ 121 w 1209"/>
                <a:gd name="T23" fmla="*/ 605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09" h="605">
                  <a:moveTo>
                    <a:pt x="121" y="605"/>
                  </a:moveTo>
                  <a:lnTo>
                    <a:pt x="1088" y="605"/>
                  </a:lnTo>
                  <a:cubicBezTo>
                    <a:pt x="1155" y="605"/>
                    <a:pt x="1209" y="551"/>
                    <a:pt x="1209" y="484"/>
                  </a:cubicBezTo>
                  <a:cubicBezTo>
                    <a:pt x="1209" y="484"/>
                    <a:pt x="1209" y="484"/>
                    <a:pt x="1209" y="484"/>
                  </a:cubicBezTo>
                  <a:lnTo>
                    <a:pt x="1209" y="484"/>
                  </a:lnTo>
                  <a:lnTo>
                    <a:pt x="1209" y="121"/>
                  </a:lnTo>
                  <a:cubicBezTo>
                    <a:pt x="1209" y="55"/>
                    <a:pt x="1155" y="0"/>
                    <a:pt x="1088" y="0"/>
                  </a:cubicBezTo>
                  <a:lnTo>
                    <a:pt x="121" y="0"/>
                  </a:lnTo>
                  <a:cubicBezTo>
                    <a:pt x="54" y="0"/>
                    <a:pt x="0" y="55"/>
                    <a:pt x="0" y="121"/>
                  </a:cubicBezTo>
                  <a:lnTo>
                    <a:pt x="0" y="121"/>
                  </a:lnTo>
                  <a:lnTo>
                    <a:pt x="0" y="484"/>
                  </a:lnTo>
                  <a:cubicBezTo>
                    <a:pt x="0" y="551"/>
                    <a:pt x="54" y="605"/>
                    <a:pt x="121" y="60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2009" y="1422"/>
              <a:ext cx="1181" cy="591"/>
            </a:xfrm>
            <a:custGeom>
              <a:avLst/>
              <a:gdLst>
                <a:gd name="T0" fmla="*/ 121 w 1209"/>
                <a:gd name="T1" fmla="*/ 605 h 605"/>
                <a:gd name="T2" fmla="*/ 1088 w 1209"/>
                <a:gd name="T3" fmla="*/ 605 h 605"/>
                <a:gd name="T4" fmla="*/ 1209 w 1209"/>
                <a:gd name="T5" fmla="*/ 484 h 605"/>
                <a:gd name="T6" fmla="*/ 1209 w 1209"/>
                <a:gd name="T7" fmla="*/ 484 h 605"/>
                <a:gd name="T8" fmla="*/ 1209 w 1209"/>
                <a:gd name="T9" fmla="*/ 484 h 605"/>
                <a:gd name="T10" fmla="*/ 1209 w 1209"/>
                <a:gd name="T11" fmla="*/ 121 h 605"/>
                <a:gd name="T12" fmla="*/ 1088 w 1209"/>
                <a:gd name="T13" fmla="*/ 0 h 605"/>
                <a:gd name="T14" fmla="*/ 121 w 1209"/>
                <a:gd name="T15" fmla="*/ 0 h 605"/>
                <a:gd name="T16" fmla="*/ 0 w 1209"/>
                <a:gd name="T17" fmla="*/ 121 h 605"/>
                <a:gd name="T18" fmla="*/ 0 w 1209"/>
                <a:gd name="T19" fmla="*/ 121 h 605"/>
                <a:gd name="T20" fmla="*/ 0 w 1209"/>
                <a:gd name="T21" fmla="*/ 484 h 605"/>
                <a:gd name="T22" fmla="*/ 121 w 1209"/>
                <a:gd name="T23" fmla="*/ 605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09" h="605">
                  <a:moveTo>
                    <a:pt x="121" y="605"/>
                  </a:moveTo>
                  <a:lnTo>
                    <a:pt x="1088" y="605"/>
                  </a:lnTo>
                  <a:cubicBezTo>
                    <a:pt x="1155" y="605"/>
                    <a:pt x="1209" y="551"/>
                    <a:pt x="1209" y="484"/>
                  </a:cubicBezTo>
                  <a:cubicBezTo>
                    <a:pt x="1209" y="484"/>
                    <a:pt x="1209" y="484"/>
                    <a:pt x="1209" y="484"/>
                  </a:cubicBezTo>
                  <a:lnTo>
                    <a:pt x="1209" y="484"/>
                  </a:lnTo>
                  <a:lnTo>
                    <a:pt x="1209" y="121"/>
                  </a:lnTo>
                  <a:cubicBezTo>
                    <a:pt x="1209" y="55"/>
                    <a:pt x="1155" y="0"/>
                    <a:pt x="1088" y="0"/>
                  </a:cubicBezTo>
                  <a:lnTo>
                    <a:pt x="121" y="0"/>
                  </a:lnTo>
                  <a:cubicBezTo>
                    <a:pt x="54" y="0"/>
                    <a:pt x="0" y="55"/>
                    <a:pt x="0" y="121"/>
                  </a:cubicBezTo>
                  <a:lnTo>
                    <a:pt x="0" y="121"/>
                  </a:lnTo>
                  <a:lnTo>
                    <a:pt x="0" y="484"/>
                  </a:lnTo>
                  <a:cubicBezTo>
                    <a:pt x="0" y="551"/>
                    <a:pt x="54" y="605"/>
                    <a:pt x="121" y="605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945" y="2721"/>
              <a:ext cx="828" cy="5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945" y="2721"/>
              <a:ext cx="828" cy="59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Rectangle 9"/>
            <p:cNvSpPr>
              <a:spLocks noChangeArrowheads="1"/>
            </p:cNvSpPr>
            <p:nvPr/>
          </p:nvSpPr>
          <p:spPr bwMode="auto">
            <a:xfrm>
              <a:off x="1064" y="2840"/>
              <a:ext cx="207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064" y="2840"/>
              <a:ext cx="207" cy="206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1418" y="2840"/>
              <a:ext cx="236" cy="2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>
              <a:off x="1418" y="2840"/>
              <a:ext cx="236" cy="236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Rectangle 13"/>
            <p:cNvSpPr>
              <a:spLocks noChangeArrowheads="1"/>
            </p:cNvSpPr>
            <p:nvPr/>
          </p:nvSpPr>
          <p:spPr bwMode="auto">
            <a:xfrm>
              <a:off x="2009" y="2721"/>
              <a:ext cx="826" cy="5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2009" y="2721"/>
              <a:ext cx="826" cy="59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2127" y="2840"/>
              <a:ext cx="165" cy="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2127" y="2840"/>
              <a:ext cx="165" cy="147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2362" y="3076"/>
              <a:ext cx="178" cy="1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2362" y="3076"/>
              <a:ext cx="178" cy="177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Rectangle 19"/>
            <p:cNvSpPr>
              <a:spLocks noChangeArrowheads="1"/>
            </p:cNvSpPr>
            <p:nvPr/>
          </p:nvSpPr>
          <p:spPr bwMode="auto">
            <a:xfrm>
              <a:off x="2481" y="2840"/>
              <a:ext cx="236" cy="2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Rectangle 20"/>
            <p:cNvSpPr>
              <a:spLocks noChangeArrowheads="1"/>
            </p:cNvSpPr>
            <p:nvPr/>
          </p:nvSpPr>
          <p:spPr bwMode="auto">
            <a:xfrm>
              <a:off x="2481" y="2840"/>
              <a:ext cx="236" cy="236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3190" y="2721"/>
              <a:ext cx="827" cy="5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22"/>
            <p:cNvSpPr>
              <a:spLocks noChangeArrowheads="1"/>
            </p:cNvSpPr>
            <p:nvPr/>
          </p:nvSpPr>
          <p:spPr bwMode="auto">
            <a:xfrm>
              <a:off x="3190" y="2721"/>
              <a:ext cx="827" cy="59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Rectangle 23"/>
            <p:cNvSpPr>
              <a:spLocks noChangeArrowheads="1"/>
            </p:cNvSpPr>
            <p:nvPr/>
          </p:nvSpPr>
          <p:spPr bwMode="auto">
            <a:xfrm>
              <a:off x="3308" y="2840"/>
              <a:ext cx="177" cy="1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3308" y="2840"/>
              <a:ext cx="177" cy="176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3780" y="2840"/>
              <a:ext cx="177" cy="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3780" y="2840"/>
              <a:ext cx="177" cy="165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485" y="2958"/>
              <a:ext cx="295" cy="2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Rectangle 28"/>
            <p:cNvSpPr>
              <a:spLocks noChangeArrowheads="1"/>
            </p:cNvSpPr>
            <p:nvPr/>
          </p:nvSpPr>
          <p:spPr bwMode="auto">
            <a:xfrm>
              <a:off x="3485" y="2958"/>
              <a:ext cx="295" cy="295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Rectangle 29"/>
            <p:cNvSpPr>
              <a:spLocks noChangeArrowheads="1"/>
            </p:cNvSpPr>
            <p:nvPr/>
          </p:nvSpPr>
          <p:spPr bwMode="auto">
            <a:xfrm>
              <a:off x="4843" y="2721"/>
              <a:ext cx="827" cy="5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Rectangle 30"/>
            <p:cNvSpPr>
              <a:spLocks noChangeArrowheads="1"/>
            </p:cNvSpPr>
            <p:nvPr/>
          </p:nvSpPr>
          <p:spPr bwMode="auto">
            <a:xfrm>
              <a:off x="4843" y="2721"/>
              <a:ext cx="827" cy="59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Rectangle 31"/>
            <p:cNvSpPr>
              <a:spLocks noChangeArrowheads="1"/>
            </p:cNvSpPr>
            <p:nvPr/>
          </p:nvSpPr>
          <p:spPr bwMode="auto">
            <a:xfrm>
              <a:off x="4961" y="2840"/>
              <a:ext cx="207" cy="1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>
              <a:off x="4961" y="2840"/>
              <a:ext cx="207" cy="188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Rectangle 33"/>
            <p:cNvSpPr>
              <a:spLocks noChangeArrowheads="1"/>
            </p:cNvSpPr>
            <p:nvPr/>
          </p:nvSpPr>
          <p:spPr bwMode="auto">
            <a:xfrm>
              <a:off x="5316" y="2840"/>
              <a:ext cx="207" cy="1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Rectangle 34"/>
            <p:cNvSpPr>
              <a:spLocks noChangeArrowheads="1"/>
            </p:cNvSpPr>
            <p:nvPr/>
          </p:nvSpPr>
          <p:spPr bwMode="auto">
            <a:xfrm>
              <a:off x="5316" y="2840"/>
              <a:ext cx="207" cy="188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Rectangle 35"/>
            <p:cNvSpPr>
              <a:spLocks noChangeArrowheads="1"/>
            </p:cNvSpPr>
            <p:nvPr/>
          </p:nvSpPr>
          <p:spPr bwMode="auto">
            <a:xfrm>
              <a:off x="5907" y="2721"/>
              <a:ext cx="944" cy="5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Rectangle 36"/>
            <p:cNvSpPr>
              <a:spLocks noChangeArrowheads="1"/>
            </p:cNvSpPr>
            <p:nvPr/>
          </p:nvSpPr>
          <p:spPr bwMode="auto">
            <a:xfrm>
              <a:off x="5907" y="2721"/>
              <a:ext cx="944" cy="59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Rectangle 37"/>
            <p:cNvSpPr>
              <a:spLocks noChangeArrowheads="1"/>
            </p:cNvSpPr>
            <p:nvPr/>
          </p:nvSpPr>
          <p:spPr bwMode="auto">
            <a:xfrm>
              <a:off x="6025" y="2840"/>
              <a:ext cx="236" cy="2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Rectangle 38"/>
            <p:cNvSpPr>
              <a:spLocks noChangeArrowheads="1"/>
            </p:cNvSpPr>
            <p:nvPr/>
          </p:nvSpPr>
          <p:spPr bwMode="auto">
            <a:xfrm>
              <a:off x="6025" y="2840"/>
              <a:ext cx="236" cy="236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Rectangle 39"/>
            <p:cNvSpPr>
              <a:spLocks noChangeArrowheads="1"/>
            </p:cNvSpPr>
            <p:nvPr/>
          </p:nvSpPr>
          <p:spPr bwMode="auto">
            <a:xfrm>
              <a:off x="6496" y="2840"/>
              <a:ext cx="207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Rectangle 40"/>
            <p:cNvSpPr>
              <a:spLocks noChangeArrowheads="1"/>
            </p:cNvSpPr>
            <p:nvPr/>
          </p:nvSpPr>
          <p:spPr bwMode="auto">
            <a:xfrm>
              <a:off x="6496" y="2840"/>
              <a:ext cx="207" cy="206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Rectangle 41"/>
            <p:cNvSpPr>
              <a:spLocks noChangeArrowheads="1"/>
            </p:cNvSpPr>
            <p:nvPr/>
          </p:nvSpPr>
          <p:spPr bwMode="auto">
            <a:xfrm>
              <a:off x="6261" y="2958"/>
              <a:ext cx="206" cy="1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Rectangle 42"/>
            <p:cNvSpPr>
              <a:spLocks noChangeArrowheads="1"/>
            </p:cNvSpPr>
            <p:nvPr/>
          </p:nvSpPr>
          <p:spPr bwMode="auto">
            <a:xfrm>
              <a:off x="6261" y="2958"/>
              <a:ext cx="206" cy="188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Oval 43"/>
            <p:cNvSpPr>
              <a:spLocks noChangeArrowheads="1"/>
            </p:cNvSpPr>
            <p:nvPr/>
          </p:nvSpPr>
          <p:spPr bwMode="auto">
            <a:xfrm>
              <a:off x="945" y="950"/>
              <a:ext cx="828" cy="472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4"/>
            <p:cNvSpPr/>
            <p:nvPr/>
          </p:nvSpPr>
          <p:spPr bwMode="auto">
            <a:xfrm>
              <a:off x="945" y="950"/>
              <a:ext cx="828" cy="472"/>
            </a:xfrm>
            <a:custGeom>
              <a:avLst/>
              <a:gdLst>
                <a:gd name="T0" fmla="*/ 828 w 828"/>
                <a:gd name="T1" fmla="*/ 236 h 472"/>
                <a:gd name="T2" fmla="*/ 413 w 828"/>
                <a:gd name="T3" fmla="*/ 0 h 472"/>
                <a:gd name="T4" fmla="*/ 0 w 828"/>
                <a:gd name="T5" fmla="*/ 236 h 472"/>
                <a:gd name="T6" fmla="*/ 413 w 828"/>
                <a:gd name="T7" fmla="*/ 472 h 472"/>
                <a:gd name="T8" fmla="*/ 828 w 828"/>
                <a:gd name="T9" fmla="*/ 236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8" h="472">
                  <a:moveTo>
                    <a:pt x="828" y="236"/>
                  </a:moveTo>
                  <a:cubicBezTo>
                    <a:pt x="828" y="106"/>
                    <a:pt x="642" y="0"/>
                    <a:pt x="413" y="0"/>
                  </a:cubicBezTo>
                  <a:cubicBezTo>
                    <a:pt x="186" y="0"/>
                    <a:pt x="0" y="106"/>
                    <a:pt x="0" y="236"/>
                  </a:cubicBezTo>
                  <a:cubicBezTo>
                    <a:pt x="0" y="366"/>
                    <a:pt x="186" y="472"/>
                    <a:pt x="413" y="472"/>
                  </a:cubicBezTo>
                  <a:cubicBezTo>
                    <a:pt x="642" y="472"/>
                    <a:pt x="828" y="366"/>
                    <a:pt x="828" y="23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Oval 45"/>
            <p:cNvSpPr>
              <a:spLocks noChangeArrowheads="1"/>
            </p:cNvSpPr>
            <p:nvPr/>
          </p:nvSpPr>
          <p:spPr bwMode="auto">
            <a:xfrm>
              <a:off x="4135" y="1481"/>
              <a:ext cx="944" cy="473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Oval 46"/>
            <p:cNvSpPr>
              <a:spLocks noChangeArrowheads="1"/>
            </p:cNvSpPr>
            <p:nvPr/>
          </p:nvSpPr>
          <p:spPr bwMode="auto">
            <a:xfrm>
              <a:off x="4135" y="1481"/>
              <a:ext cx="944" cy="473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Rectangle 47"/>
            <p:cNvSpPr>
              <a:spLocks noChangeArrowheads="1"/>
            </p:cNvSpPr>
            <p:nvPr/>
          </p:nvSpPr>
          <p:spPr bwMode="auto">
            <a:xfrm>
              <a:off x="2266" y="1463"/>
              <a:ext cx="655" cy="24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主节点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48"/>
            <p:cNvSpPr>
              <a:spLocks noChangeArrowheads="1"/>
            </p:cNvSpPr>
            <p:nvPr/>
          </p:nvSpPr>
          <p:spPr bwMode="auto">
            <a:xfrm>
              <a:off x="1111" y="1092"/>
              <a:ext cx="34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客户端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49"/>
            <p:cNvSpPr>
              <a:spLocks noChangeArrowheads="1"/>
            </p:cNvSpPr>
            <p:nvPr/>
          </p:nvSpPr>
          <p:spPr bwMode="auto">
            <a:xfrm>
              <a:off x="4362" y="1639"/>
              <a:ext cx="34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客户端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Freeform 50"/>
            <p:cNvSpPr/>
            <p:nvPr/>
          </p:nvSpPr>
          <p:spPr bwMode="auto">
            <a:xfrm>
              <a:off x="945" y="3429"/>
              <a:ext cx="1433" cy="355"/>
            </a:xfrm>
            <a:custGeom>
              <a:avLst/>
              <a:gdLst>
                <a:gd name="T0" fmla="*/ 0 w 1433"/>
                <a:gd name="T1" fmla="*/ 0 h 355"/>
                <a:gd name="T2" fmla="*/ 266 w 1433"/>
                <a:gd name="T3" fmla="*/ 107 h 355"/>
                <a:gd name="T4" fmla="*/ 1417 w 1433"/>
                <a:gd name="T5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3" h="355">
                  <a:moveTo>
                    <a:pt x="0" y="0"/>
                  </a:moveTo>
                  <a:cubicBezTo>
                    <a:pt x="75" y="108"/>
                    <a:pt x="170" y="108"/>
                    <a:pt x="266" y="107"/>
                  </a:cubicBezTo>
                  <a:cubicBezTo>
                    <a:pt x="837" y="105"/>
                    <a:pt x="1433" y="116"/>
                    <a:pt x="1417" y="35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1"/>
            <p:cNvSpPr/>
            <p:nvPr/>
          </p:nvSpPr>
          <p:spPr bwMode="auto">
            <a:xfrm>
              <a:off x="2362" y="3333"/>
              <a:ext cx="1655" cy="451"/>
            </a:xfrm>
            <a:custGeom>
              <a:avLst/>
              <a:gdLst>
                <a:gd name="T0" fmla="*/ 1655 w 1655"/>
                <a:gd name="T1" fmla="*/ 96 h 451"/>
                <a:gd name="T2" fmla="*/ 0 w 1655"/>
                <a:gd name="T3" fmla="*/ 45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55" h="451">
                  <a:moveTo>
                    <a:pt x="1655" y="96"/>
                  </a:moveTo>
                  <a:cubicBezTo>
                    <a:pt x="1200" y="314"/>
                    <a:pt x="321" y="0"/>
                    <a:pt x="0" y="45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52"/>
            <p:cNvSpPr/>
            <p:nvPr/>
          </p:nvSpPr>
          <p:spPr bwMode="auto">
            <a:xfrm>
              <a:off x="4843" y="3542"/>
              <a:ext cx="2008" cy="242"/>
            </a:xfrm>
            <a:custGeom>
              <a:avLst/>
              <a:gdLst>
                <a:gd name="T0" fmla="*/ 0 w 2008"/>
                <a:gd name="T1" fmla="*/ 5 h 242"/>
                <a:gd name="T2" fmla="*/ 1064 w 2008"/>
                <a:gd name="T3" fmla="*/ 242 h 242"/>
                <a:gd name="T4" fmla="*/ 2008 w 2008"/>
                <a:gd name="T5" fmla="*/ 5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8" h="242">
                  <a:moveTo>
                    <a:pt x="0" y="5"/>
                  </a:moveTo>
                  <a:cubicBezTo>
                    <a:pt x="247" y="185"/>
                    <a:pt x="925" y="0"/>
                    <a:pt x="1064" y="242"/>
                  </a:cubicBezTo>
                  <a:cubicBezTo>
                    <a:pt x="1214" y="86"/>
                    <a:pt x="1904" y="220"/>
                    <a:pt x="2008" y="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Rectangle 53"/>
            <p:cNvSpPr>
              <a:spLocks noChangeArrowheads="1"/>
            </p:cNvSpPr>
            <p:nvPr/>
          </p:nvSpPr>
          <p:spPr bwMode="auto">
            <a:xfrm>
              <a:off x="2127" y="3983"/>
              <a:ext cx="281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机架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54"/>
            <p:cNvSpPr>
              <a:spLocks noChangeArrowheads="1"/>
            </p:cNvSpPr>
            <p:nvPr/>
          </p:nvSpPr>
          <p:spPr bwMode="auto">
            <a:xfrm>
              <a:off x="2502" y="3967"/>
              <a:ext cx="17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92" name="Rectangle 55"/>
            <p:cNvSpPr>
              <a:spLocks noChangeArrowheads="1"/>
            </p:cNvSpPr>
            <p:nvPr/>
          </p:nvSpPr>
          <p:spPr bwMode="auto">
            <a:xfrm>
              <a:off x="5674" y="3983"/>
              <a:ext cx="281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机架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93" name="Rectangle 56"/>
            <p:cNvSpPr>
              <a:spLocks noChangeArrowheads="1"/>
            </p:cNvSpPr>
            <p:nvPr/>
          </p:nvSpPr>
          <p:spPr bwMode="auto">
            <a:xfrm>
              <a:off x="6049" y="3967"/>
              <a:ext cx="17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99" name="Line 57"/>
            <p:cNvSpPr>
              <a:spLocks noChangeShapeType="1"/>
            </p:cNvSpPr>
            <p:nvPr/>
          </p:nvSpPr>
          <p:spPr bwMode="auto">
            <a:xfrm>
              <a:off x="1725" y="1296"/>
              <a:ext cx="492" cy="105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00" name="Freeform 58"/>
            <p:cNvSpPr/>
            <p:nvPr/>
          </p:nvSpPr>
          <p:spPr bwMode="auto">
            <a:xfrm>
              <a:off x="2192" y="1342"/>
              <a:ext cx="124" cy="112"/>
            </a:xfrm>
            <a:custGeom>
              <a:avLst/>
              <a:gdLst>
                <a:gd name="T0" fmla="*/ 23 w 124"/>
                <a:gd name="T1" fmla="*/ 0 h 112"/>
                <a:gd name="T2" fmla="*/ 124 w 124"/>
                <a:gd name="T3" fmla="*/ 80 h 112"/>
                <a:gd name="T4" fmla="*/ 0 w 124"/>
                <a:gd name="T5" fmla="*/ 112 h 112"/>
                <a:gd name="T6" fmla="*/ 23 w 124"/>
                <a:gd name="T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112">
                  <a:moveTo>
                    <a:pt x="23" y="0"/>
                  </a:moveTo>
                  <a:lnTo>
                    <a:pt x="124" y="80"/>
                  </a:lnTo>
                  <a:lnTo>
                    <a:pt x="0" y="112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01" name="Line 59"/>
            <p:cNvSpPr>
              <a:spLocks noChangeShapeType="1"/>
            </p:cNvSpPr>
            <p:nvPr/>
          </p:nvSpPr>
          <p:spPr bwMode="auto">
            <a:xfrm flipH="1">
              <a:off x="3290" y="1736"/>
              <a:ext cx="846" cy="36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02" name="Freeform 60"/>
            <p:cNvSpPr/>
            <p:nvPr/>
          </p:nvSpPr>
          <p:spPr bwMode="auto">
            <a:xfrm>
              <a:off x="3190" y="1714"/>
              <a:ext cx="117" cy="115"/>
            </a:xfrm>
            <a:custGeom>
              <a:avLst/>
              <a:gdLst>
                <a:gd name="T0" fmla="*/ 117 w 117"/>
                <a:gd name="T1" fmla="*/ 115 h 115"/>
                <a:gd name="T2" fmla="*/ 0 w 117"/>
                <a:gd name="T3" fmla="*/ 62 h 115"/>
                <a:gd name="T4" fmla="*/ 112 w 117"/>
                <a:gd name="T5" fmla="*/ 0 h 115"/>
                <a:gd name="T6" fmla="*/ 117 w 11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7" h="115">
                  <a:moveTo>
                    <a:pt x="117" y="115"/>
                  </a:moveTo>
                  <a:lnTo>
                    <a:pt x="0" y="62"/>
                  </a:lnTo>
                  <a:lnTo>
                    <a:pt x="112" y="0"/>
                  </a:lnTo>
                  <a:lnTo>
                    <a:pt x="117" y="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03" name="Line 61"/>
            <p:cNvSpPr>
              <a:spLocks noChangeShapeType="1"/>
            </p:cNvSpPr>
            <p:nvPr/>
          </p:nvSpPr>
          <p:spPr bwMode="auto">
            <a:xfrm flipH="1">
              <a:off x="1182" y="1508"/>
              <a:ext cx="133" cy="1332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04" name="Freeform 62"/>
            <p:cNvSpPr/>
            <p:nvPr/>
          </p:nvSpPr>
          <p:spPr bwMode="auto">
            <a:xfrm>
              <a:off x="1254" y="1421"/>
              <a:ext cx="114" cy="120"/>
            </a:xfrm>
            <a:custGeom>
              <a:avLst/>
              <a:gdLst>
                <a:gd name="T0" fmla="*/ 71 w 117"/>
                <a:gd name="T1" fmla="*/ 0 h 123"/>
                <a:gd name="T2" fmla="*/ 117 w 117"/>
                <a:gd name="T3" fmla="*/ 123 h 123"/>
                <a:gd name="T4" fmla="*/ 0 w 117"/>
                <a:gd name="T5" fmla="*/ 112 h 123"/>
                <a:gd name="T6" fmla="*/ 0 w 117"/>
                <a:gd name="T7" fmla="*/ 112 h 123"/>
                <a:gd name="T8" fmla="*/ 71 w 117"/>
                <a:gd name="T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23">
                  <a:moveTo>
                    <a:pt x="71" y="0"/>
                  </a:moveTo>
                  <a:lnTo>
                    <a:pt x="117" y="123"/>
                  </a:lnTo>
                  <a:cubicBezTo>
                    <a:pt x="82" y="101"/>
                    <a:pt x="39" y="97"/>
                    <a:pt x="0" y="112"/>
                  </a:cubicBezTo>
                  <a:lnTo>
                    <a:pt x="0" y="112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05" name="Line 63"/>
            <p:cNvSpPr>
              <a:spLocks noChangeShapeType="1"/>
            </p:cNvSpPr>
            <p:nvPr/>
          </p:nvSpPr>
          <p:spPr bwMode="auto">
            <a:xfrm flipH="1">
              <a:off x="3504" y="1951"/>
              <a:ext cx="1030" cy="825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06" name="Freeform 64"/>
            <p:cNvSpPr/>
            <p:nvPr/>
          </p:nvSpPr>
          <p:spPr bwMode="auto">
            <a:xfrm>
              <a:off x="3426" y="2722"/>
              <a:ext cx="126" cy="118"/>
            </a:xfrm>
            <a:custGeom>
              <a:avLst/>
              <a:gdLst>
                <a:gd name="T0" fmla="*/ 126 w 126"/>
                <a:gd name="T1" fmla="*/ 90 h 118"/>
                <a:gd name="T2" fmla="*/ 0 w 126"/>
                <a:gd name="T3" fmla="*/ 118 h 118"/>
                <a:gd name="T4" fmla="*/ 54 w 126"/>
                <a:gd name="T5" fmla="*/ 0 h 118"/>
                <a:gd name="T6" fmla="*/ 126 w 126"/>
                <a:gd name="T7" fmla="*/ 9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" h="118">
                  <a:moveTo>
                    <a:pt x="126" y="90"/>
                  </a:moveTo>
                  <a:lnTo>
                    <a:pt x="0" y="118"/>
                  </a:lnTo>
                  <a:lnTo>
                    <a:pt x="54" y="0"/>
                  </a:lnTo>
                  <a:lnTo>
                    <a:pt x="126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07" name="Line 65"/>
            <p:cNvSpPr>
              <a:spLocks noChangeShapeType="1"/>
            </p:cNvSpPr>
            <p:nvPr/>
          </p:nvSpPr>
          <p:spPr bwMode="auto">
            <a:xfrm>
              <a:off x="4856" y="1918"/>
              <a:ext cx="524" cy="836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08" name="Freeform 66"/>
            <p:cNvSpPr/>
            <p:nvPr/>
          </p:nvSpPr>
          <p:spPr bwMode="auto">
            <a:xfrm>
              <a:off x="5324" y="2712"/>
              <a:ext cx="110" cy="128"/>
            </a:xfrm>
            <a:custGeom>
              <a:avLst/>
              <a:gdLst>
                <a:gd name="T0" fmla="*/ 97 w 110"/>
                <a:gd name="T1" fmla="*/ 0 h 128"/>
                <a:gd name="T2" fmla="*/ 110 w 110"/>
                <a:gd name="T3" fmla="*/ 128 h 128"/>
                <a:gd name="T4" fmla="*/ 0 w 110"/>
                <a:gd name="T5" fmla="*/ 60 h 128"/>
                <a:gd name="T6" fmla="*/ 97 w 110"/>
                <a:gd name="T7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128">
                  <a:moveTo>
                    <a:pt x="97" y="0"/>
                  </a:moveTo>
                  <a:lnTo>
                    <a:pt x="110" y="128"/>
                  </a:lnTo>
                  <a:lnTo>
                    <a:pt x="0" y="60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09" name="Line 67"/>
            <p:cNvSpPr>
              <a:spLocks noChangeShapeType="1"/>
            </p:cNvSpPr>
            <p:nvPr/>
          </p:nvSpPr>
          <p:spPr bwMode="auto">
            <a:xfrm>
              <a:off x="4058" y="2958"/>
              <a:ext cx="803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10" name="Freeform 68"/>
            <p:cNvSpPr/>
            <p:nvPr/>
          </p:nvSpPr>
          <p:spPr bwMode="auto">
            <a:xfrm>
              <a:off x="3957" y="2900"/>
              <a:ext cx="115" cy="115"/>
            </a:xfrm>
            <a:custGeom>
              <a:avLst/>
              <a:gdLst>
                <a:gd name="T0" fmla="*/ 115 w 115"/>
                <a:gd name="T1" fmla="*/ 115 h 115"/>
                <a:gd name="T2" fmla="*/ 0 w 115"/>
                <a:gd name="T3" fmla="*/ 58 h 115"/>
                <a:gd name="T4" fmla="*/ 115 w 115"/>
                <a:gd name="T5" fmla="*/ 0 h 115"/>
                <a:gd name="T6" fmla="*/ 115 w 115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" h="115">
                  <a:moveTo>
                    <a:pt x="115" y="115"/>
                  </a:moveTo>
                  <a:lnTo>
                    <a:pt x="0" y="58"/>
                  </a:lnTo>
                  <a:lnTo>
                    <a:pt x="115" y="0"/>
                  </a:lnTo>
                  <a:lnTo>
                    <a:pt x="115" y="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11" name="Freeform 69"/>
            <p:cNvSpPr/>
            <p:nvPr/>
          </p:nvSpPr>
          <p:spPr bwMode="auto">
            <a:xfrm>
              <a:off x="4846" y="2900"/>
              <a:ext cx="115" cy="115"/>
            </a:xfrm>
            <a:custGeom>
              <a:avLst/>
              <a:gdLst>
                <a:gd name="T0" fmla="*/ 0 w 115"/>
                <a:gd name="T1" fmla="*/ 0 h 115"/>
                <a:gd name="T2" fmla="*/ 115 w 115"/>
                <a:gd name="T3" fmla="*/ 58 h 115"/>
                <a:gd name="T4" fmla="*/ 0 w 115"/>
                <a:gd name="T5" fmla="*/ 115 h 115"/>
                <a:gd name="T6" fmla="*/ 0 w 115"/>
                <a:gd name="T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" h="115">
                  <a:moveTo>
                    <a:pt x="0" y="0"/>
                  </a:moveTo>
                  <a:lnTo>
                    <a:pt x="115" y="58"/>
                  </a:lnTo>
                  <a:lnTo>
                    <a:pt x="0" y="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12" name="Rectangle 70"/>
            <p:cNvSpPr>
              <a:spLocks noChangeArrowheads="1"/>
            </p:cNvSpPr>
            <p:nvPr/>
          </p:nvSpPr>
          <p:spPr bwMode="auto">
            <a:xfrm>
              <a:off x="2172" y="2194"/>
              <a:ext cx="557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从</a:t>
              </a:r>
              <a:r>
                <a:rPr kumimoji="0" lang="zh-CN" altLang="zh-CN" sz="2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13" name="Rectangle 71"/>
            <p:cNvSpPr>
              <a:spLocks noChangeArrowheads="1"/>
            </p:cNvSpPr>
            <p:nvPr/>
          </p:nvSpPr>
          <p:spPr bwMode="auto">
            <a:xfrm>
              <a:off x="5560" y="2452"/>
              <a:ext cx="92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3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kumimoji="0" lang="zh-CN" altLang="zh-CN" sz="2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数据节点</a:t>
              </a:r>
              <a:r>
                <a:rPr kumimoji="0" lang="en-US" altLang="zh-CN" sz="2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14" name="Rectangle 72"/>
            <p:cNvSpPr>
              <a:spLocks noChangeArrowheads="1"/>
            </p:cNvSpPr>
            <p:nvPr/>
          </p:nvSpPr>
          <p:spPr bwMode="auto">
            <a:xfrm>
              <a:off x="1971" y="1092"/>
              <a:ext cx="438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访问请求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15" name="Rectangle 73"/>
            <p:cNvSpPr>
              <a:spLocks noChangeArrowheads="1"/>
            </p:cNvSpPr>
            <p:nvPr/>
          </p:nvSpPr>
          <p:spPr bwMode="auto">
            <a:xfrm>
              <a:off x="3440" y="1514"/>
              <a:ext cx="438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访问请求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16" name="Rectangle 74"/>
            <p:cNvSpPr>
              <a:spLocks noChangeArrowheads="1"/>
            </p:cNvSpPr>
            <p:nvPr/>
          </p:nvSpPr>
          <p:spPr bwMode="auto">
            <a:xfrm>
              <a:off x="1018" y="2093"/>
              <a:ext cx="188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读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17" name="Rectangle 75"/>
            <p:cNvSpPr>
              <a:spLocks noChangeArrowheads="1"/>
            </p:cNvSpPr>
            <p:nvPr/>
          </p:nvSpPr>
          <p:spPr bwMode="auto">
            <a:xfrm>
              <a:off x="3830" y="2155"/>
              <a:ext cx="188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写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18" name="Rectangle 76"/>
            <p:cNvSpPr>
              <a:spLocks noChangeArrowheads="1"/>
            </p:cNvSpPr>
            <p:nvPr/>
          </p:nvSpPr>
          <p:spPr bwMode="auto">
            <a:xfrm>
              <a:off x="5158" y="2218"/>
              <a:ext cx="188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写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19" name="Rectangle 77"/>
            <p:cNvSpPr>
              <a:spLocks noChangeArrowheads="1"/>
            </p:cNvSpPr>
            <p:nvPr/>
          </p:nvSpPr>
          <p:spPr bwMode="auto">
            <a:xfrm>
              <a:off x="4237" y="3093"/>
              <a:ext cx="281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复制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20" name="Rectangle 78"/>
            <p:cNvSpPr>
              <a:spLocks noChangeArrowheads="1"/>
            </p:cNvSpPr>
            <p:nvPr/>
          </p:nvSpPr>
          <p:spPr bwMode="auto">
            <a:xfrm>
              <a:off x="6309" y="3108"/>
              <a:ext cx="34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文件块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148528" y="2742210"/>
            <a:ext cx="1408986" cy="4426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000" dirty="0"/>
              <a:t>(</a:t>
            </a:r>
            <a:r>
              <a:rPr lang="zh-CN" altLang="en-US" sz="2000" dirty="0"/>
              <a:t>名称节点</a:t>
            </a:r>
            <a:r>
              <a:rPr lang="en-US" altLang="zh-CN" sz="2000" dirty="0"/>
              <a:t>)</a:t>
            </a:r>
          </a:p>
        </p:txBody>
      </p:sp>
      <p:sp>
        <p:nvSpPr>
          <p:cNvPr id="8221" name="文本框 8220"/>
          <p:cNvSpPr txBox="1"/>
          <p:nvPr/>
        </p:nvSpPr>
        <p:spPr>
          <a:xfrm>
            <a:off x="2900442" y="3900727"/>
            <a:ext cx="1408986" cy="4426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000" dirty="0"/>
              <a:t>(</a:t>
            </a:r>
            <a:r>
              <a:rPr lang="zh-CN" altLang="en-US" sz="2000" dirty="0"/>
              <a:t>数据节点</a:t>
            </a:r>
            <a:r>
              <a:rPr lang="en-US" altLang="zh-CN" sz="2000" dirty="0"/>
              <a:t>)</a:t>
            </a:r>
          </a:p>
        </p:txBody>
      </p:sp>
      <p:sp>
        <p:nvSpPr>
          <p:cNvPr id="8222" name="对话气泡: 圆角矩形 8221"/>
          <p:cNvSpPr/>
          <p:nvPr/>
        </p:nvSpPr>
        <p:spPr>
          <a:xfrm>
            <a:off x="5128894" y="1315086"/>
            <a:ext cx="3374708" cy="873760"/>
          </a:xfrm>
          <a:prstGeom prst="wedgeRoundRectCallout">
            <a:avLst>
              <a:gd name="adj1" fmla="val -70084"/>
              <a:gd name="adj2" fmla="val 7878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hangingPunct="1"/>
            <a:r>
              <a:rPr lang="zh-CN" altLang="en-US" sz="2400" dirty="0"/>
              <a:t>文件、目录的变动</a:t>
            </a:r>
            <a:endParaRPr lang="en-US" altLang="zh-CN" sz="2400" dirty="0"/>
          </a:p>
          <a:p>
            <a:pPr algn="ctr" eaLnBrk="1" hangingPunct="1"/>
            <a:r>
              <a:rPr lang="zh-CN" altLang="en-US" sz="2400" dirty="0"/>
              <a:t>数据节点和文件块映射</a:t>
            </a:r>
            <a:endParaRPr lang="en-US" altLang="zh-CN" sz="2400" dirty="0"/>
          </a:p>
        </p:txBody>
      </p:sp>
      <p:sp>
        <p:nvSpPr>
          <p:cNvPr id="8223" name="Rectangle 70"/>
          <p:cNvSpPr>
            <a:spLocks noChangeArrowheads="1"/>
          </p:cNvSpPr>
          <p:nvPr/>
        </p:nvSpPr>
        <p:spPr bwMode="auto">
          <a:xfrm>
            <a:off x="8797290" y="3610295"/>
            <a:ext cx="884237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kumimoji="0" lang="zh-CN" altLang="zh-CN" sz="2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节点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224" name="对话气泡: 圆角矩形 8223"/>
          <p:cNvSpPr/>
          <p:nvPr/>
        </p:nvSpPr>
        <p:spPr>
          <a:xfrm>
            <a:off x="8525192" y="2292511"/>
            <a:ext cx="3374708" cy="873760"/>
          </a:xfrm>
          <a:prstGeom prst="wedgeRoundRectCallout">
            <a:avLst>
              <a:gd name="adj1" fmla="val -23720"/>
              <a:gd name="adj2" fmla="val 938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hangingPunct="1"/>
            <a:r>
              <a:rPr lang="zh-CN" altLang="en-US" sz="2400" dirty="0"/>
              <a:t>负责数据存储和读取</a:t>
            </a:r>
            <a:endParaRPr lang="en-US" altLang="zh-CN" sz="2400" dirty="0"/>
          </a:p>
          <a:p>
            <a:pPr algn="ctr" eaLnBrk="1" hangingPunct="1"/>
            <a:r>
              <a:rPr lang="zh-CN" altLang="en-US" sz="2400" dirty="0"/>
              <a:t>根据主节点变动数据块</a:t>
            </a:r>
            <a:endParaRPr lang="en-US" altLang="zh-CN" sz="2400" dirty="0"/>
          </a:p>
        </p:txBody>
      </p:sp>
      <p:sp>
        <p:nvSpPr>
          <p:cNvPr id="8225" name="对话气泡: 圆角矩形 8224"/>
          <p:cNvSpPr/>
          <p:nvPr/>
        </p:nvSpPr>
        <p:spPr>
          <a:xfrm>
            <a:off x="4574698" y="5656581"/>
            <a:ext cx="1973104" cy="873760"/>
          </a:xfrm>
          <a:prstGeom prst="wedgeRoundRectCallout">
            <a:avLst>
              <a:gd name="adj1" fmla="val 41688"/>
              <a:gd name="adj2" fmla="val -9447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hangingPunct="1"/>
            <a:r>
              <a:rPr lang="zh-CN" altLang="en-US" sz="2400" dirty="0"/>
              <a:t>多个副本</a:t>
            </a:r>
            <a:endParaRPr lang="en-US" altLang="zh-CN" sz="2400" dirty="0"/>
          </a:p>
          <a:p>
            <a:pPr algn="ctr" eaLnBrk="1" hangingPunct="1"/>
            <a:r>
              <a:rPr lang="zh-CN" altLang="en-US" sz="2400" dirty="0"/>
              <a:t>数据完整性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" grpId="0" bldLvl="0" animBg="1"/>
      <p:bldP spid="8224" grpId="0" bldLvl="0" animBg="1"/>
      <p:bldP spid="822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 b="1" dirty="0"/>
              <a:t>3.3.2	</a:t>
            </a:r>
            <a:r>
              <a:rPr lang="zh-CN" altLang="en-US" b="1" dirty="0">
                <a:highlight>
                  <a:srgbClr val="FFFF00"/>
                </a:highlight>
              </a:rPr>
              <a:t>名称节点</a:t>
            </a:r>
            <a:r>
              <a:rPr lang="zh-CN" altLang="en-US" b="1" dirty="0"/>
              <a:t>和数据节点</a:t>
            </a:r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4411663" y="6275685"/>
            <a:ext cx="38779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图</a:t>
            </a:r>
            <a:r>
              <a:rPr lang="en-US" altLang="zh-CN" sz="2400"/>
              <a:t>3-3 </a:t>
            </a:r>
            <a:r>
              <a:rPr lang="zh-CN" altLang="en-US" sz="2400"/>
              <a:t>名称节点的数据结构 </a:t>
            </a:r>
          </a:p>
        </p:txBody>
      </p:sp>
      <p:sp>
        <p:nvSpPr>
          <p:cNvPr id="4" name="对话气泡: 圆角矩形 3"/>
          <p:cNvSpPr/>
          <p:nvPr/>
        </p:nvSpPr>
        <p:spPr>
          <a:xfrm>
            <a:off x="213360" y="1459908"/>
            <a:ext cx="2169160" cy="1100455"/>
          </a:xfrm>
          <a:prstGeom prst="wedgeRoundRectCallout">
            <a:avLst>
              <a:gd name="adj1" fmla="val 36444"/>
              <a:gd name="adj2" fmla="val 7693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负责管理分布式文件系统的命名空间</a:t>
            </a:r>
          </a:p>
        </p:txBody>
      </p:sp>
      <p:sp>
        <p:nvSpPr>
          <p:cNvPr id="5" name="对话气泡: 圆角矩形 4"/>
          <p:cNvSpPr/>
          <p:nvPr/>
        </p:nvSpPr>
        <p:spPr>
          <a:xfrm>
            <a:off x="345440" y="4396105"/>
            <a:ext cx="2479040" cy="1588135"/>
          </a:xfrm>
          <a:prstGeom prst="wedgeRoundRectCallout">
            <a:avLst>
              <a:gd name="adj1" fmla="val 65484"/>
              <a:gd name="adj2" fmla="val -10326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维护文件系统树以及文件树中所有的文件和文件夹的元数据</a:t>
            </a:r>
          </a:p>
        </p:txBody>
      </p:sp>
      <p:sp>
        <p:nvSpPr>
          <p:cNvPr id="6" name="对话气泡: 圆角矩形 5"/>
          <p:cNvSpPr/>
          <p:nvPr/>
        </p:nvSpPr>
        <p:spPr>
          <a:xfrm>
            <a:off x="9129077" y="1140460"/>
            <a:ext cx="2865120" cy="1100455"/>
          </a:xfrm>
          <a:prstGeom prst="wedgeRoundRectCallout">
            <a:avLst>
              <a:gd name="adj1" fmla="val -75031"/>
              <a:gd name="adj2" fmla="val 17295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每个文件中各个块所在的数据节点的位置信息</a:t>
            </a:r>
          </a:p>
        </p:txBody>
      </p:sp>
      <p:grpSp>
        <p:nvGrpSpPr>
          <p:cNvPr id="7" name="Group 3"/>
          <p:cNvGrpSpPr>
            <a:grpSpLocks noChangeAspect="1"/>
          </p:cNvGrpSpPr>
          <p:nvPr/>
        </p:nvGrpSpPr>
        <p:grpSpPr bwMode="auto">
          <a:xfrm>
            <a:off x="1995488" y="1938338"/>
            <a:ext cx="8732837" cy="4152900"/>
            <a:chOff x="1257" y="1221"/>
            <a:chExt cx="5501" cy="2616"/>
          </a:xfrm>
        </p:grpSpPr>
        <p:sp>
          <p:nvSpPr>
            <p:cNvPr id="8" name="AutoShape 2"/>
            <p:cNvSpPr>
              <a:spLocks noChangeAspect="1" noChangeArrowheads="1" noTextEdit="1"/>
            </p:cNvSpPr>
            <p:nvPr/>
          </p:nvSpPr>
          <p:spPr bwMode="auto">
            <a:xfrm>
              <a:off x="1257" y="1221"/>
              <a:ext cx="5501" cy="2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1257" y="1255"/>
              <a:ext cx="120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0" name="Group 54"/>
            <p:cNvGrpSpPr/>
            <p:nvPr/>
          </p:nvGrpSpPr>
          <p:grpSpPr bwMode="auto">
            <a:xfrm>
              <a:off x="1271" y="1233"/>
              <a:ext cx="5462" cy="2600"/>
              <a:chOff x="1271" y="1233"/>
              <a:chExt cx="5462" cy="2600"/>
            </a:xfrm>
          </p:grpSpPr>
          <p:sp>
            <p:nvSpPr>
              <p:cNvPr id="11" name="Rectangle 5"/>
              <p:cNvSpPr>
                <a:spLocks noChangeArrowheads="1"/>
              </p:cNvSpPr>
              <p:nvPr/>
            </p:nvSpPr>
            <p:spPr bwMode="auto">
              <a:xfrm>
                <a:off x="1271" y="1723"/>
                <a:ext cx="2271" cy="1359"/>
              </a:xfrm>
              <a:prstGeom prst="rect">
                <a:avLst/>
              </a:pr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Rectangle 6"/>
              <p:cNvSpPr>
                <a:spLocks noChangeArrowheads="1"/>
              </p:cNvSpPr>
              <p:nvPr/>
            </p:nvSpPr>
            <p:spPr bwMode="auto">
              <a:xfrm>
                <a:off x="1292" y="1746"/>
                <a:ext cx="409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名称节点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" name="Rectangle 7"/>
              <p:cNvSpPr>
                <a:spLocks noChangeArrowheads="1"/>
              </p:cNvSpPr>
              <p:nvPr/>
            </p:nvSpPr>
            <p:spPr bwMode="auto">
              <a:xfrm>
                <a:off x="1915" y="1746"/>
                <a:ext cx="162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" name="Rectangle 8"/>
              <p:cNvSpPr>
                <a:spLocks noChangeArrowheads="1"/>
              </p:cNvSpPr>
              <p:nvPr/>
            </p:nvSpPr>
            <p:spPr bwMode="auto">
              <a:xfrm>
                <a:off x="1993" y="1746"/>
                <a:ext cx="734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NameNode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" name="Rectangle 9"/>
              <p:cNvSpPr>
                <a:spLocks noChangeArrowheads="1"/>
              </p:cNvSpPr>
              <p:nvPr/>
            </p:nvSpPr>
            <p:spPr bwMode="auto">
              <a:xfrm>
                <a:off x="2617" y="1746"/>
                <a:ext cx="162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" name="Freeform 10"/>
              <p:cNvSpPr/>
              <p:nvPr/>
            </p:nvSpPr>
            <p:spPr bwMode="auto">
              <a:xfrm>
                <a:off x="1793" y="1996"/>
                <a:ext cx="1227" cy="434"/>
              </a:xfrm>
              <a:custGeom>
                <a:avLst/>
                <a:gdLst>
                  <a:gd name="T0" fmla="*/ 535 w 3023"/>
                  <a:gd name="T1" fmla="*/ 1070 h 1070"/>
                  <a:gd name="T2" fmla="*/ 2488 w 3023"/>
                  <a:gd name="T3" fmla="*/ 1070 h 1070"/>
                  <a:gd name="T4" fmla="*/ 3023 w 3023"/>
                  <a:gd name="T5" fmla="*/ 535 h 1070"/>
                  <a:gd name="T6" fmla="*/ 2488 w 3023"/>
                  <a:gd name="T7" fmla="*/ 0 h 1070"/>
                  <a:gd name="T8" fmla="*/ 2488 w 3023"/>
                  <a:gd name="T9" fmla="*/ 0 h 1070"/>
                  <a:gd name="T10" fmla="*/ 2488 w 3023"/>
                  <a:gd name="T11" fmla="*/ 0 h 1070"/>
                  <a:gd name="T12" fmla="*/ 535 w 3023"/>
                  <a:gd name="T13" fmla="*/ 0 h 1070"/>
                  <a:gd name="T14" fmla="*/ 0 w 3023"/>
                  <a:gd name="T15" fmla="*/ 535 h 1070"/>
                  <a:gd name="T16" fmla="*/ 535 w 3023"/>
                  <a:gd name="T17" fmla="*/ 1070 h 10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23" h="1070">
                    <a:moveTo>
                      <a:pt x="535" y="1070"/>
                    </a:moveTo>
                    <a:lnTo>
                      <a:pt x="2488" y="1070"/>
                    </a:lnTo>
                    <a:cubicBezTo>
                      <a:pt x="2784" y="1070"/>
                      <a:pt x="3023" y="830"/>
                      <a:pt x="3023" y="535"/>
                    </a:cubicBezTo>
                    <a:cubicBezTo>
                      <a:pt x="3023" y="239"/>
                      <a:pt x="2784" y="0"/>
                      <a:pt x="2488" y="0"/>
                    </a:cubicBezTo>
                    <a:cubicBezTo>
                      <a:pt x="2488" y="0"/>
                      <a:pt x="2488" y="0"/>
                      <a:pt x="2488" y="0"/>
                    </a:cubicBezTo>
                    <a:lnTo>
                      <a:pt x="2488" y="0"/>
                    </a:lnTo>
                    <a:lnTo>
                      <a:pt x="535" y="0"/>
                    </a:lnTo>
                    <a:cubicBezTo>
                      <a:pt x="239" y="0"/>
                      <a:pt x="0" y="239"/>
                      <a:pt x="0" y="535"/>
                    </a:cubicBezTo>
                    <a:cubicBezTo>
                      <a:pt x="0" y="830"/>
                      <a:pt x="239" y="1070"/>
                      <a:pt x="535" y="1070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Rectangle 11"/>
              <p:cNvSpPr>
                <a:spLocks noChangeArrowheads="1"/>
              </p:cNvSpPr>
              <p:nvPr/>
            </p:nvSpPr>
            <p:spPr bwMode="auto">
              <a:xfrm>
                <a:off x="2136" y="2121"/>
                <a:ext cx="617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FsImage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" name="Freeform 12"/>
              <p:cNvSpPr/>
              <p:nvPr/>
            </p:nvSpPr>
            <p:spPr bwMode="auto">
              <a:xfrm>
                <a:off x="1793" y="2580"/>
                <a:ext cx="1227" cy="361"/>
              </a:xfrm>
              <a:custGeom>
                <a:avLst/>
                <a:gdLst>
                  <a:gd name="T0" fmla="*/ 444 w 3023"/>
                  <a:gd name="T1" fmla="*/ 889 h 889"/>
                  <a:gd name="T2" fmla="*/ 2579 w 3023"/>
                  <a:gd name="T3" fmla="*/ 889 h 889"/>
                  <a:gd name="T4" fmla="*/ 3023 w 3023"/>
                  <a:gd name="T5" fmla="*/ 444 h 889"/>
                  <a:gd name="T6" fmla="*/ 2579 w 3023"/>
                  <a:gd name="T7" fmla="*/ 0 h 889"/>
                  <a:gd name="T8" fmla="*/ 2579 w 3023"/>
                  <a:gd name="T9" fmla="*/ 0 h 889"/>
                  <a:gd name="T10" fmla="*/ 2579 w 3023"/>
                  <a:gd name="T11" fmla="*/ 0 h 889"/>
                  <a:gd name="T12" fmla="*/ 444 w 3023"/>
                  <a:gd name="T13" fmla="*/ 0 h 889"/>
                  <a:gd name="T14" fmla="*/ 0 w 3023"/>
                  <a:gd name="T15" fmla="*/ 444 h 889"/>
                  <a:gd name="T16" fmla="*/ 444 w 3023"/>
                  <a:gd name="T17" fmla="*/ 889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23" h="889">
                    <a:moveTo>
                      <a:pt x="444" y="889"/>
                    </a:moveTo>
                    <a:lnTo>
                      <a:pt x="2579" y="889"/>
                    </a:lnTo>
                    <a:cubicBezTo>
                      <a:pt x="2824" y="889"/>
                      <a:pt x="3023" y="690"/>
                      <a:pt x="3023" y="444"/>
                    </a:cubicBezTo>
                    <a:cubicBezTo>
                      <a:pt x="3023" y="199"/>
                      <a:pt x="2824" y="0"/>
                      <a:pt x="2579" y="0"/>
                    </a:cubicBezTo>
                    <a:cubicBezTo>
                      <a:pt x="2579" y="0"/>
                      <a:pt x="2579" y="0"/>
                      <a:pt x="2579" y="0"/>
                    </a:cubicBezTo>
                    <a:lnTo>
                      <a:pt x="2579" y="0"/>
                    </a:lnTo>
                    <a:lnTo>
                      <a:pt x="444" y="0"/>
                    </a:lnTo>
                    <a:cubicBezTo>
                      <a:pt x="199" y="0"/>
                      <a:pt x="0" y="199"/>
                      <a:pt x="0" y="444"/>
                    </a:cubicBezTo>
                    <a:cubicBezTo>
                      <a:pt x="0" y="690"/>
                      <a:pt x="199" y="889"/>
                      <a:pt x="444" y="889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Rectangle 13"/>
              <p:cNvSpPr>
                <a:spLocks noChangeArrowheads="1"/>
              </p:cNvSpPr>
              <p:nvPr/>
            </p:nvSpPr>
            <p:spPr bwMode="auto">
              <a:xfrm>
                <a:off x="2149" y="2666"/>
                <a:ext cx="598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EditLog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" name="Rectangle 14"/>
              <p:cNvSpPr>
                <a:spLocks noChangeArrowheads="1"/>
              </p:cNvSpPr>
              <p:nvPr/>
            </p:nvSpPr>
            <p:spPr bwMode="auto">
              <a:xfrm>
                <a:off x="4954" y="1233"/>
                <a:ext cx="613" cy="245"/>
              </a:xfrm>
              <a:prstGeom prst="rect">
                <a:avLst/>
              </a:pr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Rectangle 15"/>
              <p:cNvSpPr>
                <a:spLocks noChangeArrowheads="1"/>
              </p:cNvSpPr>
              <p:nvPr/>
            </p:nvSpPr>
            <p:spPr bwMode="auto">
              <a:xfrm>
                <a:off x="5026" y="1267"/>
                <a:ext cx="31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根目录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" name="Rectangle 16"/>
              <p:cNvSpPr>
                <a:spLocks noChangeArrowheads="1"/>
              </p:cNvSpPr>
              <p:nvPr/>
            </p:nvSpPr>
            <p:spPr bwMode="auto">
              <a:xfrm>
                <a:off x="3910" y="1723"/>
                <a:ext cx="614" cy="245"/>
              </a:xfrm>
              <a:prstGeom prst="rect">
                <a:avLst/>
              </a:pr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Rectangle 17"/>
              <p:cNvSpPr>
                <a:spLocks noChangeArrowheads="1"/>
              </p:cNvSpPr>
              <p:nvPr/>
            </p:nvSpPr>
            <p:spPr bwMode="auto">
              <a:xfrm>
                <a:off x="4059" y="1759"/>
                <a:ext cx="240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目录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" name="Rectangle 18"/>
              <p:cNvSpPr>
                <a:spLocks noChangeArrowheads="1"/>
              </p:cNvSpPr>
              <p:nvPr/>
            </p:nvSpPr>
            <p:spPr bwMode="auto">
              <a:xfrm>
                <a:off x="4954" y="1723"/>
                <a:ext cx="613" cy="245"/>
              </a:xfrm>
              <a:prstGeom prst="rect">
                <a:avLst/>
              </a:pr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Rectangle 19"/>
              <p:cNvSpPr>
                <a:spLocks noChangeArrowheads="1"/>
              </p:cNvSpPr>
              <p:nvPr/>
            </p:nvSpPr>
            <p:spPr bwMode="auto">
              <a:xfrm>
                <a:off x="5104" y="1759"/>
                <a:ext cx="240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目录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" name="Rectangle 20"/>
              <p:cNvSpPr>
                <a:spLocks noChangeArrowheads="1"/>
              </p:cNvSpPr>
              <p:nvPr/>
            </p:nvSpPr>
            <p:spPr bwMode="auto">
              <a:xfrm>
                <a:off x="5997" y="1723"/>
                <a:ext cx="614" cy="245"/>
              </a:xfrm>
              <a:prstGeom prst="rect">
                <a:avLst/>
              </a:pr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Rectangle 21"/>
              <p:cNvSpPr>
                <a:spLocks noChangeArrowheads="1"/>
              </p:cNvSpPr>
              <p:nvPr/>
            </p:nvSpPr>
            <p:spPr bwMode="auto">
              <a:xfrm>
                <a:off x="6150" y="1759"/>
                <a:ext cx="240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目录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" name="Rectangle 22"/>
              <p:cNvSpPr>
                <a:spLocks noChangeArrowheads="1"/>
              </p:cNvSpPr>
              <p:nvPr/>
            </p:nvSpPr>
            <p:spPr bwMode="auto">
              <a:xfrm>
                <a:off x="4954" y="2213"/>
                <a:ext cx="613" cy="245"/>
              </a:xfrm>
              <a:prstGeom prst="rect">
                <a:avLst/>
              </a:pr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Rectangle 23"/>
              <p:cNvSpPr>
                <a:spLocks noChangeArrowheads="1"/>
              </p:cNvSpPr>
              <p:nvPr/>
            </p:nvSpPr>
            <p:spPr bwMode="auto">
              <a:xfrm>
                <a:off x="5104" y="2245"/>
                <a:ext cx="247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文件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" name="Rectangle 24"/>
              <p:cNvSpPr>
                <a:spLocks noChangeArrowheads="1"/>
              </p:cNvSpPr>
              <p:nvPr/>
            </p:nvSpPr>
            <p:spPr bwMode="auto">
              <a:xfrm>
                <a:off x="3910" y="2703"/>
                <a:ext cx="614" cy="245"/>
              </a:xfrm>
              <a:prstGeom prst="rect">
                <a:avLst/>
              </a:pr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Rectangle 25"/>
              <p:cNvSpPr>
                <a:spLocks noChangeArrowheads="1"/>
              </p:cNvSpPr>
              <p:nvPr/>
            </p:nvSpPr>
            <p:spPr bwMode="auto">
              <a:xfrm>
                <a:off x="4137" y="2738"/>
                <a:ext cx="162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块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" name="Rectangle 26"/>
              <p:cNvSpPr>
                <a:spLocks noChangeArrowheads="1"/>
              </p:cNvSpPr>
              <p:nvPr/>
            </p:nvSpPr>
            <p:spPr bwMode="auto">
              <a:xfrm>
                <a:off x="4954" y="2703"/>
                <a:ext cx="613" cy="245"/>
              </a:xfrm>
              <a:prstGeom prst="rect">
                <a:avLst/>
              </a:pr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Rectangle 27"/>
              <p:cNvSpPr>
                <a:spLocks noChangeArrowheads="1"/>
              </p:cNvSpPr>
              <p:nvPr/>
            </p:nvSpPr>
            <p:spPr bwMode="auto">
              <a:xfrm>
                <a:off x="5182" y="2738"/>
                <a:ext cx="162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…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" name="Rectangle 28"/>
              <p:cNvSpPr>
                <a:spLocks noChangeArrowheads="1"/>
              </p:cNvSpPr>
              <p:nvPr/>
            </p:nvSpPr>
            <p:spPr bwMode="auto">
              <a:xfrm>
                <a:off x="5997" y="2703"/>
                <a:ext cx="614" cy="245"/>
              </a:xfrm>
              <a:prstGeom prst="rect">
                <a:avLst/>
              </a:prstGeom>
              <a:noFill/>
              <a:ln w="3175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Rectangle 29"/>
              <p:cNvSpPr>
                <a:spLocks noChangeArrowheads="1"/>
              </p:cNvSpPr>
              <p:nvPr/>
            </p:nvSpPr>
            <p:spPr bwMode="auto">
              <a:xfrm>
                <a:off x="6228" y="2738"/>
                <a:ext cx="162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块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" name="Line 30"/>
              <p:cNvSpPr>
                <a:spLocks noChangeShapeType="1"/>
              </p:cNvSpPr>
              <p:nvPr/>
            </p:nvSpPr>
            <p:spPr bwMode="auto">
              <a:xfrm flipV="1">
                <a:off x="3020" y="1912"/>
                <a:ext cx="725" cy="301"/>
              </a:xfrm>
              <a:prstGeom prst="line">
                <a:avLst/>
              </a:prstGeom>
              <a:noFill/>
              <a:ln w="14288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31"/>
              <p:cNvSpPr/>
              <p:nvPr/>
            </p:nvSpPr>
            <p:spPr bwMode="auto">
              <a:xfrm>
                <a:off x="3720" y="1890"/>
                <a:ext cx="67" cy="56"/>
              </a:xfrm>
              <a:custGeom>
                <a:avLst/>
                <a:gdLst>
                  <a:gd name="T0" fmla="*/ 167 w 167"/>
                  <a:gd name="T1" fmla="*/ 12 h 139"/>
                  <a:gd name="T2" fmla="*/ 57 w 167"/>
                  <a:gd name="T3" fmla="*/ 139 h 139"/>
                  <a:gd name="T4" fmla="*/ 0 w 167"/>
                  <a:gd name="T5" fmla="*/ 0 h 139"/>
                  <a:gd name="T6" fmla="*/ 167 w 167"/>
                  <a:gd name="T7" fmla="*/ 1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7" h="139">
                    <a:moveTo>
                      <a:pt x="167" y="12"/>
                    </a:moveTo>
                    <a:lnTo>
                      <a:pt x="57" y="139"/>
                    </a:lnTo>
                    <a:cubicBezTo>
                      <a:pt x="61" y="86"/>
                      <a:pt x="40" y="34"/>
                      <a:pt x="0" y="0"/>
                    </a:cubicBezTo>
                    <a:lnTo>
                      <a:pt x="167" y="12"/>
                    </a:lnTo>
                    <a:close/>
                  </a:path>
                </a:pathLst>
              </a:custGeom>
              <a:solidFill>
                <a:srgbClr val="404040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Line 32"/>
              <p:cNvSpPr>
                <a:spLocks noChangeShapeType="1"/>
              </p:cNvSpPr>
              <p:nvPr/>
            </p:nvSpPr>
            <p:spPr bwMode="auto">
              <a:xfrm>
                <a:off x="5261" y="1478"/>
                <a:ext cx="0" cy="199"/>
              </a:xfrm>
              <a:prstGeom prst="line">
                <a:avLst/>
              </a:prstGeom>
              <a:noFill/>
              <a:ln w="14288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33"/>
              <p:cNvSpPr/>
              <p:nvPr/>
            </p:nvSpPr>
            <p:spPr bwMode="auto">
              <a:xfrm>
                <a:off x="5230" y="1662"/>
                <a:ext cx="61" cy="61"/>
              </a:xfrm>
              <a:custGeom>
                <a:avLst/>
                <a:gdLst>
                  <a:gd name="T0" fmla="*/ 76 w 151"/>
                  <a:gd name="T1" fmla="*/ 150 h 150"/>
                  <a:gd name="T2" fmla="*/ 0 w 151"/>
                  <a:gd name="T3" fmla="*/ 0 h 150"/>
                  <a:gd name="T4" fmla="*/ 151 w 151"/>
                  <a:gd name="T5" fmla="*/ 0 h 150"/>
                  <a:gd name="T6" fmla="*/ 151 w 151"/>
                  <a:gd name="T7" fmla="*/ 0 h 150"/>
                  <a:gd name="T8" fmla="*/ 76 w 151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1" h="150">
                    <a:moveTo>
                      <a:pt x="76" y="150"/>
                    </a:moveTo>
                    <a:lnTo>
                      <a:pt x="0" y="0"/>
                    </a:lnTo>
                    <a:cubicBezTo>
                      <a:pt x="48" y="24"/>
                      <a:pt x="103" y="24"/>
                      <a:pt x="151" y="0"/>
                    </a:cubicBezTo>
                    <a:lnTo>
                      <a:pt x="151" y="0"/>
                    </a:lnTo>
                    <a:lnTo>
                      <a:pt x="76" y="150"/>
                    </a:lnTo>
                    <a:close/>
                  </a:path>
                </a:pathLst>
              </a:custGeom>
              <a:solidFill>
                <a:srgbClr val="404040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34"/>
              <p:cNvSpPr/>
              <p:nvPr/>
            </p:nvSpPr>
            <p:spPr bwMode="auto">
              <a:xfrm>
                <a:off x="4217" y="1478"/>
                <a:ext cx="1044" cy="199"/>
              </a:xfrm>
              <a:custGeom>
                <a:avLst/>
                <a:gdLst>
                  <a:gd name="T0" fmla="*/ 1044 w 1044"/>
                  <a:gd name="T1" fmla="*/ 0 h 199"/>
                  <a:gd name="T2" fmla="*/ 1044 w 1044"/>
                  <a:gd name="T3" fmla="*/ 153 h 199"/>
                  <a:gd name="T4" fmla="*/ 0 w 1044"/>
                  <a:gd name="T5" fmla="*/ 153 h 199"/>
                  <a:gd name="T6" fmla="*/ 0 w 1044"/>
                  <a:gd name="T7" fmla="*/ 199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44" h="199">
                    <a:moveTo>
                      <a:pt x="1044" y="0"/>
                    </a:moveTo>
                    <a:lnTo>
                      <a:pt x="1044" y="153"/>
                    </a:lnTo>
                    <a:lnTo>
                      <a:pt x="0" y="153"/>
                    </a:lnTo>
                    <a:lnTo>
                      <a:pt x="0" y="199"/>
                    </a:lnTo>
                  </a:path>
                </a:pathLst>
              </a:custGeom>
              <a:noFill/>
              <a:ln w="14288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35"/>
              <p:cNvSpPr/>
              <p:nvPr/>
            </p:nvSpPr>
            <p:spPr bwMode="auto">
              <a:xfrm>
                <a:off x="4186" y="1662"/>
                <a:ext cx="62" cy="61"/>
              </a:xfrm>
              <a:custGeom>
                <a:avLst/>
                <a:gdLst>
                  <a:gd name="T0" fmla="*/ 75 w 151"/>
                  <a:gd name="T1" fmla="*/ 150 h 150"/>
                  <a:gd name="T2" fmla="*/ 0 w 151"/>
                  <a:gd name="T3" fmla="*/ 0 h 150"/>
                  <a:gd name="T4" fmla="*/ 151 w 151"/>
                  <a:gd name="T5" fmla="*/ 0 h 150"/>
                  <a:gd name="T6" fmla="*/ 75 w 151"/>
                  <a:gd name="T7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1" h="150">
                    <a:moveTo>
                      <a:pt x="75" y="150"/>
                    </a:moveTo>
                    <a:lnTo>
                      <a:pt x="0" y="0"/>
                    </a:lnTo>
                    <a:cubicBezTo>
                      <a:pt x="48" y="24"/>
                      <a:pt x="103" y="24"/>
                      <a:pt x="151" y="0"/>
                    </a:cubicBezTo>
                    <a:lnTo>
                      <a:pt x="75" y="150"/>
                    </a:lnTo>
                    <a:close/>
                  </a:path>
                </a:pathLst>
              </a:custGeom>
              <a:solidFill>
                <a:srgbClr val="404040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36"/>
              <p:cNvSpPr/>
              <p:nvPr/>
            </p:nvSpPr>
            <p:spPr bwMode="auto">
              <a:xfrm>
                <a:off x="5261" y="1478"/>
                <a:ext cx="1043" cy="199"/>
              </a:xfrm>
              <a:custGeom>
                <a:avLst/>
                <a:gdLst>
                  <a:gd name="T0" fmla="*/ 0 w 1043"/>
                  <a:gd name="T1" fmla="*/ 0 h 199"/>
                  <a:gd name="T2" fmla="*/ 0 w 1043"/>
                  <a:gd name="T3" fmla="*/ 153 h 199"/>
                  <a:gd name="T4" fmla="*/ 1043 w 1043"/>
                  <a:gd name="T5" fmla="*/ 153 h 199"/>
                  <a:gd name="T6" fmla="*/ 1043 w 1043"/>
                  <a:gd name="T7" fmla="*/ 199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43" h="199">
                    <a:moveTo>
                      <a:pt x="0" y="0"/>
                    </a:moveTo>
                    <a:lnTo>
                      <a:pt x="0" y="153"/>
                    </a:lnTo>
                    <a:lnTo>
                      <a:pt x="1043" y="153"/>
                    </a:lnTo>
                    <a:lnTo>
                      <a:pt x="1043" y="199"/>
                    </a:lnTo>
                  </a:path>
                </a:pathLst>
              </a:custGeom>
              <a:noFill/>
              <a:ln w="14288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37"/>
              <p:cNvSpPr/>
              <p:nvPr/>
            </p:nvSpPr>
            <p:spPr bwMode="auto">
              <a:xfrm>
                <a:off x="6273" y="1662"/>
                <a:ext cx="61" cy="61"/>
              </a:xfrm>
              <a:custGeom>
                <a:avLst/>
                <a:gdLst>
                  <a:gd name="T0" fmla="*/ 75 w 150"/>
                  <a:gd name="T1" fmla="*/ 150 h 150"/>
                  <a:gd name="T2" fmla="*/ 0 w 150"/>
                  <a:gd name="T3" fmla="*/ 0 h 150"/>
                  <a:gd name="T4" fmla="*/ 150 w 150"/>
                  <a:gd name="T5" fmla="*/ 0 h 150"/>
                  <a:gd name="T6" fmla="*/ 75 w 150"/>
                  <a:gd name="T7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0" h="150">
                    <a:moveTo>
                      <a:pt x="75" y="150"/>
                    </a:moveTo>
                    <a:lnTo>
                      <a:pt x="0" y="0"/>
                    </a:lnTo>
                    <a:cubicBezTo>
                      <a:pt x="47" y="24"/>
                      <a:pt x="102" y="24"/>
                      <a:pt x="150" y="0"/>
                    </a:cubicBezTo>
                    <a:lnTo>
                      <a:pt x="75" y="150"/>
                    </a:lnTo>
                    <a:close/>
                  </a:path>
                </a:pathLst>
              </a:custGeom>
              <a:solidFill>
                <a:srgbClr val="404040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Line 38"/>
              <p:cNvSpPr>
                <a:spLocks noChangeShapeType="1"/>
              </p:cNvSpPr>
              <p:nvPr/>
            </p:nvSpPr>
            <p:spPr bwMode="auto">
              <a:xfrm>
                <a:off x="5261" y="1968"/>
                <a:ext cx="0" cy="199"/>
              </a:xfrm>
              <a:prstGeom prst="line">
                <a:avLst/>
              </a:prstGeom>
              <a:noFill/>
              <a:ln w="14288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39"/>
              <p:cNvSpPr/>
              <p:nvPr/>
            </p:nvSpPr>
            <p:spPr bwMode="auto">
              <a:xfrm>
                <a:off x="5230" y="2152"/>
                <a:ext cx="61" cy="61"/>
              </a:xfrm>
              <a:custGeom>
                <a:avLst/>
                <a:gdLst>
                  <a:gd name="T0" fmla="*/ 76 w 151"/>
                  <a:gd name="T1" fmla="*/ 150 h 150"/>
                  <a:gd name="T2" fmla="*/ 0 w 151"/>
                  <a:gd name="T3" fmla="*/ 0 h 150"/>
                  <a:gd name="T4" fmla="*/ 151 w 151"/>
                  <a:gd name="T5" fmla="*/ 0 h 150"/>
                  <a:gd name="T6" fmla="*/ 151 w 151"/>
                  <a:gd name="T7" fmla="*/ 0 h 150"/>
                  <a:gd name="T8" fmla="*/ 76 w 151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1" h="150">
                    <a:moveTo>
                      <a:pt x="76" y="150"/>
                    </a:moveTo>
                    <a:lnTo>
                      <a:pt x="0" y="0"/>
                    </a:lnTo>
                    <a:cubicBezTo>
                      <a:pt x="48" y="23"/>
                      <a:pt x="103" y="23"/>
                      <a:pt x="151" y="0"/>
                    </a:cubicBezTo>
                    <a:lnTo>
                      <a:pt x="151" y="0"/>
                    </a:lnTo>
                    <a:lnTo>
                      <a:pt x="76" y="150"/>
                    </a:lnTo>
                    <a:close/>
                  </a:path>
                </a:pathLst>
              </a:custGeom>
              <a:solidFill>
                <a:srgbClr val="404040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40"/>
              <p:cNvSpPr/>
              <p:nvPr/>
            </p:nvSpPr>
            <p:spPr bwMode="auto">
              <a:xfrm>
                <a:off x="4217" y="2458"/>
                <a:ext cx="1044" cy="199"/>
              </a:xfrm>
              <a:custGeom>
                <a:avLst/>
                <a:gdLst>
                  <a:gd name="T0" fmla="*/ 1044 w 1044"/>
                  <a:gd name="T1" fmla="*/ 0 h 199"/>
                  <a:gd name="T2" fmla="*/ 1044 w 1044"/>
                  <a:gd name="T3" fmla="*/ 153 h 199"/>
                  <a:gd name="T4" fmla="*/ 0 w 1044"/>
                  <a:gd name="T5" fmla="*/ 153 h 199"/>
                  <a:gd name="T6" fmla="*/ 0 w 1044"/>
                  <a:gd name="T7" fmla="*/ 199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44" h="199">
                    <a:moveTo>
                      <a:pt x="1044" y="0"/>
                    </a:moveTo>
                    <a:lnTo>
                      <a:pt x="1044" y="153"/>
                    </a:lnTo>
                    <a:lnTo>
                      <a:pt x="0" y="153"/>
                    </a:lnTo>
                    <a:lnTo>
                      <a:pt x="0" y="199"/>
                    </a:lnTo>
                  </a:path>
                </a:pathLst>
              </a:custGeom>
              <a:noFill/>
              <a:ln w="14288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41"/>
              <p:cNvSpPr/>
              <p:nvPr/>
            </p:nvSpPr>
            <p:spPr bwMode="auto">
              <a:xfrm>
                <a:off x="4186" y="2642"/>
                <a:ext cx="62" cy="61"/>
              </a:xfrm>
              <a:custGeom>
                <a:avLst/>
                <a:gdLst>
                  <a:gd name="T0" fmla="*/ 75 w 151"/>
                  <a:gd name="T1" fmla="*/ 150 h 150"/>
                  <a:gd name="T2" fmla="*/ 0 w 151"/>
                  <a:gd name="T3" fmla="*/ 0 h 150"/>
                  <a:gd name="T4" fmla="*/ 151 w 151"/>
                  <a:gd name="T5" fmla="*/ 0 h 150"/>
                  <a:gd name="T6" fmla="*/ 75 w 151"/>
                  <a:gd name="T7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1" h="150">
                    <a:moveTo>
                      <a:pt x="75" y="150"/>
                    </a:moveTo>
                    <a:lnTo>
                      <a:pt x="0" y="0"/>
                    </a:lnTo>
                    <a:cubicBezTo>
                      <a:pt x="48" y="24"/>
                      <a:pt x="103" y="24"/>
                      <a:pt x="151" y="0"/>
                    </a:cubicBezTo>
                    <a:lnTo>
                      <a:pt x="75" y="150"/>
                    </a:lnTo>
                    <a:close/>
                  </a:path>
                </a:pathLst>
              </a:custGeom>
              <a:solidFill>
                <a:srgbClr val="404040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Line 42"/>
              <p:cNvSpPr>
                <a:spLocks noChangeShapeType="1"/>
              </p:cNvSpPr>
              <p:nvPr/>
            </p:nvSpPr>
            <p:spPr bwMode="auto">
              <a:xfrm>
                <a:off x="5261" y="2458"/>
                <a:ext cx="0" cy="199"/>
              </a:xfrm>
              <a:prstGeom prst="line">
                <a:avLst/>
              </a:prstGeom>
              <a:noFill/>
              <a:ln w="14288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43"/>
              <p:cNvSpPr/>
              <p:nvPr/>
            </p:nvSpPr>
            <p:spPr bwMode="auto">
              <a:xfrm>
                <a:off x="5230" y="2642"/>
                <a:ext cx="61" cy="61"/>
              </a:xfrm>
              <a:custGeom>
                <a:avLst/>
                <a:gdLst>
                  <a:gd name="T0" fmla="*/ 76 w 151"/>
                  <a:gd name="T1" fmla="*/ 150 h 150"/>
                  <a:gd name="T2" fmla="*/ 0 w 151"/>
                  <a:gd name="T3" fmla="*/ 0 h 150"/>
                  <a:gd name="T4" fmla="*/ 151 w 151"/>
                  <a:gd name="T5" fmla="*/ 0 h 150"/>
                  <a:gd name="T6" fmla="*/ 151 w 151"/>
                  <a:gd name="T7" fmla="*/ 0 h 150"/>
                  <a:gd name="T8" fmla="*/ 76 w 151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1" h="150">
                    <a:moveTo>
                      <a:pt x="76" y="150"/>
                    </a:moveTo>
                    <a:lnTo>
                      <a:pt x="0" y="0"/>
                    </a:lnTo>
                    <a:cubicBezTo>
                      <a:pt x="48" y="24"/>
                      <a:pt x="103" y="24"/>
                      <a:pt x="151" y="0"/>
                    </a:cubicBezTo>
                    <a:lnTo>
                      <a:pt x="151" y="0"/>
                    </a:lnTo>
                    <a:lnTo>
                      <a:pt x="76" y="150"/>
                    </a:lnTo>
                    <a:close/>
                  </a:path>
                </a:pathLst>
              </a:custGeom>
              <a:solidFill>
                <a:srgbClr val="404040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44"/>
              <p:cNvSpPr/>
              <p:nvPr/>
            </p:nvSpPr>
            <p:spPr bwMode="auto">
              <a:xfrm>
                <a:off x="5261" y="2458"/>
                <a:ext cx="1043" cy="199"/>
              </a:xfrm>
              <a:custGeom>
                <a:avLst/>
                <a:gdLst>
                  <a:gd name="T0" fmla="*/ 0 w 1043"/>
                  <a:gd name="T1" fmla="*/ 0 h 199"/>
                  <a:gd name="T2" fmla="*/ 0 w 1043"/>
                  <a:gd name="T3" fmla="*/ 153 h 199"/>
                  <a:gd name="T4" fmla="*/ 1043 w 1043"/>
                  <a:gd name="T5" fmla="*/ 153 h 199"/>
                  <a:gd name="T6" fmla="*/ 1043 w 1043"/>
                  <a:gd name="T7" fmla="*/ 199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43" h="199">
                    <a:moveTo>
                      <a:pt x="0" y="0"/>
                    </a:moveTo>
                    <a:lnTo>
                      <a:pt x="0" y="153"/>
                    </a:lnTo>
                    <a:lnTo>
                      <a:pt x="1043" y="153"/>
                    </a:lnTo>
                    <a:lnTo>
                      <a:pt x="1043" y="199"/>
                    </a:lnTo>
                  </a:path>
                </a:pathLst>
              </a:custGeom>
              <a:noFill/>
              <a:ln w="14288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45"/>
              <p:cNvSpPr/>
              <p:nvPr/>
            </p:nvSpPr>
            <p:spPr bwMode="auto">
              <a:xfrm>
                <a:off x="6273" y="2642"/>
                <a:ext cx="61" cy="61"/>
              </a:xfrm>
              <a:custGeom>
                <a:avLst/>
                <a:gdLst>
                  <a:gd name="T0" fmla="*/ 75 w 150"/>
                  <a:gd name="T1" fmla="*/ 150 h 150"/>
                  <a:gd name="T2" fmla="*/ 0 w 150"/>
                  <a:gd name="T3" fmla="*/ 0 h 150"/>
                  <a:gd name="T4" fmla="*/ 150 w 150"/>
                  <a:gd name="T5" fmla="*/ 0 h 150"/>
                  <a:gd name="T6" fmla="*/ 75 w 150"/>
                  <a:gd name="T7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0" h="150">
                    <a:moveTo>
                      <a:pt x="75" y="150"/>
                    </a:moveTo>
                    <a:lnTo>
                      <a:pt x="0" y="0"/>
                    </a:lnTo>
                    <a:cubicBezTo>
                      <a:pt x="47" y="24"/>
                      <a:pt x="102" y="24"/>
                      <a:pt x="150" y="0"/>
                    </a:cubicBezTo>
                    <a:lnTo>
                      <a:pt x="75" y="150"/>
                    </a:lnTo>
                    <a:close/>
                  </a:path>
                </a:pathLst>
              </a:custGeom>
              <a:solidFill>
                <a:srgbClr val="404040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Rectangle 46"/>
              <p:cNvSpPr>
                <a:spLocks noChangeArrowheads="1"/>
              </p:cNvSpPr>
              <p:nvPr/>
            </p:nvSpPr>
            <p:spPr bwMode="auto">
              <a:xfrm>
                <a:off x="4125" y="3438"/>
                <a:ext cx="2608" cy="367"/>
              </a:xfrm>
              <a:prstGeom prst="rect">
                <a:avLst/>
              </a:prstGeom>
              <a:solidFill>
                <a:srgbClr val="FFFFFF"/>
              </a:solidFill>
              <a:ln w="3175" cap="rnd">
                <a:solidFill>
                  <a:srgbClr val="40404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Rectangle 47"/>
              <p:cNvSpPr>
                <a:spLocks noChangeArrowheads="1"/>
              </p:cNvSpPr>
              <p:nvPr/>
            </p:nvSpPr>
            <p:spPr bwMode="auto">
              <a:xfrm>
                <a:off x="4143" y="3457"/>
                <a:ext cx="2085" cy="1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记录了所有针对文件的创建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4" name="Rectangle 48"/>
              <p:cNvSpPr>
                <a:spLocks noChangeArrowheads="1"/>
              </p:cNvSpPr>
              <p:nvPr/>
            </p:nvSpPr>
            <p:spPr bwMode="auto">
              <a:xfrm>
                <a:off x="6014" y="3457"/>
                <a:ext cx="162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5" name="Rectangle 49"/>
              <p:cNvSpPr>
                <a:spLocks noChangeArrowheads="1"/>
              </p:cNvSpPr>
              <p:nvPr/>
            </p:nvSpPr>
            <p:spPr bwMode="auto">
              <a:xfrm>
                <a:off x="6170" y="3457"/>
                <a:ext cx="240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删除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6" name="Rectangle 50"/>
              <p:cNvSpPr>
                <a:spLocks noChangeArrowheads="1"/>
              </p:cNvSpPr>
              <p:nvPr/>
            </p:nvSpPr>
            <p:spPr bwMode="auto">
              <a:xfrm>
                <a:off x="6481" y="3457"/>
                <a:ext cx="162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7" name="Rectangle 51"/>
              <p:cNvSpPr>
                <a:spLocks noChangeArrowheads="1"/>
              </p:cNvSpPr>
              <p:nvPr/>
            </p:nvSpPr>
            <p:spPr bwMode="auto">
              <a:xfrm>
                <a:off x="4143" y="3645"/>
                <a:ext cx="565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重命名等操作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8" name="Line 52"/>
              <p:cNvSpPr>
                <a:spLocks noChangeShapeType="1"/>
              </p:cNvSpPr>
              <p:nvPr/>
            </p:nvSpPr>
            <p:spPr bwMode="auto">
              <a:xfrm>
                <a:off x="3020" y="2760"/>
                <a:ext cx="1069" cy="833"/>
              </a:xfrm>
              <a:prstGeom prst="line">
                <a:avLst/>
              </a:prstGeom>
              <a:noFill/>
              <a:ln w="14288" cap="rnd">
                <a:solidFill>
                  <a:srgbClr val="40404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53"/>
              <p:cNvSpPr/>
              <p:nvPr/>
            </p:nvSpPr>
            <p:spPr bwMode="auto">
              <a:xfrm>
                <a:off x="4058" y="3560"/>
                <a:ext cx="67" cy="61"/>
              </a:xfrm>
              <a:custGeom>
                <a:avLst/>
                <a:gdLst>
                  <a:gd name="T0" fmla="*/ 165 w 165"/>
                  <a:gd name="T1" fmla="*/ 152 h 152"/>
                  <a:gd name="T2" fmla="*/ 0 w 165"/>
                  <a:gd name="T3" fmla="*/ 119 h 152"/>
                  <a:gd name="T4" fmla="*/ 93 w 165"/>
                  <a:gd name="T5" fmla="*/ 0 h 152"/>
                  <a:gd name="T6" fmla="*/ 165 w 165"/>
                  <a:gd name="T7" fmla="*/ 15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5" h="152">
                    <a:moveTo>
                      <a:pt x="165" y="152"/>
                    </a:moveTo>
                    <a:lnTo>
                      <a:pt x="0" y="119"/>
                    </a:lnTo>
                    <a:cubicBezTo>
                      <a:pt x="48" y="96"/>
                      <a:pt x="82" y="52"/>
                      <a:pt x="93" y="0"/>
                    </a:cubicBezTo>
                    <a:lnTo>
                      <a:pt x="165" y="152"/>
                    </a:lnTo>
                    <a:close/>
                  </a:path>
                </a:pathLst>
              </a:custGeom>
              <a:solidFill>
                <a:srgbClr val="404040"/>
              </a:solidFill>
              <a:ln w="0">
                <a:solidFill>
                  <a:srgbClr val="00000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3.3.3	</a:t>
            </a:r>
            <a:r>
              <a:rPr lang="zh-CN" altLang="en-US" b="1" dirty="0">
                <a:highlight>
                  <a:srgbClr val="FFFF00"/>
                </a:highlight>
              </a:rPr>
              <a:t>第二名称节点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" name="Freeform 12"/>
          <p:cNvSpPr/>
          <p:nvPr/>
        </p:nvSpPr>
        <p:spPr bwMode="auto">
          <a:xfrm>
            <a:off x="1504553" y="2519032"/>
            <a:ext cx="1947863" cy="573088"/>
          </a:xfrm>
          <a:custGeom>
            <a:avLst/>
            <a:gdLst>
              <a:gd name="T0" fmla="*/ 444 w 3023"/>
              <a:gd name="T1" fmla="*/ 889 h 889"/>
              <a:gd name="T2" fmla="*/ 2579 w 3023"/>
              <a:gd name="T3" fmla="*/ 889 h 889"/>
              <a:gd name="T4" fmla="*/ 3023 w 3023"/>
              <a:gd name="T5" fmla="*/ 444 h 889"/>
              <a:gd name="T6" fmla="*/ 2579 w 3023"/>
              <a:gd name="T7" fmla="*/ 0 h 889"/>
              <a:gd name="T8" fmla="*/ 2579 w 3023"/>
              <a:gd name="T9" fmla="*/ 0 h 889"/>
              <a:gd name="T10" fmla="*/ 2579 w 3023"/>
              <a:gd name="T11" fmla="*/ 0 h 889"/>
              <a:gd name="T12" fmla="*/ 444 w 3023"/>
              <a:gd name="T13" fmla="*/ 0 h 889"/>
              <a:gd name="T14" fmla="*/ 0 w 3023"/>
              <a:gd name="T15" fmla="*/ 444 h 889"/>
              <a:gd name="T16" fmla="*/ 444 w 3023"/>
              <a:gd name="T17" fmla="*/ 889 h 8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23" h="889">
                <a:moveTo>
                  <a:pt x="444" y="889"/>
                </a:moveTo>
                <a:lnTo>
                  <a:pt x="2579" y="889"/>
                </a:lnTo>
                <a:cubicBezTo>
                  <a:pt x="2824" y="889"/>
                  <a:pt x="3023" y="690"/>
                  <a:pt x="3023" y="444"/>
                </a:cubicBezTo>
                <a:cubicBezTo>
                  <a:pt x="3023" y="199"/>
                  <a:pt x="2824" y="0"/>
                  <a:pt x="2579" y="0"/>
                </a:cubicBezTo>
                <a:cubicBezTo>
                  <a:pt x="2579" y="0"/>
                  <a:pt x="2579" y="0"/>
                  <a:pt x="2579" y="0"/>
                </a:cubicBezTo>
                <a:lnTo>
                  <a:pt x="2579" y="0"/>
                </a:lnTo>
                <a:lnTo>
                  <a:pt x="444" y="0"/>
                </a:lnTo>
                <a:cubicBezTo>
                  <a:pt x="199" y="0"/>
                  <a:pt x="0" y="199"/>
                  <a:pt x="0" y="444"/>
                </a:cubicBezTo>
                <a:cubicBezTo>
                  <a:pt x="0" y="690"/>
                  <a:pt x="199" y="889"/>
                  <a:pt x="444" y="889"/>
                </a:cubicBezTo>
                <a:close/>
              </a:path>
            </a:pathLst>
          </a:custGeom>
          <a:noFill/>
          <a:ln w="3175" cap="rnd">
            <a:solidFill>
              <a:srgbClr val="40404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1930257" y="2646134"/>
            <a:ext cx="10964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大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EditLog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箭头: 上 3"/>
          <p:cNvSpPr/>
          <p:nvPr/>
        </p:nvSpPr>
        <p:spPr>
          <a:xfrm rot="5400000">
            <a:off x="3748090" y="2251701"/>
            <a:ext cx="820421" cy="1096645"/>
          </a:xfrm>
          <a:prstGeom prst="up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zh-CN" altLang="en-US" sz="2400" b="1" dirty="0"/>
          </a:p>
        </p:txBody>
      </p:sp>
      <p:sp>
        <p:nvSpPr>
          <p:cNvPr id="5" name="矩形 4"/>
          <p:cNvSpPr/>
          <p:nvPr/>
        </p:nvSpPr>
        <p:spPr>
          <a:xfrm>
            <a:off x="5003084" y="2424269"/>
            <a:ext cx="1808480" cy="820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名称节点</a:t>
            </a:r>
            <a:endParaRPr lang="en-US" altLang="zh-CN" sz="2800" dirty="0"/>
          </a:p>
          <a:p>
            <a:pPr algn="ctr"/>
            <a:r>
              <a:rPr lang="zh-CN" altLang="en-US" sz="2800" dirty="0"/>
              <a:t>启动慢</a:t>
            </a:r>
          </a:p>
        </p:txBody>
      </p:sp>
      <p:sp>
        <p:nvSpPr>
          <p:cNvPr id="6" name="矩形 5"/>
          <p:cNvSpPr/>
          <p:nvPr/>
        </p:nvSpPr>
        <p:spPr>
          <a:xfrm>
            <a:off x="8609884" y="2424269"/>
            <a:ext cx="1808480" cy="820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用户无法写入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4423410" y="1690688"/>
            <a:ext cx="2875118" cy="1789727"/>
          </a:xfrm>
          <a:prstGeom prst="roundRect">
            <a:avLst/>
          </a:prstGeom>
          <a:noFill/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4423410" y="1833543"/>
            <a:ext cx="211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“安全模式”</a:t>
            </a:r>
            <a:endParaRPr lang="en-US" altLang="zh-CN" sz="2800" dirty="0"/>
          </a:p>
        </p:txBody>
      </p:sp>
      <p:sp>
        <p:nvSpPr>
          <p:cNvPr id="9" name="箭头: 上 8"/>
          <p:cNvSpPr/>
          <p:nvPr/>
        </p:nvSpPr>
        <p:spPr>
          <a:xfrm rot="5400000">
            <a:off x="7436640" y="2251699"/>
            <a:ext cx="820421" cy="1096645"/>
          </a:xfrm>
          <a:prstGeom prst="up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zh-CN" altLang="en-US" sz="2400" b="1" dirty="0"/>
          </a:p>
        </p:txBody>
      </p:sp>
      <p:sp>
        <p:nvSpPr>
          <p:cNvPr id="10" name="矩形: 圆角 9"/>
          <p:cNvSpPr/>
          <p:nvPr/>
        </p:nvSpPr>
        <p:spPr>
          <a:xfrm>
            <a:off x="3609978" y="4693920"/>
            <a:ext cx="4698284" cy="143239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 err="1"/>
              <a:t>SecondaryNameNode</a:t>
            </a:r>
            <a:endParaRPr lang="en-US" altLang="zh-CN" sz="2800" dirty="0"/>
          </a:p>
          <a:p>
            <a:pPr algn="ctr"/>
            <a:r>
              <a:rPr lang="zh-CN" altLang="en-US" sz="2800" dirty="0"/>
              <a:t>减少名称节点重启的时间</a:t>
            </a:r>
            <a:endParaRPr lang="en-US" altLang="zh-CN" sz="2800" dirty="0"/>
          </a:p>
          <a:p>
            <a:pPr algn="ctr"/>
            <a:r>
              <a:rPr lang="zh-CN" altLang="en-US" sz="2800" dirty="0"/>
              <a:t>检查点</a:t>
            </a:r>
            <a:r>
              <a:rPr lang="en-US" altLang="zh-CN" sz="2800" dirty="0"/>
              <a:t>--</a:t>
            </a:r>
            <a:r>
              <a:rPr lang="zh-CN" altLang="en-US" sz="2800" dirty="0"/>
              <a:t>备份</a:t>
            </a:r>
          </a:p>
        </p:txBody>
      </p:sp>
      <p:sp>
        <p:nvSpPr>
          <p:cNvPr id="11" name="箭头: 上 10"/>
          <p:cNvSpPr/>
          <p:nvPr/>
        </p:nvSpPr>
        <p:spPr>
          <a:xfrm>
            <a:off x="5510530" y="3570268"/>
            <a:ext cx="778510" cy="1026458"/>
          </a:xfrm>
          <a:prstGeom prst="up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4" grpId="0" bldLvl="0" animBg="1"/>
      <p:bldP spid="5" grpId="0" bldLvl="0" animBg="1"/>
      <p:bldP spid="6" grpId="0" bldLvl="0" animBg="1"/>
      <p:bldP spid="7" grpId="0" bldLvl="0" animBg="1"/>
      <p:bldP spid="8" grpId="0"/>
      <p:bldP spid="9" grpId="0" bldLvl="0" animBg="1"/>
      <p:bldP spid="10" grpId="0" bldLvl="0" animBg="1"/>
      <p:bldP spid="1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2" descr="fsimage_edi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" y="843280"/>
            <a:ext cx="9931400" cy="6014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en-US" b="1" dirty="0"/>
              <a:t>3.4.5	</a:t>
            </a:r>
            <a:r>
              <a:rPr lang="en-US" altLang="en-US" b="1" dirty="0" err="1"/>
              <a:t>HDFS</a:t>
            </a:r>
            <a:r>
              <a:rPr lang="en-US" altLang="en-US" b="1" dirty="0" err="1">
                <a:highlight>
                  <a:srgbClr val="FFFF00"/>
                </a:highlight>
              </a:rPr>
              <a:t>体系结构的局限性</a:t>
            </a:r>
            <a:r>
              <a:rPr lang="zh-CN" altLang="en-US" b="1" dirty="0">
                <a:highlight>
                  <a:srgbClr val="FFFF00"/>
                </a:highlight>
              </a:rPr>
              <a:t>及改进</a:t>
            </a:r>
          </a:p>
        </p:txBody>
      </p:sp>
      <p:sp>
        <p:nvSpPr>
          <p:cNvPr id="23555" name="文本框 1"/>
          <p:cNvSpPr txBox="1">
            <a:spLocks noChangeArrowheads="1"/>
          </p:cNvSpPr>
          <p:nvPr/>
        </p:nvSpPr>
        <p:spPr bwMode="auto">
          <a:xfrm>
            <a:off x="929640" y="1524000"/>
            <a:ext cx="10273665" cy="560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2800"/>
              <a:t>只设置唯一名称节点，大大简化系统设计，但带来明显的局限性：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/>
              <a:t>   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/>
              <a:t>       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/>
              <a:t>    </a:t>
            </a:r>
          </a:p>
        </p:txBody>
      </p:sp>
      <p:sp>
        <p:nvSpPr>
          <p:cNvPr id="79" name="矩形: 圆角 78"/>
          <p:cNvSpPr/>
          <p:nvPr>
            <p:custDataLst>
              <p:tags r:id="rId1"/>
            </p:custDataLst>
          </p:nvPr>
        </p:nvSpPr>
        <p:spPr>
          <a:xfrm>
            <a:off x="1714500" y="4464685"/>
            <a:ext cx="7734300" cy="61150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>
                <a:sym typeface="+mn-ea"/>
              </a:rPr>
              <a:t>（</a:t>
            </a:r>
            <a:r>
              <a:rPr lang="en-US" altLang="zh-CN" sz="2800">
                <a:sym typeface="+mn-ea"/>
              </a:rPr>
              <a:t>3</a:t>
            </a:r>
            <a:r>
              <a:rPr lang="zh-CN" altLang="en-US" sz="2800">
                <a:sym typeface="+mn-ea"/>
              </a:rPr>
              <a:t>）</a:t>
            </a:r>
            <a:r>
              <a:rPr lang="zh-CN" altLang="en-US" sz="2800" b="1">
                <a:sym typeface="+mn-ea"/>
              </a:rPr>
              <a:t>隔离问题</a:t>
            </a:r>
            <a:r>
              <a:rPr lang="zh-CN" altLang="en-US" sz="2800">
                <a:sym typeface="+mn-ea"/>
              </a:rPr>
              <a:t>：无法对不同应用程序进行隔离</a:t>
            </a:r>
            <a:endParaRPr lang="zh-CN" altLang="en-US" sz="2800" dirty="0"/>
          </a:p>
        </p:txBody>
      </p:sp>
      <p:sp>
        <p:nvSpPr>
          <p:cNvPr id="2" name="矩形: 圆角 78"/>
          <p:cNvSpPr/>
          <p:nvPr>
            <p:custDataLst>
              <p:tags r:id="rId2"/>
            </p:custDataLst>
          </p:nvPr>
        </p:nvSpPr>
        <p:spPr>
          <a:xfrm>
            <a:off x="1714500" y="5518785"/>
            <a:ext cx="7734935" cy="61150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>
                <a:sym typeface="+mn-ea"/>
              </a:rPr>
              <a:t>（</a:t>
            </a:r>
            <a:r>
              <a:rPr lang="en-US" altLang="zh-CN" sz="2800">
                <a:sym typeface="+mn-ea"/>
              </a:rPr>
              <a:t>4</a:t>
            </a:r>
            <a:r>
              <a:rPr lang="zh-CN" altLang="en-US" sz="2800">
                <a:sym typeface="+mn-ea"/>
              </a:rPr>
              <a:t>）</a:t>
            </a:r>
            <a:r>
              <a:rPr lang="zh-CN" altLang="en-US" sz="2800" b="1">
                <a:sym typeface="+mn-ea"/>
              </a:rPr>
              <a:t>集群的可用性</a:t>
            </a:r>
            <a:r>
              <a:rPr lang="zh-CN" altLang="en-US" sz="2800">
                <a:sym typeface="+mn-ea"/>
              </a:rPr>
              <a:t>：唯一名称节点发生故障</a:t>
            </a:r>
            <a:endParaRPr lang="zh-CN" altLang="en-US" sz="2800" dirty="0"/>
          </a:p>
        </p:txBody>
      </p:sp>
      <p:sp>
        <p:nvSpPr>
          <p:cNvPr id="3" name="矩形: 圆角 78"/>
          <p:cNvSpPr/>
          <p:nvPr>
            <p:custDataLst>
              <p:tags r:id="rId3"/>
            </p:custDataLst>
          </p:nvPr>
        </p:nvSpPr>
        <p:spPr>
          <a:xfrm>
            <a:off x="1714500" y="3410585"/>
            <a:ext cx="7734300" cy="61150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>
                <a:sym typeface="+mn-ea"/>
              </a:rPr>
              <a:t>（</a:t>
            </a:r>
            <a:r>
              <a:rPr lang="en-US" altLang="zh-CN" sz="2800">
                <a:sym typeface="+mn-ea"/>
              </a:rPr>
              <a:t>2</a:t>
            </a:r>
            <a:r>
              <a:rPr lang="zh-CN" altLang="en-US" sz="2800">
                <a:sym typeface="+mn-ea"/>
              </a:rPr>
              <a:t>）</a:t>
            </a:r>
            <a:r>
              <a:rPr lang="zh-CN" altLang="en-US" sz="2800" b="1">
                <a:sym typeface="+mn-ea"/>
              </a:rPr>
              <a:t>性能的瓶颈</a:t>
            </a:r>
            <a:r>
              <a:rPr lang="zh-CN" altLang="en-US" sz="2800">
                <a:sym typeface="+mn-ea"/>
              </a:rPr>
              <a:t>：吞吐量受限于单个名称节点</a:t>
            </a:r>
            <a:endParaRPr lang="zh-CN" altLang="en-US" sz="2800" dirty="0"/>
          </a:p>
        </p:txBody>
      </p:sp>
      <p:sp>
        <p:nvSpPr>
          <p:cNvPr id="4" name="矩形: 圆角 78"/>
          <p:cNvSpPr/>
          <p:nvPr>
            <p:custDataLst>
              <p:tags r:id="rId4"/>
            </p:custDataLst>
          </p:nvPr>
        </p:nvSpPr>
        <p:spPr>
          <a:xfrm>
            <a:off x="1714500" y="2356485"/>
            <a:ext cx="7734300" cy="61150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>
                <a:sym typeface="+mn-ea"/>
              </a:rPr>
              <a:t>（</a:t>
            </a:r>
            <a:r>
              <a:rPr lang="en-US" altLang="zh-CN" sz="2800">
                <a:sym typeface="+mn-ea"/>
              </a:rPr>
              <a:t>1</a:t>
            </a:r>
            <a:r>
              <a:rPr lang="zh-CN" altLang="en-US" sz="2800">
                <a:sym typeface="+mn-ea"/>
              </a:rPr>
              <a:t>）</a:t>
            </a:r>
            <a:r>
              <a:rPr lang="zh-CN" altLang="en-US" sz="2800" b="1">
                <a:sym typeface="+mn-ea"/>
              </a:rPr>
              <a:t>命名空间的限制</a:t>
            </a:r>
            <a:r>
              <a:rPr lang="zh-CN" altLang="en-US" sz="2800">
                <a:sym typeface="+mn-ea"/>
              </a:rPr>
              <a:t>：容量受限于内存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bldLvl="0" animBg="1"/>
      <p:bldP spid="79" grpId="1" animBg="1"/>
      <p:bldP spid="2" grpId="0" bldLvl="0" animBg="1"/>
      <p:bldP spid="2" grpId="1" animBg="1"/>
      <p:bldP spid="3" grpId="0" bldLvl="0" animBg="1"/>
      <p:bldP spid="3" grpId="1" animBg="1"/>
      <p:bldP spid="4" grpId="0" bldLvl="0" animBg="1"/>
      <p:bldP spid="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8.</a:t>
            </a:r>
            <a:r>
              <a:rPr lang="zh-CN" altLang="zh-CN" b="1" dirty="0"/>
              <a:t>2.1HDFS HA</a:t>
            </a:r>
            <a:endParaRPr lang="zh-CN" altLang="en-US" dirty="0"/>
          </a:p>
        </p:txBody>
      </p:sp>
      <p:sp>
        <p:nvSpPr>
          <p:cNvPr id="15363" name="矩形 3"/>
          <p:cNvSpPr/>
          <p:nvPr/>
        </p:nvSpPr>
        <p:spPr>
          <a:xfrm>
            <a:off x="4853940" y="6224905"/>
            <a:ext cx="2519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图</a:t>
            </a:r>
            <a:r>
              <a:rPr lang="en-US" altLang="zh-CN" sz="2400" dirty="0">
                <a:latin typeface="Arial" panose="020B0604020202020204" pitchFamily="34" charset="0"/>
              </a:rPr>
              <a:t> HDFS HA</a:t>
            </a:r>
            <a:r>
              <a:rPr lang="zh-CN" altLang="zh-CN" sz="2400" dirty="0">
                <a:latin typeface="Arial" panose="020B0604020202020204" pitchFamily="34" charset="0"/>
              </a:rPr>
              <a:t>架构</a:t>
            </a:r>
          </a:p>
        </p:txBody>
      </p:sp>
      <p:pic>
        <p:nvPicPr>
          <p:cNvPr id="1536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68120"/>
            <a:ext cx="8625205" cy="45929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sym typeface="+mn-ea"/>
              </a:rPr>
              <a:t>8.</a:t>
            </a:r>
            <a:r>
              <a:rPr lang="zh-CN" altLang="zh-CN" b="1" dirty="0">
                <a:sym typeface="+mn-ea"/>
              </a:rPr>
              <a:t>2.2HDFS 联邦</a:t>
            </a:r>
            <a:endParaRPr lang="zh-CN" altLang="en-US" dirty="0"/>
          </a:p>
        </p:txBody>
      </p:sp>
      <p:sp>
        <p:nvSpPr>
          <p:cNvPr id="18435" name="矩形 3"/>
          <p:cNvSpPr/>
          <p:nvPr/>
        </p:nvSpPr>
        <p:spPr>
          <a:xfrm>
            <a:off x="1012825" y="1954530"/>
            <a:ext cx="1004760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</a:rPr>
              <a:t>HDFS </a:t>
            </a:r>
            <a:r>
              <a:rPr lang="zh-CN" altLang="en-US" sz="2400" dirty="0">
                <a:latin typeface="Arial" panose="020B0604020202020204" pitchFamily="34" charset="0"/>
              </a:rPr>
              <a:t>联邦设计可解决单名称节点存在的</a:t>
            </a:r>
            <a:r>
              <a:rPr lang="en-US" altLang="zh-CN" sz="2400" dirty="0">
                <a:latin typeface="Arial" panose="020B0604020202020204" pitchFamily="34" charset="0"/>
              </a:rPr>
              <a:t>3</a:t>
            </a:r>
            <a:r>
              <a:rPr lang="zh-CN" altLang="en-US" sz="2400" dirty="0">
                <a:latin typeface="Arial" panose="020B0604020202020204" pitchFamily="34" charset="0"/>
              </a:rPr>
              <a:t>个问题：</a:t>
            </a:r>
          </a:p>
          <a:p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）</a:t>
            </a:r>
            <a:r>
              <a:rPr lang="en-US" altLang="zh-CN" sz="2400" b="1" dirty="0">
                <a:latin typeface="Arial" panose="020B0604020202020204" pitchFamily="34" charset="0"/>
              </a:rPr>
              <a:t>HDFS</a:t>
            </a:r>
            <a:r>
              <a:rPr lang="zh-CN" altLang="en-US" sz="2400" b="1" dirty="0">
                <a:latin typeface="Arial" panose="020B0604020202020204" pitchFamily="34" charset="0"/>
              </a:rPr>
              <a:t>集群扩展性</a:t>
            </a:r>
            <a:r>
              <a:rPr lang="zh-CN" altLang="en-US" sz="2400" dirty="0">
                <a:latin typeface="Arial" panose="020B0604020202020204" pitchFamily="34" charset="0"/>
              </a:rPr>
              <a:t>。多个名称节点各自分管一部分目录，使得一个集群可以扩展到更多节点，不再像</a:t>
            </a:r>
            <a:r>
              <a:rPr lang="en-US" altLang="zh-CN" sz="2400" dirty="0">
                <a:latin typeface="Arial" panose="020B0604020202020204" pitchFamily="34" charset="0"/>
              </a:rPr>
              <a:t>HDFS1.0</a:t>
            </a:r>
            <a:r>
              <a:rPr lang="zh-CN" altLang="en-US" sz="2400" dirty="0">
                <a:latin typeface="Arial" panose="020B0604020202020204" pitchFamily="34" charset="0"/>
              </a:rPr>
              <a:t>中那样由于内存的限制制约文件存储数目</a:t>
            </a:r>
          </a:p>
          <a:p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）性能更高效</a:t>
            </a:r>
            <a:r>
              <a:rPr lang="zh-CN" altLang="en-US" sz="2400" dirty="0">
                <a:latin typeface="Arial" panose="020B0604020202020204" pitchFamily="34" charset="0"/>
              </a:rPr>
              <a:t>。多个名称节点管理不同的数据，且同时对外提供服务，将为用户提供更高的读写吞吐率</a:t>
            </a:r>
          </a:p>
          <a:p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）良好的隔离性</a:t>
            </a:r>
            <a:r>
              <a:rPr lang="zh-CN" altLang="en-US" sz="2400" dirty="0">
                <a:latin typeface="Arial" panose="020B0604020202020204" pitchFamily="34" charset="0"/>
              </a:rPr>
              <a:t>。用户可根据需要将不同业务数据交由不同名称节点管理，这样不同业务之间影响很小</a:t>
            </a:r>
            <a:endParaRPr lang="en-US" altLang="zh-CN" sz="2400" dirty="0">
              <a:latin typeface="Arial" panose="020B0604020202020204" pitchFamily="34" charset="0"/>
            </a:endParaRPr>
          </a:p>
          <a:p>
            <a:endParaRPr lang="zh-CN" altLang="en-US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需要注意的，</a:t>
            </a:r>
            <a:r>
              <a:rPr lang="en-US" altLang="zh-CN" sz="2400" dirty="0">
                <a:latin typeface="Arial" panose="020B0604020202020204" pitchFamily="34" charset="0"/>
              </a:rPr>
              <a:t>HDFS Federation</a:t>
            </a:r>
            <a:r>
              <a:rPr lang="zh-CN" altLang="en-US" sz="2400" dirty="0">
                <a:latin typeface="Arial" panose="020B0604020202020204" pitchFamily="34" charset="0"/>
              </a:rPr>
              <a:t>并不能解决单点故障问题，也就是说，每个名称节点都存在在单点故障问题，需要为每个名称节点部署一个后备名称节点，以应对名称节点挂掉对业务产生的影响</a:t>
            </a:r>
          </a:p>
        </p:txBody>
      </p:sp>
      <p:sp>
        <p:nvSpPr>
          <p:cNvPr id="18436" name="Rectangle 1"/>
          <p:cNvSpPr/>
          <p:nvPr/>
        </p:nvSpPr>
        <p:spPr>
          <a:xfrm>
            <a:off x="938213" y="1419543"/>
            <a:ext cx="49326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4.HDFS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联邦相对于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HDFS1.0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的优势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highlight>
                  <a:srgbClr val="FFFF00"/>
                </a:highlight>
              </a:rPr>
              <a:t>3.5	HDFS</a:t>
            </a:r>
            <a:r>
              <a:rPr lang="zh-CN" altLang="en-US" b="1">
                <a:highlight>
                  <a:srgbClr val="FFFF00"/>
                </a:highlight>
              </a:rPr>
              <a:t>存储原理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>
                <a:highlight>
                  <a:srgbClr val="FFFF00"/>
                </a:highlight>
              </a:rPr>
              <a:t>3.5.1	</a:t>
            </a:r>
            <a:r>
              <a:rPr lang="zh-CN" altLang="en-US">
                <a:highlight>
                  <a:srgbClr val="FFFF00"/>
                </a:highlight>
              </a:rPr>
              <a:t>冗余数据保存</a:t>
            </a:r>
          </a:p>
          <a:p>
            <a:pPr>
              <a:lnSpc>
                <a:spcPct val="200000"/>
              </a:lnSpc>
            </a:pPr>
            <a:r>
              <a:rPr lang="en-US" altLang="zh-CN">
                <a:highlight>
                  <a:srgbClr val="FFFF00"/>
                </a:highlight>
              </a:rPr>
              <a:t>3.5.2	</a:t>
            </a:r>
            <a:r>
              <a:rPr lang="zh-CN" altLang="en-US">
                <a:highlight>
                  <a:srgbClr val="FFFF00"/>
                </a:highlight>
              </a:rPr>
              <a:t>数据存取策略</a:t>
            </a:r>
          </a:p>
          <a:p>
            <a:pPr>
              <a:lnSpc>
                <a:spcPct val="200000"/>
              </a:lnSpc>
            </a:pPr>
            <a:r>
              <a:rPr lang="en-US" altLang="zh-CN">
                <a:highlight>
                  <a:srgbClr val="FFFF00"/>
                </a:highlight>
              </a:rPr>
              <a:t>3.5.3	</a:t>
            </a:r>
            <a:r>
              <a:rPr lang="zh-CN" altLang="en-US">
                <a:highlight>
                  <a:srgbClr val="FFFF00"/>
                </a:highlight>
              </a:rPr>
              <a:t>数据错误与恢复</a:t>
            </a:r>
          </a:p>
          <a:p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4.3.1	</a:t>
            </a:r>
            <a:r>
              <a:rPr lang="zh-CN" altLang="en-US" b="1" dirty="0">
                <a:highlight>
                  <a:srgbClr val="FFFF00"/>
                </a:highlight>
              </a:rPr>
              <a:t>数据模型概述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858" y="4974175"/>
            <a:ext cx="9819968" cy="141929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zh-CN" altLang="en-US" sz="2400" dirty="0"/>
              <a:t>列族内支持动态扩展</a:t>
            </a:r>
            <a:endParaRPr lang="en-US" altLang="zh-CN" sz="2400" dirty="0"/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zh-CN" sz="2400" dirty="0"/>
              <a:t>HBase</a:t>
            </a:r>
            <a:r>
              <a:rPr lang="zh-CN" altLang="en-US" sz="2400" dirty="0"/>
              <a:t>中执行更新操作时，生成一个新的版本，旧有的版本仍然保留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（这是和</a:t>
            </a:r>
            <a:r>
              <a:rPr lang="en-US" altLang="zh-CN" sz="2400" dirty="0"/>
              <a:t>HDFS</a:t>
            </a:r>
            <a:r>
              <a:rPr lang="zh-CN" altLang="en-US" sz="2400" dirty="0"/>
              <a:t>只允许追加不允许修改的特性相关的）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737032" y="4183178"/>
          <a:ext cx="595179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7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2400" dirty="0"/>
                        <a:t>行键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列族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列限定符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时间戳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表格 3"/>
          <p:cNvGraphicFramePr>
            <a:graphicFrameLocks noGrp="1"/>
          </p:cNvGraphicFramePr>
          <p:nvPr/>
        </p:nvGraphicFramePr>
        <p:xfrm>
          <a:off x="1737031" y="2420956"/>
          <a:ext cx="834103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2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8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2800" dirty="0"/>
                        <a:t>Key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Value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52052" y="1638377"/>
            <a:ext cx="6843251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/>
              <a:t>HBase</a:t>
            </a:r>
            <a:r>
              <a:rPr lang="zh-CN" altLang="en-US" sz="2800" dirty="0"/>
              <a:t>是一个稀疏、多维度、排序的映射表</a:t>
            </a:r>
          </a:p>
        </p:txBody>
      </p:sp>
      <p:sp>
        <p:nvSpPr>
          <p:cNvPr id="6" name="对话气泡: 圆角矩形 5"/>
          <p:cNvSpPr/>
          <p:nvPr/>
        </p:nvSpPr>
        <p:spPr>
          <a:xfrm>
            <a:off x="1809135" y="3429000"/>
            <a:ext cx="1347020" cy="602226"/>
          </a:xfrm>
          <a:prstGeom prst="wedgeRoundRectCallout">
            <a:avLst>
              <a:gd name="adj1" fmla="val -19373"/>
              <a:gd name="adj2" fmla="val 82092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定位行</a:t>
            </a:r>
            <a:endParaRPr lang="zh-CN" altLang="en-US" sz="2400" dirty="0"/>
          </a:p>
        </p:txBody>
      </p:sp>
      <p:sp>
        <p:nvSpPr>
          <p:cNvPr id="7" name="左大括号 6"/>
          <p:cNvSpPr/>
          <p:nvPr/>
        </p:nvSpPr>
        <p:spPr>
          <a:xfrm rot="5400000">
            <a:off x="4483510" y="2478836"/>
            <a:ext cx="457199" cy="292509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4038599" y="3127887"/>
            <a:ext cx="1347020" cy="60222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定位列</a:t>
            </a:r>
            <a:endParaRPr lang="zh-CN" altLang="en-US" sz="2400" dirty="0"/>
          </a:p>
        </p:txBody>
      </p:sp>
      <p:sp>
        <p:nvSpPr>
          <p:cNvPr id="9" name="对话气泡: 圆角矩形 8"/>
          <p:cNvSpPr/>
          <p:nvPr/>
        </p:nvSpPr>
        <p:spPr>
          <a:xfrm>
            <a:off x="6223819" y="3432698"/>
            <a:ext cx="1496962" cy="602226"/>
          </a:xfrm>
          <a:prstGeom prst="wedgeRoundRectCallout">
            <a:avLst>
              <a:gd name="adj1" fmla="val -19373"/>
              <a:gd name="adj2" fmla="val 82092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定位版本</a:t>
            </a:r>
            <a:endParaRPr lang="zh-CN" altLang="en-US" sz="2400" dirty="0"/>
          </a:p>
        </p:txBody>
      </p:sp>
      <p:sp>
        <p:nvSpPr>
          <p:cNvPr id="10" name="对话气泡: 圆角矩形 9"/>
          <p:cNvSpPr/>
          <p:nvPr/>
        </p:nvSpPr>
        <p:spPr>
          <a:xfrm>
            <a:off x="8146024" y="3198475"/>
            <a:ext cx="1932041" cy="1511177"/>
          </a:xfrm>
          <a:prstGeom prst="wedgeRoundRectCallout">
            <a:avLst>
              <a:gd name="adj1" fmla="val -24627"/>
              <a:gd name="adj2" fmla="val -74303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未经解释的字符串</a:t>
            </a:r>
            <a:endParaRPr lang="en-US" altLang="zh-CN" sz="2400" dirty="0"/>
          </a:p>
          <a:p>
            <a:pPr algn="ctr">
              <a:spcBef>
                <a:spcPts val="0"/>
              </a:spcBef>
            </a:pPr>
            <a:r>
              <a:rPr lang="zh-CN" altLang="en-US" sz="2400" dirty="0">
                <a:sym typeface="+mn-ea"/>
              </a:rPr>
              <a:t>字节数组</a:t>
            </a:r>
            <a:r>
              <a:rPr lang="en-US" altLang="zh-CN" sz="2400" dirty="0">
                <a:sym typeface="+mn-ea"/>
              </a:rPr>
              <a:t>byte[]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  <p:bldP spid="15363" grpId="1" build="p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4.3.6	</a:t>
            </a:r>
            <a:r>
              <a:rPr lang="zh-CN" altLang="en-US" b="1" dirty="0">
                <a:highlight>
                  <a:srgbClr val="FFFF00"/>
                </a:highlight>
              </a:rPr>
              <a:t>面向列的存储</a:t>
            </a:r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1524001" y="1074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1510" name="Picture 7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" t="32986" b="40227"/>
          <a:stretch>
            <a:fillRect/>
          </a:stretch>
        </p:blipFill>
        <p:spPr bwMode="auto">
          <a:xfrm>
            <a:off x="3009564" y="1457632"/>
            <a:ext cx="5800254" cy="2494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7" y="3953128"/>
            <a:ext cx="5867399" cy="2299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" t="72662"/>
          <a:stretch>
            <a:fillRect/>
          </a:stretch>
        </p:blipFill>
        <p:spPr bwMode="auto">
          <a:xfrm>
            <a:off x="5948680" y="3952875"/>
            <a:ext cx="5867400" cy="2299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305428" y="2223698"/>
            <a:ext cx="2316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行</a:t>
            </a:r>
            <a:r>
              <a:rPr lang="en-US" altLang="zh-CN" sz="2400" dirty="0"/>
              <a:t>--</a:t>
            </a:r>
            <a:r>
              <a:rPr lang="zh-CN" altLang="en-US" sz="2400" dirty="0"/>
              <a:t>优势：</a:t>
            </a:r>
          </a:p>
          <a:p>
            <a:pPr>
              <a:spcBef>
                <a:spcPts val="0"/>
              </a:spcBef>
            </a:pPr>
            <a:r>
              <a:rPr lang="zh-CN" altLang="en-US" sz="2400" dirty="0"/>
              <a:t>小批量数据处理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8892540" y="885190"/>
            <a:ext cx="29946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列</a:t>
            </a:r>
            <a:r>
              <a:rPr lang="en-US" altLang="zh-CN" sz="2400" dirty="0"/>
              <a:t>--</a:t>
            </a:r>
            <a:r>
              <a:rPr lang="zh-CN" altLang="en-US" sz="2400" dirty="0"/>
              <a:t>优势：</a:t>
            </a:r>
          </a:p>
          <a:p>
            <a:pPr>
              <a:spcBef>
                <a:spcPts val="0"/>
              </a:spcBef>
            </a:pPr>
            <a:r>
              <a:rPr lang="zh-CN" altLang="en-US" sz="2400" dirty="0"/>
              <a:t>降低</a:t>
            </a:r>
            <a:r>
              <a:rPr lang="en-US" altLang="zh-CN" sz="2400" dirty="0"/>
              <a:t>I/O</a:t>
            </a:r>
            <a:r>
              <a:rPr lang="zh-CN" altLang="en-US" sz="2400" dirty="0"/>
              <a:t>，支持大量并发查询，数据处理速度快，较高压缩比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893175" y="2752090"/>
            <a:ext cx="29940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/>
              <a:t>列</a:t>
            </a:r>
            <a:r>
              <a:rPr lang="en-US" altLang="zh-CN" sz="2400" dirty="0"/>
              <a:t>--</a:t>
            </a:r>
            <a:r>
              <a:rPr lang="zh-CN" altLang="en-US" sz="2400" dirty="0"/>
              <a:t>劣势：</a:t>
            </a:r>
          </a:p>
          <a:p>
            <a:pPr>
              <a:spcBef>
                <a:spcPts val="0"/>
              </a:spcBef>
            </a:pPr>
            <a:r>
              <a:rPr lang="zh-CN" altLang="en-US" sz="2400" dirty="0"/>
              <a:t>元组重构代价大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42290" y="6311900"/>
            <a:ext cx="514667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200"/>
              <a:t>行存储模型</a:t>
            </a:r>
            <a:r>
              <a:rPr lang="en-US" altLang="zh-CN" sz="2200"/>
              <a:t>(N-ary Storage Model, </a:t>
            </a:r>
            <a:r>
              <a:rPr lang="en-US" altLang="zh-CN" sz="2200" b="1"/>
              <a:t>NSM</a:t>
            </a:r>
            <a:r>
              <a:rPr lang="en-US" altLang="zh-CN" sz="2200"/>
              <a:t>)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948680" y="6301740"/>
            <a:ext cx="614108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200" dirty="0"/>
              <a:t>列存储模型</a:t>
            </a:r>
            <a:r>
              <a:rPr lang="en-US" altLang="zh-CN" sz="2200" dirty="0"/>
              <a:t>(Decomposition Storage Model, </a:t>
            </a:r>
            <a:r>
              <a:rPr lang="en-US" altLang="zh-CN" sz="2200" b="1" dirty="0"/>
              <a:t>DSM</a:t>
            </a:r>
            <a:r>
              <a:rPr lang="en-US" altLang="zh-CN" sz="2200" dirty="0"/>
              <a:t>)</a:t>
            </a:r>
          </a:p>
        </p:txBody>
      </p:sp>
      <p:sp>
        <p:nvSpPr>
          <p:cNvPr id="9" name="矩形: 圆角 2"/>
          <p:cNvSpPr/>
          <p:nvPr>
            <p:custDataLst>
              <p:tags r:id="rId3"/>
            </p:custDataLst>
          </p:nvPr>
        </p:nvSpPr>
        <p:spPr>
          <a:xfrm>
            <a:off x="6127750" y="1323975"/>
            <a:ext cx="2765425" cy="49403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空值不会被存储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8" grpId="0"/>
      <p:bldP spid="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4.5.1	HBase</a:t>
            </a:r>
            <a:r>
              <a:rPr lang="zh-CN" altLang="en-US" b="1"/>
              <a:t>系统架构</a:t>
            </a:r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1524001" y="17219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796" name="Rectangle 6"/>
          <p:cNvSpPr>
            <a:spLocks noChangeArrowheads="1"/>
          </p:cNvSpPr>
          <p:nvPr/>
        </p:nvSpPr>
        <p:spPr bwMode="auto">
          <a:xfrm>
            <a:off x="4680268" y="6155374"/>
            <a:ext cx="278701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ts val="0"/>
              </a:spcAft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4-9 HBase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的系统架构</a:t>
            </a:r>
            <a:endParaRPr lang="zh-CN" altLang="en-US" sz="2000"/>
          </a:p>
        </p:txBody>
      </p:sp>
      <p:pic>
        <p:nvPicPr>
          <p:cNvPr id="33797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075" y="1335405"/>
            <a:ext cx="895985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4.5.2	Region</a:t>
            </a:r>
            <a:r>
              <a:rPr lang="zh-CN" altLang="en-US" b="1"/>
              <a:t>服务器工作原理</a:t>
            </a: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425677" y="1356852"/>
            <a:ext cx="9153832" cy="5338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多文档 2"/>
          <p:cNvSpPr/>
          <p:nvPr/>
        </p:nvSpPr>
        <p:spPr>
          <a:xfrm>
            <a:off x="3175818" y="1445343"/>
            <a:ext cx="5506064" cy="5161934"/>
          </a:xfrm>
          <a:prstGeom prst="flowChartMulti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005117" y="1445343"/>
            <a:ext cx="1574391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/>
              <a:t>Region</a:t>
            </a:r>
          </a:p>
          <a:p>
            <a:pPr>
              <a:spcBef>
                <a:spcPts val="0"/>
              </a:spcBef>
            </a:pPr>
            <a:r>
              <a:rPr lang="zh-CN" altLang="en-US" sz="2800" dirty="0"/>
              <a:t>服务器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43411" y="2304867"/>
            <a:ext cx="12695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/>
              <a:t>Region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66646" y="1876230"/>
            <a:ext cx="12695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b="1" dirty="0"/>
              <a:t>…</a:t>
            </a:r>
            <a:endParaRPr lang="zh-CN" altLang="en-US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039825" y="1368092"/>
            <a:ext cx="12695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/>
              <a:t>Region</a:t>
            </a:r>
          </a:p>
        </p:txBody>
      </p:sp>
      <p:sp>
        <p:nvSpPr>
          <p:cNvPr id="9" name="矩形 8"/>
          <p:cNvSpPr/>
          <p:nvPr/>
        </p:nvSpPr>
        <p:spPr>
          <a:xfrm>
            <a:off x="1731087" y="1791324"/>
            <a:ext cx="1161436" cy="46327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altLang="zh-CN" sz="2800" dirty="0" err="1"/>
              <a:t>Hlog</a:t>
            </a:r>
            <a:endParaRPr lang="en-US" altLang="zh-CN" sz="2800" dirty="0"/>
          </a:p>
          <a:p>
            <a:pPr algn="ctr">
              <a:spcBef>
                <a:spcPts val="0"/>
              </a:spcBef>
            </a:pPr>
            <a:r>
              <a:rPr lang="zh-CN" altLang="en-US" sz="2800" dirty="0"/>
              <a:t>记录所有更新操作</a:t>
            </a:r>
          </a:p>
        </p:txBody>
      </p:sp>
      <p:sp>
        <p:nvSpPr>
          <p:cNvPr id="11" name="矩形 10"/>
          <p:cNvSpPr/>
          <p:nvPr/>
        </p:nvSpPr>
        <p:spPr>
          <a:xfrm>
            <a:off x="3402570" y="3012257"/>
            <a:ext cx="1720035" cy="25233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altLang="zh-CN" sz="2800" dirty="0"/>
              <a:t>Store</a:t>
            </a:r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5928850" y="2988815"/>
            <a:ext cx="1802371" cy="2546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altLang="zh-CN" sz="2800" dirty="0"/>
              <a:t>Store</a:t>
            </a:r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endParaRPr lang="en-US" altLang="zh-CN" sz="28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280532" y="3822182"/>
            <a:ext cx="5014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3200" b="1" dirty="0"/>
              <a:t>…</a:t>
            </a:r>
            <a:endParaRPr lang="zh-CN" altLang="en-US" sz="32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566646" y="3759154"/>
            <a:ext cx="1389428" cy="156845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400" dirty="0"/>
              <a:t>对应表中的一个列族的存储</a:t>
            </a:r>
            <a:endParaRPr lang="en-US" altLang="zh-CN" sz="2400" dirty="0"/>
          </a:p>
        </p:txBody>
      </p:sp>
      <p:sp>
        <p:nvSpPr>
          <p:cNvPr id="16" name="流程图: 可选过程 15"/>
          <p:cNvSpPr/>
          <p:nvPr>
            <p:custDataLst>
              <p:tags r:id="rId2"/>
            </p:custDataLst>
          </p:nvPr>
        </p:nvSpPr>
        <p:spPr>
          <a:xfrm>
            <a:off x="6142650" y="3487060"/>
            <a:ext cx="1460192" cy="398980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/>
              <a:t>MemStore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流程图: 可选过程 16"/>
          <p:cNvSpPr/>
          <p:nvPr>
            <p:custDataLst>
              <p:tags r:id="rId3"/>
            </p:custDataLst>
          </p:nvPr>
        </p:nvSpPr>
        <p:spPr>
          <a:xfrm>
            <a:off x="6142650" y="3953706"/>
            <a:ext cx="1460192" cy="398980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/>
              <a:t>StoreFile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流程图: 可选过程 17"/>
          <p:cNvSpPr/>
          <p:nvPr>
            <p:custDataLst>
              <p:tags r:id="rId4"/>
            </p:custDataLst>
          </p:nvPr>
        </p:nvSpPr>
        <p:spPr>
          <a:xfrm>
            <a:off x="6142650" y="4447784"/>
            <a:ext cx="1460192" cy="398980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800" b="1" dirty="0"/>
              <a:t>…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流程图: 可选过程 18"/>
          <p:cNvSpPr/>
          <p:nvPr>
            <p:custDataLst>
              <p:tags r:id="rId5"/>
            </p:custDataLst>
          </p:nvPr>
        </p:nvSpPr>
        <p:spPr>
          <a:xfrm>
            <a:off x="6142650" y="4917544"/>
            <a:ext cx="1460192" cy="398980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/>
              <a:t>StoreFile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对话气泡: 圆角矩形 19"/>
          <p:cNvSpPr/>
          <p:nvPr/>
        </p:nvSpPr>
        <p:spPr>
          <a:xfrm>
            <a:off x="7602842" y="2649830"/>
            <a:ext cx="2494886" cy="833839"/>
          </a:xfrm>
          <a:prstGeom prst="wedgeRoundRectCallout">
            <a:avLst>
              <a:gd name="adj1" fmla="val -53969"/>
              <a:gd name="adj2" fmla="val 7075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内存中的缓存</a:t>
            </a:r>
            <a:endParaRPr lang="en-US" altLang="zh-CN" sz="2400" dirty="0"/>
          </a:p>
          <a:p>
            <a:pPr algn="ctr"/>
            <a:r>
              <a:rPr lang="zh-CN" altLang="en-US" sz="2400" dirty="0"/>
              <a:t>保存最近更新</a:t>
            </a:r>
          </a:p>
        </p:txBody>
      </p:sp>
      <p:sp>
        <p:nvSpPr>
          <p:cNvPr id="21" name="对话气泡: 圆角矩形 20"/>
          <p:cNvSpPr/>
          <p:nvPr/>
        </p:nvSpPr>
        <p:spPr>
          <a:xfrm>
            <a:off x="7659607" y="4211633"/>
            <a:ext cx="2438121" cy="833839"/>
          </a:xfrm>
          <a:prstGeom prst="wedgeRoundRectCallout">
            <a:avLst>
              <a:gd name="adj1" fmla="val -53969"/>
              <a:gd name="adj2" fmla="val 7075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缓存更新周期性存入磁盘文件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/>
      <p:bldP spid="7" grpId="0"/>
      <p:bldP spid="8" grpId="0"/>
      <p:bldP spid="9" grpId="0" bldLvl="0" animBg="1"/>
      <p:bldP spid="11" grpId="0" bldLvl="0" animBg="1"/>
      <p:bldP spid="12" grpId="0" bldLvl="0" animBg="1"/>
      <p:bldP spid="13" grpId="0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4.5.2	Region</a:t>
            </a:r>
            <a:r>
              <a:rPr lang="zh-CN" altLang="en-US" b="1"/>
              <a:t>服务器工作原理</a:t>
            </a:r>
          </a:p>
        </p:txBody>
      </p:sp>
      <p:sp>
        <p:nvSpPr>
          <p:cNvPr id="37891" name="Rectangle 7"/>
          <p:cNvSpPr>
            <a:spLocks noChangeArrowheads="1"/>
          </p:cNvSpPr>
          <p:nvPr/>
        </p:nvSpPr>
        <p:spPr bwMode="auto">
          <a:xfrm>
            <a:off x="1200150" y="1589248"/>
            <a:ext cx="35375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800" b="1"/>
              <a:t>1. </a:t>
            </a:r>
            <a:r>
              <a:rPr lang="zh-CN" altLang="en-US" sz="2800" b="1"/>
              <a:t>用户读写数据过程</a:t>
            </a:r>
            <a:r>
              <a:rPr lang="zh-CN" altLang="en-US" sz="2800"/>
              <a:t> </a:t>
            </a:r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409700" y="2809875"/>
            <a:ext cx="9371965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dirty="0"/>
              <a:t>写</a:t>
            </a:r>
            <a:r>
              <a:rPr lang="en-US" altLang="zh-CN" sz="2800" dirty="0"/>
              <a:t>: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188595" y="3467735"/>
            <a:ext cx="7214001" cy="2695061"/>
            <a:chOff x="2579" y="5479"/>
            <a:chExt cx="11361" cy="4244"/>
          </a:xfrm>
        </p:grpSpPr>
        <p:sp>
          <p:nvSpPr>
            <p:cNvPr id="2" name="流程图: 可选过程 1"/>
            <p:cNvSpPr/>
            <p:nvPr>
              <p:custDataLst>
                <p:tags r:id="rId1"/>
              </p:custDataLst>
            </p:nvPr>
          </p:nvSpPr>
          <p:spPr>
            <a:xfrm>
              <a:off x="2579" y="7578"/>
              <a:ext cx="2636" cy="1280"/>
            </a:xfrm>
            <a:prstGeom prst="flowChartAlternate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800" dirty="0"/>
                <a:t>用户更新数据</a:t>
              </a:r>
              <a:endPara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" name="流程图: 可选过程 2"/>
            <p:cNvSpPr/>
            <p:nvPr>
              <p:custDataLst>
                <p:tags r:id="rId2"/>
              </p:custDataLst>
            </p:nvPr>
          </p:nvSpPr>
          <p:spPr>
            <a:xfrm>
              <a:off x="6553" y="6759"/>
              <a:ext cx="3023" cy="628"/>
            </a:xfrm>
            <a:prstGeom prst="flowChartAlternate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2800" dirty="0" err="1"/>
                <a:t>HLog</a:t>
              </a:r>
              <a:endPara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流程图: 可选过程 3"/>
            <p:cNvSpPr/>
            <p:nvPr>
              <p:custDataLst>
                <p:tags r:id="rId3"/>
              </p:custDataLst>
            </p:nvPr>
          </p:nvSpPr>
          <p:spPr>
            <a:xfrm>
              <a:off x="10916" y="5896"/>
              <a:ext cx="3023" cy="628"/>
            </a:xfrm>
            <a:prstGeom prst="flowChartAlternate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CN" sz="2800" dirty="0" err="1"/>
                <a:t>MemStore</a:t>
              </a:r>
              <a:endPara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流程图: 可选过程 4"/>
            <p:cNvSpPr/>
            <p:nvPr>
              <p:custDataLst>
                <p:tags r:id="rId4"/>
              </p:custDataLst>
            </p:nvPr>
          </p:nvSpPr>
          <p:spPr>
            <a:xfrm>
              <a:off x="6553" y="9095"/>
              <a:ext cx="3023" cy="628"/>
            </a:xfrm>
            <a:prstGeom prst="flowChartAlternate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800" dirty="0"/>
                <a:t>磁盘</a:t>
              </a:r>
              <a:endPara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流程图: 可选过程 5"/>
            <p:cNvSpPr/>
            <p:nvPr>
              <p:custDataLst>
                <p:tags r:id="rId5"/>
              </p:custDataLst>
            </p:nvPr>
          </p:nvSpPr>
          <p:spPr>
            <a:xfrm>
              <a:off x="10916" y="9095"/>
              <a:ext cx="3023" cy="628"/>
            </a:xfrm>
            <a:prstGeom prst="flowChartAlternate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800" dirty="0"/>
                <a:t>磁盘</a:t>
              </a:r>
              <a:endPara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" name="直接箭头连接符 6"/>
            <p:cNvCxnSpPr>
              <a:stCxn id="2" idx="3"/>
              <a:endCxn id="3" idx="1"/>
            </p:cNvCxnSpPr>
            <p:nvPr>
              <p:custDataLst>
                <p:tags r:id="rId6"/>
              </p:custDataLst>
            </p:nvPr>
          </p:nvCxnSpPr>
          <p:spPr>
            <a:xfrm flipV="1">
              <a:off x="5214" y="7074"/>
              <a:ext cx="1339" cy="11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连接符: 曲线 11"/>
            <p:cNvCxnSpPr>
              <a:stCxn id="2" idx="0"/>
              <a:endCxn id="4" idx="1"/>
            </p:cNvCxnSpPr>
            <p:nvPr>
              <p:custDataLst>
                <p:tags r:id="rId7"/>
              </p:custDataLst>
            </p:nvPr>
          </p:nvCxnSpPr>
          <p:spPr>
            <a:xfrm rot="5400000" flipH="1" flipV="1">
              <a:off x="6722" y="3384"/>
              <a:ext cx="1368" cy="7019"/>
            </a:xfrm>
            <a:prstGeom prst="curvedConnector2">
              <a:avLst/>
            </a:prstGeom>
            <a:ln w="38100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3" idx="2"/>
              <a:endCxn id="5" idx="0"/>
            </p:cNvCxnSpPr>
            <p:nvPr>
              <p:custDataLst>
                <p:tags r:id="rId8"/>
              </p:custDataLst>
            </p:nvPr>
          </p:nvCxnSpPr>
          <p:spPr>
            <a:xfrm>
              <a:off x="8065" y="7388"/>
              <a:ext cx="0" cy="17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4" idx="2"/>
              <a:endCxn id="6" idx="0"/>
            </p:cNvCxnSpPr>
            <p:nvPr>
              <p:custDataLst>
                <p:tags r:id="rId9"/>
              </p:custDataLst>
            </p:nvPr>
          </p:nvCxnSpPr>
          <p:spPr>
            <a:xfrm>
              <a:off x="12428" y="6524"/>
              <a:ext cx="0" cy="257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>
              <p:custDataLst>
                <p:tags r:id="rId10"/>
              </p:custDataLst>
            </p:nvPr>
          </p:nvSpPr>
          <p:spPr>
            <a:xfrm>
              <a:off x="5719" y="7556"/>
              <a:ext cx="64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zh-CN" sz="3200" b="1" dirty="0"/>
                <a:t>1</a:t>
              </a:r>
              <a:endParaRPr lang="zh-CN" altLang="en-US" sz="3200" b="1" dirty="0"/>
            </a:p>
          </p:txBody>
        </p:sp>
        <p:sp>
          <p:nvSpPr>
            <p:cNvPr id="23" name="文本框 22"/>
            <p:cNvSpPr txBox="1"/>
            <p:nvPr>
              <p:custDataLst>
                <p:tags r:id="rId11"/>
              </p:custDataLst>
            </p:nvPr>
          </p:nvSpPr>
          <p:spPr>
            <a:xfrm>
              <a:off x="7740" y="5479"/>
              <a:ext cx="64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zh-CN" sz="3200" b="1" dirty="0"/>
                <a:t>2</a:t>
              </a:r>
              <a:endParaRPr lang="zh-CN" altLang="en-US" sz="3200" b="1" dirty="0"/>
            </a:p>
          </p:txBody>
        </p:sp>
        <p:sp>
          <p:nvSpPr>
            <p:cNvPr id="26" name="文本框 25"/>
            <p:cNvSpPr txBox="1"/>
            <p:nvPr>
              <p:custDataLst>
                <p:tags r:id="rId12"/>
              </p:custDataLst>
            </p:nvPr>
          </p:nvSpPr>
          <p:spPr>
            <a:xfrm>
              <a:off x="8118" y="7758"/>
              <a:ext cx="64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zh-CN" sz="3200" b="1" dirty="0"/>
                <a:t>3</a:t>
              </a:r>
              <a:endParaRPr lang="zh-CN" altLang="en-US" sz="3200" b="1" dirty="0"/>
            </a:p>
          </p:txBody>
        </p:sp>
        <p:sp>
          <p:nvSpPr>
            <p:cNvPr id="27" name="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12536" y="7416"/>
              <a:ext cx="64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altLang="zh-CN" sz="3200" b="1" dirty="0"/>
                <a:t>4</a:t>
              </a:r>
              <a:endParaRPr lang="zh-CN" altLang="en-US" sz="3200" b="1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346200" y="2119630"/>
            <a:ext cx="100076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读：先</a:t>
            </a:r>
            <a:r>
              <a:rPr lang="en-US" altLang="zh-CN" sz="2800" dirty="0" err="1">
                <a:sym typeface="+mn-ea"/>
              </a:rPr>
              <a:t>MemStore</a:t>
            </a:r>
            <a:r>
              <a:rPr lang="zh-CN" altLang="en-US" sz="2800" dirty="0">
                <a:sym typeface="+mn-ea"/>
              </a:rPr>
              <a:t>缓存，再去磁盘</a:t>
            </a:r>
            <a:r>
              <a:rPr lang="en-US" altLang="zh-CN" sz="2800" dirty="0" err="1">
                <a:sym typeface="+mn-ea"/>
              </a:rPr>
              <a:t>StoreFile</a:t>
            </a:r>
            <a:endParaRPr lang="zh-CN" altLang="en-US" sz="2800" dirty="0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 dirty="0"/>
              <a:t>4.5.3	</a:t>
            </a:r>
            <a:r>
              <a:rPr lang="en-US" altLang="zh-CN" b="1" dirty="0">
                <a:highlight>
                  <a:srgbClr val="FFFF00"/>
                </a:highlight>
              </a:rPr>
              <a:t>Store</a:t>
            </a:r>
            <a:r>
              <a:rPr lang="zh-CN" altLang="en-US" b="1" dirty="0">
                <a:highlight>
                  <a:srgbClr val="FFFF00"/>
                </a:highlight>
              </a:rPr>
              <a:t>工作原理</a:t>
            </a: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745" y="3334385"/>
            <a:ext cx="9532620" cy="2319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Rectangle 5"/>
          <p:cNvSpPr>
            <a:spLocks noChangeArrowheads="1"/>
          </p:cNvSpPr>
          <p:nvPr/>
        </p:nvSpPr>
        <p:spPr bwMode="auto">
          <a:xfrm>
            <a:off x="4037330" y="5768182"/>
            <a:ext cx="4902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zh-CN" altLang="en-US" sz="2400"/>
              <a:t>图</a:t>
            </a:r>
            <a:r>
              <a:rPr lang="en-US" altLang="zh-CN" sz="2400"/>
              <a:t>4-11 StoreFile</a:t>
            </a:r>
            <a:r>
              <a:rPr lang="zh-CN" altLang="en-US" sz="2400"/>
              <a:t>的合并和分裂过程 </a:t>
            </a:r>
          </a:p>
        </p:txBody>
      </p:sp>
      <p:sp>
        <p:nvSpPr>
          <p:cNvPr id="40965" name="TextBox 4"/>
          <p:cNvSpPr txBox="1">
            <a:spLocks noChangeArrowheads="1"/>
          </p:cNvSpPr>
          <p:nvPr/>
        </p:nvSpPr>
        <p:spPr bwMode="auto">
          <a:xfrm>
            <a:off x="838200" y="1541591"/>
            <a:ext cx="11455399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Store</a:t>
            </a:r>
            <a:r>
              <a:rPr lang="zh-CN" altLang="en-US" sz="2400" dirty="0"/>
              <a:t>是</a:t>
            </a:r>
            <a:r>
              <a:rPr lang="en-US" altLang="zh-CN" sz="2400" dirty="0"/>
              <a:t>Region</a:t>
            </a:r>
            <a:r>
              <a:rPr lang="zh-CN" altLang="en-US" sz="2400" dirty="0"/>
              <a:t>服务器的核心</a:t>
            </a:r>
            <a:endParaRPr lang="en-US" altLang="zh-CN" sz="2400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 err="1"/>
              <a:t>StoreFile</a:t>
            </a:r>
            <a:r>
              <a:rPr lang="zh-CN" altLang="en-US" sz="2400" dirty="0"/>
              <a:t>数量过多触发合并</a:t>
            </a:r>
            <a:endParaRPr lang="en-US" altLang="zh-CN" sz="2400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单个</a:t>
            </a:r>
            <a:r>
              <a:rPr lang="en-US" altLang="zh-CN" sz="2400" dirty="0" err="1"/>
              <a:t>StoreFile</a:t>
            </a:r>
            <a:r>
              <a:rPr lang="zh-CN" altLang="en-US" sz="2400" dirty="0"/>
              <a:t>过大时，又触发文件分裂操作，同时父</a:t>
            </a:r>
            <a:r>
              <a:rPr lang="en-US" altLang="zh-CN" sz="2400" dirty="0"/>
              <a:t>Region</a:t>
            </a:r>
            <a:r>
              <a:rPr lang="zh-CN" altLang="en-US" sz="2400" dirty="0"/>
              <a:t>分裂成两个子</a:t>
            </a:r>
            <a:r>
              <a:rPr lang="en-US" altLang="zh-CN" sz="2400" dirty="0"/>
              <a:t>Region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CN" b="1"/>
              <a:t>4.5.4	HLog</a:t>
            </a:r>
            <a:r>
              <a:rPr lang="zh-CN" altLang="en-US" b="1"/>
              <a:t>工作原理</a:t>
            </a:r>
          </a:p>
        </p:txBody>
      </p:sp>
      <p:sp>
        <p:nvSpPr>
          <p:cNvPr id="2" name="流程图: 可选过程 1"/>
          <p:cNvSpPr/>
          <p:nvPr>
            <p:custDataLst>
              <p:tags r:id="rId1"/>
            </p:custDataLst>
          </p:nvPr>
        </p:nvSpPr>
        <p:spPr>
          <a:xfrm>
            <a:off x="4198374" y="1690688"/>
            <a:ext cx="3048000" cy="62972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800" dirty="0"/>
              <a:t>Zookeeper</a:t>
            </a:r>
            <a:r>
              <a:rPr lang="zh-CN" altLang="en-US" sz="2800" dirty="0"/>
              <a:t>服务器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4902102" y="4787272"/>
            <a:ext cx="1625600" cy="779742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Master</a:t>
            </a:r>
            <a:endParaRPr lang="zh-CN" altLang="en-US" sz="28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313" y="4083971"/>
            <a:ext cx="3379758" cy="2166681"/>
          </a:xfrm>
          <a:prstGeom prst="rect">
            <a:avLst/>
          </a:prstGeom>
        </p:spPr>
      </p:pic>
      <p:sp>
        <p:nvSpPr>
          <p:cNvPr id="28" name="流程图: 可选过程 27"/>
          <p:cNvSpPr/>
          <p:nvPr>
            <p:custDataLst>
              <p:tags r:id="rId2"/>
            </p:custDataLst>
          </p:nvPr>
        </p:nvSpPr>
        <p:spPr>
          <a:xfrm rot="20091172">
            <a:off x="2785052" y="2701389"/>
            <a:ext cx="1761569" cy="629725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监测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流程图: 可选过程 28"/>
          <p:cNvSpPr/>
          <p:nvPr>
            <p:custDataLst>
              <p:tags r:id="rId3"/>
            </p:custDataLst>
          </p:nvPr>
        </p:nvSpPr>
        <p:spPr>
          <a:xfrm>
            <a:off x="3912262" y="4547418"/>
            <a:ext cx="1075687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zh-CN" altLang="en-US" sz="2800" dirty="0">
                <a:sym typeface="+mn-ea"/>
              </a:rPr>
              <a:t>追责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0" name="直接箭头连接符 29"/>
          <p:cNvCxnSpPr>
            <a:stCxn id="2" idx="2"/>
            <a:endCxn id="27" idx="0"/>
          </p:cNvCxnSpPr>
          <p:nvPr/>
        </p:nvCxnSpPr>
        <p:spPr>
          <a:xfrm flipH="1">
            <a:off x="2233192" y="2320413"/>
            <a:ext cx="3489182" cy="17635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" idx="2"/>
            <a:endCxn id="6" idx="0"/>
          </p:cNvCxnSpPr>
          <p:nvPr/>
        </p:nvCxnSpPr>
        <p:spPr>
          <a:xfrm flipH="1">
            <a:off x="5714902" y="2320413"/>
            <a:ext cx="7472" cy="24668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6" idx="1"/>
            <a:endCxn id="27" idx="3"/>
          </p:cNvCxnSpPr>
          <p:nvPr/>
        </p:nvCxnSpPr>
        <p:spPr>
          <a:xfrm flipH="1" flipV="1">
            <a:off x="3923071" y="5167312"/>
            <a:ext cx="979031" cy="9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7854459" y="4074139"/>
            <a:ext cx="3301181" cy="2217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流程图: 可选过程 40"/>
          <p:cNvSpPr/>
          <p:nvPr>
            <p:custDataLst>
              <p:tags r:id="rId4"/>
            </p:custDataLst>
          </p:nvPr>
        </p:nvSpPr>
        <p:spPr>
          <a:xfrm>
            <a:off x="7992215" y="4093803"/>
            <a:ext cx="3025668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服务器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流程图: 可选过程 41"/>
          <p:cNvSpPr/>
          <p:nvPr>
            <p:custDataLst>
              <p:tags r:id="rId5"/>
            </p:custDataLst>
          </p:nvPr>
        </p:nvSpPr>
        <p:spPr>
          <a:xfrm>
            <a:off x="6572948" y="4547418"/>
            <a:ext cx="1075687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zh-CN" altLang="en-US" sz="2800" dirty="0">
                <a:sym typeface="+mn-ea"/>
              </a:rPr>
              <a:t>恢复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43" name="直接箭头连接符 42"/>
          <p:cNvCxnSpPr>
            <a:stCxn id="6" idx="3"/>
            <a:endCxn id="40" idx="1"/>
          </p:cNvCxnSpPr>
          <p:nvPr/>
        </p:nvCxnSpPr>
        <p:spPr>
          <a:xfrm>
            <a:off x="6527702" y="5177143"/>
            <a:ext cx="1326757" cy="5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/>
          <p:cNvCxnSpPr>
            <a:stCxn id="29" idx="0"/>
          </p:cNvCxnSpPr>
          <p:nvPr/>
        </p:nvCxnSpPr>
        <p:spPr>
          <a:xfrm rot="16200000" flipH="1" flipV="1">
            <a:off x="2410636" y="2974982"/>
            <a:ext cx="467034" cy="3611906"/>
          </a:xfrm>
          <a:prstGeom prst="curvedConnector4">
            <a:avLst>
              <a:gd name="adj1" fmla="val -48947"/>
              <a:gd name="adj2" fmla="val 57445"/>
            </a:avLst>
          </a:prstGeom>
          <a:ln w="38100"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可选过程 56"/>
          <p:cNvSpPr/>
          <p:nvPr>
            <p:custDataLst>
              <p:tags r:id="rId6"/>
            </p:custDataLst>
          </p:nvPr>
        </p:nvSpPr>
        <p:spPr>
          <a:xfrm>
            <a:off x="5686072" y="3238980"/>
            <a:ext cx="1075687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zh-CN" altLang="en-US" sz="2800" dirty="0">
                <a:sym typeface="+mn-ea"/>
              </a:rPr>
              <a:t>通知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" name="流程图: 文档 57"/>
          <p:cNvSpPr/>
          <p:nvPr/>
        </p:nvSpPr>
        <p:spPr>
          <a:xfrm>
            <a:off x="8775625" y="4743192"/>
            <a:ext cx="1567910" cy="1501875"/>
          </a:xfrm>
          <a:prstGeom prst="flowChartDocumen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重做日志的</a:t>
            </a:r>
            <a:r>
              <a:rPr lang="en-US" altLang="zh-CN" sz="2400" dirty="0">
                <a:sym typeface="+mn-ea"/>
              </a:rPr>
              <a:t>Region</a:t>
            </a:r>
            <a:endParaRPr lang="zh-CN" altLang="en-US" sz="2400" dirty="0"/>
          </a:p>
        </p:txBody>
      </p:sp>
      <p:sp>
        <p:nvSpPr>
          <p:cNvPr id="59" name="矩形 58"/>
          <p:cNvSpPr/>
          <p:nvPr/>
        </p:nvSpPr>
        <p:spPr>
          <a:xfrm>
            <a:off x="7850892" y="1021805"/>
            <a:ext cx="3301181" cy="2217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流程图: 可选过程 59"/>
          <p:cNvSpPr/>
          <p:nvPr>
            <p:custDataLst>
              <p:tags r:id="rId7"/>
            </p:custDataLst>
          </p:nvPr>
        </p:nvSpPr>
        <p:spPr>
          <a:xfrm>
            <a:off x="7988648" y="1041469"/>
            <a:ext cx="3025668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en-US" altLang="zh-CN" sz="2400" dirty="0">
                <a:sym typeface="+mn-ea"/>
              </a:rPr>
              <a:t>Region</a:t>
            </a:r>
            <a:r>
              <a:rPr lang="zh-CN" altLang="en-US" sz="2400" dirty="0">
                <a:sym typeface="+mn-ea"/>
              </a:rPr>
              <a:t>服务器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流程图: 可选过程 60"/>
          <p:cNvSpPr/>
          <p:nvPr>
            <p:custDataLst>
              <p:tags r:id="rId8"/>
            </p:custDataLst>
          </p:nvPr>
        </p:nvSpPr>
        <p:spPr>
          <a:xfrm>
            <a:off x="9021736" y="3341697"/>
            <a:ext cx="1075687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en-US" altLang="zh-CN" sz="4000" b="1" dirty="0">
                <a:sym typeface="+mn-ea"/>
              </a:rPr>
              <a:t>…</a:t>
            </a:r>
            <a:endParaRPr kumimoji="0" lang="en-US" altLang="zh-CN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3" name="直接箭头连接符 62"/>
          <p:cNvCxnSpPr>
            <a:stCxn id="2" idx="3"/>
            <a:endCxn id="59" idx="1"/>
          </p:cNvCxnSpPr>
          <p:nvPr/>
        </p:nvCxnSpPr>
        <p:spPr>
          <a:xfrm>
            <a:off x="7246374" y="2005551"/>
            <a:ext cx="604518" cy="124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11" name="直接箭头连接符 43010"/>
          <p:cNvCxnSpPr>
            <a:stCxn id="2" idx="3"/>
          </p:cNvCxnSpPr>
          <p:nvPr/>
        </p:nvCxnSpPr>
        <p:spPr>
          <a:xfrm>
            <a:off x="7246374" y="2005551"/>
            <a:ext cx="604518" cy="2048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14" name="直接箭头连接符 43013"/>
          <p:cNvCxnSpPr>
            <a:stCxn id="2" idx="3"/>
            <a:endCxn id="61" idx="1"/>
          </p:cNvCxnSpPr>
          <p:nvPr/>
        </p:nvCxnSpPr>
        <p:spPr>
          <a:xfrm>
            <a:off x="7246374" y="2005551"/>
            <a:ext cx="1775362" cy="1651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9" name="流程图: 可选过程 43018"/>
          <p:cNvSpPr/>
          <p:nvPr>
            <p:custDataLst>
              <p:tags r:id="rId9"/>
            </p:custDataLst>
          </p:nvPr>
        </p:nvSpPr>
        <p:spPr>
          <a:xfrm>
            <a:off x="7700499" y="4091008"/>
            <a:ext cx="1075687" cy="629725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ts val="0"/>
              </a:spcAft>
            </a:pPr>
            <a:r>
              <a:rPr lang="zh-CN" altLang="en-US" sz="2400" dirty="0">
                <a:sym typeface="+mn-ea"/>
              </a:rPr>
              <a:t>可用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3020" name="对话气泡: 圆角矩形 43019"/>
          <p:cNvSpPr/>
          <p:nvPr>
            <p:custDataLst>
              <p:tags r:id="rId10"/>
            </p:custDataLst>
          </p:nvPr>
        </p:nvSpPr>
        <p:spPr>
          <a:xfrm>
            <a:off x="101107" y="3117667"/>
            <a:ext cx="1075687" cy="872350"/>
          </a:xfrm>
          <a:prstGeom prst="wedgeRoundRectCallout">
            <a:avLst>
              <a:gd name="adj1" fmla="val 22127"/>
              <a:gd name="adj2" fmla="val 154922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dirty="0"/>
              <a:t>分拆日志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1" name="对话气泡: 圆角矩形 43020"/>
          <p:cNvSpPr/>
          <p:nvPr/>
        </p:nvSpPr>
        <p:spPr>
          <a:xfrm>
            <a:off x="823203" y="2228722"/>
            <a:ext cx="2121913" cy="648093"/>
          </a:xfrm>
          <a:prstGeom prst="wedgeRoundRectCallout">
            <a:avLst>
              <a:gd name="adj1" fmla="val -38461"/>
              <a:gd name="adj2" fmla="val 97057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kern="0" dirty="0"/>
              <a:t>共用日志缺点</a:t>
            </a:r>
            <a:endParaRPr lang="en-US" altLang="zh-CN" sz="2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29" grpId="0" bldLvl="0" animBg="1"/>
      <p:bldP spid="42" grpId="0" bldLvl="0" animBg="1"/>
      <p:bldP spid="57" grpId="0" bldLvl="0" animBg="1"/>
      <p:bldP spid="58" grpId="0" bldLvl="0" animBg="1"/>
      <p:bldP spid="43019" grpId="0" bldLvl="0" animBg="1"/>
      <p:bldP spid="43020" grpId="0" bldLvl="0" animBg="1"/>
      <p:bldP spid="43021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5.5  NoSQL</a:t>
            </a:r>
            <a:r>
              <a:rPr lang="zh-CN" altLang="en-US" b="1" dirty="0"/>
              <a:t>的三大基石</a:t>
            </a:r>
          </a:p>
        </p:txBody>
      </p:sp>
      <p:graphicFrame>
        <p:nvGraphicFramePr>
          <p:cNvPr id="6" name="图示 5"/>
          <p:cNvGraphicFramePr/>
          <p:nvPr/>
        </p:nvGraphicFramePr>
        <p:xfrm>
          <a:off x="1819275" y="1306195"/>
          <a:ext cx="8277225" cy="5261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highlight>
                  <a:srgbClr val="FFFF00"/>
                </a:highlight>
              </a:rPr>
              <a:t>5.5.1  CAP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8200" y="1502228"/>
            <a:ext cx="10582469" cy="5492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Consistency</a:t>
            </a:r>
            <a:r>
              <a:rPr kumimoji="0" lang="zh-CN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）：</a:t>
            </a:r>
            <a:r>
              <a:rPr kumimoji="0" lang="zh-CN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一致性，任何读操作总能读到之前已经完成的写操作的结果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zh-CN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A:</a:t>
            </a:r>
            <a:r>
              <a:rPr kumimoji="0" lang="zh-CN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Availability</a:t>
            </a:r>
            <a:r>
              <a:rPr kumimoji="0" lang="zh-CN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）：</a:t>
            </a:r>
            <a:r>
              <a:rPr kumimoji="0" lang="zh-CN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可用性，是指快速获取数据，可以在确定的时间内返回操作结果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zh-CN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indent="-28575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Tolerance of Network Partition</a:t>
            </a:r>
            <a:r>
              <a:rPr kumimoji="0" lang="zh-CN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）：</a:t>
            </a:r>
            <a:r>
              <a:rPr kumimoji="0" lang="zh-CN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分区容忍性，是指当出现网络分区的情况时（即系统中的一部分节点无法和其他节点进行通信），分离的系统也能够正常运行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5.5.1  CAP</a:t>
            </a:r>
            <a:endParaRPr lang="zh-CN" altLang="en-US" b="1" dirty="0"/>
          </a:p>
        </p:txBody>
      </p:sp>
      <p:sp>
        <p:nvSpPr>
          <p:cNvPr id="30723" name="文本框 3"/>
          <p:cNvSpPr txBox="1"/>
          <p:nvPr/>
        </p:nvSpPr>
        <p:spPr>
          <a:xfrm>
            <a:off x="1164770" y="1438215"/>
            <a:ext cx="4694853" cy="66992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highlight>
                  <a:srgbClr val="FFFF00"/>
                </a:highlight>
                <a:latin typeface="Arial" panose="020B0604020202020204" pitchFamily="34" charset="0"/>
              </a:rPr>
              <a:t>最多只能同时满足其中两个</a:t>
            </a:r>
            <a:endParaRPr lang="zh-CN" altLang="en-US" sz="2400" dirty="0"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3406140" y="2252345"/>
            <a:ext cx="4791710" cy="426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5.5.2  BASE</a:t>
            </a:r>
            <a:endParaRPr lang="zh-CN" altLang="en-US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7216771"/>
              </p:ext>
            </p:extLst>
          </p:nvPr>
        </p:nvGraphicFramePr>
        <p:xfrm>
          <a:off x="3941354" y="1962539"/>
          <a:ext cx="4077478" cy="3388422"/>
        </p:xfrm>
        <a:graphic>
          <a:graphicData uri="http://schemas.openxmlformats.org/drawingml/2006/table">
            <a:tbl>
              <a:tblPr/>
              <a:tblGrid>
                <a:gridCol w="4077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solidFill>
                            <a:srgbClr val="FFFFFF"/>
                          </a:solidFill>
                          <a:highlight>
                            <a:srgbClr val="FFFF00"/>
                          </a:highlight>
                        </a:rPr>
                        <a:t>BASE</a:t>
                      </a:r>
                    </a:p>
                  </a:txBody>
                  <a:tcPr marL="25086" marR="25086" marT="25086" marB="25086" anchor="ctr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800" dirty="0"/>
                        <a:t>基本可用</a:t>
                      </a:r>
                      <a:endParaRPr lang="en-US" altLang="zh-CN" sz="2800" dirty="0"/>
                    </a:p>
                    <a:p>
                      <a:pPr algn="ctr" fontAlgn="t"/>
                      <a:r>
                        <a:rPr lang="en-US" altLang="zh-CN" sz="2800" dirty="0"/>
                        <a:t>(</a:t>
                      </a:r>
                      <a:r>
                        <a:rPr lang="en-US" sz="2800" b="1" u="none" dirty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sz="2800" dirty="0"/>
                        <a:t>asically 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sz="2800" dirty="0"/>
                        <a:t>vailable)</a:t>
                      </a:r>
                    </a:p>
                  </a:txBody>
                  <a:tcPr marL="41811" marR="41811" marT="58535" marB="58535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523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800" dirty="0"/>
                        <a:t>软状态</a:t>
                      </a:r>
                      <a:r>
                        <a:rPr lang="en-US" altLang="zh-CN" sz="2800" dirty="0"/>
                        <a:t>/</a:t>
                      </a:r>
                      <a:r>
                        <a:rPr lang="zh-CN" altLang="en-US" sz="2800" dirty="0"/>
                        <a:t>柔性事务</a:t>
                      </a:r>
                      <a:endParaRPr lang="en-US" altLang="zh-CN" sz="2800" dirty="0"/>
                    </a:p>
                    <a:p>
                      <a:pPr algn="ctr" fontAlgn="t"/>
                      <a:r>
                        <a:rPr lang="en-US" altLang="zh-CN" sz="2800" dirty="0"/>
                        <a:t>(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sz="2800" dirty="0"/>
                        <a:t>oft state)</a:t>
                      </a:r>
                    </a:p>
                  </a:txBody>
                  <a:tcPr marL="41811" marR="41811" marT="58535" marB="58535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28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800" dirty="0"/>
                        <a:t>最终一致性</a:t>
                      </a:r>
                      <a:endParaRPr lang="en-US" altLang="zh-CN" sz="2800" dirty="0"/>
                    </a:p>
                    <a:p>
                      <a:pPr algn="ctr" fontAlgn="t"/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/>
                        <a:t>(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en-US" sz="2800" dirty="0"/>
                        <a:t>ventual consistency)</a:t>
                      </a:r>
                    </a:p>
                  </a:txBody>
                  <a:tcPr marL="41811" marR="41811" marT="58535" marB="58535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311515" y="1628775"/>
            <a:ext cx="3790315" cy="1123984"/>
          </a:xfrm>
          <a:prstGeom prst="wedgeRoundRectCallout">
            <a:avLst>
              <a:gd name="adj1" fmla="val -76034"/>
              <a:gd name="adj2" fmla="val 41561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zh-CN" altLang="zh-CN" sz="2000" dirty="0">
                <a:latin typeface="Arial" panose="020B0604020202020204" pitchFamily="34" charset="0"/>
              </a:rPr>
              <a:t>分布式系统的一部分不可用时，其他部分仍然可用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11515" y="2808605"/>
            <a:ext cx="3790315" cy="1328576"/>
          </a:xfrm>
          <a:prstGeom prst="wedgeRoundRectCallout">
            <a:avLst>
              <a:gd name="adj1" fmla="val -74946"/>
              <a:gd name="adj2" fmla="val 8269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sz="1800" dirty="0">
                <a:latin typeface="Arial" panose="020B0604020202020204" pitchFamily="34" charset="0"/>
              </a:rPr>
              <a:t>“硬状态”</a:t>
            </a:r>
            <a:r>
              <a:rPr lang="zh-CN" altLang="en-US" sz="1800" dirty="0">
                <a:latin typeface="Arial" panose="020B0604020202020204" pitchFamily="34" charset="0"/>
              </a:rPr>
              <a:t>：</a:t>
            </a:r>
            <a:endParaRPr lang="en-US" altLang="zh-CN" sz="1800" dirty="0">
              <a:latin typeface="Arial" panose="020B0604020202020204" pitchFamily="34" charset="0"/>
            </a:endParaRPr>
          </a:p>
          <a:p>
            <a:r>
              <a:rPr lang="zh-CN" altLang="zh-CN" dirty="0">
                <a:latin typeface="Arial" panose="020B0604020202020204" pitchFamily="34" charset="0"/>
              </a:rPr>
              <a:t>数据是</a:t>
            </a:r>
            <a:r>
              <a:rPr lang="zh-CN" altLang="en-US" dirty="0">
                <a:latin typeface="Arial" panose="020B0604020202020204" pitchFamily="34" charset="0"/>
              </a:rPr>
              <a:t>正确的，</a:t>
            </a:r>
            <a:r>
              <a:rPr lang="zh-CN" altLang="zh-CN" dirty="0">
                <a:latin typeface="Arial" panose="020B0604020202020204" pitchFamily="34" charset="0"/>
              </a:rPr>
              <a:t>可</a:t>
            </a:r>
            <a:r>
              <a:rPr lang="zh-CN" altLang="zh-CN" sz="1800" dirty="0">
                <a:latin typeface="Arial" panose="020B0604020202020204" pitchFamily="34" charset="0"/>
              </a:rPr>
              <a:t>保证一致性</a:t>
            </a:r>
            <a:endParaRPr lang="en-US" altLang="zh-CN" sz="1800" dirty="0">
              <a:latin typeface="Arial" panose="020B0604020202020204" pitchFamily="34" charset="0"/>
            </a:endParaRPr>
          </a:p>
          <a:p>
            <a:r>
              <a:rPr lang="zh-CN" altLang="zh-CN" sz="1800" dirty="0">
                <a:latin typeface="Arial" panose="020B0604020202020204" pitchFamily="34" charset="0"/>
              </a:rPr>
              <a:t>“软状态” </a:t>
            </a:r>
            <a:r>
              <a:rPr lang="zh-CN" altLang="en-US" sz="1800" dirty="0">
                <a:latin typeface="Arial" panose="020B0604020202020204" pitchFamily="34" charset="0"/>
              </a:rPr>
              <a:t>：</a:t>
            </a:r>
            <a:endParaRPr lang="en-US" altLang="zh-CN" sz="1800" dirty="0">
              <a:latin typeface="Arial" panose="020B0604020202020204" pitchFamily="34" charset="0"/>
            </a:endParaRPr>
          </a:p>
          <a:p>
            <a:r>
              <a:rPr lang="zh-CN" altLang="zh-CN" sz="1800" dirty="0">
                <a:latin typeface="Arial" panose="020B0604020202020204" pitchFamily="34" charset="0"/>
              </a:rPr>
              <a:t>可一段时间不同步，</a:t>
            </a:r>
            <a:r>
              <a:rPr lang="zh-CN" altLang="en-US" sz="1800" dirty="0">
                <a:latin typeface="Arial" panose="020B0604020202020204" pitchFamily="34" charset="0"/>
              </a:rPr>
              <a:t>具有</a:t>
            </a:r>
            <a:r>
              <a:rPr lang="zh-CN" altLang="zh-CN" sz="1800" dirty="0">
                <a:latin typeface="Arial" panose="020B0604020202020204" pitchFamily="34" charset="0"/>
              </a:rPr>
              <a:t>滞后性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311243" y="4354027"/>
            <a:ext cx="3790561" cy="1476743"/>
          </a:xfrm>
          <a:prstGeom prst="wedgeRoundRectCallout">
            <a:avLst>
              <a:gd name="adj1" fmla="val -78404"/>
              <a:gd name="adj2" fmla="val -27611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弱一致性的一种特例，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可暂时读不到更新后的数据，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但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过后</a:t>
            </a:r>
            <a:r>
              <a:rPr kumimoji="0" lang="zh-CN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必须最终读到更新后的数据。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92100" y="1962785"/>
          <a:ext cx="3523615" cy="3388995"/>
        </p:xfrm>
        <a:graphic>
          <a:graphicData uri="http://schemas.openxmlformats.org/drawingml/2006/table">
            <a:tbl>
              <a:tblPr/>
              <a:tblGrid>
                <a:gridCol w="3523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solidFill>
                            <a:srgbClr val="FFFFFF"/>
                          </a:solidFill>
                        </a:rPr>
                        <a:t>ACID</a:t>
                      </a:r>
                    </a:p>
                  </a:txBody>
                  <a:tcPr marL="25086" marR="25086" marT="25086" marB="25086" anchor="ctr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800" dirty="0"/>
                        <a:t>原子性</a:t>
                      </a:r>
                      <a:r>
                        <a:rPr lang="en-US" altLang="zh-CN" sz="2800" dirty="0"/>
                        <a:t>(</a:t>
                      </a:r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tomicity)</a:t>
                      </a:r>
                    </a:p>
                  </a:txBody>
                  <a:tcPr marL="41811" marR="41811" marT="58535" marB="58535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800" dirty="0"/>
                        <a:t>一致性</a:t>
                      </a:r>
                      <a:r>
                        <a:rPr lang="en-US" altLang="zh-CN" sz="2800" dirty="0"/>
                        <a:t>(</a:t>
                      </a:r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onsistency)</a:t>
                      </a:r>
                    </a:p>
                  </a:txBody>
                  <a:tcPr marL="41811" marR="41811" marT="58535" marB="58535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1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800"/>
                        <a:t>隔离性</a:t>
                      </a:r>
                      <a:r>
                        <a:rPr lang="en-US" altLang="zh-CN" sz="2800"/>
                        <a:t>(</a:t>
                      </a:r>
                      <a:r>
                        <a:rPr lang="en-US" sz="2800" b="1"/>
                        <a:t>I</a:t>
                      </a:r>
                      <a:r>
                        <a:rPr lang="en-US" sz="2800"/>
                        <a:t>solation)</a:t>
                      </a:r>
                    </a:p>
                  </a:txBody>
                  <a:tcPr marL="41811" marR="41811" marT="58535" marB="58535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800" dirty="0"/>
                        <a:t>持久性 </a:t>
                      </a:r>
                      <a:r>
                        <a:rPr lang="en-US" altLang="zh-CN" sz="2800" dirty="0"/>
                        <a:t>(</a:t>
                      </a:r>
                      <a:r>
                        <a:rPr lang="en-US" sz="2800" b="1" dirty="0"/>
                        <a:t>D</a:t>
                      </a:r>
                      <a:r>
                        <a:rPr lang="en-US" sz="2800" dirty="0"/>
                        <a:t>urable)</a:t>
                      </a:r>
                    </a:p>
                  </a:txBody>
                  <a:tcPr marL="41811" marR="41811" marT="58535" marB="58535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6" grpId="0" bldLvl="0" animBg="1"/>
      <p:bldP spid="6" grpId="1" animBg="1"/>
      <p:bldP spid="8" grpId="0" bldLvl="0" animBg="1"/>
      <p:bldP spid="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6.3.2	UMP</a:t>
            </a:r>
            <a:r>
              <a:rPr lang="zh-CN" altLang="en-US" b="1" dirty="0"/>
              <a:t>系统架构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34975" y="1455420"/>
            <a:ext cx="4792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/>
              <a:t>集群内部的负载均衡 </a:t>
            </a:r>
            <a:r>
              <a:rPr lang="en-US" altLang="zh-CN" sz="2800" dirty="0"/>
              <a:t>-- </a:t>
            </a:r>
            <a:r>
              <a:rPr lang="en-US" altLang="zh-CN" sz="2800" b="1" dirty="0"/>
              <a:t>LVS</a:t>
            </a:r>
          </a:p>
        </p:txBody>
      </p:sp>
      <p:sp>
        <p:nvSpPr>
          <p:cNvPr id="25604" name="Rectangle 5"/>
          <p:cNvSpPr>
            <a:spLocks noChangeArrowheads="1"/>
          </p:cNvSpPr>
          <p:nvPr/>
        </p:nvSpPr>
        <p:spPr bwMode="auto">
          <a:xfrm>
            <a:off x="837277" y="1905595"/>
            <a:ext cx="10207336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dirty="0"/>
              <a:t>LVS(Linux Virtual Server)</a:t>
            </a:r>
            <a:r>
              <a:rPr lang="zh-CN" altLang="en-US" sz="2800" dirty="0"/>
              <a:t> 是一个虚拟的服务器集群系统</a:t>
            </a:r>
            <a:endParaRPr lang="en-US" altLang="zh-CN" sz="2800" dirty="0"/>
          </a:p>
          <a:p>
            <a:pPr>
              <a:lnSpc>
                <a:spcPct val="150000"/>
              </a:lnSpc>
              <a:buFontTx/>
              <a:buChar char="•"/>
            </a:pPr>
            <a:r>
              <a:rPr lang="en-US" altLang="zh-CN" sz="2800" dirty="0"/>
              <a:t>LVS</a:t>
            </a:r>
            <a:r>
              <a:rPr lang="zh-CN" altLang="en-US" sz="2800" dirty="0"/>
              <a:t>集群采用</a:t>
            </a:r>
            <a:r>
              <a:rPr lang="en-US" altLang="zh-CN" sz="2800" dirty="0"/>
              <a:t>IP</a:t>
            </a:r>
            <a:r>
              <a:rPr lang="zh-CN" altLang="en-US" sz="2800" dirty="0"/>
              <a:t>负载均衡技术和基于内容请求分发技术</a:t>
            </a: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434745" y="3572104"/>
            <a:ext cx="10258425" cy="22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/>
              <a:t>其它重要的功能：</a:t>
            </a:r>
          </a:p>
          <a:p>
            <a:pPr algn="l"/>
            <a:r>
              <a:rPr lang="en-US" altLang="zh-CN" sz="2800" dirty="0"/>
              <a:t>       </a:t>
            </a:r>
            <a:r>
              <a:rPr lang="zh-CN" altLang="en-US" sz="2800" dirty="0"/>
              <a:t>读写分离、分库分表、资源隔离、记录用户访问日志等</a:t>
            </a:r>
          </a:p>
          <a:p>
            <a:pPr algn="l"/>
            <a:endParaRPr lang="zh-CN" altLang="en-US" sz="2800" dirty="0"/>
          </a:p>
          <a:p>
            <a:pPr algn="l"/>
            <a:r>
              <a:rPr lang="zh-CN" altLang="en-US" sz="2800" dirty="0"/>
              <a:t>例如读写分离，每个用户都有两个</a:t>
            </a:r>
            <a:r>
              <a:rPr lang="en-US" altLang="zh-CN" sz="2800" dirty="0"/>
              <a:t>MySQL</a:t>
            </a:r>
            <a:r>
              <a:rPr lang="zh-CN" altLang="en-US" sz="2800" dirty="0"/>
              <a:t>实例，即主库和从库。</a:t>
            </a:r>
          </a:p>
          <a:p>
            <a:pPr algn="l"/>
            <a:r>
              <a:rPr lang="zh-CN" altLang="en-US" sz="2800" dirty="0"/>
              <a:t>写操作一律到主库，读操作根据负载而定。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en-US" dirty="0"/>
              <a:t>7.1.3	Map和Reduce函数</a:t>
            </a:r>
            <a:endParaRPr lang="zh-CN" altLang="en-US" dirty="0"/>
          </a:p>
        </p:txBody>
      </p:sp>
      <p:graphicFrame>
        <p:nvGraphicFramePr>
          <p:cNvPr id="6239" name="Group 9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64945" y="1573530"/>
          <a:ext cx="9142730" cy="3931920"/>
        </p:xfrm>
        <a:graphic>
          <a:graphicData uri="http://schemas.openxmlformats.org/drawingml/2006/table">
            <a:tbl>
              <a:tblPr/>
              <a:tblGrid>
                <a:gridCol w="120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如：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行号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,”a b c”&gt;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List(&lt;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如：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&lt;“a”,1&gt;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&lt;“b”,1&gt;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&lt;“c”,1&gt;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将小数据集进一步解析成一批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&lt;key,value&gt;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对，输入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Map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函数中进行处理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每一个输入的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会输出一批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是计算的中间结果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,List(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如：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&lt;“a”,&lt;1,1,1&gt;&gt;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&lt;“a”,3&gt;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输入的中间结果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,List(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)&gt;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List(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表示是一批属于同一个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7.2.2	MapReduce</a:t>
            </a:r>
            <a:r>
              <a:rPr lang="zh-CN" altLang="en-US" dirty="0"/>
              <a:t>各个执行阶段</a:t>
            </a:r>
          </a:p>
        </p:txBody>
      </p:sp>
      <p:pic>
        <p:nvPicPr>
          <p:cNvPr id="1638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295400"/>
            <a:ext cx="7842250" cy="5562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838200" y="97790"/>
            <a:ext cx="10515600" cy="83883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7.2.3	Shuffle</a:t>
            </a:r>
            <a:r>
              <a:rPr lang="zh-CN" altLang="en-US" dirty="0"/>
              <a:t>过程详解</a:t>
            </a:r>
          </a:p>
        </p:txBody>
      </p:sp>
      <p:pic>
        <p:nvPicPr>
          <p:cNvPr id="19459" name="Picture 4"/>
          <p:cNvPicPr>
            <a:picLocks noChangeAspect="1"/>
          </p:cNvPicPr>
          <p:nvPr/>
        </p:nvPicPr>
        <p:blipFill>
          <a:blip r:embed="rId3"/>
          <a:srcRect t="8583" b="3153"/>
          <a:stretch>
            <a:fillRect/>
          </a:stretch>
        </p:blipFill>
        <p:spPr>
          <a:xfrm>
            <a:off x="838200" y="1542415"/>
            <a:ext cx="10664190" cy="45961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Rectangle 5"/>
          <p:cNvSpPr/>
          <p:nvPr/>
        </p:nvSpPr>
        <p:spPr>
          <a:xfrm>
            <a:off x="4876800" y="6317616"/>
            <a:ext cx="223012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7-3 Shuffle</a:t>
            </a:r>
            <a:r>
              <a:rPr lang="zh-CN" altLang="en-US" sz="2000" dirty="0">
                <a:latin typeface="Arial" panose="020B0604020202020204" pitchFamily="34" charset="0"/>
              </a:rPr>
              <a:t>过程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461" name="Rectangle 6"/>
          <p:cNvSpPr/>
          <p:nvPr/>
        </p:nvSpPr>
        <p:spPr>
          <a:xfrm>
            <a:off x="838200" y="936784"/>
            <a:ext cx="277304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en-US" altLang="zh-CN" sz="2400" b="1" dirty="0">
                <a:latin typeface="Arial" panose="020B0604020202020204" pitchFamily="34" charset="0"/>
              </a:rPr>
              <a:t>1. Shuffle</a:t>
            </a:r>
            <a:r>
              <a:rPr lang="zh-CN" altLang="en-US" sz="2400" b="1" dirty="0">
                <a:latin typeface="Arial" panose="020B0604020202020204" pitchFamily="34" charset="0"/>
              </a:rPr>
              <a:t>过程简介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7.4  MapReduce</a:t>
            </a:r>
            <a:r>
              <a:rPr lang="zh-CN" altLang="en-US" dirty="0"/>
              <a:t>的具体应用</a:t>
            </a: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838200" y="1690688"/>
            <a:ext cx="9744075" cy="470535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dirty="0"/>
              <a:t>MapReduce</a:t>
            </a:r>
            <a:r>
              <a:rPr lang="zh-CN" altLang="en-US" dirty="0"/>
              <a:t>可以很好地应用于各种计算问题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关系代数运算（选择、投影、并、交、差、连接）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分组与聚合运算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矩阵</a:t>
            </a:r>
            <a:r>
              <a:rPr lang="en-US" altLang="zh-CN" dirty="0"/>
              <a:t>-</a:t>
            </a:r>
            <a:r>
              <a:rPr lang="zh-CN" altLang="en-US" dirty="0"/>
              <a:t>向量乘法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矩阵乘法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9.1.3 Hive</a:t>
            </a:r>
            <a:r>
              <a:rPr lang="zh-CN" altLang="en-US" b="1" dirty="0"/>
              <a:t>简介</a:t>
            </a:r>
          </a:p>
        </p:txBody>
      </p:sp>
      <p:sp>
        <p:nvSpPr>
          <p:cNvPr id="15363" name="TextBox 4"/>
          <p:cNvSpPr txBox="1"/>
          <p:nvPr/>
        </p:nvSpPr>
        <p:spPr>
          <a:xfrm>
            <a:off x="1200785" y="1524000"/>
            <a:ext cx="9723120" cy="48310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eaLnBrk="1" hangingPunct="1"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Hive</a:t>
            </a:r>
            <a:r>
              <a:rPr lang="zh-CN" altLang="en-US" sz="2800" dirty="0">
                <a:latin typeface="Arial" panose="020B0604020202020204" pitchFamily="34" charset="0"/>
              </a:rPr>
              <a:t>是一个构建于</a:t>
            </a:r>
            <a:r>
              <a:rPr lang="en-US" altLang="zh-CN" sz="2800" dirty="0">
                <a:latin typeface="Arial" panose="020B0604020202020204" pitchFamily="34" charset="0"/>
              </a:rPr>
              <a:t>Hadoop</a:t>
            </a:r>
            <a:r>
              <a:rPr lang="zh-CN" altLang="en-US" sz="2800" dirty="0">
                <a:latin typeface="Arial" panose="020B0604020202020204" pitchFamily="34" charset="0"/>
              </a:rPr>
              <a:t>顶层的数据仓库工具，</a:t>
            </a: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是一个可以提供有效、合理、直观组织和使用数据的分析工具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indent="0" eaLnBrk="1" hangingPunct="1">
              <a:buNone/>
            </a:pPr>
            <a:endParaRPr lang="zh-CN" altLang="en-US" sz="2800" dirty="0">
              <a:latin typeface="Arial" panose="020B0604020202020204" pitchFamily="34" charset="0"/>
            </a:endParaRPr>
          </a:p>
          <a:p>
            <a:pPr indent="0" eaLnBrk="1" hangingPunct="1">
              <a:buNone/>
            </a:pP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存储：</a:t>
            </a:r>
          </a:p>
          <a:p>
            <a:pPr eaLnBrk="1" hangingPunct="1">
              <a:buChar char="•"/>
            </a:pP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某种程度上可看作用户编程接口，本身不存储和处理数据</a:t>
            </a:r>
            <a:endParaRPr lang="en-US" altLang="zh-CN" sz="2800" dirty="0">
              <a:highlight>
                <a:srgbClr val="000000">
                  <a:alpha val="0"/>
                </a:srgbClr>
              </a:highlight>
              <a:latin typeface="Arial" panose="020B0604020202020204" pitchFamily="34" charset="0"/>
            </a:endParaRPr>
          </a:p>
          <a:p>
            <a:pPr eaLnBrk="1" hangingPunct="1">
              <a:buChar char="•"/>
            </a:pP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依赖分布式文件系统</a:t>
            </a:r>
            <a:r>
              <a:rPr lang="en-US" altLang="zh-CN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HDFS</a:t>
            </a: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存储数据</a:t>
            </a:r>
          </a:p>
          <a:p>
            <a:pPr eaLnBrk="1" hangingPunct="1">
              <a:buChar char="•"/>
            </a:pPr>
            <a:endParaRPr lang="en-US" altLang="zh-CN" sz="2800" dirty="0">
              <a:highlight>
                <a:srgbClr val="000000">
                  <a:alpha val="0"/>
                </a:srgbClr>
              </a:highlight>
              <a:latin typeface="Arial" panose="020B0604020202020204" pitchFamily="34" charset="0"/>
            </a:endParaRPr>
          </a:p>
          <a:p>
            <a:pPr indent="0" eaLnBrk="1" hangingPunct="1">
              <a:buNone/>
            </a:pP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计算：</a:t>
            </a:r>
            <a:endParaRPr lang="en-US" altLang="zh-CN" sz="2800" dirty="0">
              <a:highlight>
                <a:srgbClr val="000000">
                  <a:alpha val="0"/>
                </a:srgbClr>
              </a:highlight>
              <a:latin typeface="Arial" panose="020B0604020202020204" pitchFamily="34" charset="0"/>
            </a:endParaRPr>
          </a:p>
          <a:p>
            <a:pPr eaLnBrk="1" hangingPunct="1">
              <a:buChar char="•"/>
            </a:pP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依赖</a:t>
            </a:r>
            <a:r>
              <a:rPr lang="zh-CN" altLang="zh-CN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分布式并行计算模型</a:t>
            </a:r>
            <a:r>
              <a:rPr lang="en-US" altLang="zh-CN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MapReduce</a:t>
            </a: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处理数据</a:t>
            </a:r>
          </a:p>
          <a:p>
            <a:pPr eaLnBrk="1" hangingPunct="1">
              <a:buChar char="•"/>
            </a:pP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定义了简单的类</a:t>
            </a:r>
            <a:r>
              <a:rPr lang="en-US" altLang="zh-CN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SQL </a:t>
            </a: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查询语言</a:t>
            </a:r>
            <a:r>
              <a:rPr lang="en-US" altLang="zh-CN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——HiveQL</a:t>
            </a:r>
          </a:p>
          <a:p>
            <a:pPr eaLnBrk="1" hangingPunct="1">
              <a:buChar char="•"/>
            </a:pP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用户可以通过编写的</a:t>
            </a:r>
            <a:r>
              <a:rPr lang="en-US" altLang="zh-CN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HiveQL</a:t>
            </a: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语句运行</a:t>
            </a:r>
            <a:r>
              <a:rPr lang="en-US" altLang="zh-CN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MapReduce</a:t>
            </a:r>
            <a:r>
              <a:rPr lang="zh-CN" altLang="en-US" sz="2800" dirty="0"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</a:rPr>
              <a:t>任务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highlight>
                  <a:srgbClr val="FFFF00"/>
                </a:highlight>
              </a:rPr>
              <a:t>9.4 Hive HA</a:t>
            </a:r>
            <a:r>
              <a:rPr lang="zh-CN" altLang="en-US" b="1" dirty="0">
                <a:highlight>
                  <a:srgbClr val="FFFF00"/>
                </a:highlight>
              </a:rPr>
              <a:t>基本原理</a:t>
            </a:r>
          </a:p>
        </p:txBody>
      </p:sp>
      <p:sp>
        <p:nvSpPr>
          <p:cNvPr id="7172" name="Rectangle 6"/>
          <p:cNvSpPr/>
          <p:nvPr/>
        </p:nvSpPr>
        <p:spPr>
          <a:xfrm>
            <a:off x="3200400" y="2048669"/>
            <a:ext cx="12222163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4" name="Rectangle 2"/>
          <p:cNvSpPr/>
          <p:nvPr/>
        </p:nvSpPr>
        <p:spPr>
          <a:xfrm>
            <a:off x="2667000" y="20129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7170" name="对象 6"/>
          <p:cNvGraphicFramePr/>
          <p:nvPr/>
        </p:nvGraphicFramePr>
        <p:xfrm>
          <a:off x="2514600" y="1762125"/>
          <a:ext cx="72390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004800" imgH="6159500" progId="Visio.Drawing.15">
                  <p:embed/>
                </p:oleObj>
              </mc:Choice>
              <mc:Fallback>
                <p:oleObj r:id="rId2" imgW="13004800" imgH="6159500" progId="Visio.Drawing.15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0" y="1762125"/>
                        <a:ext cx="7239000" cy="388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11350" y="1060450"/>
            <a:ext cx="2448560" cy="1124510"/>
          </a:xfrm>
          <a:prstGeom prst="wedgeRoundRectCallout">
            <a:avLst>
              <a:gd name="adj1" fmla="val 74144"/>
              <a:gd name="adj2" fmla="val 64236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在</a:t>
            </a:r>
            <a:r>
              <a:rPr lang="en-US" altLang="zh-CN" sz="200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Hadoop</a:t>
            </a: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集群上构建的数据仓库由多个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Hive</a:t>
            </a: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进行管理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66740" y="1910080"/>
            <a:ext cx="1802765" cy="783531"/>
          </a:xfrm>
          <a:prstGeom prst="wedgeRoundRectCallout">
            <a:avLst>
              <a:gd name="adj1" fmla="val 2800"/>
              <a:gd name="adj2" fmla="val 113021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zh-CN" alt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由</a:t>
            </a:r>
            <a:r>
              <a:rPr lang="en-US" altLang="zh-CN" sz="200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HAProxy</a:t>
            </a:r>
            <a:r>
              <a:rPr lang="zh-CN" alt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提供一个接口</a:t>
            </a:r>
            <a:endParaRPr lang="zh-CN" altLang="zh-CN" sz="200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39810" y="1464310"/>
            <a:ext cx="3085465" cy="1465132"/>
          </a:xfrm>
          <a:prstGeom prst="wedgeRoundRectCallout">
            <a:avLst>
              <a:gd name="adj1" fmla="val -62307"/>
              <a:gd name="adj2" fmla="val 81859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zh-CN" alt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由</a:t>
            </a:r>
            <a:r>
              <a:rPr lang="en-US" alt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Hive</a:t>
            </a:r>
            <a:r>
              <a:rPr lang="zh-CN" alt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处理后得到的各种数据信息，或存放在</a:t>
            </a:r>
            <a:r>
              <a:rPr lang="en-US" alt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MySQL</a:t>
            </a:r>
            <a:r>
              <a:rPr lang="zh-CN" alt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数据库中，或直接以报表的形式展现</a:t>
            </a:r>
            <a:endParaRPr lang="zh-CN" altLang="zh-CN" sz="200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7892" name="矩形 4"/>
          <p:cNvSpPr/>
          <p:nvPr/>
        </p:nvSpPr>
        <p:spPr>
          <a:xfrm>
            <a:off x="1221740" y="5074285"/>
            <a:ext cx="10132060" cy="1783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000" b="1" dirty="0">
                <a:latin typeface="Arial" panose="020B0604020202020204" pitchFamily="34" charset="0"/>
                <a:sym typeface="+mn-ea"/>
              </a:rPr>
              <a:t>Hive HA</a:t>
            </a:r>
            <a:r>
              <a:rPr lang="zh-CN" altLang="zh-CN" sz="2000" b="1" dirty="0">
                <a:latin typeface="Arial" panose="020B0604020202020204" pitchFamily="34" charset="0"/>
                <a:sym typeface="+mn-ea"/>
              </a:rPr>
              <a:t>原理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：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将若干个</a:t>
            </a:r>
            <a:r>
              <a:rPr lang="en-US" altLang="zh-CN" sz="2000" dirty="0">
                <a:latin typeface="Arial" panose="020B0604020202020204" pitchFamily="34" charset="0"/>
              </a:rPr>
              <a:t>hive </a:t>
            </a:r>
            <a:r>
              <a:rPr lang="zh-CN" altLang="zh-CN" sz="2000" dirty="0">
                <a:latin typeface="Arial" panose="020B0604020202020204" pitchFamily="34" charset="0"/>
              </a:rPr>
              <a:t>实例纳入一个资源池，然后对外提供一个</a:t>
            </a:r>
            <a:r>
              <a:rPr lang="zh-CN" altLang="zh-CN" sz="2000" dirty="0">
                <a:highlight>
                  <a:srgbClr val="FFFF00"/>
                </a:highlight>
                <a:latin typeface="Arial" panose="020B0604020202020204" pitchFamily="34" charset="0"/>
              </a:rPr>
              <a:t>唯一</a:t>
            </a:r>
            <a:r>
              <a:rPr lang="zh-CN" altLang="zh-CN" sz="2000" dirty="0">
                <a:latin typeface="Arial" panose="020B0604020202020204" pitchFamily="34" charset="0"/>
              </a:rPr>
              <a:t>的接口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每次它接收到一个</a:t>
            </a:r>
            <a:r>
              <a:rPr lang="en-US" altLang="zh-CN" sz="2000" dirty="0">
                <a:latin typeface="Arial" panose="020B0604020202020204" pitchFamily="34" charset="0"/>
              </a:rPr>
              <a:t>HIVE</a:t>
            </a:r>
            <a:r>
              <a:rPr lang="zh-CN" altLang="zh-CN" sz="2000" dirty="0">
                <a:latin typeface="Arial" panose="020B0604020202020204" pitchFamily="34" charset="0"/>
              </a:rPr>
              <a:t>查询连接后，都会</a:t>
            </a:r>
            <a:r>
              <a:rPr lang="zh-CN" altLang="zh-CN" sz="2000" dirty="0">
                <a:highlight>
                  <a:srgbClr val="FFFF00"/>
                </a:highlight>
                <a:latin typeface="Arial" panose="020B0604020202020204" pitchFamily="34" charset="0"/>
              </a:rPr>
              <a:t>轮询</a:t>
            </a:r>
            <a:r>
              <a:rPr lang="zh-CN" altLang="zh-CN" sz="2000" dirty="0">
                <a:latin typeface="Arial" panose="020B0604020202020204" pitchFamily="34" charset="0"/>
              </a:rPr>
              <a:t>资源池里可用的</a:t>
            </a:r>
            <a:r>
              <a:rPr lang="en-US" altLang="zh-CN" sz="2000" dirty="0">
                <a:latin typeface="Arial" panose="020B0604020202020204" pitchFamily="34" charset="0"/>
              </a:rPr>
              <a:t>hive </a:t>
            </a:r>
            <a:r>
              <a:rPr lang="zh-CN" altLang="zh-CN" sz="2000" dirty="0">
                <a:latin typeface="Arial" panose="020B0604020202020204" pitchFamily="34" charset="0"/>
              </a:rPr>
              <a:t>资源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不可用则加入黑名单，每隔一段时间尝试重启，成功则</a:t>
            </a:r>
            <a:r>
              <a:rPr lang="zh-CN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放回</a:t>
            </a:r>
            <a:r>
              <a:rPr lang="zh-CN" altLang="en-US" sz="2000" dirty="0">
                <a:latin typeface="Arial" panose="020B0604020202020204" pitchFamily="34" charset="0"/>
              </a:rPr>
              <a:t>资源池</a:t>
            </a:r>
          </a:p>
        </p:txBody>
      </p:sp>
      <p:sp>
        <p:nvSpPr>
          <p:cNvPr id="5" name="矩形 4"/>
          <p:cNvSpPr/>
          <p:nvPr/>
        </p:nvSpPr>
        <p:spPr>
          <a:xfrm>
            <a:off x="4504055" y="2058035"/>
            <a:ext cx="2645410" cy="29330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solidFill>
                  <a:schemeClr val="tx1"/>
                </a:solidFill>
              </a:rPr>
              <a:t>Hive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3" grpId="0" bldLvl="0" animBg="1"/>
      <p:bldP spid="3" grpId="1" animBg="1"/>
      <p:bldP spid="4" grpId="0" bldLvl="0" animBg="1"/>
      <p:bldP spid="4" grpId="1" animBg="1"/>
      <p:bldP spid="37892" grpId="0"/>
      <p:bldP spid="37892" grpId="1"/>
      <p:bldP spid="5" grpId="0" bldLvl="0" animBg="1"/>
      <p:bldP spid="5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9.5.2 Impala</a:t>
            </a:r>
            <a:r>
              <a:rPr lang="zh-CN" altLang="en-US" b="1" dirty="0"/>
              <a:t>系统架构</a:t>
            </a:r>
          </a:p>
        </p:txBody>
      </p:sp>
      <p:sp>
        <p:nvSpPr>
          <p:cNvPr id="40963" name="Rectangle 5"/>
          <p:cNvSpPr/>
          <p:nvPr/>
        </p:nvSpPr>
        <p:spPr>
          <a:xfrm>
            <a:off x="1524000" y="219868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2825" y="4895215"/>
            <a:ext cx="10563225" cy="13220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Impalad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Impala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的一个进程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负责协调客户端提交的查询的执行，给其他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impalad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分配任务以及收集其他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impalad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的执行结果进行汇总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执行其他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impalad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给其分配的任务，主要就是对本地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HDFS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HBase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里的部分数据进行操作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12825" y="2341245"/>
            <a:ext cx="2673350" cy="13220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3.  CLI</a:t>
            </a: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给用户提供查询使用的命令行工具，提供了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Hue</a:t>
            </a: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JDBC</a:t>
            </a: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及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ODBC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</a:t>
            </a: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使用接口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374265" y="1542415"/>
            <a:ext cx="7230110" cy="4603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Impala</a:t>
            </a: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主要由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Impalad</a:t>
            </a: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State Store</a:t>
            </a: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CLI</a:t>
            </a: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三部分组成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29680" y="2372360"/>
            <a:ext cx="5246370" cy="17068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2.  State Store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负责收集分布在集群中各个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Impalad</a:t>
            </a: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进程的资源信息，用于查询的调度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跟踪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Impalad</a:t>
            </a: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健康及位置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处理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Impalad</a:t>
            </a:r>
            <a:r>
              <a:rPr lang="zh-CN" altLang="zh-CN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的注册订阅和保持心跳连接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处理离线与恢复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3" grpId="0" bldLvl="0" animBg="1"/>
      <p:bldP spid="3" grpId="1" animBg="1"/>
      <p:bldP spid="5" grpId="0" bldLvl="0" animBg="1"/>
      <p:bldP spid="5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29699" name="TextBox 3"/>
          <p:cNvSpPr txBox="1"/>
          <p:nvPr/>
        </p:nvSpPr>
        <p:spPr>
          <a:xfrm>
            <a:off x="1038225" y="1322705"/>
            <a:ext cx="34417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</a:rPr>
              <a:t>RDD</a:t>
            </a:r>
            <a:r>
              <a:rPr lang="zh-CN" altLang="en-US" sz="2800" b="1" dirty="0">
                <a:latin typeface="Arial" panose="020B0604020202020204" pitchFamily="34" charset="0"/>
              </a:rPr>
              <a:t>的典型执行过程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3780155" y="2827020"/>
            <a:ext cx="1356360" cy="6553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RDD</a:t>
            </a:r>
          </a:p>
        </p:txBody>
      </p:sp>
      <p:sp>
        <p:nvSpPr>
          <p:cNvPr id="4" name="流程图: 决策 3"/>
          <p:cNvSpPr/>
          <p:nvPr/>
        </p:nvSpPr>
        <p:spPr>
          <a:xfrm>
            <a:off x="1298575" y="4198620"/>
            <a:ext cx="1892300" cy="1153795"/>
          </a:xfrm>
          <a:prstGeom prst="flowChartDecisi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转换</a:t>
            </a:r>
          </a:p>
        </p:txBody>
      </p:sp>
      <p:sp>
        <p:nvSpPr>
          <p:cNvPr id="5" name="流程图: 决策 4"/>
          <p:cNvSpPr/>
          <p:nvPr/>
        </p:nvSpPr>
        <p:spPr>
          <a:xfrm>
            <a:off x="6722745" y="4084320"/>
            <a:ext cx="1892300" cy="1153795"/>
          </a:xfrm>
          <a:prstGeom prst="flowChartDecisi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行动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9779000" y="4339590"/>
            <a:ext cx="1356360" cy="6553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值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928745" y="3334385"/>
            <a:ext cx="1356360" cy="6553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/>
              <a:t>...</a:t>
            </a:r>
          </a:p>
        </p:txBody>
      </p:sp>
      <p:sp>
        <p:nvSpPr>
          <p:cNvPr id="8" name="下弧形箭头 7"/>
          <p:cNvSpPr/>
          <p:nvPr/>
        </p:nvSpPr>
        <p:spPr>
          <a:xfrm>
            <a:off x="2027555" y="5088890"/>
            <a:ext cx="3194685" cy="1379855"/>
          </a:xfrm>
          <a:prstGeom prst="curvedUpArrow">
            <a:avLst>
              <a:gd name="adj1" fmla="val 25000"/>
              <a:gd name="adj2" fmla="val 3587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圆角右箭头 9"/>
          <p:cNvSpPr/>
          <p:nvPr/>
        </p:nvSpPr>
        <p:spPr>
          <a:xfrm rot="16200000" flipH="1">
            <a:off x="2312035" y="3031490"/>
            <a:ext cx="1023620" cy="1592580"/>
          </a:xfrm>
          <a:prstGeom prst="bentArrow">
            <a:avLst>
              <a:gd name="adj1" fmla="val 10791"/>
              <a:gd name="adj2" fmla="val 18901"/>
              <a:gd name="adj3" fmla="val 22924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圆柱形 10"/>
          <p:cNvSpPr/>
          <p:nvPr/>
        </p:nvSpPr>
        <p:spPr>
          <a:xfrm>
            <a:off x="401955" y="2107565"/>
            <a:ext cx="1866265" cy="1166495"/>
          </a:xfrm>
          <a:prstGeom prst="ca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数据源</a:t>
            </a:r>
          </a:p>
        </p:txBody>
      </p:sp>
      <p:cxnSp>
        <p:nvCxnSpPr>
          <p:cNvPr id="12" name="直接箭头连接符 11"/>
          <p:cNvCxnSpPr>
            <a:stCxn id="11" idx="4"/>
          </p:cNvCxnSpPr>
          <p:nvPr/>
        </p:nvCxnSpPr>
        <p:spPr>
          <a:xfrm>
            <a:off x="2268220" y="2691130"/>
            <a:ext cx="1605915" cy="46863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>
            <p:custDataLst>
              <p:tags r:id="rId1"/>
            </p:custDataLst>
          </p:nvPr>
        </p:nvSpPr>
        <p:spPr>
          <a:xfrm>
            <a:off x="4130040" y="3799840"/>
            <a:ext cx="1356360" cy="6553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ym typeface="+mn-ea"/>
              </a:rPr>
              <a:t>...</a:t>
            </a:r>
            <a:endParaRPr lang="en-US" altLang="zh-CN" sz="2800"/>
          </a:p>
        </p:txBody>
      </p:sp>
      <p:sp>
        <p:nvSpPr>
          <p:cNvPr id="14" name="圆角矩形 13"/>
          <p:cNvSpPr/>
          <p:nvPr>
            <p:custDataLst>
              <p:tags r:id="rId2"/>
            </p:custDataLst>
          </p:nvPr>
        </p:nvSpPr>
        <p:spPr>
          <a:xfrm>
            <a:off x="4278630" y="4307205"/>
            <a:ext cx="1356360" cy="6553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RDD</a:t>
            </a:r>
          </a:p>
        </p:txBody>
      </p:sp>
      <p:cxnSp>
        <p:nvCxnSpPr>
          <p:cNvPr id="15" name="直接箭头连接符 14"/>
          <p:cNvCxnSpPr>
            <a:stCxn id="14" idx="3"/>
            <a:endCxn id="5" idx="1"/>
          </p:cNvCxnSpPr>
          <p:nvPr/>
        </p:nvCxnSpPr>
        <p:spPr>
          <a:xfrm>
            <a:off x="5634990" y="4634865"/>
            <a:ext cx="1087755" cy="2667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5" idx="3"/>
            <a:endCxn id="6" idx="1"/>
          </p:cNvCxnSpPr>
          <p:nvPr>
            <p:custDataLst>
              <p:tags r:id="rId3"/>
            </p:custDataLst>
          </p:nvPr>
        </p:nvCxnSpPr>
        <p:spPr>
          <a:xfrm>
            <a:off x="8615045" y="4661535"/>
            <a:ext cx="1163955" cy="571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070340" y="2409825"/>
            <a:ext cx="1823720" cy="1533363"/>
          </a:xfrm>
          <a:prstGeom prst="wedgeRoundRectCallout">
            <a:avLst>
              <a:gd name="adj1" fmla="val -101984"/>
              <a:gd name="adj2" fmla="val 9357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800"/>
              <a:t>惰性调用</a:t>
            </a:r>
          </a:p>
          <a:p>
            <a:r>
              <a:rPr lang="zh-CN" altLang="en-US" sz="2800"/>
              <a:t>真正计算</a:t>
            </a:r>
          </a:p>
          <a:p>
            <a:r>
              <a:rPr lang="zh-CN" altLang="en-US" sz="2800"/>
              <a:t>只在行动</a:t>
            </a:r>
          </a:p>
        </p:txBody>
      </p:sp>
      <p:sp>
        <p:nvSpPr>
          <p:cNvPr id="19" name="矩形 18"/>
          <p:cNvSpPr/>
          <p:nvPr/>
        </p:nvSpPr>
        <p:spPr>
          <a:xfrm>
            <a:off x="3458210" y="2540635"/>
            <a:ext cx="2474595" cy="2657475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770880" y="1189990"/>
            <a:ext cx="3628390" cy="1056703"/>
          </a:xfrm>
          <a:prstGeom prst="wedgeRoundRectCallout">
            <a:avLst>
              <a:gd name="adj1" fmla="val -53885"/>
              <a:gd name="adj2" fmla="val 9993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800"/>
              <a:t>记录转换需要的数据集和</a:t>
            </a:r>
            <a:r>
              <a:rPr lang="en-US" altLang="zh-CN" sz="2800"/>
              <a:t>RDD</a:t>
            </a:r>
            <a:r>
              <a:rPr lang="zh-CN" altLang="en-US" sz="2800"/>
              <a:t>生成轨迹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 bldLvl="0" animBg="1"/>
      <p:bldP spid="4" grpId="1" animBg="1"/>
      <p:bldP spid="5" grpId="0" bldLvl="0" animBg="1"/>
      <p:bldP spid="5" grpId="1" animBg="1"/>
      <p:bldP spid="6" grpId="0" bldLvl="0" animBg="1"/>
      <p:bldP spid="6" grpId="1" animBg="1"/>
      <p:bldP spid="7" grpId="0" bldLvl="0" animBg="1"/>
      <p:bldP spid="7" grpId="1" animBg="1"/>
      <p:bldP spid="8" grpId="0" bldLvl="0" animBg="1"/>
      <p:bldP spid="8" grpId="1" animBg="1"/>
      <p:bldP spid="10" grpId="0" bldLvl="0" animBg="1"/>
      <p:bldP spid="10" grpId="1" animBg="1"/>
      <p:bldP spid="11" grpId="0" bldLvl="0" animBg="1"/>
      <p:bldP spid="11" grpId="1" animBg="1"/>
      <p:bldP spid="13" grpId="0" bldLvl="0" animBg="1"/>
      <p:bldP spid="13" grpId="1" animBg="1"/>
      <p:bldP spid="14" grpId="0" bldLvl="0" animBg="1"/>
      <p:bldP spid="14" grpId="1" animBg="1"/>
      <p:bldP spid="17" grpId="0" bldLvl="0" animBg="1"/>
      <p:bldP spid="17" grpId="1" animBg="1"/>
      <p:bldP spid="19" grpId="0" bldLvl="0" animBg="1"/>
      <p:bldP spid="19" grpId="1" animBg="1"/>
      <p:bldP spid="20" grpId="0" bldLvl="0" animBg="1"/>
      <p:bldP spid="20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33795" name="TextBox 6"/>
          <p:cNvSpPr txBox="1"/>
          <p:nvPr/>
        </p:nvSpPr>
        <p:spPr>
          <a:xfrm>
            <a:off x="954405" y="1383030"/>
            <a:ext cx="40652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</a:rPr>
              <a:t>4. RDD</a:t>
            </a:r>
            <a:r>
              <a:rPr lang="zh-CN" altLang="zh-CN" sz="2800" b="1" dirty="0">
                <a:latin typeface="Arial" panose="020B0604020202020204" pitchFamily="34" charset="0"/>
              </a:rPr>
              <a:t>之间的依赖关系</a:t>
            </a:r>
          </a:p>
        </p:txBody>
      </p:sp>
      <p:sp>
        <p:nvSpPr>
          <p:cNvPr id="33796" name="TextBox 3"/>
          <p:cNvSpPr txBox="1"/>
          <p:nvPr/>
        </p:nvSpPr>
        <p:spPr>
          <a:xfrm>
            <a:off x="1129665" y="2032000"/>
            <a:ext cx="906018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中不同的操作会使不同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分区之间产生不同的依赖关系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DAG</a:t>
            </a:r>
            <a:r>
              <a:rPr lang="zh-CN" altLang="en-US" sz="2400" dirty="0">
                <a:latin typeface="Arial" panose="020B0604020202020204" pitchFamily="34" charset="0"/>
              </a:rPr>
              <a:t>调度器根据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之间的依赖关系，把</a:t>
            </a:r>
            <a:r>
              <a:rPr lang="en-US" altLang="zh-CN" sz="2400" dirty="0">
                <a:latin typeface="Arial" panose="020B0604020202020204" pitchFamily="34" charset="0"/>
              </a:rPr>
              <a:t>DAG</a:t>
            </a:r>
            <a:r>
              <a:rPr lang="zh-CN" altLang="en-US" sz="2400" dirty="0">
                <a:latin typeface="Arial" panose="020B0604020202020204" pitchFamily="34" charset="0"/>
              </a:rPr>
              <a:t>划分成若干个阶段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中的依赖关系分为：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窄依赖和宽依赖</a:t>
            </a:r>
            <a:endParaRPr lang="en-US" altLang="zh-CN" sz="2400" dirty="0"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lvl="1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是否包含</a:t>
            </a:r>
            <a:r>
              <a:rPr lang="en-US" altLang="zh-CN" sz="2400" dirty="0">
                <a:latin typeface="Arial" panose="020B0604020202020204" pitchFamily="34" charset="0"/>
              </a:rPr>
              <a:t>Shuffle</a:t>
            </a:r>
            <a:r>
              <a:rPr lang="zh-CN" altLang="en-US" sz="2400" dirty="0">
                <a:latin typeface="Arial" panose="020B0604020202020204" pitchFamily="34" charset="0"/>
              </a:rPr>
              <a:t>操作是区分窄依赖和宽依赖的根据</a:t>
            </a:r>
          </a:p>
          <a:p>
            <a:pPr lvl="1" algn="l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总之，父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的一个分区只被一个子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的一个分区使用，就是窄依赖；否则就是宽依赖。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3891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414588"/>
            <a:ext cx="6553200" cy="3986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7" name="TextBox 3"/>
          <p:cNvSpPr txBox="1"/>
          <p:nvPr>
            <p:custDataLst>
              <p:tags r:id="rId1"/>
            </p:custDataLst>
          </p:nvPr>
        </p:nvSpPr>
        <p:spPr>
          <a:xfrm>
            <a:off x="1047115" y="1291908"/>
            <a:ext cx="419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</a:rPr>
              <a:t>5.</a:t>
            </a:r>
            <a:r>
              <a:rPr lang="zh-CN" altLang="en-US" sz="2800" b="1" dirty="0">
                <a:latin typeface="Arial" panose="020B0604020202020204" pitchFamily="34" charset="0"/>
              </a:rPr>
              <a:t>阶段的划分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11.1.1 </a:t>
            </a:r>
            <a:r>
              <a:rPr lang="zh-CN" altLang="en-US" b="1" dirty="0"/>
              <a:t>静态数据和流数据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8200" y="1755140"/>
            <a:ext cx="9998075" cy="4225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/>
              <a:t>流数据具有如下特征：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400"/>
              <a:t>数据快速持续到达，潜在大小也许是无穷无尽的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400"/>
              <a:t>数据来源众多，格式复杂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400"/>
              <a:t>数据量大，但是不十分关注存储，一旦经过处理，要么被丢弃，要么被归档存储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400"/>
              <a:t>注重数据的整体价值，不过分关注个别数据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400"/>
              <a:t>数据顺序颠倒，或者不完整，系统无法控制将要处理的新到达的数据元素的顺序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marL="342900" indent="-342900"/>
            <a:r>
              <a:rPr lang="en-US" altLang="zh-CN" b="1" dirty="0"/>
              <a:t>11.4.3 Storm</a:t>
            </a:r>
            <a:r>
              <a:rPr lang="zh-CN" altLang="en-US" b="1" dirty="0"/>
              <a:t>设计思想</a:t>
            </a:r>
            <a:endParaRPr lang="zh-CN" altLang="zh-CN" b="1" dirty="0"/>
          </a:p>
        </p:txBody>
      </p:sp>
      <p:sp>
        <p:nvSpPr>
          <p:cNvPr id="33795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Storm</a:t>
            </a:r>
            <a:r>
              <a:rPr lang="zh-CN" altLang="zh-CN" dirty="0"/>
              <a:t>主要术语包括：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Streams</a:t>
            </a:r>
            <a:endParaRPr lang="zh-CN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Spouts</a:t>
            </a:r>
            <a:endParaRPr lang="zh-CN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Bolts</a:t>
            </a:r>
            <a:endParaRPr lang="zh-CN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Topology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Stream Groupings</a:t>
            </a:r>
          </a:p>
          <a:p>
            <a:endParaRPr lang="en-US" altLang="zh-CN" b="1" dirty="0"/>
          </a:p>
        </p:txBody>
      </p:sp>
      <p:grpSp>
        <p:nvGrpSpPr>
          <p:cNvPr id="36869" name="组合 12"/>
          <p:cNvGrpSpPr/>
          <p:nvPr/>
        </p:nvGrpSpPr>
        <p:grpSpPr>
          <a:xfrm>
            <a:off x="7497445" y="1007110"/>
            <a:ext cx="3650317" cy="3046968"/>
            <a:chOff x="5156205" y="3657600"/>
            <a:chExt cx="3649911" cy="3046968"/>
          </a:xfrm>
        </p:grpSpPr>
        <p:pic>
          <p:nvPicPr>
            <p:cNvPr id="36870" name="Picture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181600" y="3657600"/>
              <a:ext cx="3624263" cy="28194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71" name="TextBox 5"/>
            <p:cNvSpPr txBox="1"/>
            <p:nvPr>
              <p:custDataLst>
                <p:tags r:id="rId3"/>
              </p:custDataLst>
            </p:nvPr>
          </p:nvSpPr>
          <p:spPr>
            <a:xfrm>
              <a:off x="5156205" y="4953000"/>
              <a:ext cx="779693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Spout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872" name="TextBox 6"/>
            <p:cNvSpPr txBox="1"/>
            <p:nvPr>
              <p:custDataLst>
                <p:tags r:id="rId4"/>
              </p:custDataLst>
            </p:nvPr>
          </p:nvSpPr>
          <p:spPr>
            <a:xfrm>
              <a:off x="5156205" y="5879068"/>
              <a:ext cx="779693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Spout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873" name="TextBox 7"/>
            <p:cNvSpPr txBox="1"/>
            <p:nvPr>
              <p:custDataLst>
                <p:tags r:id="rId5"/>
              </p:custDataLst>
            </p:nvPr>
          </p:nvSpPr>
          <p:spPr>
            <a:xfrm>
              <a:off x="6732989" y="4572000"/>
              <a:ext cx="576516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Bolt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874" name="TextBox 8"/>
            <p:cNvSpPr txBox="1"/>
            <p:nvPr>
              <p:custDataLst>
                <p:tags r:id="rId6"/>
              </p:custDataLst>
            </p:nvPr>
          </p:nvSpPr>
          <p:spPr>
            <a:xfrm>
              <a:off x="6761564" y="5421868"/>
              <a:ext cx="576516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Bolt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875" name="TextBox 9"/>
            <p:cNvSpPr txBox="1"/>
            <p:nvPr>
              <p:custDataLst>
                <p:tags r:id="rId7"/>
              </p:custDataLst>
            </p:nvPr>
          </p:nvSpPr>
          <p:spPr>
            <a:xfrm>
              <a:off x="6732989" y="6324600"/>
              <a:ext cx="576516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Bolt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876" name="TextBox 10"/>
            <p:cNvSpPr txBox="1"/>
            <p:nvPr>
              <p:custDataLst>
                <p:tags r:id="rId8"/>
              </p:custDataLst>
            </p:nvPr>
          </p:nvSpPr>
          <p:spPr>
            <a:xfrm>
              <a:off x="8229600" y="5029200"/>
              <a:ext cx="576516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Bolt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877" name="TextBox 11"/>
            <p:cNvSpPr txBox="1"/>
            <p:nvPr>
              <p:custDataLst>
                <p:tags r:id="rId9"/>
              </p:custDataLst>
            </p:nvPr>
          </p:nvSpPr>
          <p:spPr>
            <a:xfrm>
              <a:off x="8229600" y="6336268"/>
              <a:ext cx="576516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Bolt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pic>
        <p:nvPicPr>
          <p:cNvPr id="37892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318000" y="4194810"/>
            <a:ext cx="4077335" cy="2651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marL="342900" indent="-342900"/>
            <a:r>
              <a:rPr lang="en-US" altLang="zh-CN" b="1" dirty="0"/>
              <a:t>11.4.3 Storm</a:t>
            </a:r>
            <a:r>
              <a:rPr lang="zh-CN" altLang="en-US" b="1" dirty="0"/>
              <a:t>设计思想</a:t>
            </a:r>
            <a:endParaRPr lang="zh-CN" altLang="zh-CN" b="1" dirty="0"/>
          </a:p>
        </p:txBody>
      </p:sp>
      <p:sp>
        <p:nvSpPr>
          <p:cNvPr id="38915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zh-CN" sz="2400" dirty="0"/>
              <a:t>目前，</a:t>
            </a:r>
            <a:r>
              <a:rPr lang="en-US" altLang="zh-CN" sz="2400" dirty="0"/>
              <a:t>Storm</a:t>
            </a:r>
            <a:r>
              <a:rPr lang="zh-CN" altLang="zh-CN" sz="2400" dirty="0"/>
              <a:t>中的</a:t>
            </a:r>
            <a:r>
              <a:rPr lang="en-US" altLang="zh-CN" sz="2400" dirty="0">
                <a:highlight>
                  <a:srgbClr val="FFFF00"/>
                </a:highlight>
              </a:rPr>
              <a:t>Stream Groupings</a:t>
            </a:r>
            <a:r>
              <a:rPr lang="zh-CN" altLang="zh-CN" sz="2400" dirty="0"/>
              <a:t>有如下</a:t>
            </a:r>
            <a:r>
              <a:rPr lang="en-US" altLang="zh-CN" sz="2400" dirty="0"/>
              <a:t>6</a:t>
            </a:r>
            <a:r>
              <a:rPr lang="zh-CN" altLang="zh-CN" sz="2400" dirty="0"/>
              <a:t>种方式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>
              <a:lnSpc>
                <a:spcPct val="110000"/>
              </a:lnSpc>
              <a:buNone/>
            </a:pPr>
            <a:r>
              <a:rPr lang="en-US" altLang="zh-CN" sz="2400" dirty="0"/>
              <a:t>(1)ShuffleGrouping</a:t>
            </a:r>
            <a:r>
              <a:rPr lang="zh-CN" altLang="en-US" sz="2400" dirty="0"/>
              <a:t>：随机分组，随机分发</a:t>
            </a:r>
            <a:r>
              <a:rPr lang="en-US" altLang="zh-CN" sz="2400" dirty="0"/>
              <a:t>Stream</a:t>
            </a:r>
            <a:r>
              <a:rPr lang="zh-CN" altLang="en-US" sz="2400" dirty="0"/>
              <a:t>中的</a:t>
            </a:r>
            <a:r>
              <a:rPr lang="en-US" altLang="zh-CN" sz="2400" dirty="0"/>
              <a:t>Tuple</a:t>
            </a:r>
            <a:r>
              <a:rPr lang="zh-CN" altLang="en-US" sz="2400" dirty="0"/>
              <a:t>，保证每个</a:t>
            </a:r>
            <a:r>
              <a:rPr lang="en-US" altLang="zh-CN" sz="2400" dirty="0"/>
              <a:t>Bolt</a:t>
            </a:r>
            <a:r>
              <a:rPr lang="zh-CN" altLang="en-US" sz="2400" dirty="0"/>
              <a:t>的</a:t>
            </a:r>
            <a:r>
              <a:rPr lang="en-US" altLang="zh-CN" sz="2400" dirty="0"/>
              <a:t>Task</a:t>
            </a:r>
            <a:r>
              <a:rPr lang="zh-CN" altLang="en-US" sz="2400" dirty="0"/>
              <a:t>接收</a:t>
            </a:r>
            <a:r>
              <a:rPr lang="en-US" altLang="zh-CN" sz="2400" dirty="0"/>
              <a:t>Tuple</a:t>
            </a:r>
            <a:r>
              <a:rPr lang="zh-CN" altLang="en-US" sz="2400" dirty="0"/>
              <a:t>数量大致一致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/>
              <a:t>(2)FieldsGrouping</a:t>
            </a:r>
            <a:r>
              <a:rPr lang="zh-CN" altLang="en-US" sz="2400" dirty="0"/>
              <a:t>：按照字段分组，保证相同字段的</a:t>
            </a:r>
            <a:r>
              <a:rPr lang="en-US" altLang="zh-CN" sz="2400" dirty="0"/>
              <a:t>Tuple</a:t>
            </a:r>
            <a:r>
              <a:rPr lang="zh-CN" altLang="en-US" sz="2400" dirty="0"/>
              <a:t>分配到同一个</a:t>
            </a:r>
            <a:r>
              <a:rPr lang="en-US" altLang="zh-CN" sz="2400" dirty="0"/>
              <a:t>Task</a:t>
            </a:r>
            <a:r>
              <a:rPr lang="zh-CN" altLang="en-US" sz="2400" dirty="0"/>
              <a:t>中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/>
              <a:t>(3)AllGrouping</a:t>
            </a:r>
            <a:r>
              <a:rPr lang="zh-CN" altLang="en-US" sz="2400" dirty="0"/>
              <a:t>：广播发送，每一个</a:t>
            </a:r>
            <a:r>
              <a:rPr lang="en-US" altLang="zh-CN" sz="2400" dirty="0"/>
              <a:t>Task</a:t>
            </a:r>
            <a:r>
              <a:rPr lang="zh-CN" altLang="en-US" sz="2400" dirty="0"/>
              <a:t>都会收到所有的</a:t>
            </a:r>
            <a:r>
              <a:rPr lang="en-US" altLang="zh-CN" sz="2400" dirty="0"/>
              <a:t>Tuple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/>
              <a:t>(4)GlobalGrouping</a:t>
            </a:r>
            <a:r>
              <a:rPr lang="zh-CN" altLang="en-US" sz="2400" dirty="0"/>
              <a:t>：全局分组，所有的</a:t>
            </a:r>
            <a:r>
              <a:rPr lang="en-US" altLang="zh-CN" sz="2400" dirty="0"/>
              <a:t>Tuple</a:t>
            </a:r>
            <a:r>
              <a:rPr lang="zh-CN" altLang="en-US" sz="2400" dirty="0"/>
              <a:t>都发送到同一个</a:t>
            </a:r>
            <a:r>
              <a:rPr lang="en-US" altLang="zh-CN" sz="2400" dirty="0"/>
              <a:t>Task</a:t>
            </a:r>
            <a:r>
              <a:rPr lang="zh-CN" altLang="en-US" sz="2400" dirty="0"/>
              <a:t>中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/>
              <a:t>(5)NonGrouping</a:t>
            </a:r>
            <a:r>
              <a:rPr lang="zh-CN" altLang="en-US" sz="2400" dirty="0"/>
              <a:t>：不分组，和</a:t>
            </a:r>
            <a:r>
              <a:rPr lang="en-US" altLang="zh-CN" sz="2400" dirty="0"/>
              <a:t>ShuffleGrouping</a:t>
            </a:r>
            <a:r>
              <a:rPr lang="zh-CN" altLang="en-US" sz="2400" dirty="0"/>
              <a:t>类似，当前</a:t>
            </a:r>
            <a:r>
              <a:rPr lang="en-US" altLang="zh-CN" sz="2400" dirty="0"/>
              <a:t>Task</a:t>
            </a:r>
            <a:r>
              <a:rPr lang="zh-CN" altLang="en-US" sz="2400" dirty="0"/>
              <a:t>的执行会和它的被订阅者在同一个线程中执行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/>
              <a:t>(6)DirectGrouping</a:t>
            </a:r>
            <a:r>
              <a:rPr lang="zh-CN" altLang="en-US" sz="2400" dirty="0"/>
              <a:t>：直接分组，直接指定由某个</a:t>
            </a:r>
            <a:r>
              <a:rPr lang="en-US" altLang="zh-CN" sz="2400" dirty="0"/>
              <a:t>Task</a:t>
            </a:r>
            <a:r>
              <a:rPr lang="zh-CN" altLang="en-US" sz="2400" dirty="0"/>
              <a:t>来执行</a:t>
            </a:r>
            <a:r>
              <a:rPr lang="en-US" altLang="zh-CN" sz="2400" dirty="0"/>
              <a:t>Tuple</a:t>
            </a:r>
            <a:r>
              <a:rPr lang="zh-CN" altLang="en-US" sz="2400" dirty="0"/>
              <a:t>的处理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marL="342900" indent="-342900"/>
            <a:r>
              <a:rPr lang="en-US" altLang="zh-CN" b="1" dirty="0"/>
              <a:t>11.4.4 Storm</a:t>
            </a:r>
            <a:r>
              <a:rPr lang="zh-CN" altLang="zh-CN" b="1" dirty="0"/>
              <a:t>框架设计</a:t>
            </a:r>
          </a:p>
        </p:txBody>
      </p:sp>
      <p:sp>
        <p:nvSpPr>
          <p:cNvPr id="41988" name="文本框 5"/>
          <p:cNvSpPr txBox="1"/>
          <p:nvPr/>
        </p:nvSpPr>
        <p:spPr>
          <a:xfrm>
            <a:off x="6749257" y="5969000"/>
            <a:ext cx="2519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</a:rPr>
              <a:t>Storm</a:t>
            </a:r>
            <a:r>
              <a:rPr lang="zh-CN" altLang="en-US" sz="2400" dirty="0">
                <a:latin typeface="Arial" panose="020B0604020202020204" pitchFamily="34" charset="0"/>
              </a:rPr>
              <a:t>集群架框架</a:t>
            </a:r>
          </a:p>
        </p:txBody>
      </p:sp>
      <p:pic>
        <p:nvPicPr>
          <p:cNvPr id="41989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185" y="2447925"/>
            <a:ext cx="5692775" cy="344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962025" y="3210560"/>
            <a:ext cx="3895725" cy="2601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ym typeface="+mn-ea"/>
              </a:rPr>
              <a:t>借助于</a:t>
            </a:r>
            <a:r>
              <a:rPr lang="en-US" altLang="zh-CN" sz="2400" dirty="0">
                <a:sym typeface="+mn-ea"/>
              </a:rPr>
              <a:t>Zookeeper</a:t>
            </a:r>
            <a:r>
              <a:rPr lang="zh-CN" altLang="en-US" sz="2400" dirty="0">
                <a:sym typeface="+mn-ea"/>
              </a:rPr>
              <a:t>，若</a:t>
            </a:r>
            <a:r>
              <a:rPr lang="en-US" altLang="zh-CN" sz="2400" dirty="0">
                <a:sym typeface="+mn-ea"/>
              </a:rPr>
              <a:t>Nimbus</a:t>
            </a:r>
            <a:r>
              <a:rPr lang="zh-CN" altLang="zh-CN" sz="2400" dirty="0">
                <a:sym typeface="+mn-ea"/>
              </a:rPr>
              <a:t>进程或</a:t>
            </a:r>
            <a:r>
              <a:rPr lang="en-US" altLang="zh-CN" sz="2400" dirty="0">
                <a:sym typeface="+mn-ea"/>
              </a:rPr>
              <a:t>Supervisor</a:t>
            </a:r>
            <a:r>
              <a:rPr lang="zh-CN" altLang="zh-CN" sz="2400" dirty="0">
                <a:sym typeface="+mn-ea"/>
              </a:rPr>
              <a:t>进程</a:t>
            </a:r>
            <a:r>
              <a:rPr lang="zh-CN" altLang="en-US" sz="2400" dirty="0">
                <a:sym typeface="+mn-ea"/>
              </a:rPr>
              <a:t>意外</a:t>
            </a:r>
            <a:r>
              <a:rPr lang="zh-CN" altLang="zh-CN" sz="2400" dirty="0">
                <a:sym typeface="+mn-ea"/>
              </a:rPr>
              <a:t>终止，</a:t>
            </a:r>
            <a:r>
              <a:rPr lang="zh-CN" altLang="en-US" sz="2400" dirty="0">
                <a:sym typeface="+mn-ea"/>
              </a:rPr>
              <a:t>重启时也能读取、</a:t>
            </a:r>
            <a:r>
              <a:rPr lang="zh-CN" altLang="zh-CN" sz="2400" dirty="0">
                <a:sym typeface="+mn-ea"/>
              </a:rPr>
              <a:t>恢复之前的状态并继续工作</a:t>
            </a:r>
            <a:r>
              <a:rPr lang="zh-CN" altLang="en-US" sz="2400" dirty="0">
                <a:sym typeface="+mn-ea"/>
              </a:rPr>
              <a:t>，</a:t>
            </a:r>
            <a:r>
              <a:rPr lang="zh-CN" altLang="zh-CN" sz="2400" dirty="0">
                <a:sym typeface="+mn-ea"/>
              </a:rPr>
              <a:t>使得</a:t>
            </a:r>
            <a:r>
              <a:rPr lang="en-US" altLang="zh-CN" sz="2400" dirty="0">
                <a:sym typeface="+mn-ea"/>
              </a:rPr>
              <a:t>Storm</a:t>
            </a:r>
            <a:r>
              <a:rPr lang="zh-CN" altLang="zh-CN" sz="2400" dirty="0">
                <a:sym typeface="+mn-ea"/>
              </a:rPr>
              <a:t>极其稳定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62025" y="1630680"/>
            <a:ext cx="989457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altLang="zh-CN" sz="2400" dirty="0">
                <a:sym typeface="+mn-ea"/>
              </a:rPr>
              <a:t>Storm</a:t>
            </a:r>
            <a:r>
              <a:rPr lang="zh-CN" altLang="en-US" sz="2400" dirty="0">
                <a:sym typeface="+mn-ea"/>
              </a:rPr>
              <a:t>使用</a:t>
            </a:r>
            <a:r>
              <a:rPr lang="en-US" altLang="zh-CN" sz="2400" dirty="0">
                <a:sym typeface="+mn-ea"/>
              </a:rPr>
              <a:t>Zookeeper</a:t>
            </a:r>
            <a:r>
              <a:rPr lang="zh-CN" altLang="zh-CN" sz="2400" dirty="0">
                <a:sym typeface="+mn-ea"/>
              </a:rPr>
              <a:t>来作为分布式协调组件，负责</a:t>
            </a:r>
            <a:r>
              <a:rPr lang="en-US" altLang="zh-CN" sz="2400" dirty="0">
                <a:sym typeface="+mn-ea"/>
              </a:rPr>
              <a:t>Nimbus</a:t>
            </a:r>
            <a:r>
              <a:rPr lang="zh-CN" altLang="zh-CN" sz="2400" dirty="0">
                <a:sym typeface="+mn-ea"/>
              </a:rPr>
              <a:t>和多个</a:t>
            </a:r>
            <a:r>
              <a:rPr lang="en-US" altLang="zh-CN" sz="2400" dirty="0">
                <a:sym typeface="+mn-ea"/>
              </a:rPr>
              <a:t>Supervisor</a:t>
            </a:r>
            <a:r>
              <a:rPr lang="zh-CN" altLang="zh-CN" sz="2400" dirty="0">
                <a:sym typeface="+mn-ea"/>
              </a:rPr>
              <a:t>之间的所有协调工作</a:t>
            </a:r>
            <a:r>
              <a:rPr lang="zh-CN" altLang="en-US" sz="2400" dirty="0"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12.2.3 </a:t>
            </a:r>
            <a:r>
              <a:rPr lang="zh-CN" altLang="zh-CN" b="1" dirty="0"/>
              <a:t>流处理架构</a:t>
            </a:r>
            <a:endParaRPr lang="zh-CN" altLang="en-US" b="1" dirty="0"/>
          </a:p>
        </p:txBody>
      </p:sp>
      <p:sp>
        <p:nvSpPr>
          <p:cNvPr id="13315" name="矩形 2"/>
          <p:cNvSpPr/>
          <p:nvPr/>
        </p:nvSpPr>
        <p:spPr>
          <a:xfrm>
            <a:off x="720090" y="1799590"/>
            <a:ext cx="10751820" cy="33870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zh-CN" sz="2400" dirty="0">
                <a:latin typeface="Arial" panose="020B0604020202020204" pitchFamily="34" charset="0"/>
              </a:rPr>
              <a:t>流处理架构正在逐步取代传统数据处理架构和</a:t>
            </a:r>
            <a:r>
              <a:rPr lang="en-US" altLang="zh-CN" sz="2400" dirty="0">
                <a:latin typeface="Arial" panose="020B0604020202020204" pitchFamily="34" charset="0"/>
              </a:rPr>
              <a:t>Lambda</a:t>
            </a:r>
            <a:r>
              <a:rPr lang="zh-CN" altLang="zh-CN" sz="2400" dirty="0">
                <a:latin typeface="Arial" panose="020B0604020202020204" pitchFamily="34" charset="0"/>
              </a:rPr>
              <a:t>架构，成为大数据处理架构的一种新趋势。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highlight>
                  <a:srgbClr val="FFFF00"/>
                </a:highlight>
                <a:latin typeface="Arial" panose="020B0604020202020204" pitchFamily="34" charset="0"/>
              </a:rPr>
              <a:t>去中心化</a:t>
            </a:r>
            <a:r>
              <a:rPr lang="zh-CN" altLang="zh-CN" sz="2400" dirty="0">
                <a:latin typeface="Arial" panose="020B0604020202020204" pitchFamily="34" charset="0"/>
              </a:rPr>
              <a:t>：采用消息队列取代</a:t>
            </a:r>
            <a:r>
              <a:rPr lang="en-US" altLang="zh-CN" sz="2400" dirty="0">
                <a:latin typeface="Arial" panose="020B0604020202020204" pitchFamily="34" charset="0"/>
              </a:rPr>
              <a:t>Lambda</a:t>
            </a:r>
            <a:r>
              <a:rPr lang="zh-CN" altLang="en-US" sz="2400" dirty="0">
                <a:latin typeface="Arial" panose="020B0604020202020204" pitchFamily="34" charset="0"/>
              </a:rPr>
              <a:t>架构中的</a:t>
            </a:r>
            <a:r>
              <a:rPr lang="zh-CN" altLang="zh-CN" sz="2400" dirty="0">
                <a:latin typeface="Arial" panose="020B0604020202020204" pitchFamily="34" charset="0"/>
              </a:rPr>
              <a:t>大型集中式数据库，避免了传统数据处理架构中的“数据库不堪重负”的问题。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highlight>
                  <a:srgbClr val="FFFF00"/>
                </a:highlight>
                <a:latin typeface="Arial" panose="020B0604020202020204" pitchFamily="34" charset="0"/>
              </a:rPr>
              <a:t>统一处理</a:t>
            </a:r>
            <a:r>
              <a:rPr lang="zh-CN" altLang="zh-CN" sz="2400" dirty="0">
                <a:latin typeface="Arial" panose="020B0604020202020204" pitchFamily="34" charset="0"/>
              </a:rPr>
              <a:t>：将</a:t>
            </a:r>
            <a:r>
              <a:rPr lang="en-US" altLang="zh-CN" sz="2400" dirty="0">
                <a:latin typeface="Arial" panose="020B0604020202020204" pitchFamily="34" charset="0"/>
              </a:rPr>
              <a:t>Lambda</a:t>
            </a:r>
            <a:r>
              <a:rPr lang="zh-CN" altLang="en-US" sz="2400" dirty="0">
                <a:latin typeface="Arial" panose="020B0604020202020204" pitchFamily="34" charset="0"/>
              </a:rPr>
              <a:t>架构中的两个层（批处理层和流处理层）并做一个，</a:t>
            </a:r>
            <a:r>
              <a:rPr lang="zh-CN" altLang="zh-CN" sz="2400" dirty="0">
                <a:latin typeface="Arial" panose="020B0604020202020204" pitchFamily="34" charset="0"/>
              </a:rPr>
              <a:t>避免了</a:t>
            </a:r>
            <a:r>
              <a:rPr lang="en-US" altLang="zh-CN" sz="2400" dirty="0">
                <a:latin typeface="Arial" panose="020B0604020202020204" pitchFamily="34" charset="0"/>
              </a:rPr>
              <a:t>Lambda</a:t>
            </a:r>
            <a:r>
              <a:rPr lang="zh-CN" altLang="zh-CN" sz="2400" dirty="0">
                <a:latin typeface="Arial" panose="020B0604020202020204" pitchFamily="34" charset="0"/>
              </a:rPr>
              <a:t>架构中存在的“多个框架难管理”的问题。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8.</a:t>
            </a:r>
            <a:r>
              <a:rPr lang="zh-CN" altLang="zh-CN" b="1" dirty="0"/>
              <a:t>3.6 YARN</a:t>
            </a:r>
            <a:r>
              <a:rPr lang="zh-CN" altLang="en-US" b="1" dirty="0"/>
              <a:t>的发展目标</a:t>
            </a:r>
            <a:endParaRPr lang="zh-CN" altLang="en-US" dirty="0"/>
          </a:p>
        </p:txBody>
      </p:sp>
      <p:sp>
        <p:nvSpPr>
          <p:cNvPr id="29699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9700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689033"/>
            <a:ext cx="7315200" cy="2693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1" name="Rectangle 3"/>
          <p:cNvSpPr/>
          <p:nvPr/>
        </p:nvSpPr>
        <p:spPr>
          <a:xfrm>
            <a:off x="3581400" y="6459062"/>
            <a:ext cx="4648200" cy="39878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 eaLnBrk="0" hangingPunct="0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上部署各种计算框架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29702" name="矩形 5"/>
          <p:cNvSpPr/>
          <p:nvPr/>
        </p:nvSpPr>
        <p:spPr>
          <a:xfrm>
            <a:off x="939165" y="1416050"/>
            <a:ext cx="10781030" cy="2273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YARN</a:t>
            </a:r>
            <a:r>
              <a:rPr lang="zh-CN" altLang="zh-CN" sz="2400" dirty="0">
                <a:latin typeface="Arial" panose="020B0604020202020204" pitchFamily="34" charset="0"/>
              </a:rPr>
              <a:t>的目标就是实现“一个集群多个框架”，即在一个集群上部署一个统一的资源调度管理框架</a:t>
            </a:r>
            <a:r>
              <a:rPr lang="en-US" altLang="zh-CN" sz="2400" dirty="0">
                <a:latin typeface="Arial" panose="020B0604020202020204" pitchFamily="34" charset="0"/>
              </a:rPr>
              <a:t>YARN</a:t>
            </a:r>
            <a:r>
              <a:rPr lang="zh-CN" altLang="zh-CN" sz="2400" dirty="0">
                <a:latin typeface="Arial" panose="020B0604020202020204" pitchFamily="34" charset="0"/>
              </a:rPr>
              <a:t>，在</a:t>
            </a:r>
            <a:r>
              <a:rPr lang="en-US" altLang="zh-CN" sz="2400" dirty="0">
                <a:latin typeface="Arial" panose="020B0604020202020204" pitchFamily="34" charset="0"/>
              </a:rPr>
              <a:t>YARN</a:t>
            </a:r>
            <a:r>
              <a:rPr lang="zh-CN" altLang="zh-CN" sz="2400" dirty="0">
                <a:latin typeface="Arial" panose="020B0604020202020204" pitchFamily="34" charset="0"/>
              </a:rPr>
              <a:t>之上可以部署其他各种计算框架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由</a:t>
            </a:r>
            <a:r>
              <a:rPr lang="en-US" altLang="zh-CN" sz="2400" dirty="0">
                <a:latin typeface="Arial" panose="020B0604020202020204" pitchFamily="34" charset="0"/>
              </a:rPr>
              <a:t>YARN</a:t>
            </a:r>
            <a:r>
              <a:rPr lang="zh-CN" altLang="zh-CN" sz="2400" dirty="0">
                <a:latin typeface="Arial" panose="020B0604020202020204" pitchFamily="34" charset="0"/>
              </a:rPr>
              <a:t>为这些计算框架提供统一的资源调度管理服务，并且能够根据各种计算框架的负载需求，调整各自占用的资源，实现集群资源共享和资源弹性收缩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可以实现一个集群上的不同应用负载混搭，有效提高了集群的利用率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不同计算框架可以共享底层存储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zh-CN" altLang="zh-CN" sz="2400" dirty="0">
                <a:latin typeface="Arial" panose="020B0604020202020204" pitchFamily="34" charset="0"/>
              </a:rPr>
              <a:t>避免了数据集跨集群移动</a:t>
            </a:r>
            <a:endParaRPr lang="zh-CN" altLang="en-US" sz="2400" dirty="0">
              <a:latin typeface="Arial" panose="020B0604020202020204" pitchFamily="34" charset="0"/>
            </a:endParaRPr>
          </a:p>
          <a:p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en-US" b="1" dirty="0"/>
              <a:t>13.1.2	图计算通用软件</a:t>
            </a:r>
            <a:endParaRPr lang="zh-CN" altLang="en-US" b="1" dirty="0"/>
          </a:p>
        </p:txBody>
      </p:sp>
      <p:sp>
        <p:nvSpPr>
          <p:cNvPr id="10243" name="Rectangle 4"/>
          <p:cNvSpPr/>
          <p:nvPr/>
        </p:nvSpPr>
        <p:spPr>
          <a:xfrm>
            <a:off x="718185" y="1659255"/>
            <a:ext cx="635889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indent="0" defTabSz="914400" eaLnBrk="1" hangingPunct="1">
              <a:buNone/>
              <a:tabLst>
                <a:tab pos="533400" algn="l"/>
              </a:tabLst>
            </a:pPr>
            <a:r>
              <a:rPr lang="zh-CN" altLang="en-US" sz="2400" b="1" dirty="0">
                <a:latin typeface="Arial" panose="020B0604020202020204" pitchFamily="34" charset="0"/>
              </a:rPr>
              <a:t>超步三组件：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indent="0" defTabSz="914400" eaLnBrk="1" hangingPunct="1">
              <a:buNone/>
              <a:tabLst>
                <a:tab pos="533400" algn="l"/>
              </a:tabLst>
            </a:pPr>
            <a:r>
              <a:rPr lang="en-US" altLang="zh-CN" sz="2400" b="1" dirty="0">
                <a:latin typeface="Arial" panose="020B0604020202020204" pitchFamily="34" charset="0"/>
              </a:rPr>
              <a:t>1. </a:t>
            </a:r>
            <a:r>
              <a:rPr lang="zh-CN" altLang="en-US" sz="2400" b="1" dirty="0">
                <a:latin typeface="Arial" panose="020B0604020202020204" pitchFamily="34" charset="0"/>
              </a:rPr>
              <a:t>局部计算</a:t>
            </a:r>
            <a:r>
              <a:rPr lang="zh-CN" altLang="en-US" sz="2400" dirty="0">
                <a:latin typeface="Arial" panose="020B0604020202020204" pitchFamily="34" charset="0"/>
              </a:rPr>
              <a:t>：每个参与的</a:t>
            </a:r>
            <a:r>
              <a:rPr lang="zh-CN" altLang="en-US" sz="2400" b="1" u="sng" dirty="0">
                <a:latin typeface="Arial" panose="020B0604020202020204" pitchFamily="34" charset="0"/>
              </a:rPr>
              <a:t>处理器</a:t>
            </a:r>
            <a:r>
              <a:rPr lang="zh-CN" altLang="en-US" sz="2400" dirty="0">
                <a:latin typeface="Arial" panose="020B0604020202020204" pitchFamily="34" charset="0"/>
              </a:rPr>
              <a:t>都有自身的计算任务，它们只读取存储在本地内存中的值，不同处理器的计算任务都是独立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并且异步</a:t>
            </a:r>
            <a:r>
              <a:rPr lang="zh-CN" altLang="en-US" sz="2400" dirty="0">
                <a:latin typeface="Arial" panose="020B0604020202020204" pitchFamily="34" charset="0"/>
              </a:rPr>
              <a:t>的</a:t>
            </a:r>
          </a:p>
          <a:p>
            <a:pPr defTabSz="914400" eaLnBrk="1" hangingPunct="1">
              <a:buChar char="•"/>
              <a:tabLst>
                <a:tab pos="533400" algn="l"/>
              </a:tabLst>
            </a:pPr>
            <a:endParaRPr lang="zh-CN" altLang="en-US" sz="2400" dirty="0">
              <a:latin typeface="Arial" panose="020B0604020202020204" pitchFamily="34" charset="0"/>
            </a:endParaRPr>
          </a:p>
          <a:p>
            <a:pPr indent="0" defTabSz="914400" eaLnBrk="1" hangingPunct="1">
              <a:buNone/>
              <a:tabLst>
                <a:tab pos="533400" algn="l"/>
              </a:tabLst>
            </a:pPr>
            <a:r>
              <a:rPr lang="en-US" altLang="zh-CN" sz="2400" b="1" dirty="0">
                <a:latin typeface="Arial" panose="020B0604020202020204" pitchFamily="34" charset="0"/>
              </a:rPr>
              <a:t>2. </a:t>
            </a:r>
            <a:r>
              <a:rPr lang="zh-CN" altLang="en-US" sz="2400" b="1" dirty="0">
                <a:latin typeface="Arial" panose="020B0604020202020204" pitchFamily="34" charset="0"/>
              </a:rPr>
              <a:t>通信</a:t>
            </a:r>
            <a:r>
              <a:rPr lang="zh-CN" altLang="en-US" sz="2400" dirty="0">
                <a:latin typeface="Arial" panose="020B0604020202020204" pitchFamily="34" charset="0"/>
              </a:rPr>
              <a:t>：处理器群相互交换数据，交换的形式是，由一方发起推送</a:t>
            </a:r>
            <a:r>
              <a:rPr lang="en-US" altLang="zh-CN" sz="2400" dirty="0">
                <a:latin typeface="Arial" panose="020B0604020202020204" pitchFamily="34" charset="0"/>
              </a:rPr>
              <a:t>(Put)</a:t>
            </a:r>
            <a:r>
              <a:rPr lang="zh-CN" altLang="en-US" sz="2400" dirty="0">
                <a:latin typeface="Arial" panose="020B0604020202020204" pitchFamily="34" charset="0"/>
              </a:rPr>
              <a:t>和获取</a:t>
            </a:r>
            <a:r>
              <a:rPr lang="en-US" altLang="zh-CN" sz="2400" dirty="0">
                <a:latin typeface="Arial" panose="020B0604020202020204" pitchFamily="34" charset="0"/>
              </a:rPr>
              <a:t>(Get)</a:t>
            </a:r>
            <a:r>
              <a:rPr lang="zh-CN" altLang="en-US" sz="2400" dirty="0">
                <a:latin typeface="Arial" panose="020B0604020202020204" pitchFamily="34" charset="0"/>
              </a:rPr>
              <a:t>操作</a:t>
            </a:r>
          </a:p>
          <a:p>
            <a:pPr defTabSz="914400" eaLnBrk="1" hangingPunct="1">
              <a:buChar char="•"/>
              <a:tabLst>
                <a:tab pos="533400" algn="l"/>
              </a:tabLst>
            </a:pPr>
            <a:endParaRPr lang="zh-CN" altLang="en-US" sz="2400" b="1" dirty="0">
              <a:latin typeface="Arial" panose="020B0604020202020204" pitchFamily="34" charset="0"/>
            </a:endParaRPr>
          </a:p>
          <a:p>
            <a:pPr indent="0" defTabSz="914400" eaLnBrk="1" hangingPunct="1">
              <a:buNone/>
              <a:tabLst>
                <a:tab pos="533400" algn="l"/>
              </a:tabLst>
            </a:pPr>
            <a:r>
              <a:rPr lang="en-US" altLang="zh-CN" sz="2400" b="1" dirty="0">
                <a:latin typeface="Arial" panose="020B0604020202020204" pitchFamily="34" charset="0"/>
              </a:rPr>
              <a:t>3. </a:t>
            </a:r>
            <a:r>
              <a:rPr lang="zh-CN" altLang="en-US" sz="2400" b="1" dirty="0">
                <a:latin typeface="Arial" panose="020B0604020202020204" pitchFamily="34" charset="0"/>
              </a:rPr>
              <a:t>栅栏同步</a:t>
            </a:r>
            <a:r>
              <a:rPr lang="en-US" altLang="zh-CN" sz="2400" dirty="0">
                <a:latin typeface="Arial" panose="020B0604020202020204" pitchFamily="34" charset="0"/>
              </a:rPr>
              <a:t>(Barrier Synchronization)</a:t>
            </a:r>
            <a:r>
              <a:rPr lang="zh-CN" altLang="en-US" sz="2400" dirty="0">
                <a:latin typeface="Arial" panose="020B0604020202020204" pitchFamily="34" charset="0"/>
              </a:rPr>
              <a:t>：当一个处理器遇到“路障”（或栅栏），会等到其他所有处理器完成它们的计算步骤；每一次同步也是一个超步的完成和下一个超步的开始</a:t>
            </a:r>
          </a:p>
        </p:txBody>
      </p:sp>
      <p:pic>
        <p:nvPicPr>
          <p:cNvPr id="2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4908"/>
          <a:stretch>
            <a:fillRect/>
          </a:stretch>
        </p:blipFill>
        <p:spPr>
          <a:xfrm>
            <a:off x="8003540" y="977900"/>
            <a:ext cx="3671570" cy="47313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6"/>
          <p:cNvSpPr/>
          <p:nvPr>
            <p:custDataLst>
              <p:tags r:id="rId2"/>
            </p:custDataLst>
          </p:nvPr>
        </p:nvSpPr>
        <p:spPr>
          <a:xfrm>
            <a:off x="8199755" y="5709444"/>
            <a:ext cx="331533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一个超步的垂直结构图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13.3.3	Pregel</a:t>
            </a:r>
            <a:r>
              <a:rPr lang="zh-CN" altLang="en-US" b="1" dirty="0"/>
              <a:t>的计算过程</a:t>
            </a:r>
          </a:p>
        </p:txBody>
      </p:sp>
      <p:sp>
        <p:nvSpPr>
          <p:cNvPr id="17413" name="Rectangle 6"/>
          <p:cNvSpPr/>
          <p:nvPr/>
        </p:nvSpPr>
        <p:spPr>
          <a:xfrm>
            <a:off x="1029335" y="1691005"/>
            <a:ext cx="9837420" cy="4603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anchor="ctr" anchorCtr="0">
            <a:spAutoFit/>
          </a:bodyPr>
          <a:lstStyle/>
          <a:p>
            <a:pPr indent="0"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在第</a:t>
            </a:r>
            <a:r>
              <a:rPr lang="en-US" altLang="zh-CN" sz="2400" dirty="0">
                <a:latin typeface="Arial" panose="020B0604020202020204" pitchFamily="34" charset="0"/>
              </a:rPr>
              <a:t>0</a:t>
            </a:r>
            <a:r>
              <a:rPr lang="zh-CN" altLang="en-US" sz="2400" dirty="0">
                <a:latin typeface="Arial" panose="020B0604020202020204" pitchFamily="34" charset="0"/>
              </a:rPr>
              <a:t>个超步，所有顶点处于活跃状态，都会参与该超步的计算过程</a:t>
            </a:r>
          </a:p>
        </p:txBody>
      </p:sp>
      <p:pic>
        <p:nvPicPr>
          <p:cNvPr id="17411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460" y="2632710"/>
            <a:ext cx="4620260" cy="2340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029335" y="5362575"/>
            <a:ext cx="91871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当图中所有的顶点都已经标识其自身达到“非活跃（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inactive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）”状态，并且没有消息在传送的时候，算法就可以停止运行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838200" y="286385"/>
            <a:ext cx="10515600" cy="1325563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highlight>
                  <a:srgbClr val="FFFF00"/>
                </a:highlight>
              </a:rPr>
              <a:t>13.3.4	Pregel</a:t>
            </a:r>
            <a:r>
              <a:rPr lang="zh-CN" altLang="en-US" b="1" dirty="0">
                <a:highlight>
                  <a:srgbClr val="FFFF00"/>
                </a:highlight>
              </a:rPr>
              <a:t>计算过程实例</a:t>
            </a:r>
          </a:p>
        </p:txBody>
      </p:sp>
      <p:sp>
        <p:nvSpPr>
          <p:cNvPr id="18435" name="Rectangle 5"/>
          <p:cNvSpPr/>
          <p:nvPr/>
        </p:nvSpPr>
        <p:spPr>
          <a:xfrm>
            <a:off x="5515610" y="6204427"/>
            <a:ext cx="480631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求顶点最大值的</a:t>
            </a:r>
            <a:r>
              <a:rPr lang="en-US" altLang="zh-CN" sz="2400" dirty="0">
                <a:latin typeface="Arial" panose="020B0604020202020204" pitchFamily="34" charset="0"/>
              </a:rPr>
              <a:t>Pregel</a:t>
            </a:r>
            <a:r>
              <a:rPr lang="zh-CN" altLang="en-US" sz="2400" dirty="0">
                <a:latin typeface="Arial" panose="020B0604020202020204" pitchFamily="34" charset="0"/>
              </a:rPr>
              <a:t>计算过程图 </a:t>
            </a:r>
          </a:p>
        </p:txBody>
      </p:sp>
      <p:grpSp>
        <p:nvGrpSpPr>
          <p:cNvPr id="18436" name="组合 44"/>
          <p:cNvGrpSpPr/>
          <p:nvPr/>
        </p:nvGrpSpPr>
        <p:grpSpPr>
          <a:xfrm>
            <a:off x="3882390" y="1304925"/>
            <a:ext cx="6698615" cy="4789348"/>
            <a:chOff x="494437" y="1295400"/>
            <a:chExt cx="6577876" cy="4844497"/>
          </a:xfrm>
        </p:grpSpPr>
        <p:pic>
          <p:nvPicPr>
            <p:cNvPr id="18437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0" y="1371600"/>
              <a:ext cx="4786313" cy="44958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椭圆 4"/>
            <p:cNvSpPr/>
            <p:nvPr/>
          </p:nvSpPr>
          <p:spPr>
            <a:xfrm>
              <a:off x="494437" y="2285880"/>
              <a:ext cx="380958" cy="380954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494437" y="1676354"/>
              <a:ext cx="380958" cy="38095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440" name="TextBox 6"/>
            <p:cNvSpPr txBox="1"/>
            <p:nvPr/>
          </p:nvSpPr>
          <p:spPr>
            <a:xfrm>
              <a:off x="951637" y="1676400"/>
              <a:ext cx="640010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Arial" panose="020B0604020202020204" pitchFamily="34" charset="0"/>
                </a:rPr>
                <a:t>活跃</a:t>
              </a:r>
            </a:p>
          </p:txBody>
        </p:sp>
        <p:sp>
          <p:nvSpPr>
            <p:cNvPr id="18441" name="TextBox 7"/>
            <p:cNvSpPr txBox="1"/>
            <p:nvPr/>
          </p:nvSpPr>
          <p:spPr>
            <a:xfrm>
              <a:off x="875437" y="2286000"/>
              <a:ext cx="868584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Arial" panose="020B0604020202020204" pitchFamily="34" charset="0"/>
                </a:rPr>
                <a:t>非活跃</a:t>
              </a: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905569" y="1295400"/>
              <a:ext cx="5104838" cy="12190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896045" y="2631913"/>
              <a:ext cx="5104838" cy="102540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905569" y="3809695"/>
              <a:ext cx="5104838" cy="102698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905569" y="5028747"/>
              <a:ext cx="5104838" cy="102698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446" name="组合 17"/>
            <p:cNvGrpSpPr/>
            <p:nvPr/>
          </p:nvGrpSpPr>
          <p:grpSpPr>
            <a:xfrm>
              <a:off x="2438400" y="3352800"/>
              <a:ext cx="3091142" cy="407925"/>
              <a:chOff x="2438400" y="3352800"/>
              <a:chExt cx="3091142" cy="407925"/>
            </a:xfrm>
          </p:grpSpPr>
          <p:sp>
            <p:nvSpPr>
              <p:cNvPr id="18467" name="TextBox 12"/>
              <p:cNvSpPr txBox="1"/>
              <p:nvPr/>
            </p:nvSpPr>
            <p:spPr>
              <a:xfrm>
                <a:off x="2438400" y="3352800"/>
                <a:ext cx="335243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A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8" name="TextBox 13"/>
              <p:cNvSpPr txBox="1"/>
              <p:nvPr/>
            </p:nvSpPr>
            <p:spPr>
              <a:xfrm>
                <a:off x="3276600" y="3352800"/>
                <a:ext cx="335243" cy="3839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B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9" name="TextBox 14"/>
              <p:cNvSpPr txBox="1"/>
              <p:nvPr/>
            </p:nvSpPr>
            <p:spPr>
              <a:xfrm>
                <a:off x="4267200" y="3352800"/>
                <a:ext cx="347942" cy="3957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C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70" name="TextBox 15"/>
              <p:cNvSpPr txBox="1"/>
              <p:nvPr/>
            </p:nvSpPr>
            <p:spPr>
              <a:xfrm>
                <a:off x="5181600" y="3352800"/>
                <a:ext cx="347942" cy="4079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D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8447" name="组合 18"/>
            <p:cNvGrpSpPr/>
            <p:nvPr/>
          </p:nvGrpSpPr>
          <p:grpSpPr>
            <a:xfrm>
              <a:off x="2429522" y="4548156"/>
              <a:ext cx="3091142" cy="407925"/>
              <a:chOff x="2438400" y="3352800"/>
              <a:chExt cx="3091142" cy="407925"/>
            </a:xfrm>
          </p:grpSpPr>
          <p:sp>
            <p:nvSpPr>
              <p:cNvPr id="18463" name="TextBox 19"/>
              <p:cNvSpPr txBox="1"/>
              <p:nvPr/>
            </p:nvSpPr>
            <p:spPr>
              <a:xfrm>
                <a:off x="2438400" y="3352800"/>
                <a:ext cx="335243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A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4" name="TextBox 20"/>
              <p:cNvSpPr txBox="1"/>
              <p:nvPr/>
            </p:nvSpPr>
            <p:spPr>
              <a:xfrm>
                <a:off x="3276600" y="3352800"/>
                <a:ext cx="335243" cy="3839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B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5" name="TextBox 21"/>
              <p:cNvSpPr txBox="1"/>
              <p:nvPr/>
            </p:nvSpPr>
            <p:spPr>
              <a:xfrm>
                <a:off x="4267200" y="3352800"/>
                <a:ext cx="347942" cy="3957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C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6" name="TextBox 22"/>
              <p:cNvSpPr txBox="1"/>
              <p:nvPr/>
            </p:nvSpPr>
            <p:spPr>
              <a:xfrm>
                <a:off x="5181600" y="3352800"/>
                <a:ext cx="347942" cy="4079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D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8448" name="组合 23"/>
            <p:cNvGrpSpPr/>
            <p:nvPr/>
          </p:nvGrpSpPr>
          <p:grpSpPr>
            <a:xfrm>
              <a:off x="2424346" y="5767356"/>
              <a:ext cx="3091142" cy="372541"/>
              <a:chOff x="2438400" y="3352800"/>
              <a:chExt cx="3091142" cy="372541"/>
            </a:xfrm>
          </p:grpSpPr>
          <p:sp>
            <p:nvSpPr>
              <p:cNvPr id="18459" name="TextBox 24"/>
              <p:cNvSpPr txBox="1"/>
              <p:nvPr/>
            </p:nvSpPr>
            <p:spPr>
              <a:xfrm>
                <a:off x="2438400" y="3352800"/>
                <a:ext cx="335243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A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0" name="TextBox 25"/>
              <p:cNvSpPr txBox="1"/>
              <p:nvPr/>
            </p:nvSpPr>
            <p:spPr>
              <a:xfrm>
                <a:off x="3276600" y="3352800"/>
                <a:ext cx="335243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B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1" name="TextBox 26"/>
              <p:cNvSpPr txBox="1"/>
              <p:nvPr/>
            </p:nvSpPr>
            <p:spPr>
              <a:xfrm>
                <a:off x="4267200" y="3352800"/>
                <a:ext cx="347942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C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2" name="TextBox 27"/>
              <p:cNvSpPr txBox="1"/>
              <p:nvPr/>
            </p:nvSpPr>
            <p:spPr>
              <a:xfrm>
                <a:off x="5181600" y="3352800"/>
                <a:ext cx="347942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D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449" name="TextBox 28"/>
            <p:cNvSpPr txBox="1"/>
            <p:nvPr/>
          </p:nvSpPr>
          <p:spPr>
            <a:xfrm>
              <a:off x="2667000" y="2297668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3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0" name="TextBox 34"/>
            <p:cNvSpPr txBox="1"/>
            <p:nvPr/>
          </p:nvSpPr>
          <p:spPr>
            <a:xfrm>
              <a:off x="3124200" y="22860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1" name="TextBox 35"/>
            <p:cNvSpPr txBox="1"/>
            <p:nvPr/>
          </p:nvSpPr>
          <p:spPr>
            <a:xfrm>
              <a:off x="3581400" y="22098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2" name="TextBox 36"/>
            <p:cNvSpPr txBox="1"/>
            <p:nvPr/>
          </p:nvSpPr>
          <p:spPr>
            <a:xfrm>
              <a:off x="4030494" y="22098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2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3" name="TextBox 37"/>
            <p:cNvSpPr txBox="1"/>
            <p:nvPr/>
          </p:nvSpPr>
          <p:spPr>
            <a:xfrm>
              <a:off x="4572000" y="22860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2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4" name="TextBox 38"/>
            <p:cNvSpPr txBox="1"/>
            <p:nvPr/>
          </p:nvSpPr>
          <p:spPr>
            <a:xfrm>
              <a:off x="4994460" y="2262156"/>
              <a:ext cx="31290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1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5" name="TextBox 39"/>
            <p:cNvSpPr txBox="1"/>
            <p:nvPr/>
          </p:nvSpPr>
          <p:spPr>
            <a:xfrm>
              <a:off x="2887494" y="35814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6" name="TextBox 40"/>
            <p:cNvSpPr txBox="1"/>
            <p:nvPr/>
          </p:nvSpPr>
          <p:spPr>
            <a:xfrm>
              <a:off x="4724400" y="35814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7" name="TextBox 41"/>
            <p:cNvSpPr txBox="1"/>
            <p:nvPr/>
          </p:nvSpPr>
          <p:spPr>
            <a:xfrm>
              <a:off x="3801894" y="4736068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8" name="TextBox 42"/>
            <p:cNvSpPr txBox="1"/>
            <p:nvPr/>
          </p:nvSpPr>
          <p:spPr>
            <a:xfrm>
              <a:off x="4792494" y="4751034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82270" y="1843405"/>
            <a:ext cx="30765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用户自定义的函数：</a:t>
            </a:r>
            <a:endParaRPr lang="en-US" altLang="zh-CN" sz="2400" dirty="0">
              <a:latin typeface="Arial" panose="020B0604020202020204" pitchFamily="34" charset="0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87680" y="4911725"/>
                <a:ext cx="3456305" cy="11988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lvl="0" indent="0">
                  <a:buNone/>
                </a:pP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若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活跃，则：</a:t>
                </a:r>
              </a:p>
              <a:p>
                <a:pPr marL="0" lvl="0" indent="0">
                  <a:buNone/>
                </a:pP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对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的每条出边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𝑢</m:t>
                    </m:r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𝑣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,</a:t>
                </a:r>
              </a:p>
              <a:p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从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发送消息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到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v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。</a:t>
                </a:r>
                <a:endParaRPr lang="en-US" altLang="zh-CN" sz="2400" dirty="0">
                  <a:latin typeface="Arial" panose="020B0604020202020204" pitchFamily="34" charset="0"/>
                  <a:sym typeface="+mn-ea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4911725"/>
                <a:ext cx="3456305" cy="11988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87680" y="2823845"/>
                <a:ext cx="4005580" cy="15684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/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对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收到的所有消息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,⋯</m:t>
                    </m:r>
                  </m:oMath>
                </a14:m>
                <a:endParaRPr lang="en-US" altLang="zh-CN" sz="2400" i="1" dirty="0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algn="l"/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𝑚</m:t>
                    </m:r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𝑚𝑎𝑥</m:t>
                    </m:r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,⋯)</m:t>
                    </m:r>
                  </m:oMath>
                </a14:m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</a:t>
                </a:r>
              </a:p>
              <a:p>
                <a:pPr algn="l"/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若</a:t>
                </a:r>
                <a:r>
                  <a:rPr lang="en-US" altLang="zh-CN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u&lt;m</a:t>
                </a:r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，则</a:t>
                </a:r>
                <a:r>
                  <a:rPr lang="en-US" altLang="zh-CN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u=m</a:t>
                </a:r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并激活</a:t>
                </a:r>
                <a:endParaRPr lang="en-US" altLang="zh-CN" sz="2400" dirty="0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algn="l"/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否则，</a:t>
                </a:r>
                <a:r>
                  <a:rPr lang="en-US" altLang="zh-CN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置为非活跃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2823845"/>
                <a:ext cx="4005580" cy="15684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78163" y="2473325"/>
            <a:ext cx="5845175" cy="13220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8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祝大家顺利</a:t>
            </a:r>
            <a:r>
              <a:rPr lang="en-US" altLang="zh-CN" sz="8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6b11f8e-c8aa-4790-a55d-ceede10e912b"/>
  <p:tag name="COMMONDATA" val="eyJoZGlkIjoiOTRkNmFmZjRjMzI3MTQ3ZWFlYjhlZWM3YzFkOWNmN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6*226"/>
  <p:tag name="TABLE_ENDDRAG_RECT" val="29*186*136*22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929.0330708661418,&quot;width&quot;:9134.25826771653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0374a93-9f95-4c14-a62e-1fe8d56002ea}"/>
  <p:tag name="TABLE_ENDDRAG_ORIGIN_RECT" val="277*266"/>
  <p:tag name="TABLE_ENDDRAG_RECT" val="23*154*277*26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e778bcd-946f-4728-9de8-3cebce26a9e1}"/>
  <p:tag name="TABLE_ENDDRAG_ORIGIN_RECT" val="684*237"/>
  <p:tag name="TABLE_ENDDRAG_RECT" val="144*170*684*23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2814</Words>
  <Application>Microsoft Office PowerPoint</Application>
  <PresentationFormat>宽屏</PresentationFormat>
  <Paragraphs>462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等线</vt:lpstr>
      <vt:lpstr>等线 Light</vt:lpstr>
      <vt:lpstr>楷体</vt:lpstr>
      <vt:lpstr>宋体</vt:lpstr>
      <vt:lpstr>Arial</vt:lpstr>
      <vt:lpstr>Calibri</vt:lpstr>
      <vt:lpstr>Cambria Math</vt:lpstr>
      <vt:lpstr>Times New Roman</vt:lpstr>
      <vt:lpstr>Wingdings</vt:lpstr>
      <vt:lpstr>Office 主题​​</vt:lpstr>
      <vt:lpstr>Visio.Drawing.15</vt:lpstr>
      <vt:lpstr>大数据管理</vt:lpstr>
      <vt:lpstr>范围+题型</vt:lpstr>
      <vt:lpstr>1.2 大数据的概念</vt:lpstr>
      <vt:lpstr>PowerPoint 演示文稿</vt:lpstr>
      <vt:lpstr>PowerPoint 演示文稿</vt:lpstr>
      <vt:lpstr>3.1.1 计算机集群结构</vt:lpstr>
      <vt:lpstr>3.1.2 分布式文件系统的结构</vt:lpstr>
      <vt:lpstr>3.3.2 名称节点和数据节点</vt:lpstr>
      <vt:lpstr>3.3.3 第二名称节点</vt:lpstr>
      <vt:lpstr>PowerPoint 演示文稿</vt:lpstr>
      <vt:lpstr>3.4.5 HDFS体系结构的局限性及改进</vt:lpstr>
      <vt:lpstr>8.2.1HDFS HA</vt:lpstr>
      <vt:lpstr>8.2.2HDFS 联邦</vt:lpstr>
      <vt:lpstr>3.5 HDFS存储原理</vt:lpstr>
      <vt:lpstr>4.3.1 数据模型概述</vt:lpstr>
      <vt:lpstr>4.3.6 面向列的存储</vt:lpstr>
      <vt:lpstr>4.5.1 HBase系统架构</vt:lpstr>
      <vt:lpstr>4.5.2 Region服务器工作原理</vt:lpstr>
      <vt:lpstr>4.5.2 Region服务器工作原理</vt:lpstr>
      <vt:lpstr>4.5.3 Store工作原理</vt:lpstr>
      <vt:lpstr>4.5.4 HLog工作原理</vt:lpstr>
      <vt:lpstr>5.5  NoSQL的三大基石</vt:lpstr>
      <vt:lpstr>5.5.1  CAP</vt:lpstr>
      <vt:lpstr>5.5.1  CAP</vt:lpstr>
      <vt:lpstr>5.5.2  BASE</vt:lpstr>
      <vt:lpstr>6.3.2 UMP系统架构</vt:lpstr>
      <vt:lpstr>7.1.3 Map和Reduce函数</vt:lpstr>
      <vt:lpstr>7.2.2 MapReduce各个执行阶段</vt:lpstr>
      <vt:lpstr>7.2.3 Shuffle过程详解</vt:lpstr>
      <vt:lpstr>7.4  MapReduce的具体应用</vt:lpstr>
      <vt:lpstr>9.1.3 Hive简介</vt:lpstr>
      <vt:lpstr>9.4 Hive HA基本原理</vt:lpstr>
      <vt:lpstr>9.5.2 Impala系统架构</vt:lpstr>
      <vt:lpstr>10.3.4 RDD运行原理</vt:lpstr>
      <vt:lpstr>10.3.4 RDD运行原理</vt:lpstr>
      <vt:lpstr>10.3.4 RDD运行原理</vt:lpstr>
      <vt:lpstr>11.1.1 静态数据和流数据</vt:lpstr>
      <vt:lpstr>11.4.3 Storm设计思想</vt:lpstr>
      <vt:lpstr>11.4.3 Storm设计思想</vt:lpstr>
      <vt:lpstr>11.4.4 Storm框架设计</vt:lpstr>
      <vt:lpstr>12.2.3 流处理架构</vt:lpstr>
      <vt:lpstr>8.3.6 YARN的发展目标</vt:lpstr>
      <vt:lpstr>13.1.2 图计算通用软件</vt:lpstr>
      <vt:lpstr>13.3.3 Pregel的计算过程</vt:lpstr>
      <vt:lpstr>13.3.4 Pregel计算过程实例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大数据管理</dc:title>
  <dc:creator>zitong chen</dc:creator>
  <cp:lastModifiedBy>SYSU</cp:lastModifiedBy>
  <cp:revision>161</cp:revision>
  <dcterms:created xsi:type="dcterms:W3CDTF">2023-01-31T13:03:00Z</dcterms:created>
  <dcterms:modified xsi:type="dcterms:W3CDTF">2026-06-23T03:54:23Z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7CEE87793684416C98B6904C1664707A</vt:lpwstr>
  </property>
  <property fmtid="{D5CDD505-2E9C-101B-9397-08002B2CF9AE}" pid="3" name="KSOProductBuildVer">
    <vt:lpwstr>2052-12.1.0.26895</vt:lpwstr>
  </property>
</Properties>
</file>