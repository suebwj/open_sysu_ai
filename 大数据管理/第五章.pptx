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41"/>
  </p:handoutMasterIdLst>
  <p:sldIdLst>
    <p:sldId id="257" r:id="rId3"/>
    <p:sldId id="291" r:id="rId4"/>
    <p:sldId id="262" r:id="rId5"/>
    <p:sldId id="324" r:id="rId6"/>
    <p:sldId id="259" r:id="rId7"/>
    <p:sldId id="326" r:id="rId8"/>
    <p:sldId id="261" r:id="rId9"/>
    <p:sldId id="264" r:id="rId10"/>
    <p:sldId id="265" r:id="rId11"/>
    <p:sldId id="268" r:id="rId13"/>
    <p:sldId id="269" r:id="rId14"/>
    <p:sldId id="272" r:id="rId15"/>
    <p:sldId id="270" r:id="rId16"/>
    <p:sldId id="274" r:id="rId17"/>
    <p:sldId id="327" r:id="rId18"/>
    <p:sldId id="328" r:id="rId19"/>
    <p:sldId id="329" r:id="rId20"/>
    <p:sldId id="277" r:id="rId21"/>
    <p:sldId id="330" r:id="rId22"/>
    <p:sldId id="331" r:id="rId23"/>
    <p:sldId id="334" r:id="rId24"/>
    <p:sldId id="332" r:id="rId25"/>
    <p:sldId id="333" r:id="rId26"/>
    <p:sldId id="281" r:id="rId27"/>
    <p:sldId id="282" r:id="rId28"/>
    <p:sldId id="283" r:id="rId29"/>
    <p:sldId id="284" r:id="rId30"/>
    <p:sldId id="285" r:id="rId31"/>
    <p:sldId id="286" r:id="rId32"/>
    <p:sldId id="287" r:id="rId33"/>
    <p:sldId id="289" r:id="rId34"/>
    <p:sldId id="290" r:id="rId35"/>
    <p:sldId id="294" r:id="rId36"/>
    <p:sldId id="296" r:id="rId37"/>
    <p:sldId id="298" r:id="rId38"/>
    <p:sldId id="299" r:id="rId39"/>
    <p:sldId id="323" r:id="rId40"/>
  </p:sldIdLst>
  <p:sldSz cx="12192000" cy="6858000"/>
  <p:notesSz cx="6858000" cy="9144000"/>
  <p:custDataLst>
    <p:tags r:id="rId4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82" d="100"/>
          <a:sy n="82" d="100"/>
        </p:scale>
        <p:origin x="773" y="72"/>
      </p:cViewPr>
      <p:guideLst>
        <p:guide orient="horz" pos="2234"/>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gs" Target="tags/tag3.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handoutMaster" Target="handoutMasters/handoutMaster1.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6_4#1">
  <dgm:title val=""/>
  <dgm:desc val=""/>
  <dgm:catLst>
    <dgm:cat type="accent6" pri="11400"/>
  </dgm:catLst>
  <dgm:styleLbl name="align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align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align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alignNode1">
    <dgm:fillClrLst meth="cycle">
      <a:schemeClr val="accent6">
        <a:shade val="50000"/>
      </a:schemeClr>
      <a:schemeClr val="accent6">
        <a:tint val="55000"/>
      </a:schemeClr>
    </dgm:fillClrLst>
    <dgm:linClrLst meth="cycle">
      <a:schemeClr val="accent6">
        <a:shade val="50000"/>
      </a:schemeClr>
      <a:schemeClr val="accent6">
        <a:tint val="55000"/>
      </a:schemeClr>
    </dgm:linClrLst>
    <dgm:effectClrLst/>
    <dgm:txLinClrLst/>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0000"/>
      </a:schemeClr>
    </dgm:fillClrLst>
    <dgm:linClrLst meth="repeat">
      <a:schemeClr val="lt1"/>
    </dgm:linClrLst>
    <dgm:effectClrLst/>
    <dgm:txLinClrLst/>
    <dgm:txFillClrLst/>
    <dgm:txEffectClrLst/>
  </dgm:styleLbl>
  <dgm:styleLbl name="asst3">
    <dgm:fillClrLst>
      <a:schemeClr val="accent6">
        <a:tint val="70000"/>
      </a:schemeClr>
    </dgm:fillClrLst>
    <dgm:linClrLst meth="repeat">
      <a:schemeClr val="lt1"/>
    </dgm:linClrLst>
    <dgm:effectClrLst/>
    <dgm:txLinClrLst/>
    <dgm:txFillClrLst/>
    <dgm:txEffectClrLst/>
  </dgm:styleLbl>
  <dgm:styleLbl name="asst4">
    <dgm:fillClrLst>
      <a:schemeClr val="accent6">
        <a:tint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bgAccFollowNode1">
    <dgm:fillClrLst meth="repeat">
      <a:schemeClr val="accent6">
        <a:alpha val="90000"/>
        <a:tint val="55000"/>
      </a:schemeClr>
    </dgm:fillClrLst>
    <dgm:linClrLst meth="repeat">
      <a:schemeClr val="lt1"/>
    </dgm:linClrLst>
    <dgm:effectClrLst/>
    <dgm:txLinClrLst/>
    <dgm:txFillClrLst meth="repeat">
      <a:schemeClr val="dk1"/>
    </dgm:txFillClrLst>
    <dgm:txEffectClrLst/>
  </dgm:styleLbl>
  <dgm:styleLbl name="b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bgShp">
    <dgm:fillClrLst meth="repeat">
      <a:schemeClr val="accent6">
        <a:tint val="55000"/>
      </a:schemeClr>
    </dgm:fillClrLst>
    <dgm:linClrLst meth="repeat">
      <a:schemeClr val="dk1"/>
    </dgm:linClrLst>
    <dgm:effectClrLst/>
    <dgm:txLinClrLst/>
    <dgm:txFillClrLst meth="repeat">
      <a:schemeClr val="dk1"/>
    </dgm:txFillClrLst>
    <dgm:txEffectClrLst/>
  </dgm:styleLbl>
  <dgm:styleLbl name="b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con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fgAccFollowNode1">
    <dgm:fillClrLst meth="repeat">
      <a:schemeClr val="accent6">
        <a:alpha val="90000"/>
        <a:tint val="55000"/>
      </a:schemeClr>
    </dgm:fillClrLst>
    <dgm:linClrLst meth="repeat">
      <a:schemeClr val="accent6">
        <a:alpha val="90000"/>
        <a:tint val="55000"/>
      </a:schemeClr>
    </dgm:linClrLst>
    <dgm:effectClrLst/>
    <dgm:txLinClrLst/>
    <dgm:txFillClrLst meth="repeat">
      <a:schemeClr val="dk1"/>
    </dgm:txFillClrLst>
    <dgm:txEffectClrLst/>
  </dgm:styleLbl>
  <dgm:styleLbl name="fgImgPlace1">
    <dgm:fillClrLst>
      <a:schemeClr val="accent6">
        <a:tint val="50000"/>
      </a:schemeClr>
      <a:schemeClr val="accent6">
        <a:tint val="55000"/>
      </a:schemeClr>
    </dgm:fillClrLst>
    <dgm:linClrLst meth="repeat">
      <a:schemeClr val="lt1"/>
    </dgm:linClrLst>
    <dgm:effectClrLst/>
    <dgm:txLinClrLst/>
    <dgm:txFillClrLst meth="repeat">
      <a:schemeClr val="lt1"/>
    </dgm:txFillClrLst>
    <dgm:txEffectClrLst/>
  </dgm:styleLbl>
  <dgm:styleLbl name="fgShp">
    <dgm:fillClrLst meth="repeat">
      <a:schemeClr val="accent6">
        <a:tint val="55000"/>
      </a:schemeClr>
    </dgm:fillClrLst>
    <dgm:linClrLst meth="repeat">
      <a:schemeClr val="lt1"/>
    </dgm:linClrLst>
    <dgm:effectClrLst/>
    <dgm:txLinClrLst/>
    <dgm:txFillClrLst meth="repeat">
      <a:schemeClr val="dk1"/>
    </dgm:txFillClrLst>
    <dgm:txEffectClrLst/>
  </dgm:styleLbl>
  <dgm:styleLbl name="fg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ln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node0">
    <dgm:fillClrLst meth="cycle">
      <a:schemeClr val="accent6">
        <a:shade val="60000"/>
      </a:schemeClr>
    </dgm:fillClrLst>
    <dgm:linClrLst meth="repeat">
      <a:schemeClr val="lt1"/>
    </dgm:linClrLst>
    <dgm:effectClrLst/>
    <dgm:txLinClrLst/>
    <dgm:txFillClrLst/>
    <dgm:txEffectClrLst/>
  </dgm:styleLbl>
  <dgm:styleLbl name="node1">
    <dgm:fillClrLst meth="cycle">
      <a:schemeClr val="accent6">
        <a:shade val="50000"/>
      </a:schemeClr>
      <a:schemeClr val="accent6">
        <a:tint val="55000"/>
      </a:schemeClr>
    </dgm:fillClrLst>
    <dgm:linClrLst meth="repeat">
      <a:schemeClr val="lt1"/>
    </dgm:linClrLst>
    <dgm:effectClrLst/>
    <dgm:txLinClrLst/>
    <dgm:txFillClrLst/>
    <dgm:txEffectClrLst/>
  </dgm:styleLbl>
  <dgm:styleLbl name="node2">
    <dgm:fillClrLst>
      <a:schemeClr val="accent6">
        <a:shade val="80000"/>
      </a:schemeClr>
    </dgm:fillClrLst>
    <dgm:linClrLst meth="repeat">
      <a:schemeClr val="lt1"/>
    </dgm:linClrLst>
    <dgm:effectClrLst/>
    <dgm:txLinClrLst/>
    <dgm:txFillClrLst/>
    <dgm:txEffectClrLst/>
  </dgm:styleLbl>
  <dgm:styleLbl name="node3">
    <dgm:fillClrLst>
      <a:schemeClr val="accent6">
        <a:tint val="99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parChTrans2D1">
    <dgm:fillClrLst meth="repeat">
      <a:schemeClr val="accent6">
        <a:tint val="6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meth="repeat">
      <a:schemeClr val="tx1"/>
    </dgm:txFillClrLst>
    <dgm:txEffectClrLst/>
  </dgm:styleLbl>
  <dgm:styleLbl name="sibTrans2D1">
    <dgm:fillClrLst meth="cycle">
      <a:schemeClr val="accent6">
        <a:shade val="90000"/>
      </a:schemeClr>
      <a:schemeClr val="accent6">
        <a:tint val="50000"/>
      </a:schemeClr>
    </dgm:fillClrLst>
    <dgm:linClrLst meth="cycle">
      <a:schemeClr val="accent6">
        <a:shade val="90000"/>
      </a:schemeClr>
      <a:schemeClr val="accent6">
        <a:tint val="50000"/>
      </a:schemeClr>
    </dgm:linClrLst>
    <dgm:effectClrLst/>
    <dgm:txLinClrLst/>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cycle">
      <a:schemeClr val="accent6">
        <a:shade val="50000"/>
      </a:schemeClr>
      <a:schemeClr val="accent6">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6"/>
    </dgm:linClrLst>
    <dgm:effectClrLst/>
    <dgm:txLinClrLst/>
    <dgm:txFillClrLst meth="repeat">
      <a:schemeClr val="dk1"/>
    </dgm:txFillClrLst>
    <dgm:txEffectClrLst/>
  </dgm:styleLbl>
  <dgm:styleLbl name="trBgShp">
    <dgm:fillClrLst meth="repeat">
      <a:schemeClr val="accent6">
        <a:tint val="50000"/>
        <a:alpha val="55000"/>
      </a:schemeClr>
    </dgm:fillClrLst>
    <dgm:linClrLst meth="repeat">
      <a:schemeClr val="accent6"/>
    </dgm:linClrLst>
    <dgm:effectClrLst/>
    <dgm:txLinClrLst/>
    <dgm:txFillClrLst meth="repeat">
      <a:schemeClr val="lt1"/>
    </dgm:txFillClrLst>
    <dgm:txEffectClrLst/>
  </dgm:styleLbl>
  <dgm:styleLbl name="vennNode1">
    <dgm:fillClrLst meth="cycle">
      <a:schemeClr val="accent6">
        <a:shade val="80000"/>
        <a:alpha val="50000"/>
      </a:schemeClr>
      <a:schemeClr val="accent6">
        <a:tint val="50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154C129-E42D-4829-8626-1BB8D7A2888D}" type="doc">
      <dgm:prSet loTypeId="urn:microsoft.com/office/officeart/2008/layout/RadialCluster#1" loCatId="relationship" qsTypeId="urn:microsoft.com/office/officeart/2005/8/quickstyle/simple2#1" qsCatId="simple" csTypeId="urn:microsoft.com/office/officeart/2005/8/colors/accent6_4#1" csCatId="accent6" phldr="1"/>
      <dgm:spPr/>
      <dgm:t>
        <a:bodyPr/>
        <a:lstStyle/>
        <a:p>
          <a:endParaRPr lang="zh-CN" altLang="en-US"/>
        </a:p>
      </dgm:t>
    </dgm:pt>
    <dgm:pt modelId="{748C12E9-83A0-415F-B588-D8EEF2CD3E2E}">
      <dgm:prSet phldrT="[文本]" custT="1"/>
      <dgm:spPr/>
      <dgm:t>
        <a:bodyPr/>
        <a:lstStyle/>
        <a:p>
          <a:r>
            <a:rPr lang="en-US" altLang="zh-CN" sz="3200" dirty="0"/>
            <a:t>NoSQL</a:t>
          </a:r>
          <a:endParaRPr lang="zh-CN" altLang="en-US" sz="3200" dirty="0"/>
        </a:p>
      </dgm:t>
    </dgm:pt>
    <dgm:pt modelId="{589F1C8D-45D5-444E-BA1A-5D95392D63EA}" cxnId="{C1EF15B4-3682-484A-8E4B-A77976527A01}" type="parTrans">
      <dgm:prSet/>
      <dgm:spPr/>
      <dgm:t>
        <a:bodyPr/>
        <a:lstStyle/>
        <a:p>
          <a:endParaRPr lang="zh-CN" altLang="en-US" sz="2400"/>
        </a:p>
      </dgm:t>
    </dgm:pt>
    <dgm:pt modelId="{BE15DA07-3E12-4D46-996E-2658B0DB6AC0}" cxnId="{C1EF15B4-3682-484A-8E4B-A77976527A01}" type="sibTrans">
      <dgm:prSet/>
      <dgm:spPr/>
      <dgm:t>
        <a:bodyPr/>
        <a:lstStyle/>
        <a:p>
          <a:endParaRPr lang="zh-CN" altLang="en-US" sz="2400"/>
        </a:p>
      </dgm:t>
    </dgm:pt>
    <dgm:pt modelId="{94B3BF18-F5AE-4643-85A1-A2BF5D1D1CEB}">
      <dgm:prSet phldrT="[文本]" phldr="0" custT="1"/>
      <dgm:spPr/>
      <dgm:t>
        <a:bodyPr vert="horz" wrap="square"/>
        <a:p>
          <a:pPr>
            <a:lnSpc>
              <a:spcPct val="100000"/>
            </a:lnSpc>
            <a:spcBef>
              <a:spcPct val="0"/>
            </a:spcBef>
            <a:spcAft>
              <a:spcPct val="35000"/>
            </a:spcAft>
          </a:pPr>
          <a:r>
            <a:rPr lang="en-US" altLang="zh-CN" sz="3200" dirty="0"/>
            <a:t>CAP</a:t>
          </a:r>
          <a:r>
            <a:rPr lang="en-US" altLang="zh-CN" sz="3200" dirty="0"/>
            <a:t/>
          </a:r>
          <a:endParaRPr lang="en-US" altLang="zh-CN" sz="3200" dirty="0"/>
        </a:p>
      </dgm:t>
    </dgm:pt>
    <dgm:pt modelId="{A86C564F-27BC-4B86-87AC-F119299E198A}" cxnId="{960C1254-9A20-48F5-AD5B-6E05D25E62EA}" type="parTrans">
      <dgm:prSet/>
      <dgm:spPr/>
      <dgm:t>
        <a:bodyPr/>
        <a:lstStyle/>
        <a:p>
          <a:endParaRPr lang="zh-CN" altLang="en-US" sz="2400"/>
        </a:p>
      </dgm:t>
    </dgm:pt>
    <dgm:pt modelId="{FA0F032E-B7A3-42B3-B1E5-28DE68E0C174}" cxnId="{960C1254-9A20-48F5-AD5B-6E05D25E62EA}" type="sibTrans">
      <dgm:prSet/>
      <dgm:spPr/>
      <dgm:t>
        <a:bodyPr/>
        <a:lstStyle/>
        <a:p>
          <a:endParaRPr lang="zh-CN" altLang="en-US" sz="2400"/>
        </a:p>
      </dgm:t>
    </dgm:pt>
    <dgm:pt modelId="{47BEC2F0-1933-4566-9A6F-CAF098B266DF}">
      <dgm:prSet phldrT="[文本]" phldr="0" custT="1"/>
      <dgm:spPr/>
      <dgm:t>
        <a:bodyPr vert="horz" wrap="square"/>
        <a:p>
          <a:pPr>
            <a:lnSpc>
              <a:spcPct val="100000"/>
            </a:lnSpc>
            <a:spcBef>
              <a:spcPct val="0"/>
            </a:spcBef>
            <a:spcAft>
              <a:spcPct val="35000"/>
            </a:spcAft>
          </a:pPr>
          <a:r>
            <a:rPr lang="en-US" altLang="zh-CN" sz="2800" dirty="0"/>
            <a:t>BASE</a:t>
          </a:r>
          <a:r>
            <a:rPr lang="en-US" altLang="zh-CN" sz="2800" dirty="0"/>
            <a:t/>
          </a:r>
          <a:endParaRPr lang="en-US" altLang="zh-CN" sz="2800" dirty="0"/>
        </a:p>
      </dgm:t>
    </dgm:pt>
    <dgm:pt modelId="{187F603D-9866-419E-9813-10E1ABC51234}" cxnId="{4D1CC28F-63D8-4537-A888-C7EA4B8534FB}" type="parTrans">
      <dgm:prSet/>
      <dgm:spPr/>
      <dgm:t>
        <a:bodyPr/>
        <a:lstStyle/>
        <a:p>
          <a:endParaRPr lang="zh-CN" altLang="en-US" sz="2400"/>
        </a:p>
      </dgm:t>
    </dgm:pt>
    <dgm:pt modelId="{2DAC2371-F4DB-4514-9FAA-CCEB7DD421E4}" cxnId="{4D1CC28F-63D8-4537-A888-C7EA4B8534FB}" type="sibTrans">
      <dgm:prSet/>
      <dgm:spPr/>
      <dgm:t>
        <a:bodyPr/>
        <a:lstStyle/>
        <a:p>
          <a:endParaRPr lang="zh-CN" altLang="en-US" sz="2400"/>
        </a:p>
      </dgm:t>
    </dgm:pt>
    <dgm:pt modelId="{D8E1DBE8-C1C6-41E2-9466-90648B8A1A82}">
      <dgm:prSet phldrT="[文本]" phldr="0" custT="1"/>
      <dgm:spPr/>
      <dgm:t>
        <a:bodyPr vert="horz" wrap="square"/>
        <a:p>
          <a:pPr>
            <a:lnSpc>
              <a:spcPct val="100000"/>
            </a:lnSpc>
            <a:spcBef>
              <a:spcPct val="0"/>
            </a:spcBef>
            <a:spcAft>
              <a:spcPct val="35000"/>
            </a:spcAft>
          </a:pPr>
          <a:r>
            <a:rPr lang="zh-CN" altLang="en-US" sz="2000" dirty="0"/>
            <a:t>最终</a:t>
          </a:r>
          <a:r>
            <a:rPr lang="en-US" altLang="zh-CN" sz="2000" dirty="0"/>
            <a:t/>
          </a:r>
          <a:endParaRPr lang="en-US" altLang="zh-CN" sz="2000" dirty="0"/>
        </a:p>
        <a:p>
          <a:pPr>
            <a:lnSpc>
              <a:spcPct val="100000"/>
            </a:lnSpc>
            <a:spcBef>
              <a:spcPct val="0"/>
            </a:spcBef>
            <a:spcAft>
              <a:spcPct val="35000"/>
            </a:spcAft>
          </a:pPr>
          <a:r>
            <a:rPr lang="zh-CN" altLang="en-US" sz="2000" dirty="0"/>
            <a:t>一致性</a:t>
          </a:r>
          <a:r>
            <a:rPr lang="zh-CN" altLang="en-US" sz="2000" dirty="0"/>
            <a:t/>
          </a:r>
          <a:endParaRPr lang="zh-CN" altLang="en-US" sz="2000" dirty="0"/>
        </a:p>
      </dgm:t>
    </dgm:pt>
    <dgm:pt modelId="{41F7394E-D238-45A8-AFD7-12B42092C6CC}" cxnId="{C2A4E16C-591A-4241-99B2-A117300C8C3C}" type="parTrans">
      <dgm:prSet/>
      <dgm:spPr/>
      <dgm:t>
        <a:bodyPr/>
        <a:lstStyle/>
        <a:p>
          <a:endParaRPr lang="zh-CN" altLang="en-US" sz="2400"/>
        </a:p>
      </dgm:t>
    </dgm:pt>
    <dgm:pt modelId="{F35B9130-0DEE-498E-8F69-A331C9E8E2D7}" cxnId="{C2A4E16C-591A-4241-99B2-A117300C8C3C}" type="sibTrans">
      <dgm:prSet/>
      <dgm:spPr/>
      <dgm:t>
        <a:bodyPr/>
        <a:lstStyle/>
        <a:p>
          <a:endParaRPr lang="zh-CN" altLang="en-US" sz="2400"/>
        </a:p>
      </dgm:t>
    </dgm:pt>
    <dgm:pt modelId="{CD7B5C09-10A2-4AB6-85E3-1354D0E29527}" type="pres">
      <dgm:prSet presAssocID="{9154C129-E42D-4829-8626-1BB8D7A2888D}" presName="Name0" presStyleCnt="0">
        <dgm:presLayoutVars>
          <dgm:chMax val="1"/>
          <dgm:chPref val="1"/>
          <dgm:dir/>
          <dgm:animOne val="branch"/>
          <dgm:animLvl val="lvl"/>
        </dgm:presLayoutVars>
      </dgm:prSet>
      <dgm:spPr/>
    </dgm:pt>
    <dgm:pt modelId="{CAFD64B0-0088-4A3E-AE66-A377D0606BDB}" type="pres">
      <dgm:prSet presAssocID="{748C12E9-83A0-415F-B588-D8EEF2CD3E2E}" presName="singleCycle" presStyleCnt="0"/>
      <dgm:spPr/>
    </dgm:pt>
    <dgm:pt modelId="{59EB3A1F-8A1A-462D-A8C7-8C789BA3925B}" type="pres">
      <dgm:prSet presAssocID="{748C12E9-83A0-415F-B588-D8EEF2CD3E2E}" presName="singleCenter" presStyleLbl="node1" presStyleIdx="0" presStyleCnt="4">
        <dgm:presLayoutVars>
          <dgm:chMax val="7"/>
          <dgm:chPref val="7"/>
        </dgm:presLayoutVars>
      </dgm:prSet>
      <dgm:spPr/>
    </dgm:pt>
    <dgm:pt modelId="{1AE218AD-E25E-44EA-AF6E-E40E204F5863}" type="pres">
      <dgm:prSet presAssocID="{A86C564F-27BC-4B86-87AC-F119299E198A}" presName="Name56" presStyleLbl="parChTrans1D2" presStyleIdx="0" presStyleCnt="3"/>
      <dgm:spPr/>
    </dgm:pt>
    <dgm:pt modelId="{D4502F58-5DA6-4484-BB08-95E8AF133B29}" type="pres">
      <dgm:prSet presAssocID="{94B3BF18-F5AE-4643-85A1-A2BF5D1D1CEB}" presName="text0" presStyleLbl="node1" presStyleIdx="1" presStyleCnt="4" custScaleX="131508" custRadScaleRad="100006" custRadScaleInc="1062">
        <dgm:presLayoutVars>
          <dgm:bulletEnabled val="1"/>
        </dgm:presLayoutVars>
      </dgm:prSet>
      <dgm:spPr/>
    </dgm:pt>
    <dgm:pt modelId="{3BBD293F-5967-4853-A859-D7B44070FEB6}" type="pres">
      <dgm:prSet presAssocID="{187F603D-9866-419E-9813-10E1ABC51234}" presName="Name56" presStyleLbl="parChTrans1D2" presStyleIdx="1" presStyleCnt="3"/>
      <dgm:spPr/>
    </dgm:pt>
    <dgm:pt modelId="{E76BFB17-9000-450A-ABEE-32C43B12127B}" type="pres">
      <dgm:prSet presAssocID="{47BEC2F0-1933-4566-9A6F-CAF098B266DF}" presName="text0" presStyleLbl="node1" presStyleIdx="2" presStyleCnt="4" custScaleX="122196">
        <dgm:presLayoutVars>
          <dgm:bulletEnabled val="1"/>
        </dgm:presLayoutVars>
      </dgm:prSet>
      <dgm:spPr/>
    </dgm:pt>
    <dgm:pt modelId="{317B6C6F-FE95-4D3C-8738-7BF387218358}" type="pres">
      <dgm:prSet presAssocID="{41F7394E-D238-45A8-AFD7-12B42092C6CC}" presName="Name56" presStyleLbl="parChTrans1D2" presStyleIdx="2" presStyleCnt="3"/>
      <dgm:spPr/>
    </dgm:pt>
    <dgm:pt modelId="{B13E33E5-CAD6-48E1-BBE3-63F1F4956C16}" type="pres">
      <dgm:prSet presAssocID="{D8E1DBE8-C1C6-41E2-9466-90648B8A1A82}" presName="text0" presStyleLbl="node1" presStyleIdx="3" presStyleCnt="4" custScaleX="133840">
        <dgm:presLayoutVars>
          <dgm:bulletEnabled val="1"/>
        </dgm:presLayoutVars>
      </dgm:prSet>
      <dgm:spPr/>
    </dgm:pt>
  </dgm:ptLst>
  <dgm:cxnLst>
    <dgm:cxn modelId="{C1EF15B4-3682-484A-8E4B-A77976527A01}" srcId="{9154C129-E42D-4829-8626-1BB8D7A2888D}" destId="{748C12E9-83A0-415F-B588-D8EEF2CD3E2E}" srcOrd="0" destOrd="0" parTransId="{589F1C8D-45D5-444E-BA1A-5D95392D63EA}" sibTransId="{BE15DA07-3E12-4D46-996E-2658B0DB6AC0}"/>
    <dgm:cxn modelId="{960C1254-9A20-48F5-AD5B-6E05D25E62EA}" srcId="{748C12E9-83A0-415F-B588-D8EEF2CD3E2E}" destId="{94B3BF18-F5AE-4643-85A1-A2BF5D1D1CEB}" srcOrd="0" destOrd="0" parTransId="{A86C564F-27BC-4B86-87AC-F119299E198A}" sibTransId="{FA0F032E-B7A3-42B3-B1E5-28DE68E0C174}"/>
    <dgm:cxn modelId="{4D1CC28F-63D8-4537-A888-C7EA4B8534FB}" srcId="{748C12E9-83A0-415F-B588-D8EEF2CD3E2E}" destId="{47BEC2F0-1933-4566-9A6F-CAF098B266DF}" srcOrd="1" destOrd="0" parTransId="{187F603D-9866-419E-9813-10E1ABC51234}" sibTransId="{2DAC2371-F4DB-4514-9FAA-CCEB7DD421E4}"/>
    <dgm:cxn modelId="{C2A4E16C-591A-4241-99B2-A117300C8C3C}" srcId="{748C12E9-83A0-415F-B588-D8EEF2CD3E2E}" destId="{D8E1DBE8-C1C6-41E2-9466-90648B8A1A82}" srcOrd="2" destOrd="0" parTransId="{41F7394E-D238-45A8-AFD7-12B42092C6CC}" sibTransId="{F35B9130-0DEE-498E-8F69-A331C9E8E2D7}"/>
    <dgm:cxn modelId="{365C5A89-81B8-4FAB-8CD6-0F3D3B877562}" type="presOf" srcId="{9154C129-E42D-4829-8626-1BB8D7A2888D}" destId="{CD7B5C09-10A2-4AB6-85E3-1354D0E29527}" srcOrd="0" destOrd="0" presId="urn:microsoft.com/office/officeart/2008/layout/RadialCluster#1"/>
    <dgm:cxn modelId="{374B38EB-D822-4602-AC24-07172196DC2B}" type="presParOf" srcId="{CD7B5C09-10A2-4AB6-85E3-1354D0E29527}" destId="{CAFD64B0-0088-4A3E-AE66-A377D0606BDB}" srcOrd="0" destOrd="0" presId="urn:microsoft.com/office/officeart/2008/layout/RadialCluster#1"/>
    <dgm:cxn modelId="{09185656-3EC0-4C36-AC72-506D9D904FC0}" type="presParOf" srcId="{CAFD64B0-0088-4A3E-AE66-A377D0606BDB}" destId="{59EB3A1F-8A1A-462D-A8C7-8C789BA3925B}" srcOrd="0" destOrd="0" presId="urn:microsoft.com/office/officeart/2008/layout/RadialCluster#1"/>
    <dgm:cxn modelId="{720F5B73-B884-4DCB-A240-864542053E24}" type="presOf" srcId="{748C12E9-83A0-415F-B588-D8EEF2CD3E2E}" destId="{59EB3A1F-8A1A-462D-A8C7-8C789BA3925B}" srcOrd="0" destOrd="0" presId="urn:microsoft.com/office/officeart/2008/layout/RadialCluster#1"/>
    <dgm:cxn modelId="{7D478740-C615-4E19-9467-6F8FDA18E527}" type="presParOf" srcId="{CAFD64B0-0088-4A3E-AE66-A377D0606BDB}" destId="{1AE218AD-E25E-44EA-AF6E-E40E204F5863}" srcOrd="1" destOrd="0" presId="urn:microsoft.com/office/officeart/2008/layout/RadialCluster#1"/>
    <dgm:cxn modelId="{12C4ADD5-3CFE-47D0-AF71-83B2D17667C9}" type="presOf" srcId="{A86C564F-27BC-4B86-87AC-F119299E198A}" destId="{1AE218AD-E25E-44EA-AF6E-E40E204F5863}" srcOrd="0" destOrd="0" presId="urn:microsoft.com/office/officeart/2008/layout/RadialCluster#1"/>
    <dgm:cxn modelId="{E46C8825-7B24-499B-BF46-661FF1190905}" type="presParOf" srcId="{CAFD64B0-0088-4A3E-AE66-A377D0606BDB}" destId="{D4502F58-5DA6-4484-BB08-95E8AF133B29}" srcOrd="2" destOrd="0" presId="urn:microsoft.com/office/officeart/2008/layout/RadialCluster#1"/>
    <dgm:cxn modelId="{B94AB88C-46D3-4B2A-98A6-A65877FA3C51}" type="presOf" srcId="{94B3BF18-F5AE-4643-85A1-A2BF5D1D1CEB}" destId="{D4502F58-5DA6-4484-BB08-95E8AF133B29}" srcOrd="0" destOrd="0" presId="urn:microsoft.com/office/officeart/2008/layout/RadialCluster#1"/>
    <dgm:cxn modelId="{CBD66EB7-1C47-482E-8117-9429B1B07F13}" type="presParOf" srcId="{CAFD64B0-0088-4A3E-AE66-A377D0606BDB}" destId="{3BBD293F-5967-4853-A859-D7B44070FEB6}" srcOrd="3" destOrd="0" presId="urn:microsoft.com/office/officeart/2008/layout/RadialCluster#1"/>
    <dgm:cxn modelId="{F6A6F0EB-C136-4B9D-8F69-98F1F506B8A5}" type="presOf" srcId="{187F603D-9866-419E-9813-10E1ABC51234}" destId="{3BBD293F-5967-4853-A859-D7B44070FEB6}" srcOrd="0" destOrd="0" presId="urn:microsoft.com/office/officeart/2008/layout/RadialCluster#1"/>
    <dgm:cxn modelId="{68AA650A-CA8B-4D82-99DC-1418E6B77B59}" type="presParOf" srcId="{CAFD64B0-0088-4A3E-AE66-A377D0606BDB}" destId="{E76BFB17-9000-450A-ABEE-32C43B12127B}" srcOrd="4" destOrd="0" presId="urn:microsoft.com/office/officeart/2008/layout/RadialCluster#1"/>
    <dgm:cxn modelId="{67DB9754-26BB-44FA-BB42-261B010494DD}" type="presOf" srcId="{47BEC2F0-1933-4566-9A6F-CAF098B266DF}" destId="{E76BFB17-9000-450A-ABEE-32C43B12127B}" srcOrd="0" destOrd="0" presId="urn:microsoft.com/office/officeart/2008/layout/RadialCluster#1"/>
    <dgm:cxn modelId="{D233C2BA-522C-46D8-BFCF-CD8B725DC569}" type="presParOf" srcId="{CAFD64B0-0088-4A3E-AE66-A377D0606BDB}" destId="{317B6C6F-FE95-4D3C-8738-7BF387218358}" srcOrd="5" destOrd="0" presId="urn:microsoft.com/office/officeart/2008/layout/RadialCluster#1"/>
    <dgm:cxn modelId="{BBE88564-5BC0-4C04-9E21-9E7D88D2D883}" type="presOf" srcId="{41F7394E-D238-45A8-AFD7-12B42092C6CC}" destId="{317B6C6F-FE95-4D3C-8738-7BF387218358}" srcOrd="0" destOrd="0" presId="urn:microsoft.com/office/officeart/2008/layout/RadialCluster#1"/>
    <dgm:cxn modelId="{F784FD24-908B-4E27-B7A6-6D000D08D59A}" type="presParOf" srcId="{CAFD64B0-0088-4A3E-AE66-A377D0606BDB}" destId="{B13E33E5-CAD6-48E1-BBE3-63F1F4956C16}" srcOrd="6" destOrd="0" presId="urn:microsoft.com/office/officeart/2008/layout/RadialCluster#1"/>
    <dgm:cxn modelId="{A3A54C7A-C398-49F1-9B09-37EC635FA47E}" type="presOf" srcId="{D8E1DBE8-C1C6-41E2-9466-90648B8A1A82}" destId="{B13E33E5-CAD6-48E1-BBE3-63F1F4956C16}" srcOrd="0" destOrd="0" presId="urn:microsoft.com/office/officeart/2008/layout/RadialCluster#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261610" cy="5261610"/>
        <a:chOff x="0" y="0"/>
        <a:chExt cx="5261610" cy="5261610"/>
      </a:xfrm>
    </dsp:grpSpPr>
    <dsp:sp modelId="{59EB3A1F-8A1A-462D-A8C7-8C789BA3925B}">
      <dsp:nvSpPr>
        <dsp:cNvPr id="3" name="圆角矩形 2"/>
        <dsp:cNvSpPr/>
      </dsp:nvSpPr>
      <dsp:spPr bwMode="white">
        <a:xfrm>
          <a:off x="3349371" y="2448331"/>
          <a:ext cx="1578483" cy="1578483"/>
        </a:xfrm>
        <a:prstGeom prst="roundRect">
          <a:avLst/>
        </a:prstGeom>
      </dsp:spPr>
      <dsp:style>
        <a:lnRef idx="3">
          <a:schemeClr val="lt1"/>
        </a:lnRef>
        <a:fillRef idx="1">
          <a:schemeClr val="accent6">
            <a:shade val="50000"/>
            <a:hueOff val="0"/>
            <a:satOff val="0"/>
            <a:lumOff val="0"/>
            <a:alpha val="100000"/>
          </a:schemeClr>
        </a:fillRef>
        <a:effectRef idx="1">
          <a:scrgbClr r="0" g="0" b="0"/>
        </a:effectRef>
        <a:fontRef idx="minor">
          <a:schemeClr val="lt1"/>
        </a:fontRef>
      </dsp:style>
      <dsp:txBody>
        <a:bodyPr lIns="81280" tIns="81280" rIns="81280" bIns="81280" anchor="ctr"/>
        <a:lstStyle>
          <a:lvl1pPr algn="ctr">
            <a:defRPr sz="3600"/>
          </a:lvl1pPr>
          <a:lvl2pPr marL="285750" indent="-285750" algn="ctr">
            <a:defRPr sz="2800"/>
          </a:lvl2pPr>
          <a:lvl3pPr marL="571500" indent="-285750" algn="ctr">
            <a:defRPr sz="2800"/>
          </a:lvl3pPr>
          <a:lvl4pPr marL="857250" indent="-285750" algn="ctr">
            <a:defRPr sz="2800"/>
          </a:lvl4pPr>
          <a:lvl5pPr marL="1143000" indent="-285750" algn="ctr">
            <a:defRPr sz="2800"/>
          </a:lvl5pPr>
          <a:lvl6pPr marL="1428750" indent="-285750" algn="ctr">
            <a:defRPr sz="2800"/>
          </a:lvl6pPr>
          <a:lvl7pPr marL="1714500" indent="-285750" algn="ctr">
            <a:defRPr sz="2800"/>
          </a:lvl7pPr>
          <a:lvl8pPr marL="2000250" indent="-285750" algn="ctr">
            <a:defRPr sz="2800"/>
          </a:lvl8pPr>
          <a:lvl9pPr marL="2286000" indent="-285750" algn="ctr">
            <a:defRPr sz="2800"/>
          </a:lvl9pPr>
        </a:lstStyle>
        <a:p>
          <a:pPr lvl="0">
            <a:lnSpc>
              <a:spcPct val="100000"/>
            </a:lnSpc>
            <a:spcBef>
              <a:spcPct val="0"/>
            </a:spcBef>
            <a:spcAft>
              <a:spcPct val="35000"/>
            </a:spcAft>
          </a:pPr>
          <a:r>
            <a:rPr lang="en-US" altLang="zh-CN" sz="3200" dirty="0"/>
            <a:t>NoSQL</a:t>
          </a:r>
          <a:endParaRPr lang="zh-CN" altLang="en-US" sz="3200" dirty="0"/>
        </a:p>
      </dsp:txBody>
      <dsp:txXfrm>
        <a:off x="3349371" y="2448331"/>
        <a:ext cx="1578483" cy="1578483"/>
      </dsp:txXfrm>
    </dsp:sp>
    <dsp:sp modelId="{1AE218AD-E25E-44EA-AF6E-E40E204F5863}">
      <dsp:nvSpPr>
        <dsp:cNvPr id="4" name="任意多边形 3"/>
        <dsp:cNvSpPr/>
      </dsp:nvSpPr>
      <dsp:spPr bwMode="white">
        <a:xfrm>
          <a:off x="3599008" y="1862065"/>
          <a:ext cx="1109099" cy="63500"/>
        </a:xfrm>
        <a:custGeom>
          <a:avLst/>
          <a:gdLst/>
          <a:ahLst/>
          <a:cxnLst/>
          <a:pathLst>
            <a:path w="1747" h="100">
              <a:moveTo>
                <a:pt x="864" y="923"/>
              </a:moveTo>
              <a:lnTo>
                <a:pt x="883" y="-823"/>
              </a:lnTo>
            </a:path>
          </a:pathLst>
        </a:custGeom>
      </dsp:spPr>
      <dsp:style>
        <a:lnRef idx="2">
          <a:schemeClr val="accent6">
            <a:tint val="90000"/>
          </a:schemeClr>
        </a:lnRef>
        <a:fillRef idx="0">
          <a:schemeClr val="accent6">
            <a:tint val="90000"/>
          </a:schemeClr>
        </a:fillRef>
        <a:effectRef idx="0">
          <a:scrgbClr r="0" g="0" b="0"/>
        </a:effectRef>
        <a:fontRef idx="minor"/>
      </dsp:style>
      <dsp:txXfrm>
        <a:off x="3599008" y="1862065"/>
        <a:ext cx="1109099" cy="63500"/>
      </dsp:txXfrm>
    </dsp:sp>
    <dsp:sp modelId="{D4502F58-5DA6-4484-BB08-95E8AF133B29}">
      <dsp:nvSpPr>
        <dsp:cNvPr id="5" name="圆角矩形 4"/>
        <dsp:cNvSpPr/>
      </dsp:nvSpPr>
      <dsp:spPr bwMode="white">
        <a:xfrm>
          <a:off x="3636814" y="281717"/>
          <a:ext cx="1057584" cy="1057584"/>
        </a:xfrm>
        <a:prstGeom prst="roundRect">
          <a:avLst/>
        </a:prstGeom>
      </dsp:spPr>
      <dsp:style>
        <a:lnRef idx="3">
          <a:schemeClr val="lt1"/>
        </a:lnRef>
        <a:fillRef idx="1">
          <a:schemeClr val="accent6">
            <a:shade val="50000"/>
            <a:hueOff val="180000"/>
            <a:satOff val="-8038"/>
            <a:lumOff val="21961"/>
            <a:alpha val="100000"/>
          </a:schemeClr>
        </a:fillRef>
        <a:effectRef idx="1">
          <a:scrgbClr r="0" g="0" b="0"/>
        </a:effectRef>
        <a:fontRef idx="minor">
          <a:schemeClr val="lt1"/>
        </a:fontRef>
      </dsp:style>
      <dsp:txBody>
        <a:bodyPr vert="horz" wrap="square" lIns="81280" tIns="81280" rIns="81280" bIns="81280" anchor="ctr"/>
        <a:lstStyle>
          <a:lvl1pPr algn="ctr">
            <a:defRPr sz="3600"/>
          </a:lvl1pPr>
          <a:lvl2pPr marL="285750" indent="-285750" algn="ctr">
            <a:defRPr sz="2800"/>
          </a:lvl2pPr>
          <a:lvl3pPr marL="571500" indent="-285750" algn="ctr">
            <a:defRPr sz="2800"/>
          </a:lvl3pPr>
          <a:lvl4pPr marL="857250" indent="-285750" algn="ctr">
            <a:defRPr sz="2800"/>
          </a:lvl4pPr>
          <a:lvl5pPr marL="1143000" indent="-285750" algn="ctr">
            <a:defRPr sz="2800"/>
          </a:lvl5pPr>
          <a:lvl6pPr marL="1428750" indent="-285750" algn="ctr">
            <a:defRPr sz="2800"/>
          </a:lvl6pPr>
          <a:lvl7pPr marL="1714500" indent="-285750" algn="ctr">
            <a:defRPr sz="2800"/>
          </a:lvl7pPr>
          <a:lvl8pPr marL="2000250" indent="-285750" algn="ctr">
            <a:defRPr sz="2800"/>
          </a:lvl8pPr>
          <a:lvl9pPr marL="2286000" indent="-285750" algn="ctr">
            <a:defRPr sz="2800"/>
          </a:lvl9pPr>
        </a:lstStyle>
        <a:p>
          <a:pPr lvl="0">
            <a:lnSpc>
              <a:spcPct val="100000"/>
            </a:lnSpc>
            <a:spcBef>
              <a:spcPct val="0"/>
            </a:spcBef>
            <a:spcAft>
              <a:spcPct val="35000"/>
            </a:spcAft>
          </a:pPr>
          <a:r>
            <a:rPr lang="en-US" altLang="zh-CN" sz="3200" dirty="0"/>
            <a:t>CAP</a:t>
          </a:r>
          <a:endParaRPr lang="en-US" altLang="zh-CN" sz="3200" dirty="0"/>
        </a:p>
      </dsp:txBody>
      <dsp:txXfrm>
        <a:off x="3636814" y="281717"/>
        <a:ext cx="1057584" cy="1057584"/>
      </dsp:txXfrm>
    </dsp:sp>
    <dsp:sp modelId="{3BBD293F-5967-4853-A859-D7B44070FEB6}">
      <dsp:nvSpPr>
        <dsp:cNvPr id="6" name="任意多边形 5"/>
        <dsp:cNvSpPr/>
      </dsp:nvSpPr>
      <dsp:spPr bwMode="white">
        <a:xfrm>
          <a:off x="4867221" y="3887774"/>
          <a:ext cx="905134" cy="63500"/>
        </a:xfrm>
        <a:custGeom>
          <a:avLst/>
          <a:gdLst/>
          <a:ahLst/>
          <a:cxnLst/>
          <a:pathLst>
            <a:path w="1425" h="100">
              <a:moveTo>
                <a:pt x="95" y="-306"/>
              </a:moveTo>
              <a:lnTo>
                <a:pt x="1330" y="406"/>
              </a:lnTo>
            </a:path>
          </a:pathLst>
        </a:custGeom>
      </dsp:spPr>
      <dsp:style>
        <a:lnRef idx="2">
          <a:schemeClr val="accent6">
            <a:tint val="90000"/>
          </a:schemeClr>
        </a:lnRef>
        <a:fillRef idx="0">
          <a:schemeClr val="accent6">
            <a:tint val="90000"/>
          </a:schemeClr>
        </a:fillRef>
        <a:effectRef idx="0">
          <a:scrgbClr r="0" g="0" b="0"/>
        </a:effectRef>
        <a:fontRef idx="minor"/>
      </dsp:style>
      <dsp:txXfrm>
        <a:off x="4867221" y="3887774"/>
        <a:ext cx="905134" cy="63500"/>
      </dsp:txXfrm>
    </dsp:sp>
    <dsp:sp modelId="{E76BFB17-9000-450A-ABEE-32C43B12127B}">
      <dsp:nvSpPr>
        <dsp:cNvPr id="7" name="圆角矩形 6"/>
        <dsp:cNvSpPr/>
      </dsp:nvSpPr>
      <dsp:spPr bwMode="white">
        <a:xfrm>
          <a:off x="5711723" y="3922314"/>
          <a:ext cx="1057584" cy="1057584"/>
        </a:xfrm>
        <a:prstGeom prst="roundRect">
          <a:avLst/>
        </a:prstGeom>
      </dsp:spPr>
      <dsp:style>
        <a:lnRef idx="3">
          <a:schemeClr val="lt1"/>
        </a:lnRef>
        <a:fillRef idx="1">
          <a:schemeClr val="accent6">
            <a:shade val="50000"/>
            <a:hueOff val="360000"/>
            <a:satOff val="-16077"/>
            <a:lumOff val="43922"/>
            <a:alpha val="100000"/>
          </a:schemeClr>
        </a:fillRef>
        <a:effectRef idx="1">
          <a:scrgbClr r="0" g="0" b="0"/>
        </a:effectRef>
        <a:fontRef idx="minor">
          <a:schemeClr val="lt1"/>
        </a:fontRef>
      </dsp:style>
      <dsp:txBody>
        <a:bodyPr vert="horz" wrap="square" lIns="71120" tIns="71120" rIns="71120" bIns="71120" anchor="ctr"/>
        <a:lstStyle>
          <a:lvl1pPr algn="ctr">
            <a:defRPr sz="3600"/>
          </a:lvl1pPr>
          <a:lvl2pPr marL="285750" indent="-285750" algn="ctr">
            <a:defRPr sz="2800"/>
          </a:lvl2pPr>
          <a:lvl3pPr marL="571500" indent="-285750" algn="ctr">
            <a:defRPr sz="2800"/>
          </a:lvl3pPr>
          <a:lvl4pPr marL="857250" indent="-285750" algn="ctr">
            <a:defRPr sz="2800"/>
          </a:lvl4pPr>
          <a:lvl5pPr marL="1143000" indent="-285750" algn="ctr">
            <a:defRPr sz="2800"/>
          </a:lvl5pPr>
          <a:lvl6pPr marL="1428750" indent="-285750" algn="ctr">
            <a:defRPr sz="2800"/>
          </a:lvl6pPr>
          <a:lvl7pPr marL="1714500" indent="-285750" algn="ctr">
            <a:defRPr sz="2800"/>
          </a:lvl7pPr>
          <a:lvl8pPr marL="2000250" indent="-285750" algn="ctr">
            <a:defRPr sz="2800"/>
          </a:lvl8pPr>
          <a:lvl9pPr marL="2286000" indent="-285750" algn="ctr">
            <a:defRPr sz="2800"/>
          </a:lvl9pPr>
        </a:lstStyle>
        <a:p>
          <a:pPr lvl="0">
            <a:lnSpc>
              <a:spcPct val="100000"/>
            </a:lnSpc>
            <a:spcBef>
              <a:spcPct val="0"/>
            </a:spcBef>
            <a:spcAft>
              <a:spcPct val="35000"/>
            </a:spcAft>
          </a:pPr>
          <a:r>
            <a:rPr lang="en-US" altLang="zh-CN" sz="2800" dirty="0"/>
            <a:t>BASE</a:t>
          </a:r>
          <a:endParaRPr lang="en-US" altLang="zh-CN" sz="2800" dirty="0"/>
        </a:p>
      </dsp:txBody>
      <dsp:txXfrm>
        <a:off x="5711723" y="3922314"/>
        <a:ext cx="1057584" cy="1057584"/>
      </dsp:txXfrm>
    </dsp:sp>
    <dsp:sp modelId="{317B6C6F-FE95-4D3C-8738-7BF387218358}">
      <dsp:nvSpPr>
        <dsp:cNvPr id="8" name="任意多边形 7"/>
        <dsp:cNvSpPr/>
      </dsp:nvSpPr>
      <dsp:spPr bwMode="white">
        <a:xfrm>
          <a:off x="2504869" y="3887774"/>
          <a:ext cx="905134" cy="63500"/>
        </a:xfrm>
        <a:custGeom>
          <a:avLst/>
          <a:gdLst/>
          <a:ahLst/>
          <a:cxnLst/>
          <a:pathLst>
            <a:path w="1425" h="100">
              <a:moveTo>
                <a:pt x="1330" y="-306"/>
              </a:moveTo>
              <a:lnTo>
                <a:pt x="95" y="406"/>
              </a:lnTo>
            </a:path>
          </a:pathLst>
        </a:custGeom>
      </dsp:spPr>
      <dsp:style>
        <a:lnRef idx="2">
          <a:schemeClr val="accent6">
            <a:tint val="90000"/>
          </a:schemeClr>
        </a:lnRef>
        <a:fillRef idx="0">
          <a:schemeClr val="accent6">
            <a:tint val="90000"/>
          </a:schemeClr>
        </a:fillRef>
        <a:effectRef idx="0">
          <a:scrgbClr r="0" g="0" b="0"/>
        </a:effectRef>
        <a:fontRef idx="minor"/>
      </dsp:style>
      <dsp:txXfrm>
        <a:off x="2504869" y="3887774"/>
        <a:ext cx="905134" cy="63500"/>
      </dsp:txXfrm>
    </dsp:sp>
    <dsp:sp modelId="{B13E33E5-CAD6-48E1-BBE3-63F1F4956C16}">
      <dsp:nvSpPr>
        <dsp:cNvPr id="9" name="圆角矩形 8"/>
        <dsp:cNvSpPr/>
      </dsp:nvSpPr>
      <dsp:spPr bwMode="white">
        <a:xfrm>
          <a:off x="1507918" y="3922314"/>
          <a:ext cx="1057584" cy="1057584"/>
        </a:xfrm>
        <a:prstGeom prst="roundRect">
          <a:avLst/>
        </a:prstGeom>
      </dsp:spPr>
      <dsp:style>
        <a:lnRef idx="3">
          <a:schemeClr val="lt1"/>
        </a:lnRef>
        <a:fillRef idx="1">
          <a:schemeClr val="accent6">
            <a:tint val="55000"/>
            <a:hueOff val="-180000"/>
            <a:satOff val="8039"/>
            <a:lumOff val="-21960"/>
            <a:alpha val="100000"/>
          </a:schemeClr>
        </a:fillRef>
        <a:effectRef idx="1">
          <a:scrgbClr r="0" g="0" b="0"/>
        </a:effectRef>
        <a:fontRef idx="minor">
          <a:schemeClr val="lt1"/>
        </a:fontRef>
      </dsp:style>
      <dsp:txBody>
        <a:bodyPr vert="horz" wrap="square" lIns="50800" tIns="50800" rIns="50800" bIns="50800" anchor="ctr"/>
        <a:lstStyle>
          <a:lvl1pPr algn="ctr">
            <a:defRPr sz="3600"/>
          </a:lvl1pPr>
          <a:lvl2pPr marL="285750" indent="-285750" algn="ctr">
            <a:defRPr sz="2800"/>
          </a:lvl2pPr>
          <a:lvl3pPr marL="571500" indent="-285750" algn="ctr">
            <a:defRPr sz="2800"/>
          </a:lvl3pPr>
          <a:lvl4pPr marL="857250" indent="-285750" algn="ctr">
            <a:defRPr sz="2800"/>
          </a:lvl4pPr>
          <a:lvl5pPr marL="1143000" indent="-285750" algn="ctr">
            <a:defRPr sz="2800"/>
          </a:lvl5pPr>
          <a:lvl6pPr marL="1428750" indent="-285750" algn="ctr">
            <a:defRPr sz="2800"/>
          </a:lvl6pPr>
          <a:lvl7pPr marL="1714500" indent="-285750" algn="ctr">
            <a:defRPr sz="2800"/>
          </a:lvl7pPr>
          <a:lvl8pPr marL="2000250" indent="-285750" algn="ctr">
            <a:defRPr sz="2800"/>
          </a:lvl8pPr>
          <a:lvl9pPr marL="2286000" indent="-285750" algn="ctr">
            <a:defRPr sz="2800"/>
          </a:lvl9pPr>
        </a:lstStyle>
        <a:p>
          <a:pPr lvl="0">
            <a:lnSpc>
              <a:spcPct val="100000"/>
            </a:lnSpc>
            <a:spcBef>
              <a:spcPct val="0"/>
            </a:spcBef>
            <a:spcAft>
              <a:spcPct val="35000"/>
            </a:spcAft>
          </a:pPr>
          <a:r>
            <a:rPr lang="zh-CN" altLang="en-US" sz="2000" dirty="0"/>
            <a:t>最终</a:t>
          </a:r>
          <a:endParaRPr lang="en-US" altLang="zh-CN" sz="2000" dirty="0"/>
        </a:p>
        <a:p>
          <a:pPr lvl="0">
            <a:lnSpc>
              <a:spcPct val="100000"/>
            </a:lnSpc>
            <a:spcBef>
              <a:spcPct val="0"/>
            </a:spcBef>
            <a:spcAft>
              <a:spcPct val="35000"/>
            </a:spcAft>
          </a:pPr>
          <a:r>
            <a:rPr lang="zh-CN" altLang="en-US" sz="2000" dirty="0"/>
            <a:t>一致性</a:t>
          </a:r>
          <a:endParaRPr lang="zh-CN" altLang="en-US" sz="2000" dirty="0"/>
        </a:p>
      </dsp:txBody>
      <dsp:txXfrm>
        <a:off x="1507918" y="3922314"/>
        <a:ext cx="1057584" cy="1057584"/>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1">
  <dgm:title val=""/>
  <dgm:desc val=""/>
  <dgm:catLst>
    <dgm:cat type="relationship" pri="19500"/>
    <dgm:cat type="cycle" pri="15000"/>
  </dgm:catLst>
  <dgm:sampData>
    <dgm:dataModel>
      <dgm:ptLst>
        <dgm:pt modelId="0" type="doc">
          <dgm:prSet qsTypeId="urn:microsoft.com/office/officeart/2005/8/quickstyle/simple5"/>
        </dgm:pt>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Sty" val="noArr"/>
                    <dgm:param type="endSty" val="noArr"/>
                    <dgm:param type="begPts" val="auto"/>
                    <dgm:param type="endPts" val="auto"/>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stAng" val="90"/>
                              <dgm:param type="ctrShpMap" val="fNode"/>
                            </dgm:alg>
                          </dgm:if>
                          <dgm:if name="Name67" axis="ch ch" ptType="node node" st="1 1" cnt="1 0" func="cnt" op="equ" val="2">
                            <dgm:alg type="cycle">
                              <dgm:param type="stAng" val="45"/>
                              <dgm:param type="spanAng" val="90"/>
                              <dgm:param type="ctrShpMap" val="fNode"/>
                            </dgm:alg>
                          </dgm:if>
                          <dgm:else name="Name68">
                            <dgm:alg type="cycle">
                              <dgm:param type="stAng" val="0"/>
                              <dgm:param type="spanAng" val="180"/>
                              <dgm:param type="ctrShpMap" val="fNode"/>
                            </dgm:alg>
                          </dgm:else>
                        </dgm:choose>
                      </dgm:if>
                      <dgm:if name="Name69" axis="ch" ptType="node" func="cnt" op="equ" val="2">
                        <dgm:choose name="Name70">
                          <dgm:if name="Name71" axis="ch ch" ptType="node node" st="1 1" cnt="1 0" func="cnt" op="equ" val="1">
                            <dgm:alg type="cycle">
                              <dgm:param type="stAng" val="0"/>
                              <dgm:param type="ctrShpMap" val="fNode"/>
                            </dgm:alg>
                          </dgm:if>
                          <dgm:if name="Name72" axis="ch ch" ptType="node node" st="1 1" cnt="1 0" func="cnt" op="equ" val="2">
                            <dgm:alg type="cycle">
                              <dgm:param type="stAng" val="315"/>
                              <dgm:param type="spanAng" val="90"/>
                              <dgm:param type="ctrShpMap" val="fNode"/>
                            </dgm:alg>
                          </dgm:if>
                          <dgm:else name="Name73">
                            <dgm:alg type="cycle">
                              <dgm:param type="stAng" val="270"/>
                              <dgm:param type="spanAng" val="180"/>
                              <dgm:param type="ctrShpMap" val="fNode"/>
                            </dgm:alg>
                          </dgm:else>
                        </dgm:choose>
                      </dgm:if>
                      <dgm:if name="Name74" axis="ch" ptType="node" func="cnt" op="equ" val="3">
                        <dgm:choose name="Name75">
                          <dgm:if name="Name76" axis="ch ch" ptType="node node" st="1 1" cnt="1 0" func="cnt" op="equ" val="1">
                            <dgm:alg type="cycle">
                              <dgm:param type="stAng" val="0"/>
                              <dgm:param type="ctrShpMap" val="fNode"/>
                            </dgm:alg>
                          </dgm:if>
                          <dgm:if name="Name77" axis="ch ch" ptType="node node" st="1 1" cnt="1 0" func="cnt" op="equ" val="2">
                            <dgm:alg type="cycle">
                              <dgm:param type="stAng" val="315"/>
                              <dgm:param type="spanAng" val="90"/>
                              <dgm:param type="ctrShpMap" val="fNode"/>
                            </dgm:alg>
                          </dgm:if>
                          <dgm:else name="Name78">
                            <dgm:alg type="cycle">
                              <dgm:param type="stAng" val="270"/>
                              <dgm:param type="spanAng" val="180"/>
                              <dgm:param type="ctrShpMap" val="fNode"/>
                            </dgm:alg>
                          </dgm:else>
                        </dgm:choose>
                      </dgm:if>
                      <dgm:if name="Name79" axis="ch" ptType="node" func="cnt" op="equ" val="4">
                        <dgm:choose name="Name80">
                          <dgm:if name="Name81" axis="ch ch" ptType="node node" st="1 1" cnt="1 0" func="cnt" op="equ" val="1">
                            <dgm:alg type="cycle">
                              <dgm:param type="stAng" val="0"/>
                              <dgm:param type="ctrShpMap" val="fNode"/>
                            </dgm:alg>
                          </dgm:if>
                          <dgm:if name="Name82" axis="ch ch" ptType="node node" st="1 1" cnt="1 0" func="cnt" op="equ" val="2">
                            <dgm:alg type="cycle">
                              <dgm:param type="stAng" val="315"/>
                              <dgm:param type="spanAng" val="90"/>
                              <dgm:param type="ctrShpMap" val="fNode"/>
                            </dgm:alg>
                          </dgm:if>
                          <dgm:else name="Name83">
                            <dgm:alg type="cycle">
                              <dgm:param type="stAng" val="292.5"/>
                              <dgm:param type="spanAng" val="135"/>
                              <dgm:param type="ctrShpMap" val="fNode"/>
                            </dgm:alg>
                          </dgm:else>
                        </dgm:choose>
                      </dgm:if>
                      <dgm:if name="Name84" axis="ch" ptType="node" func="cnt" op="equ" val="5">
                        <dgm:choose name="Name85">
                          <dgm:if name="Name86" axis="ch ch" ptType="node node" st="1 1" cnt="1 0" func="cnt" op="equ" val="1">
                            <dgm:alg type="cycle">
                              <dgm:param type="stAng" val="0"/>
                              <dgm:param type="ctrShpMap" val="fNode"/>
                            </dgm:alg>
                          </dgm:if>
                          <dgm:if name="Name87" axis="ch ch" ptType="node node" st="1 1" cnt="1 0" func="cnt" op="equ" val="2">
                            <dgm:alg type="cycle">
                              <dgm:param type="stAng" val="315"/>
                              <dgm:param type="spanAng" val="90"/>
                              <dgm:param type="ctrShpMap" val="fNode"/>
                            </dgm:alg>
                          </dgm:if>
                          <dgm:else name="Name88">
                            <dgm:alg type="cycle">
                              <dgm:param type="stAng" val="0"/>
                              <dgm:param type="spanAng" val="360"/>
                              <dgm:param type="ctrShpMap" val="fNode"/>
                            </dgm:alg>
                          </dgm:else>
                        </dgm:choose>
                      </dgm:if>
                      <dgm:if name="Name89" axis="ch" ptType="node" func="cnt" op="equ" val="6">
                        <dgm:choose name="Name90">
                          <dgm:if name="Name91" axis="ch ch" ptType="node node" st="1 1" cnt="1 0" func="cnt" op="equ" val="1">
                            <dgm:alg type="cycle">
                              <dgm:param type="stAng" val="0"/>
                              <dgm:param type="ctrShpMap" val="fNode"/>
                            </dgm:alg>
                          </dgm:if>
                          <dgm:if name="Name92" axis="ch ch" ptType="node node" st="1 1" cnt="1 0" func="cnt" op="equ" val="2">
                            <dgm:alg type="cycle">
                              <dgm:param type="stAng" val="315"/>
                              <dgm:param type="spanAng" val="90"/>
                              <dgm:param type="ctrShpMap" val="fNode"/>
                            </dgm:alg>
                          </dgm:if>
                          <dgm:else name="Name93">
                            <dgm:alg type="cycle">
                              <dgm:param type="stAng" val="0"/>
                              <dgm:param type="spanAng" val="360"/>
                              <dgm:param type="ctrShpMap" val="fNode"/>
                            </dgm:alg>
                          </dgm:else>
                        </dgm:choose>
                      </dgm:if>
                      <dgm:if name="Name94" axis="ch" ptType="node" func="cnt" op="gte" val="7">
                        <dgm:choose name="Name95">
                          <dgm:if name="Name96" axis="ch ch" ptType="node node" st="1 1" cnt="1 0" func="cnt" op="equ" val="1">
                            <dgm:alg type="cycle">
                              <dgm:param type="stAng" val="0"/>
                              <dgm:param type="ctrShpMap" val="fNode"/>
                            </dgm:alg>
                          </dgm:if>
                          <dgm:if name="Name97" axis="ch ch" ptType="node node" st="1 1" cnt="1 0" func="cnt" op="equ" val="2">
                            <dgm:alg type="cycle">
                              <dgm:param type="stAng" val="315"/>
                              <dgm:param type="spanAng" val="90"/>
                              <dgm:param type="ctrShpMap" val="fNode"/>
                            </dgm:alg>
                          </dgm:if>
                          <dgm:else name="Name98">
                            <dgm:alg type="cycle">
                              <dgm:param type="stAng" val="0"/>
                              <dgm:param type="spanAng" val="360"/>
                              <dgm:param type="ctrShpMap" val="fNode"/>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stAng" val="270"/>
                              <dgm:param type="ctrShpMap" val="fNode"/>
                            </dgm:alg>
                          </dgm:if>
                          <dgm:if name="Name105" axis="ch ch" ptType="node node" st="1 1" cnt="1 0" func="cnt" op="equ" val="2">
                            <dgm:alg type="cycle">
                              <dgm:param type="stAng" val="315"/>
                              <dgm:param type="spanAng" val="-90"/>
                              <dgm:param type="ctrShpMap" val="fNode"/>
                            </dgm:alg>
                          </dgm:if>
                          <dgm:else name="Name106">
                            <dgm:alg type="cycle">
                              <dgm:param type="stAng" val="0"/>
                              <dgm:param type="spanAng" val="-180"/>
                              <dgm:param type="ctrShpMap" val="fNode"/>
                            </dgm:alg>
                          </dgm:else>
                        </dgm:choose>
                      </dgm:if>
                      <dgm:if name="Name107" axis="ch" ptType="node" func="cnt" op="equ" val="2">
                        <dgm:choose name="Name108">
                          <dgm:if name="Name109" axis="ch ch" ptType="node node" st="1 1" cnt="1 0" func="cnt" op="equ" val="1">
                            <dgm:alg type="cycle">
                              <dgm:param type="stAng" val="0"/>
                              <dgm:param type="ctrShpMap" val="fNode"/>
                            </dgm:alg>
                          </dgm:if>
                          <dgm:if name="Name110" axis="ch ch" ptType="node node" st="1 1" cnt="1 0" func="cnt" op="equ" val="2">
                            <dgm:alg type="cycle">
                              <dgm:param type="stAng" val="45"/>
                              <dgm:param type="spanAng" val="-90"/>
                              <dgm:param type="ctrShpMap" val="fNode"/>
                            </dgm:alg>
                          </dgm:if>
                          <dgm:else name="Name111">
                            <dgm:alg type="cycle">
                              <dgm:param type="stAng" val="90"/>
                              <dgm:param type="spanAng" val="-180"/>
                              <dgm:param type="ctrShpMap" val="fNode"/>
                            </dgm:alg>
                          </dgm:else>
                        </dgm:choose>
                      </dgm:if>
                      <dgm:if name="Name112" axis="ch" ptType="node" func="cnt" op="equ" val="3">
                        <dgm:choose name="Name113">
                          <dgm:if name="Name114" axis="ch ch" ptType="node node" st="1 1" cnt="1 0" func="cnt" op="equ" val="1">
                            <dgm:alg type="cycle">
                              <dgm:param type="stAng" val="0"/>
                              <dgm:param type="ctrShpMap" val="fNode"/>
                            </dgm:alg>
                          </dgm:if>
                          <dgm:if name="Name115" axis="ch ch" ptType="node node" st="1 1" cnt="1 0" func="cnt" op="equ" val="2">
                            <dgm:alg type="cycle">
                              <dgm:param type="stAng" val="45"/>
                              <dgm:param type="spanAng" val="-90"/>
                              <dgm:param type="ctrShpMap" val="fNode"/>
                            </dgm:alg>
                          </dgm:if>
                          <dgm:else name="Name116">
                            <dgm:alg type="cycle">
                              <dgm:param type="stAng" val="90"/>
                              <dgm:param type="spanAng" val="-180"/>
                              <dgm:param type="ctrShpMap" val="fNode"/>
                            </dgm:alg>
                          </dgm:else>
                        </dgm:choose>
                      </dgm:if>
                      <dgm:if name="Name117" axis="ch" ptType="node" func="cnt" op="equ" val="4">
                        <dgm:choose name="Name118">
                          <dgm:if name="Name119" axis="ch ch" ptType="node node" st="1 1" cnt="1 0" func="cnt" op="equ" val="1">
                            <dgm:alg type="cycle">
                              <dgm:param type="stAng" val="0"/>
                              <dgm:param type="ctrShpMap" val="fNode"/>
                            </dgm:alg>
                          </dgm:if>
                          <dgm:if name="Name120" axis="ch ch" ptType="node node" st="1 1" cnt="1 0" func="cnt" op="equ" val="2">
                            <dgm:alg type="cycle">
                              <dgm:param type="stAng" val="45"/>
                              <dgm:param type="spanAng" val="-90"/>
                              <dgm:param type="ctrShpMap" val="fNode"/>
                            </dgm:alg>
                          </dgm:if>
                          <dgm:else name="Name121">
                            <dgm:alg type="cycle">
                              <dgm:param type="stAng" val="67.5"/>
                              <dgm:param type="spanAng" val="-135"/>
                              <dgm:param type="ctrShpMap" val="fNode"/>
                            </dgm:alg>
                          </dgm:else>
                        </dgm:choose>
                      </dgm:if>
                      <dgm:if name="Name122" axis="ch" ptType="node" func="cnt" op="equ" val="5">
                        <dgm:choose name="Name123">
                          <dgm:if name="Name124" axis="ch ch" ptType="node node" st="1 1" cnt="1 0" func="cnt" op="equ" val="1">
                            <dgm:alg type="cycle">
                              <dgm:param type="stAng" val="0"/>
                              <dgm:param type="ctrShpMap" val="fNode"/>
                            </dgm:alg>
                          </dgm:if>
                          <dgm:if name="Name125" axis="ch ch" ptType="node node" st="1 1" cnt="1 0" func="cnt" op="equ" val="2">
                            <dgm:alg type="cycle">
                              <dgm:param type="stAng" val="45"/>
                              <dgm:param type="spanAng" val="-90"/>
                              <dgm:param type="ctrShpMap" val="fNode"/>
                            </dgm:alg>
                          </dgm:if>
                          <dgm:else name="Name126">
                            <dgm:alg type="cycle">
                              <dgm:param type="stAng" val="0"/>
                              <dgm:param type="spanAng" val="-360"/>
                              <dgm:param type="ctrShpMap" val="fNode"/>
                            </dgm:alg>
                          </dgm:else>
                        </dgm:choose>
                      </dgm:if>
                      <dgm:if name="Name127" axis="ch" ptType="node" func="cnt" op="equ" val="6">
                        <dgm:choose name="Name128">
                          <dgm:if name="Name129" axis="ch ch" ptType="node node" st="1 1" cnt="1 0" func="cnt" op="equ" val="1">
                            <dgm:alg type="cycle">
                              <dgm:param type="stAng" val="0"/>
                              <dgm:param type="ctrShpMap" val="fNode"/>
                            </dgm:alg>
                          </dgm:if>
                          <dgm:if name="Name130" axis="ch ch" ptType="node node" st="1 1" cnt="1 0" func="cnt" op="equ" val="2">
                            <dgm:alg type="cycle">
                              <dgm:param type="stAng" val="45"/>
                              <dgm:param type="spanAng" val="-90"/>
                              <dgm:param type="ctrShpMap" val="fNode"/>
                            </dgm:alg>
                          </dgm:if>
                          <dgm:else name="Name131">
                            <dgm:alg type="cycle">
                              <dgm:param type="stAng" val="0"/>
                              <dgm:param type="spanAng" val="-360"/>
                              <dgm:param type="ctrShpMap" val="fNode"/>
                            </dgm:alg>
                          </dgm:else>
                        </dgm:choose>
                      </dgm:if>
                      <dgm:if name="Name132" axis="ch" ptType="node" func="cnt" op="gte" val="7">
                        <dgm:choose name="Name133">
                          <dgm:if name="Name134" axis="ch ch" ptType="node node" st="1 1" cnt="1 0" func="cnt" op="equ" val="1">
                            <dgm:alg type="cycle">
                              <dgm:param type="stAng" val="0"/>
                              <dgm:param type="ctrShpMap" val="fNode"/>
                            </dgm:alg>
                          </dgm:if>
                          <dgm:if name="Name135" axis="ch ch" ptType="node node" st="1 1" cnt="1 0" func="cnt" op="equ" val="2">
                            <dgm:alg type="cycle">
                              <dgm:param type="stAng" val="45"/>
                              <dgm:param type="spanAng" val="-90"/>
                              <dgm:param type="ctrShpMap" val="fNode"/>
                            </dgm:alg>
                          </dgm:if>
                          <dgm:else name="Name136">
                            <dgm:alg type="cycle">
                              <dgm:param type="stAng" val="0"/>
                              <dgm:param type="spanAng" val="-360"/>
                              <dgm:param type="ctrShpMap" val="fNode"/>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Sty" val="noArr"/>
                          <dgm:param type="endSty" val="noArr"/>
                          <dgm:param type="begPts" val="auto"/>
                          <dgm:param type="endPts" val="auto"/>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srcNode" val="textCenter"/>
                    <dgm:param type="dstNode" val="childCenter1"/>
                    <dgm:param type="dim" val="1D"/>
                    <dgm:param type="endSty" val="noArr"/>
                    <dgm:param type="begPts" val="auto"/>
                    <dgm:param type="endPts" val="auto"/>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stAng" val="180"/>
                              <dgm:param type="ctrShpMap" val="fNode"/>
                            </dgm:alg>
                          </dgm:if>
                          <dgm:if name="Name154" axis="ch ch" ptType="node node" st="2 1" cnt="1 0" func="cnt" op="equ" val="2">
                            <dgm:alg type="cycle">
                              <dgm:param type="stAng" val="135"/>
                              <dgm:param type="spanAng" val="90"/>
                              <dgm:param type="ctrShpMap" val="fNode"/>
                            </dgm:alg>
                          </dgm:if>
                          <dgm:else name="Name155">
                            <dgm:alg type="cycle">
                              <dgm:param type="stAng" val="90"/>
                              <dgm:param type="spanAng" val="180"/>
                              <dgm:param type="ctrShpMap" val="fNode"/>
                            </dgm:alg>
                          </dgm:else>
                        </dgm:choose>
                      </dgm:if>
                      <dgm:if name="Name156" axis="ch" ptType="node" func="cnt" op="equ" val="3">
                        <dgm:choose name="Name157">
                          <dgm:if name="Name158" axis="ch ch" ptType="node node" st="2 1" cnt="1 0" func="cnt" op="equ" val="1">
                            <dgm:alg type="cycle">
                              <dgm:param type="stAng" val="120"/>
                              <dgm:param type="ctrShpMap" val="fNode"/>
                              <dgm:param type="horzAlign" val="r"/>
                              <dgm:param type="vertAlign" val="b"/>
                            </dgm:alg>
                          </dgm:if>
                          <dgm:if name="Name159" axis="ch ch" ptType="node node" st="2 1" cnt="1 0" func="cnt" op="equ" val="2">
                            <dgm:alg type="cycle">
                              <dgm:param type="stAng" val="75"/>
                              <dgm:param type="spanAng" val="90"/>
                              <dgm:param type="ctrShpMap" val="fNode"/>
                              <dgm:param type="horzAlign" val="r"/>
                              <dgm:param type="vertAlign" val="b"/>
                            </dgm:alg>
                          </dgm:if>
                          <dgm:else name="Name160">
                            <dgm:alg type="cycle">
                              <dgm:param type="stAng" val="30"/>
                              <dgm:param type="spanAng" val="180"/>
                              <dgm:param type="ctrShpMap" val="fNode"/>
                            </dgm:alg>
                          </dgm:else>
                        </dgm:choose>
                      </dgm:if>
                      <dgm:if name="Name161" axis="ch" ptType="node" func="cnt" op="equ" val="4">
                        <dgm:choose name="Name162">
                          <dgm:if name="Name163" axis="ch ch" ptType="node node" st="2 1" cnt="1 0" func="cnt" op="equ" val="1">
                            <dgm:alg type="cycle">
                              <dgm:param type="stAng" val="90"/>
                              <dgm:param type="ctrShpMap" val="fNode"/>
                            </dgm:alg>
                          </dgm:if>
                          <dgm:if name="Name164" axis="ch ch" ptType="node node" st="2 1" cnt="1 0" func="cnt" op="equ" val="2">
                            <dgm:alg type="cycle">
                              <dgm:param type="stAng" val="45"/>
                              <dgm:param type="spanAng" val="90"/>
                              <dgm:param type="ctrShpMap" val="fNode"/>
                            </dgm:alg>
                          </dgm:if>
                          <dgm:else name="Name165">
                            <dgm:alg type="cycle">
                              <dgm:param type="stAng" val="22.5"/>
                              <dgm:param type="spanAng" val="135"/>
                              <dgm:param type="ctrShpMap" val="fNode"/>
                            </dgm:alg>
                          </dgm:else>
                        </dgm:choose>
                      </dgm:if>
                      <dgm:if name="Name166" axis="ch" ptType="node" func="cnt" op="equ" val="5">
                        <dgm:choose name="Name167">
                          <dgm:if name="Name168" axis="ch ch" ptType="node node" st="2 1" cnt="1 0" func="cnt" op="equ" val="1">
                            <dgm:alg type="cycle">
                              <dgm:param type="stAng" val="72"/>
                              <dgm:param type="ctrShpMap" val="fNode"/>
                            </dgm:alg>
                          </dgm:if>
                          <dgm:if name="Name169" axis="ch ch" ptType="node node" st="2 1" cnt="1 0" func="cnt" op="equ" val="2">
                            <dgm:alg type="cycle">
                              <dgm:param type="stAng" val="27"/>
                              <dgm:param type="spanAng" val="90"/>
                              <dgm:param type="ctrShpMap" val="fNode"/>
                            </dgm:alg>
                          </dgm:if>
                          <dgm:else name="Name170">
                            <dgm:alg type="cycle">
                              <dgm:param type="stAng" val="0"/>
                              <dgm:param type="spanAng" val="360"/>
                              <dgm:param type="ctrShpMap" val="fNode"/>
                            </dgm:alg>
                          </dgm:else>
                        </dgm:choose>
                      </dgm:if>
                      <dgm:if name="Name171" axis="ch" ptType="node" func="cnt" op="equ" val="6">
                        <dgm:choose name="Name172">
                          <dgm:if name="Name173" axis="ch ch" ptType="node node" st="2 1" cnt="1 0" func="cnt" op="equ" val="1">
                            <dgm:alg type="cycle">
                              <dgm:param type="stAng" val="60"/>
                              <dgm:param type="ctrShpMap" val="fNode"/>
                            </dgm:alg>
                          </dgm:if>
                          <dgm:if name="Name174" axis="ch ch" ptType="node node" st="2 1" cnt="1 0" func="cnt" op="equ" val="2">
                            <dgm:alg type="cycle">
                              <dgm:param type="stAng" val="15"/>
                              <dgm:param type="spanAng" val="90"/>
                              <dgm:param type="ctrShpMap" val="fNode"/>
                            </dgm:alg>
                          </dgm:if>
                          <dgm:else name="Name175">
                            <dgm:alg type="cycle">
                              <dgm:param type="stAng" val="0"/>
                              <dgm:param type="spanAng" val="360"/>
                              <dgm:param type="ctrShpMap" val="fNode"/>
                            </dgm:alg>
                          </dgm:else>
                        </dgm:choose>
                      </dgm:if>
                      <dgm:if name="Name176" axis="ch" ptType="node" func="cnt" op="gte" val="7">
                        <dgm:choose name="Name177">
                          <dgm:if name="Name178" axis="ch ch" ptType="node node" st="2 1" cnt="1 0" func="cnt" op="equ" val="1">
                            <dgm:alg type="cycle">
                              <dgm:param type="stAng" val="51"/>
                              <dgm:param type="ctrShpMap" val="fNode"/>
                            </dgm:alg>
                          </dgm:if>
                          <dgm:if name="Name179" axis="ch ch" ptType="node node" st="2 1" cnt="1 0" func="cnt" op="equ" val="2">
                            <dgm:alg type="cycle">
                              <dgm:param type="stAng" val="6"/>
                              <dgm:param type="spanAng" val="90"/>
                              <dgm:param type="ctrShpMap" val="fNode"/>
                            </dgm:alg>
                          </dgm:if>
                          <dgm:else name="Name180">
                            <dgm:alg type="cycle">
                              <dgm:param type="stAng" val="0"/>
                              <dgm:param type="spanAng" val="360"/>
                              <dgm:param type="ctrShpMap" val="fNode"/>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stAng" val="180"/>
                              <dgm:param type="ctrShpMap" val="fNode"/>
                            </dgm:alg>
                          </dgm:if>
                          <dgm:if name="Name187" axis="ch ch" ptType="node node" st="2 1" cnt="1 0" func="cnt" op="equ" val="2">
                            <dgm:alg type="cycle">
                              <dgm:param type="stAng" val="225"/>
                              <dgm:param type="spanAng" val="-90"/>
                              <dgm:param type="ctrShpMap" val="fNode"/>
                            </dgm:alg>
                          </dgm:if>
                          <dgm:else name="Name188">
                            <dgm:alg type="cycle">
                              <dgm:param type="stAng" val="270"/>
                              <dgm:param type="spanAng" val="-180"/>
                              <dgm:param type="ctrShpMap" val="fNode"/>
                            </dgm:alg>
                          </dgm:else>
                        </dgm:choose>
                      </dgm:if>
                      <dgm:if name="Name189" axis="ch" ptType="node" func="cnt" op="equ" val="3">
                        <dgm:choose name="Name190">
                          <dgm:if name="Name191" axis="ch ch" ptType="node node" st="2 1" cnt="1 0" func="cnt" op="equ" val="1">
                            <dgm:alg type="cycle">
                              <dgm:param type="stAng" val="240"/>
                              <dgm:param type="ctrShpMap" val="fNode"/>
                              <dgm:param type="horzAlign" val="l"/>
                              <dgm:param type="vertAlign" val="b"/>
                            </dgm:alg>
                          </dgm:if>
                          <dgm:if name="Name192" axis="ch ch" ptType="node node" st="2 1" cnt="1 0" func="cnt" op="equ" val="2">
                            <dgm:alg type="cycle">
                              <dgm:param type="stAng" val="285"/>
                              <dgm:param type="spanAng" val="-90"/>
                              <dgm:param type="ctrShpMap" val="fNode"/>
                              <dgm:param type="horzAlign" val="l"/>
                              <dgm:param type="vertAlign" val="b"/>
                            </dgm:alg>
                          </dgm:if>
                          <dgm:else name="Name193">
                            <dgm:alg type="cycle">
                              <dgm:param type="stAng" val="330"/>
                              <dgm:param type="spanAng" val="-180"/>
                              <dgm:param type="ctrShpMap" val="fNode"/>
                            </dgm:alg>
                          </dgm:else>
                        </dgm:choose>
                      </dgm:if>
                      <dgm:if name="Name194" axis="ch" ptType="node" func="cnt" op="equ" val="4">
                        <dgm:choose name="Name195">
                          <dgm:if name="Name196" axis="ch ch" ptType="node node" st="2 1" cnt="1 0" func="cnt" op="equ" val="1">
                            <dgm:alg type="cycle">
                              <dgm:param type="stAng" val="270"/>
                              <dgm:param type="ctrShpMap" val="fNode"/>
                            </dgm:alg>
                          </dgm:if>
                          <dgm:if name="Name197" axis="ch ch" ptType="node node" st="2 1" cnt="1 0" func="cnt" op="equ" val="2">
                            <dgm:alg type="cycle">
                              <dgm:param type="stAng" val="315"/>
                              <dgm:param type="spanAng" val="-90"/>
                              <dgm:param type="ctrShpMap" val="fNode"/>
                            </dgm:alg>
                          </dgm:if>
                          <dgm:else name="Name198">
                            <dgm:alg type="cycle">
                              <dgm:param type="stAng" val="337.5"/>
                              <dgm:param type="spanAng" val="-135"/>
                              <dgm:param type="ctrShpMap" val="fNode"/>
                            </dgm:alg>
                          </dgm:else>
                        </dgm:choose>
                      </dgm:if>
                      <dgm:if name="Name199" axis="ch" ptType="node" func="cnt" op="equ" val="5">
                        <dgm:choose name="Name200">
                          <dgm:if name="Name201" axis="ch ch" ptType="node node" st="2 1" cnt="1 0" func="cnt" op="equ" val="1">
                            <dgm:alg type="cycle">
                              <dgm:param type="stAng" val="288"/>
                              <dgm:param type="ctrShpMap" val="fNode"/>
                            </dgm:alg>
                          </dgm:if>
                          <dgm:if name="Name202" axis="ch ch" ptType="node node" st="2 1" cnt="1 0" func="cnt" op="equ" val="2">
                            <dgm:alg type="cycle">
                              <dgm:param type="stAng" val="333"/>
                              <dgm:param type="spanAng" val="-90"/>
                              <dgm:param type="ctrShpMap" val="fNode"/>
                            </dgm:alg>
                          </dgm:if>
                          <dgm:else name="Name203">
                            <dgm:alg type="cycle">
                              <dgm:param type="stAng" val="0"/>
                              <dgm:param type="spanAng" val="-360"/>
                              <dgm:param type="ctrShpMap" val="fNode"/>
                            </dgm:alg>
                          </dgm:else>
                        </dgm:choose>
                      </dgm:if>
                      <dgm:if name="Name204" axis="ch" ptType="node" func="cnt" op="equ" val="6">
                        <dgm:choose name="Name205">
                          <dgm:if name="Name206" axis="ch ch" ptType="node node" st="2 1" cnt="1 0" func="cnt" op="equ" val="1">
                            <dgm:alg type="cycle">
                              <dgm:param type="stAng" val="300"/>
                              <dgm:param type="ctrShpMap" val="fNode"/>
                            </dgm:alg>
                          </dgm:if>
                          <dgm:if name="Name207" axis="ch ch" ptType="node node" st="2 1" cnt="1 0" func="cnt" op="equ" val="2">
                            <dgm:alg type="cycle">
                              <dgm:param type="stAng" val="345"/>
                              <dgm:param type="spanAng" val="-90"/>
                              <dgm:param type="ctrShpMap" val="fNode"/>
                            </dgm:alg>
                          </dgm:if>
                          <dgm:else name="Name208">
                            <dgm:alg type="cycle">
                              <dgm:param type="stAng" val="0"/>
                              <dgm:param type="spanAng" val="-360"/>
                              <dgm:param type="ctrShpMap" val="fNode"/>
                            </dgm:alg>
                          </dgm:else>
                        </dgm:choose>
                      </dgm:if>
                      <dgm:if name="Name209" axis="ch" ptType="node" func="cnt" op="gte" val="7">
                        <dgm:choose name="Name210">
                          <dgm:if name="Name211" axis="ch ch" ptType="node node" st="2 1" cnt="1 0" func="cnt" op="equ" val="1">
                            <dgm:alg type="cycle">
                              <dgm:param type="stAng" val="308"/>
                              <dgm:param type="ctrShpMap" val="fNode"/>
                            </dgm:alg>
                          </dgm:if>
                          <dgm:if name="Name212" axis="ch ch" ptType="node node" st="2 1" cnt="1 0" func="cnt" op="equ" val="2">
                            <dgm:alg type="cycle">
                              <dgm:param type="stAng" val="353"/>
                              <dgm:param type="spanAng" val="-90"/>
                              <dgm:param type="ctrShpMap" val="fNode"/>
                            </dgm:alg>
                          </dgm:if>
                          <dgm:else name="Name213">
                            <dgm:alg type="cycle">
                              <dgm:param type="stAng" val="0"/>
                              <dgm:param type="spanAng" val="-360"/>
                              <dgm:param type="ctrShpMap" val="fNode"/>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Sty" val="noArr"/>
                          <dgm:param type="endSty" val="noArr"/>
                          <dgm:param type="begPts" val="auto"/>
                          <dgm:param type="endPts" val="auto"/>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srcNode" val="textCenter"/>
                    <dgm:param type="dstNode" val="childCenter2"/>
                    <dgm:param type="dim" val="1D"/>
                    <dgm:param type="endSty" val="noArr"/>
                    <dgm:param type="begPts" val="auto"/>
                    <dgm:param type="endPts" val="auto"/>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stAng" val="240"/>
                              <dgm:param type="ctrShpMap" val="fNode"/>
                              <dgm:param type="horzAlign" val="l"/>
                              <dgm:param type="vertAlign" val="b"/>
                            </dgm:alg>
                          </dgm:if>
                          <dgm:if name="Name231" axis="ch ch" ptType="node node" st="3 1" cnt="1 0" func="cnt" op="equ" val="2">
                            <dgm:alg type="cycle">
                              <dgm:param type="stAng" val="195"/>
                              <dgm:param type="spanAng" val="90"/>
                              <dgm:param type="ctrShpMap" val="fNode"/>
                              <dgm:param type="horzAlign" val="l"/>
                              <dgm:param type="vertAlign" val="b"/>
                            </dgm:alg>
                          </dgm:if>
                          <dgm:else name="Name232">
                            <dgm:alg type="cycle">
                              <dgm:param type="stAng" val="150"/>
                              <dgm:param type="spanAng" val="180"/>
                              <dgm:param type="ctrShpMap" val="fNode"/>
                            </dgm:alg>
                          </dgm:else>
                        </dgm:choose>
                      </dgm:if>
                      <dgm:if name="Name233" axis="ch" ptType="node" func="cnt" op="equ" val="4">
                        <dgm:choose name="Name234">
                          <dgm:if name="Name235" axis="ch ch" ptType="node node" st="3 1" cnt="1 0" func="cnt" op="equ" val="1">
                            <dgm:alg type="cycle">
                              <dgm:param type="stAng" val="180"/>
                              <dgm:param type="ctrShpMap" val="fNode"/>
                            </dgm:alg>
                          </dgm:if>
                          <dgm:if name="Name236" axis="ch ch" ptType="node node" st="3 1" cnt="1 0" func="cnt" op="equ" val="2">
                            <dgm:alg type="cycle">
                              <dgm:param type="stAng" val="135"/>
                              <dgm:param type="spanAng" val="90"/>
                              <dgm:param type="ctrShpMap" val="fNode"/>
                            </dgm:alg>
                          </dgm:if>
                          <dgm:else name="Name237">
                            <dgm:alg type="cycle">
                              <dgm:param type="stAng" val="112.5"/>
                              <dgm:param type="spanAng" val="135"/>
                              <dgm:param type="ctrShpMap" val="fNode"/>
                            </dgm:alg>
                          </dgm:else>
                        </dgm:choose>
                      </dgm:if>
                      <dgm:if name="Name238" axis="ch" ptType="node" func="cnt" op="equ" val="5">
                        <dgm:choose name="Name239">
                          <dgm:if name="Name240" axis="ch ch" ptType="node node" st="3 1" cnt="1 0" func="cnt" op="equ" val="1">
                            <dgm:alg type="cycle">
                              <dgm:param type="stAng" val="144"/>
                              <dgm:param type="ctrShpMap" val="fNode"/>
                            </dgm:alg>
                          </dgm:if>
                          <dgm:if name="Name241" axis="ch ch" ptType="node node" st="3 1" cnt="1 0" func="cnt" op="equ" val="2">
                            <dgm:alg type="cycle">
                              <dgm:param type="stAng" val="99"/>
                              <dgm:param type="spanAng" val="90"/>
                              <dgm:param type="ctrShpMap" val="fNode"/>
                            </dgm:alg>
                          </dgm:if>
                          <dgm:else name="Name242">
                            <dgm:alg type="cycle">
                              <dgm:param type="stAng" val="0"/>
                              <dgm:param type="spanAng" val="360"/>
                              <dgm:param type="ctrShpMap" val="fNode"/>
                            </dgm:alg>
                          </dgm:else>
                        </dgm:choose>
                      </dgm:if>
                      <dgm:if name="Name243" axis="ch" ptType="node" func="cnt" op="equ" val="6">
                        <dgm:choose name="Name244">
                          <dgm:if name="Name245" axis="ch ch" ptType="node node" st="3 1" cnt="1 0" func="cnt" op="equ" val="1">
                            <dgm:alg type="cycle">
                              <dgm:param type="stAng" val="120"/>
                              <dgm:param type="ctrShpMap" val="fNode"/>
                            </dgm:alg>
                          </dgm:if>
                          <dgm:if name="Name246" axis="ch ch" ptType="node node" st="3 1" cnt="1 0" func="cnt" op="equ" val="2">
                            <dgm:alg type="cycle">
                              <dgm:param type="stAng" val="75"/>
                              <dgm:param type="spanAng" val="90"/>
                              <dgm:param type="ctrShpMap" val="fNode"/>
                            </dgm:alg>
                          </dgm:if>
                          <dgm:else name="Name247">
                            <dgm:alg type="cycle">
                              <dgm:param type="stAng" val="0"/>
                              <dgm:param type="spanAng" val="360"/>
                              <dgm:param type="ctrShpMap" val="fNode"/>
                            </dgm:alg>
                          </dgm:else>
                        </dgm:choose>
                      </dgm:if>
                      <dgm:if name="Name248" axis="ch" ptType="node" func="cnt" op="gte" val="7">
                        <dgm:choose name="Name249">
                          <dgm:if name="Name250" axis="ch ch" ptType="node node" st="3 1" cnt="1 0" func="cnt" op="equ" val="1">
                            <dgm:alg type="cycle">
                              <dgm:param type="stAng" val="102"/>
                              <dgm:param type="ctrShpMap" val="fNode"/>
                            </dgm:alg>
                          </dgm:if>
                          <dgm:if name="Name251" axis="ch ch" ptType="node node" st="3 1" cnt="1 0" func="cnt" op="equ" val="2">
                            <dgm:alg type="cycle">
                              <dgm:param type="stAng" val="57"/>
                              <dgm:param type="spanAng" val="90"/>
                              <dgm:param type="ctrShpMap" val="fNode"/>
                            </dgm:alg>
                          </dgm:if>
                          <dgm:else name="Name252">
                            <dgm:alg type="cycle">
                              <dgm:param type="stAng" val="0"/>
                              <dgm:param type="spanAng" val="360"/>
                              <dgm:param type="ctrShpMap" val="fNode"/>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stAng" val="120"/>
                              <dgm:param type="ctrShpMap" val="fNode"/>
                              <dgm:param type="horzAlign" val="r"/>
                              <dgm:param type="vertAlign" val="b"/>
                            </dgm:alg>
                          </dgm:if>
                          <dgm:if name="Name259" axis="ch ch" ptType="node node" st="3 1" cnt="1 0" func="cnt" op="equ" val="2">
                            <dgm:alg type="cycle">
                              <dgm:param type="stAng" val="165"/>
                              <dgm:param type="spanAng" val="-90"/>
                              <dgm:param type="ctrShpMap" val="fNode"/>
                              <dgm:param type="horzAlign" val="r"/>
                              <dgm:param type="vertAlign" val="b"/>
                            </dgm:alg>
                          </dgm:if>
                          <dgm:else name="Name260">
                            <dgm:alg type="cycle">
                              <dgm:param type="stAng" val="210"/>
                              <dgm:param type="spanAng" val="-180"/>
                              <dgm:param type="ctrShpMap" val="fNode"/>
                            </dgm:alg>
                          </dgm:else>
                        </dgm:choose>
                      </dgm:if>
                      <dgm:if name="Name261" axis="ch" ptType="node" func="cnt" op="equ" val="4">
                        <dgm:choose name="Name262">
                          <dgm:if name="Name263" axis="ch ch" ptType="node node" st="3 1" cnt="1 0" func="cnt" op="equ" val="1">
                            <dgm:alg type="cycle">
                              <dgm:param type="stAng" val="180"/>
                              <dgm:param type="ctrShpMap" val="fNode"/>
                            </dgm:alg>
                          </dgm:if>
                          <dgm:if name="Name264" axis="ch ch" ptType="node node" st="3 1" cnt="1 0" func="cnt" op="equ" val="2">
                            <dgm:alg type="cycle">
                              <dgm:param type="stAng" val="225"/>
                              <dgm:param type="spanAng" val="-90"/>
                              <dgm:param type="ctrShpMap" val="fNode"/>
                            </dgm:alg>
                          </dgm:if>
                          <dgm:else name="Name265">
                            <dgm:alg type="cycle">
                              <dgm:param type="stAng" val="247.5"/>
                              <dgm:param type="spanAng" val="-135"/>
                              <dgm:param type="ctrShpMap" val="fNode"/>
                            </dgm:alg>
                          </dgm:else>
                        </dgm:choose>
                      </dgm:if>
                      <dgm:if name="Name266" axis="ch" ptType="node" func="cnt" op="equ" val="5">
                        <dgm:choose name="Name267">
                          <dgm:if name="Name268" axis="ch ch" ptType="node node" st="3 1" cnt="1 0" func="cnt" op="equ" val="1">
                            <dgm:alg type="cycle">
                              <dgm:param type="stAng" val="216"/>
                              <dgm:param type="ctrShpMap" val="fNode"/>
                            </dgm:alg>
                          </dgm:if>
                          <dgm:if name="Name269" axis="ch ch" ptType="node node" st="3 1" cnt="1 0" func="cnt" op="equ" val="2">
                            <dgm:alg type="cycle">
                              <dgm:param type="stAng" val="261"/>
                              <dgm:param type="spanAng" val="-90"/>
                              <dgm:param type="ctrShpMap" val="fNode"/>
                            </dgm:alg>
                          </dgm:if>
                          <dgm:else name="Name270">
                            <dgm:alg type="cycle">
                              <dgm:param type="stAng" val="0"/>
                              <dgm:param type="spanAng" val="-360"/>
                              <dgm:param type="ctrShpMap" val="fNode"/>
                            </dgm:alg>
                          </dgm:else>
                        </dgm:choose>
                      </dgm:if>
                      <dgm:if name="Name271" axis="ch" ptType="node" func="cnt" op="equ" val="6">
                        <dgm:choose name="Name272">
                          <dgm:if name="Name273" axis="ch ch" ptType="node node" st="3 1" cnt="1 0" func="cnt" op="equ" val="1">
                            <dgm:alg type="cycle">
                              <dgm:param type="stAng" val="240"/>
                              <dgm:param type="ctrShpMap" val="fNode"/>
                            </dgm:alg>
                          </dgm:if>
                          <dgm:if name="Name274" axis="ch ch" ptType="node node" st="3 1" cnt="1 0" func="cnt" op="equ" val="2">
                            <dgm:alg type="cycle">
                              <dgm:param type="stAng" val="285"/>
                              <dgm:param type="spanAng" val="-90"/>
                              <dgm:param type="ctrShpMap" val="fNode"/>
                            </dgm:alg>
                          </dgm:if>
                          <dgm:else name="Name275">
                            <dgm:alg type="cycle">
                              <dgm:param type="stAng" val="0"/>
                              <dgm:param type="spanAng" val="-360"/>
                              <dgm:param type="ctrShpMap" val="fNode"/>
                            </dgm:alg>
                          </dgm:else>
                        </dgm:choose>
                      </dgm:if>
                      <dgm:if name="Name276" axis="ch" ptType="node" func="cnt" op="gte" val="7">
                        <dgm:choose name="Name277">
                          <dgm:if name="Name278" axis="ch ch" ptType="node node" st="3 1" cnt="1 0" func="cnt" op="equ" val="1">
                            <dgm:alg type="cycle">
                              <dgm:param type="stAng" val="257"/>
                              <dgm:param type="ctrShpMap" val="fNode"/>
                            </dgm:alg>
                          </dgm:if>
                          <dgm:if name="Name279" axis="ch ch" ptType="node node" st="3 1" cnt="1 0" func="cnt" op="equ" val="2">
                            <dgm:alg type="cycle">
                              <dgm:param type="stAng" val="302"/>
                              <dgm:param type="spanAng" val="-90"/>
                              <dgm:param type="ctrShpMap" val="fNode"/>
                            </dgm:alg>
                          </dgm:if>
                          <dgm:else name="Name280">
                            <dgm:alg type="cycle">
                              <dgm:param type="stAng" val="0"/>
                              <dgm:param type="spanAng" val="-360"/>
                              <dgm:param type="ctrShpMap" val="fNode"/>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Sty" val="noArr"/>
                          <dgm:param type="endSty" val="noArr"/>
                          <dgm:param type="begPts" val="auto"/>
                          <dgm:param type="endPts" val="auto"/>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srcNode" val="textCenter"/>
                    <dgm:param type="dstNode" val="childCenter3"/>
                    <dgm:param type="dim" val="1D"/>
                    <dgm:param type="endSty" val="noArr"/>
                    <dgm:param type="begPts" val="auto"/>
                    <dgm:param type="endPts" val="auto"/>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stAng" val="270"/>
                              <dgm:param type="ctrShpMap" val="fNode"/>
                            </dgm:alg>
                          </dgm:if>
                          <dgm:if name="Name298" axis="ch ch" ptType="node node" st="4 1" cnt="1 0" func="cnt" op="equ" val="2">
                            <dgm:alg type="cycle">
                              <dgm:param type="stAng" val="225"/>
                              <dgm:param type="spanAng" val="90"/>
                              <dgm:param type="ctrShpMap" val="fNode"/>
                            </dgm:alg>
                          </dgm:if>
                          <dgm:else name="Name299">
                            <dgm:alg type="cycle">
                              <dgm:param type="stAng" val="202.5"/>
                              <dgm:param type="spanAng" val="135"/>
                              <dgm:param type="ctrShpMap" val="fNode"/>
                            </dgm:alg>
                          </dgm:else>
                        </dgm:choose>
                      </dgm:if>
                      <dgm:if name="Name300" axis="ch" ptType="node" func="cnt" op="equ" val="5">
                        <dgm:choose name="Name301">
                          <dgm:if name="Name302" axis="ch ch" ptType="node node" st="4 1" cnt="1 0" func="cnt" op="equ" val="1">
                            <dgm:alg type="cycle">
                              <dgm:param type="stAng" val="216"/>
                              <dgm:param type="ctrShpMap" val="fNode"/>
                            </dgm:alg>
                          </dgm:if>
                          <dgm:if name="Name303" axis="ch ch" ptType="node node" st="4 1" cnt="1 0" func="cnt" op="equ" val="2">
                            <dgm:alg type="cycle">
                              <dgm:param type="stAng" val="171"/>
                              <dgm:param type="spanAng" val="90"/>
                              <dgm:param type="ctrShpMap" val="fNode"/>
                            </dgm:alg>
                          </dgm:if>
                          <dgm:else name="Name304">
                            <dgm:alg type="cycle">
                              <dgm:param type="stAng" val="0"/>
                              <dgm:param type="spanAng" val="360"/>
                              <dgm:param type="ctrShpMap" val="fNode"/>
                            </dgm:alg>
                          </dgm:else>
                        </dgm:choose>
                      </dgm:if>
                      <dgm:if name="Name305" axis="ch" ptType="node" func="cnt" op="equ" val="6">
                        <dgm:choose name="Name306">
                          <dgm:if name="Name307" axis="ch ch" ptType="node node" st="4 1" cnt="1 0" func="cnt" op="equ" val="1">
                            <dgm:alg type="cycle">
                              <dgm:param type="stAng" val="180"/>
                              <dgm:param type="ctrShpMap" val="fNode"/>
                            </dgm:alg>
                          </dgm:if>
                          <dgm:if name="Name308" axis="ch ch" ptType="node node" st="4 1" cnt="1 0" func="cnt" op="equ" val="2">
                            <dgm:alg type="cycle">
                              <dgm:param type="stAng" val="135"/>
                              <dgm:param type="spanAng" val="90"/>
                              <dgm:param type="ctrShpMap" val="fNode"/>
                            </dgm:alg>
                          </dgm:if>
                          <dgm:else name="Name309">
                            <dgm:alg type="cycle">
                              <dgm:param type="stAng" val="0"/>
                              <dgm:param type="spanAng" val="360"/>
                              <dgm:param type="ctrShpMap" val="fNode"/>
                            </dgm:alg>
                          </dgm:else>
                        </dgm:choose>
                      </dgm:if>
                      <dgm:if name="Name310" axis="ch" ptType="node" func="cnt" op="gte" val="7">
                        <dgm:choose name="Name311">
                          <dgm:if name="Name312" axis="ch ch" ptType="node node" st="4 1" cnt="1 0" func="cnt" op="equ" val="1">
                            <dgm:alg type="cycle">
                              <dgm:param type="stAng" val="154"/>
                              <dgm:param type="ctrShpMap" val="fNode"/>
                            </dgm:alg>
                          </dgm:if>
                          <dgm:if name="Name313" axis="ch ch" ptType="node node" st="4 1" cnt="1 0" func="cnt" op="equ" val="2">
                            <dgm:alg type="cycle">
                              <dgm:param type="stAng" val="109"/>
                              <dgm:param type="spanAng" val="90"/>
                              <dgm:param type="ctrShpMap" val="fNode"/>
                            </dgm:alg>
                          </dgm:if>
                          <dgm:else name="Name314">
                            <dgm:alg type="cycle">
                              <dgm:param type="stAng" val="0"/>
                              <dgm:param type="spanAng" val="360"/>
                              <dgm:param type="ctrShpMap" val="fNode"/>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stAng" val="90"/>
                              <dgm:param type="ctrShpMap" val="fNode"/>
                            </dgm:alg>
                          </dgm:if>
                          <dgm:if name="Name321" axis="ch ch" ptType="node node" st="4 1" cnt="1 0" func="cnt" op="equ" val="2">
                            <dgm:alg type="cycle">
                              <dgm:param type="stAng" val="135"/>
                              <dgm:param type="spanAng" val="-90"/>
                              <dgm:param type="ctrShpMap" val="fNode"/>
                            </dgm:alg>
                          </dgm:if>
                          <dgm:else name="Name322">
                            <dgm:alg type="cycle">
                              <dgm:param type="stAng" val="157.5"/>
                              <dgm:param type="spanAng" val="-135"/>
                              <dgm:param type="ctrShpMap" val="fNode"/>
                            </dgm:alg>
                          </dgm:else>
                        </dgm:choose>
                      </dgm:if>
                      <dgm:if name="Name323" axis="ch" ptType="node" func="cnt" op="equ" val="5">
                        <dgm:choose name="Name324">
                          <dgm:if name="Name325" axis="ch ch" ptType="node node" st="4 1" cnt="1 0" func="cnt" op="equ" val="1">
                            <dgm:alg type="cycle">
                              <dgm:param type="stAng" val="144"/>
                              <dgm:param type="ctrShpMap" val="fNode"/>
                            </dgm:alg>
                          </dgm:if>
                          <dgm:if name="Name326" axis="ch ch" ptType="node node" st="4 1" cnt="1 0" func="cnt" op="equ" val="2">
                            <dgm:alg type="cycle">
                              <dgm:param type="stAng" val="189"/>
                              <dgm:param type="spanAng" val="-90"/>
                              <dgm:param type="ctrShpMap" val="fNode"/>
                            </dgm:alg>
                          </dgm:if>
                          <dgm:else name="Name327">
                            <dgm:alg type="cycle">
                              <dgm:param type="stAng" val="0"/>
                              <dgm:param type="spanAng" val="-360"/>
                              <dgm:param type="ctrShpMap" val="fNode"/>
                            </dgm:alg>
                          </dgm:else>
                        </dgm:choose>
                      </dgm:if>
                      <dgm:if name="Name328" axis="ch" ptType="node" func="cnt" op="equ" val="6">
                        <dgm:choose name="Name329">
                          <dgm:if name="Name330" axis="ch ch" ptType="node node" st="4 1" cnt="1 0" func="cnt" op="equ" val="1">
                            <dgm:alg type="cycle">
                              <dgm:param type="stAng" val="180"/>
                              <dgm:param type="ctrShpMap" val="fNode"/>
                            </dgm:alg>
                          </dgm:if>
                          <dgm:if name="Name331" axis="ch ch" ptType="node node" st="4 1" cnt="1 0" func="cnt" op="equ" val="2">
                            <dgm:alg type="cycle">
                              <dgm:param type="stAng" val="225"/>
                              <dgm:param type="spanAng" val="-90"/>
                              <dgm:param type="ctrShpMap" val="fNode"/>
                            </dgm:alg>
                          </dgm:if>
                          <dgm:else name="Name332">
                            <dgm:alg type="cycle">
                              <dgm:param type="stAng" val="0"/>
                              <dgm:param type="spanAng" val="-360"/>
                              <dgm:param type="ctrShpMap" val="fNode"/>
                            </dgm:alg>
                          </dgm:else>
                        </dgm:choose>
                      </dgm:if>
                      <dgm:if name="Name333" axis="ch" ptType="node" func="cnt" op="gte" val="7">
                        <dgm:choose name="Name334">
                          <dgm:if name="Name335" axis="ch ch" ptType="node node" st="4 1" cnt="1 0" func="cnt" op="equ" val="1">
                            <dgm:alg type="cycle">
                              <dgm:param type="stAng" val="205"/>
                              <dgm:param type="ctrShpMap" val="fNode"/>
                            </dgm:alg>
                          </dgm:if>
                          <dgm:if name="Name336" axis="ch ch" ptType="node node" st="4 1" cnt="1 0" func="cnt" op="equ" val="2">
                            <dgm:alg type="cycle">
                              <dgm:param type="stAng" val="250"/>
                              <dgm:param type="spanAng" val="-90"/>
                              <dgm:param type="ctrShpMap" val="fNode"/>
                            </dgm:alg>
                          </dgm:if>
                          <dgm:else name="Name337">
                            <dgm:alg type="cycle">
                              <dgm:param type="stAng" val="0"/>
                              <dgm:param type="spanAng" val="-360"/>
                              <dgm:param type="ctrShpMap" val="fNode"/>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Sty" val="noArr"/>
                          <dgm:param type="endSty" val="noArr"/>
                          <dgm:param type="begPts" val="auto"/>
                          <dgm:param type="endPts" val="auto"/>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srcNode" val="textCenter"/>
                    <dgm:param type="dstNode" val="childCenter4"/>
                    <dgm:param type="dim" val="1D"/>
                    <dgm:param type="endSty" val="noArr"/>
                    <dgm:param type="begPts" val="auto"/>
                    <dgm:param type="endPts" val="auto"/>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stAng" val="288"/>
                              <dgm:param type="ctrShpMap" val="fNode"/>
                            </dgm:alg>
                          </dgm:if>
                          <dgm:if name="Name355" axis="ch ch" ptType="node node" st="5 1" cnt="1 0" func="cnt" op="equ" val="2">
                            <dgm:alg type="cycle">
                              <dgm:param type="stAng" val="243"/>
                              <dgm:param type="spanAng" val="90"/>
                              <dgm:param type="ctrShpMap" val="fNode"/>
                            </dgm:alg>
                          </dgm:if>
                          <dgm:else name="Name356">
                            <dgm:alg type="cycle">
                              <dgm:param type="stAng" val="0"/>
                              <dgm:param type="spanAng" val="360"/>
                              <dgm:param type="ctrShpMap" val="fNode"/>
                            </dgm:alg>
                          </dgm:else>
                        </dgm:choose>
                      </dgm:if>
                      <dgm:if name="Name357" axis="ch" ptType="node" func="cnt" op="equ" val="6">
                        <dgm:choose name="Name358">
                          <dgm:if name="Name359" axis="ch ch" ptType="node node" st="5 1" cnt="1 0" func="cnt" op="equ" val="1">
                            <dgm:alg type="cycle">
                              <dgm:param type="stAng" val="240"/>
                              <dgm:param type="ctrShpMap" val="fNode"/>
                            </dgm:alg>
                          </dgm:if>
                          <dgm:if name="Name360" axis="ch ch" ptType="node node" st="5 1" cnt="1 0" func="cnt" op="equ" val="2">
                            <dgm:alg type="cycle">
                              <dgm:param type="stAng" val="195"/>
                              <dgm:param type="spanAng" val="90"/>
                              <dgm:param type="ctrShpMap" val="fNode"/>
                            </dgm:alg>
                          </dgm:if>
                          <dgm:else name="Name361">
                            <dgm:alg type="cycle">
                              <dgm:param type="stAng" val="0"/>
                              <dgm:param type="spanAng" val="360"/>
                              <dgm:param type="ctrShpMap" val="fNode"/>
                            </dgm:alg>
                          </dgm:else>
                        </dgm:choose>
                      </dgm:if>
                      <dgm:if name="Name362" axis="ch" ptType="node" func="cnt" op="gte" val="7">
                        <dgm:choose name="Name363">
                          <dgm:if name="Name364" axis="ch ch" ptType="node node" st="5 1" cnt="1 0" func="cnt" op="equ" val="1">
                            <dgm:alg type="cycle">
                              <dgm:param type="stAng" val="205"/>
                              <dgm:param type="ctrShpMap" val="fNode"/>
                            </dgm:alg>
                          </dgm:if>
                          <dgm:if name="Name365" axis="ch ch" ptType="node node" st="5 1" cnt="1 0" func="cnt" op="equ" val="2">
                            <dgm:alg type="cycle">
                              <dgm:param type="stAng" val="160"/>
                              <dgm:param type="spanAng" val="90"/>
                              <dgm:param type="ctrShpMap" val="fNode"/>
                            </dgm:alg>
                          </dgm:if>
                          <dgm:else name="Name366">
                            <dgm:alg type="cycle">
                              <dgm:param type="stAng" val="0"/>
                              <dgm:param type="spanAng" val="360"/>
                              <dgm:param type="ctrShpMap" val="fNode"/>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stAng" val="72"/>
                              <dgm:param type="ctrShpMap" val="fNode"/>
                            </dgm:alg>
                          </dgm:if>
                          <dgm:if name="Name373" axis="ch ch" ptType="node node" st="5 1" cnt="1 0" func="cnt" op="equ" val="2">
                            <dgm:alg type="cycle">
                              <dgm:param type="stAng" val="117"/>
                              <dgm:param type="spanAng" val="-90"/>
                              <dgm:param type="ctrShpMap" val="fNode"/>
                            </dgm:alg>
                          </dgm:if>
                          <dgm:else name="Name374">
                            <dgm:alg type="cycle">
                              <dgm:param type="stAng" val="0"/>
                              <dgm:param type="spanAng" val="-360"/>
                              <dgm:param type="ctrShpMap" val="fNode"/>
                            </dgm:alg>
                          </dgm:else>
                        </dgm:choose>
                      </dgm:if>
                      <dgm:if name="Name375" axis="ch" ptType="node" func="cnt" op="equ" val="6">
                        <dgm:choose name="Name376">
                          <dgm:if name="Name377" axis="ch ch" ptType="node node" st="5 1" cnt="1 0" func="cnt" op="equ" val="1">
                            <dgm:alg type="cycle">
                              <dgm:param type="stAng" val="120"/>
                              <dgm:param type="ctrShpMap" val="fNode"/>
                            </dgm:alg>
                          </dgm:if>
                          <dgm:if name="Name378" axis="ch ch" ptType="node node" st="5 1" cnt="1 0" func="cnt" op="equ" val="2">
                            <dgm:alg type="cycle">
                              <dgm:param type="stAng" val="165"/>
                              <dgm:param type="spanAng" val="-90"/>
                              <dgm:param type="ctrShpMap" val="fNode"/>
                            </dgm:alg>
                          </dgm:if>
                          <dgm:else name="Name379">
                            <dgm:alg type="cycle">
                              <dgm:param type="stAng" val="0"/>
                              <dgm:param type="spanAng" val="-360"/>
                              <dgm:param type="ctrShpMap" val="fNode"/>
                            </dgm:alg>
                          </dgm:else>
                        </dgm:choose>
                      </dgm:if>
                      <dgm:if name="Name380" axis="ch" ptType="node" func="cnt" op="gte" val="7">
                        <dgm:choose name="Name381">
                          <dgm:if name="Name382" axis="ch ch" ptType="node node" st="5 1" cnt="1 0" func="cnt" op="equ" val="1">
                            <dgm:alg type="cycle">
                              <dgm:param type="stAng" val="154"/>
                              <dgm:param type="ctrShpMap" val="fNode"/>
                            </dgm:alg>
                          </dgm:if>
                          <dgm:if name="Name383" axis="ch ch" ptType="node node" st="5 1" cnt="1 0" func="cnt" op="equ" val="2">
                            <dgm:alg type="cycle">
                              <dgm:param type="stAng" val="199"/>
                              <dgm:param type="spanAng" val="-90"/>
                              <dgm:param type="ctrShpMap" val="fNode"/>
                            </dgm:alg>
                          </dgm:if>
                          <dgm:else name="Name384">
                            <dgm:alg type="cycle">
                              <dgm:param type="stAng" val="0"/>
                              <dgm:param type="spanAng" val="-360"/>
                              <dgm:param type="ctrShpMap" val="fNode"/>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Sty" val="noArr"/>
                          <dgm:param type="endSty" val="noArr"/>
                          <dgm:param type="begPts" val="auto"/>
                          <dgm:param type="endPts" val="auto"/>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srcNode" val="textCenter"/>
                    <dgm:param type="dstNode" val="childCenter5"/>
                    <dgm:param type="dim" val="1D"/>
                    <dgm:param type="endSty" val="noArr"/>
                    <dgm:param type="begPts" val="auto"/>
                    <dgm:param type="endPts" val="auto"/>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stAng" val="300"/>
                              <dgm:param type="ctrShpMap" val="fNode"/>
                            </dgm:alg>
                          </dgm:if>
                          <dgm:if name="Name402" axis="ch ch" ptType="node node" st="6 1" cnt="1 0" func="cnt" op="equ" val="2">
                            <dgm:alg type="cycle">
                              <dgm:param type="stAng" val="255"/>
                              <dgm:param type="spanAng" val="90"/>
                              <dgm:param type="ctrShpMap" val="fNode"/>
                            </dgm:alg>
                          </dgm:if>
                          <dgm:else name="Name403">
                            <dgm:alg type="cycle">
                              <dgm:param type="stAng" val="0"/>
                              <dgm:param type="spanAng" val="360"/>
                              <dgm:param type="ctrShpMap" val="fNode"/>
                            </dgm:alg>
                          </dgm:else>
                        </dgm:choose>
                      </dgm:if>
                      <dgm:if name="Name404" axis="ch" ptType="node" func="cnt" op="gte" val="7">
                        <dgm:choose name="Name405">
                          <dgm:if name="Name406" axis="ch ch" ptType="node node" st="6 1" cnt="1 0" func="cnt" op="equ" val="1">
                            <dgm:alg type="cycle">
                              <dgm:param type="stAng" val="257"/>
                              <dgm:param type="ctrShpMap" val="fNode"/>
                            </dgm:alg>
                          </dgm:if>
                          <dgm:if name="Name407" axis="ch ch" ptType="node node" st="6 1" cnt="1 0" func="cnt" op="equ" val="2">
                            <dgm:alg type="cycle">
                              <dgm:param type="stAng" val="212"/>
                              <dgm:param type="spanAng" val="90"/>
                              <dgm:param type="ctrShpMap" val="fNode"/>
                            </dgm:alg>
                          </dgm:if>
                          <dgm:else name="Name408">
                            <dgm:alg type="cycle">
                              <dgm:param type="stAng" val="0"/>
                              <dgm:param type="spanAng" val="360"/>
                              <dgm:param type="ctrShpMap" val="fNode"/>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stAng" val="60"/>
                              <dgm:param type="ctrShpMap" val="fNode"/>
                            </dgm:alg>
                          </dgm:if>
                          <dgm:if name="Name415" axis="ch ch" ptType="node node" st="6 1" cnt="1 0" func="cnt" op="equ" val="2">
                            <dgm:alg type="cycle">
                              <dgm:param type="stAng" val="105"/>
                              <dgm:param type="spanAng" val="-90"/>
                              <dgm:param type="ctrShpMap" val="fNode"/>
                            </dgm:alg>
                          </dgm:if>
                          <dgm:else name="Name416">
                            <dgm:alg type="cycle">
                              <dgm:param type="stAng" val="0"/>
                              <dgm:param type="spanAng" val="-360"/>
                              <dgm:param type="ctrShpMap" val="fNode"/>
                            </dgm:alg>
                          </dgm:else>
                        </dgm:choose>
                      </dgm:if>
                      <dgm:if name="Name417" axis="ch" ptType="node" func="cnt" op="gte" val="7">
                        <dgm:choose name="Name418">
                          <dgm:if name="Name419" axis="ch ch" ptType="node node" st="6 1" cnt="1 0" func="cnt" op="equ" val="1">
                            <dgm:alg type="cycle">
                              <dgm:param type="stAng" val="102"/>
                              <dgm:param type="ctrShpMap" val="fNode"/>
                            </dgm:alg>
                          </dgm:if>
                          <dgm:if name="Name420" axis="ch ch" ptType="node node" st="6 1" cnt="1 0" func="cnt" op="equ" val="2">
                            <dgm:alg type="cycle">
                              <dgm:param type="stAng" val="147"/>
                              <dgm:param type="spanAng" val="-90"/>
                              <dgm:param type="ctrShpMap" val="fNode"/>
                            </dgm:alg>
                          </dgm:if>
                          <dgm:else name="Name421">
                            <dgm:alg type="cycle">
                              <dgm:param type="stAng" val="0"/>
                              <dgm:param type="spanAng" val="-360"/>
                              <dgm:param type="ctrShpMap" val="fNode"/>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Sty" val="noArr"/>
                          <dgm:param type="endSty" val="noArr"/>
                          <dgm:param type="begPts" val="auto"/>
                          <dgm:param type="endPts" val="auto"/>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srcNode" val="textCenter"/>
                    <dgm:param type="dstNode" val="childCenter6"/>
                    <dgm:param type="dim" val="1D"/>
                    <dgm:param type="endSty" val="noArr"/>
                    <dgm:param type="begPts" val="auto"/>
                    <dgm:param type="endPts" val="auto"/>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stAng" val="308"/>
                              <dgm:param type="ctrShpMap" val="fNode"/>
                            </dgm:alg>
                          </dgm:if>
                          <dgm:if name="Name439" axis="ch ch" ptType="node node" st="7 1" cnt="1 0" func="cnt" op="equ" val="2">
                            <dgm:alg type="cycle">
                              <dgm:param type="stAng" val="263"/>
                              <dgm:param type="spanAng" val="90"/>
                              <dgm:param type="ctrShpMap" val="fNode"/>
                            </dgm:alg>
                          </dgm:if>
                          <dgm:else name="Name440">
                            <dgm:alg type="cycle">
                              <dgm:param type="stAng" val="0"/>
                              <dgm:param type="spanAng" val="360"/>
                              <dgm:param type="ctrShpMap" val="fNode"/>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stAng" val="51"/>
                              <dgm:param type="ctrShpMap" val="fNode"/>
                            </dgm:alg>
                          </dgm:if>
                          <dgm:if name="Name447" axis="ch ch" ptType="node node" st="7 1" cnt="1 0" func="cnt" op="equ" val="2">
                            <dgm:alg type="cycle">
                              <dgm:param type="stAng" val="96"/>
                              <dgm:param type="spanAng" val="-90"/>
                              <dgm:param type="ctrShpMap" val="fNode"/>
                            </dgm:alg>
                          </dgm:if>
                          <dgm:else name="Name448">
                            <dgm:alg type="cycle">
                              <dgm:param type="stAng" val="0"/>
                              <dgm:param type="spanAng" val="-360"/>
                              <dgm:param type="ctrShpMap" val="fNode"/>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Sty" val="noArr"/>
                          <dgm:param type="endSty" val="noArr"/>
                          <dgm:param type="begPts" val="auto"/>
                          <dgm:param type="endPts" val="auto"/>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srcNode" val="textCenter"/>
                    <dgm:param type="dstNode" val="childCenter7"/>
                    <dgm:param type="dim" val="1D"/>
                    <dgm:param type="endSty" val="noArr"/>
                    <dgm:param type="begPts" val="auto"/>
                    <dgm:param type="endPts" val="auto"/>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3331BD-AAF0-4548-8D14-D16358479840}"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F39036-A310-4AA5-8AF2-FD0A3AD5C8A3}"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E8983-1606-403D-842D-3011139FBF0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C7B2D3-D2B9-40AA-AB57-057EF44F5EEA}"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数据完整性分为四类:实体完整性(Entity Integrity)、域完整性(Domain Integrity)、参照完整性(Referential Integrity)、用户自定义完整性(User-definedIntegrity)。</a:t>
            </a:r>
            <a:endParaRPr lang="zh-CN" altLang="en-US"/>
          </a:p>
          <a:p>
            <a:endParaRPr lang="zh-CN" altLang="en-US"/>
          </a:p>
          <a:p>
            <a:r>
              <a:rPr lang="zh-CN" altLang="en-US"/>
              <a:t>数据库采用多种方法来保证数据完整性，包括外键、约束、规则和触发器。</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931D01BD-4741-4184-BE56-DAF04E336C9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AECF920-1DC5-4C71-8718-0D3D51DA575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7DFB8C7-156C-4269-A9D3-236C9122148A}"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3A235BB-B880-4407-ACFF-512D8BC24B90}"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5229A4FC-A20D-40C9-ABAC-C696099A86F2}"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8C8C5C66-F7B6-4A16-8359-13B29DD706AB}"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AB552A2-5CC8-435E-A513-EF450F74AF85}"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442593F0-41FC-4EC0-B9B0-30C4E0373CF4}"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97ADD0A6-25F9-45E6-B1AB-8802F7FB4BF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5B55DAC9-C380-4E94-9EDF-CE70C1A17B9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B49B58E9-DE7D-4AC4-86BB-A1A3764A53E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E57CE09-A6DF-4F65-B9AD-CB157D51E68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1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2_空白">
    <p:spTree>
      <p:nvGrpSpPr>
        <p:cNvPr id="1" name=""/>
        <p:cNvGrpSpPr/>
        <p:nvPr/>
      </p:nvGrpSpPr>
      <p:grpSpPr>
        <a:xfrm>
          <a:off x="0" y="0"/>
          <a:ext cx="0" cy="0"/>
          <a:chOff x="0" y="0"/>
          <a:chExt cx="0" cy="0"/>
        </a:xfrm>
      </p:grpSpPr>
      <p:sp>
        <p:nvSpPr>
          <p:cNvPr id="2" name="Rectangle 11"/>
          <p:cNvSpPr>
            <a:spLocks noGrp="1" noChangeArrowheads="1"/>
          </p:cNvSpPr>
          <p:nvPr>
            <p:ph type="title"/>
          </p:nvPr>
        </p:nvSpPr>
        <p:spPr bwMode="auto">
          <a:xfrm>
            <a:off x="1524000" y="76200"/>
            <a:ext cx="10668000" cy="914400"/>
          </a:xfrm>
          <a:prstGeom prst="rect">
            <a:avLst/>
          </a:prstGeom>
          <a:noFill/>
          <a:ln w="9525">
            <a:noFill/>
            <a:miter lim="800000"/>
          </a:ln>
        </p:spPr>
        <p:txBody>
          <a:bodyPr/>
          <a:lstStyle/>
          <a:p>
            <a:pPr lvl="0"/>
            <a:r>
              <a:rPr lang="zh-CN" noProof="1"/>
              <a:t>单击此处编辑母版标题样式</a:t>
            </a:r>
            <a:endParaRPr lang="zh-CN"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4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5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7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8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9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0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1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2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3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4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5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6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7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9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0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1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2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3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4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5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6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7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8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9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40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41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42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43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44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45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46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47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48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49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50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51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52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53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54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55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56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57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58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59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60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61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62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63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64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65_空白">
    <p:spTree>
      <p:nvGrpSpPr>
        <p:cNvPr id="1" name=""/>
        <p:cNvGrpSpPr/>
        <p:nvPr/>
      </p:nvGrpSpPr>
      <p:grpSpPr>
        <a:xfrm>
          <a:off x="0" y="0"/>
          <a:ext cx="0" cy="0"/>
          <a:chOff x="0" y="0"/>
          <a:chExt cx="0" cy="0"/>
        </a:xfrm>
      </p:grpSpPr>
      <p:sp>
        <p:nvSpPr>
          <p:cNvPr id="2" name="标题 1"/>
          <p:cNvSpPr>
            <a:spLocks noGrp="1"/>
          </p:cNvSpPr>
          <p:nvPr>
            <p:ph type="title"/>
          </p:nvPr>
        </p:nvSpPr>
        <p:spPr>
          <a:xfrm>
            <a:off x="1524000" y="76200"/>
            <a:ext cx="10668000" cy="914400"/>
          </a:xfrm>
        </p:spPr>
        <p:txBody>
          <a:bodyPr/>
          <a:lstStyle/>
          <a:p>
            <a:r>
              <a:rPr lang="zh-CN" altLang="en-US" noProof="1"/>
              <a:t>单击此处编辑母版标题样式</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4" Type="http://schemas.openxmlformats.org/officeDocument/2006/relationships/theme" Target="../theme/theme1.xml"/><Relationship Id="rId73" Type="http://schemas.openxmlformats.org/officeDocument/2006/relationships/image" Target="../media/image1.png"/><Relationship Id="rId72" Type="http://schemas.openxmlformats.org/officeDocument/2006/relationships/slideLayout" Target="../slideLayouts/slideLayout72.xml"/><Relationship Id="rId71" Type="http://schemas.openxmlformats.org/officeDocument/2006/relationships/slideLayout" Target="../slideLayouts/slideLayout71.xml"/><Relationship Id="rId70" Type="http://schemas.openxmlformats.org/officeDocument/2006/relationships/slideLayout" Target="../slideLayouts/slideLayout70.xml"/><Relationship Id="rId7" Type="http://schemas.openxmlformats.org/officeDocument/2006/relationships/slideLayout" Target="../slideLayouts/slideLayout7.xml"/><Relationship Id="rId69" Type="http://schemas.openxmlformats.org/officeDocument/2006/relationships/slideLayout" Target="../slideLayouts/slideLayout69.xml"/><Relationship Id="rId68" Type="http://schemas.openxmlformats.org/officeDocument/2006/relationships/slideLayout" Target="../slideLayouts/slideLayout68.xml"/><Relationship Id="rId67" Type="http://schemas.openxmlformats.org/officeDocument/2006/relationships/slideLayout" Target="../slideLayouts/slideLayout67.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0" Type="http://schemas.openxmlformats.org/officeDocument/2006/relationships/slideLayout" Target="../slideLayouts/slideLayout60.xml"/><Relationship Id="rId6" Type="http://schemas.openxmlformats.org/officeDocument/2006/relationships/slideLayout" Target="../slideLayouts/slideLayout6.xml"/><Relationship Id="rId59" Type="http://schemas.openxmlformats.org/officeDocument/2006/relationships/slideLayout" Target="../slideLayouts/slideLayout59.xml"/><Relationship Id="rId58" Type="http://schemas.openxmlformats.org/officeDocument/2006/relationships/slideLayout" Target="../slideLayouts/slideLayout58.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3">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50D025-EB81-4291-9E40-972558CDBCB9}"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57CE09-A6DF-4F65-B9AD-CB157D51E68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 id="2147483716" r:id="rId68"/>
    <p:sldLayoutId id="2147483717" r:id="rId69"/>
    <p:sldLayoutId id="2147483718" r:id="rId70"/>
    <p:sldLayoutId id="2147483719" r:id="rId71"/>
    <p:sldLayoutId id="2147483720" r:id="rId7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8.emf"/><Relationship Id="rId1" Type="http://schemas.openxmlformats.org/officeDocument/2006/relationships/image" Target="../media/image7.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0.png"/><Relationship Id="rId1" Type="http://schemas.openxmlformats.org/officeDocument/2006/relationships/image" Target="../media/image9.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2.png"/><Relationship Id="rId1" Type="http://schemas.openxmlformats.org/officeDocument/2006/relationships/image" Target="../media/image11.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emf"/></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6.wmf"/></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7.emf"/></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8.emf"/></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emf"/></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0.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p:txBody>
          <a:bodyPr/>
          <a:lstStyle/>
          <a:p>
            <a:r>
              <a:rPr lang="zh-CN" altLang="en-US" b="1" dirty="0">
                <a:solidFill>
                  <a:schemeClr val="tx1"/>
                </a:solidFill>
              </a:rPr>
              <a:t>第</a:t>
            </a:r>
            <a:r>
              <a:rPr lang="en-US" altLang="zh-CN" b="1" dirty="0">
                <a:solidFill>
                  <a:schemeClr val="tx1"/>
                </a:solidFill>
              </a:rPr>
              <a:t>5</a:t>
            </a:r>
            <a:r>
              <a:rPr lang="zh-CN" altLang="en-US" b="1" dirty="0">
                <a:solidFill>
                  <a:schemeClr val="tx1"/>
                </a:solidFill>
              </a:rPr>
              <a:t>章 </a:t>
            </a:r>
            <a:r>
              <a:rPr lang="en-US" altLang="zh-CN" b="1" dirty="0">
                <a:sym typeface="+mn-ea"/>
              </a:rPr>
              <a:t>NoSQL</a:t>
            </a:r>
            <a:r>
              <a:rPr lang="zh-CN" altLang="en-US" b="1" dirty="0">
                <a:sym typeface="+mn-ea"/>
              </a:rPr>
              <a:t>数据库</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2"/>
          <p:cNvSpPr>
            <a:spLocks noGrp="1"/>
          </p:cNvSpPr>
          <p:nvPr>
            <p:ph type="title"/>
          </p:nvPr>
        </p:nvSpPr>
        <p:spPr/>
        <p:txBody>
          <a:bodyPr vert="horz" wrap="square" lIns="91440" tIns="45720" rIns="91440" bIns="45720" anchor="ctr" anchorCtr="0"/>
          <a:lstStyle/>
          <a:p>
            <a:r>
              <a:rPr lang="zh-CN" altLang="zh-CN" sz="4400" dirty="0">
                <a:latin typeface="Arial" panose="020B0604020202020204" pitchFamily="34" charset="0"/>
              </a:rPr>
              <a:t>数据库事务具有</a:t>
            </a:r>
            <a:r>
              <a:rPr lang="en-US" altLang="zh-CN" sz="4400" dirty="0">
                <a:latin typeface="Arial" panose="020B0604020202020204" pitchFamily="34" charset="0"/>
              </a:rPr>
              <a:t>ACID</a:t>
            </a:r>
            <a:r>
              <a:rPr lang="zh-CN" altLang="zh-CN" sz="4400" dirty="0">
                <a:latin typeface="Arial" panose="020B0604020202020204" pitchFamily="34" charset="0"/>
              </a:rPr>
              <a:t>四性</a:t>
            </a:r>
            <a:endParaRPr lang="zh-CN" altLang="en-US" dirty="0"/>
          </a:p>
        </p:txBody>
      </p:sp>
      <p:sp>
        <p:nvSpPr>
          <p:cNvPr id="37891" name="文本框 3"/>
          <p:cNvSpPr txBox="1"/>
          <p:nvPr/>
        </p:nvSpPr>
        <p:spPr>
          <a:xfrm>
            <a:off x="1296670" y="1566545"/>
            <a:ext cx="9314180" cy="4523105"/>
          </a:xfrm>
          <a:prstGeom prst="rect">
            <a:avLst/>
          </a:prstGeom>
          <a:noFill/>
          <a:ln w="9525">
            <a:noFill/>
          </a:ln>
        </p:spPr>
        <p:txBody>
          <a:bodyPr wrap="square">
            <a:spAutoFit/>
          </a:bodyPr>
          <a:lstStyle/>
          <a:p>
            <a:pPr>
              <a:lnSpc>
                <a:spcPct val="150000"/>
              </a:lnSpc>
              <a:buFont typeface="Wingdings" panose="05000000000000000000" pitchFamily="2" charset="2"/>
              <a:buChar char="l"/>
            </a:pPr>
            <a:r>
              <a:rPr lang="en-US" altLang="zh-CN" sz="2400" dirty="0">
                <a:latin typeface="Arial" panose="020B0604020202020204" pitchFamily="34" charset="0"/>
              </a:rPr>
              <a:t>A</a:t>
            </a:r>
            <a:r>
              <a:rPr lang="zh-CN" altLang="zh-CN" sz="2400" dirty="0">
                <a:latin typeface="Arial" panose="020B0604020202020204" pitchFamily="34" charset="0"/>
              </a:rPr>
              <a:t>（</a:t>
            </a:r>
            <a:r>
              <a:rPr lang="en-US" altLang="zh-CN" sz="2400" dirty="0">
                <a:latin typeface="Arial" panose="020B0604020202020204" pitchFamily="34" charset="0"/>
              </a:rPr>
              <a:t>Atomicity</a:t>
            </a:r>
            <a:r>
              <a:rPr lang="zh-CN" altLang="zh-CN" sz="2400" dirty="0">
                <a:latin typeface="Arial" panose="020B0604020202020204" pitchFamily="34" charset="0"/>
              </a:rPr>
              <a:t>）：原子性，是指事务必须是原子工作单元，对于其数据修改，要么全都执行，要么全都不执行</a:t>
            </a:r>
            <a:endParaRPr lang="zh-CN" altLang="zh-CN" sz="2400" dirty="0">
              <a:latin typeface="Arial" panose="020B0604020202020204" pitchFamily="34" charset="0"/>
            </a:endParaRPr>
          </a:p>
          <a:p>
            <a:pPr>
              <a:lnSpc>
                <a:spcPct val="150000"/>
              </a:lnSpc>
              <a:buFont typeface="Wingdings" panose="05000000000000000000" pitchFamily="2" charset="2"/>
              <a:buChar char="l"/>
            </a:pPr>
            <a:r>
              <a:rPr lang="en-US" altLang="zh-CN" sz="2400" dirty="0">
                <a:latin typeface="Arial" panose="020B0604020202020204" pitchFamily="34" charset="0"/>
              </a:rPr>
              <a:t>C</a:t>
            </a:r>
            <a:r>
              <a:rPr lang="zh-CN" altLang="zh-CN" sz="2400" dirty="0">
                <a:latin typeface="Arial" panose="020B0604020202020204" pitchFamily="34" charset="0"/>
              </a:rPr>
              <a:t>（</a:t>
            </a:r>
            <a:r>
              <a:rPr lang="en-US" altLang="zh-CN" sz="2400" dirty="0">
                <a:latin typeface="Arial" panose="020B0604020202020204" pitchFamily="34" charset="0"/>
              </a:rPr>
              <a:t>Consistency</a:t>
            </a:r>
            <a:r>
              <a:rPr lang="zh-CN" altLang="zh-CN" sz="2400" dirty="0">
                <a:latin typeface="Arial" panose="020B0604020202020204" pitchFamily="34" charset="0"/>
              </a:rPr>
              <a:t>）：一致性，是指事务在完成时，必须使所有的数据都保持一致状态</a:t>
            </a:r>
            <a:endParaRPr lang="zh-CN" altLang="zh-CN" sz="2400" dirty="0">
              <a:latin typeface="Arial" panose="020B0604020202020204" pitchFamily="34" charset="0"/>
            </a:endParaRPr>
          </a:p>
          <a:p>
            <a:pPr>
              <a:lnSpc>
                <a:spcPct val="150000"/>
              </a:lnSpc>
              <a:buFont typeface="Wingdings" panose="05000000000000000000" pitchFamily="2" charset="2"/>
              <a:buChar char="l"/>
            </a:pPr>
            <a:r>
              <a:rPr lang="en-US" altLang="zh-CN" sz="2400" dirty="0">
                <a:latin typeface="Arial" panose="020B0604020202020204" pitchFamily="34" charset="0"/>
              </a:rPr>
              <a:t>I</a:t>
            </a:r>
            <a:r>
              <a:rPr lang="zh-CN" altLang="zh-CN" sz="2400" dirty="0">
                <a:latin typeface="Arial" panose="020B0604020202020204" pitchFamily="34" charset="0"/>
              </a:rPr>
              <a:t>（</a:t>
            </a:r>
            <a:r>
              <a:rPr lang="en-US" altLang="zh-CN" sz="2400" dirty="0">
                <a:latin typeface="Arial" panose="020B0604020202020204" pitchFamily="34" charset="0"/>
              </a:rPr>
              <a:t>Isolation</a:t>
            </a:r>
            <a:r>
              <a:rPr lang="zh-CN" altLang="zh-CN" sz="2400" dirty="0">
                <a:latin typeface="Arial" panose="020B0604020202020204" pitchFamily="34" charset="0"/>
              </a:rPr>
              <a:t>）：隔离性，是指由并发事务所做的修改必须与任何其它并发事务所做的修改隔离</a:t>
            </a:r>
            <a:endParaRPr lang="zh-CN" altLang="zh-CN" sz="2400" dirty="0">
              <a:latin typeface="Arial" panose="020B0604020202020204" pitchFamily="34" charset="0"/>
            </a:endParaRPr>
          </a:p>
          <a:p>
            <a:pPr>
              <a:lnSpc>
                <a:spcPct val="150000"/>
              </a:lnSpc>
              <a:buFont typeface="Wingdings" panose="05000000000000000000" pitchFamily="2" charset="2"/>
              <a:buChar char="l"/>
            </a:pPr>
            <a:r>
              <a:rPr lang="en-US" altLang="zh-CN" sz="2400" dirty="0">
                <a:latin typeface="Arial" panose="020B0604020202020204" pitchFamily="34" charset="0"/>
              </a:rPr>
              <a:t>D</a:t>
            </a:r>
            <a:r>
              <a:rPr lang="zh-CN" altLang="zh-CN" sz="2400" dirty="0">
                <a:latin typeface="Arial" panose="020B0604020202020204" pitchFamily="34" charset="0"/>
              </a:rPr>
              <a:t>（</a:t>
            </a:r>
            <a:r>
              <a:rPr lang="en-US" altLang="zh-CN" sz="2400" dirty="0">
                <a:latin typeface="Arial" panose="020B0604020202020204" pitchFamily="34" charset="0"/>
              </a:rPr>
              <a:t>Durability</a:t>
            </a:r>
            <a:r>
              <a:rPr lang="zh-CN" altLang="zh-CN" sz="2400" dirty="0">
                <a:latin typeface="Arial" panose="020B0604020202020204" pitchFamily="34" charset="0"/>
              </a:rPr>
              <a:t>）：持久性，是指事务完成之后，它对于系统的影响是永久性的，该修改即使出现致命的系统故障也将一直保持</a:t>
            </a:r>
            <a:endParaRPr lang="zh-CN" altLang="zh-CN" sz="2400" dirty="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2"/>
          <p:cNvSpPr>
            <a:spLocks noGrp="1"/>
          </p:cNvSpPr>
          <p:nvPr>
            <p:ph type="title" idx="10"/>
          </p:nvPr>
        </p:nvSpPr>
        <p:spPr/>
        <p:txBody>
          <a:bodyPr vert="horz" wrap="square" lIns="91440" tIns="45720" rIns="91440" bIns="45720" anchor="ctr" anchorCtr="0"/>
          <a:lstStyle/>
          <a:p>
            <a:r>
              <a:rPr lang="en-US" altLang="zh-CN" dirty="0">
                <a:solidFill>
                  <a:schemeClr val="tx1"/>
                </a:solidFill>
                <a:latin typeface="Arial" panose="020B0604020202020204" pitchFamily="34" charset="0"/>
                <a:sym typeface="+mn-ea"/>
              </a:rPr>
              <a:t>MySQL</a:t>
            </a:r>
            <a:r>
              <a:rPr lang="zh-CN" altLang="en-US" dirty="0">
                <a:solidFill>
                  <a:schemeClr val="tx1"/>
                </a:solidFill>
                <a:latin typeface="Arial" panose="020B0604020202020204" pitchFamily="34" charset="0"/>
                <a:sym typeface="+mn-ea"/>
              </a:rPr>
              <a:t>集群？</a:t>
            </a:r>
            <a:endParaRPr lang="zh-CN" altLang="en-US" b="1" dirty="0">
              <a:solidFill>
                <a:schemeClr val="tx1"/>
              </a:solidFill>
              <a:latin typeface="Arial" panose="020B0604020202020204" pitchFamily="34" charset="0"/>
              <a:sym typeface="+mn-ea"/>
            </a:endParaRPr>
          </a:p>
        </p:txBody>
      </p:sp>
      <p:pic>
        <p:nvPicPr>
          <p:cNvPr id="8195" name="Picture 2" descr="c:\users\lenovo\appdata\roaming\360se6\User Data\temp\dc54564e9258d10921f68dfed358ccbf6c814d60.jpg"/>
          <p:cNvPicPr>
            <a:picLocks noChangeAspect="1"/>
          </p:cNvPicPr>
          <p:nvPr/>
        </p:nvPicPr>
        <p:blipFill>
          <a:blip r:embed="rId1"/>
          <a:stretch>
            <a:fillRect/>
          </a:stretch>
        </p:blipFill>
        <p:spPr>
          <a:xfrm>
            <a:off x="6550025" y="2099310"/>
            <a:ext cx="5311775" cy="3449955"/>
          </a:xfrm>
          <a:prstGeom prst="rect">
            <a:avLst/>
          </a:prstGeom>
          <a:noFill/>
          <a:ln w="9525">
            <a:noFill/>
          </a:ln>
        </p:spPr>
      </p:pic>
      <p:sp>
        <p:nvSpPr>
          <p:cNvPr id="8196" name="TextBox 4"/>
          <p:cNvSpPr txBox="1"/>
          <p:nvPr/>
        </p:nvSpPr>
        <p:spPr>
          <a:xfrm>
            <a:off x="838200" y="1570355"/>
            <a:ext cx="5711825" cy="4707890"/>
          </a:xfrm>
          <a:prstGeom prst="rect">
            <a:avLst/>
          </a:prstGeom>
          <a:noFill/>
          <a:ln w="9525">
            <a:noFill/>
          </a:ln>
        </p:spPr>
        <p:txBody>
          <a:bodyPr wrap="square">
            <a:spAutoFit/>
          </a:bodyPr>
          <a:lstStyle/>
          <a:p>
            <a:pPr>
              <a:buFont typeface="Arial" panose="020B0604020202020204" pitchFamily="34" charset="0"/>
              <a:buChar char="•"/>
            </a:pPr>
            <a:r>
              <a:rPr lang="zh-CN" altLang="en-US" sz="2000" b="1" dirty="0">
                <a:latin typeface="Arial" panose="020B0604020202020204" pitchFamily="34" charset="0"/>
              </a:rPr>
              <a:t>复杂性</a:t>
            </a:r>
            <a:r>
              <a:rPr lang="zh-CN" altLang="en-US" sz="2000" dirty="0">
                <a:latin typeface="Arial" panose="020B0604020202020204" pitchFamily="34" charset="0"/>
              </a:rPr>
              <a:t>：部署、管理、配置很复杂</a:t>
            </a:r>
            <a:endParaRPr lang="zh-CN" altLang="en-US" sz="2000" dirty="0">
              <a:latin typeface="Arial" panose="020B0604020202020204" pitchFamily="34" charset="0"/>
            </a:endParaRPr>
          </a:p>
          <a:p>
            <a:pPr>
              <a:buFont typeface="Arial" panose="020B0604020202020204" pitchFamily="34" charset="0"/>
              <a:buChar char="•"/>
            </a:pPr>
            <a:endParaRPr lang="en-US" altLang="zh-CN" sz="2000" dirty="0">
              <a:latin typeface="Arial" panose="020B0604020202020204" pitchFamily="34" charset="0"/>
            </a:endParaRPr>
          </a:p>
          <a:p>
            <a:pPr>
              <a:buFont typeface="Arial" panose="020B0604020202020204" pitchFamily="34" charset="0"/>
              <a:buChar char="•"/>
            </a:pPr>
            <a:r>
              <a:rPr lang="zh-CN" altLang="en-US" sz="2000" b="1" dirty="0">
                <a:latin typeface="Arial" panose="020B0604020202020204" pitchFamily="34" charset="0"/>
              </a:rPr>
              <a:t>数据库复制</a:t>
            </a:r>
            <a:r>
              <a:rPr lang="zh-CN" altLang="en-US" sz="2000" dirty="0">
                <a:latin typeface="Arial" panose="020B0604020202020204" pitchFamily="34" charset="0"/>
              </a:rPr>
              <a:t>：</a:t>
            </a:r>
            <a:r>
              <a:rPr lang="en-US" altLang="zh-CN" sz="2000" dirty="0">
                <a:latin typeface="Arial" panose="020B0604020202020204" pitchFamily="34" charset="0"/>
              </a:rPr>
              <a:t>MySQL</a:t>
            </a:r>
            <a:r>
              <a:rPr lang="zh-CN" altLang="en-US" sz="2000" dirty="0">
                <a:latin typeface="Arial" panose="020B0604020202020204" pitchFamily="34" charset="0"/>
              </a:rPr>
              <a:t>主备之间采用复制方式，只能是异步复制，当主库压力较大时可能产生较大延迟，主备切换可能会丢失最后一部分更新事务，这时往往需要人工介入，备份和恢复不方便</a:t>
            </a:r>
            <a:endParaRPr lang="zh-CN" altLang="en-US" sz="2000" dirty="0">
              <a:latin typeface="Arial" panose="020B0604020202020204" pitchFamily="34" charset="0"/>
            </a:endParaRPr>
          </a:p>
          <a:p>
            <a:pPr>
              <a:buFont typeface="Arial" panose="020B0604020202020204" pitchFamily="34" charset="0"/>
              <a:buChar char="•"/>
            </a:pPr>
            <a:endParaRPr lang="en-US" altLang="zh-CN" sz="2000" dirty="0">
              <a:latin typeface="Arial" panose="020B0604020202020204" pitchFamily="34" charset="0"/>
            </a:endParaRPr>
          </a:p>
          <a:p>
            <a:pPr>
              <a:buFont typeface="Arial" panose="020B0604020202020204" pitchFamily="34" charset="0"/>
              <a:buChar char="•"/>
            </a:pPr>
            <a:r>
              <a:rPr lang="zh-CN" altLang="en-US" sz="2000" b="1" dirty="0">
                <a:latin typeface="Arial" panose="020B0604020202020204" pitchFamily="34" charset="0"/>
              </a:rPr>
              <a:t>扩容问题</a:t>
            </a:r>
            <a:r>
              <a:rPr lang="zh-CN" altLang="en-US" sz="2000" dirty="0">
                <a:latin typeface="Arial" panose="020B0604020202020204" pitchFamily="34" charset="0"/>
              </a:rPr>
              <a:t>：如果系统压力过大需要增加新的机器，这个过程涉及数据重新划分，整个过程比较复杂，且容易出错</a:t>
            </a:r>
            <a:endParaRPr lang="zh-CN" altLang="en-US" sz="2000" dirty="0">
              <a:latin typeface="Arial" panose="020B0604020202020204" pitchFamily="34" charset="0"/>
            </a:endParaRPr>
          </a:p>
          <a:p>
            <a:pPr>
              <a:buFont typeface="Arial" panose="020B0604020202020204" pitchFamily="34" charset="0"/>
              <a:buChar char="•"/>
            </a:pPr>
            <a:endParaRPr lang="en-US" altLang="zh-CN" sz="2000" dirty="0">
              <a:latin typeface="Arial" panose="020B0604020202020204" pitchFamily="34" charset="0"/>
            </a:endParaRPr>
          </a:p>
          <a:p>
            <a:pPr>
              <a:buFont typeface="Arial" panose="020B0604020202020204" pitchFamily="34" charset="0"/>
              <a:buChar char="•"/>
            </a:pPr>
            <a:r>
              <a:rPr lang="zh-CN" altLang="en-US" sz="2000" b="1" dirty="0">
                <a:latin typeface="Arial" panose="020B0604020202020204" pitchFamily="34" charset="0"/>
              </a:rPr>
              <a:t>动态数据迁移问题</a:t>
            </a:r>
            <a:r>
              <a:rPr lang="zh-CN" altLang="en-US" sz="2000" dirty="0">
                <a:latin typeface="Arial" panose="020B0604020202020204" pitchFamily="34" charset="0"/>
              </a:rPr>
              <a:t>：如果某个数据库组压力过大，需要将其中部分数据迁移出去，迁移过程需要总控节点整体协调，以及数据库节点的配合。这个过程很难做到自动化</a:t>
            </a:r>
            <a:endParaRPr lang="zh-CN" altLang="en-US" sz="2000" dirty="0">
              <a:latin typeface="Arial" panose="020B0604020202020204" pitchFamily="3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6" name="圆角矩形 5"/>
          <p:cNvSpPr/>
          <p:nvPr/>
        </p:nvSpPr>
        <p:spPr>
          <a:xfrm>
            <a:off x="520700" y="5349240"/>
            <a:ext cx="327279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solidFill>
                  <a:srgbClr val="000000"/>
                </a:solidFill>
                <a:ea typeface="黑体" panose="02010609060101010101" pitchFamily="49" charset="-122"/>
              </a:rPr>
              <a:t>5.4 </a:t>
            </a:r>
            <a:r>
              <a:rPr lang="zh-CN" altLang="en-US" sz="2800" b="1" dirty="0">
                <a:solidFill>
                  <a:srgbClr val="000000"/>
                </a:solidFill>
                <a:ea typeface="黑体" panose="02010609060101010101" pitchFamily="49" charset="-122"/>
              </a:rPr>
              <a:t>四大类型</a:t>
            </a:r>
            <a:endParaRPr lang="zh-CN" altLang="en-US" sz="2800" b="1" dirty="0"/>
          </a:p>
        </p:txBody>
      </p:sp>
      <p:sp>
        <p:nvSpPr>
          <p:cNvPr id="13" name="圆角矩形 4"/>
          <p:cNvSpPr/>
          <p:nvPr/>
        </p:nvSpPr>
        <p:spPr>
          <a:xfrm>
            <a:off x="9146243" y="1745937"/>
            <a:ext cx="2787650" cy="590550"/>
          </a:xfrm>
          <a:prstGeom prst="roundRect">
            <a:avLst/>
          </a:prstGeom>
          <a:solidFill>
            <a:srgbClr val="FFFF00"/>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t>5.5 </a:t>
            </a:r>
            <a:r>
              <a:rPr lang="zh-CN" altLang="en-US" sz="2800" b="1" dirty="0"/>
              <a:t>三大基石</a:t>
            </a:r>
            <a:endParaRPr lang="zh-CN" altLang="en-US" sz="2800" b="1" dirty="0"/>
          </a:p>
        </p:txBody>
      </p:sp>
      <p:sp>
        <p:nvSpPr>
          <p:cNvPr id="16" name="标题 1"/>
          <p:cNvSpPr txBox="1"/>
          <p:nvPr/>
        </p:nvSpPr>
        <p:spPr>
          <a:xfrm>
            <a:off x="395748" y="275858"/>
            <a:ext cx="10515600" cy="8921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sz="4800" b="1" dirty="0">
                <a:solidFill>
                  <a:srgbClr val="000000"/>
                </a:solidFill>
                <a:latin typeface="宋体" panose="02010600030101010101" pitchFamily="2" charset="-122"/>
                <a:ea typeface="宋体" panose="02010600030101010101" pitchFamily="2" charset="-122"/>
                <a:sym typeface="+mn-ea"/>
              </a:rPr>
              <a:t>第5章 NoSQL数据库</a:t>
            </a:r>
            <a:endParaRPr sz="4800" b="1" dirty="0">
              <a:solidFill>
                <a:srgbClr val="000000"/>
              </a:solidFill>
              <a:latin typeface="宋体" panose="02010600030101010101" pitchFamily="2" charset="-122"/>
              <a:ea typeface="宋体" panose="02010600030101010101" pitchFamily="2" charset="-122"/>
              <a:sym typeface="+mn-ea"/>
            </a:endParaRPr>
          </a:p>
        </p:txBody>
      </p:sp>
      <p:sp>
        <p:nvSpPr>
          <p:cNvPr id="8" name="圆角矩形 4"/>
          <p:cNvSpPr/>
          <p:nvPr/>
        </p:nvSpPr>
        <p:spPr>
          <a:xfrm>
            <a:off x="520700" y="1746250"/>
            <a:ext cx="3272155"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solidFill>
                  <a:srgbClr val="000000"/>
                </a:solidFill>
                <a:ea typeface="黑体" panose="02010609060101010101" pitchFamily="49" charset="-122"/>
              </a:rPr>
              <a:t>5.2 </a:t>
            </a:r>
            <a:r>
              <a:rPr lang="zh-CN" sz="2800" b="1" dirty="0">
                <a:solidFill>
                  <a:srgbClr val="000000"/>
                </a:solidFill>
                <a:ea typeface="黑体" panose="02010609060101010101" pitchFamily="49" charset="-122"/>
              </a:rPr>
              <a:t>兴起的原因</a:t>
            </a:r>
            <a:endParaRPr lang="zh-CN" sz="2800" dirty="0"/>
          </a:p>
        </p:txBody>
      </p:sp>
      <p:sp>
        <p:nvSpPr>
          <p:cNvPr id="9" name="圆角矩形 5"/>
          <p:cNvSpPr/>
          <p:nvPr/>
        </p:nvSpPr>
        <p:spPr>
          <a:xfrm>
            <a:off x="520700" y="3547745"/>
            <a:ext cx="327279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solidFill>
                  <a:srgbClr val="000000"/>
                </a:solidFill>
                <a:ea typeface="黑体" panose="02010609060101010101" pitchFamily="49" charset="-122"/>
              </a:rPr>
              <a:t>5.3  VS </a:t>
            </a:r>
            <a:r>
              <a:rPr lang="zh-CN" altLang="en-US" sz="2800" b="1" dirty="0">
                <a:solidFill>
                  <a:srgbClr val="000000"/>
                </a:solidFill>
                <a:ea typeface="黑体" panose="02010609060101010101" pitchFamily="49" charset="-122"/>
              </a:rPr>
              <a:t>关系数据库</a:t>
            </a:r>
            <a:endParaRPr lang="zh-CN" altLang="en-US" sz="2800" b="1" dirty="0">
              <a:solidFill>
                <a:srgbClr val="000000"/>
              </a:solidFill>
              <a:ea typeface="黑体" panose="02010609060101010101" pitchFamily="49" charset="-122"/>
            </a:endParaRPr>
          </a:p>
        </p:txBody>
      </p:sp>
      <p:sp>
        <p:nvSpPr>
          <p:cNvPr id="11" name="圆角矩形 4"/>
          <p:cNvSpPr/>
          <p:nvPr/>
        </p:nvSpPr>
        <p:spPr>
          <a:xfrm>
            <a:off x="9146540" y="3547745"/>
            <a:ext cx="2787650" cy="7366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400" b="1" dirty="0"/>
              <a:t>5.6 </a:t>
            </a:r>
            <a:r>
              <a:rPr lang="zh-CN" altLang="en-US" sz="2400" b="1" dirty="0"/>
              <a:t>从</a:t>
            </a:r>
            <a:r>
              <a:rPr lang="en-US" altLang="zh-CN" sz="2400" b="1" dirty="0"/>
              <a:t>NoSQL</a:t>
            </a:r>
            <a:r>
              <a:rPr lang="zh-CN" altLang="en-US" sz="2400" b="1" dirty="0"/>
              <a:t>到</a:t>
            </a:r>
            <a:r>
              <a:rPr lang="en-US" altLang="zh-CN" sz="2400" b="1" dirty="0"/>
              <a:t>NewSQL</a:t>
            </a:r>
            <a:endParaRPr lang="en-US" altLang="zh-CN" sz="2400" b="1" dirty="0"/>
          </a:p>
        </p:txBody>
      </p:sp>
      <p:sp>
        <p:nvSpPr>
          <p:cNvPr id="12" name="圆角矩形 4"/>
          <p:cNvSpPr/>
          <p:nvPr/>
        </p:nvSpPr>
        <p:spPr>
          <a:xfrm>
            <a:off x="9146243" y="5349276"/>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b="1" dirty="0"/>
              <a:t>编程实践</a:t>
            </a:r>
            <a:endParaRPr lang="zh-CN" altLang="en-US" sz="2800" b="1" dirty="0"/>
          </a:p>
        </p:txBody>
      </p:sp>
      <p:sp>
        <p:nvSpPr>
          <p:cNvPr id="5" name="圆角矩形 4"/>
          <p:cNvSpPr/>
          <p:nvPr/>
        </p:nvSpPr>
        <p:spPr>
          <a:xfrm>
            <a:off x="4868544" y="1746010"/>
            <a:ext cx="2787650" cy="59055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b="1" dirty="0"/>
              <a:t>5.1 </a:t>
            </a:r>
            <a:r>
              <a:rPr lang="zh-CN" altLang="en-US" sz="2800" b="1" dirty="0"/>
              <a:t>简介</a:t>
            </a:r>
            <a:endParaRPr lang="zh-CN" altLang="en-US" sz="2800" b="1" dirty="0"/>
          </a:p>
        </p:txBody>
      </p:sp>
      <p:pic>
        <p:nvPicPr>
          <p:cNvPr id="100" name="图片 99"/>
          <p:cNvPicPr/>
          <p:nvPr/>
        </p:nvPicPr>
        <p:blipFill>
          <a:blip r:embed="rId1"/>
          <a:stretch>
            <a:fillRect/>
          </a:stretch>
        </p:blipFill>
        <p:spPr>
          <a:xfrm>
            <a:off x="3872865" y="3091815"/>
            <a:ext cx="5133975" cy="294322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bldLvl="0" animBg="1"/>
      <p:bldP spid="13" grpId="0" animBg="1"/>
      <p:bldP spid="13" grpId="1" bldLvl="0" animBg="1"/>
      <p:bldP spid="8" grpId="0" animBg="1"/>
      <p:bldP spid="8" grpId="1" bldLvl="0" animBg="1"/>
      <p:bldP spid="9" grpId="0" animBg="1"/>
      <p:bldP spid="9" grpId="1" bldLvl="0" animBg="1"/>
      <p:bldP spid="11" grpId="0" animBg="1"/>
      <p:bldP spid="11" grpId="1" bldLvl="0" animBg="1"/>
      <p:bldP spid="12" grpId="0" animBg="1"/>
      <p:bldP spid="12" grpId="1" bldLvl="0" animBg="1"/>
      <p:bldP spid="5" grpId="0" animBg="1"/>
      <p:bldP spid="5"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6"/>
          <p:cNvPicPr>
            <a:picLocks noChangeAspect="1"/>
          </p:cNvPicPr>
          <p:nvPr/>
        </p:nvPicPr>
        <p:blipFill>
          <a:blip r:embed="rId1"/>
          <a:stretch>
            <a:fillRect/>
          </a:stretch>
        </p:blipFill>
        <p:spPr>
          <a:xfrm>
            <a:off x="391160" y="2680970"/>
            <a:ext cx="11391900" cy="2155190"/>
          </a:xfrm>
          <a:prstGeom prst="rect">
            <a:avLst/>
          </a:prstGeom>
          <a:noFill/>
          <a:ln w="9525">
            <a:noFill/>
          </a:ln>
        </p:spPr>
      </p:pic>
      <p:sp>
        <p:nvSpPr>
          <p:cNvPr id="2" name="标题 1"/>
          <p:cNvSpPr>
            <a:spLocks noGrp="1"/>
          </p:cNvSpPr>
          <p:nvPr>
            <p:ph type="title"/>
          </p:nvPr>
        </p:nvSpPr>
        <p:spPr>
          <a:xfrm>
            <a:off x="838200" y="365125"/>
            <a:ext cx="10515600" cy="1325563"/>
          </a:xfrm>
        </p:spPr>
        <p:txBody>
          <a:bodyPr/>
          <a:lstStyle/>
          <a:p>
            <a:r>
              <a:rPr lang="en-US" altLang="zh-CN" b="1" dirty="0">
                <a:sym typeface="+mn-ea"/>
              </a:rPr>
              <a:t>5.1  NoSQL</a:t>
            </a:r>
            <a:r>
              <a:rPr lang="zh-CN" altLang="en-US" b="1" dirty="0">
                <a:sym typeface="+mn-ea"/>
              </a:rPr>
              <a:t>简介</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sym typeface="+mn-ea"/>
              </a:rPr>
              <a:t>5.1  NoSQL</a:t>
            </a:r>
            <a:r>
              <a:rPr lang="zh-CN" altLang="en-US" b="1" dirty="0">
                <a:sym typeface="+mn-ea"/>
              </a:rPr>
              <a:t>简介</a:t>
            </a:r>
            <a:endParaRPr lang="zh-CN" altLang="en-US" dirty="0"/>
          </a:p>
        </p:txBody>
      </p:sp>
      <p:sp>
        <p:nvSpPr>
          <p:cNvPr id="4" name="灯片编号占位符 3"/>
          <p:cNvSpPr>
            <a:spLocks noGrp="1"/>
          </p:cNvSpPr>
          <p:nvPr>
            <p:ph type="sldNum" sz="quarter" idx="12"/>
          </p:nvPr>
        </p:nvSpPr>
        <p:spPr/>
        <p:txBody>
          <a:bodyPr/>
          <a:lstStyle/>
          <a:p>
            <a:fld id="{7E57CE09-A6DF-4F65-B9AD-CB157D51E68C}" type="slidenum">
              <a:rPr lang="zh-CN" altLang="en-US" smtClean="0"/>
            </a:fld>
            <a:endParaRPr lang="zh-CN" altLang="en-US"/>
          </a:p>
        </p:txBody>
      </p:sp>
      <p:sp>
        <p:nvSpPr>
          <p:cNvPr id="5123" name="文本框 1"/>
          <p:cNvSpPr txBox="1"/>
          <p:nvPr/>
        </p:nvSpPr>
        <p:spPr>
          <a:xfrm>
            <a:off x="838200" y="1545214"/>
            <a:ext cx="7294563" cy="4523105"/>
          </a:xfrm>
          <a:prstGeom prst="rect">
            <a:avLst/>
          </a:prstGeom>
          <a:noFill/>
          <a:ln w="9525">
            <a:noFill/>
          </a:ln>
        </p:spPr>
        <p:txBody>
          <a:bodyPr>
            <a:spAutoFit/>
          </a:bodyPr>
          <a:lstStyle/>
          <a:p>
            <a:pPr>
              <a:lnSpc>
                <a:spcPct val="150000"/>
              </a:lnSpc>
            </a:pPr>
            <a:r>
              <a:rPr lang="zh-CN" altLang="zh-CN" sz="2400" dirty="0">
                <a:latin typeface="Arial" panose="020B0604020202020204" pitchFamily="34" charset="0"/>
              </a:rPr>
              <a:t>通常</a:t>
            </a:r>
            <a:r>
              <a:rPr lang="zh-CN" altLang="en-US" sz="2400" dirty="0">
                <a:latin typeface="Arial" panose="020B0604020202020204" pitchFamily="34" charset="0"/>
              </a:rPr>
              <a:t>，</a:t>
            </a:r>
            <a:r>
              <a:rPr lang="en-US" altLang="zh-CN" sz="2400" dirty="0">
                <a:latin typeface="Arial" panose="020B0604020202020204" pitchFamily="34" charset="0"/>
              </a:rPr>
              <a:t>NoSQL</a:t>
            </a:r>
            <a:r>
              <a:rPr lang="zh-CN" altLang="zh-CN" sz="2400" dirty="0">
                <a:latin typeface="Arial" panose="020B0604020202020204" pitchFamily="34" charset="0"/>
              </a:rPr>
              <a:t>数据库具有以下几个特点：</a:t>
            </a:r>
            <a:endParaRPr lang="zh-CN" altLang="zh-CN" sz="2400" dirty="0">
              <a:latin typeface="Arial" panose="020B0604020202020204" pitchFamily="34" charset="0"/>
            </a:endParaRPr>
          </a:p>
          <a:p>
            <a:pPr>
              <a:lnSpc>
                <a:spcPct val="150000"/>
              </a:lnSpc>
            </a:pPr>
            <a:r>
              <a:rPr lang="zh-CN" altLang="zh-CN" sz="2400" b="1" dirty="0">
                <a:latin typeface="Arial" panose="020B0604020202020204" pitchFamily="34" charset="0"/>
              </a:rPr>
              <a:t>（</a:t>
            </a:r>
            <a:r>
              <a:rPr lang="en-US" altLang="zh-CN" sz="2400" b="1" dirty="0">
                <a:latin typeface="Arial" panose="020B0604020202020204" pitchFamily="34" charset="0"/>
              </a:rPr>
              <a:t>1</a:t>
            </a:r>
            <a:r>
              <a:rPr lang="zh-CN" altLang="zh-CN" sz="2400" b="1" dirty="0">
                <a:latin typeface="Arial" panose="020B0604020202020204" pitchFamily="34" charset="0"/>
              </a:rPr>
              <a:t>）灵活的可扩展性</a:t>
            </a:r>
            <a:endParaRPr lang="zh-CN" altLang="zh-CN" sz="2400" b="1" dirty="0">
              <a:latin typeface="Arial" panose="020B0604020202020204" pitchFamily="34" charset="0"/>
            </a:endParaRPr>
          </a:p>
          <a:p>
            <a:pPr indent="457200">
              <a:lnSpc>
                <a:spcPct val="150000"/>
              </a:lnSpc>
            </a:pPr>
            <a:r>
              <a:rPr lang="zh-CN" altLang="zh-CN" sz="2400" dirty="0">
                <a:latin typeface="Arial" panose="020B0604020202020204" pitchFamily="34" charset="0"/>
              </a:rPr>
              <a:t>横向扩展</a:t>
            </a:r>
            <a:endParaRPr lang="zh-CN" altLang="zh-CN" sz="2400" dirty="0">
              <a:latin typeface="Arial" panose="020B0604020202020204" pitchFamily="34" charset="0"/>
            </a:endParaRPr>
          </a:p>
          <a:p>
            <a:pPr>
              <a:lnSpc>
                <a:spcPct val="150000"/>
              </a:lnSpc>
            </a:pPr>
            <a:endParaRPr lang="zh-CN" altLang="zh-CN" sz="2400" b="1" dirty="0">
              <a:latin typeface="Arial" panose="020B0604020202020204" pitchFamily="34" charset="0"/>
            </a:endParaRPr>
          </a:p>
          <a:p>
            <a:pPr>
              <a:lnSpc>
                <a:spcPct val="150000"/>
              </a:lnSpc>
            </a:pPr>
            <a:r>
              <a:rPr lang="zh-CN" altLang="zh-CN" sz="2400" b="1" dirty="0">
                <a:latin typeface="Arial" panose="020B0604020202020204" pitchFamily="34" charset="0"/>
              </a:rPr>
              <a:t>（</a:t>
            </a:r>
            <a:r>
              <a:rPr lang="en-US" altLang="zh-CN" sz="2400" b="1" dirty="0">
                <a:latin typeface="Arial" panose="020B0604020202020204" pitchFamily="34" charset="0"/>
              </a:rPr>
              <a:t>2</a:t>
            </a:r>
            <a:r>
              <a:rPr lang="zh-CN" altLang="zh-CN" sz="2400" b="1" dirty="0">
                <a:latin typeface="Arial" panose="020B0604020202020204" pitchFamily="34" charset="0"/>
              </a:rPr>
              <a:t>）灵活的数据模型</a:t>
            </a:r>
            <a:endParaRPr lang="zh-CN" altLang="zh-CN" sz="2400" b="1" dirty="0">
              <a:latin typeface="Arial" panose="020B0604020202020204" pitchFamily="34" charset="0"/>
            </a:endParaRPr>
          </a:p>
          <a:p>
            <a:pPr indent="457200">
              <a:lnSpc>
                <a:spcPct val="150000"/>
              </a:lnSpc>
            </a:pPr>
            <a:r>
              <a:rPr lang="zh-CN" altLang="zh-CN" sz="2400" dirty="0">
                <a:latin typeface="Arial" panose="020B0604020202020204" pitchFamily="34" charset="0"/>
              </a:rPr>
              <a:t>非关系型</a:t>
            </a:r>
            <a:endParaRPr lang="zh-CN" altLang="zh-CN" sz="2400" dirty="0">
              <a:latin typeface="Arial" panose="020B0604020202020204" pitchFamily="34" charset="0"/>
            </a:endParaRPr>
          </a:p>
          <a:p>
            <a:pPr>
              <a:lnSpc>
                <a:spcPct val="150000"/>
              </a:lnSpc>
            </a:pPr>
            <a:endParaRPr lang="zh-CN" altLang="zh-CN" sz="2400" b="1" dirty="0">
              <a:latin typeface="Arial" panose="020B0604020202020204" pitchFamily="34" charset="0"/>
            </a:endParaRPr>
          </a:p>
          <a:p>
            <a:pPr>
              <a:lnSpc>
                <a:spcPct val="150000"/>
              </a:lnSpc>
            </a:pPr>
            <a:r>
              <a:rPr lang="zh-CN" altLang="zh-CN" sz="2400" b="1" dirty="0">
                <a:latin typeface="Arial" panose="020B0604020202020204" pitchFamily="34" charset="0"/>
              </a:rPr>
              <a:t>（</a:t>
            </a:r>
            <a:r>
              <a:rPr lang="en-US" altLang="zh-CN" sz="2400" b="1" dirty="0">
                <a:latin typeface="Arial" panose="020B0604020202020204" pitchFamily="34" charset="0"/>
              </a:rPr>
              <a:t>3</a:t>
            </a:r>
            <a:r>
              <a:rPr lang="zh-CN" altLang="zh-CN" sz="2400" b="1" dirty="0">
                <a:latin typeface="Arial" panose="020B0604020202020204" pitchFamily="34" charset="0"/>
              </a:rPr>
              <a:t>）与云计算紧密融合</a:t>
            </a:r>
            <a:endParaRPr lang="zh-CN" altLang="zh-CN" sz="2400" b="1"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12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2"/>
          <p:cNvSpPr>
            <a:spLocks noGrp="1"/>
          </p:cNvSpPr>
          <p:nvPr>
            <p:ph type="title"/>
          </p:nvPr>
        </p:nvSpPr>
        <p:spPr/>
        <p:txBody>
          <a:bodyPr vert="horz" wrap="square" lIns="91440" tIns="45720" rIns="91440" bIns="45720" anchor="ctr" anchorCtr="0"/>
          <a:lstStyle/>
          <a:p>
            <a:r>
              <a:rPr lang="en-US" altLang="zh-CN" b="1" dirty="0"/>
              <a:t>5.2  NoSQL</a:t>
            </a:r>
            <a:r>
              <a:rPr lang="zh-CN" altLang="en-US" b="1" dirty="0"/>
              <a:t>兴起的原因</a:t>
            </a:r>
            <a:endParaRPr lang="zh-CN" altLang="en-US" b="1" dirty="0"/>
          </a:p>
        </p:txBody>
      </p:sp>
      <p:sp>
        <p:nvSpPr>
          <p:cNvPr id="7171" name="文本框 1"/>
          <p:cNvSpPr txBox="1"/>
          <p:nvPr/>
        </p:nvSpPr>
        <p:spPr>
          <a:xfrm>
            <a:off x="931545" y="1447800"/>
            <a:ext cx="7620000" cy="4523105"/>
          </a:xfrm>
          <a:prstGeom prst="rect">
            <a:avLst/>
          </a:prstGeom>
          <a:noFill/>
          <a:ln w="9525">
            <a:noFill/>
          </a:ln>
        </p:spPr>
        <p:txBody>
          <a:bodyPr>
            <a:spAutoFit/>
          </a:bodyPr>
          <a:lstStyle/>
          <a:p>
            <a:pPr>
              <a:lnSpc>
                <a:spcPct val="150000"/>
              </a:lnSpc>
            </a:pPr>
            <a:r>
              <a:rPr lang="en-US" altLang="zh-CN" sz="2400" dirty="0">
                <a:latin typeface="Arial" panose="020B0604020202020204" pitchFamily="34" charset="0"/>
              </a:rPr>
              <a:t>1</a:t>
            </a:r>
            <a:r>
              <a:rPr lang="zh-CN" altLang="en-US" sz="2400" dirty="0">
                <a:latin typeface="Arial" panose="020B0604020202020204" pitchFamily="34" charset="0"/>
              </a:rPr>
              <a:t>、</a:t>
            </a:r>
            <a:r>
              <a:rPr lang="zh-CN" altLang="zh-CN" sz="2400" dirty="0">
                <a:latin typeface="Arial" panose="020B0604020202020204" pitchFamily="34" charset="0"/>
              </a:rPr>
              <a:t>关系数据库已经无法满足</a:t>
            </a:r>
            <a:r>
              <a:rPr lang="en-US" altLang="zh-CN" sz="2400" dirty="0">
                <a:latin typeface="Arial" panose="020B0604020202020204" pitchFamily="34" charset="0"/>
              </a:rPr>
              <a:t>Web2.0</a:t>
            </a:r>
            <a:r>
              <a:rPr lang="zh-CN" altLang="zh-CN" sz="2400" dirty="0">
                <a:latin typeface="Arial" panose="020B0604020202020204" pitchFamily="34" charset="0"/>
              </a:rPr>
              <a:t>的需求</a:t>
            </a:r>
            <a:r>
              <a:rPr lang="zh-CN" altLang="en-US" sz="2400" dirty="0">
                <a:latin typeface="Arial" panose="020B0604020202020204" pitchFamily="34" charset="0"/>
              </a:rPr>
              <a:t>。</a:t>
            </a:r>
            <a:endParaRPr lang="zh-CN" altLang="en-US" sz="2400" dirty="0">
              <a:latin typeface="Arial" panose="020B0604020202020204" pitchFamily="34" charset="0"/>
            </a:endParaRPr>
          </a:p>
          <a:p>
            <a:pPr>
              <a:lnSpc>
                <a:spcPct val="150000"/>
              </a:lnSpc>
            </a:pPr>
            <a:r>
              <a:rPr lang="zh-CN" altLang="zh-CN" sz="2400" dirty="0">
                <a:latin typeface="Arial" panose="020B0604020202020204" pitchFamily="34" charset="0"/>
              </a:rPr>
              <a:t>主要表现在以下几个方面：</a:t>
            </a:r>
            <a:endParaRPr lang="zh-CN" altLang="zh-CN" sz="2400" dirty="0">
              <a:latin typeface="Arial" panose="020B0604020202020204" pitchFamily="34" charset="0"/>
            </a:endParaRPr>
          </a:p>
          <a:p>
            <a:pPr>
              <a:lnSpc>
                <a:spcPct val="150000"/>
              </a:lnSpc>
            </a:pPr>
            <a:r>
              <a:rPr lang="zh-CN" altLang="zh-CN" sz="2400" b="1" dirty="0">
                <a:latin typeface="Arial" panose="020B0604020202020204" pitchFamily="34" charset="0"/>
              </a:rPr>
              <a:t>（</a:t>
            </a:r>
            <a:r>
              <a:rPr lang="en-US" altLang="zh-CN" sz="2400" b="1" dirty="0">
                <a:latin typeface="Arial" panose="020B0604020202020204" pitchFamily="34" charset="0"/>
              </a:rPr>
              <a:t>1</a:t>
            </a:r>
            <a:r>
              <a:rPr lang="zh-CN" altLang="zh-CN" sz="2400" b="1" dirty="0">
                <a:latin typeface="Arial" panose="020B0604020202020204" pitchFamily="34" charset="0"/>
              </a:rPr>
              <a:t>）无法满足海量数据的管理需求</a:t>
            </a:r>
            <a:endParaRPr lang="zh-CN" altLang="zh-CN" sz="2400" b="1" dirty="0">
              <a:latin typeface="Arial" panose="020B0604020202020204" pitchFamily="34" charset="0"/>
            </a:endParaRPr>
          </a:p>
          <a:p>
            <a:pPr indent="457200">
              <a:lnSpc>
                <a:spcPct val="150000"/>
              </a:lnSpc>
            </a:pPr>
            <a:r>
              <a:rPr lang="zh-CN" altLang="zh-CN" sz="2400" b="1" dirty="0">
                <a:latin typeface="Arial" panose="020B0604020202020204" pitchFamily="34" charset="0"/>
              </a:rPr>
              <a:t>很快就</a:t>
            </a:r>
            <a:r>
              <a:rPr lang="en-US" altLang="zh-CN" sz="2400" b="1" dirty="0">
                <a:latin typeface="Arial" panose="020B0604020202020204" pitchFamily="34" charset="0"/>
              </a:rPr>
              <a:t>&gt;10</a:t>
            </a:r>
            <a:r>
              <a:rPr lang="zh-CN" altLang="en-US" sz="2400" b="1" dirty="0">
                <a:latin typeface="Arial" panose="020B0604020202020204" pitchFamily="34" charset="0"/>
              </a:rPr>
              <a:t>亿条数据，查询低效</a:t>
            </a:r>
            <a:endParaRPr lang="zh-CN" altLang="zh-CN" sz="2400" dirty="0">
              <a:latin typeface="Arial" panose="020B0604020202020204" pitchFamily="34" charset="0"/>
            </a:endParaRPr>
          </a:p>
          <a:p>
            <a:pPr>
              <a:lnSpc>
                <a:spcPct val="150000"/>
              </a:lnSpc>
            </a:pPr>
            <a:r>
              <a:rPr lang="zh-CN" altLang="zh-CN" sz="2400" b="1" dirty="0">
                <a:latin typeface="Arial" panose="020B0604020202020204" pitchFamily="34" charset="0"/>
              </a:rPr>
              <a:t>（</a:t>
            </a:r>
            <a:r>
              <a:rPr lang="en-US" altLang="zh-CN" sz="2400" b="1" dirty="0">
                <a:latin typeface="Arial" panose="020B0604020202020204" pitchFamily="34" charset="0"/>
              </a:rPr>
              <a:t>2</a:t>
            </a:r>
            <a:r>
              <a:rPr lang="zh-CN" altLang="zh-CN" sz="2400" b="1" dirty="0">
                <a:latin typeface="Arial" panose="020B0604020202020204" pitchFamily="34" charset="0"/>
              </a:rPr>
              <a:t>）无法满足数据高并发的需求</a:t>
            </a:r>
            <a:endParaRPr lang="zh-CN" altLang="zh-CN" sz="2400" b="1" dirty="0">
              <a:latin typeface="Arial" panose="020B0604020202020204" pitchFamily="34" charset="0"/>
            </a:endParaRPr>
          </a:p>
          <a:p>
            <a:pPr indent="457200">
              <a:lnSpc>
                <a:spcPct val="150000"/>
              </a:lnSpc>
            </a:pPr>
            <a:r>
              <a:rPr lang="zh-CN" altLang="zh-CN" sz="2400" b="1" dirty="0">
                <a:latin typeface="Arial" panose="020B0604020202020204" pitchFamily="34" charset="0"/>
              </a:rPr>
              <a:t>信息动态实时，每秒上万次读写</a:t>
            </a:r>
            <a:endParaRPr lang="zh-CN" altLang="zh-CN" sz="2400" dirty="0">
              <a:latin typeface="Arial" panose="020B0604020202020204" pitchFamily="34" charset="0"/>
            </a:endParaRPr>
          </a:p>
          <a:p>
            <a:pPr>
              <a:lnSpc>
                <a:spcPct val="150000"/>
              </a:lnSpc>
            </a:pPr>
            <a:r>
              <a:rPr lang="zh-CN" altLang="zh-CN" sz="2400" b="1" dirty="0">
                <a:latin typeface="Arial" panose="020B0604020202020204" pitchFamily="34" charset="0"/>
              </a:rPr>
              <a:t>（</a:t>
            </a:r>
            <a:r>
              <a:rPr lang="en-US" altLang="zh-CN" sz="2400" b="1" dirty="0">
                <a:latin typeface="Arial" panose="020B0604020202020204" pitchFamily="34" charset="0"/>
              </a:rPr>
              <a:t>3</a:t>
            </a:r>
            <a:r>
              <a:rPr lang="zh-CN" altLang="zh-CN" sz="2400" b="1" dirty="0">
                <a:latin typeface="Arial" panose="020B0604020202020204" pitchFamily="34" charset="0"/>
              </a:rPr>
              <a:t>）无法满足高可扩展性和高可用性的需求</a:t>
            </a:r>
            <a:endParaRPr lang="zh-CN" altLang="zh-CN" sz="2400" b="1" dirty="0">
              <a:latin typeface="Arial" panose="020B0604020202020204" pitchFamily="34" charset="0"/>
            </a:endParaRPr>
          </a:p>
          <a:p>
            <a:pPr indent="457200">
              <a:lnSpc>
                <a:spcPct val="150000"/>
              </a:lnSpc>
            </a:pPr>
            <a:r>
              <a:rPr lang="zh-CN" altLang="en-US" sz="2400" b="1" dirty="0">
                <a:latin typeface="Arial" panose="020B0604020202020204" pitchFamily="34" charset="0"/>
              </a:rPr>
              <a:t>突然需求难应对</a:t>
            </a:r>
            <a:endParaRPr lang="zh-CN" altLang="en-US" sz="2400" b="1" dirty="0">
              <a:latin typeface="Arial" panose="020B0604020202020204" pitchFamily="34" charset="0"/>
            </a:endParaRPr>
          </a:p>
        </p:txBody>
      </p:sp>
      <p:pic>
        <p:nvPicPr>
          <p:cNvPr id="7172" name="Picture 7" descr="http://img.jrjimg.cn/2012/12/20121224124205984.jpg"/>
          <p:cNvPicPr>
            <a:picLocks noChangeAspect="1"/>
          </p:cNvPicPr>
          <p:nvPr/>
        </p:nvPicPr>
        <p:blipFill>
          <a:blip r:embed="rId1"/>
          <a:stretch>
            <a:fillRect/>
          </a:stretch>
        </p:blipFill>
        <p:spPr>
          <a:xfrm>
            <a:off x="6860540" y="1948815"/>
            <a:ext cx="5095240" cy="287845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文本框 3"/>
          <p:cNvSpPr txBox="1"/>
          <p:nvPr/>
        </p:nvSpPr>
        <p:spPr>
          <a:xfrm>
            <a:off x="996561" y="1278890"/>
            <a:ext cx="9898380" cy="5077460"/>
          </a:xfrm>
          <a:prstGeom prst="rect">
            <a:avLst/>
          </a:prstGeom>
          <a:noFill/>
          <a:ln w="9525">
            <a:noFill/>
          </a:ln>
        </p:spPr>
        <p:txBody>
          <a:bodyPr wrap="square">
            <a:spAutoFit/>
          </a:bodyPr>
          <a:lstStyle/>
          <a:p>
            <a:pPr>
              <a:lnSpc>
                <a:spcPct val="150000"/>
              </a:lnSpc>
            </a:pPr>
            <a:r>
              <a:rPr lang="en-US" altLang="zh-CN" sz="2400" dirty="0">
                <a:latin typeface="Arial" panose="020B0604020202020204" pitchFamily="34" charset="0"/>
              </a:rPr>
              <a:t>2</a:t>
            </a:r>
            <a:r>
              <a:rPr lang="zh-CN" altLang="en-US" sz="2400" dirty="0">
                <a:latin typeface="Arial" panose="020B0604020202020204" pitchFamily="34" charset="0"/>
              </a:rPr>
              <a:t>、</a:t>
            </a:r>
            <a:r>
              <a:rPr lang="zh-CN" altLang="zh-CN" sz="2400" dirty="0">
                <a:latin typeface="Arial" panose="020B0604020202020204" pitchFamily="34" charset="0"/>
              </a:rPr>
              <a:t>关系数据库的关键特性包括完善的事务机制和高效的查询机制。但到了</a:t>
            </a:r>
            <a:r>
              <a:rPr lang="en-US" altLang="zh-CN" sz="2400" dirty="0">
                <a:latin typeface="Arial" panose="020B0604020202020204" pitchFamily="34" charset="0"/>
              </a:rPr>
              <a:t>Web2.0</a:t>
            </a:r>
            <a:r>
              <a:rPr lang="zh-CN" altLang="zh-CN" sz="2400" dirty="0">
                <a:latin typeface="Arial" panose="020B0604020202020204" pitchFamily="34" charset="0"/>
              </a:rPr>
              <a:t>时代却成了鸡肋，主要表现在以下几个方面：</a:t>
            </a:r>
            <a:endParaRPr lang="zh-CN" altLang="zh-CN" sz="2400" dirty="0">
              <a:latin typeface="Arial" panose="020B0604020202020204" pitchFamily="34" charset="0"/>
            </a:endParaRPr>
          </a:p>
          <a:p>
            <a:pPr>
              <a:lnSpc>
                <a:spcPct val="150000"/>
              </a:lnSpc>
            </a:pPr>
            <a:endParaRPr lang="zh-CN" altLang="zh-CN" sz="2400" dirty="0">
              <a:latin typeface="Arial" panose="020B0604020202020204" pitchFamily="34" charset="0"/>
            </a:endParaRPr>
          </a:p>
          <a:p>
            <a:pPr>
              <a:lnSpc>
                <a:spcPct val="150000"/>
              </a:lnSpc>
            </a:pPr>
            <a:r>
              <a:rPr lang="zh-CN" altLang="zh-CN" sz="2400" b="1" dirty="0">
                <a:latin typeface="Arial" panose="020B0604020202020204" pitchFamily="34" charset="0"/>
              </a:rPr>
              <a:t>（</a:t>
            </a:r>
            <a:r>
              <a:rPr lang="en-US" altLang="zh-CN" sz="2400" b="1" dirty="0">
                <a:latin typeface="Arial" panose="020B0604020202020204" pitchFamily="34" charset="0"/>
              </a:rPr>
              <a:t>1</a:t>
            </a:r>
            <a:r>
              <a:rPr lang="zh-CN" altLang="zh-CN" sz="2400" b="1" dirty="0">
                <a:latin typeface="Arial" panose="020B0604020202020204" pitchFamily="34" charset="0"/>
              </a:rPr>
              <a:t>）</a:t>
            </a:r>
            <a:r>
              <a:rPr lang="en-US" altLang="zh-CN" sz="2400" b="1" dirty="0">
                <a:latin typeface="Arial" panose="020B0604020202020204" pitchFamily="34" charset="0"/>
              </a:rPr>
              <a:t>Web2.0</a:t>
            </a:r>
            <a:r>
              <a:rPr lang="zh-CN" altLang="zh-CN" sz="2400" b="1" dirty="0">
                <a:latin typeface="Arial" panose="020B0604020202020204" pitchFamily="34" charset="0"/>
              </a:rPr>
              <a:t>网站系统通常不要求严格的数据库事务</a:t>
            </a:r>
            <a:endParaRPr lang="zh-CN" altLang="zh-CN" sz="2400" b="1" dirty="0">
              <a:latin typeface="Arial" panose="020B0604020202020204" pitchFamily="34" charset="0"/>
            </a:endParaRPr>
          </a:p>
          <a:p>
            <a:pPr indent="457200">
              <a:lnSpc>
                <a:spcPct val="150000"/>
              </a:lnSpc>
            </a:pPr>
            <a:r>
              <a:rPr lang="zh-CN" altLang="zh-CN" sz="2400" dirty="0">
                <a:latin typeface="Arial" panose="020B0604020202020204" pitchFamily="34" charset="0"/>
              </a:rPr>
              <a:t>发送过程出错</a:t>
            </a:r>
            <a:r>
              <a:rPr lang="en-US" altLang="zh-CN" sz="2400" dirty="0">
                <a:latin typeface="Arial" panose="020B0604020202020204" pitchFamily="34" charset="0"/>
              </a:rPr>
              <a:t>--&gt;</a:t>
            </a:r>
            <a:r>
              <a:rPr lang="zh-CN" altLang="en-US" sz="2400" dirty="0">
                <a:latin typeface="Arial" panose="020B0604020202020204" pitchFamily="34" charset="0"/>
              </a:rPr>
              <a:t>直接丢弃</a:t>
            </a:r>
            <a:endParaRPr lang="zh-CN" altLang="zh-CN" sz="2400" dirty="0">
              <a:latin typeface="Arial" panose="020B0604020202020204" pitchFamily="34" charset="0"/>
            </a:endParaRPr>
          </a:p>
          <a:p>
            <a:pPr>
              <a:lnSpc>
                <a:spcPct val="150000"/>
              </a:lnSpc>
            </a:pPr>
            <a:r>
              <a:rPr lang="zh-CN" altLang="zh-CN" sz="2400" b="1" dirty="0">
                <a:latin typeface="Arial" panose="020B0604020202020204" pitchFamily="34" charset="0"/>
              </a:rPr>
              <a:t>（</a:t>
            </a:r>
            <a:r>
              <a:rPr lang="en-US" altLang="zh-CN" sz="2400" b="1" dirty="0">
                <a:latin typeface="Arial" panose="020B0604020202020204" pitchFamily="34" charset="0"/>
              </a:rPr>
              <a:t>2</a:t>
            </a:r>
            <a:r>
              <a:rPr lang="zh-CN" altLang="zh-CN" sz="2400" b="1" dirty="0">
                <a:latin typeface="Arial" panose="020B0604020202020204" pitchFamily="34" charset="0"/>
              </a:rPr>
              <a:t>）</a:t>
            </a:r>
            <a:r>
              <a:rPr lang="en-US" altLang="zh-CN" sz="2400" b="1" dirty="0">
                <a:latin typeface="Arial" panose="020B0604020202020204" pitchFamily="34" charset="0"/>
              </a:rPr>
              <a:t>Web2.0</a:t>
            </a:r>
            <a:r>
              <a:rPr lang="zh-CN" altLang="zh-CN" sz="2400" b="1" dirty="0">
                <a:latin typeface="Arial" panose="020B0604020202020204" pitchFamily="34" charset="0"/>
              </a:rPr>
              <a:t>并不要求严格的读写实时性</a:t>
            </a:r>
            <a:endParaRPr lang="zh-CN" altLang="zh-CN" sz="2400" b="1" dirty="0">
              <a:latin typeface="Arial" panose="020B0604020202020204" pitchFamily="34" charset="0"/>
            </a:endParaRPr>
          </a:p>
          <a:p>
            <a:pPr indent="457200">
              <a:lnSpc>
                <a:spcPct val="150000"/>
              </a:lnSpc>
            </a:pPr>
            <a:r>
              <a:rPr lang="zh-CN" altLang="zh-CN" sz="2400" dirty="0">
                <a:latin typeface="Arial" panose="020B0604020202020204" pitchFamily="34" charset="0"/>
              </a:rPr>
              <a:t>延迟刷新数据，问题不大</a:t>
            </a:r>
            <a:endParaRPr lang="zh-CN" altLang="zh-CN" sz="2400" dirty="0">
              <a:latin typeface="Arial" panose="020B0604020202020204" pitchFamily="34" charset="0"/>
            </a:endParaRPr>
          </a:p>
          <a:p>
            <a:pPr>
              <a:lnSpc>
                <a:spcPct val="150000"/>
              </a:lnSpc>
            </a:pPr>
            <a:r>
              <a:rPr lang="zh-CN" altLang="zh-CN" sz="2400" b="1" dirty="0">
                <a:latin typeface="Arial" panose="020B0604020202020204" pitchFamily="34" charset="0"/>
              </a:rPr>
              <a:t>（</a:t>
            </a:r>
            <a:r>
              <a:rPr lang="en-US" altLang="zh-CN" sz="2400" b="1" dirty="0">
                <a:latin typeface="Arial" panose="020B0604020202020204" pitchFamily="34" charset="0"/>
              </a:rPr>
              <a:t>3</a:t>
            </a:r>
            <a:r>
              <a:rPr lang="zh-CN" altLang="zh-CN" sz="2400" b="1" dirty="0">
                <a:latin typeface="Arial" panose="020B0604020202020204" pitchFamily="34" charset="0"/>
              </a:rPr>
              <a:t>）</a:t>
            </a:r>
            <a:r>
              <a:rPr lang="en-US" altLang="zh-CN" sz="2400" b="1" dirty="0">
                <a:latin typeface="Arial" panose="020B0604020202020204" pitchFamily="34" charset="0"/>
              </a:rPr>
              <a:t>Web2.0</a:t>
            </a:r>
            <a:r>
              <a:rPr lang="zh-CN" altLang="zh-CN" sz="2400" b="1" dirty="0">
                <a:latin typeface="Arial" panose="020B0604020202020204" pitchFamily="34" charset="0"/>
              </a:rPr>
              <a:t>通常不包含大量复杂的</a:t>
            </a:r>
            <a:r>
              <a:rPr lang="en-US" altLang="zh-CN" sz="2400" b="1" dirty="0">
                <a:latin typeface="Arial" panose="020B0604020202020204" pitchFamily="34" charset="0"/>
              </a:rPr>
              <a:t>SQL</a:t>
            </a:r>
            <a:r>
              <a:rPr lang="zh-CN" altLang="zh-CN" sz="2400" b="1" dirty="0">
                <a:latin typeface="Arial" panose="020B0604020202020204" pitchFamily="34" charset="0"/>
              </a:rPr>
              <a:t>查询</a:t>
            </a:r>
            <a:endParaRPr lang="zh-CN" altLang="zh-CN" sz="2400" b="1" dirty="0">
              <a:latin typeface="Arial" panose="020B0604020202020204" pitchFamily="34" charset="0"/>
            </a:endParaRPr>
          </a:p>
          <a:p>
            <a:pPr indent="457200">
              <a:lnSpc>
                <a:spcPct val="150000"/>
              </a:lnSpc>
            </a:pPr>
            <a:r>
              <a:rPr lang="zh-CN" altLang="en-US" sz="2400" dirty="0">
                <a:latin typeface="Arial" panose="020B0604020202020204" pitchFamily="34" charset="0"/>
              </a:rPr>
              <a:t>单表主键</a:t>
            </a:r>
            <a:endParaRPr lang="zh-CN" altLang="en-US" sz="2400" dirty="0">
              <a:latin typeface="Arial" panose="020B0604020202020204" pitchFamily="34" charset="0"/>
            </a:endParaRPr>
          </a:p>
        </p:txBody>
      </p:sp>
      <p:sp>
        <p:nvSpPr>
          <p:cNvPr id="2" name="标题 1"/>
          <p:cNvSpPr>
            <a:spLocks noGrp="1"/>
          </p:cNvSpPr>
          <p:nvPr>
            <p:ph type="title"/>
          </p:nvPr>
        </p:nvSpPr>
        <p:spPr/>
        <p:txBody>
          <a:bodyPr/>
          <a:lstStyle/>
          <a:p>
            <a:r>
              <a:rPr lang="en-US" altLang="zh-CN" b="1" dirty="0"/>
              <a:t>5.2  NoSQL</a:t>
            </a:r>
            <a:r>
              <a:rPr lang="zh-CN" altLang="en-US" b="1" dirty="0"/>
              <a:t>兴起的原因</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4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4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2"/>
          <p:cNvSpPr>
            <a:spLocks noGrp="1"/>
          </p:cNvSpPr>
          <p:nvPr>
            <p:ph type="title"/>
          </p:nvPr>
        </p:nvSpPr>
        <p:spPr/>
        <p:txBody>
          <a:bodyPr vert="horz" wrap="square" lIns="91440" tIns="45720" rIns="91440" bIns="45720" anchor="ctr" anchorCtr="0"/>
          <a:lstStyle/>
          <a:p>
            <a:r>
              <a:rPr lang="en-US" altLang="zh-CN" b="1" dirty="0"/>
              <a:t>5.3  NoSQL</a:t>
            </a:r>
            <a:r>
              <a:rPr lang="zh-CN" altLang="en-US" b="1" dirty="0"/>
              <a:t>与关系数据库的比较</a:t>
            </a:r>
            <a:endParaRPr lang="zh-CN" altLang="en-US" b="1" dirty="0"/>
          </a:p>
        </p:txBody>
      </p:sp>
      <p:sp>
        <p:nvSpPr>
          <p:cNvPr id="2" name="文本框 1"/>
          <p:cNvSpPr txBox="1"/>
          <p:nvPr/>
        </p:nvSpPr>
        <p:spPr>
          <a:xfrm>
            <a:off x="1262609" y="1477515"/>
            <a:ext cx="1874584" cy="919401"/>
          </a:xfrm>
          <a:prstGeom prst="roundRect">
            <a:avLst/>
          </a:prstGeom>
          <a:solidFill>
            <a:schemeClr val="bg2"/>
          </a:solidFill>
          <a:ln>
            <a:noFill/>
          </a:ln>
        </p:spPr>
        <p:txBody>
          <a:bodyPr wrap="square" rtlCol="0" anchor="t">
            <a:spAutoFit/>
          </a:bodyPr>
          <a:lstStyle/>
          <a:p>
            <a:pPr marL="0" marR="0" lvl="0" indent="0" defTabSz="914400" rtl="0" eaLnBrk="1" fontAlgn="base" latinLnBrk="0" hangingPunct="1">
              <a:lnSpc>
                <a:spcPct val="100000"/>
              </a:lnSpc>
              <a:spcBef>
                <a:spcPct val="0"/>
              </a:spcBef>
              <a:spcAft>
                <a:spcPct val="0"/>
              </a:spcAft>
              <a:buClrTx/>
              <a:buSzTx/>
              <a:buFontTx/>
              <a:buNone/>
            </a:pPr>
            <a:r>
              <a:rPr lang="zh-CN" altLang="zh-CN" sz="2400" dirty="0">
                <a:ln>
                  <a:noFill/>
                </a:ln>
                <a:solidFill>
                  <a:srgbClr val="000000"/>
                </a:solidFill>
                <a:effectLst/>
                <a:latin typeface="Arial" panose="020B0604020202020204" pitchFamily="34" charset="0"/>
                <a:ea typeface="宋体" panose="02010600030101010101" pitchFamily="2" charset="-122"/>
                <a:sym typeface="+mn-ea"/>
              </a:rPr>
              <a:t>有关系代数理论作基础</a:t>
            </a:r>
            <a:endParaRPr lang="zh-CN" altLang="zh-CN" sz="2400" dirty="0">
              <a:ln>
                <a:noFill/>
              </a:ln>
              <a:solidFill>
                <a:srgbClr val="000000"/>
              </a:solidFill>
              <a:effectLst/>
              <a:latin typeface="Arial" panose="020B0604020202020204" pitchFamily="34" charset="0"/>
              <a:ea typeface="宋体" panose="02010600030101010101" pitchFamily="2" charset="-122"/>
              <a:sym typeface="+mn-ea"/>
            </a:endParaRPr>
          </a:p>
        </p:txBody>
      </p:sp>
      <p:sp>
        <p:nvSpPr>
          <p:cNvPr id="4" name="文本框 3"/>
          <p:cNvSpPr txBox="1"/>
          <p:nvPr/>
        </p:nvSpPr>
        <p:spPr>
          <a:xfrm>
            <a:off x="6671033" y="1630749"/>
            <a:ext cx="1785089" cy="510778"/>
          </a:xfrm>
          <a:prstGeom prst="roundRect">
            <a:avLst/>
          </a:prstGeom>
          <a:solidFill>
            <a:schemeClr val="bg2"/>
          </a:solidFill>
          <a:ln>
            <a:noFill/>
          </a:ln>
        </p:spPr>
        <p:txBody>
          <a:bodyPr wrap="square" rtlCol="0" anchor="t">
            <a:spAutoFit/>
          </a:bodyPr>
          <a:lstStyle/>
          <a:p>
            <a:pPr algn="ctr"/>
            <a:r>
              <a:rPr lang="zh-CN" altLang="en-US" sz="2400" dirty="0">
                <a:solidFill>
                  <a:srgbClr val="000000"/>
                </a:solidFill>
                <a:latin typeface="Arial" panose="020B0604020202020204" pitchFamily="34" charset="0"/>
                <a:ea typeface="宋体" panose="02010600030101010101" pitchFamily="2" charset="-122"/>
                <a:sym typeface="+mn-ea"/>
              </a:rPr>
              <a:t>易</a:t>
            </a:r>
            <a:r>
              <a:rPr lang="zh-CN" altLang="zh-CN" sz="2400" dirty="0">
                <a:ln>
                  <a:noFill/>
                </a:ln>
                <a:solidFill>
                  <a:srgbClr val="000000"/>
                </a:solidFill>
                <a:effectLst/>
                <a:latin typeface="Arial" panose="020B0604020202020204" pitchFamily="34" charset="0"/>
                <a:ea typeface="宋体" panose="02010600030101010101" pitchFamily="2" charset="-122"/>
                <a:sym typeface="+mn-ea"/>
              </a:rPr>
              <a:t>横向扩展</a:t>
            </a:r>
            <a:endParaRPr lang="zh-CN" altLang="zh-CN" sz="2400" dirty="0">
              <a:ln>
                <a:noFill/>
              </a:ln>
              <a:solidFill>
                <a:srgbClr val="000000"/>
              </a:solidFill>
              <a:effectLst/>
              <a:latin typeface="Arial" panose="020B0604020202020204" pitchFamily="34" charset="0"/>
              <a:ea typeface="宋体" panose="02010600030101010101" pitchFamily="2" charset="-122"/>
              <a:sym typeface="+mn-ea"/>
            </a:endParaRPr>
          </a:p>
        </p:txBody>
      </p:sp>
      <p:sp>
        <p:nvSpPr>
          <p:cNvPr id="6" name="文本框 5"/>
          <p:cNvSpPr txBox="1"/>
          <p:nvPr/>
        </p:nvSpPr>
        <p:spPr>
          <a:xfrm>
            <a:off x="276375" y="2594747"/>
            <a:ext cx="2860818" cy="1328023"/>
          </a:xfrm>
          <a:prstGeom prst="roundRect">
            <a:avLst/>
          </a:prstGeom>
          <a:solidFill>
            <a:schemeClr val="bg2"/>
          </a:solidFill>
          <a:ln>
            <a:noFill/>
          </a:ln>
        </p:spPr>
        <p:txBody>
          <a:bodyPr wrap="square" rtlCol="0" anchor="t">
            <a:spAutoFit/>
          </a:bodyPr>
          <a:lstStyle/>
          <a:p>
            <a:pPr marL="0" marR="0" lvl="0" indent="0" defTabSz="914400" rtl="0" eaLnBrk="1" fontAlgn="base" latinLnBrk="0" hangingPunct="1">
              <a:lnSpc>
                <a:spcPct val="100000"/>
              </a:lnSpc>
              <a:spcBef>
                <a:spcPct val="0"/>
              </a:spcBef>
              <a:spcAft>
                <a:spcPct val="0"/>
              </a:spcAft>
              <a:buClrTx/>
              <a:buSzTx/>
              <a:buFontTx/>
              <a:buNone/>
            </a:pPr>
            <a:r>
              <a:rPr lang="zh-CN" altLang="zh-CN" sz="2400" dirty="0">
                <a:ln>
                  <a:noFill/>
                </a:ln>
                <a:solidFill>
                  <a:srgbClr val="000000"/>
                </a:solidFill>
                <a:effectLst/>
                <a:latin typeface="Arial" panose="020B0604020202020204" pitchFamily="34" charset="0"/>
                <a:ea typeface="宋体" panose="02010600030101010101" pitchFamily="2" charset="-122"/>
                <a:sym typeface="+mn-ea"/>
              </a:rPr>
              <a:t>定义数据库模式，严格遵守数据定义和相关约束条件</a:t>
            </a:r>
            <a:endParaRPr lang="zh-CN" altLang="zh-CN" sz="2400" dirty="0">
              <a:ln>
                <a:noFill/>
              </a:ln>
              <a:solidFill>
                <a:srgbClr val="000000"/>
              </a:solidFill>
              <a:effectLst/>
              <a:latin typeface="Arial" panose="020B0604020202020204" pitchFamily="34" charset="0"/>
              <a:ea typeface="宋体" panose="02010600030101010101" pitchFamily="2" charset="-122"/>
              <a:sym typeface="+mn-ea"/>
            </a:endParaRPr>
          </a:p>
        </p:txBody>
      </p:sp>
      <p:sp>
        <p:nvSpPr>
          <p:cNvPr id="7" name="文本框 6"/>
          <p:cNvSpPr txBox="1"/>
          <p:nvPr/>
        </p:nvSpPr>
        <p:spPr>
          <a:xfrm>
            <a:off x="9287563" y="1291589"/>
            <a:ext cx="2156163" cy="1328023"/>
          </a:xfrm>
          <a:prstGeom prst="roundRect">
            <a:avLst/>
          </a:prstGeom>
          <a:solidFill>
            <a:schemeClr val="bg2"/>
          </a:solidFill>
          <a:ln>
            <a:noFill/>
          </a:ln>
        </p:spPr>
        <p:txBody>
          <a:bodyPr wrap="square" rtlCol="0" anchor="t">
            <a:spAutoFit/>
          </a:bodyPr>
          <a:lstStyle/>
          <a:p>
            <a:pPr marL="0" marR="0" lvl="0" indent="0" algn="just" defTabSz="914400" rtl="0" eaLnBrk="1" fontAlgn="base" latinLnBrk="0" hangingPunct="1">
              <a:lnSpc>
                <a:spcPct val="100000"/>
              </a:lnSpc>
              <a:spcBef>
                <a:spcPct val="0"/>
              </a:spcBef>
              <a:spcAft>
                <a:spcPct val="0"/>
              </a:spcAft>
              <a:buClrTx/>
              <a:buSzTx/>
              <a:buFontTx/>
              <a:buNone/>
            </a:pPr>
            <a:r>
              <a:rPr lang="zh-CN" altLang="zh-CN" sz="2400" dirty="0">
                <a:ln>
                  <a:noFill/>
                </a:ln>
                <a:solidFill>
                  <a:srgbClr val="000000"/>
                </a:solidFill>
                <a:effectLst/>
                <a:latin typeface="Arial" panose="020B0604020202020204" pitchFamily="34" charset="0"/>
                <a:ea typeface="宋体" panose="02010600030101010101" pitchFamily="2" charset="-122"/>
                <a:sym typeface="+mn-ea"/>
              </a:rPr>
              <a:t>自由灵活定义并存储各种不同类型的数据</a:t>
            </a:r>
            <a:endParaRPr lang="zh-CN" altLang="zh-CN" sz="2400" dirty="0">
              <a:ln>
                <a:noFill/>
              </a:ln>
              <a:solidFill>
                <a:srgbClr val="000000"/>
              </a:solidFill>
              <a:effectLst/>
              <a:latin typeface="Arial" panose="020B0604020202020204" pitchFamily="34" charset="0"/>
              <a:ea typeface="宋体" panose="02010600030101010101" pitchFamily="2" charset="-122"/>
              <a:sym typeface="+mn-ea"/>
            </a:endParaRPr>
          </a:p>
        </p:txBody>
      </p:sp>
      <p:sp>
        <p:nvSpPr>
          <p:cNvPr id="8" name="文本框 7"/>
          <p:cNvSpPr txBox="1"/>
          <p:nvPr>
            <p:custDataLst>
              <p:tags r:id="rId1"/>
            </p:custDataLst>
          </p:nvPr>
        </p:nvSpPr>
        <p:spPr>
          <a:xfrm>
            <a:off x="673400" y="4052462"/>
            <a:ext cx="2430024" cy="1328023"/>
          </a:xfrm>
          <a:prstGeom prst="roundRect">
            <a:avLst/>
          </a:prstGeom>
          <a:solidFill>
            <a:schemeClr val="bg2"/>
          </a:solidFill>
          <a:ln>
            <a:noFill/>
          </a:ln>
        </p:spPr>
        <p:txBody>
          <a:bodyPr wrap="square" rtlCol="0" anchor="t">
            <a:spAutoFit/>
          </a:bodyPr>
          <a:lstStyle/>
          <a:p>
            <a:pPr marL="0" marR="0" lvl="0" indent="0" defTabSz="914400" rtl="0" eaLnBrk="1" fontAlgn="base" latinLnBrk="0" hangingPunct="1">
              <a:lnSpc>
                <a:spcPct val="100000"/>
              </a:lnSpc>
              <a:spcBef>
                <a:spcPct val="0"/>
              </a:spcBef>
              <a:spcAft>
                <a:spcPct val="0"/>
              </a:spcAft>
              <a:buClrTx/>
              <a:buSzTx/>
              <a:buFontTx/>
              <a:buNone/>
            </a:pPr>
            <a:r>
              <a:rPr lang="zh-CN" altLang="en-US" sz="2400" dirty="0">
                <a:ln>
                  <a:noFill/>
                </a:ln>
                <a:solidFill>
                  <a:srgbClr val="000000"/>
                </a:solidFill>
                <a:effectLst/>
                <a:latin typeface="Arial" panose="020B0604020202020204" pitchFamily="34" charset="0"/>
                <a:ea typeface="宋体" panose="02010600030101010101" pitchFamily="2" charset="-122"/>
                <a:sym typeface="+mn-ea"/>
              </a:rPr>
              <a:t>可构建面向复杂查询的</a:t>
            </a:r>
            <a:r>
              <a:rPr lang="zh-CN" altLang="zh-CN" sz="2400" dirty="0">
                <a:ln>
                  <a:noFill/>
                </a:ln>
                <a:solidFill>
                  <a:srgbClr val="000000"/>
                </a:solidFill>
                <a:effectLst/>
                <a:latin typeface="Arial" panose="020B0604020202020204" pitchFamily="34" charset="0"/>
                <a:ea typeface="宋体" panose="02010600030101010101" pitchFamily="2" charset="-122"/>
                <a:sym typeface="+mn-ea"/>
              </a:rPr>
              <a:t>索引，快速查询</a:t>
            </a:r>
            <a:endParaRPr lang="zh-CN" altLang="zh-CN" sz="2400" dirty="0">
              <a:ln>
                <a:noFill/>
              </a:ln>
              <a:solidFill>
                <a:srgbClr val="000000"/>
              </a:solidFill>
              <a:effectLst/>
              <a:latin typeface="Arial" panose="020B0604020202020204" pitchFamily="34" charset="0"/>
              <a:ea typeface="宋体" panose="02010600030101010101" pitchFamily="2" charset="-122"/>
              <a:sym typeface="+mn-ea"/>
            </a:endParaRPr>
          </a:p>
        </p:txBody>
      </p:sp>
      <p:sp>
        <p:nvSpPr>
          <p:cNvPr id="9" name="文本框 8"/>
          <p:cNvSpPr txBox="1"/>
          <p:nvPr/>
        </p:nvSpPr>
        <p:spPr>
          <a:xfrm>
            <a:off x="9218736" y="2764988"/>
            <a:ext cx="2592264" cy="1328023"/>
          </a:xfrm>
          <a:prstGeom prst="roundRect">
            <a:avLst/>
          </a:prstGeom>
          <a:solidFill>
            <a:schemeClr val="bg2"/>
          </a:solidFill>
          <a:ln>
            <a:noFill/>
          </a:ln>
        </p:spPr>
        <p:txBody>
          <a:bodyPr wrap="square" rtlCol="0" anchor="t">
            <a:spAutoFit/>
          </a:bodyPr>
          <a:lstStyle/>
          <a:p>
            <a:r>
              <a:rPr lang="zh-CN" altLang="zh-CN" sz="2400" dirty="0">
                <a:ln>
                  <a:noFill/>
                </a:ln>
                <a:solidFill>
                  <a:srgbClr val="000000"/>
                </a:solidFill>
                <a:effectLst/>
                <a:latin typeface="Arial" panose="020B0604020202020204" pitchFamily="34" charset="0"/>
                <a:ea typeface="宋体" panose="02010600030101010101" pitchFamily="2" charset="-122"/>
                <a:sym typeface="+mn-ea"/>
              </a:rPr>
              <a:t>使用</a:t>
            </a:r>
            <a:r>
              <a:rPr lang="en-US" altLang="zh-CN" sz="2400" dirty="0" err="1">
                <a:ln>
                  <a:noFill/>
                </a:ln>
                <a:solidFill>
                  <a:srgbClr val="000000"/>
                </a:solidFill>
                <a:effectLst/>
                <a:latin typeface="Arial" panose="020B0604020202020204" pitchFamily="34" charset="0"/>
                <a:ea typeface="宋体" panose="02010600030101010101" pitchFamily="2" charset="-122"/>
                <a:sym typeface="+mn-ea"/>
              </a:rPr>
              <a:t>MapReduce</a:t>
            </a:r>
            <a:r>
              <a:rPr lang="zh-CN" altLang="zh-CN" sz="2400" dirty="0">
                <a:ln>
                  <a:noFill/>
                </a:ln>
                <a:solidFill>
                  <a:srgbClr val="000000"/>
                </a:solidFill>
                <a:effectLst/>
                <a:latin typeface="Arial" panose="020B0604020202020204" pitchFamily="34" charset="0"/>
                <a:ea typeface="宋体" panose="02010600030101010101" pitchFamily="2" charset="-122"/>
                <a:sym typeface="+mn-ea"/>
              </a:rPr>
              <a:t>来加速查询，复杂查询不太行</a:t>
            </a:r>
            <a:endParaRPr lang="zh-CN" altLang="zh-CN" sz="2400" dirty="0">
              <a:ln>
                <a:noFill/>
              </a:ln>
              <a:solidFill>
                <a:srgbClr val="000000"/>
              </a:solidFill>
              <a:effectLst/>
              <a:latin typeface="Arial" panose="020B0604020202020204" pitchFamily="34" charset="0"/>
              <a:ea typeface="宋体" panose="02010600030101010101" pitchFamily="2" charset="-122"/>
              <a:sym typeface="+mn-ea"/>
            </a:endParaRPr>
          </a:p>
        </p:txBody>
      </p:sp>
      <p:sp>
        <p:nvSpPr>
          <p:cNvPr id="10" name="文本框 9"/>
          <p:cNvSpPr txBox="1"/>
          <p:nvPr/>
        </p:nvSpPr>
        <p:spPr>
          <a:xfrm>
            <a:off x="1088571" y="5470593"/>
            <a:ext cx="1996751" cy="919401"/>
          </a:xfrm>
          <a:prstGeom prst="roundRect">
            <a:avLst/>
          </a:prstGeom>
          <a:solidFill>
            <a:schemeClr val="bg2"/>
          </a:solidFill>
          <a:ln>
            <a:noFill/>
          </a:ln>
        </p:spPr>
        <p:txBody>
          <a:bodyPr wrap="square">
            <a:spAutoFit/>
          </a:bodyPr>
          <a:lstStyle/>
          <a:p>
            <a:r>
              <a:rPr kumimoji="0" lang="zh-CN" altLang="zh-CN" sz="24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严格遵守事务</a:t>
            </a:r>
            <a:r>
              <a:rPr kumimoji="0" lang="en-US" altLang="zh-CN" sz="24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ACID</a:t>
            </a:r>
            <a:r>
              <a:rPr kumimoji="0" lang="zh-CN" altLang="zh-CN" sz="24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模型</a:t>
            </a:r>
            <a:endParaRPr lang="zh-CN" altLang="en-US" sz="2400" dirty="0"/>
          </a:p>
        </p:txBody>
      </p:sp>
      <p:sp>
        <p:nvSpPr>
          <p:cNvPr id="12" name="文本框 11"/>
          <p:cNvSpPr txBox="1"/>
          <p:nvPr/>
        </p:nvSpPr>
        <p:spPr>
          <a:xfrm>
            <a:off x="9287563" y="4357924"/>
            <a:ext cx="2430024" cy="510778"/>
          </a:xfrm>
          <a:prstGeom prst="roundRect">
            <a:avLst/>
          </a:prstGeom>
          <a:solidFill>
            <a:schemeClr val="bg2"/>
          </a:solidFill>
          <a:ln>
            <a:noFill/>
          </a:ln>
        </p:spPr>
        <p:txBody>
          <a:bodyPr wrap="square">
            <a:spAutoFit/>
          </a:bodyPr>
          <a:lstStyle/>
          <a:p>
            <a:r>
              <a:rPr kumimoji="0" lang="zh-CN" altLang="zh-CN" sz="24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遵守</a:t>
            </a:r>
            <a:r>
              <a:rPr kumimoji="0" lang="en-US" altLang="zh-CN" sz="24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BASE</a:t>
            </a:r>
            <a:r>
              <a:rPr kumimoji="0" lang="zh-CN" altLang="zh-CN" sz="2400" b="0" i="0" u="none" strike="noStrike" cap="none" normalizeH="0" baseline="0" dirty="0">
                <a:ln>
                  <a:noFill/>
                </a:ln>
                <a:solidFill>
                  <a:srgbClr val="000000"/>
                </a:solidFill>
                <a:effectLst/>
                <a:latin typeface="Arial" panose="020B0604020202020204" pitchFamily="34" charset="0"/>
                <a:ea typeface="宋体" panose="02010600030101010101" pitchFamily="2" charset="-122"/>
              </a:rPr>
              <a:t>模型</a:t>
            </a:r>
            <a:endParaRPr lang="zh-CN" altLang="en-US" sz="2400" dirty="0"/>
          </a:p>
        </p:txBody>
      </p:sp>
      <p:sp>
        <p:nvSpPr>
          <p:cNvPr id="14" name="文本框 13"/>
          <p:cNvSpPr txBox="1"/>
          <p:nvPr/>
        </p:nvSpPr>
        <p:spPr>
          <a:xfrm>
            <a:off x="3379935" y="5731434"/>
            <a:ext cx="1947497" cy="919401"/>
          </a:xfrm>
          <a:prstGeom prst="roundRect">
            <a:avLst/>
          </a:prstGeom>
          <a:solidFill>
            <a:schemeClr val="bg2"/>
          </a:solidFill>
          <a:ln>
            <a:noFill/>
          </a:ln>
        </p:spPr>
        <p:txBody>
          <a:bodyPr wrap="square">
            <a:spAutoFit/>
          </a:bodyPr>
          <a:lstStyle/>
          <a:p>
            <a:r>
              <a:rPr lang="zh-CN" altLang="en-US" sz="2400" dirty="0"/>
              <a:t>数据完整性易实现</a:t>
            </a:r>
            <a:endParaRPr lang="zh-CN" altLang="en-US" sz="2400" dirty="0"/>
          </a:p>
        </p:txBody>
      </p:sp>
      <p:sp>
        <p:nvSpPr>
          <p:cNvPr id="15" name="椭圆 14"/>
          <p:cNvSpPr/>
          <p:nvPr/>
        </p:nvSpPr>
        <p:spPr>
          <a:xfrm>
            <a:off x="3622677" y="3103145"/>
            <a:ext cx="1996751" cy="830997"/>
          </a:xfrm>
          <a:prstGeom prst="ellipse">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altLang="zh-CN" sz="2800" dirty="0"/>
              <a:t>RDBMS</a:t>
            </a:r>
            <a:endParaRPr lang="zh-CN" altLang="en-US" sz="2800" dirty="0"/>
          </a:p>
        </p:txBody>
      </p:sp>
      <p:sp>
        <p:nvSpPr>
          <p:cNvPr id="16" name="椭圆 15"/>
          <p:cNvSpPr/>
          <p:nvPr/>
        </p:nvSpPr>
        <p:spPr>
          <a:xfrm>
            <a:off x="6420706" y="3103144"/>
            <a:ext cx="1996751" cy="830997"/>
          </a:xfrm>
          <a:prstGeom prst="ellipse">
            <a:avLst/>
          </a:prstGeom>
          <a:solidFill>
            <a:srgbClr val="FF0000"/>
          </a:solidFill>
        </p:spPr>
        <p:style>
          <a:lnRef idx="0">
            <a:schemeClr val="dk1"/>
          </a:lnRef>
          <a:fillRef idx="3">
            <a:schemeClr val="dk1"/>
          </a:fillRef>
          <a:effectRef idx="3">
            <a:schemeClr val="dk1"/>
          </a:effectRef>
          <a:fontRef idx="minor">
            <a:schemeClr val="lt1"/>
          </a:fontRef>
        </p:style>
        <p:txBody>
          <a:bodyPr rtlCol="0" anchor="ctr"/>
          <a:lstStyle/>
          <a:p>
            <a:pPr algn="ctr"/>
            <a:r>
              <a:rPr lang="en-US" altLang="zh-CN" sz="2800" dirty="0"/>
              <a:t>NoSQL</a:t>
            </a:r>
            <a:endParaRPr lang="zh-CN" altLang="en-US" sz="2800" dirty="0"/>
          </a:p>
        </p:txBody>
      </p:sp>
      <p:sp>
        <p:nvSpPr>
          <p:cNvPr id="17" name="文本框 16"/>
          <p:cNvSpPr txBox="1"/>
          <p:nvPr/>
        </p:nvSpPr>
        <p:spPr>
          <a:xfrm>
            <a:off x="8070312" y="5893137"/>
            <a:ext cx="1217251" cy="510778"/>
          </a:xfrm>
          <a:prstGeom prst="roundRect">
            <a:avLst/>
          </a:prstGeom>
          <a:solidFill>
            <a:schemeClr val="bg2"/>
          </a:solidFill>
          <a:ln>
            <a:noFill/>
          </a:ln>
        </p:spPr>
        <p:txBody>
          <a:bodyPr wrap="square" rtlCol="0" anchor="t">
            <a:spAutoFit/>
          </a:bodyPr>
          <a:lstStyle/>
          <a:p>
            <a:r>
              <a:rPr lang="zh-CN" altLang="en-US" sz="2400" dirty="0">
                <a:solidFill>
                  <a:srgbClr val="000000"/>
                </a:solidFill>
                <a:latin typeface="Arial" panose="020B0604020202020204" pitchFamily="34" charset="0"/>
                <a:ea typeface="宋体" panose="02010600030101010101" pitchFamily="2" charset="-122"/>
                <a:sym typeface="+mn-ea"/>
              </a:rPr>
              <a:t>标准化</a:t>
            </a:r>
            <a:endParaRPr lang="en-US" altLang="zh-CN" sz="2400" dirty="0">
              <a:solidFill>
                <a:srgbClr val="000000"/>
              </a:solidFill>
              <a:latin typeface="Arial" panose="020B0604020202020204" pitchFamily="34" charset="0"/>
              <a:ea typeface="宋体" panose="02010600030101010101" pitchFamily="2" charset="-122"/>
              <a:sym typeface="+mn-ea"/>
            </a:endParaRPr>
          </a:p>
        </p:txBody>
      </p:sp>
      <p:sp>
        <p:nvSpPr>
          <p:cNvPr id="18" name="文本框 17"/>
          <p:cNvSpPr txBox="1"/>
          <p:nvPr/>
        </p:nvSpPr>
        <p:spPr>
          <a:xfrm>
            <a:off x="5645894" y="5872740"/>
            <a:ext cx="2115650" cy="510778"/>
          </a:xfrm>
          <a:prstGeom prst="roundRect">
            <a:avLst/>
          </a:prstGeom>
          <a:solidFill>
            <a:schemeClr val="bg2"/>
          </a:solidFill>
          <a:ln>
            <a:noFill/>
          </a:ln>
        </p:spPr>
        <p:txBody>
          <a:bodyPr wrap="square">
            <a:spAutoFit/>
          </a:bodyPr>
          <a:lstStyle/>
          <a:p>
            <a:r>
              <a:rPr lang="zh-CN" altLang="en-US" sz="2400" dirty="0"/>
              <a:t>技术支持成熟</a:t>
            </a:r>
            <a:endParaRPr lang="zh-CN" altLang="en-US" sz="2400" dirty="0"/>
          </a:p>
        </p:txBody>
      </p:sp>
      <p:sp>
        <p:nvSpPr>
          <p:cNvPr id="19" name="文本框 18"/>
          <p:cNvSpPr txBox="1"/>
          <p:nvPr/>
        </p:nvSpPr>
        <p:spPr>
          <a:xfrm>
            <a:off x="9287563" y="5311022"/>
            <a:ext cx="1580694" cy="510778"/>
          </a:xfrm>
          <a:prstGeom prst="roundRect">
            <a:avLst/>
          </a:prstGeom>
          <a:solidFill>
            <a:schemeClr val="bg2"/>
          </a:solidFill>
          <a:ln>
            <a:noFill/>
          </a:ln>
        </p:spPr>
        <p:txBody>
          <a:bodyPr wrap="square">
            <a:spAutoFit/>
          </a:bodyPr>
          <a:lstStyle/>
          <a:p>
            <a:r>
              <a:rPr lang="zh-CN" altLang="en-US" sz="2400" dirty="0"/>
              <a:t>维护复杂</a:t>
            </a:r>
            <a:endParaRPr lang="zh-CN" altLang="en-US" sz="2400" dirty="0"/>
          </a:p>
        </p:txBody>
      </p:sp>
      <p:sp>
        <p:nvSpPr>
          <p:cNvPr id="20" name="文本框 19"/>
          <p:cNvSpPr txBox="1"/>
          <p:nvPr/>
        </p:nvSpPr>
        <p:spPr>
          <a:xfrm>
            <a:off x="3795013" y="1616436"/>
            <a:ext cx="2156163" cy="510778"/>
          </a:xfrm>
          <a:prstGeom prst="roundRect">
            <a:avLst/>
          </a:prstGeom>
          <a:solidFill>
            <a:schemeClr val="bg2"/>
          </a:solidFill>
          <a:ln>
            <a:noFill/>
          </a:ln>
        </p:spPr>
        <p:txBody>
          <a:bodyPr wrap="square" rtlCol="0" anchor="t">
            <a:spAutoFit/>
          </a:bodyPr>
          <a:lstStyle/>
          <a:p>
            <a:pPr algn="ctr"/>
            <a:r>
              <a:rPr lang="zh-CN" altLang="en-US" sz="2400" dirty="0">
                <a:solidFill>
                  <a:srgbClr val="000000"/>
                </a:solidFill>
                <a:latin typeface="Arial" panose="020B0604020202020204" pitchFamily="34" charset="0"/>
                <a:ea typeface="宋体" panose="02010600030101010101" pitchFamily="2" charset="-122"/>
                <a:sym typeface="+mn-ea"/>
              </a:rPr>
              <a:t>纵向</a:t>
            </a:r>
            <a:r>
              <a:rPr lang="zh-CN" altLang="zh-CN" sz="2400" dirty="0">
                <a:ln>
                  <a:noFill/>
                </a:ln>
                <a:solidFill>
                  <a:srgbClr val="000000"/>
                </a:solidFill>
                <a:effectLst/>
                <a:latin typeface="Arial" panose="020B0604020202020204" pitchFamily="34" charset="0"/>
                <a:ea typeface="宋体" panose="02010600030101010101" pitchFamily="2" charset="-122"/>
                <a:sym typeface="+mn-ea"/>
              </a:rPr>
              <a:t>扩展</a:t>
            </a:r>
            <a:r>
              <a:rPr lang="zh-CN" altLang="en-US" sz="2400" dirty="0">
                <a:ln>
                  <a:noFill/>
                </a:ln>
                <a:solidFill>
                  <a:srgbClr val="000000"/>
                </a:solidFill>
                <a:effectLst/>
                <a:latin typeface="Arial" panose="020B0604020202020204" pitchFamily="34" charset="0"/>
                <a:ea typeface="宋体" panose="02010600030101010101" pitchFamily="2" charset="-122"/>
                <a:sym typeface="+mn-ea"/>
              </a:rPr>
              <a:t>有限</a:t>
            </a:r>
            <a:endParaRPr lang="zh-CN" altLang="zh-CN" sz="2400" dirty="0">
              <a:ln>
                <a:noFill/>
              </a:ln>
              <a:solidFill>
                <a:srgbClr val="000000"/>
              </a:solidFill>
              <a:effectLst/>
              <a:latin typeface="Arial" panose="020B0604020202020204" pitchFamily="34" charset="0"/>
              <a:ea typeface="宋体" panose="02010600030101010101" pitchFamily="2" charset="-122"/>
              <a:sym typeface="+mn-ea"/>
            </a:endParaRPr>
          </a:p>
        </p:txBody>
      </p:sp>
      <p:cxnSp>
        <p:nvCxnSpPr>
          <p:cNvPr id="22" name="直接箭头连接符 21"/>
          <p:cNvCxnSpPr>
            <a:stCxn id="2" idx="3"/>
            <a:endCxn id="15" idx="1"/>
          </p:cNvCxnSpPr>
          <p:nvPr/>
        </p:nvCxnSpPr>
        <p:spPr>
          <a:xfrm>
            <a:off x="3137193" y="1937216"/>
            <a:ext cx="777901" cy="1287626"/>
          </a:xfrm>
          <a:prstGeom prst="straightConnector1">
            <a:avLst/>
          </a:prstGeom>
          <a:ln w="38100">
            <a:tailEnd type="triangle"/>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4" name="直接箭头连接符 23"/>
          <p:cNvCxnSpPr>
            <a:stCxn id="20" idx="2"/>
            <a:endCxn id="15" idx="0"/>
          </p:cNvCxnSpPr>
          <p:nvPr/>
        </p:nvCxnSpPr>
        <p:spPr>
          <a:xfrm flipH="1">
            <a:off x="4621053" y="2127214"/>
            <a:ext cx="252042" cy="975931"/>
          </a:xfrm>
          <a:prstGeom prst="straightConnector1">
            <a:avLst/>
          </a:prstGeom>
          <a:ln w="38100">
            <a:tailEnd type="triangle"/>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4" idx="2"/>
            <a:endCxn id="16" idx="0"/>
          </p:cNvCxnSpPr>
          <p:nvPr/>
        </p:nvCxnSpPr>
        <p:spPr>
          <a:xfrm flipH="1">
            <a:off x="7419082" y="2141527"/>
            <a:ext cx="144496" cy="961617"/>
          </a:xfrm>
          <a:prstGeom prst="straightConnector1">
            <a:avLst/>
          </a:prstGeom>
          <a:ln w="38100">
            <a:tailEnd type="triangle"/>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6" idx="3"/>
            <a:endCxn id="15" idx="2"/>
          </p:cNvCxnSpPr>
          <p:nvPr/>
        </p:nvCxnSpPr>
        <p:spPr>
          <a:xfrm>
            <a:off x="3137193" y="3258759"/>
            <a:ext cx="485484" cy="259885"/>
          </a:xfrm>
          <a:prstGeom prst="straightConnector1">
            <a:avLst/>
          </a:prstGeom>
          <a:ln w="38100">
            <a:tailEnd type="triangle"/>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7" idx="1"/>
            <a:endCxn id="16" idx="7"/>
          </p:cNvCxnSpPr>
          <p:nvPr/>
        </p:nvCxnSpPr>
        <p:spPr>
          <a:xfrm flipH="1">
            <a:off x="8125040" y="1955601"/>
            <a:ext cx="1162523" cy="1269240"/>
          </a:xfrm>
          <a:prstGeom prst="straightConnector1">
            <a:avLst/>
          </a:prstGeom>
          <a:ln w="38100">
            <a:tailEnd type="triangle"/>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6" name="直接箭头连接符 35"/>
          <p:cNvCxnSpPr>
            <a:stCxn id="8" idx="3"/>
            <a:endCxn id="15" idx="3"/>
          </p:cNvCxnSpPr>
          <p:nvPr/>
        </p:nvCxnSpPr>
        <p:spPr>
          <a:xfrm flipV="1">
            <a:off x="3103424" y="3812445"/>
            <a:ext cx="811670" cy="904029"/>
          </a:xfrm>
          <a:prstGeom prst="straightConnector1">
            <a:avLst/>
          </a:prstGeom>
          <a:ln w="38100">
            <a:tailEnd type="triangle"/>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10" idx="3"/>
          </p:cNvCxnSpPr>
          <p:nvPr/>
        </p:nvCxnSpPr>
        <p:spPr>
          <a:xfrm flipV="1">
            <a:off x="3085322" y="3920705"/>
            <a:ext cx="1093696" cy="2009589"/>
          </a:xfrm>
          <a:prstGeom prst="straightConnector1">
            <a:avLst/>
          </a:prstGeom>
          <a:ln w="38100">
            <a:tailEnd type="triangle"/>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9" idx="1"/>
            <a:endCxn id="16" idx="6"/>
          </p:cNvCxnSpPr>
          <p:nvPr/>
        </p:nvCxnSpPr>
        <p:spPr>
          <a:xfrm flipH="1">
            <a:off x="8417457" y="3429000"/>
            <a:ext cx="801279" cy="89643"/>
          </a:xfrm>
          <a:prstGeom prst="straightConnector1">
            <a:avLst/>
          </a:prstGeom>
          <a:ln w="38100">
            <a:tailEnd type="triangle"/>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5" name="直接箭头连接符 44"/>
          <p:cNvCxnSpPr>
            <a:stCxn id="12" idx="1"/>
            <a:endCxn id="16" idx="5"/>
          </p:cNvCxnSpPr>
          <p:nvPr/>
        </p:nvCxnSpPr>
        <p:spPr>
          <a:xfrm flipH="1" flipV="1">
            <a:off x="8125040" y="3812444"/>
            <a:ext cx="1162523" cy="800869"/>
          </a:xfrm>
          <a:prstGeom prst="straightConnector1">
            <a:avLst/>
          </a:prstGeom>
          <a:ln w="38100">
            <a:tailEnd type="triangle"/>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8" name="直接箭头连接符 47"/>
          <p:cNvCxnSpPr>
            <a:stCxn id="14" idx="0"/>
            <a:endCxn id="15" idx="4"/>
          </p:cNvCxnSpPr>
          <p:nvPr/>
        </p:nvCxnSpPr>
        <p:spPr>
          <a:xfrm flipV="1">
            <a:off x="4353684" y="3934142"/>
            <a:ext cx="267369" cy="1797292"/>
          </a:xfrm>
          <a:prstGeom prst="straightConnector1">
            <a:avLst/>
          </a:prstGeom>
          <a:ln w="38100">
            <a:tailEnd type="triangle"/>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1" name="直接箭头连接符 50"/>
          <p:cNvCxnSpPr>
            <a:stCxn id="18" idx="0"/>
            <a:endCxn id="15" idx="5"/>
          </p:cNvCxnSpPr>
          <p:nvPr/>
        </p:nvCxnSpPr>
        <p:spPr>
          <a:xfrm flipH="1" flipV="1">
            <a:off x="5327011" y="3812445"/>
            <a:ext cx="1376708" cy="2060295"/>
          </a:xfrm>
          <a:prstGeom prst="straightConnector1">
            <a:avLst/>
          </a:prstGeom>
          <a:ln w="38100">
            <a:tailEnd type="triangle"/>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4" name="直接箭头连接符 53"/>
          <p:cNvCxnSpPr>
            <a:stCxn id="17" idx="0"/>
          </p:cNvCxnSpPr>
          <p:nvPr/>
        </p:nvCxnSpPr>
        <p:spPr>
          <a:xfrm flipH="1" flipV="1">
            <a:off x="5422332" y="3690747"/>
            <a:ext cx="3256606" cy="2202390"/>
          </a:xfrm>
          <a:prstGeom prst="straightConnector1">
            <a:avLst/>
          </a:prstGeom>
          <a:ln w="38100">
            <a:tailEnd type="triangle"/>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57" name="直接箭头连接符 56"/>
          <p:cNvCxnSpPr>
            <a:stCxn id="19" idx="1"/>
            <a:endCxn id="15" idx="6"/>
          </p:cNvCxnSpPr>
          <p:nvPr/>
        </p:nvCxnSpPr>
        <p:spPr>
          <a:xfrm flipH="1" flipV="1">
            <a:off x="5619428" y="3518644"/>
            <a:ext cx="3668135" cy="2047767"/>
          </a:xfrm>
          <a:prstGeom prst="straightConnector1">
            <a:avLst/>
          </a:prstGeom>
          <a:ln w="38100">
            <a:tailEnd type="triangle"/>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0" name="直接箭头连接符 59"/>
          <p:cNvCxnSpPr>
            <a:stCxn id="19" idx="1"/>
            <a:endCxn id="16" idx="4"/>
          </p:cNvCxnSpPr>
          <p:nvPr/>
        </p:nvCxnSpPr>
        <p:spPr>
          <a:xfrm flipH="1" flipV="1">
            <a:off x="7419082" y="3934141"/>
            <a:ext cx="1868481" cy="1632270"/>
          </a:xfrm>
          <a:prstGeom prst="straightConnector1">
            <a:avLst/>
          </a:prstGeom>
          <a:ln w="38100">
            <a:tailEnd type="triangle"/>
          </a:ln>
          <a:effectLst>
            <a:outerShdw blurRad="50800" dist="38100" dir="18900000" algn="b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up)">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wipe(up)">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up)">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30"/>
                                        </p:tgtEl>
                                        <p:attrNameLst>
                                          <p:attrName>style.visibility</p:attrName>
                                        </p:attrNameLst>
                                      </p:cBhvr>
                                      <p:to>
                                        <p:strVal val="visible"/>
                                      </p:to>
                                    </p:set>
                                    <p:animEffect transition="in" filter="wipe(up)">
                                      <p:cBhvr>
                                        <p:cTn id="38" dur="500"/>
                                        <p:tgtEl>
                                          <p:spTgt spid="3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wipe(up)">
                                      <p:cBhvr>
                                        <p:cTn id="43" dur="500"/>
                                        <p:tgtEl>
                                          <p:spTgt spid="33"/>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9"/>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36"/>
                                        </p:tgtEl>
                                        <p:attrNameLst>
                                          <p:attrName>style.visibility</p:attrName>
                                        </p:attrNameLst>
                                      </p:cBhvr>
                                      <p:to>
                                        <p:strVal val="visible"/>
                                      </p:to>
                                    </p:set>
                                    <p:animEffect transition="in" filter="wipe(down)">
                                      <p:cBhvr>
                                        <p:cTn id="54" dur="500"/>
                                        <p:tgtEl>
                                          <p:spTgt spid="36"/>
                                        </p:tgtEl>
                                      </p:cBhvr>
                                    </p:animEffect>
                                  </p:childTnLst>
                                </p:cTn>
                              </p:par>
                              <p:par>
                                <p:cTn id="55" presetID="22" presetClass="entr" presetSubtype="2"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wipe(right)">
                                      <p:cBhvr>
                                        <p:cTn id="57" dur="5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10"/>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nodeType="clickEffect">
                                  <p:stCondLst>
                                    <p:cond delay="0"/>
                                  </p:stCondLst>
                                  <p:childTnLst>
                                    <p:set>
                                      <p:cBhvr>
                                        <p:cTn id="67" dur="1" fill="hold">
                                          <p:stCondLst>
                                            <p:cond delay="0"/>
                                          </p:stCondLst>
                                        </p:cTn>
                                        <p:tgtEl>
                                          <p:spTgt spid="39"/>
                                        </p:tgtEl>
                                        <p:attrNameLst>
                                          <p:attrName>style.visibility</p:attrName>
                                        </p:attrNameLst>
                                      </p:cBhvr>
                                      <p:to>
                                        <p:strVal val="visible"/>
                                      </p:to>
                                    </p:set>
                                    <p:animEffect transition="in" filter="wipe(down)">
                                      <p:cBhvr>
                                        <p:cTn id="68" dur="500"/>
                                        <p:tgtEl>
                                          <p:spTgt spid="39"/>
                                        </p:tgtEl>
                                      </p:cBhvr>
                                    </p:animEffect>
                                  </p:childTnLst>
                                </p:cTn>
                              </p:par>
                              <p:par>
                                <p:cTn id="69" presetID="22" presetClass="entr" presetSubtype="2" fill="hold" nodeType="withEffect">
                                  <p:stCondLst>
                                    <p:cond delay="0"/>
                                  </p:stCondLst>
                                  <p:childTnLst>
                                    <p:set>
                                      <p:cBhvr>
                                        <p:cTn id="70" dur="1" fill="hold">
                                          <p:stCondLst>
                                            <p:cond delay="0"/>
                                          </p:stCondLst>
                                        </p:cTn>
                                        <p:tgtEl>
                                          <p:spTgt spid="45"/>
                                        </p:tgtEl>
                                        <p:attrNameLst>
                                          <p:attrName>style.visibility</p:attrName>
                                        </p:attrNameLst>
                                      </p:cBhvr>
                                      <p:to>
                                        <p:strVal val="visible"/>
                                      </p:to>
                                    </p:set>
                                    <p:animEffect transition="in" filter="wipe(right)">
                                      <p:cBhvr>
                                        <p:cTn id="71" dur="500"/>
                                        <p:tgtEl>
                                          <p:spTgt spid="45"/>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14"/>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48"/>
                                        </p:tgtEl>
                                        <p:attrNameLst>
                                          <p:attrName>style.visibility</p:attrName>
                                        </p:attrNameLst>
                                      </p:cBhvr>
                                      <p:to>
                                        <p:strVal val="visible"/>
                                      </p:to>
                                    </p:set>
                                    <p:animEffect transition="in" filter="wipe(down)">
                                      <p:cBhvr>
                                        <p:cTn id="80" dur="500"/>
                                        <p:tgtEl>
                                          <p:spTgt spid="48"/>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8"/>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nodeType="clickEffect">
                                  <p:stCondLst>
                                    <p:cond delay="0"/>
                                  </p:stCondLst>
                                  <p:childTnLst>
                                    <p:set>
                                      <p:cBhvr>
                                        <p:cTn id="88" dur="1" fill="hold">
                                          <p:stCondLst>
                                            <p:cond delay="0"/>
                                          </p:stCondLst>
                                        </p:cTn>
                                        <p:tgtEl>
                                          <p:spTgt spid="51"/>
                                        </p:tgtEl>
                                        <p:attrNameLst>
                                          <p:attrName>style.visibility</p:attrName>
                                        </p:attrNameLst>
                                      </p:cBhvr>
                                      <p:to>
                                        <p:strVal val="visible"/>
                                      </p:to>
                                    </p:set>
                                    <p:animEffect transition="in" filter="wipe(down)">
                                      <p:cBhvr>
                                        <p:cTn id="89" dur="500"/>
                                        <p:tgtEl>
                                          <p:spTgt spid="51"/>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7"/>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22" presetClass="entr" presetSubtype="4" fill="hold" nodeType="clickEffect">
                                  <p:stCondLst>
                                    <p:cond delay="0"/>
                                  </p:stCondLst>
                                  <p:childTnLst>
                                    <p:set>
                                      <p:cBhvr>
                                        <p:cTn id="97" dur="1" fill="hold">
                                          <p:stCondLst>
                                            <p:cond delay="0"/>
                                          </p:stCondLst>
                                        </p:cTn>
                                        <p:tgtEl>
                                          <p:spTgt spid="54"/>
                                        </p:tgtEl>
                                        <p:attrNameLst>
                                          <p:attrName>style.visibility</p:attrName>
                                        </p:attrNameLst>
                                      </p:cBhvr>
                                      <p:to>
                                        <p:strVal val="visible"/>
                                      </p:to>
                                    </p:set>
                                    <p:animEffect transition="in" filter="wipe(down)">
                                      <p:cBhvr>
                                        <p:cTn id="98" dur="500"/>
                                        <p:tgtEl>
                                          <p:spTgt spid="54"/>
                                        </p:tgtEl>
                                      </p:cBhvr>
                                    </p:animEffec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9"/>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22" presetClass="entr" presetSubtype="2" fill="hold" nodeType="clickEffect">
                                  <p:stCondLst>
                                    <p:cond delay="0"/>
                                  </p:stCondLst>
                                  <p:childTnLst>
                                    <p:set>
                                      <p:cBhvr>
                                        <p:cTn id="106" dur="1" fill="hold">
                                          <p:stCondLst>
                                            <p:cond delay="0"/>
                                          </p:stCondLst>
                                        </p:cTn>
                                        <p:tgtEl>
                                          <p:spTgt spid="57"/>
                                        </p:tgtEl>
                                        <p:attrNameLst>
                                          <p:attrName>style.visibility</p:attrName>
                                        </p:attrNameLst>
                                      </p:cBhvr>
                                      <p:to>
                                        <p:strVal val="visible"/>
                                      </p:to>
                                    </p:set>
                                    <p:animEffect transition="in" filter="wipe(right)">
                                      <p:cBhvr>
                                        <p:cTn id="107" dur="500"/>
                                        <p:tgtEl>
                                          <p:spTgt spid="57"/>
                                        </p:tgtEl>
                                      </p:cBhvr>
                                    </p:animEffect>
                                  </p:childTnLst>
                                </p:cTn>
                              </p:par>
                              <p:par>
                                <p:cTn id="108" presetID="22" presetClass="entr" presetSubtype="2" fill="hold" nodeType="withEffect">
                                  <p:stCondLst>
                                    <p:cond delay="0"/>
                                  </p:stCondLst>
                                  <p:childTnLst>
                                    <p:set>
                                      <p:cBhvr>
                                        <p:cTn id="109" dur="1" fill="hold">
                                          <p:stCondLst>
                                            <p:cond delay="0"/>
                                          </p:stCondLst>
                                        </p:cTn>
                                        <p:tgtEl>
                                          <p:spTgt spid="60"/>
                                        </p:tgtEl>
                                        <p:attrNameLst>
                                          <p:attrName>style.visibility</p:attrName>
                                        </p:attrNameLst>
                                      </p:cBhvr>
                                      <p:to>
                                        <p:strVal val="visible"/>
                                      </p:to>
                                    </p:set>
                                    <p:animEffect transition="in" filter="wipe(right)">
                                      <p:cBhvr>
                                        <p:cTn id="110"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6" grpId="0" animBg="1"/>
      <p:bldP spid="7" grpId="0" animBg="1"/>
      <p:bldP spid="8" grpId="0" animBg="1"/>
      <p:bldP spid="9" grpId="0" animBg="1"/>
      <p:bldP spid="10" grpId="0" animBg="1"/>
      <p:bldP spid="12" grpId="0" animBg="1"/>
      <p:bldP spid="14" grpId="0" animBg="1"/>
      <p:bldP spid="17" grpId="0" animBg="1"/>
      <p:bldP spid="18" grpId="0" animBg="1"/>
      <p:bldP spid="19"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2"/>
          <p:cNvSpPr>
            <a:spLocks noGrp="1"/>
          </p:cNvSpPr>
          <p:nvPr>
            <p:ph type="title"/>
          </p:nvPr>
        </p:nvSpPr>
        <p:spPr/>
        <p:txBody>
          <a:bodyPr vert="horz" wrap="square" lIns="91440" tIns="45720" rIns="91440" bIns="45720" anchor="ctr" anchorCtr="0"/>
          <a:lstStyle/>
          <a:p>
            <a:r>
              <a:rPr lang="en-US" altLang="zh-CN" b="1" dirty="0"/>
              <a:t>5.3  NoSQL</a:t>
            </a:r>
            <a:r>
              <a:rPr lang="zh-CN" altLang="en-US" b="1" dirty="0"/>
              <a:t>与关系数据库的比较</a:t>
            </a:r>
            <a:endParaRPr lang="zh-CN" altLang="en-US" b="1" dirty="0"/>
          </a:p>
        </p:txBody>
      </p:sp>
      <p:sp>
        <p:nvSpPr>
          <p:cNvPr id="14339" name="TextBox 3"/>
          <p:cNvSpPr txBox="1"/>
          <p:nvPr/>
        </p:nvSpPr>
        <p:spPr>
          <a:xfrm>
            <a:off x="1677955" y="1964353"/>
            <a:ext cx="9453465" cy="4154984"/>
          </a:xfrm>
          <a:prstGeom prst="rect">
            <a:avLst/>
          </a:prstGeom>
          <a:noFill/>
          <a:ln w="9525">
            <a:noFill/>
          </a:ln>
        </p:spPr>
        <p:txBody>
          <a:bodyPr wrap="square">
            <a:spAutoFit/>
          </a:bodyPr>
          <a:lstStyle/>
          <a:p>
            <a:r>
              <a:rPr lang="zh-CN" altLang="en-US" sz="2200" b="1" dirty="0">
                <a:latin typeface="Arial" panose="020B0604020202020204" pitchFamily="34" charset="0"/>
              </a:rPr>
              <a:t>（</a:t>
            </a:r>
            <a:r>
              <a:rPr lang="en-US" altLang="zh-CN" sz="2200" b="1" dirty="0">
                <a:latin typeface="Arial" panose="020B0604020202020204" pitchFamily="34" charset="0"/>
              </a:rPr>
              <a:t>1</a:t>
            </a:r>
            <a:r>
              <a:rPr lang="zh-CN" altLang="en-US" sz="2200" b="1" dirty="0">
                <a:latin typeface="Arial" panose="020B0604020202020204" pitchFamily="34" charset="0"/>
              </a:rPr>
              <a:t>）关系数据库</a:t>
            </a:r>
            <a:endParaRPr lang="en-US" altLang="zh-CN" sz="2200" b="1" dirty="0">
              <a:latin typeface="Arial" panose="020B0604020202020204" pitchFamily="34" charset="0"/>
            </a:endParaRPr>
          </a:p>
          <a:p>
            <a:r>
              <a:rPr lang="zh-CN" altLang="en-US" sz="2200" b="1" dirty="0">
                <a:latin typeface="Arial" panose="020B0604020202020204" pitchFamily="34" charset="0"/>
              </a:rPr>
              <a:t>优势</a:t>
            </a:r>
            <a:r>
              <a:rPr lang="zh-CN" altLang="en-US" sz="2200" dirty="0">
                <a:latin typeface="Arial" panose="020B0604020202020204" pitchFamily="34" charset="0"/>
              </a:rPr>
              <a:t>：以完善的关系代数理论作为基础，有严格的标准，支持事务</a:t>
            </a:r>
            <a:r>
              <a:rPr lang="en-US" altLang="zh-CN" sz="2200" dirty="0">
                <a:latin typeface="Arial" panose="020B0604020202020204" pitchFamily="34" charset="0"/>
              </a:rPr>
              <a:t>ACID</a:t>
            </a:r>
            <a:r>
              <a:rPr lang="zh-CN" altLang="en-US" sz="2200" dirty="0">
                <a:latin typeface="Arial" panose="020B0604020202020204" pitchFamily="34" charset="0"/>
              </a:rPr>
              <a:t>四性，借助索引机制可以实现高效的查询，技术成熟，有专业公司的技术支持</a:t>
            </a:r>
            <a:endParaRPr lang="en-US" altLang="zh-CN" sz="2200" dirty="0">
              <a:latin typeface="Arial" panose="020B0604020202020204" pitchFamily="34" charset="0"/>
            </a:endParaRPr>
          </a:p>
          <a:p>
            <a:r>
              <a:rPr lang="zh-CN" altLang="en-US" sz="2200" b="1" dirty="0">
                <a:latin typeface="Arial" panose="020B0604020202020204" pitchFamily="34" charset="0"/>
              </a:rPr>
              <a:t>劣势</a:t>
            </a:r>
            <a:r>
              <a:rPr lang="zh-CN" altLang="en-US" sz="2200" dirty="0">
                <a:latin typeface="Arial" panose="020B0604020202020204" pitchFamily="34" charset="0"/>
              </a:rPr>
              <a:t>：可扩展性较差，无法较好支持海量数据存储，数据模型过于死板、无法较好支持</a:t>
            </a:r>
            <a:r>
              <a:rPr lang="en-US" altLang="zh-CN" sz="2200" dirty="0">
                <a:latin typeface="Arial" panose="020B0604020202020204" pitchFamily="34" charset="0"/>
              </a:rPr>
              <a:t>Web2.0</a:t>
            </a:r>
            <a:r>
              <a:rPr lang="zh-CN" altLang="en-US" sz="2200" dirty="0">
                <a:latin typeface="Arial" panose="020B0604020202020204" pitchFamily="34" charset="0"/>
              </a:rPr>
              <a:t>应用，事务机制影响了系统的整体性能等</a:t>
            </a:r>
            <a:endParaRPr lang="en-US" altLang="zh-CN" sz="2200" dirty="0">
              <a:latin typeface="Arial" panose="020B0604020202020204" pitchFamily="34" charset="0"/>
            </a:endParaRPr>
          </a:p>
          <a:p>
            <a:endParaRPr lang="en-US" altLang="zh-CN" sz="2200" dirty="0">
              <a:latin typeface="Arial" panose="020B0604020202020204" pitchFamily="34" charset="0"/>
            </a:endParaRPr>
          </a:p>
          <a:p>
            <a:r>
              <a:rPr lang="zh-CN" altLang="en-US" sz="2200" b="1" dirty="0">
                <a:latin typeface="Arial" panose="020B0604020202020204" pitchFamily="34" charset="0"/>
              </a:rPr>
              <a:t>（</a:t>
            </a:r>
            <a:r>
              <a:rPr lang="en-US" altLang="zh-CN" sz="2200" b="1" dirty="0">
                <a:latin typeface="Arial" panose="020B0604020202020204" pitchFamily="34" charset="0"/>
              </a:rPr>
              <a:t>2</a:t>
            </a:r>
            <a:r>
              <a:rPr lang="zh-CN" altLang="en-US" sz="2200" b="1" dirty="0">
                <a:latin typeface="Arial" panose="020B0604020202020204" pitchFamily="34" charset="0"/>
              </a:rPr>
              <a:t>）</a:t>
            </a:r>
            <a:r>
              <a:rPr lang="en-US" altLang="zh-CN" sz="2200" b="1" dirty="0">
                <a:latin typeface="Arial" panose="020B0604020202020204" pitchFamily="34" charset="0"/>
              </a:rPr>
              <a:t>NoSQL</a:t>
            </a:r>
            <a:r>
              <a:rPr lang="zh-CN" altLang="en-US" sz="2200" b="1" dirty="0">
                <a:latin typeface="Arial" panose="020B0604020202020204" pitchFamily="34" charset="0"/>
              </a:rPr>
              <a:t>数据库</a:t>
            </a:r>
            <a:endParaRPr lang="en-US" altLang="zh-CN" sz="2200" b="1" dirty="0">
              <a:latin typeface="Arial" panose="020B0604020202020204" pitchFamily="34" charset="0"/>
            </a:endParaRPr>
          </a:p>
          <a:p>
            <a:r>
              <a:rPr lang="zh-CN" altLang="en-US" sz="2200" b="1" dirty="0">
                <a:latin typeface="Arial" panose="020B0604020202020204" pitchFamily="34" charset="0"/>
              </a:rPr>
              <a:t>优势</a:t>
            </a:r>
            <a:r>
              <a:rPr lang="zh-CN" altLang="en-US" sz="2200" dirty="0">
                <a:latin typeface="Arial" panose="020B0604020202020204" pitchFamily="34" charset="0"/>
              </a:rPr>
              <a:t>：可以支持超大规模数据存储，灵活的数据模型可以很好地支持</a:t>
            </a:r>
            <a:r>
              <a:rPr lang="en-US" altLang="zh-CN" sz="2200" dirty="0">
                <a:latin typeface="Arial" panose="020B0604020202020204" pitchFamily="34" charset="0"/>
              </a:rPr>
              <a:t>Web2.0</a:t>
            </a:r>
            <a:r>
              <a:rPr lang="zh-CN" altLang="en-US" sz="2200" dirty="0">
                <a:latin typeface="Arial" panose="020B0604020202020204" pitchFamily="34" charset="0"/>
              </a:rPr>
              <a:t>应用，具有强大的横向扩展能力等</a:t>
            </a:r>
            <a:endParaRPr lang="en-US" altLang="zh-CN" sz="2200" dirty="0">
              <a:latin typeface="Arial" panose="020B0604020202020204" pitchFamily="34" charset="0"/>
            </a:endParaRPr>
          </a:p>
          <a:p>
            <a:r>
              <a:rPr lang="zh-CN" altLang="en-US" sz="2200" b="1" dirty="0">
                <a:latin typeface="Arial" panose="020B0604020202020204" pitchFamily="34" charset="0"/>
              </a:rPr>
              <a:t>劣势</a:t>
            </a:r>
            <a:r>
              <a:rPr lang="zh-CN" altLang="en-US" sz="2200" dirty="0">
                <a:latin typeface="Arial" panose="020B0604020202020204" pitchFamily="34" charset="0"/>
              </a:rPr>
              <a:t>：缺乏数学理论基础，复杂查询性能不高，大都不能实现事务强一致性，很难实现数据完整性，技术尚不成熟，缺乏专业团队的技术支持，维护较难等</a:t>
            </a:r>
            <a:endParaRPr lang="zh-CN" altLang="en-US" sz="2200" dirty="0">
              <a:latin typeface="Arial" panose="020B0604020202020204" pitchFamily="34" charset="0"/>
            </a:endParaRPr>
          </a:p>
        </p:txBody>
      </p:sp>
      <p:sp>
        <p:nvSpPr>
          <p:cNvPr id="3" name="文本框 2"/>
          <p:cNvSpPr txBox="1"/>
          <p:nvPr/>
        </p:nvSpPr>
        <p:spPr>
          <a:xfrm>
            <a:off x="838200" y="1524683"/>
            <a:ext cx="954054" cy="578882"/>
          </a:xfrm>
          <a:prstGeom prst="roundRect">
            <a:avLst/>
          </a:prstGeom>
          <a:solidFill>
            <a:srgbClr val="00B0F0"/>
          </a:solidFill>
        </p:spPr>
        <p:txBody>
          <a:bodyPr wrap="square">
            <a:spAutoFit/>
          </a:bodyPr>
          <a:lstStyle/>
          <a:p>
            <a:pPr algn="ctr"/>
            <a:r>
              <a:rPr lang="zh-CN" altLang="en-US" sz="2800" b="1" dirty="0">
                <a:latin typeface="Arial" panose="020B0604020202020204" pitchFamily="34" charset="0"/>
              </a:rPr>
              <a:t>总结</a:t>
            </a:r>
            <a:endParaRPr lang="en-US" altLang="zh-CN" sz="2800" b="1" dirty="0">
              <a:latin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2"/>
          <p:cNvSpPr>
            <a:spLocks noGrp="1"/>
          </p:cNvSpPr>
          <p:nvPr>
            <p:ph type="title"/>
          </p:nvPr>
        </p:nvSpPr>
        <p:spPr/>
        <p:txBody>
          <a:bodyPr vert="horz" wrap="square" lIns="91440" tIns="45720" rIns="91440" bIns="45720" anchor="ctr" anchorCtr="0"/>
          <a:lstStyle/>
          <a:p>
            <a:r>
              <a:rPr lang="en-US" altLang="zh-CN" b="1" dirty="0"/>
              <a:t>5.3  NoSQL</a:t>
            </a:r>
            <a:r>
              <a:rPr lang="zh-CN" altLang="en-US" b="1" dirty="0"/>
              <a:t>与关系数据库的比较</a:t>
            </a:r>
            <a:endParaRPr lang="zh-CN" altLang="en-US" b="1" dirty="0"/>
          </a:p>
        </p:txBody>
      </p:sp>
      <p:sp>
        <p:nvSpPr>
          <p:cNvPr id="15363" name="TextBox 3"/>
          <p:cNvSpPr txBox="1"/>
          <p:nvPr/>
        </p:nvSpPr>
        <p:spPr>
          <a:xfrm>
            <a:off x="1576873" y="2225350"/>
            <a:ext cx="8929396" cy="1569660"/>
          </a:xfrm>
          <a:prstGeom prst="rect">
            <a:avLst/>
          </a:prstGeom>
          <a:noFill/>
          <a:ln w="9525">
            <a:noFill/>
          </a:ln>
        </p:spPr>
        <p:txBody>
          <a:bodyPr wrap="square">
            <a:spAutoFit/>
          </a:bodyPr>
          <a:lstStyle/>
          <a:p>
            <a:pPr>
              <a:buFont typeface="Arial" panose="020B0604020202020204" pitchFamily="34" charset="0"/>
              <a:buChar char="•"/>
            </a:pPr>
            <a:r>
              <a:rPr lang="zh-CN" altLang="en-US" sz="2400" b="1" dirty="0">
                <a:latin typeface="Arial" panose="020B0604020202020204" pitchFamily="34" charset="0"/>
              </a:rPr>
              <a:t>关系数据库</a:t>
            </a:r>
            <a:r>
              <a:rPr lang="zh-CN" altLang="en-US" sz="2400" dirty="0">
                <a:latin typeface="Arial" panose="020B0604020202020204" pitchFamily="34" charset="0"/>
              </a:rPr>
              <a:t>：</a:t>
            </a:r>
            <a:endParaRPr lang="en-US" altLang="zh-CN" sz="2400" dirty="0">
              <a:latin typeface="Arial" panose="020B0604020202020204" pitchFamily="34" charset="0"/>
            </a:endParaRPr>
          </a:p>
          <a:p>
            <a:pPr lvl="1"/>
            <a:r>
              <a:rPr lang="zh-CN" altLang="en-US" sz="2400" dirty="0">
                <a:latin typeface="Arial" panose="020B0604020202020204" pitchFamily="34" charset="0"/>
              </a:rPr>
              <a:t>电信、银行等领域的关键业务系统，需要保证强事务一致性</a:t>
            </a:r>
            <a:endParaRPr lang="en-US" altLang="zh-CN" sz="2400" dirty="0">
              <a:latin typeface="Arial" panose="020B0604020202020204" pitchFamily="34" charset="0"/>
            </a:endParaRPr>
          </a:p>
          <a:p>
            <a:pPr>
              <a:buFont typeface="Arial" panose="020B0604020202020204" pitchFamily="34" charset="0"/>
              <a:buChar char="•"/>
            </a:pPr>
            <a:r>
              <a:rPr lang="en-US" altLang="zh-CN" sz="2400" b="1" dirty="0">
                <a:latin typeface="Arial" panose="020B0604020202020204" pitchFamily="34" charset="0"/>
              </a:rPr>
              <a:t>NoSQL</a:t>
            </a:r>
            <a:r>
              <a:rPr lang="zh-CN" altLang="en-US" sz="2400" b="1" dirty="0">
                <a:latin typeface="Arial" panose="020B0604020202020204" pitchFamily="34" charset="0"/>
              </a:rPr>
              <a:t>数据库</a:t>
            </a:r>
            <a:r>
              <a:rPr lang="zh-CN" altLang="en-US" sz="2400" dirty="0">
                <a:latin typeface="Arial" panose="020B0604020202020204" pitchFamily="34" charset="0"/>
              </a:rPr>
              <a:t>：</a:t>
            </a:r>
            <a:endParaRPr lang="en-US" altLang="zh-CN" sz="2400" dirty="0">
              <a:latin typeface="Arial" panose="020B0604020202020204" pitchFamily="34" charset="0"/>
            </a:endParaRPr>
          </a:p>
          <a:p>
            <a:pPr lvl="1"/>
            <a:r>
              <a:rPr lang="zh-CN" altLang="en-US" sz="2400" dirty="0">
                <a:latin typeface="Arial" panose="020B0604020202020204" pitchFamily="34" charset="0"/>
              </a:rPr>
              <a:t>互联网企业、传统企业的非关键业务（比如数据分析）</a:t>
            </a:r>
            <a:endParaRPr lang="en-US" altLang="zh-CN" sz="2400" dirty="0">
              <a:latin typeface="Arial" panose="020B0604020202020204" pitchFamily="34" charset="0"/>
            </a:endParaRPr>
          </a:p>
        </p:txBody>
      </p:sp>
      <p:sp>
        <p:nvSpPr>
          <p:cNvPr id="2" name="文本框 1"/>
          <p:cNvSpPr txBox="1"/>
          <p:nvPr/>
        </p:nvSpPr>
        <p:spPr>
          <a:xfrm>
            <a:off x="838200" y="1524683"/>
            <a:ext cx="1662404" cy="578882"/>
          </a:xfrm>
          <a:prstGeom prst="roundRect">
            <a:avLst/>
          </a:prstGeom>
          <a:solidFill>
            <a:srgbClr val="92D050"/>
          </a:solidFill>
        </p:spPr>
        <p:txBody>
          <a:bodyPr wrap="square">
            <a:spAutoFit/>
          </a:bodyPr>
          <a:lstStyle/>
          <a:p>
            <a:pPr algn="ctr"/>
            <a:r>
              <a:rPr lang="zh-CN" altLang="en-US" sz="2800" b="1" dirty="0">
                <a:latin typeface="Arial" panose="020B0604020202020204" pitchFamily="34" charset="0"/>
              </a:rPr>
              <a:t>应用场景</a:t>
            </a:r>
            <a:endParaRPr lang="en-US" altLang="zh-CN" sz="2800" b="1" dirty="0">
              <a:latin typeface="Arial" panose="020B0604020202020204" pitchFamily="34" charset="0"/>
            </a:endParaRPr>
          </a:p>
        </p:txBody>
      </p:sp>
      <p:sp>
        <p:nvSpPr>
          <p:cNvPr id="4" name="文本框 3"/>
          <p:cNvSpPr txBox="1"/>
          <p:nvPr/>
        </p:nvSpPr>
        <p:spPr>
          <a:xfrm>
            <a:off x="1576873" y="4363821"/>
            <a:ext cx="9454242" cy="19380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采用混合架构</a:t>
            </a:r>
            <a:endParaRPr kumimoji="0" lang="en-US" altLang="zh-CN" sz="24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案例：亚马逊公司就使用不同类型的数据库来支撑它的电子商务应用</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对于“购物车”这种临时性数据，采用键值存储会更加高效</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当前的产品和订单信息则适合存放在关系数据库中</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大量的历史订单信息则适合保存在类似</a:t>
            </a: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MongoDB</a:t>
            </a: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rPr>
              <a:t>的文档数据库中</a:t>
            </a:r>
            <a:endPar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2"/>
          <p:cNvSpPr>
            <a:spLocks noGrp="1"/>
          </p:cNvSpPr>
          <p:nvPr>
            <p:ph type="title"/>
          </p:nvPr>
        </p:nvSpPr>
        <p:spPr/>
        <p:txBody>
          <a:bodyPr vert="horz" wrap="square" lIns="91440" tIns="45720" rIns="91440" bIns="45720" anchor="ctr" anchorCtr="0"/>
          <a:lstStyle/>
          <a:p>
            <a:r>
              <a:rPr lang="en-US" altLang="zh-CN" b="1" dirty="0"/>
              <a:t>5.4  NoSQL</a:t>
            </a:r>
            <a:r>
              <a:rPr lang="zh-CN" altLang="zh-CN" b="1" dirty="0"/>
              <a:t>的四大类型</a:t>
            </a:r>
            <a:endParaRPr lang="zh-CN" altLang="en-US" b="1" dirty="0"/>
          </a:p>
        </p:txBody>
      </p:sp>
      <p:grpSp>
        <p:nvGrpSpPr>
          <p:cNvPr id="2" name="组合 1"/>
          <p:cNvGrpSpPr/>
          <p:nvPr/>
        </p:nvGrpSpPr>
        <p:grpSpPr>
          <a:xfrm>
            <a:off x="2400300" y="1371600"/>
            <a:ext cx="7391400" cy="5486400"/>
            <a:chOff x="2514600" y="1143000"/>
            <a:chExt cx="7391400" cy="5486400"/>
          </a:xfrm>
        </p:grpSpPr>
        <p:pic>
          <p:nvPicPr>
            <p:cNvPr id="18435" name="Picture 2" descr="https://pic3.zhimg.com/4b3ef79f6def6d9fc6b6cc76154dceb6_r.jpg"/>
            <p:cNvPicPr>
              <a:picLocks noChangeAspect="1"/>
            </p:cNvPicPr>
            <p:nvPr/>
          </p:nvPicPr>
          <p:blipFill>
            <a:blip r:embed="rId1"/>
            <a:srcRect r="-2390" b="2721"/>
            <a:stretch>
              <a:fillRect/>
            </a:stretch>
          </p:blipFill>
          <p:spPr>
            <a:xfrm>
              <a:off x="2514600" y="1143000"/>
              <a:ext cx="7391400" cy="5486400"/>
            </a:xfrm>
            <a:prstGeom prst="rect">
              <a:avLst/>
            </a:prstGeom>
            <a:noFill/>
            <a:ln w="9525">
              <a:noFill/>
            </a:ln>
          </p:spPr>
        </p:pic>
        <p:sp>
          <p:nvSpPr>
            <p:cNvPr id="18436" name="TextBox 4"/>
            <p:cNvSpPr txBox="1"/>
            <p:nvPr/>
          </p:nvSpPr>
          <p:spPr>
            <a:xfrm>
              <a:off x="2590800" y="1185863"/>
              <a:ext cx="2209800" cy="337185"/>
            </a:xfrm>
            <a:prstGeom prst="rect">
              <a:avLst/>
            </a:prstGeom>
            <a:solidFill>
              <a:schemeClr val="bg1"/>
            </a:solidFill>
            <a:ln w="9525">
              <a:noFill/>
            </a:ln>
          </p:spPr>
          <p:txBody>
            <a:bodyPr>
              <a:spAutoFit/>
            </a:bodyPr>
            <a:lstStyle/>
            <a:p>
              <a:r>
                <a:rPr lang="zh-CN" altLang="en-US" sz="1600" dirty="0">
                  <a:latin typeface="Arial" panose="020B0604020202020204" pitchFamily="34" charset="0"/>
                </a:rPr>
                <a:t>文档数据库</a:t>
              </a:r>
              <a:endParaRPr lang="zh-CN" altLang="en-US" sz="1600" dirty="0">
                <a:latin typeface="Arial" panose="020B0604020202020204" pitchFamily="34" charset="0"/>
              </a:endParaRPr>
            </a:p>
          </p:txBody>
        </p:sp>
        <p:sp>
          <p:nvSpPr>
            <p:cNvPr id="18437" name="TextBox 5"/>
            <p:cNvSpPr txBox="1"/>
            <p:nvPr/>
          </p:nvSpPr>
          <p:spPr>
            <a:xfrm>
              <a:off x="6172200" y="1219200"/>
              <a:ext cx="2209800" cy="337185"/>
            </a:xfrm>
            <a:prstGeom prst="rect">
              <a:avLst/>
            </a:prstGeom>
            <a:solidFill>
              <a:schemeClr val="bg1"/>
            </a:solidFill>
            <a:ln w="9525">
              <a:noFill/>
            </a:ln>
          </p:spPr>
          <p:txBody>
            <a:bodyPr>
              <a:spAutoFit/>
            </a:bodyPr>
            <a:lstStyle/>
            <a:p>
              <a:r>
                <a:rPr lang="zh-CN" altLang="en-US" sz="1600" dirty="0">
                  <a:latin typeface="Arial" panose="020B0604020202020204" pitchFamily="34" charset="0"/>
                </a:rPr>
                <a:t>图数据库</a:t>
              </a:r>
              <a:endParaRPr lang="zh-CN" altLang="en-US" sz="1600" dirty="0">
                <a:latin typeface="Arial" panose="020B0604020202020204" pitchFamily="34" charset="0"/>
              </a:endParaRPr>
            </a:p>
          </p:txBody>
        </p:sp>
        <p:sp>
          <p:nvSpPr>
            <p:cNvPr id="18438" name="TextBox 6"/>
            <p:cNvSpPr txBox="1"/>
            <p:nvPr/>
          </p:nvSpPr>
          <p:spPr>
            <a:xfrm>
              <a:off x="2590800" y="3929063"/>
              <a:ext cx="2209800" cy="337185"/>
            </a:xfrm>
            <a:prstGeom prst="rect">
              <a:avLst/>
            </a:prstGeom>
            <a:solidFill>
              <a:schemeClr val="bg1"/>
            </a:solidFill>
            <a:ln w="9525">
              <a:noFill/>
            </a:ln>
          </p:spPr>
          <p:txBody>
            <a:bodyPr>
              <a:spAutoFit/>
            </a:bodyPr>
            <a:lstStyle/>
            <a:p>
              <a:r>
                <a:rPr lang="zh-CN" altLang="en-US" sz="1600" dirty="0">
                  <a:latin typeface="Arial" panose="020B0604020202020204" pitchFamily="34" charset="0"/>
                </a:rPr>
                <a:t>键值数据库</a:t>
              </a:r>
              <a:endParaRPr lang="zh-CN" altLang="en-US" sz="1600" dirty="0">
                <a:latin typeface="Arial" panose="020B0604020202020204" pitchFamily="34" charset="0"/>
              </a:endParaRPr>
            </a:p>
          </p:txBody>
        </p:sp>
        <p:sp>
          <p:nvSpPr>
            <p:cNvPr id="18439" name="TextBox 7"/>
            <p:cNvSpPr txBox="1"/>
            <p:nvPr/>
          </p:nvSpPr>
          <p:spPr>
            <a:xfrm>
              <a:off x="6172200" y="3929063"/>
              <a:ext cx="2209800" cy="337185"/>
            </a:xfrm>
            <a:prstGeom prst="rect">
              <a:avLst/>
            </a:prstGeom>
            <a:solidFill>
              <a:schemeClr val="bg1"/>
            </a:solidFill>
            <a:ln w="9525">
              <a:noFill/>
            </a:ln>
          </p:spPr>
          <p:txBody>
            <a:bodyPr>
              <a:spAutoFit/>
            </a:bodyPr>
            <a:lstStyle/>
            <a:p>
              <a:r>
                <a:rPr lang="zh-CN" altLang="en-US" sz="1600" dirty="0">
                  <a:latin typeface="Arial" panose="020B0604020202020204" pitchFamily="34" charset="0"/>
                </a:rPr>
                <a:t>列族数据库</a:t>
              </a:r>
              <a:endParaRPr lang="zh-CN" altLang="en-US" sz="1600" dirty="0">
                <a:latin typeface="Arial" panose="020B0604020202020204" pitchFamily="34" charset="0"/>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2"/>
          <p:cNvSpPr>
            <a:spLocks noGrp="1"/>
          </p:cNvSpPr>
          <p:nvPr>
            <p:ph type="title"/>
          </p:nvPr>
        </p:nvSpPr>
        <p:spPr/>
        <p:txBody>
          <a:bodyPr vert="horz" wrap="square" lIns="91440" tIns="45720" rIns="91440" bIns="45720" anchor="ctr" anchorCtr="0"/>
          <a:lstStyle/>
          <a:p>
            <a:r>
              <a:rPr lang="en-US" altLang="zh-CN" b="1" dirty="0"/>
              <a:t>5.4  NoSQL</a:t>
            </a:r>
            <a:r>
              <a:rPr lang="zh-CN" altLang="zh-CN" b="1" dirty="0"/>
              <a:t>的四大类型</a:t>
            </a:r>
            <a:endParaRPr lang="zh-CN" altLang="en-US" b="1" dirty="0"/>
          </a:p>
        </p:txBody>
      </p:sp>
      <p:pic>
        <p:nvPicPr>
          <p:cNvPr id="16388" name="Picture 7"/>
          <p:cNvPicPr>
            <a:picLocks noChangeAspect="1"/>
          </p:cNvPicPr>
          <p:nvPr/>
        </p:nvPicPr>
        <p:blipFill>
          <a:blip r:embed="rId1"/>
          <a:stretch>
            <a:fillRect/>
          </a:stretch>
        </p:blipFill>
        <p:spPr>
          <a:xfrm>
            <a:off x="612484" y="2309294"/>
            <a:ext cx="5281125" cy="3406775"/>
          </a:xfrm>
          <a:prstGeom prst="rect">
            <a:avLst/>
          </a:prstGeom>
          <a:noFill/>
          <a:ln w="9525">
            <a:noFill/>
          </a:ln>
        </p:spPr>
      </p:pic>
      <p:grpSp>
        <p:nvGrpSpPr>
          <p:cNvPr id="2" name="组合 1"/>
          <p:cNvGrpSpPr/>
          <p:nvPr/>
        </p:nvGrpSpPr>
        <p:grpSpPr>
          <a:xfrm>
            <a:off x="6205894" y="2309294"/>
            <a:ext cx="5755951" cy="3131975"/>
            <a:chOff x="2819400" y="2057400"/>
            <a:chExt cx="6926263" cy="3416300"/>
          </a:xfrm>
        </p:grpSpPr>
        <p:pic>
          <p:nvPicPr>
            <p:cNvPr id="3" name="Picture 6"/>
            <p:cNvPicPr>
              <a:picLocks noChangeAspect="1"/>
            </p:cNvPicPr>
            <p:nvPr/>
          </p:nvPicPr>
          <p:blipFill>
            <a:blip r:embed="rId2"/>
            <a:srcRect b="10532"/>
            <a:stretch>
              <a:fillRect/>
            </a:stretch>
          </p:blipFill>
          <p:spPr>
            <a:xfrm>
              <a:off x="2819400" y="2057400"/>
              <a:ext cx="6926263" cy="3048000"/>
            </a:xfrm>
            <a:prstGeom prst="rect">
              <a:avLst/>
            </a:prstGeom>
            <a:noFill/>
            <a:ln w="9525">
              <a:noFill/>
            </a:ln>
          </p:spPr>
        </p:pic>
        <p:sp>
          <p:nvSpPr>
            <p:cNvPr id="4" name="TextBox 3"/>
            <p:cNvSpPr txBox="1"/>
            <p:nvPr/>
          </p:nvSpPr>
          <p:spPr>
            <a:xfrm>
              <a:off x="3962400" y="5105400"/>
              <a:ext cx="1325880" cy="368300"/>
            </a:xfrm>
            <a:prstGeom prst="rect">
              <a:avLst/>
            </a:prstGeom>
            <a:noFill/>
            <a:ln w="9525">
              <a:noFill/>
            </a:ln>
          </p:spPr>
          <p:txBody>
            <a:bodyPr wrap="none">
              <a:spAutoFit/>
            </a:bodyPr>
            <a:lstStyle/>
            <a:p>
              <a:r>
                <a:rPr lang="zh-CN" altLang="en-US" dirty="0">
                  <a:latin typeface="Arial" panose="020B0604020202020204" pitchFamily="34" charset="0"/>
                </a:rPr>
                <a:t>文档数据库</a:t>
              </a:r>
              <a:endParaRPr lang="zh-CN" altLang="en-US" dirty="0">
                <a:latin typeface="Arial" panose="020B0604020202020204" pitchFamily="34" charset="0"/>
              </a:endParaRPr>
            </a:p>
          </p:txBody>
        </p:sp>
        <p:sp>
          <p:nvSpPr>
            <p:cNvPr id="5" name="TextBox 4"/>
            <p:cNvSpPr txBox="1"/>
            <p:nvPr/>
          </p:nvSpPr>
          <p:spPr>
            <a:xfrm>
              <a:off x="7772400" y="5105400"/>
              <a:ext cx="1097280" cy="368300"/>
            </a:xfrm>
            <a:prstGeom prst="rect">
              <a:avLst/>
            </a:prstGeom>
            <a:noFill/>
            <a:ln w="9525">
              <a:noFill/>
            </a:ln>
          </p:spPr>
          <p:txBody>
            <a:bodyPr wrap="none">
              <a:spAutoFit/>
            </a:bodyPr>
            <a:lstStyle/>
            <a:p>
              <a:r>
                <a:rPr lang="zh-CN" altLang="en-US" dirty="0">
                  <a:latin typeface="Arial" panose="020B0604020202020204" pitchFamily="34" charset="0"/>
                </a:rPr>
                <a:t>图数据库</a:t>
              </a:r>
              <a:endParaRPr lang="zh-CN" altLang="en-US" dirty="0">
                <a:latin typeface="Arial" panose="020B0604020202020204" pitchFamily="34" charset="0"/>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
          <p:cNvSpPr>
            <a:spLocks noGrp="1"/>
          </p:cNvSpPr>
          <p:nvPr>
            <p:ph type="title"/>
          </p:nvPr>
        </p:nvSpPr>
        <p:spPr/>
        <p:txBody>
          <a:bodyPr vert="horz" wrap="square" lIns="91440" tIns="45720" rIns="91440" bIns="45720" anchor="ctr" anchorCtr="0"/>
          <a:lstStyle/>
          <a:p>
            <a:r>
              <a:rPr lang="en-US" altLang="zh-CN" b="1" dirty="0"/>
              <a:t>5.4.1  </a:t>
            </a:r>
            <a:r>
              <a:rPr lang="zh-CN" altLang="zh-CN" b="1" dirty="0"/>
              <a:t>键值数据库</a:t>
            </a:r>
            <a:endParaRPr lang="zh-CN" altLang="en-US" b="1" dirty="0"/>
          </a:p>
        </p:txBody>
      </p:sp>
      <p:sp>
        <p:nvSpPr>
          <p:cNvPr id="2" name="矩形 1"/>
          <p:cNvSpPr/>
          <p:nvPr/>
        </p:nvSpPr>
        <p:spPr>
          <a:xfrm>
            <a:off x="987942" y="1939211"/>
            <a:ext cx="5329537" cy="57888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400" dirty="0"/>
              <a:t>键值对：键字符串类型；值任意类型</a:t>
            </a:r>
            <a:endParaRPr lang="zh-CN" altLang="en-US" sz="2400" dirty="0"/>
          </a:p>
        </p:txBody>
      </p:sp>
      <p:sp>
        <p:nvSpPr>
          <p:cNvPr id="3" name="矩形: 圆角 2"/>
          <p:cNvSpPr/>
          <p:nvPr/>
        </p:nvSpPr>
        <p:spPr>
          <a:xfrm>
            <a:off x="764987" y="1624064"/>
            <a:ext cx="10362711" cy="955777"/>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5" name="文本框 4"/>
          <p:cNvSpPr txBox="1"/>
          <p:nvPr/>
        </p:nvSpPr>
        <p:spPr>
          <a:xfrm>
            <a:off x="1061932" y="1360329"/>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800" dirty="0"/>
              <a:t>数据模型</a:t>
            </a:r>
            <a:endParaRPr lang="en-US" altLang="zh-CN" sz="2800" dirty="0"/>
          </a:p>
        </p:txBody>
      </p:sp>
      <p:sp>
        <p:nvSpPr>
          <p:cNvPr id="15" name="矩形 14"/>
          <p:cNvSpPr/>
          <p:nvPr/>
        </p:nvSpPr>
        <p:spPr>
          <a:xfrm>
            <a:off x="1135068" y="3449886"/>
            <a:ext cx="8763203" cy="45701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fontAlgn="base">
              <a:spcBef>
                <a:spcPct val="0"/>
              </a:spcBef>
              <a:spcAft>
                <a:spcPct val="0"/>
              </a:spcAft>
            </a:pPr>
            <a:r>
              <a:rPr lang="zh-CN" altLang="zh-CN" sz="2400" dirty="0">
                <a:solidFill>
                  <a:schemeClr val="tx1"/>
                </a:solidFill>
                <a:latin typeface="Arial" panose="020B0604020202020204" pitchFamily="34" charset="0"/>
                <a:ea typeface="宋体" panose="02010600030101010101" pitchFamily="2" charset="-122"/>
              </a:rPr>
              <a:t>扩展性好，灵活性好，大量写操作时性能高</a:t>
            </a:r>
            <a:endParaRPr lang="en-US" altLang="zh-CN" sz="2400" dirty="0">
              <a:solidFill>
                <a:schemeClr val="tx1"/>
              </a:solidFill>
              <a:latin typeface="Arial" panose="020B0604020202020204" pitchFamily="34" charset="0"/>
              <a:ea typeface="宋体" panose="02010600030101010101" pitchFamily="2" charset="-122"/>
            </a:endParaRPr>
          </a:p>
        </p:txBody>
      </p:sp>
      <p:sp>
        <p:nvSpPr>
          <p:cNvPr id="16" name="矩形: 圆角 15"/>
          <p:cNvSpPr/>
          <p:nvPr/>
        </p:nvSpPr>
        <p:spPr>
          <a:xfrm>
            <a:off x="705859" y="3018514"/>
            <a:ext cx="10362710" cy="1060250"/>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17" name="文本框 16"/>
          <p:cNvSpPr txBox="1"/>
          <p:nvPr/>
        </p:nvSpPr>
        <p:spPr>
          <a:xfrm>
            <a:off x="1135068" y="2699144"/>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800" b="1" dirty="0">
                <a:solidFill>
                  <a:schemeClr val="tx1"/>
                </a:solidFill>
                <a:latin typeface="Arial" panose="020B0604020202020204" pitchFamily="34" charset="0"/>
                <a:ea typeface="宋体" panose="02010600030101010101" pitchFamily="2" charset="-122"/>
              </a:rPr>
              <a:t>优点</a:t>
            </a:r>
            <a:endParaRPr lang="zh-CN" altLang="zh-CN" sz="2800" b="1" dirty="0">
              <a:solidFill>
                <a:schemeClr val="tx1"/>
              </a:solidFill>
              <a:latin typeface="Calibri" panose="020F0502020204030204" charset="0"/>
              <a:ea typeface="黑体" panose="02010609060101010101" pitchFamily="49" charset="-122"/>
            </a:endParaRPr>
          </a:p>
        </p:txBody>
      </p:sp>
      <p:sp>
        <p:nvSpPr>
          <p:cNvPr id="18" name="矩形 17"/>
          <p:cNvSpPr/>
          <p:nvPr/>
        </p:nvSpPr>
        <p:spPr>
          <a:xfrm>
            <a:off x="1064472" y="4838507"/>
            <a:ext cx="10004266" cy="137180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fontAlgn="base">
              <a:spcBef>
                <a:spcPct val="0"/>
              </a:spcBef>
              <a:spcAft>
                <a:spcPct val="0"/>
              </a:spcAft>
            </a:pPr>
            <a:r>
              <a:rPr lang="zh-CN" altLang="zh-CN" sz="2400" dirty="0">
                <a:solidFill>
                  <a:schemeClr val="tx1"/>
                </a:solidFill>
                <a:latin typeface="Arial" panose="020B0604020202020204" pitchFamily="34" charset="0"/>
                <a:ea typeface="宋体" panose="02010600030101010101" pitchFamily="2" charset="-122"/>
              </a:rPr>
              <a:t>无法存储结构化信息，条件查询效率较低</a:t>
            </a:r>
            <a:endParaRPr lang="en-US" altLang="zh-CN" sz="2400" dirty="0">
              <a:solidFill>
                <a:schemeClr val="tx1"/>
              </a:solidFill>
              <a:latin typeface="Arial" panose="020B0604020202020204" pitchFamily="34" charset="0"/>
              <a:ea typeface="宋体" panose="02010600030101010101" pitchFamily="2" charset="-122"/>
            </a:endParaRPr>
          </a:p>
          <a:p>
            <a:pPr lvl="0" fontAlgn="base">
              <a:spcBef>
                <a:spcPct val="0"/>
              </a:spcBef>
              <a:spcAft>
                <a:spcPct val="0"/>
              </a:spcAft>
            </a:pPr>
            <a:endParaRPr lang="zh-CN" altLang="zh-CN" sz="2400" dirty="0">
              <a:solidFill>
                <a:schemeClr val="tx1"/>
              </a:solidFill>
              <a:latin typeface="Calibri" panose="020F0502020204030204" charset="0"/>
              <a:ea typeface="黑体" panose="02010609060101010101" pitchFamily="49" charset="-122"/>
            </a:endParaRPr>
          </a:p>
        </p:txBody>
      </p:sp>
      <p:sp>
        <p:nvSpPr>
          <p:cNvPr id="19" name="矩形: 圆角 18"/>
          <p:cNvSpPr/>
          <p:nvPr/>
        </p:nvSpPr>
        <p:spPr>
          <a:xfrm>
            <a:off x="706120" y="4549140"/>
            <a:ext cx="10362565" cy="1469390"/>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20" name="文本框 19"/>
          <p:cNvSpPr txBox="1"/>
          <p:nvPr/>
        </p:nvSpPr>
        <p:spPr>
          <a:xfrm>
            <a:off x="1135068" y="4229738"/>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800" b="1" dirty="0">
                <a:solidFill>
                  <a:schemeClr val="tx1"/>
                </a:solidFill>
                <a:latin typeface="Arial" panose="020B0604020202020204" pitchFamily="34" charset="0"/>
                <a:ea typeface="宋体" panose="02010600030101010101" pitchFamily="2" charset="-122"/>
              </a:rPr>
              <a:t>缺点</a:t>
            </a:r>
            <a:endParaRPr lang="zh-CN" altLang="zh-CN" sz="2800" b="1" dirty="0">
              <a:solidFill>
                <a:schemeClr val="tx1"/>
              </a:solidFill>
              <a:latin typeface="Calibri" panose="020F050202020403020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
          <p:cNvSpPr>
            <a:spLocks noGrp="1"/>
          </p:cNvSpPr>
          <p:nvPr>
            <p:ph type="title"/>
          </p:nvPr>
        </p:nvSpPr>
        <p:spPr>
          <a:xfrm>
            <a:off x="838200" y="222885"/>
            <a:ext cx="10515600" cy="1112520"/>
          </a:xfrm>
        </p:spPr>
        <p:txBody>
          <a:bodyPr vert="horz" wrap="square" lIns="91440" tIns="45720" rIns="91440" bIns="45720" anchor="ctr" anchorCtr="0"/>
          <a:lstStyle/>
          <a:p>
            <a:r>
              <a:rPr lang="en-US" altLang="zh-CN" b="1" dirty="0"/>
              <a:t>5.4.1  </a:t>
            </a:r>
            <a:r>
              <a:rPr lang="zh-CN" altLang="zh-CN" b="1" dirty="0"/>
              <a:t>键值数据库</a:t>
            </a:r>
            <a:endParaRPr lang="zh-CN" altLang="en-US" b="1" dirty="0"/>
          </a:p>
        </p:txBody>
      </p:sp>
      <p:sp>
        <p:nvSpPr>
          <p:cNvPr id="6" name="矩形: 圆角 5"/>
          <p:cNvSpPr/>
          <p:nvPr/>
        </p:nvSpPr>
        <p:spPr>
          <a:xfrm>
            <a:off x="838200" y="1779811"/>
            <a:ext cx="10685106" cy="679866"/>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lvl="0" algn="l" fontAlgn="base">
              <a:spcBef>
                <a:spcPct val="0"/>
              </a:spcBef>
              <a:spcAft>
                <a:spcPct val="0"/>
              </a:spcAft>
            </a:pPr>
            <a:r>
              <a:rPr lang="en-US" altLang="zh-CN" sz="2000" dirty="0">
                <a:solidFill>
                  <a:schemeClr val="tx1"/>
                </a:solidFill>
                <a:latin typeface="Arial" panose="020B0604020202020204" pitchFamily="34" charset="0"/>
                <a:ea typeface="宋体" panose="02010600030101010101" pitchFamily="2" charset="-122"/>
              </a:rPr>
              <a:t>     Redis</a:t>
            </a:r>
            <a:r>
              <a:rPr lang="zh-CN" altLang="zh-CN" sz="2000" dirty="0">
                <a:solidFill>
                  <a:schemeClr val="tx1"/>
                </a:solidFill>
                <a:latin typeface="Arial" panose="020B0604020202020204" pitchFamily="34" charset="0"/>
                <a:ea typeface="宋体" panose="02010600030101010101" pitchFamily="2" charset="-122"/>
              </a:rPr>
              <a:t>、</a:t>
            </a:r>
            <a:r>
              <a:rPr lang="en-US" altLang="zh-CN" sz="2000" dirty="0" err="1">
                <a:solidFill>
                  <a:schemeClr val="tx1"/>
                </a:solidFill>
                <a:latin typeface="Arial" panose="020B0604020202020204" pitchFamily="34" charset="0"/>
                <a:ea typeface="宋体" panose="02010600030101010101" pitchFamily="2" charset="-122"/>
              </a:rPr>
              <a:t>Riak</a:t>
            </a:r>
            <a:r>
              <a:rPr lang="zh-CN" altLang="zh-CN" sz="2000" dirty="0">
                <a:solidFill>
                  <a:schemeClr val="tx1"/>
                </a:solidFill>
                <a:latin typeface="Arial" panose="020B0604020202020204" pitchFamily="34" charset="0"/>
                <a:ea typeface="宋体" panose="02010600030101010101" pitchFamily="2" charset="-122"/>
              </a:rPr>
              <a:t>、</a:t>
            </a:r>
            <a:r>
              <a:rPr lang="en-US" altLang="zh-CN" sz="2000" dirty="0" err="1">
                <a:solidFill>
                  <a:schemeClr val="tx1"/>
                </a:solidFill>
                <a:latin typeface="Arial" panose="020B0604020202020204" pitchFamily="34" charset="0"/>
                <a:ea typeface="宋体" panose="02010600030101010101" pitchFamily="2" charset="-122"/>
              </a:rPr>
              <a:t>SimpleDB</a:t>
            </a:r>
            <a:r>
              <a:rPr lang="zh-CN" altLang="zh-CN" sz="2000" dirty="0">
                <a:solidFill>
                  <a:schemeClr val="tx1"/>
                </a:solidFill>
                <a:latin typeface="Arial" panose="020B0604020202020204" pitchFamily="34" charset="0"/>
                <a:ea typeface="宋体" panose="02010600030101010101" pitchFamily="2" charset="-122"/>
              </a:rPr>
              <a:t>、</a:t>
            </a:r>
            <a:r>
              <a:rPr lang="en-US" altLang="zh-CN" sz="2000" dirty="0" err="1">
                <a:solidFill>
                  <a:schemeClr val="tx1"/>
                </a:solidFill>
                <a:latin typeface="Arial" panose="020B0604020202020204" pitchFamily="34" charset="0"/>
                <a:ea typeface="宋体" panose="02010600030101010101" pitchFamily="2" charset="-122"/>
              </a:rPr>
              <a:t>Chordless</a:t>
            </a:r>
            <a:r>
              <a:rPr lang="zh-CN" altLang="zh-CN" sz="2000" dirty="0">
                <a:solidFill>
                  <a:schemeClr val="tx1"/>
                </a:solidFill>
                <a:latin typeface="Arial" panose="020B0604020202020204" pitchFamily="34" charset="0"/>
                <a:ea typeface="宋体" panose="02010600030101010101" pitchFamily="2" charset="-122"/>
              </a:rPr>
              <a:t>、</a:t>
            </a:r>
            <a:r>
              <a:rPr lang="en-US" altLang="zh-CN" sz="2000" dirty="0" err="1">
                <a:solidFill>
                  <a:schemeClr val="tx1"/>
                </a:solidFill>
                <a:latin typeface="Arial" panose="020B0604020202020204" pitchFamily="34" charset="0"/>
                <a:ea typeface="宋体" panose="02010600030101010101" pitchFamily="2" charset="-122"/>
              </a:rPr>
              <a:t>Scalaris</a:t>
            </a:r>
            <a:r>
              <a:rPr lang="zh-CN" altLang="zh-CN" sz="2000" dirty="0">
                <a:solidFill>
                  <a:schemeClr val="tx1"/>
                </a:solidFill>
                <a:latin typeface="Arial" panose="020B0604020202020204" pitchFamily="34" charset="0"/>
                <a:ea typeface="宋体" panose="02010600030101010101" pitchFamily="2" charset="-122"/>
              </a:rPr>
              <a:t>、</a:t>
            </a:r>
            <a:r>
              <a:rPr lang="en-US" altLang="zh-CN" sz="2000" dirty="0">
                <a:solidFill>
                  <a:schemeClr val="tx1"/>
                </a:solidFill>
                <a:latin typeface="Arial" panose="020B0604020202020204" pitchFamily="34" charset="0"/>
                <a:ea typeface="宋体" panose="02010600030101010101" pitchFamily="2" charset="-122"/>
              </a:rPr>
              <a:t>Memcached</a:t>
            </a:r>
            <a:endParaRPr lang="zh-CN" altLang="zh-CN" sz="2000" dirty="0">
              <a:solidFill>
                <a:schemeClr val="tx1"/>
              </a:solidFill>
              <a:latin typeface="Calibri" panose="020F0502020204030204" charset="0"/>
              <a:ea typeface="黑体" panose="02010609060101010101" pitchFamily="49" charset="-122"/>
            </a:endParaRPr>
          </a:p>
        </p:txBody>
      </p:sp>
      <p:sp>
        <p:nvSpPr>
          <p:cNvPr id="7" name="文本框 6"/>
          <p:cNvSpPr txBox="1"/>
          <p:nvPr/>
        </p:nvSpPr>
        <p:spPr>
          <a:xfrm>
            <a:off x="1232171" y="1341093"/>
            <a:ext cx="2048267"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zh-CN" sz="2800" b="1" dirty="0">
                <a:solidFill>
                  <a:schemeClr val="tx1"/>
                </a:solidFill>
                <a:latin typeface="Arial" panose="020B0604020202020204" pitchFamily="34" charset="0"/>
                <a:ea typeface="宋体" panose="02010600030101010101" pitchFamily="2" charset="-122"/>
              </a:rPr>
              <a:t>相关产品</a:t>
            </a:r>
            <a:endParaRPr lang="zh-CN" altLang="zh-CN" sz="2800" b="1" dirty="0">
              <a:solidFill>
                <a:schemeClr val="tx1"/>
              </a:solidFill>
              <a:latin typeface="Calibri" panose="020F0502020204030204" charset="0"/>
              <a:ea typeface="黑体" panose="02010609060101010101" pitchFamily="49" charset="-122"/>
            </a:endParaRPr>
          </a:p>
        </p:txBody>
      </p:sp>
      <p:sp>
        <p:nvSpPr>
          <p:cNvPr id="8" name="矩形: 圆角 7"/>
          <p:cNvSpPr/>
          <p:nvPr/>
        </p:nvSpPr>
        <p:spPr>
          <a:xfrm>
            <a:off x="838200" y="4898726"/>
            <a:ext cx="10685105" cy="1685388"/>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lvl="0" algn="ctr" fontAlgn="base">
              <a:spcBef>
                <a:spcPct val="0"/>
              </a:spcBef>
              <a:spcAft>
                <a:spcPct val="0"/>
              </a:spcAft>
            </a:pPr>
            <a:r>
              <a:rPr lang="zh-CN" altLang="zh-CN" sz="2400" dirty="0">
                <a:solidFill>
                  <a:schemeClr val="tx1"/>
                </a:solidFill>
                <a:latin typeface="Arial" panose="020B0604020202020204" pitchFamily="34" charset="0"/>
                <a:ea typeface="宋体" panose="02010600030101010101" pitchFamily="2" charset="-122"/>
              </a:rPr>
              <a:t>百度云数据库（</a:t>
            </a:r>
            <a:r>
              <a:rPr lang="en-US" altLang="zh-CN" sz="2400" dirty="0">
                <a:solidFill>
                  <a:schemeClr val="tx1"/>
                </a:solidFill>
                <a:latin typeface="Arial" panose="020B0604020202020204" pitchFamily="34" charset="0"/>
                <a:ea typeface="宋体" panose="02010600030101010101" pitchFamily="2" charset="-122"/>
              </a:rPr>
              <a:t>Redis</a:t>
            </a:r>
            <a:r>
              <a:rPr lang="zh-CN" altLang="zh-CN" sz="2400" dirty="0">
                <a:solidFill>
                  <a:schemeClr val="tx1"/>
                </a:solidFill>
                <a:latin typeface="Arial" panose="020B0604020202020204" pitchFamily="34" charset="0"/>
                <a:ea typeface="宋体" panose="02010600030101010101" pitchFamily="2" charset="-122"/>
              </a:rPr>
              <a:t>）、</a:t>
            </a:r>
            <a:r>
              <a:rPr lang="en-US" altLang="zh-CN" sz="2400" dirty="0">
                <a:solidFill>
                  <a:schemeClr val="tx1"/>
                </a:solidFill>
                <a:latin typeface="Arial" panose="020B0604020202020204" pitchFamily="34" charset="0"/>
                <a:ea typeface="宋体" panose="02010600030101010101" pitchFamily="2" charset="-122"/>
              </a:rPr>
              <a:t>GitHub</a:t>
            </a:r>
            <a:r>
              <a:rPr lang="zh-CN" altLang="zh-CN" sz="2400" dirty="0">
                <a:solidFill>
                  <a:schemeClr val="tx1"/>
                </a:solidFill>
                <a:latin typeface="Arial" panose="020B0604020202020204" pitchFamily="34" charset="0"/>
                <a:ea typeface="宋体" panose="02010600030101010101" pitchFamily="2" charset="-122"/>
              </a:rPr>
              <a:t>（</a:t>
            </a:r>
            <a:r>
              <a:rPr lang="en-US" altLang="zh-CN" sz="2400" dirty="0" err="1">
                <a:solidFill>
                  <a:schemeClr val="tx1"/>
                </a:solidFill>
                <a:latin typeface="Arial" panose="020B0604020202020204" pitchFamily="34" charset="0"/>
                <a:ea typeface="宋体" panose="02010600030101010101" pitchFamily="2" charset="-122"/>
              </a:rPr>
              <a:t>Riak</a:t>
            </a:r>
            <a:r>
              <a:rPr lang="zh-CN" altLang="zh-CN" sz="2400" dirty="0">
                <a:solidFill>
                  <a:schemeClr val="tx1"/>
                </a:solidFill>
                <a:latin typeface="Arial" panose="020B0604020202020204" pitchFamily="34" charset="0"/>
                <a:ea typeface="宋体" panose="02010600030101010101" pitchFamily="2" charset="-122"/>
              </a:rPr>
              <a:t>）、</a:t>
            </a:r>
            <a:r>
              <a:rPr lang="en-US" altLang="zh-CN" sz="2400" dirty="0">
                <a:solidFill>
                  <a:schemeClr val="tx1"/>
                </a:solidFill>
                <a:latin typeface="Arial" panose="020B0604020202020204" pitchFamily="34" charset="0"/>
                <a:ea typeface="宋体" panose="02010600030101010101" pitchFamily="2" charset="-122"/>
              </a:rPr>
              <a:t>BestBuy</a:t>
            </a:r>
            <a:r>
              <a:rPr lang="zh-CN" altLang="zh-CN" sz="2400" dirty="0">
                <a:solidFill>
                  <a:schemeClr val="tx1"/>
                </a:solidFill>
                <a:latin typeface="Arial" panose="020B0604020202020204" pitchFamily="34" charset="0"/>
                <a:ea typeface="宋体" panose="02010600030101010101" pitchFamily="2" charset="-122"/>
              </a:rPr>
              <a:t>（</a:t>
            </a:r>
            <a:r>
              <a:rPr lang="en-US" altLang="zh-CN" sz="2400" dirty="0" err="1">
                <a:solidFill>
                  <a:schemeClr val="tx1"/>
                </a:solidFill>
                <a:latin typeface="Arial" panose="020B0604020202020204" pitchFamily="34" charset="0"/>
                <a:ea typeface="宋体" panose="02010600030101010101" pitchFamily="2" charset="-122"/>
              </a:rPr>
              <a:t>Riak</a:t>
            </a:r>
            <a:r>
              <a:rPr lang="zh-CN" altLang="zh-CN" sz="2400" dirty="0">
                <a:solidFill>
                  <a:schemeClr val="tx1"/>
                </a:solidFill>
                <a:latin typeface="Arial" panose="020B0604020202020204" pitchFamily="34" charset="0"/>
                <a:ea typeface="宋体" panose="02010600030101010101" pitchFamily="2" charset="-122"/>
              </a:rPr>
              <a:t>）、</a:t>
            </a:r>
            <a:r>
              <a:rPr lang="en-US" altLang="zh-CN" sz="2400" dirty="0">
                <a:solidFill>
                  <a:schemeClr val="tx1"/>
                </a:solidFill>
                <a:latin typeface="Arial" panose="020B0604020202020204" pitchFamily="34" charset="0"/>
                <a:ea typeface="宋体" panose="02010600030101010101" pitchFamily="2" charset="-122"/>
              </a:rPr>
              <a:t>Twitter</a:t>
            </a:r>
            <a:r>
              <a:rPr lang="zh-CN" altLang="zh-CN" sz="2400" dirty="0">
                <a:solidFill>
                  <a:schemeClr val="tx1"/>
                </a:solidFill>
                <a:latin typeface="Arial" panose="020B0604020202020204" pitchFamily="34" charset="0"/>
                <a:ea typeface="宋体" panose="02010600030101010101" pitchFamily="2" charset="-122"/>
              </a:rPr>
              <a:t>（</a:t>
            </a:r>
            <a:r>
              <a:rPr lang="en-US" altLang="zh-CN" sz="2400" dirty="0">
                <a:solidFill>
                  <a:schemeClr val="tx1"/>
                </a:solidFill>
                <a:latin typeface="Arial" panose="020B0604020202020204" pitchFamily="34" charset="0"/>
                <a:ea typeface="宋体" panose="02010600030101010101" pitchFamily="2" charset="-122"/>
              </a:rPr>
              <a:t>Redis</a:t>
            </a:r>
            <a:r>
              <a:rPr lang="zh-CN" altLang="zh-CN" sz="2400" dirty="0">
                <a:solidFill>
                  <a:schemeClr val="tx1"/>
                </a:solidFill>
                <a:latin typeface="Arial" panose="020B0604020202020204" pitchFamily="34" charset="0"/>
                <a:ea typeface="宋体" panose="02010600030101010101" pitchFamily="2" charset="-122"/>
              </a:rPr>
              <a:t>和</a:t>
            </a:r>
            <a:r>
              <a:rPr lang="en-US" altLang="zh-CN" sz="2400" dirty="0">
                <a:solidFill>
                  <a:schemeClr val="tx1"/>
                </a:solidFill>
                <a:latin typeface="Arial" panose="020B0604020202020204" pitchFamily="34" charset="0"/>
                <a:ea typeface="宋体" panose="02010600030101010101" pitchFamily="2" charset="-122"/>
              </a:rPr>
              <a:t>Memcached</a:t>
            </a:r>
            <a:r>
              <a:rPr lang="zh-CN" altLang="zh-CN" sz="2400" dirty="0">
                <a:solidFill>
                  <a:schemeClr val="tx1"/>
                </a:solidFill>
                <a:latin typeface="Arial" panose="020B0604020202020204" pitchFamily="34" charset="0"/>
                <a:ea typeface="宋体" panose="02010600030101010101" pitchFamily="2" charset="-122"/>
              </a:rPr>
              <a:t>）、</a:t>
            </a:r>
            <a:r>
              <a:rPr lang="en-US" altLang="zh-CN" sz="2400" dirty="0" err="1">
                <a:solidFill>
                  <a:schemeClr val="tx1"/>
                </a:solidFill>
                <a:latin typeface="Arial" panose="020B0604020202020204" pitchFamily="34" charset="0"/>
                <a:ea typeface="宋体" panose="02010600030101010101" pitchFamily="2" charset="-122"/>
              </a:rPr>
              <a:t>StackOverFlow</a:t>
            </a:r>
            <a:r>
              <a:rPr lang="zh-CN" altLang="zh-CN" sz="2400" dirty="0">
                <a:solidFill>
                  <a:schemeClr val="tx1"/>
                </a:solidFill>
                <a:latin typeface="Arial" panose="020B0604020202020204" pitchFamily="34" charset="0"/>
                <a:ea typeface="宋体" panose="02010600030101010101" pitchFamily="2" charset="-122"/>
              </a:rPr>
              <a:t>（</a:t>
            </a:r>
            <a:r>
              <a:rPr lang="en-US" altLang="zh-CN" sz="2400" dirty="0">
                <a:solidFill>
                  <a:schemeClr val="tx1"/>
                </a:solidFill>
                <a:latin typeface="Arial" panose="020B0604020202020204" pitchFamily="34" charset="0"/>
                <a:ea typeface="宋体" panose="02010600030101010101" pitchFamily="2" charset="-122"/>
              </a:rPr>
              <a:t>Redis</a:t>
            </a:r>
            <a:r>
              <a:rPr lang="zh-CN" altLang="zh-CN" sz="2400" dirty="0">
                <a:solidFill>
                  <a:schemeClr val="tx1"/>
                </a:solidFill>
                <a:latin typeface="Arial" panose="020B0604020202020204" pitchFamily="34" charset="0"/>
                <a:ea typeface="宋体" panose="02010600030101010101" pitchFamily="2" charset="-122"/>
              </a:rPr>
              <a:t>）、</a:t>
            </a:r>
            <a:r>
              <a:rPr lang="en-US" altLang="zh-CN" sz="2400" dirty="0">
                <a:solidFill>
                  <a:schemeClr val="tx1"/>
                </a:solidFill>
                <a:latin typeface="Arial" panose="020B0604020202020204" pitchFamily="34" charset="0"/>
                <a:ea typeface="宋体" panose="02010600030101010101" pitchFamily="2" charset="-122"/>
              </a:rPr>
              <a:t>Instagram </a:t>
            </a:r>
            <a:r>
              <a:rPr lang="zh-CN" altLang="zh-CN" sz="2400" dirty="0">
                <a:solidFill>
                  <a:schemeClr val="tx1"/>
                </a:solidFill>
                <a:latin typeface="Arial" panose="020B0604020202020204" pitchFamily="34" charset="0"/>
                <a:ea typeface="宋体" panose="02010600030101010101" pitchFamily="2" charset="-122"/>
              </a:rPr>
              <a:t>（</a:t>
            </a:r>
            <a:r>
              <a:rPr lang="en-US" altLang="zh-CN" sz="2400" dirty="0">
                <a:solidFill>
                  <a:schemeClr val="tx1"/>
                </a:solidFill>
                <a:latin typeface="Arial" panose="020B0604020202020204" pitchFamily="34" charset="0"/>
                <a:ea typeface="宋体" panose="02010600030101010101" pitchFamily="2" charset="-122"/>
              </a:rPr>
              <a:t>Redis</a:t>
            </a:r>
            <a:r>
              <a:rPr lang="zh-CN" altLang="zh-CN" sz="2400" dirty="0">
                <a:solidFill>
                  <a:schemeClr val="tx1"/>
                </a:solidFill>
                <a:latin typeface="Arial" panose="020B0604020202020204" pitchFamily="34" charset="0"/>
                <a:ea typeface="宋体" panose="02010600030101010101" pitchFamily="2" charset="-122"/>
              </a:rPr>
              <a:t>）、</a:t>
            </a:r>
            <a:r>
              <a:rPr lang="en-US" altLang="zh-CN" sz="2400" dirty="0" err="1">
                <a:solidFill>
                  <a:schemeClr val="tx1"/>
                </a:solidFill>
                <a:latin typeface="Arial" panose="020B0604020202020204" pitchFamily="34" charset="0"/>
                <a:ea typeface="宋体" panose="02010600030101010101" pitchFamily="2" charset="-122"/>
              </a:rPr>
              <a:t>Youtube</a:t>
            </a:r>
            <a:r>
              <a:rPr lang="zh-CN" altLang="zh-CN" sz="2400" dirty="0">
                <a:solidFill>
                  <a:schemeClr val="tx1"/>
                </a:solidFill>
                <a:latin typeface="Arial" panose="020B0604020202020204" pitchFamily="34" charset="0"/>
                <a:ea typeface="宋体" panose="02010600030101010101" pitchFamily="2" charset="-122"/>
              </a:rPr>
              <a:t>（</a:t>
            </a:r>
            <a:r>
              <a:rPr lang="en-US" altLang="zh-CN" sz="2400" dirty="0">
                <a:solidFill>
                  <a:schemeClr val="tx1"/>
                </a:solidFill>
                <a:latin typeface="Arial" panose="020B0604020202020204" pitchFamily="34" charset="0"/>
                <a:ea typeface="宋体" panose="02010600030101010101" pitchFamily="2" charset="-122"/>
              </a:rPr>
              <a:t>Memcached</a:t>
            </a:r>
            <a:r>
              <a:rPr lang="zh-CN" altLang="zh-CN" sz="2400" dirty="0">
                <a:solidFill>
                  <a:schemeClr val="tx1"/>
                </a:solidFill>
                <a:latin typeface="Arial" panose="020B0604020202020204" pitchFamily="34" charset="0"/>
                <a:ea typeface="宋体" panose="02010600030101010101" pitchFamily="2" charset="-122"/>
              </a:rPr>
              <a:t>）、</a:t>
            </a:r>
            <a:r>
              <a:rPr lang="en-US" altLang="zh-CN" sz="2400" dirty="0">
                <a:solidFill>
                  <a:schemeClr val="tx1"/>
                </a:solidFill>
                <a:latin typeface="Arial" panose="020B0604020202020204" pitchFamily="34" charset="0"/>
                <a:ea typeface="宋体" panose="02010600030101010101" pitchFamily="2" charset="-122"/>
              </a:rPr>
              <a:t>Wikipedia</a:t>
            </a:r>
            <a:r>
              <a:rPr lang="zh-CN" altLang="zh-CN" sz="2400" dirty="0">
                <a:solidFill>
                  <a:schemeClr val="tx1"/>
                </a:solidFill>
                <a:latin typeface="Arial" panose="020B0604020202020204" pitchFamily="34" charset="0"/>
                <a:ea typeface="宋体" panose="02010600030101010101" pitchFamily="2" charset="-122"/>
              </a:rPr>
              <a:t>（</a:t>
            </a:r>
            <a:r>
              <a:rPr lang="en-US" altLang="zh-CN" sz="2400" dirty="0">
                <a:solidFill>
                  <a:schemeClr val="tx1"/>
                </a:solidFill>
                <a:latin typeface="Arial" panose="020B0604020202020204" pitchFamily="34" charset="0"/>
                <a:ea typeface="宋体" panose="02010600030101010101" pitchFamily="2" charset="-122"/>
              </a:rPr>
              <a:t>Memcached</a:t>
            </a:r>
            <a:r>
              <a:rPr lang="zh-CN" altLang="zh-CN" sz="2400" dirty="0">
                <a:solidFill>
                  <a:schemeClr val="tx1"/>
                </a:solidFill>
                <a:latin typeface="Arial" panose="020B0604020202020204" pitchFamily="34" charset="0"/>
                <a:ea typeface="宋体" panose="02010600030101010101" pitchFamily="2" charset="-122"/>
              </a:rPr>
              <a:t>）</a:t>
            </a:r>
            <a:endParaRPr lang="zh-CN" altLang="zh-CN" sz="2400" dirty="0">
              <a:solidFill>
                <a:schemeClr val="tx1"/>
              </a:solidFill>
              <a:latin typeface="Calibri" panose="020F0502020204030204" charset="0"/>
              <a:ea typeface="黑体" panose="02010609060101010101" pitchFamily="49" charset="-122"/>
            </a:endParaRPr>
          </a:p>
        </p:txBody>
      </p:sp>
      <p:sp>
        <p:nvSpPr>
          <p:cNvPr id="9" name="文本框 8"/>
          <p:cNvSpPr txBox="1"/>
          <p:nvPr/>
        </p:nvSpPr>
        <p:spPr>
          <a:xfrm>
            <a:off x="1167158" y="4643079"/>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lvl="0" algn="ctr" fontAlgn="base">
              <a:spcBef>
                <a:spcPct val="0"/>
              </a:spcBef>
              <a:spcAft>
                <a:spcPct val="0"/>
              </a:spcAft>
            </a:pPr>
            <a:r>
              <a:rPr lang="zh-CN" altLang="zh-CN" sz="2800" b="1" dirty="0">
                <a:solidFill>
                  <a:schemeClr val="tx1"/>
                </a:solidFill>
                <a:latin typeface="Arial" panose="020B0604020202020204" pitchFamily="34" charset="0"/>
                <a:ea typeface="宋体" panose="02010600030101010101" pitchFamily="2" charset="-122"/>
              </a:rPr>
              <a:t>使用者</a:t>
            </a:r>
            <a:endParaRPr lang="zh-CN" altLang="zh-CN" sz="2800" b="1" dirty="0">
              <a:solidFill>
                <a:schemeClr val="tx1"/>
              </a:solidFill>
              <a:latin typeface="Calibri" panose="020F0502020204030204" charset="0"/>
              <a:ea typeface="黑体" panose="02010609060101010101" pitchFamily="49" charset="-122"/>
            </a:endParaRPr>
          </a:p>
        </p:txBody>
      </p:sp>
      <p:sp>
        <p:nvSpPr>
          <p:cNvPr id="10" name="矩形 9"/>
          <p:cNvSpPr/>
          <p:nvPr/>
        </p:nvSpPr>
        <p:spPr>
          <a:xfrm>
            <a:off x="1135145" y="3220875"/>
            <a:ext cx="8012195" cy="1243179"/>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fontAlgn="base">
              <a:spcBef>
                <a:spcPct val="0"/>
              </a:spcBef>
              <a:spcAft>
                <a:spcPct val="0"/>
              </a:spcAft>
            </a:pPr>
            <a:r>
              <a:rPr lang="zh-CN" altLang="en-US" sz="2400" dirty="0">
                <a:solidFill>
                  <a:schemeClr val="tx1"/>
                </a:solidFill>
                <a:latin typeface="Arial" panose="020B0604020202020204" pitchFamily="34" charset="0"/>
                <a:ea typeface="宋体" panose="02010600030101010101" pitchFamily="2" charset="-122"/>
              </a:rPr>
              <a:t>频繁读写、简单数据模型的应用</a:t>
            </a:r>
            <a:endParaRPr lang="en-US" altLang="zh-CN" sz="2400" dirty="0">
              <a:solidFill>
                <a:schemeClr val="tx1"/>
              </a:solidFill>
              <a:latin typeface="Arial" panose="020B0604020202020204" pitchFamily="34" charset="0"/>
              <a:ea typeface="宋体" panose="02010600030101010101" pitchFamily="2" charset="-122"/>
            </a:endParaRPr>
          </a:p>
          <a:p>
            <a:pPr lvl="0" fontAlgn="base">
              <a:spcBef>
                <a:spcPct val="0"/>
              </a:spcBef>
              <a:spcAft>
                <a:spcPct val="0"/>
              </a:spcAft>
            </a:pPr>
            <a:r>
              <a:rPr lang="zh-CN" altLang="zh-CN" sz="2400" dirty="0">
                <a:solidFill>
                  <a:schemeClr val="tx1"/>
                </a:solidFill>
                <a:latin typeface="Arial" panose="020B0604020202020204" pitchFamily="34" charset="0"/>
                <a:ea typeface="宋体" panose="02010600030101010101" pitchFamily="2" charset="-122"/>
              </a:rPr>
              <a:t>内容缓存，比如会话、配置文件、参数、购物车等</a:t>
            </a:r>
            <a:endParaRPr lang="zh-CN" altLang="zh-CN" sz="2400" dirty="0">
              <a:solidFill>
                <a:schemeClr val="tx1"/>
              </a:solidFill>
              <a:latin typeface="Arial" panose="020B0604020202020204" pitchFamily="34" charset="0"/>
              <a:ea typeface="宋体" panose="02010600030101010101" pitchFamily="2" charset="-122"/>
            </a:endParaRPr>
          </a:p>
        </p:txBody>
      </p:sp>
      <p:sp>
        <p:nvSpPr>
          <p:cNvPr id="11" name="矩形: 圆角 10"/>
          <p:cNvSpPr/>
          <p:nvPr/>
        </p:nvSpPr>
        <p:spPr>
          <a:xfrm>
            <a:off x="838200" y="2843982"/>
            <a:ext cx="10651123" cy="1685388"/>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12" name="文本框 11"/>
          <p:cNvSpPr txBox="1"/>
          <p:nvPr/>
        </p:nvSpPr>
        <p:spPr>
          <a:xfrm>
            <a:off x="1135145" y="2580246"/>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zh-CN" sz="2800" b="1" dirty="0">
                <a:solidFill>
                  <a:schemeClr val="tx1"/>
                </a:solidFill>
                <a:latin typeface="Arial" panose="020B0604020202020204" pitchFamily="34" charset="0"/>
                <a:ea typeface="宋体" panose="02010600030101010101" pitchFamily="2" charset="-122"/>
              </a:rPr>
              <a:t>典型应用</a:t>
            </a:r>
            <a:endParaRPr lang="zh-CN" altLang="zh-CN" sz="2800" b="1" dirty="0">
              <a:solidFill>
                <a:schemeClr val="tx1"/>
              </a:solidFill>
              <a:latin typeface="Calibri" panose="020F050202020403020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
          <p:cNvSpPr>
            <a:spLocks noGrp="1"/>
          </p:cNvSpPr>
          <p:nvPr>
            <p:ph type="title"/>
          </p:nvPr>
        </p:nvSpPr>
        <p:spPr/>
        <p:txBody>
          <a:bodyPr vert="horz" wrap="square" lIns="91440" tIns="45720" rIns="91440" bIns="45720" anchor="ctr" anchorCtr="0"/>
          <a:lstStyle/>
          <a:p>
            <a:r>
              <a:rPr lang="en-US" altLang="zh-CN" b="1" dirty="0"/>
              <a:t>5.4.2 </a:t>
            </a:r>
            <a:r>
              <a:rPr lang="zh-CN" altLang="en-US" b="1" dirty="0"/>
              <a:t>列族数据库</a:t>
            </a:r>
            <a:endParaRPr lang="zh-CN" altLang="en-US" b="1" dirty="0"/>
          </a:p>
        </p:txBody>
      </p:sp>
      <p:sp>
        <p:nvSpPr>
          <p:cNvPr id="2" name="矩形 1"/>
          <p:cNvSpPr/>
          <p:nvPr/>
        </p:nvSpPr>
        <p:spPr>
          <a:xfrm>
            <a:off x="987942" y="1939211"/>
            <a:ext cx="5329537" cy="57888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r>
              <a:rPr lang="zh-CN" altLang="en-US" sz="2400" dirty="0"/>
              <a:t>列族</a:t>
            </a:r>
            <a:endParaRPr lang="zh-CN" altLang="en-US" sz="2400" dirty="0"/>
          </a:p>
        </p:txBody>
      </p:sp>
      <p:sp>
        <p:nvSpPr>
          <p:cNvPr id="3" name="矩形: 圆角 2"/>
          <p:cNvSpPr/>
          <p:nvPr/>
        </p:nvSpPr>
        <p:spPr>
          <a:xfrm>
            <a:off x="764987" y="1624064"/>
            <a:ext cx="10362711" cy="955777"/>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5" name="文本框 4"/>
          <p:cNvSpPr txBox="1"/>
          <p:nvPr/>
        </p:nvSpPr>
        <p:spPr>
          <a:xfrm>
            <a:off x="1061932" y="1360329"/>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800" dirty="0"/>
              <a:t>数据模型</a:t>
            </a:r>
            <a:endParaRPr lang="en-US" altLang="zh-CN" sz="2800" dirty="0"/>
          </a:p>
        </p:txBody>
      </p:sp>
      <p:sp>
        <p:nvSpPr>
          <p:cNvPr id="15" name="矩形 14"/>
          <p:cNvSpPr/>
          <p:nvPr/>
        </p:nvSpPr>
        <p:spPr>
          <a:xfrm>
            <a:off x="1061932" y="3449886"/>
            <a:ext cx="8763203" cy="457018"/>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fontAlgn="base">
              <a:spcBef>
                <a:spcPct val="0"/>
              </a:spcBef>
              <a:spcAft>
                <a:spcPct val="0"/>
              </a:spcAft>
            </a:pP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查找速度快，可扩展性强，容易进行分布式扩展，复杂性低</a:t>
            </a:r>
            <a:endParaRPr lang="zh-CN" altLang="zh-CN" sz="2400" dirty="0">
              <a:solidFill>
                <a:schemeClr val="tx1"/>
              </a:solidFill>
              <a:latin typeface="Calibri" panose="020F0502020204030204" charset="0"/>
              <a:ea typeface="黑体" panose="02010609060101010101" pitchFamily="49" charset="-122"/>
            </a:endParaRPr>
          </a:p>
        </p:txBody>
      </p:sp>
      <p:sp>
        <p:nvSpPr>
          <p:cNvPr id="16" name="矩形: 圆角 15"/>
          <p:cNvSpPr/>
          <p:nvPr/>
        </p:nvSpPr>
        <p:spPr>
          <a:xfrm>
            <a:off x="705859" y="3018514"/>
            <a:ext cx="10362710" cy="1060250"/>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17" name="文本框 16"/>
          <p:cNvSpPr txBox="1"/>
          <p:nvPr/>
        </p:nvSpPr>
        <p:spPr>
          <a:xfrm>
            <a:off x="1135068" y="2699144"/>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800" b="1" dirty="0">
                <a:solidFill>
                  <a:schemeClr val="tx1"/>
                </a:solidFill>
                <a:latin typeface="Arial" panose="020B0604020202020204" pitchFamily="34" charset="0"/>
                <a:ea typeface="宋体" panose="02010600030101010101" pitchFamily="2" charset="-122"/>
              </a:rPr>
              <a:t>优点</a:t>
            </a:r>
            <a:endParaRPr lang="zh-CN" altLang="zh-CN" sz="2800" b="1" dirty="0">
              <a:solidFill>
                <a:schemeClr val="tx1"/>
              </a:solidFill>
              <a:latin typeface="Calibri" panose="020F0502020204030204" charset="0"/>
              <a:ea typeface="黑体" panose="02010609060101010101" pitchFamily="49" charset="-122"/>
            </a:endParaRPr>
          </a:p>
        </p:txBody>
      </p:sp>
      <p:sp>
        <p:nvSpPr>
          <p:cNvPr id="18" name="矩形 17"/>
          <p:cNvSpPr/>
          <p:nvPr/>
        </p:nvSpPr>
        <p:spPr>
          <a:xfrm>
            <a:off x="1061932" y="5038532"/>
            <a:ext cx="10004266" cy="1371806"/>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fontAlgn="base">
              <a:spcBef>
                <a:spcPct val="0"/>
              </a:spcBef>
              <a:spcAft>
                <a:spcPct val="0"/>
              </a:spcAft>
            </a:pP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功能较少，</a:t>
            </a: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大都</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不支持强事务一致性</a:t>
            </a:r>
            <a:endPar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fontAlgn="base">
              <a:spcBef>
                <a:spcPct val="0"/>
              </a:spcBef>
              <a:spcAft>
                <a:spcPct val="0"/>
              </a:spcAft>
            </a:pP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需要</a:t>
            </a:r>
            <a:r>
              <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ACID</a:t>
            </a: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事务支持的情形，</a:t>
            </a:r>
            <a:r>
              <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Cassandra</a:t>
            </a: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等产品就不适用</a:t>
            </a:r>
            <a:endParaRPr lang="zh-CN" altLang="zh-CN" sz="2400" dirty="0">
              <a:solidFill>
                <a:schemeClr val="tx1"/>
              </a:solidFill>
              <a:latin typeface="Calibri" panose="020F0502020204030204" charset="0"/>
              <a:ea typeface="黑体" panose="02010609060101010101" pitchFamily="49" charset="-122"/>
            </a:endParaRPr>
          </a:p>
          <a:p>
            <a:pPr lvl="0" fontAlgn="base">
              <a:spcBef>
                <a:spcPct val="0"/>
              </a:spcBef>
              <a:spcAft>
                <a:spcPct val="0"/>
              </a:spcAft>
            </a:pPr>
            <a:endParaRPr lang="zh-CN" altLang="zh-CN" sz="2400" dirty="0">
              <a:solidFill>
                <a:schemeClr val="tx1"/>
              </a:solidFill>
              <a:latin typeface="Calibri" panose="020F0502020204030204" charset="0"/>
              <a:ea typeface="黑体" panose="02010609060101010101" pitchFamily="49" charset="-122"/>
            </a:endParaRPr>
          </a:p>
        </p:txBody>
      </p:sp>
      <p:sp>
        <p:nvSpPr>
          <p:cNvPr id="19" name="矩形: 圆角 18"/>
          <p:cNvSpPr/>
          <p:nvPr/>
        </p:nvSpPr>
        <p:spPr>
          <a:xfrm>
            <a:off x="705858" y="4549107"/>
            <a:ext cx="10362709" cy="1861231"/>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20" name="文本框 19"/>
          <p:cNvSpPr txBox="1"/>
          <p:nvPr/>
        </p:nvSpPr>
        <p:spPr>
          <a:xfrm>
            <a:off x="1135068" y="4229738"/>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800" b="1" dirty="0">
                <a:solidFill>
                  <a:schemeClr val="tx1"/>
                </a:solidFill>
                <a:latin typeface="Arial" panose="020B0604020202020204" pitchFamily="34" charset="0"/>
                <a:ea typeface="宋体" panose="02010600030101010101" pitchFamily="2" charset="-122"/>
              </a:rPr>
              <a:t>缺点</a:t>
            </a:r>
            <a:endParaRPr lang="zh-CN" altLang="zh-CN" sz="2800" b="1" dirty="0">
              <a:solidFill>
                <a:schemeClr val="tx1"/>
              </a:solidFill>
              <a:latin typeface="Calibri" panose="020F050202020403020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
          <p:cNvSpPr>
            <a:spLocks noGrp="1"/>
          </p:cNvSpPr>
          <p:nvPr>
            <p:ph type="title"/>
          </p:nvPr>
        </p:nvSpPr>
        <p:spPr/>
        <p:txBody>
          <a:bodyPr vert="horz" wrap="square" lIns="91440" tIns="45720" rIns="91440" bIns="45720" anchor="ctr" anchorCtr="0"/>
          <a:lstStyle/>
          <a:p>
            <a:r>
              <a:rPr lang="en-US" altLang="zh-CN" b="1" dirty="0"/>
              <a:t>5.4.2 </a:t>
            </a:r>
            <a:r>
              <a:rPr lang="zh-CN" altLang="en-US" b="1" dirty="0"/>
              <a:t>列族数据库</a:t>
            </a:r>
            <a:endParaRPr lang="zh-CN" altLang="en-US" dirty="0"/>
          </a:p>
        </p:txBody>
      </p:sp>
      <p:sp>
        <p:nvSpPr>
          <p:cNvPr id="6" name="矩形: 圆角 5"/>
          <p:cNvSpPr/>
          <p:nvPr/>
        </p:nvSpPr>
        <p:spPr>
          <a:xfrm>
            <a:off x="838200" y="1779811"/>
            <a:ext cx="10685106" cy="679866"/>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lvl="0" fontAlgn="base">
              <a:spcBef>
                <a:spcPct val="0"/>
              </a:spcBef>
              <a:spcAft>
                <a:spcPct val="0"/>
              </a:spcAft>
            </a:pPr>
            <a:r>
              <a:rPr lang="en-US" altLang="zh-CN" sz="2000" dirty="0">
                <a:solidFill>
                  <a:schemeClr val="tx1"/>
                </a:solidFill>
                <a:latin typeface="Times New Roman" panose="02020603050405020304" pitchFamily="18" charset="0"/>
                <a:ea typeface="黑体" panose="02010609060101010101" pitchFamily="49" charset="-122"/>
              </a:rPr>
              <a:t>      </a:t>
            </a:r>
            <a:r>
              <a:rPr lang="en-US" altLang="zh-CN" sz="2000" dirty="0" err="1">
                <a:solidFill>
                  <a:schemeClr val="tx1"/>
                </a:solidFill>
                <a:latin typeface="Times New Roman" panose="02020603050405020304" pitchFamily="18" charset="0"/>
                <a:ea typeface="黑体" panose="02010609060101010101" pitchFamily="49" charset="-122"/>
              </a:rPr>
              <a:t>BigTable</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chemeClr val="tx1"/>
                </a:solidFill>
                <a:latin typeface="Times New Roman" panose="02020603050405020304" pitchFamily="18" charset="0"/>
                <a:ea typeface="黑体" panose="02010609060101010101" pitchFamily="49" charset="-122"/>
              </a:rPr>
              <a:t>HBase</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chemeClr val="tx1"/>
                </a:solidFill>
                <a:latin typeface="Times New Roman" panose="02020603050405020304" pitchFamily="18" charset="0"/>
                <a:ea typeface="黑体" panose="02010609060101010101" pitchFamily="49" charset="-122"/>
              </a:rPr>
              <a:t>Cassandra</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solidFill>
                  <a:schemeClr val="tx1"/>
                </a:solidFill>
                <a:latin typeface="Times New Roman" panose="02020603050405020304" pitchFamily="18" charset="0"/>
                <a:ea typeface="黑体" panose="02010609060101010101" pitchFamily="49" charset="-122"/>
              </a:rPr>
              <a:t>HadoopDB</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solidFill>
                  <a:schemeClr val="tx1"/>
                </a:solidFill>
                <a:latin typeface="Times New Roman" panose="02020603050405020304" pitchFamily="18" charset="0"/>
                <a:ea typeface="黑体" panose="02010609060101010101" pitchFamily="49" charset="-122"/>
              </a:rPr>
              <a:t>GreenPlum</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chemeClr val="tx1"/>
                </a:solidFill>
                <a:latin typeface="Times New Roman" panose="02020603050405020304" pitchFamily="18" charset="0"/>
                <a:ea typeface="黑体" panose="02010609060101010101" pitchFamily="49" charset="-122"/>
              </a:rPr>
              <a:t>PNUTS</a:t>
            </a:r>
            <a:endParaRPr lang="zh-CN" altLang="zh-CN" sz="2000" dirty="0">
              <a:solidFill>
                <a:schemeClr val="tx1"/>
              </a:solidFill>
              <a:latin typeface="Calibri" panose="020F0502020204030204" charset="0"/>
              <a:ea typeface="黑体" panose="02010609060101010101" pitchFamily="49" charset="-122"/>
            </a:endParaRPr>
          </a:p>
        </p:txBody>
      </p:sp>
      <p:sp>
        <p:nvSpPr>
          <p:cNvPr id="7" name="文本框 6"/>
          <p:cNvSpPr txBox="1"/>
          <p:nvPr/>
        </p:nvSpPr>
        <p:spPr>
          <a:xfrm>
            <a:off x="1232171" y="1341093"/>
            <a:ext cx="2048267"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zh-CN" sz="2800" b="1" dirty="0">
                <a:solidFill>
                  <a:schemeClr val="tx1"/>
                </a:solidFill>
                <a:latin typeface="Arial" panose="020B0604020202020204" pitchFamily="34" charset="0"/>
                <a:ea typeface="宋体" panose="02010600030101010101" pitchFamily="2" charset="-122"/>
              </a:rPr>
              <a:t>相关产品</a:t>
            </a:r>
            <a:endParaRPr lang="zh-CN" altLang="zh-CN" sz="2800" b="1" dirty="0">
              <a:solidFill>
                <a:schemeClr val="tx1"/>
              </a:solidFill>
              <a:latin typeface="Calibri" panose="020F0502020204030204" charset="0"/>
              <a:ea typeface="黑体" panose="02010609060101010101" pitchFamily="49" charset="-122"/>
            </a:endParaRPr>
          </a:p>
        </p:txBody>
      </p:sp>
      <p:sp>
        <p:nvSpPr>
          <p:cNvPr id="8" name="矩形: 圆角 7"/>
          <p:cNvSpPr/>
          <p:nvPr/>
        </p:nvSpPr>
        <p:spPr>
          <a:xfrm>
            <a:off x="838200" y="5516906"/>
            <a:ext cx="10685105" cy="1067207"/>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lvl="0" algn="ctr" fontAlgn="base">
              <a:spcBef>
                <a:spcPct val="0"/>
              </a:spcBef>
              <a:spcAft>
                <a:spcPct val="0"/>
              </a:spcAft>
            </a:pPr>
            <a:r>
              <a:rPr lang="en-US" altLang="zh-CN" sz="2400" dirty="0" err="1">
                <a:solidFill>
                  <a:schemeClr val="tx1"/>
                </a:solidFill>
                <a:latin typeface="Times New Roman" panose="02020603050405020304" pitchFamily="18" charset="0"/>
                <a:ea typeface="黑体" panose="02010609060101010101" pitchFamily="49" charset="-122"/>
              </a:rPr>
              <a:t>Ebay</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Cassandra</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Instagram</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Cassandra</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NASA</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Cassandra</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Twitter</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Cassandra and HBase</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Facebook</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HBase</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Yahoo!</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HBase</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400" dirty="0">
              <a:solidFill>
                <a:schemeClr val="tx1"/>
              </a:solidFill>
              <a:latin typeface="Calibri" panose="020F0502020204030204" charset="0"/>
              <a:ea typeface="黑体" panose="02010609060101010101" pitchFamily="49" charset="-122"/>
            </a:endParaRPr>
          </a:p>
        </p:txBody>
      </p:sp>
      <p:sp>
        <p:nvSpPr>
          <p:cNvPr id="9" name="文本框 8"/>
          <p:cNvSpPr txBox="1"/>
          <p:nvPr/>
        </p:nvSpPr>
        <p:spPr>
          <a:xfrm>
            <a:off x="1135145" y="5162149"/>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lvl="0" algn="ctr" fontAlgn="base">
              <a:spcBef>
                <a:spcPct val="0"/>
              </a:spcBef>
              <a:spcAft>
                <a:spcPct val="0"/>
              </a:spcAft>
            </a:pPr>
            <a:r>
              <a:rPr lang="zh-CN" altLang="zh-CN" sz="2800" b="1" dirty="0">
                <a:solidFill>
                  <a:schemeClr val="tx1"/>
                </a:solidFill>
                <a:latin typeface="Arial" panose="020B0604020202020204" pitchFamily="34" charset="0"/>
                <a:ea typeface="宋体" panose="02010600030101010101" pitchFamily="2" charset="-122"/>
              </a:rPr>
              <a:t>使用者</a:t>
            </a:r>
            <a:endParaRPr lang="zh-CN" altLang="zh-CN" sz="2800" b="1" dirty="0">
              <a:solidFill>
                <a:schemeClr val="tx1"/>
              </a:solidFill>
              <a:latin typeface="Calibri" panose="020F0502020204030204" charset="0"/>
              <a:ea typeface="黑体" panose="02010609060101010101" pitchFamily="49" charset="-122"/>
            </a:endParaRPr>
          </a:p>
        </p:txBody>
      </p:sp>
      <p:sp>
        <p:nvSpPr>
          <p:cNvPr id="10" name="矩形 9"/>
          <p:cNvSpPr/>
          <p:nvPr/>
        </p:nvSpPr>
        <p:spPr>
          <a:xfrm>
            <a:off x="1135145" y="3463800"/>
            <a:ext cx="8764635" cy="1243179"/>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fontAlgn="base">
              <a:spcBef>
                <a:spcPct val="0"/>
              </a:spcBef>
              <a:spcAft>
                <a:spcPct val="0"/>
              </a:spcAft>
            </a:pP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分布式数据存储与管理</a:t>
            </a:r>
            <a:endPar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lvl="0" fontAlgn="base">
              <a:spcBef>
                <a:spcPct val="0"/>
              </a:spcBef>
              <a:spcAft>
                <a:spcPct val="0"/>
              </a:spcAft>
            </a:pP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可以容忍副本中存在短期不一致情况的应用程序</a:t>
            </a:r>
            <a:endPar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lvl="0" fontAlgn="base">
              <a:spcBef>
                <a:spcPct val="0"/>
              </a:spcBef>
              <a:spcAft>
                <a:spcPct val="0"/>
              </a:spcAft>
            </a:pP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拥有动态字段的应用程序</a:t>
            </a:r>
            <a:endPar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lvl="0" fontAlgn="base">
              <a:spcBef>
                <a:spcPct val="0"/>
              </a:spcBef>
              <a:spcAft>
                <a:spcPct val="0"/>
              </a:spcAft>
            </a:pP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拥有潜在大量数据的应用程序，大到几百</a:t>
            </a:r>
            <a:r>
              <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TB</a:t>
            </a: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的数据</a:t>
            </a:r>
            <a:endPar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矩形: 圆角 10"/>
          <p:cNvSpPr/>
          <p:nvPr/>
        </p:nvSpPr>
        <p:spPr>
          <a:xfrm>
            <a:off x="838200" y="2843982"/>
            <a:ext cx="10651123" cy="2250532"/>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12" name="文本框 11"/>
          <p:cNvSpPr txBox="1"/>
          <p:nvPr/>
        </p:nvSpPr>
        <p:spPr>
          <a:xfrm>
            <a:off x="1135145" y="2580246"/>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zh-CN" sz="2800" b="1" dirty="0">
                <a:solidFill>
                  <a:schemeClr val="tx1"/>
                </a:solidFill>
                <a:latin typeface="Arial" panose="020B0604020202020204" pitchFamily="34" charset="0"/>
                <a:ea typeface="宋体" panose="02010600030101010101" pitchFamily="2" charset="-122"/>
              </a:rPr>
              <a:t>典型应用</a:t>
            </a:r>
            <a:endParaRPr lang="zh-CN" altLang="zh-CN" sz="2800" b="1" dirty="0">
              <a:solidFill>
                <a:schemeClr val="tx1"/>
              </a:solidFill>
              <a:latin typeface="Calibri" panose="020F050202020403020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2"/>
          <p:cNvSpPr>
            <a:spLocks noGrp="1"/>
          </p:cNvSpPr>
          <p:nvPr>
            <p:ph type="title"/>
          </p:nvPr>
        </p:nvSpPr>
        <p:spPr/>
        <p:txBody>
          <a:bodyPr vert="horz" wrap="square" lIns="91440" tIns="45720" rIns="91440" bIns="45720" anchor="ctr" anchorCtr="0"/>
          <a:lstStyle/>
          <a:p>
            <a:r>
              <a:rPr lang="en-US" altLang="zh-CN" b="1" dirty="0"/>
              <a:t>5.4.3  </a:t>
            </a:r>
            <a:r>
              <a:rPr lang="zh-CN" altLang="en-US" b="1" dirty="0"/>
              <a:t>文档数据库</a:t>
            </a:r>
            <a:endParaRPr lang="zh-CN" altLang="en-US" b="1" dirty="0"/>
          </a:p>
        </p:txBody>
      </p:sp>
      <p:sp>
        <p:nvSpPr>
          <p:cNvPr id="23555" name="矩形 3"/>
          <p:cNvSpPr/>
          <p:nvPr/>
        </p:nvSpPr>
        <p:spPr>
          <a:xfrm>
            <a:off x="1376264" y="5874386"/>
            <a:ext cx="9241972" cy="461665"/>
          </a:xfrm>
          <a:prstGeom prst="rect">
            <a:avLst/>
          </a:prstGeom>
          <a:noFill/>
          <a:ln w="9525">
            <a:noFill/>
          </a:ln>
        </p:spPr>
        <p:txBody>
          <a:bodyPr wrap="square">
            <a:spAutoFit/>
          </a:bodyPr>
          <a:lstStyle/>
          <a:p>
            <a:r>
              <a:rPr lang="zh-CN" altLang="en-US" sz="2400" dirty="0">
                <a:latin typeface="Arial" panose="020B0604020202020204" pitchFamily="34" charset="0"/>
              </a:rPr>
              <a:t>“文档”是一个能够对包含的数据类型和内容进行“自我描述”数据记录</a:t>
            </a:r>
            <a:endParaRPr lang="zh-CN" altLang="en-US" sz="2400" dirty="0">
              <a:latin typeface="Arial" panose="020B0604020202020204" pitchFamily="34" charset="0"/>
            </a:endParaRPr>
          </a:p>
        </p:txBody>
      </p:sp>
      <p:pic>
        <p:nvPicPr>
          <p:cNvPr id="23556" name="Picture 2" descr="c:\users\lenovo\appdata\roaming\360se6\User Data\temp\bVkmIj.jpg"/>
          <p:cNvPicPr>
            <a:picLocks noChangeAspect="1"/>
          </p:cNvPicPr>
          <p:nvPr/>
        </p:nvPicPr>
        <p:blipFill rotWithShape="1">
          <a:blip r:embed="rId1"/>
          <a:srcRect r="28445"/>
          <a:stretch>
            <a:fillRect/>
          </a:stretch>
        </p:blipFill>
        <p:spPr>
          <a:xfrm>
            <a:off x="590550" y="2312035"/>
            <a:ext cx="4620895" cy="2286000"/>
          </a:xfrm>
          <a:prstGeom prst="rect">
            <a:avLst/>
          </a:prstGeom>
          <a:noFill/>
          <a:ln w="9525">
            <a:noFill/>
          </a:ln>
        </p:spPr>
      </p:pic>
      <p:sp>
        <p:nvSpPr>
          <p:cNvPr id="23558" name="Rectangle 2"/>
          <p:cNvSpPr/>
          <p:nvPr/>
        </p:nvSpPr>
        <p:spPr>
          <a:xfrm>
            <a:off x="6858635" y="1450340"/>
            <a:ext cx="4434205" cy="1723390"/>
          </a:xfrm>
          <a:prstGeom prst="rect">
            <a:avLst/>
          </a:prstGeom>
          <a:solidFill>
            <a:srgbClr val="F7F7F7"/>
          </a:solidFill>
          <a:ln w="9525">
            <a:noFill/>
          </a:ln>
        </p:spPr>
        <p:txBody>
          <a:bodyPr wrap="square" lIns="0" tIns="0" rIns="0" bIns="0" anchor="ctr" anchorCtr="0">
            <a:spAutoFit/>
          </a:bodyPr>
          <a:lstStyle/>
          <a:p>
            <a:r>
              <a:rPr lang="zh-CN" altLang="zh-CN" sz="1600" dirty="0">
                <a:solidFill>
                  <a:srgbClr val="4D4D4C"/>
                </a:solidFill>
                <a:latin typeface="Arial Unicode MS" pitchFamily="34" charset="-122"/>
              </a:rPr>
              <a:t>&lt;configuration&gt;</a:t>
            </a:r>
            <a:br>
              <a:rPr lang="zh-CN" altLang="zh-CN" sz="1600" dirty="0">
                <a:solidFill>
                  <a:srgbClr val="4D4D4C"/>
                </a:solidFill>
                <a:latin typeface="Arial Unicode MS" pitchFamily="34" charset="-122"/>
              </a:rPr>
            </a:br>
            <a:r>
              <a:rPr lang="zh-CN" altLang="zh-CN" sz="1600" dirty="0">
                <a:solidFill>
                  <a:srgbClr val="4D4D4C"/>
                </a:solidFill>
                <a:latin typeface="Arial Unicode MS" pitchFamily="34" charset="-122"/>
              </a:rPr>
              <a:t>&lt;property&gt;</a:t>
            </a:r>
            <a:br>
              <a:rPr lang="zh-CN" altLang="zh-CN" sz="1600" dirty="0">
                <a:solidFill>
                  <a:srgbClr val="4D4D4C"/>
                </a:solidFill>
                <a:latin typeface="Arial Unicode MS" pitchFamily="34" charset="-122"/>
              </a:rPr>
            </a:br>
            <a:r>
              <a:rPr lang="zh-CN" altLang="zh-CN" sz="1600" dirty="0">
                <a:solidFill>
                  <a:srgbClr val="4D4D4C"/>
                </a:solidFill>
                <a:latin typeface="Arial Unicode MS" pitchFamily="34" charset="-122"/>
              </a:rPr>
              <a:t>&lt;name&gt;hbase.rootdir&lt;/name&gt;</a:t>
            </a:r>
            <a:br>
              <a:rPr lang="zh-CN" altLang="zh-CN" sz="1600" dirty="0">
                <a:solidFill>
                  <a:srgbClr val="4D4D4C"/>
                </a:solidFill>
                <a:latin typeface="Arial Unicode MS" pitchFamily="34" charset="-122"/>
              </a:rPr>
            </a:br>
            <a:r>
              <a:rPr lang="zh-CN" altLang="zh-CN" sz="1600" dirty="0">
                <a:solidFill>
                  <a:srgbClr val="4D4D4C"/>
                </a:solidFill>
                <a:latin typeface="Arial Unicode MS" pitchFamily="34" charset="-122"/>
              </a:rPr>
              <a:t>&lt;value&gt;hdfs://localhost:9000/hbase&lt;/value&gt;</a:t>
            </a:r>
            <a:br>
              <a:rPr lang="zh-CN" altLang="zh-CN" sz="1600" dirty="0">
                <a:solidFill>
                  <a:srgbClr val="4D4D4C"/>
                </a:solidFill>
                <a:latin typeface="Arial Unicode MS" pitchFamily="34" charset="-122"/>
              </a:rPr>
            </a:br>
            <a:r>
              <a:rPr lang="zh-CN" altLang="zh-CN" sz="1600" dirty="0">
                <a:solidFill>
                  <a:srgbClr val="4D4D4C"/>
                </a:solidFill>
                <a:latin typeface="Arial Unicode MS" pitchFamily="34" charset="-122"/>
              </a:rPr>
              <a:t>&lt;/property&gt; </a:t>
            </a:r>
            <a:endParaRPr lang="en-US" altLang="zh-CN" sz="1600" dirty="0">
              <a:solidFill>
                <a:srgbClr val="4D4D4C"/>
              </a:solidFill>
              <a:latin typeface="Arial Unicode MS" pitchFamily="34" charset="-122"/>
            </a:endParaRPr>
          </a:p>
          <a:p>
            <a:r>
              <a:rPr lang="en-US" altLang="zh-CN" sz="1600" dirty="0">
                <a:solidFill>
                  <a:srgbClr val="4D4D4C"/>
                </a:solidFill>
                <a:latin typeface="Arial Unicode MS" pitchFamily="34" charset="-122"/>
              </a:rPr>
              <a:t>&lt;/configuration&gt;</a:t>
            </a:r>
            <a:br>
              <a:rPr lang="en-US" altLang="zh-CN" sz="1600" dirty="0">
                <a:latin typeface="Arial" panose="020B0604020202020204" pitchFamily="34" charset="0"/>
              </a:rPr>
            </a:br>
            <a:endParaRPr lang="zh-CN" altLang="zh-CN" sz="1600" dirty="0">
              <a:latin typeface="Arial" panose="020B0604020202020204" pitchFamily="34" charset="0"/>
            </a:endParaRPr>
          </a:p>
        </p:txBody>
      </p:sp>
      <p:sp>
        <p:nvSpPr>
          <p:cNvPr id="3" name="文本框 2"/>
          <p:cNvSpPr txBox="1"/>
          <p:nvPr/>
        </p:nvSpPr>
        <p:spPr>
          <a:xfrm>
            <a:off x="1520566" y="1771133"/>
            <a:ext cx="2760110" cy="460375"/>
          </a:xfrm>
          <a:prstGeom prst="rect">
            <a:avLst/>
          </a:prstGeom>
          <a:noFill/>
        </p:spPr>
        <p:txBody>
          <a:bodyPr wrap="square">
            <a:spAutoFit/>
          </a:bodyPr>
          <a:lstStyle/>
          <a:p>
            <a:pPr algn="l">
              <a:buClrTx/>
              <a:buSzTx/>
              <a:buFontTx/>
            </a:pPr>
            <a:r>
              <a:rPr lang="en-US" altLang="zh-CN" sz="2400" b="1" dirty="0">
                <a:solidFill>
                  <a:srgbClr val="4D4D4C"/>
                </a:solidFill>
                <a:latin typeface="Arial Unicode MS" pitchFamily="34" charset="-122"/>
              </a:rPr>
              <a:t>JSON格式的文档</a:t>
            </a:r>
            <a:endParaRPr lang="en-US" altLang="zh-CN" sz="2400" b="1" dirty="0">
              <a:solidFill>
                <a:srgbClr val="4D4D4C"/>
              </a:solidFill>
              <a:latin typeface="Arial Unicode MS" pitchFamily="34" charset="-122"/>
            </a:endParaRPr>
          </a:p>
        </p:txBody>
      </p:sp>
      <p:sp>
        <p:nvSpPr>
          <p:cNvPr id="5" name="文本框 4"/>
          <p:cNvSpPr txBox="1"/>
          <p:nvPr/>
        </p:nvSpPr>
        <p:spPr>
          <a:xfrm>
            <a:off x="8382392" y="959382"/>
            <a:ext cx="1946596" cy="460375"/>
          </a:xfrm>
          <a:prstGeom prst="rect">
            <a:avLst/>
          </a:prstGeom>
          <a:noFill/>
        </p:spPr>
        <p:txBody>
          <a:bodyPr wrap="square">
            <a:spAutoFit/>
          </a:bodyPr>
          <a:lstStyle/>
          <a:p>
            <a:r>
              <a:rPr lang="en-US" altLang="zh-CN" sz="2400" b="1" dirty="0">
                <a:solidFill>
                  <a:srgbClr val="4D4D4C"/>
                </a:solidFill>
                <a:latin typeface="Arial Unicode MS" pitchFamily="34" charset="-122"/>
              </a:rPr>
              <a:t>XML</a:t>
            </a:r>
            <a:r>
              <a:rPr lang="zh-CN" altLang="en-US" sz="2400" b="1" dirty="0">
                <a:solidFill>
                  <a:srgbClr val="4D4D4C"/>
                </a:solidFill>
                <a:latin typeface="Arial Unicode MS" pitchFamily="34" charset="-122"/>
              </a:rPr>
              <a:t>文档</a:t>
            </a:r>
            <a:endParaRPr lang="en-US" altLang="zh-CN" sz="2400" b="1" dirty="0">
              <a:solidFill>
                <a:srgbClr val="4D4D4C"/>
              </a:solidFill>
              <a:latin typeface="Arial Unicode MS" pitchFamily="34" charset="-122"/>
            </a:endParaRPr>
          </a:p>
        </p:txBody>
      </p:sp>
      <p:sp>
        <p:nvSpPr>
          <p:cNvPr id="7" name="文本框 6"/>
          <p:cNvSpPr txBox="1"/>
          <p:nvPr/>
        </p:nvSpPr>
        <p:spPr>
          <a:xfrm>
            <a:off x="8254095" y="3507639"/>
            <a:ext cx="2158867" cy="460375"/>
          </a:xfrm>
          <a:prstGeom prst="rect">
            <a:avLst/>
          </a:prstGeom>
          <a:noFill/>
        </p:spPr>
        <p:txBody>
          <a:bodyPr wrap="square">
            <a:spAutoFit/>
          </a:bodyPr>
          <a:lstStyle/>
          <a:p>
            <a:pPr algn="l">
              <a:buClrTx/>
              <a:buSzTx/>
              <a:buFontTx/>
            </a:pPr>
            <a:r>
              <a:rPr lang="en-US" altLang="zh-CN" sz="2400" b="1" dirty="0">
                <a:solidFill>
                  <a:srgbClr val="4D4D4C"/>
                </a:solidFill>
                <a:latin typeface="Arial Unicode MS" pitchFamily="34" charset="-122"/>
              </a:rPr>
              <a:t>HTML文档</a:t>
            </a:r>
            <a:endParaRPr lang="en-US" altLang="zh-CN" sz="2400" b="1" dirty="0">
              <a:solidFill>
                <a:srgbClr val="4D4D4C"/>
              </a:solidFill>
              <a:latin typeface="Arial Unicode MS" pitchFamily="34" charset="-122"/>
            </a:endParaRP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54221" y="3918936"/>
            <a:ext cx="5446938" cy="172354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
          <p:cNvSpPr>
            <a:spLocks noGrp="1"/>
          </p:cNvSpPr>
          <p:nvPr>
            <p:ph type="title"/>
          </p:nvPr>
        </p:nvSpPr>
        <p:spPr/>
        <p:txBody>
          <a:bodyPr vert="horz" wrap="square" lIns="91440" tIns="45720" rIns="91440" bIns="45720" anchor="ctr" anchorCtr="0"/>
          <a:lstStyle/>
          <a:p>
            <a:r>
              <a:rPr lang="en-US" altLang="zh-CN" b="1" dirty="0"/>
              <a:t>5.4.3  </a:t>
            </a:r>
            <a:r>
              <a:rPr lang="zh-CN" altLang="en-US" b="1" dirty="0"/>
              <a:t>文档数据库</a:t>
            </a:r>
            <a:endParaRPr lang="zh-CN" altLang="en-US" b="1" dirty="0"/>
          </a:p>
        </p:txBody>
      </p:sp>
      <p:sp>
        <p:nvSpPr>
          <p:cNvPr id="2" name="矩形 1"/>
          <p:cNvSpPr/>
          <p:nvPr/>
        </p:nvSpPr>
        <p:spPr>
          <a:xfrm>
            <a:off x="1061932" y="1954423"/>
            <a:ext cx="5329537" cy="57888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r>
              <a:rPr lang="zh-CN" altLang="en-US" sz="2400" dirty="0"/>
              <a:t>版本化的文档</a:t>
            </a:r>
            <a:endParaRPr lang="zh-CN" altLang="en-US" sz="2400" dirty="0"/>
          </a:p>
        </p:txBody>
      </p:sp>
      <p:sp>
        <p:nvSpPr>
          <p:cNvPr id="3" name="矩形: 圆角 2"/>
          <p:cNvSpPr/>
          <p:nvPr/>
        </p:nvSpPr>
        <p:spPr>
          <a:xfrm>
            <a:off x="764987" y="1624064"/>
            <a:ext cx="10362711" cy="955777"/>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5" name="文本框 4"/>
          <p:cNvSpPr txBox="1"/>
          <p:nvPr/>
        </p:nvSpPr>
        <p:spPr>
          <a:xfrm>
            <a:off x="1061932" y="1360329"/>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800" dirty="0"/>
              <a:t>数据模型</a:t>
            </a:r>
            <a:endParaRPr lang="en-US" altLang="zh-CN" sz="2800" dirty="0"/>
          </a:p>
        </p:txBody>
      </p:sp>
      <p:sp>
        <p:nvSpPr>
          <p:cNvPr id="15" name="矩形 14"/>
          <p:cNvSpPr/>
          <p:nvPr/>
        </p:nvSpPr>
        <p:spPr>
          <a:xfrm>
            <a:off x="1061720" y="3449955"/>
            <a:ext cx="8966200" cy="1318260"/>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fontAlgn="base">
              <a:spcBef>
                <a:spcPct val="0"/>
              </a:spcBef>
              <a:spcAft>
                <a:spcPct val="0"/>
              </a:spcAft>
            </a:pP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性能好</a:t>
            </a: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（高并发）</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，灵活性高，复杂性低，数据结构灵活</a:t>
            </a:r>
            <a:endPar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lvl="0" fontAlgn="base">
              <a:spcBef>
                <a:spcPct val="0"/>
              </a:spcBef>
              <a:spcAft>
                <a:spcPct val="0"/>
              </a:spcAft>
            </a:pP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提供嵌入式文档功能，将经常查询的数据存储在同一个文档中</a:t>
            </a:r>
            <a:endPar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lvl="0" fontAlgn="base">
              <a:spcBef>
                <a:spcPct val="0"/>
              </a:spcBef>
              <a:spcAft>
                <a:spcPct val="0"/>
              </a:spcAft>
            </a:pP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既可以根据键来构建索引，也可以</a:t>
            </a:r>
            <a:r>
              <a:rPr lang="zh-CN" altLang="en-US" sz="2400" dirty="0">
                <a:solidFill>
                  <a:schemeClr val="tx1"/>
                </a:solidFill>
                <a:highlight>
                  <a:srgbClr val="FFFF00"/>
                </a:highlight>
                <a:latin typeface="Times New Roman" panose="02020603050405020304" pitchFamily="18" charset="0"/>
                <a:ea typeface="宋体" panose="02010600030101010101" pitchFamily="2" charset="-122"/>
                <a:cs typeface="Times New Roman" panose="02020603050405020304" pitchFamily="18" charset="0"/>
              </a:rPr>
              <a:t>根据内容构建索引</a:t>
            </a:r>
            <a:endParaRPr lang="en-US" altLang="zh-CN" sz="2400" dirty="0">
              <a:solidFill>
                <a:schemeClr val="tx1"/>
              </a:solidFill>
              <a:highlight>
                <a:srgbClr val="FFFF00"/>
              </a:highlight>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 name="矩形: 圆角 15"/>
          <p:cNvSpPr/>
          <p:nvPr/>
        </p:nvSpPr>
        <p:spPr>
          <a:xfrm>
            <a:off x="705859" y="3018514"/>
            <a:ext cx="10362710" cy="2018654"/>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17" name="文本框 16"/>
          <p:cNvSpPr txBox="1"/>
          <p:nvPr/>
        </p:nvSpPr>
        <p:spPr>
          <a:xfrm>
            <a:off x="1061932" y="2701508"/>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800" b="1" dirty="0">
                <a:solidFill>
                  <a:schemeClr val="tx1"/>
                </a:solidFill>
                <a:latin typeface="Arial" panose="020B0604020202020204" pitchFamily="34" charset="0"/>
                <a:ea typeface="宋体" panose="02010600030101010101" pitchFamily="2" charset="-122"/>
              </a:rPr>
              <a:t>优点</a:t>
            </a:r>
            <a:endParaRPr lang="zh-CN" altLang="zh-CN" sz="2800" b="1" dirty="0">
              <a:solidFill>
                <a:schemeClr val="tx1"/>
              </a:solidFill>
              <a:latin typeface="Calibri" panose="020F0502020204030204" charset="0"/>
              <a:ea typeface="黑体" panose="02010609060101010101" pitchFamily="49" charset="-122"/>
            </a:endParaRPr>
          </a:p>
        </p:txBody>
      </p:sp>
      <p:sp>
        <p:nvSpPr>
          <p:cNvPr id="18" name="矩形 17"/>
          <p:cNvSpPr/>
          <p:nvPr/>
        </p:nvSpPr>
        <p:spPr>
          <a:xfrm>
            <a:off x="1061932" y="5831456"/>
            <a:ext cx="10004266" cy="57888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fontAlgn="base">
              <a:spcBef>
                <a:spcPct val="0"/>
              </a:spcBef>
              <a:spcAft>
                <a:spcPct val="0"/>
              </a:spcAft>
            </a:pP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缺乏统一的查询语法</a:t>
            </a:r>
            <a:r>
              <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并不支持文档间的事务</a:t>
            </a:r>
            <a:endParaRPr lang="zh-CN" altLang="zh-CN" sz="2400" dirty="0">
              <a:solidFill>
                <a:schemeClr val="tx1"/>
              </a:solidFill>
              <a:latin typeface="Calibri" panose="020F0502020204030204" charset="0"/>
              <a:ea typeface="黑体" panose="02010609060101010101" pitchFamily="49" charset="-122"/>
            </a:endParaRPr>
          </a:p>
        </p:txBody>
      </p:sp>
      <p:sp>
        <p:nvSpPr>
          <p:cNvPr id="19" name="矩形: 圆角 18"/>
          <p:cNvSpPr/>
          <p:nvPr/>
        </p:nvSpPr>
        <p:spPr>
          <a:xfrm>
            <a:off x="705858" y="5663682"/>
            <a:ext cx="10362709" cy="746656"/>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20" name="文本框 19"/>
          <p:cNvSpPr txBox="1"/>
          <p:nvPr/>
        </p:nvSpPr>
        <p:spPr>
          <a:xfrm>
            <a:off x="1061932" y="5252574"/>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800" b="1" dirty="0">
                <a:solidFill>
                  <a:schemeClr val="tx1"/>
                </a:solidFill>
                <a:latin typeface="Arial" panose="020B0604020202020204" pitchFamily="34" charset="0"/>
                <a:ea typeface="宋体" panose="02010600030101010101" pitchFamily="2" charset="-122"/>
              </a:rPr>
              <a:t>缺点</a:t>
            </a:r>
            <a:endParaRPr lang="zh-CN" altLang="zh-CN" sz="2800" b="1" dirty="0">
              <a:solidFill>
                <a:schemeClr val="tx1"/>
              </a:solidFill>
              <a:latin typeface="Calibri" panose="020F050202020403020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
          <p:cNvSpPr>
            <a:spLocks noGrp="1"/>
          </p:cNvSpPr>
          <p:nvPr>
            <p:ph type="title"/>
          </p:nvPr>
        </p:nvSpPr>
        <p:spPr/>
        <p:txBody>
          <a:bodyPr vert="horz" wrap="square" lIns="91440" tIns="45720" rIns="91440" bIns="45720" anchor="ctr" anchorCtr="0"/>
          <a:lstStyle/>
          <a:p>
            <a:r>
              <a:rPr lang="en-US" altLang="zh-CN" b="1" dirty="0"/>
              <a:t>5.4.3  </a:t>
            </a:r>
            <a:r>
              <a:rPr lang="zh-CN" altLang="en-US" b="1" dirty="0"/>
              <a:t>文档数据库</a:t>
            </a:r>
            <a:endParaRPr lang="zh-CN" altLang="en-US" dirty="0"/>
          </a:p>
        </p:txBody>
      </p:sp>
      <p:sp>
        <p:nvSpPr>
          <p:cNvPr id="6" name="矩形: 圆角 5"/>
          <p:cNvSpPr/>
          <p:nvPr/>
        </p:nvSpPr>
        <p:spPr>
          <a:xfrm>
            <a:off x="838200" y="1779811"/>
            <a:ext cx="10685106" cy="679866"/>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lvl="0" fontAlgn="base">
              <a:spcBef>
                <a:spcPct val="0"/>
              </a:spcBef>
              <a:spcAft>
                <a:spcPct val="0"/>
              </a:spcAft>
            </a:pPr>
            <a:r>
              <a:rPr lang="en-US" altLang="zh-CN" sz="2000" dirty="0">
                <a:solidFill>
                  <a:schemeClr val="tx1"/>
                </a:solidFill>
                <a:latin typeface="Times New Roman" panose="02020603050405020304" pitchFamily="18" charset="0"/>
                <a:ea typeface="黑体" panose="02010609060101010101" pitchFamily="49" charset="-122"/>
              </a:rPr>
              <a:t>     MongoDB</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chemeClr val="tx1"/>
                </a:solidFill>
                <a:latin typeface="Times New Roman" panose="02020603050405020304" pitchFamily="18" charset="0"/>
                <a:ea typeface="黑体" panose="02010609060101010101" pitchFamily="49" charset="-122"/>
              </a:rPr>
              <a:t>CouchDB</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solidFill>
                  <a:schemeClr val="tx1"/>
                </a:solidFill>
                <a:latin typeface="Times New Roman" panose="02020603050405020304" pitchFamily="18" charset="0"/>
                <a:ea typeface="黑体" panose="02010609060101010101" pitchFamily="49" charset="-122"/>
              </a:rPr>
              <a:t>Terrastore</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solidFill>
                  <a:schemeClr val="tx1"/>
                </a:solidFill>
                <a:latin typeface="Times New Roman" panose="02020603050405020304" pitchFamily="18" charset="0"/>
                <a:ea typeface="黑体" panose="02010609060101010101" pitchFamily="49" charset="-122"/>
              </a:rPr>
              <a:t>ThruDB</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solidFill>
                  <a:schemeClr val="tx1"/>
                </a:solidFill>
                <a:latin typeface="Times New Roman" panose="02020603050405020304" pitchFamily="18" charset="0"/>
                <a:ea typeface="黑体" panose="02010609060101010101" pitchFamily="49" charset="-122"/>
              </a:rPr>
              <a:t>RavenDB</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solidFill>
                  <a:schemeClr val="tx1"/>
                </a:solidFill>
                <a:latin typeface="Times New Roman" panose="02020603050405020304" pitchFamily="18" charset="0"/>
                <a:ea typeface="黑体" panose="02010609060101010101" pitchFamily="49" charset="-122"/>
              </a:rPr>
              <a:t>SisoDB</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solidFill>
                  <a:schemeClr val="tx1"/>
                </a:solidFill>
                <a:latin typeface="Times New Roman" panose="02020603050405020304" pitchFamily="18" charset="0"/>
                <a:ea typeface="黑体" panose="02010609060101010101" pitchFamily="49" charset="-122"/>
              </a:rPr>
              <a:t>RaptorDB</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solidFill>
                  <a:schemeClr val="tx1"/>
                </a:solidFill>
                <a:latin typeface="Times New Roman" panose="02020603050405020304" pitchFamily="18" charset="0"/>
                <a:ea typeface="黑体" panose="02010609060101010101" pitchFamily="49" charset="-122"/>
              </a:rPr>
              <a:t>CloudKit</a:t>
            </a:r>
            <a:r>
              <a:rPr lang="en-US"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000" dirty="0">
              <a:solidFill>
                <a:schemeClr val="tx1"/>
              </a:solidFill>
              <a:latin typeface="Calibri" panose="020F0502020204030204" charset="0"/>
              <a:ea typeface="黑体" panose="02010609060101010101" pitchFamily="49" charset="-122"/>
            </a:endParaRPr>
          </a:p>
        </p:txBody>
      </p:sp>
      <p:sp>
        <p:nvSpPr>
          <p:cNvPr id="7" name="文本框 6"/>
          <p:cNvSpPr txBox="1"/>
          <p:nvPr/>
        </p:nvSpPr>
        <p:spPr>
          <a:xfrm>
            <a:off x="1232171" y="1341093"/>
            <a:ext cx="2048267"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zh-CN" sz="2800" b="1" dirty="0">
                <a:solidFill>
                  <a:schemeClr val="tx1"/>
                </a:solidFill>
                <a:latin typeface="Arial" panose="020B0604020202020204" pitchFamily="34" charset="0"/>
                <a:ea typeface="宋体" panose="02010600030101010101" pitchFamily="2" charset="-122"/>
              </a:rPr>
              <a:t>相关产品</a:t>
            </a:r>
            <a:endParaRPr lang="zh-CN" altLang="zh-CN" sz="2800" b="1" dirty="0">
              <a:solidFill>
                <a:schemeClr val="tx1"/>
              </a:solidFill>
              <a:latin typeface="Calibri" panose="020F0502020204030204" charset="0"/>
              <a:ea typeface="黑体" panose="02010609060101010101" pitchFamily="49" charset="-122"/>
            </a:endParaRPr>
          </a:p>
        </p:txBody>
      </p:sp>
      <p:sp>
        <p:nvSpPr>
          <p:cNvPr id="8" name="矩形: 圆角 7"/>
          <p:cNvSpPr/>
          <p:nvPr/>
        </p:nvSpPr>
        <p:spPr>
          <a:xfrm>
            <a:off x="838200" y="5516906"/>
            <a:ext cx="10685105" cy="1182474"/>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lvl="0" fontAlgn="base">
              <a:spcBef>
                <a:spcPct val="0"/>
              </a:spcBef>
              <a:spcAft>
                <a:spcPct val="0"/>
              </a:spcAft>
            </a:pPr>
            <a:r>
              <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百度云数据库（</a:t>
            </a:r>
            <a:r>
              <a:rPr lang="en-US" altLang="zh-CN" sz="2400" dirty="0">
                <a:solidFill>
                  <a:schemeClr val="tx1"/>
                </a:solidFill>
                <a:latin typeface="Times New Roman" panose="02020603050405020304" pitchFamily="18" charset="0"/>
                <a:ea typeface="黑体" panose="02010609060101010101" pitchFamily="49" charset="-122"/>
              </a:rPr>
              <a:t>MongoDB</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SAP </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MongoDB</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a:solidFill>
                  <a:schemeClr val="tx1"/>
                </a:solidFill>
                <a:latin typeface="Times New Roman" panose="02020603050405020304" pitchFamily="18" charset="0"/>
                <a:ea typeface="黑体" panose="02010609060101010101" pitchFamily="49" charset="-122"/>
              </a:rPr>
              <a:t>Codecademy</a:t>
            </a:r>
            <a:r>
              <a:rPr lang="en-US" altLang="zh-CN" sz="2400" dirty="0">
                <a:solidFill>
                  <a:schemeClr val="tx1"/>
                </a:solidFill>
                <a:latin typeface="Times New Roman" panose="02020603050405020304" pitchFamily="18" charset="0"/>
                <a:ea typeface="黑体" panose="02010609060101010101" pitchFamily="49" charset="-122"/>
              </a:rPr>
              <a:t> </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MongoDB</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Foursquare </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MongoDB</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NBC News </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err="1">
                <a:solidFill>
                  <a:schemeClr val="tx1"/>
                </a:solidFill>
                <a:latin typeface="Times New Roman" panose="02020603050405020304" pitchFamily="18" charset="0"/>
                <a:ea typeface="黑体" panose="02010609060101010101" pitchFamily="49" charset="-122"/>
              </a:rPr>
              <a:t>RavenDB</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400" dirty="0">
              <a:solidFill>
                <a:schemeClr val="tx1"/>
              </a:solidFill>
              <a:latin typeface="Calibri" panose="020F0502020204030204" charset="0"/>
              <a:ea typeface="黑体" panose="02010609060101010101" pitchFamily="49" charset="-122"/>
            </a:endParaRPr>
          </a:p>
        </p:txBody>
      </p:sp>
      <p:sp>
        <p:nvSpPr>
          <p:cNvPr id="9" name="文本框 8"/>
          <p:cNvSpPr txBox="1"/>
          <p:nvPr/>
        </p:nvSpPr>
        <p:spPr>
          <a:xfrm>
            <a:off x="1135145" y="5162149"/>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lvl="0" algn="ctr" fontAlgn="base">
              <a:spcBef>
                <a:spcPct val="0"/>
              </a:spcBef>
              <a:spcAft>
                <a:spcPct val="0"/>
              </a:spcAft>
            </a:pPr>
            <a:r>
              <a:rPr lang="zh-CN" altLang="zh-CN" sz="2800" b="1" dirty="0">
                <a:solidFill>
                  <a:schemeClr val="tx1"/>
                </a:solidFill>
                <a:latin typeface="Arial" panose="020B0604020202020204" pitchFamily="34" charset="0"/>
                <a:ea typeface="宋体" panose="02010600030101010101" pitchFamily="2" charset="-122"/>
              </a:rPr>
              <a:t>使用者</a:t>
            </a:r>
            <a:endParaRPr lang="zh-CN" altLang="zh-CN" sz="2800" b="1" dirty="0">
              <a:solidFill>
                <a:schemeClr val="tx1"/>
              </a:solidFill>
              <a:latin typeface="Calibri" panose="020F0502020204030204" charset="0"/>
              <a:ea typeface="黑体" panose="02010609060101010101" pitchFamily="49" charset="-122"/>
            </a:endParaRPr>
          </a:p>
        </p:txBody>
      </p:sp>
      <p:sp>
        <p:nvSpPr>
          <p:cNvPr id="10" name="矩形 9"/>
          <p:cNvSpPr/>
          <p:nvPr/>
        </p:nvSpPr>
        <p:spPr>
          <a:xfrm>
            <a:off x="1135145" y="3463800"/>
            <a:ext cx="9986945" cy="1243179"/>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fontAlgn="base">
              <a:spcBef>
                <a:spcPct val="0"/>
              </a:spcBef>
              <a:spcAft>
                <a:spcPct val="0"/>
              </a:spcAft>
            </a:pP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存储、索引并管理面向文档的数据或者类似的半结构化数据</a:t>
            </a:r>
            <a:endPar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lvl="0" fontAlgn="base">
              <a:spcBef>
                <a:spcPct val="0"/>
              </a:spcBef>
              <a:spcAft>
                <a:spcPct val="0"/>
              </a:spcAft>
            </a:pP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比如，用于后台具有大量读写操作的网站、使用</a:t>
            </a:r>
            <a:r>
              <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JSON</a:t>
            </a: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数据结构的应用、使用嵌套结构等非规范化数据的应用程序</a:t>
            </a:r>
            <a:endPar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矩形: 圆角 10"/>
          <p:cNvSpPr/>
          <p:nvPr/>
        </p:nvSpPr>
        <p:spPr>
          <a:xfrm>
            <a:off x="838200" y="2843982"/>
            <a:ext cx="10651123" cy="2250532"/>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12" name="文本框 11"/>
          <p:cNvSpPr txBox="1"/>
          <p:nvPr/>
        </p:nvSpPr>
        <p:spPr>
          <a:xfrm>
            <a:off x="1135145" y="2580246"/>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zh-CN" sz="2800" b="1" dirty="0">
                <a:solidFill>
                  <a:schemeClr val="tx1"/>
                </a:solidFill>
                <a:latin typeface="Arial" panose="020B0604020202020204" pitchFamily="34" charset="0"/>
                <a:ea typeface="宋体" panose="02010600030101010101" pitchFamily="2" charset="-122"/>
              </a:rPr>
              <a:t>典型应用</a:t>
            </a:r>
            <a:endParaRPr lang="zh-CN" altLang="zh-CN" sz="2800" b="1" dirty="0">
              <a:solidFill>
                <a:schemeClr val="tx1"/>
              </a:solidFill>
              <a:latin typeface="Calibri" panose="020F050202020403020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842769" y="1251535"/>
            <a:ext cx="4017606" cy="1325563"/>
          </a:xfrm>
        </p:spPr>
        <p:txBody>
          <a:bodyPr/>
          <a:lstStyle/>
          <a:p>
            <a:r>
              <a:rPr lang="en-US" altLang="zh-CN" b="1" dirty="0"/>
              <a:t>5.4.4  </a:t>
            </a:r>
            <a:r>
              <a:rPr lang="zh-CN" altLang="en-US" b="1" dirty="0"/>
              <a:t>图数据库</a:t>
            </a:r>
            <a:endParaRPr lang="zh-CN" altLang="en-US" dirty="0"/>
          </a:p>
        </p:txBody>
      </p:sp>
      <p:sp>
        <p:nvSpPr>
          <p:cNvPr id="3" name="灯片编号占位符 2"/>
          <p:cNvSpPr>
            <a:spLocks noGrp="1"/>
          </p:cNvSpPr>
          <p:nvPr>
            <p:ph type="sldNum" sz="quarter" idx="12"/>
          </p:nvPr>
        </p:nvSpPr>
        <p:spPr/>
        <p:txBody>
          <a:bodyPr/>
          <a:lstStyle/>
          <a:p>
            <a:fld id="{7E57CE09-A6DF-4F65-B9AD-CB157D51E68C}" type="slidenum">
              <a:rPr lang="zh-CN" altLang="en-US" smtClean="0"/>
            </a:fld>
            <a:endParaRPr lang="zh-CN" altLang="en-US"/>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4754" y="68262"/>
            <a:ext cx="7393623" cy="6721475"/>
          </a:xfrm>
          <a:prstGeom prst="snip2DiagRect">
            <a:avLst/>
          </a:prstGeom>
          <a:solidFill>
            <a:srgbClr val="FFFFFF">
              <a:shade val="85000"/>
            </a:srgbClr>
          </a:solidFill>
          <a:ln w="88900" cap="sq">
            <a:solidFill>
              <a:srgbClr val="FFFFFF"/>
            </a:solidFill>
            <a:miter lim="800000"/>
            <a:headEnd/>
            <a:tailEnd/>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7" name="文本框 6"/>
          <p:cNvSpPr txBox="1"/>
          <p:nvPr/>
        </p:nvSpPr>
        <p:spPr>
          <a:xfrm>
            <a:off x="168730" y="612588"/>
            <a:ext cx="1818691" cy="461665"/>
          </a:xfrm>
          <a:prstGeom prst="rect">
            <a:avLst/>
          </a:prstGeom>
          <a:noFill/>
        </p:spPr>
        <p:txBody>
          <a:bodyPr wrap="square">
            <a:spAutoFit/>
          </a:bodyPr>
          <a:lstStyle/>
          <a:p>
            <a:r>
              <a:rPr lang="zh-CN" altLang="en-US" sz="2400" b="1" dirty="0">
                <a:solidFill>
                  <a:srgbClr val="7030A0"/>
                </a:solidFill>
                <a:latin typeface="-apple-system"/>
              </a:rPr>
              <a:t>新冠传播图</a:t>
            </a:r>
            <a:endParaRPr lang="zh-CN" altLang="en-US" sz="2400" b="1" dirty="0">
              <a:solidFill>
                <a:srgbClr val="7030A0"/>
              </a:solidFill>
            </a:endParaRP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8917" y="2788203"/>
            <a:ext cx="4365310" cy="400153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
          <p:cNvSpPr>
            <a:spLocks noGrp="1"/>
          </p:cNvSpPr>
          <p:nvPr>
            <p:ph type="title"/>
          </p:nvPr>
        </p:nvSpPr>
        <p:spPr/>
        <p:txBody>
          <a:bodyPr vert="horz" wrap="square" lIns="91440" tIns="45720" rIns="91440" bIns="45720" anchor="ctr" anchorCtr="0"/>
          <a:lstStyle/>
          <a:p>
            <a:r>
              <a:rPr lang="en-US" altLang="zh-CN" b="1" dirty="0"/>
              <a:t>5.4.4  </a:t>
            </a:r>
            <a:r>
              <a:rPr lang="zh-CN" altLang="en-US" b="1" dirty="0"/>
              <a:t>图数据库</a:t>
            </a:r>
            <a:endParaRPr lang="zh-CN" altLang="en-US" b="1" dirty="0"/>
          </a:p>
        </p:txBody>
      </p:sp>
      <p:sp>
        <p:nvSpPr>
          <p:cNvPr id="2" name="矩形 1"/>
          <p:cNvSpPr/>
          <p:nvPr/>
        </p:nvSpPr>
        <p:spPr>
          <a:xfrm>
            <a:off x="1061932" y="1954423"/>
            <a:ext cx="5329537" cy="57888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fontAlgn="base">
              <a:spcBef>
                <a:spcPct val="0"/>
              </a:spcBef>
              <a:spcAft>
                <a:spcPct val="0"/>
              </a:spcAft>
            </a:pP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图结构</a:t>
            </a:r>
            <a:endParaRPr lang="zh-CN" altLang="zh-CN" sz="2400" dirty="0">
              <a:solidFill>
                <a:schemeClr val="tx1"/>
              </a:solidFill>
              <a:latin typeface="Calibri" panose="020F0502020204030204" charset="0"/>
              <a:ea typeface="黑体" panose="02010609060101010101" pitchFamily="49" charset="-122"/>
            </a:endParaRPr>
          </a:p>
        </p:txBody>
      </p:sp>
      <p:sp>
        <p:nvSpPr>
          <p:cNvPr id="3" name="矩形: 圆角 2"/>
          <p:cNvSpPr/>
          <p:nvPr/>
        </p:nvSpPr>
        <p:spPr>
          <a:xfrm>
            <a:off x="764987" y="1624064"/>
            <a:ext cx="10362711" cy="955777"/>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5" name="文本框 4"/>
          <p:cNvSpPr txBox="1"/>
          <p:nvPr/>
        </p:nvSpPr>
        <p:spPr>
          <a:xfrm>
            <a:off x="1061932" y="1360329"/>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800" dirty="0"/>
              <a:t>数据模型</a:t>
            </a:r>
            <a:endParaRPr lang="en-US" altLang="zh-CN" sz="2800" dirty="0"/>
          </a:p>
        </p:txBody>
      </p:sp>
      <p:sp>
        <p:nvSpPr>
          <p:cNvPr id="15" name="矩形 14"/>
          <p:cNvSpPr/>
          <p:nvPr/>
        </p:nvSpPr>
        <p:spPr>
          <a:xfrm>
            <a:off x="1061932" y="3449885"/>
            <a:ext cx="8763203" cy="1318057"/>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fontAlgn="base">
              <a:spcBef>
                <a:spcPct val="0"/>
              </a:spcBef>
              <a:spcAft>
                <a:spcPct val="0"/>
              </a:spcAft>
            </a:pP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灵活性高，支持复杂的图形算法，可用于构建复杂的关系图谱</a:t>
            </a:r>
            <a:endPar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lvl="0" fontAlgn="base">
              <a:spcBef>
                <a:spcPct val="0"/>
              </a:spcBef>
              <a:spcAft>
                <a:spcPct val="0"/>
              </a:spcAft>
            </a:pP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有些图数据库</a:t>
            </a:r>
            <a:r>
              <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如</a:t>
            </a:r>
            <a:r>
              <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Neo4J)</a:t>
            </a: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，完全兼容</a:t>
            </a:r>
            <a:r>
              <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ACID</a:t>
            </a:r>
            <a:endParaRPr lang="zh-CN" altLang="zh-CN" sz="2400" dirty="0">
              <a:solidFill>
                <a:schemeClr val="tx1"/>
              </a:solidFill>
              <a:latin typeface="Calibri" panose="020F0502020204030204" charset="0"/>
              <a:ea typeface="黑体" panose="02010609060101010101" pitchFamily="49" charset="-122"/>
            </a:endParaRPr>
          </a:p>
        </p:txBody>
      </p:sp>
      <p:sp>
        <p:nvSpPr>
          <p:cNvPr id="16" name="矩形: 圆角 15"/>
          <p:cNvSpPr/>
          <p:nvPr/>
        </p:nvSpPr>
        <p:spPr>
          <a:xfrm>
            <a:off x="705859" y="3018514"/>
            <a:ext cx="10362710" cy="2018654"/>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17" name="文本框 16"/>
          <p:cNvSpPr txBox="1"/>
          <p:nvPr/>
        </p:nvSpPr>
        <p:spPr>
          <a:xfrm>
            <a:off x="1061932" y="2701508"/>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800" b="1" dirty="0">
                <a:solidFill>
                  <a:schemeClr val="tx1"/>
                </a:solidFill>
                <a:latin typeface="Arial" panose="020B0604020202020204" pitchFamily="34" charset="0"/>
                <a:ea typeface="宋体" panose="02010600030101010101" pitchFamily="2" charset="-122"/>
              </a:rPr>
              <a:t>优点</a:t>
            </a:r>
            <a:endParaRPr lang="zh-CN" altLang="zh-CN" sz="2800" b="1" dirty="0">
              <a:solidFill>
                <a:schemeClr val="tx1"/>
              </a:solidFill>
              <a:latin typeface="Calibri" panose="020F0502020204030204" charset="0"/>
              <a:ea typeface="黑体" panose="02010609060101010101" pitchFamily="49" charset="-122"/>
            </a:endParaRPr>
          </a:p>
        </p:txBody>
      </p:sp>
      <p:sp>
        <p:nvSpPr>
          <p:cNvPr id="18" name="矩形 17"/>
          <p:cNvSpPr/>
          <p:nvPr/>
        </p:nvSpPr>
        <p:spPr>
          <a:xfrm>
            <a:off x="1061932" y="5831456"/>
            <a:ext cx="10004266" cy="57888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fontAlgn="base">
              <a:spcBef>
                <a:spcPct val="0"/>
              </a:spcBef>
              <a:spcAft>
                <a:spcPct val="0"/>
              </a:spcAft>
            </a:pP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复杂性高，只能支持一定的数据规模</a:t>
            </a:r>
            <a:endParaRPr lang="zh-CN" altLang="zh-CN" sz="2400" dirty="0">
              <a:solidFill>
                <a:schemeClr val="tx1"/>
              </a:solidFill>
              <a:latin typeface="Calibri" panose="020F0502020204030204" charset="0"/>
              <a:ea typeface="黑体" panose="02010609060101010101" pitchFamily="49" charset="-122"/>
            </a:endParaRPr>
          </a:p>
        </p:txBody>
      </p:sp>
      <p:sp>
        <p:nvSpPr>
          <p:cNvPr id="19" name="矩形: 圆角 18"/>
          <p:cNvSpPr/>
          <p:nvPr/>
        </p:nvSpPr>
        <p:spPr>
          <a:xfrm>
            <a:off x="705858" y="5663682"/>
            <a:ext cx="10362709" cy="746656"/>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20" name="文本框 19"/>
          <p:cNvSpPr txBox="1"/>
          <p:nvPr/>
        </p:nvSpPr>
        <p:spPr>
          <a:xfrm>
            <a:off x="1061932" y="5252574"/>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800" b="1" dirty="0">
                <a:solidFill>
                  <a:schemeClr val="tx1"/>
                </a:solidFill>
                <a:latin typeface="Arial" panose="020B0604020202020204" pitchFamily="34" charset="0"/>
                <a:ea typeface="宋体" panose="02010600030101010101" pitchFamily="2" charset="-122"/>
              </a:rPr>
              <a:t>缺点</a:t>
            </a:r>
            <a:endParaRPr lang="zh-CN" altLang="zh-CN" sz="2800" b="1" dirty="0">
              <a:solidFill>
                <a:schemeClr val="tx1"/>
              </a:solidFill>
              <a:latin typeface="Calibri" panose="020F050202020403020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2"/>
          <p:cNvSpPr>
            <a:spLocks noGrp="1"/>
          </p:cNvSpPr>
          <p:nvPr>
            <p:ph type="title"/>
          </p:nvPr>
        </p:nvSpPr>
        <p:spPr/>
        <p:txBody>
          <a:bodyPr vert="horz" wrap="square" lIns="91440" tIns="45720" rIns="91440" bIns="45720" anchor="ctr" anchorCtr="0"/>
          <a:lstStyle/>
          <a:p>
            <a:r>
              <a:rPr lang="en-US" altLang="zh-CN" b="1" dirty="0"/>
              <a:t>5.4.4  </a:t>
            </a:r>
            <a:r>
              <a:rPr lang="zh-CN" altLang="en-US" b="1" dirty="0"/>
              <a:t>图数据库</a:t>
            </a:r>
            <a:endParaRPr lang="zh-CN" altLang="en-US" dirty="0"/>
          </a:p>
        </p:txBody>
      </p:sp>
      <p:sp>
        <p:nvSpPr>
          <p:cNvPr id="6" name="矩形: 圆角 5"/>
          <p:cNvSpPr/>
          <p:nvPr/>
        </p:nvSpPr>
        <p:spPr>
          <a:xfrm>
            <a:off x="838200" y="1779811"/>
            <a:ext cx="10685106" cy="679866"/>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fontAlgn="base">
              <a:spcBef>
                <a:spcPct val="0"/>
              </a:spcBef>
              <a:spcAft>
                <a:spcPct val="0"/>
              </a:spcAft>
            </a:pPr>
            <a:r>
              <a:rPr lang="en-US" altLang="zh-CN" sz="2000" dirty="0">
                <a:solidFill>
                  <a:schemeClr val="tx1"/>
                </a:solidFill>
                <a:latin typeface="Times New Roman" panose="02020603050405020304" pitchFamily="18" charset="0"/>
                <a:ea typeface="黑体" panose="02010609060101010101" pitchFamily="49" charset="-122"/>
              </a:rPr>
              <a:t>     Neo4J</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solidFill>
                  <a:schemeClr val="tx1"/>
                </a:solidFill>
                <a:latin typeface="Times New Roman" panose="02020603050405020304" pitchFamily="18" charset="0"/>
                <a:ea typeface="黑体" panose="02010609060101010101" pitchFamily="49" charset="-122"/>
              </a:rPr>
              <a:t>OrientDB</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solidFill>
                  <a:schemeClr val="tx1"/>
                </a:solidFill>
                <a:latin typeface="Times New Roman" panose="02020603050405020304" pitchFamily="18" charset="0"/>
                <a:ea typeface="黑体" panose="02010609060101010101" pitchFamily="49" charset="-122"/>
              </a:rPr>
              <a:t>InfoGrid</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solidFill>
                  <a:schemeClr val="tx1"/>
                </a:solidFill>
                <a:latin typeface="Times New Roman" panose="02020603050405020304" pitchFamily="18" charset="0"/>
                <a:ea typeface="黑体" panose="02010609060101010101" pitchFamily="49" charset="-122"/>
              </a:rPr>
              <a:t>Infinite Graph</a:t>
            </a:r>
            <a:r>
              <a:rPr lang="zh-CN" altLang="zh-CN" sz="2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err="1">
                <a:solidFill>
                  <a:schemeClr val="tx1"/>
                </a:solidFill>
                <a:latin typeface="Times New Roman" panose="02020603050405020304" pitchFamily="18" charset="0"/>
                <a:ea typeface="黑体" panose="02010609060101010101" pitchFamily="49" charset="-122"/>
              </a:rPr>
              <a:t>GraphDB</a:t>
            </a:r>
            <a:endParaRPr lang="zh-CN" altLang="zh-CN" sz="2000" dirty="0">
              <a:solidFill>
                <a:schemeClr val="tx1"/>
              </a:solidFill>
              <a:latin typeface="Calibri" panose="020F0502020204030204" charset="0"/>
              <a:ea typeface="黑体" panose="02010609060101010101" pitchFamily="49" charset="-122"/>
            </a:endParaRPr>
          </a:p>
        </p:txBody>
      </p:sp>
      <p:sp>
        <p:nvSpPr>
          <p:cNvPr id="7" name="文本框 6"/>
          <p:cNvSpPr txBox="1"/>
          <p:nvPr/>
        </p:nvSpPr>
        <p:spPr>
          <a:xfrm>
            <a:off x="1232171" y="1341093"/>
            <a:ext cx="2048267"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zh-CN" sz="2800" b="1" dirty="0">
                <a:solidFill>
                  <a:schemeClr val="tx1"/>
                </a:solidFill>
                <a:latin typeface="Arial" panose="020B0604020202020204" pitchFamily="34" charset="0"/>
                <a:ea typeface="宋体" panose="02010600030101010101" pitchFamily="2" charset="-122"/>
              </a:rPr>
              <a:t>相关产品</a:t>
            </a:r>
            <a:endParaRPr lang="zh-CN" altLang="zh-CN" sz="2800" b="1" dirty="0">
              <a:solidFill>
                <a:schemeClr val="tx1"/>
              </a:solidFill>
              <a:latin typeface="Calibri" panose="020F0502020204030204" charset="0"/>
              <a:ea typeface="黑体" panose="02010609060101010101" pitchFamily="49" charset="-122"/>
            </a:endParaRPr>
          </a:p>
        </p:txBody>
      </p:sp>
      <p:sp>
        <p:nvSpPr>
          <p:cNvPr id="8" name="矩形: 圆角 7"/>
          <p:cNvSpPr/>
          <p:nvPr/>
        </p:nvSpPr>
        <p:spPr>
          <a:xfrm>
            <a:off x="838200" y="5516906"/>
            <a:ext cx="10685105" cy="1182474"/>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fontAlgn="base">
              <a:spcBef>
                <a:spcPct val="0"/>
              </a:spcBef>
              <a:spcAft>
                <a:spcPct val="0"/>
              </a:spcAft>
            </a:pPr>
            <a:r>
              <a:rPr lang="en-US"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dirty="0">
                <a:solidFill>
                  <a:schemeClr val="tx1"/>
                </a:solidFill>
                <a:latin typeface="Times New Roman" panose="02020603050405020304" pitchFamily="18" charset="0"/>
                <a:ea typeface="黑体" panose="02010609060101010101" pitchFamily="49" charset="-122"/>
              </a:rPr>
              <a:t>Adobe</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Neo4J</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Cisco</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Neo4J</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T-Mobile</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dirty="0">
                <a:solidFill>
                  <a:schemeClr val="tx1"/>
                </a:solidFill>
                <a:latin typeface="Times New Roman" panose="02020603050405020304" pitchFamily="18" charset="0"/>
                <a:ea typeface="黑体" panose="02010609060101010101" pitchFamily="49" charset="-122"/>
              </a:rPr>
              <a:t>Neo4J</a:t>
            </a:r>
            <a:r>
              <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t>
            </a:r>
            <a:endParaRPr lang="zh-CN" altLang="zh-CN" sz="2400" dirty="0">
              <a:solidFill>
                <a:schemeClr val="tx1"/>
              </a:solidFill>
              <a:latin typeface="Calibri" panose="020F0502020204030204" charset="0"/>
              <a:ea typeface="黑体" panose="02010609060101010101" pitchFamily="49" charset="-122"/>
            </a:endParaRPr>
          </a:p>
        </p:txBody>
      </p:sp>
      <p:sp>
        <p:nvSpPr>
          <p:cNvPr id="9" name="文本框 8"/>
          <p:cNvSpPr txBox="1"/>
          <p:nvPr/>
        </p:nvSpPr>
        <p:spPr>
          <a:xfrm>
            <a:off x="1135145" y="5162149"/>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lvl="0" algn="ctr" fontAlgn="base">
              <a:spcBef>
                <a:spcPct val="0"/>
              </a:spcBef>
              <a:spcAft>
                <a:spcPct val="0"/>
              </a:spcAft>
            </a:pPr>
            <a:r>
              <a:rPr lang="zh-CN" altLang="zh-CN" sz="2800" b="1" dirty="0">
                <a:solidFill>
                  <a:schemeClr val="tx1"/>
                </a:solidFill>
                <a:latin typeface="Arial" panose="020B0604020202020204" pitchFamily="34" charset="0"/>
                <a:ea typeface="宋体" panose="02010600030101010101" pitchFamily="2" charset="-122"/>
              </a:rPr>
              <a:t>使用者</a:t>
            </a:r>
            <a:endParaRPr lang="zh-CN" altLang="zh-CN" sz="2800" b="1" dirty="0">
              <a:solidFill>
                <a:schemeClr val="tx1"/>
              </a:solidFill>
              <a:latin typeface="Calibri" panose="020F0502020204030204" charset="0"/>
              <a:ea typeface="黑体" panose="02010609060101010101" pitchFamily="49" charset="-122"/>
            </a:endParaRPr>
          </a:p>
        </p:txBody>
      </p:sp>
      <p:sp>
        <p:nvSpPr>
          <p:cNvPr id="10" name="矩形 9"/>
          <p:cNvSpPr/>
          <p:nvPr/>
        </p:nvSpPr>
        <p:spPr>
          <a:xfrm>
            <a:off x="1135145" y="3463800"/>
            <a:ext cx="9986945" cy="1243179"/>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lvl="0" fontAlgn="base">
              <a:spcBef>
                <a:spcPct val="0"/>
              </a:spcBef>
              <a:spcAft>
                <a:spcPct val="0"/>
              </a:spcAft>
            </a:pPr>
            <a:r>
              <a:rPr lang="zh-CN" altLang="en-US"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专门用于处理具有高度相互关联关系的数据，比较适合于社交网络、模式识别、依赖分析、推荐系统以及路径寻找等问题</a:t>
            </a:r>
            <a:endParaRPr lang="zh-CN" altLang="zh-CN" sz="24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矩形: 圆角 10"/>
          <p:cNvSpPr/>
          <p:nvPr/>
        </p:nvSpPr>
        <p:spPr>
          <a:xfrm>
            <a:off x="838200" y="2914846"/>
            <a:ext cx="10651123" cy="2062357"/>
          </a:xfrm>
          <a:prstGeom prst="roundRect">
            <a:avLst/>
          </a:prstGeom>
          <a:no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sz="2800" dirty="0"/>
          </a:p>
        </p:txBody>
      </p:sp>
      <p:sp>
        <p:nvSpPr>
          <p:cNvPr id="12" name="文本框 11"/>
          <p:cNvSpPr txBox="1"/>
          <p:nvPr/>
        </p:nvSpPr>
        <p:spPr>
          <a:xfrm>
            <a:off x="1135145" y="2580246"/>
            <a:ext cx="2113280" cy="578882"/>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zh-CN" sz="2800" b="1" dirty="0">
                <a:solidFill>
                  <a:schemeClr val="tx1"/>
                </a:solidFill>
                <a:latin typeface="Arial" panose="020B0604020202020204" pitchFamily="34" charset="0"/>
                <a:ea typeface="宋体" panose="02010600030101010101" pitchFamily="2" charset="-122"/>
              </a:rPr>
              <a:t>典型应用</a:t>
            </a:r>
            <a:endParaRPr lang="zh-CN" altLang="zh-CN" sz="2800" b="1" dirty="0">
              <a:solidFill>
                <a:schemeClr val="tx1"/>
              </a:solidFill>
              <a:latin typeface="Calibri" panose="020F0502020204030204" charset="0"/>
              <a:ea typeface="黑体" panose="02010609060101010101" pitchFamily="49" charset="-122"/>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1" name="Picture 2" descr="http://pic.yupoo.com/iammutex/CATWbHtt/MACOq.png"/>
          <p:cNvPicPr>
            <a:picLocks noChangeAspect="1"/>
          </p:cNvPicPr>
          <p:nvPr/>
        </p:nvPicPr>
        <p:blipFill>
          <a:blip r:embed="rId1"/>
          <a:stretch>
            <a:fillRect/>
          </a:stretch>
        </p:blipFill>
        <p:spPr>
          <a:xfrm>
            <a:off x="2547256" y="1027906"/>
            <a:ext cx="6724053" cy="2939743"/>
          </a:xfrm>
          <a:prstGeom prst="rect">
            <a:avLst/>
          </a:prstGeom>
          <a:noFill/>
          <a:ln w="9525">
            <a:noFill/>
          </a:ln>
        </p:spPr>
      </p:pic>
      <p:sp>
        <p:nvSpPr>
          <p:cNvPr id="27650" name="标题 2"/>
          <p:cNvSpPr>
            <a:spLocks noGrp="1"/>
          </p:cNvSpPr>
          <p:nvPr>
            <p:ph type="title"/>
          </p:nvPr>
        </p:nvSpPr>
        <p:spPr>
          <a:xfrm>
            <a:off x="838200" y="141191"/>
            <a:ext cx="10515600" cy="1325563"/>
          </a:xfrm>
        </p:spPr>
        <p:txBody>
          <a:bodyPr vert="horz" wrap="square" lIns="91440" tIns="45720" rIns="91440" bIns="45720" anchor="ctr" anchorCtr="0"/>
          <a:lstStyle/>
          <a:p>
            <a:r>
              <a:rPr lang="zh-CN" altLang="en-US" b="1" dirty="0"/>
              <a:t>不同类型数据库比较分析</a:t>
            </a:r>
            <a:endParaRPr lang="zh-CN" altLang="en-US" b="1" dirty="0"/>
          </a:p>
        </p:txBody>
      </p:sp>
      <p:sp>
        <p:nvSpPr>
          <p:cNvPr id="27652" name="矩形 4"/>
          <p:cNvSpPr/>
          <p:nvPr/>
        </p:nvSpPr>
        <p:spPr>
          <a:xfrm>
            <a:off x="718456" y="3967649"/>
            <a:ext cx="11019453" cy="2399665"/>
          </a:xfrm>
          <a:prstGeom prst="rect">
            <a:avLst/>
          </a:prstGeom>
          <a:noFill/>
          <a:ln w="9525">
            <a:noFill/>
          </a:ln>
        </p:spPr>
        <p:txBody>
          <a:bodyPr wrap="square">
            <a:spAutoFit/>
          </a:bodyPr>
          <a:lstStyle/>
          <a:p>
            <a:pPr>
              <a:lnSpc>
                <a:spcPct val="150000"/>
              </a:lnSpc>
              <a:buFont typeface="Arial" panose="020B0604020202020204" pitchFamily="34" charset="0"/>
              <a:buChar char="•"/>
            </a:pPr>
            <a:r>
              <a:rPr lang="en-US" altLang="zh-CN" sz="2000" b="1" dirty="0">
                <a:latin typeface="Arial" panose="020B0604020202020204" pitchFamily="34" charset="0"/>
              </a:rPr>
              <a:t>MySQL</a:t>
            </a:r>
            <a:r>
              <a:rPr lang="zh-CN" altLang="en-US" sz="2000" dirty="0">
                <a:latin typeface="Arial" panose="020B0604020202020204" pitchFamily="34" charset="0"/>
              </a:rPr>
              <a:t>产生年代较早，随着</a:t>
            </a:r>
            <a:r>
              <a:rPr lang="en-US" altLang="zh-CN" sz="2000" dirty="0">
                <a:latin typeface="Arial" panose="020B0604020202020204" pitchFamily="34" charset="0"/>
              </a:rPr>
              <a:t>LAMP</a:t>
            </a:r>
            <a:r>
              <a:rPr lang="zh-CN" altLang="en-US" sz="2000" dirty="0">
                <a:latin typeface="Arial" panose="020B0604020202020204" pitchFamily="34" charset="0"/>
              </a:rPr>
              <a:t>大潮成熟，无大改进，新兴的互联网使用最多的数据库</a:t>
            </a:r>
            <a:endParaRPr lang="en-US" altLang="zh-CN" sz="2000" dirty="0">
              <a:latin typeface="Arial" panose="020B0604020202020204" pitchFamily="34" charset="0"/>
            </a:endParaRPr>
          </a:p>
          <a:p>
            <a:pPr>
              <a:lnSpc>
                <a:spcPct val="150000"/>
              </a:lnSpc>
              <a:buFont typeface="Arial" panose="020B0604020202020204" pitchFamily="34" charset="0"/>
              <a:buChar char="•"/>
            </a:pPr>
            <a:r>
              <a:rPr lang="en-US" altLang="zh-CN" sz="2000" b="1" dirty="0">
                <a:latin typeface="Arial" panose="020B0604020202020204" pitchFamily="34" charset="0"/>
              </a:rPr>
              <a:t>MongoDB</a:t>
            </a:r>
            <a:r>
              <a:rPr lang="zh-CN" altLang="en-US" sz="2000" dirty="0">
                <a:latin typeface="Arial" panose="020B0604020202020204" pitchFamily="34" charset="0"/>
              </a:rPr>
              <a:t>是个新生事物，提供更灵活的数据模型、异步提交、地理位置索引等五花十色的功能</a:t>
            </a:r>
            <a:endParaRPr lang="en-US" altLang="zh-CN" sz="2000" dirty="0">
              <a:latin typeface="Arial" panose="020B0604020202020204" pitchFamily="34" charset="0"/>
            </a:endParaRPr>
          </a:p>
          <a:p>
            <a:pPr>
              <a:lnSpc>
                <a:spcPct val="150000"/>
              </a:lnSpc>
              <a:buFont typeface="Arial" panose="020B0604020202020204" pitchFamily="34" charset="0"/>
              <a:buChar char="•"/>
            </a:pPr>
            <a:r>
              <a:rPr lang="en-US" altLang="zh-CN" sz="2000" b="1" dirty="0">
                <a:latin typeface="Arial" panose="020B0604020202020204" pitchFamily="34" charset="0"/>
              </a:rPr>
              <a:t>HBase</a:t>
            </a:r>
            <a:r>
              <a:rPr lang="zh-CN" altLang="en-US" sz="2000" dirty="0">
                <a:latin typeface="Arial" panose="020B0604020202020204" pitchFamily="34" charset="0"/>
              </a:rPr>
              <a:t>是个“仗势欺人”的大象兵。依仗着</a:t>
            </a:r>
            <a:r>
              <a:rPr lang="en-US" altLang="zh-CN" sz="2000" dirty="0">
                <a:latin typeface="Arial" panose="020B0604020202020204" pitchFamily="34" charset="0"/>
              </a:rPr>
              <a:t>Hadoop</a:t>
            </a:r>
            <a:r>
              <a:rPr lang="zh-CN" altLang="en-US" sz="2000" dirty="0">
                <a:latin typeface="Arial" panose="020B0604020202020204" pitchFamily="34" charset="0"/>
              </a:rPr>
              <a:t>的生态环境，可以有很好的扩展性</a:t>
            </a:r>
            <a:endParaRPr lang="zh-CN" altLang="en-US" sz="2000" dirty="0">
              <a:latin typeface="Arial" panose="020B0604020202020204" pitchFamily="34" charset="0"/>
            </a:endParaRPr>
          </a:p>
          <a:p>
            <a:pPr>
              <a:lnSpc>
                <a:spcPct val="150000"/>
              </a:lnSpc>
              <a:buFont typeface="Arial" panose="020B0604020202020204" pitchFamily="34" charset="0"/>
              <a:buChar char="•"/>
            </a:pPr>
            <a:r>
              <a:rPr lang="en-US" altLang="zh-CN" sz="2000" b="1" dirty="0">
                <a:latin typeface="Arial" panose="020B0604020202020204" pitchFamily="34" charset="0"/>
              </a:rPr>
              <a:t>Redis</a:t>
            </a:r>
            <a:r>
              <a:rPr lang="zh-CN" altLang="en-US" sz="2000" dirty="0">
                <a:latin typeface="Arial" panose="020B0604020202020204" pitchFamily="34" charset="0"/>
              </a:rPr>
              <a:t>是键值存储的代表，功能最简单。提供随机数据存储。就像一根棒子一样，没有多余的构造。但是也正是因此，它的伸缩性特别好。</a:t>
            </a:r>
            <a:endParaRPr lang="zh-CN" altLang="en-US" sz="2000" dirty="0">
              <a:latin typeface="Arial" panose="020B060402020202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2"/>
          <p:cNvSpPr>
            <a:spLocks noGrp="1"/>
          </p:cNvSpPr>
          <p:nvPr>
            <p:ph type="title"/>
          </p:nvPr>
        </p:nvSpPr>
        <p:spPr/>
        <p:txBody>
          <a:bodyPr vert="horz" wrap="square" lIns="91440" tIns="45720" rIns="91440" bIns="45720" anchor="ctr" anchorCtr="0"/>
          <a:lstStyle/>
          <a:p>
            <a:r>
              <a:rPr lang="en-US" altLang="zh-CN" b="1" dirty="0"/>
              <a:t>5.5  NoSQL</a:t>
            </a:r>
            <a:r>
              <a:rPr lang="zh-CN" altLang="en-US" b="1" dirty="0"/>
              <a:t>的三大基石</a:t>
            </a:r>
            <a:endParaRPr lang="zh-CN" altLang="en-US" b="1" dirty="0"/>
          </a:p>
        </p:txBody>
      </p:sp>
      <p:graphicFrame>
        <p:nvGraphicFramePr>
          <p:cNvPr id="6" name="图示 5"/>
          <p:cNvGraphicFramePr/>
          <p:nvPr/>
        </p:nvGraphicFramePr>
        <p:xfrm>
          <a:off x="1819275" y="1306195"/>
          <a:ext cx="8277225" cy="526161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
          <p:cNvSpPr>
            <a:spLocks noGrp="1"/>
          </p:cNvSpPr>
          <p:nvPr>
            <p:ph type="title"/>
          </p:nvPr>
        </p:nvSpPr>
        <p:spPr/>
        <p:txBody>
          <a:bodyPr vert="horz" wrap="square" lIns="91440" tIns="45720" rIns="91440" bIns="45720" anchor="ctr" anchorCtr="0"/>
          <a:lstStyle/>
          <a:p>
            <a:r>
              <a:rPr lang="en-US" altLang="zh-CN" b="1" dirty="0"/>
              <a:t>5.5.1  CAP</a:t>
            </a:r>
            <a:endParaRPr lang="zh-CN" altLang="en-US" b="1" dirty="0"/>
          </a:p>
        </p:txBody>
      </p:sp>
      <p:sp>
        <p:nvSpPr>
          <p:cNvPr id="4" name="文本框 3"/>
          <p:cNvSpPr txBox="1"/>
          <p:nvPr/>
        </p:nvSpPr>
        <p:spPr>
          <a:xfrm>
            <a:off x="838200" y="1502228"/>
            <a:ext cx="10582469" cy="5492750"/>
          </a:xfrm>
          <a:prstGeom prst="rect">
            <a:avLst/>
          </a:prstGeom>
          <a:noFill/>
        </p:spPr>
        <p:txBody>
          <a:bodyPr wrap="square">
            <a:spAutoFit/>
          </a:bodyPr>
          <a:lstStyle/>
          <a:p>
            <a:pPr marL="285750" marR="0" indent="-285750" defTabSz="914400">
              <a:lnSpc>
                <a:spcPct val="150000"/>
              </a:lnSpc>
              <a:buClrTx/>
              <a:buSzTx/>
              <a:buFont typeface="Wingdings" panose="05000000000000000000" pitchFamily="2" charset="2"/>
              <a:buChar char="l"/>
              <a:defRPr/>
            </a:pPr>
            <a:r>
              <a:rPr kumimoji="0" lang="en-US" altLang="zh-CN" sz="2400" b="1" kern="1200" cap="none" spc="0" normalizeH="0" baseline="0" noProof="0" dirty="0">
                <a:latin typeface="Arial" panose="020B0604020202020204" pitchFamily="34" charset="0"/>
                <a:ea typeface="宋体" panose="02010600030101010101" pitchFamily="2" charset="-122"/>
                <a:cs typeface="+mn-cs"/>
              </a:rPr>
              <a:t>C</a:t>
            </a:r>
            <a:r>
              <a:rPr kumimoji="0" lang="zh-CN" altLang="zh-CN" sz="2400" b="1" kern="1200" cap="none" spc="0" normalizeH="0" baseline="0" noProof="0" dirty="0">
                <a:latin typeface="Arial" panose="020B0604020202020204" pitchFamily="34" charset="0"/>
                <a:ea typeface="宋体" panose="02010600030101010101" pitchFamily="2" charset="-122"/>
                <a:cs typeface="+mn-cs"/>
              </a:rPr>
              <a:t>（</a:t>
            </a:r>
            <a:r>
              <a:rPr kumimoji="0" lang="en-US" altLang="zh-CN" sz="2400" b="1" kern="1200" cap="none" spc="0" normalizeH="0" baseline="0" noProof="0" dirty="0">
                <a:latin typeface="Arial" panose="020B0604020202020204" pitchFamily="34" charset="0"/>
                <a:ea typeface="宋体" panose="02010600030101010101" pitchFamily="2" charset="-122"/>
                <a:cs typeface="+mn-cs"/>
              </a:rPr>
              <a:t>Consistency</a:t>
            </a:r>
            <a:r>
              <a:rPr kumimoji="0" lang="zh-CN" altLang="zh-CN" sz="2400" b="1" kern="1200" cap="none" spc="0" normalizeH="0" baseline="0" noProof="0" dirty="0">
                <a:latin typeface="Arial" panose="020B0604020202020204" pitchFamily="34" charset="0"/>
                <a:ea typeface="宋体" panose="02010600030101010101" pitchFamily="2" charset="-122"/>
                <a:cs typeface="+mn-cs"/>
              </a:rPr>
              <a:t>）：</a:t>
            </a:r>
            <a:r>
              <a:rPr kumimoji="0" lang="zh-CN" altLang="zh-CN" sz="2400" kern="1200" cap="none" spc="0" normalizeH="0" baseline="0" noProof="0" dirty="0">
                <a:latin typeface="Arial" panose="020B0604020202020204" pitchFamily="34" charset="0"/>
                <a:ea typeface="宋体" panose="02010600030101010101" pitchFamily="2" charset="-122"/>
                <a:cs typeface="+mn-cs"/>
              </a:rPr>
              <a:t>一致性，任何读操作总能读到之前已经完成的写操作的结果</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L="285750" marR="0" indent="-285750" defTabSz="914400">
              <a:lnSpc>
                <a:spcPct val="150000"/>
              </a:lnSpc>
              <a:buClrTx/>
              <a:buSzTx/>
              <a:buFont typeface="Wingdings" panose="05000000000000000000" pitchFamily="2" charset="2"/>
              <a:buChar char="l"/>
              <a:defRPr/>
            </a:pPr>
            <a:endParaRPr kumimoji="0" lang="zh-CN" altLang="zh-CN" sz="2400" kern="1200" cap="none" spc="0" normalizeH="0" baseline="0" noProof="0" dirty="0">
              <a:latin typeface="Arial" panose="020B0604020202020204" pitchFamily="34" charset="0"/>
              <a:ea typeface="宋体" panose="02010600030101010101" pitchFamily="2" charset="-122"/>
              <a:cs typeface="+mn-cs"/>
            </a:endParaRPr>
          </a:p>
          <a:p>
            <a:pPr marL="285750" marR="0" indent="-285750" defTabSz="914400">
              <a:lnSpc>
                <a:spcPct val="150000"/>
              </a:lnSpc>
              <a:buClrTx/>
              <a:buSzTx/>
              <a:buFont typeface="Wingdings" panose="05000000000000000000" pitchFamily="2" charset="2"/>
              <a:buChar char="l"/>
              <a:defRPr/>
            </a:pPr>
            <a:r>
              <a:rPr kumimoji="0" lang="en-US" altLang="zh-CN" sz="2400" b="1" kern="1200" cap="none" spc="0" normalizeH="0" baseline="0" noProof="0" dirty="0">
                <a:latin typeface="Arial" panose="020B0604020202020204" pitchFamily="34" charset="0"/>
                <a:ea typeface="宋体" panose="02010600030101010101" pitchFamily="2" charset="-122"/>
                <a:cs typeface="+mn-cs"/>
              </a:rPr>
              <a:t>A:</a:t>
            </a:r>
            <a:r>
              <a:rPr kumimoji="0" lang="zh-CN" altLang="zh-CN" sz="2400" b="1" kern="1200" cap="none" spc="0" normalizeH="0" baseline="0" noProof="0" dirty="0">
                <a:latin typeface="Arial" panose="020B0604020202020204" pitchFamily="34" charset="0"/>
                <a:ea typeface="宋体" panose="02010600030101010101" pitchFamily="2" charset="-122"/>
                <a:cs typeface="+mn-cs"/>
              </a:rPr>
              <a:t>（</a:t>
            </a:r>
            <a:r>
              <a:rPr kumimoji="0" lang="en-US" altLang="zh-CN" sz="2400" b="1" kern="1200" cap="none" spc="0" normalizeH="0" baseline="0" noProof="0" dirty="0">
                <a:latin typeface="Arial" panose="020B0604020202020204" pitchFamily="34" charset="0"/>
                <a:ea typeface="宋体" panose="02010600030101010101" pitchFamily="2" charset="-122"/>
                <a:cs typeface="+mn-cs"/>
              </a:rPr>
              <a:t>Availability</a:t>
            </a:r>
            <a:r>
              <a:rPr kumimoji="0" lang="zh-CN" altLang="zh-CN" sz="2400" b="1" kern="1200" cap="none" spc="0" normalizeH="0" baseline="0" noProof="0" dirty="0">
                <a:latin typeface="Arial" panose="020B0604020202020204" pitchFamily="34" charset="0"/>
                <a:ea typeface="宋体" panose="02010600030101010101" pitchFamily="2" charset="-122"/>
                <a:cs typeface="+mn-cs"/>
              </a:rPr>
              <a:t>）：</a:t>
            </a:r>
            <a:r>
              <a:rPr kumimoji="0" lang="zh-CN" altLang="zh-CN" sz="2400" kern="1200" cap="none" spc="0" normalizeH="0" baseline="0" noProof="0" dirty="0">
                <a:latin typeface="Arial" panose="020B0604020202020204" pitchFamily="34" charset="0"/>
                <a:ea typeface="宋体" panose="02010600030101010101" pitchFamily="2" charset="-122"/>
                <a:cs typeface="+mn-cs"/>
              </a:rPr>
              <a:t>可用性，是指快速获取数据，可以在确定的时间内返回操作结果</a:t>
            </a:r>
            <a:endParaRPr kumimoji="0" lang="en-US" altLang="zh-CN" sz="2400" kern="1200" cap="none" spc="0" normalizeH="0" baseline="0" noProof="0" dirty="0">
              <a:latin typeface="Arial" panose="020B0604020202020204" pitchFamily="34" charset="0"/>
              <a:ea typeface="宋体" panose="02010600030101010101" pitchFamily="2" charset="-122"/>
              <a:cs typeface="+mn-cs"/>
            </a:endParaRPr>
          </a:p>
          <a:p>
            <a:pPr marL="285750" marR="0" indent="-285750" defTabSz="914400">
              <a:lnSpc>
                <a:spcPct val="150000"/>
              </a:lnSpc>
              <a:buClrTx/>
              <a:buSzTx/>
              <a:buFont typeface="Wingdings" panose="05000000000000000000" pitchFamily="2" charset="2"/>
              <a:buChar char="l"/>
              <a:defRPr/>
            </a:pPr>
            <a:endParaRPr kumimoji="0" lang="zh-CN" altLang="zh-CN" sz="2400" kern="1200" cap="none" spc="0" normalizeH="0" baseline="0" noProof="0" dirty="0">
              <a:latin typeface="Arial" panose="020B0604020202020204" pitchFamily="34" charset="0"/>
              <a:ea typeface="宋体" panose="02010600030101010101" pitchFamily="2" charset="-122"/>
              <a:cs typeface="+mn-cs"/>
            </a:endParaRPr>
          </a:p>
          <a:p>
            <a:pPr marL="285750" marR="0" indent="-285750" defTabSz="914400">
              <a:lnSpc>
                <a:spcPct val="150000"/>
              </a:lnSpc>
              <a:buClrTx/>
              <a:buSzTx/>
              <a:buFont typeface="Wingdings" panose="05000000000000000000" pitchFamily="2" charset="2"/>
              <a:buChar char="l"/>
              <a:defRPr/>
            </a:pPr>
            <a:r>
              <a:rPr kumimoji="0" lang="en-US" altLang="zh-CN" sz="2400" b="1" kern="1200" cap="none" spc="0" normalizeH="0" baseline="0" noProof="0" dirty="0">
                <a:latin typeface="Arial" panose="020B0604020202020204" pitchFamily="34" charset="0"/>
                <a:ea typeface="宋体" panose="02010600030101010101" pitchFamily="2" charset="-122"/>
                <a:cs typeface="+mn-cs"/>
              </a:rPr>
              <a:t>P</a:t>
            </a:r>
            <a:r>
              <a:rPr kumimoji="0" lang="zh-CN" altLang="zh-CN" sz="2400" b="1" kern="1200" cap="none" spc="0" normalizeH="0" baseline="0" noProof="0" dirty="0">
                <a:latin typeface="Arial" panose="020B0604020202020204" pitchFamily="34" charset="0"/>
                <a:ea typeface="宋体" panose="02010600030101010101" pitchFamily="2" charset="-122"/>
                <a:cs typeface="+mn-cs"/>
              </a:rPr>
              <a:t>（</a:t>
            </a:r>
            <a:r>
              <a:rPr kumimoji="0" lang="en-US" altLang="zh-CN" sz="2400" b="1" kern="1200" cap="none" spc="0" normalizeH="0" baseline="0" noProof="0" dirty="0">
                <a:latin typeface="Arial" panose="020B0604020202020204" pitchFamily="34" charset="0"/>
                <a:ea typeface="宋体" panose="02010600030101010101" pitchFamily="2" charset="-122"/>
                <a:cs typeface="+mn-cs"/>
              </a:rPr>
              <a:t>Tolerance of Network Partition</a:t>
            </a:r>
            <a:r>
              <a:rPr kumimoji="0" lang="zh-CN" altLang="zh-CN" sz="2400" b="1" kern="1200" cap="none" spc="0" normalizeH="0" baseline="0" noProof="0" dirty="0">
                <a:latin typeface="Arial" panose="020B0604020202020204" pitchFamily="34" charset="0"/>
                <a:ea typeface="宋体" panose="02010600030101010101" pitchFamily="2" charset="-122"/>
                <a:cs typeface="+mn-cs"/>
              </a:rPr>
              <a:t>）：</a:t>
            </a:r>
            <a:r>
              <a:rPr kumimoji="0" lang="zh-CN" altLang="zh-CN" sz="2400" kern="1200" cap="none" spc="0" normalizeH="0" baseline="0" noProof="0" dirty="0">
                <a:latin typeface="Arial" panose="020B0604020202020204" pitchFamily="34" charset="0"/>
                <a:ea typeface="宋体" panose="02010600030101010101" pitchFamily="2" charset="-122"/>
                <a:cs typeface="+mn-cs"/>
              </a:rPr>
              <a:t>分区容忍性，是指当出现网络分区的情况时（即系统中的一部分节点无法和其他节点进行通信），分离的系统也能够正常运行</a:t>
            </a:r>
            <a:endParaRPr kumimoji="0" lang="zh-CN" altLang="zh-CN" sz="2400" kern="1200" cap="none" spc="0" normalizeH="0" baseline="0" noProof="0" dirty="0">
              <a:latin typeface="Arial" panose="020B0604020202020204" pitchFamily="34" charset="0"/>
              <a:ea typeface="宋体" panose="02010600030101010101" pitchFamily="2" charset="-122"/>
              <a:cs typeface="+mn-cs"/>
            </a:endParaRPr>
          </a:p>
          <a:p>
            <a:pPr marR="0" defTabSz="914400">
              <a:lnSpc>
                <a:spcPct val="150000"/>
              </a:lnSpc>
              <a:buClrTx/>
              <a:buSzTx/>
              <a:buFontTx/>
              <a:buNone/>
              <a:defRPr/>
            </a:pPr>
            <a:endParaRPr kumimoji="0" lang="zh-CN" altLang="en-US" kern="1200" cap="none" spc="0" normalizeH="0" baseline="0" noProof="0" dirty="0">
              <a:latin typeface="Arial" panose="020B0604020202020204" pitchFamily="34" charset="0"/>
              <a:ea typeface="宋体" panose="02010600030101010101" pitchFamily="2" charset="-122"/>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2"/>
          <p:cNvSpPr>
            <a:spLocks noGrp="1"/>
          </p:cNvSpPr>
          <p:nvPr>
            <p:ph type="title"/>
          </p:nvPr>
        </p:nvSpPr>
        <p:spPr/>
        <p:txBody>
          <a:bodyPr vert="horz" wrap="square" lIns="91440" tIns="45720" rIns="91440" bIns="45720" anchor="ctr" anchorCtr="0"/>
          <a:lstStyle/>
          <a:p>
            <a:r>
              <a:rPr lang="en-US" altLang="zh-CN" b="1" dirty="0"/>
              <a:t>5.5.1  CAP</a:t>
            </a:r>
            <a:endParaRPr lang="zh-CN" altLang="en-US" b="1" dirty="0"/>
          </a:p>
        </p:txBody>
      </p:sp>
      <p:sp>
        <p:nvSpPr>
          <p:cNvPr id="30723" name="文本框 3"/>
          <p:cNvSpPr txBox="1"/>
          <p:nvPr/>
        </p:nvSpPr>
        <p:spPr>
          <a:xfrm>
            <a:off x="1164770" y="1438215"/>
            <a:ext cx="4694853" cy="669927"/>
          </a:xfrm>
          <a:prstGeom prst="rect">
            <a:avLst/>
          </a:prstGeom>
          <a:noFill/>
          <a:ln w="9525">
            <a:noFill/>
          </a:ln>
        </p:spPr>
        <p:txBody>
          <a:bodyPr wrap="square">
            <a:spAutoFit/>
          </a:bodyPr>
          <a:lstStyle/>
          <a:p>
            <a:pPr>
              <a:lnSpc>
                <a:spcPct val="150000"/>
              </a:lnSpc>
            </a:pPr>
            <a:r>
              <a:rPr lang="zh-CN" altLang="zh-CN" sz="2800" dirty="0">
                <a:highlight>
                  <a:srgbClr val="FFFF00"/>
                </a:highlight>
                <a:latin typeface="Arial" panose="020B0604020202020204" pitchFamily="34" charset="0"/>
              </a:rPr>
              <a:t>最多只能同时满足其中两个</a:t>
            </a:r>
            <a:endParaRPr lang="zh-CN" altLang="en-US" sz="2400" dirty="0">
              <a:highlight>
                <a:srgbClr val="FFFF00"/>
              </a:highlight>
              <a:latin typeface="Arial" panose="020B0604020202020204" pitchFamily="34" charset="0"/>
            </a:endParaRPr>
          </a:p>
        </p:txBody>
      </p:sp>
      <p:pic>
        <p:nvPicPr>
          <p:cNvPr id="101" name="图片 100"/>
          <p:cNvPicPr/>
          <p:nvPr/>
        </p:nvPicPr>
        <p:blipFill>
          <a:blip r:embed="rId1"/>
          <a:stretch>
            <a:fillRect/>
          </a:stretch>
        </p:blipFill>
        <p:spPr>
          <a:xfrm>
            <a:off x="3406140" y="2252345"/>
            <a:ext cx="4791710" cy="4267200"/>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2"/>
          <p:cNvSpPr>
            <a:spLocks noGrp="1"/>
          </p:cNvSpPr>
          <p:nvPr>
            <p:ph type="title"/>
          </p:nvPr>
        </p:nvSpPr>
        <p:spPr/>
        <p:txBody>
          <a:bodyPr vert="horz" wrap="square" lIns="91440" tIns="45720" rIns="91440" bIns="45720" anchor="ctr" anchorCtr="0"/>
          <a:lstStyle/>
          <a:p>
            <a:r>
              <a:rPr lang="en-US" altLang="zh-CN" b="1" dirty="0"/>
              <a:t>5.5.1  CAP</a:t>
            </a:r>
            <a:endParaRPr lang="zh-CN" altLang="en-US" b="1" dirty="0"/>
          </a:p>
        </p:txBody>
      </p:sp>
      <p:sp>
        <p:nvSpPr>
          <p:cNvPr id="31747" name="文本框 4"/>
          <p:cNvSpPr txBox="1"/>
          <p:nvPr/>
        </p:nvSpPr>
        <p:spPr>
          <a:xfrm>
            <a:off x="4419600" y="6335395"/>
            <a:ext cx="2895600" cy="398780"/>
          </a:xfrm>
          <a:prstGeom prst="rect">
            <a:avLst/>
          </a:prstGeom>
          <a:noFill/>
          <a:ln w="9525">
            <a:noFill/>
          </a:ln>
        </p:spPr>
        <p:txBody>
          <a:bodyPr>
            <a:spAutoFit/>
          </a:bodyPr>
          <a:lstStyle/>
          <a:p>
            <a:pPr algn="ctr"/>
            <a:r>
              <a:rPr lang="zh-CN" altLang="en-US" sz="2000" b="1" dirty="0">
                <a:latin typeface="Arial" panose="020B0604020202020204" pitchFamily="34" charset="0"/>
              </a:rPr>
              <a:t>（</a:t>
            </a:r>
            <a:r>
              <a:rPr lang="en-US" altLang="zh-CN" sz="2000" b="1" dirty="0">
                <a:latin typeface="Arial" panose="020B0604020202020204" pitchFamily="34" charset="0"/>
              </a:rPr>
              <a:t>a</a:t>
            </a:r>
            <a:r>
              <a:rPr lang="zh-CN" altLang="en-US" sz="2000" b="1" dirty="0">
                <a:latin typeface="Arial" panose="020B0604020202020204" pitchFamily="34" charset="0"/>
              </a:rPr>
              <a:t>）初始状态</a:t>
            </a:r>
            <a:endParaRPr lang="zh-CN" altLang="en-US" sz="2000" b="1" dirty="0">
              <a:latin typeface="Arial" panose="020B0604020202020204" pitchFamily="34" charset="0"/>
            </a:endParaRPr>
          </a:p>
        </p:txBody>
      </p:sp>
      <p:sp>
        <p:nvSpPr>
          <p:cNvPr id="31748" name="Rectangle 6"/>
          <p:cNvSpPr/>
          <p:nvPr/>
        </p:nvSpPr>
        <p:spPr>
          <a:xfrm>
            <a:off x="1313149" y="1505278"/>
            <a:ext cx="4533613" cy="523220"/>
          </a:xfrm>
          <a:prstGeom prst="rect">
            <a:avLst/>
          </a:prstGeom>
          <a:noFill/>
          <a:ln w="9525">
            <a:noFill/>
          </a:ln>
        </p:spPr>
        <p:txBody>
          <a:bodyPr wrap="none" anchor="ctr" anchorCtr="0">
            <a:spAutoFit/>
          </a:bodyPr>
          <a:lstStyle/>
          <a:p>
            <a:r>
              <a:rPr lang="zh-CN" altLang="en-US" sz="2800" dirty="0">
                <a:latin typeface="Arial" panose="020B0604020202020204" pitchFamily="34" charset="0"/>
              </a:rPr>
              <a:t>满足</a:t>
            </a:r>
            <a:r>
              <a:rPr lang="en-US" altLang="zh-CN" sz="2800" dirty="0">
                <a:latin typeface="Arial" panose="020B0604020202020204" pitchFamily="34" charset="0"/>
              </a:rPr>
              <a:t>P</a:t>
            </a:r>
            <a:r>
              <a:rPr lang="zh-CN" altLang="en-US" sz="2800" dirty="0">
                <a:latin typeface="Arial" panose="020B0604020202020204" pitchFamily="34" charset="0"/>
              </a:rPr>
              <a:t>，</a:t>
            </a:r>
            <a:r>
              <a:rPr lang="en-US" altLang="zh-CN" sz="2800" dirty="0">
                <a:latin typeface="Arial" panose="020B0604020202020204" pitchFamily="34" charset="0"/>
              </a:rPr>
              <a:t>AC</a:t>
            </a:r>
            <a:r>
              <a:rPr lang="zh-CN" altLang="en-US" sz="2800" dirty="0">
                <a:latin typeface="Arial" panose="020B0604020202020204" pitchFamily="34" charset="0"/>
              </a:rPr>
              <a:t>不可兼得的例子</a:t>
            </a:r>
            <a:endParaRPr lang="zh-CN" altLang="en-US" sz="2800" dirty="0">
              <a:latin typeface="Arial" panose="020B0604020202020204" pitchFamily="34" charset="0"/>
            </a:endParaRPr>
          </a:p>
        </p:txBody>
      </p:sp>
      <p:pic>
        <p:nvPicPr>
          <p:cNvPr id="31749" name="Picture 7"/>
          <p:cNvPicPr>
            <a:picLocks noChangeAspect="1"/>
          </p:cNvPicPr>
          <p:nvPr/>
        </p:nvPicPr>
        <p:blipFill>
          <a:blip r:embed="rId1"/>
          <a:stretch>
            <a:fillRect/>
          </a:stretch>
        </p:blipFill>
        <p:spPr>
          <a:xfrm>
            <a:off x="3835400" y="2025650"/>
            <a:ext cx="4022090" cy="4309745"/>
          </a:xfrm>
          <a:prstGeom prst="rect">
            <a:avLst/>
          </a:prstGeom>
          <a:noFill/>
          <a:ln w="9525">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2"/>
          <p:cNvSpPr>
            <a:spLocks noGrp="1"/>
          </p:cNvSpPr>
          <p:nvPr>
            <p:ph type="title"/>
          </p:nvPr>
        </p:nvSpPr>
        <p:spPr/>
        <p:txBody>
          <a:bodyPr vert="horz" wrap="square" lIns="91440" tIns="45720" rIns="91440" bIns="45720" anchor="ctr" anchorCtr="0"/>
          <a:lstStyle/>
          <a:p>
            <a:r>
              <a:rPr lang="en-US" altLang="zh-CN" b="1" dirty="0"/>
              <a:t>5.5.1  CAP</a:t>
            </a:r>
            <a:endParaRPr lang="zh-CN" altLang="en-US" b="1" dirty="0"/>
          </a:p>
        </p:txBody>
      </p:sp>
      <p:sp>
        <p:nvSpPr>
          <p:cNvPr id="32771" name="文本框 3"/>
          <p:cNvSpPr txBox="1"/>
          <p:nvPr/>
        </p:nvSpPr>
        <p:spPr>
          <a:xfrm>
            <a:off x="4648200" y="6329680"/>
            <a:ext cx="2895600" cy="398780"/>
          </a:xfrm>
          <a:prstGeom prst="rect">
            <a:avLst/>
          </a:prstGeom>
          <a:noFill/>
          <a:ln w="9525">
            <a:noFill/>
          </a:ln>
        </p:spPr>
        <p:txBody>
          <a:bodyPr>
            <a:spAutoFit/>
          </a:bodyPr>
          <a:lstStyle/>
          <a:p>
            <a:pPr algn="ctr"/>
            <a:r>
              <a:rPr lang="zh-CN" altLang="en-US" sz="2000" b="1" dirty="0">
                <a:latin typeface="Arial" panose="020B0604020202020204" pitchFamily="34" charset="0"/>
              </a:rPr>
              <a:t>（</a:t>
            </a:r>
            <a:r>
              <a:rPr lang="en-US" altLang="zh-CN" sz="2000" b="1" dirty="0">
                <a:latin typeface="Arial" panose="020B0604020202020204" pitchFamily="34" charset="0"/>
              </a:rPr>
              <a:t>b</a:t>
            </a:r>
            <a:r>
              <a:rPr lang="zh-CN" altLang="en-US" sz="2000" b="1" dirty="0">
                <a:latin typeface="Arial" panose="020B0604020202020204" pitchFamily="34" charset="0"/>
              </a:rPr>
              <a:t>）正常执行过程</a:t>
            </a:r>
            <a:endParaRPr lang="zh-CN" altLang="en-US" sz="2000" b="1" dirty="0">
              <a:latin typeface="Arial" panose="020B0604020202020204" pitchFamily="34" charset="0"/>
            </a:endParaRPr>
          </a:p>
        </p:txBody>
      </p:sp>
      <p:pic>
        <p:nvPicPr>
          <p:cNvPr id="32773" name="Picture 7"/>
          <p:cNvPicPr>
            <a:picLocks noChangeAspect="1"/>
          </p:cNvPicPr>
          <p:nvPr/>
        </p:nvPicPr>
        <p:blipFill>
          <a:blip r:embed="rId1"/>
          <a:stretch>
            <a:fillRect/>
          </a:stretch>
        </p:blipFill>
        <p:spPr>
          <a:xfrm>
            <a:off x="1188720" y="1762760"/>
            <a:ext cx="9813925" cy="441833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2"/>
          <p:cNvSpPr>
            <a:spLocks noGrp="1"/>
          </p:cNvSpPr>
          <p:nvPr>
            <p:ph type="title"/>
          </p:nvPr>
        </p:nvSpPr>
        <p:spPr/>
        <p:txBody>
          <a:bodyPr vert="horz" wrap="square" lIns="91440" tIns="45720" rIns="91440" bIns="45720" anchor="ctr" anchorCtr="0"/>
          <a:lstStyle/>
          <a:p>
            <a:r>
              <a:rPr lang="en-US" altLang="zh-CN" b="1" dirty="0"/>
              <a:t>5.5.1  CAP</a:t>
            </a:r>
            <a:endParaRPr lang="zh-CN" altLang="en-US" b="1" dirty="0"/>
          </a:p>
        </p:txBody>
      </p:sp>
      <p:pic>
        <p:nvPicPr>
          <p:cNvPr id="33795" name="Picture 6"/>
          <p:cNvPicPr>
            <a:picLocks noChangeAspect="1"/>
          </p:cNvPicPr>
          <p:nvPr/>
        </p:nvPicPr>
        <p:blipFill>
          <a:blip r:embed="rId1"/>
          <a:stretch>
            <a:fillRect/>
          </a:stretch>
        </p:blipFill>
        <p:spPr>
          <a:xfrm>
            <a:off x="1005205" y="1489075"/>
            <a:ext cx="10048240" cy="4566285"/>
          </a:xfrm>
          <a:prstGeom prst="rect">
            <a:avLst/>
          </a:prstGeom>
          <a:noFill/>
          <a:ln w="9525">
            <a:noFill/>
          </a:ln>
        </p:spPr>
      </p:pic>
      <p:sp>
        <p:nvSpPr>
          <p:cNvPr id="33796" name="Rectangle 7"/>
          <p:cNvSpPr/>
          <p:nvPr/>
        </p:nvSpPr>
        <p:spPr>
          <a:xfrm>
            <a:off x="4419600" y="6177281"/>
            <a:ext cx="3674745" cy="398780"/>
          </a:xfrm>
          <a:prstGeom prst="rect">
            <a:avLst/>
          </a:prstGeom>
          <a:noFill/>
          <a:ln w="9525">
            <a:noFill/>
          </a:ln>
        </p:spPr>
        <p:txBody>
          <a:bodyPr wrap="none" anchor="ctr" anchorCtr="0">
            <a:spAutoFit/>
          </a:bodyPr>
          <a:lstStyle/>
          <a:p>
            <a:r>
              <a:rPr lang="en-US" altLang="zh-CN" sz="2000" b="1" dirty="0">
                <a:latin typeface="Arial" panose="020B0604020202020204" pitchFamily="34" charset="0"/>
              </a:rPr>
              <a:t>(c) </a:t>
            </a:r>
            <a:r>
              <a:rPr lang="zh-CN" altLang="en-US" sz="2000" b="1" dirty="0">
                <a:latin typeface="Arial" panose="020B0604020202020204" pitchFamily="34" charset="0"/>
              </a:rPr>
              <a:t>更新传播失败时的执行过程</a:t>
            </a:r>
            <a:r>
              <a:rPr lang="zh-CN" altLang="en-US" dirty="0">
                <a:latin typeface="Arial" panose="020B0604020202020204" pitchFamily="34" charset="0"/>
              </a:rPr>
              <a:t> </a:t>
            </a:r>
            <a:endParaRPr lang="zh-CN" altLang="en-US" dirty="0">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2"/>
          <p:cNvSpPr>
            <a:spLocks noGrp="1"/>
          </p:cNvSpPr>
          <p:nvPr>
            <p:ph type="title"/>
          </p:nvPr>
        </p:nvSpPr>
        <p:spPr/>
        <p:txBody>
          <a:bodyPr vert="horz" wrap="square" lIns="91440" tIns="45720" rIns="91440" bIns="45720" anchor="ctr" anchorCtr="0"/>
          <a:lstStyle/>
          <a:p>
            <a:r>
              <a:rPr lang="en-US" altLang="zh-CN" b="1" dirty="0"/>
              <a:t>5.5.1  CAP</a:t>
            </a:r>
            <a:endParaRPr lang="zh-CN" altLang="en-US" b="1" dirty="0"/>
          </a:p>
        </p:txBody>
      </p:sp>
      <p:pic>
        <p:nvPicPr>
          <p:cNvPr id="35843" name="Picture 5"/>
          <p:cNvPicPr>
            <a:picLocks noChangeAspect="1"/>
          </p:cNvPicPr>
          <p:nvPr/>
        </p:nvPicPr>
        <p:blipFill>
          <a:blip r:embed="rId1"/>
          <a:stretch>
            <a:fillRect/>
          </a:stretch>
        </p:blipFill>
        <p:spPr>
          <a:xfrm>
            <a:off x="3255010" y="1406525"/>
            <a:ext cx="5708015" cy="4586605"/>
          </a:xfrm>
          <a:prstGeom prst="rect">
            <a:avLst/>
          </a:prstGeom>
          <a:noFill/>
          <a:ln w="9525">
            <a:noFill/>
          </a:ln>
        </p:spPr>
      </p:pic>
      <p:sp>
        <p:nvSpPr>
          <p:cNvPr id="35844" name="Rectangle 6"/>
          <p:cNvSpPr/>
          <p:nvPr/>
        </p:nvSpPr>
        <p:spPr>
          <a:xfrm>
            <a:off x="5051451" y="3313628"/>
            <a:ext cx="2286672" cy="1200329"/>
          </a:xfrm>
          <a:prstGeom prst="rect">
            <a:avLst/>
          </a:prstGeom>
          <a:noFill/>
          <a:ln w="9525">
            <a:noFill/>
          </a:ln>
        </p:spPr>
        <p:txBody>
          <a:bodyPr wrap="square" anchor="ctr" anchorCtr="0">
            <a:spAutoFit/>
          </a:bodyPr>
          <a:lstStyle/>
          <a:p>
            <a:r>
              <a:rPr lang="zh-CN" altLang="en-US" sz="2400" dirty="0">
                <a:latin typeface="Arial" panose="020B0604020202020204" pitchFamily="34" charset="0"/>
              </a:rPr>
              <a:t>不同产品在</a:t>
            </a:r>
            <a:r>
              <a:rPr lang="en-US" altLang="zh-CN" sz="2400" dirty="0">
                <a:latin typeface="Arial" panose="020B0604020202020204" pitchFamily="34" charset="0"/>
              </a:rPr>
              <a:t>CAP</a:t>
            </a:r>
            <a:r>
              <a:rPr lang="zh-CN" altLang="en-US" sz="2400" dirty="0">
                <a:latin typeface="Arial" panose="020B0604020202020204" pitchFamily="34" charset="0"/>
              </a:rPr>
              <a:t>理论下的不同设计原则 </a:t>
            </a:r>
            <a:endParaRPr lang="zh-CN" altLang="en-US" sz="2400" dirty="0">
              <a:latin typeface="Arial" panose="020B0604020202020204" pitchFamily="34" charset="0"/>
            </a:endParaRPr>
          </a:p>
        </p:txBody>
      </p:sp>
      <p:sp>
        <p:nvSpPr>
          <p:cNvPr id="3" name="文本框 2"/>
          <p:cNvSpPr txBox="1"/>
          <p:nvPr/>
        </p:nvSpPr>
        <p:spPr>
          <a:xfrm>
            <a:off x="1320216" y="2366694"/>
            <a:ext cx="1892319" cy="1327966"/>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50000"/>
              </a:lnSpc>
            </a:pPr>
            <a:r>
              <a:rPr lang="zh-CN" altLang="en-US" sz="2400" dirty="0">
                <a:latin typeface="Arial" panose="020B0604020202020204" pitchFamily="34" charset="0"/>
              </a:rPr>
              <a:t>非分布式，</a:t>
            </a:r>
            <a:endParaRPr lang="en-US" altLang="zh-CN" sz="2400" dirty="0">
              <a:latin typeface="Arial" panose="020B0604020202020204" pitchFamily="34" charset="0"/>
            </a:endParaRPr>
          </a:p>
          <a:p>
            <a:pPr>
              <a:lnSpc>
                <a:spcPct val="150000"/>
              </a:lnSpc>
            </a:pPr>
            <a:r>
              <a:rPr lang="zh-CN" altLang="zh-CN" sz="2400" dirty="0">
                <a:latin typeface="Arial" panose="020B0604020202020204" pitchFamily="34" charset="0"/>
              </a:rPr>
              <a:t>可扩展性</a:t>
            </a:r>
            <a:r>
              <a:rPr lang="zh-CN" altLang="en-US" sz="2400" dirty="0">
                <a:latin typeface="Arial" panose="020B0604020202020204" pitchFamily="34" charset="0"/>
              </a:rPr>
              <a:t>差</a:t>
            </a:r>
            <a:endParaRPr lang="en-US" altLang="zh-CN" sz="2400" dirty="0">
              <a:latin typeface="Arial" panose="020B0604020202020204" pitchFamily="34" charset="0"/>
            </a:endParaRPr>
          </a:p>
        </p:txBody>
      </p:sp>
      <p:sp>
        <p:nvSpPr>
          <p:cNvPr id="5" name="文本框 4"/>
          <p:cNvSpPr txBox="1"/>
          <p:nvPr/>
        </p:nvSpPr>
        <p:spPr>
          <a:xfrm>
            <a:off x="4657049" y="6031210"/>
            <a:ext cx="2990133" cy="510778"/>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en-US" sz="2400" dirty="0">
                <a:latin typeface="Arial" panose="020B0604020202020204" pitchFamily="34" charset="0"/>
              </a:rPr>
              <a:t>为了一致，耐心等</a:t>
            </a:r>
            <a:endParaRPr lang="zh-CN" altLang="en-US" sz="2400" dirty="0"/>
          </a:p>
        </p:txBody>
      </p:sp>
      <p:sp>
        <p:nvSpPr>
          <p:cNvPr id="7" name="文本框 6"/>
          <p:cNvSpPr txBox="1"/>
          <p:nvPr/>
        </p:nvSpPr>
        <p:spPr>
          <a:xfrm>
            <a:off x="9355495" y="2538407"/>
            <a:ext cx="1645297" cy="919401"/>
          </a:xfrm>
          <a:prstGeom prst="round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zh-CN" altLang="zh-CN" sz="2400" dirty="0">
                <a:latin typeface="Arial" panose="020B0604020202020204" pitchFamily="34" charset="0"/>
              </a:rPr>
              <a:t>允许数据</a:t>
            </a:r>
            <a:endParaRPr lang="en-US" altLang="zh-CN" sz="2400" dirty="0">
              <a:latin typeface="Arial" panose="020B0604020202020204" pitchFamily="34" charset="0"/>
            </a:endParaRPr>
          </a:p>
          <a:p>
            <a:pPr algn="ctr"/>
            <a:r>
              <a:rPr lang="zh-CN" altLang="zh-CN" sz="2400" dirty="0">
                <a:latin typeface="Arial" panose="020B0604020202020204" pitchFamily="34" charset="0"/>
              </a:rPr>
              <a:t>不一致</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7" grpId="0" animBg="1"/>
      <p:bldP spid="7" grpId="1" animBg="1"/>
      <p:bldP spid="5" grpId="0" animBg="1"/>
      <p:bldP spid="5"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2"/>
          <p:cNvSpPr>
            <a:spLocks noGrp="1"/>
          </p:cNvSpPr>
          <p:nvPr>
            <p:ph type="title"/>
          </p:nvPr>
        </p:nvSpPr>
        <p:spPr/>
        <p:txBody>
          <a:bodyPr vert="horz" wrap="square" lIns="91440" tIns="45720" rIns="91440" bIns="45720" anchor="ctr" anchorCtr="0"/>
          <a:lstStyle/>
          <a:p>
            <a:r>
              <a:rPr lang="en-US" altLang="zh-CN" b="1" dirty="0"/>
              <a:t>5.5.2  BASE</a:t>
            </a:r>
            <a:endParaRPr lang="zh-CN" altLang="en-US" b="1" dirty="0"/>
          </a:p>
        </p:txBody>
      </p:sp>
      <p:graphicFrame>
        <p:nvGraphicFramePr>
          <p:cNvPr id="4" name="表格 3"/>
          <p:cNvGraphicFramePr>
            <a:graphicFrameLocks noGrp="1"/>
          </p:cNvGraphicFramePr>
          <p:nvPr>
            <p:custDataLst>
              <p:tags r:id="rId1"/>
            </p:custDataLst>
          </p:nvPr>
        </p:nvGraphicFramePr>
        <p:xfrm>
          <a:off x="3941354" y="1962539"/>
          <a:ext cx="7601340" cy="3932212"/>
        </p:xfrm>
        <a:graphic>
          <a:graphicData uri="http://schemas.openxmlformats.org/drawingml/2006/table">
            <a:tbl>
              <a:tblPr/>
              <a:tblGrid>
                <a:gridCol w="4077478"/>
              </a:tblGrid>
              <a:tr h="295275">
                <a:tc>
                  <a:txBody>
                    <a:bodyPr/>
                    <a:lstStyle/>
                    <a:p>
                      <a:pPr algn="ctr" fontAlgn="t"/>
                      <a:r>
                        <a:rPr lang="en-US" sz="2800" dirty="0">
                          <a:solidFill>
                            <a:srgbClr val="FFFFFF"/>
                          </a:solidFill>
                        </a:rPr>
                        <a:t>BASE</a:t>
                      </a:r>
                      <a:endParaRPr lang="en-US" sz="2800" dirty="0">
                        <a:solidFill>
                          <a:srgbClr val="FFFFFF"/>
                        </a:solidFill>
                      </a:endParaRPr>
                    </a:p>
                  </a:txBody>
                  <a:tcPr marL="25086" marR="25086" marT="25086" marB="25086"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r>
              <a:tr h="361950">
                <a:tc>
                  <a:txBody>
                    <a:bodyPr/>
                    <a:lstStyle/>
                    <a:p>
                      <a:pPr algn="ctr" fontAlgn="t"/>
                      <a:r>
                        <a:rPr lang="zh-CN" altLang="en-US" sz="2800" dirty="0"/>
                        <a:t>基本可用</a:t>
                      </a:r>
                      <a:endParaRPr lang="en-US" altLang="zh-CN" sz="2800" dirty="0"/>
                    </a:p>
                    <a:p>
                      <a:pPr algn="ctr" fontAlgn="t"/>
                      <a:r>
                        <a:rPr lang="en-US" altLang="zh-CN" sz="2800" dirty="0"/>
                        <a:t>(</a:t>
                      </a:r>
                      <a:r>
                        <a:rPr lang="en-US" sz="2800" b="1" u="none" dirty="0">
                          <a:solidFill>
                            <a:srgbClr val="FF0000"/>
                          </a:solidFill>
                        </a:rPr>
                        <a:t>B</a:t>
                      </a:r>
                      <a:r>
                        <a:rPr lang="en-US" sz="2800" dirty="0"/>
                        <a:t>asically </a:t>
                      </a:r>
                      <a:r>
                        <a:rPr lang="en-US" sz="2800" b="1" dirty="0">
                          <a:solidFill>
                            <a:srgbClr val="FF0000"/>
                          </a:solidFill>
                        </a:rPr>
                        <a:t>A</a:t>
                      </a:r>
                      <a:r>
                        <a:rPr lang="en-US" sz="2800" dirty="0"/>
                        <a:t>vailable)</a:t>
                      </a:r>
                      <a:endParaRPr lang="en-US" sz="2800" dirty="0"/>
                    </a:p>
                  </a:txBody>
                  <a:tcPr marL="41811" marR="41811" marT="58535" marB="58535"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r h="469523">
                <a:tc>
                  <a:txBody>
                    <a:bodyPr/>
                    <a:lstStyle/>
                    <a:p>
                      <a:pPr algn="ctr" fontAlgn="t"/>
                      <a:r>
                        <a:rPr lang="zh-CN" altLang="en-US" sz="2800" dirty="0"/>
                        <a:t>软状态</a:t>
                      </a:r>
                      <a:r>
                        <a:rPr lang="en-US" altLang="zh-CN" sz="2800" dirty="0"/>
                        <a:t>/</a:t>
                      </a:r>
                      <a:r>
                        <a:rPr lang="zh-CN" altLang="en-US" sz="2800" dirty="0"/>
                        <a:t>柔性事务</a:t>
                      </a:r>
                      <a:endParaRPr lang="en-US" altLang="zh-CN" sz="2800" dirty="0"/>
                    </a:p>
                    <a:p>
                      <a:pPr algn="ctr" fontAlgn="t"/>
                      <a:r>
                        <a:rPr lang="en-US" altLang="zh-CN" sz="2800" dirty="0"/>
                        <a:t>(</a:t>
                      </a:r>
                      <a:r>
                        <a:rPr lang="en-US" sz="2800" b="1" dirty="0">
                          <a:solidFill>
                            <a:srgbClr val="FF0000"/>
                          </a:solidFill>
                        </a:rPr>
                        <a:t>S</a:t>
                      </a:r>
                      <a:r>
                        <a:rPr lang="en-US" sz="2800" dirty="0"/>
                        <a:t>oft state)</a:t>
                      </a:r>
                      <a:endParaRPr lang="en-US" sz="2800" dirty="0"/>
                    </a:p>
                  </a:txBody>
                  <a:tcPr marL="41811" marR="41811" marT="58535" marB="58535"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r>
              <a:tr h="970280">
                <a:tc>
                  <a:txBody>
                    <a:bodyPr/>
                    <a:lstStyle/>
                    <a:p>
                      <a:pPr algn="ctr" fontAlgn="t"/>
                      <a:r>
                        <a:rPr lang="zh-CN" altLang="en-US" sz="2800" dirty="0"/>
                        <a:t>最终一致性</a:t>
                      </a:r>
                      <a:endParaRPr lang="en-US" altLang="zh-CN" sz="2800" dirty="0"/>
                    </a:p>
                    <a:p>
                      <a:pPr algn="ctr" fontAlgn="t"/>
                      <a:r>
                        <a:rPr lang="zh-CN" altLang="en-US" sz="2800" dirty="0"/>
                        <a:t> </a:t>
                      </a:r>
                      <a:r>
                        <a:rPr lang="en-US" altLang="zh-CN" sz="2800" dirty="0"/>
                        <a:t>(</a:t>
                      </a:r>
                      <a:r>
                        <a:rPr lang="en-US" sz="2800" b="1" dirty="0">
                          <a:solidFill>
                            <a:srgbClr val="FF0000"/>
                          </a:solidFill>
                        </a:rPr>
                        <a:t>E</a:t>
                      </a:r>
                      <a:r>
                        <a:rPr lang="en-US" sz="2800" dirty="0"/>
                        <a:t>ventual consistency)</a:t>
                      </a:r>
                      <a:endParaRPr lang="en-US" sz="2800" dirty="0"/>
                    </a:p>
                  </a:txBody>
                  <a:tcPr marL="41811" marR="41811" marT="58535" marB="58535"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bl>
          </a:graphicData>
        </a:graphic>
      </p:graphicFrame>
      <p:sp>
        <p:nvSpPr>
          <p:cNvPr id="3" name="文本框 2"/>
          <p:cNvSpPr txBox="1"/>
          <p:nvPr/>
        </p:nvSpPr>
        <p:spPr>
          <a:xfrm>
            <a:off x="8311515" y="1628775"/>
            <a:ext cx="3790315" cy="1123984"/>
          </a:xfrm>
          <a:prstGeom prst="wedgeRoundRectCallout">
            <a:avLst>
              <a:gd name="adj1" fmla="val -76034"/>
              <a:gd name="adj2" fmla="val 41561"/>
              <a:gd name="adj3" fmla="val 16667"/>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342900" indent="-342900">
              <a:lnSpc>
                <a:spcPct val="150000"/>
              </a:lnSpc>
            </a:pPr>
            <a:r>
              <a:rPr lang="zh-CN" altLang="zh-CN" sz="2000" dirty="0">
                <a:latin typeface="Arial" panose="020B0604020202020204" pitchFamily="34" charset="0"/>
              </a:rPr>
              <a:t>分布式系统的一部分不可用时，其他部分仍然可用</a:t>
            </a:r>
            <a:endParaRPr lang="en-US" altLang="zh-CN" sz="2000" dirty="0">
              <a:latin typeface="Arial" panose="020B0604020202020204" pitchFamily="34" charset="0"/>
            </a:endParaRPr>
          </a:p>
        </p:txBody>
      </p:sp>
      <p:sp>
        <p:nvSpPr>
          <p:cNvPr id="6" name="文本框 5"/>
          <p:cNvSpPr txBox="1"/>
          <p:nvPr/>
        </p:nvSpPr>
        <p:spPr>
          <a:xfrm>
            <a:off x="8311515" y="2808605"/>
            <a:ext cx="3790315" cy="1328576"/>
          </a:xfrm>
          <a:prstGeom prst="wedgeRoundRectCallout">
            <a:avLst>
              <a:gd name="adj1" fmla="val -74946"/>
              <a:gd name="adj2" fmla="val 8269"/>
              <a:gd name="adj3" fmla="val 16667"/>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zh-CN" altLang="zh-CN" sz="1800" dirty="0">
                <a:latin typeface="Arial" panose="020B0604020202020204" pitchFamily="34" charset="0"/>
              </a:rPr>
              <a:t>“硬状态”</a:t>
            </a:r>
            <a:r>
              <a:rPr lang="zh-CN" altLang="en-US" sz="1800" dirty="0">
                <a:latin typeface="Arial" panose="020B0604020202020204" pitchFamily="34" charset="0"/>
              </a:rPr>
              <a:t>：</a:t>
            </a:r>
            <a:endParaRPr lang="en-US" altLang="zh-CN" sz="1800" dirty="0">
              <a:latin typeface="Arial" panose="020B0604020202020204" pitchFamily="34" charset="0"/>
            </a:endParaRPr>
          </a:p>
          <a:p>
            <a:r>
              <a:rPr lang="zh-CN" altLang="zh-CN" dirty="0">
                <a:latin typeface="Arial" panose="020B0604020202020204" pitchFamily="34" charset="0"/>
              </a:rPr>
              <a:t>数据是</a:t>
            </a:r>
            <a:r>
              <a:rPr lang="zh-CN" altLang="en-US" dirty="0">
                <a:latin typeface="Arial" panose="020B0604020202020204" pitchFamily="34" charset="0"/>
              </a:rPr>
              <a:t>正确的，</a:t>
            </a:r>
            <a:r>
              <a:rPr lang="zh-CN" altLang="zh-CN" dirty="0">
                <a:latin typeface="Arial" panose="020B0604020202020204" pitchFamily="34" charset="0"/>
              </a:rPr>
              <a:t>可</a:t>
            </a:r>
            <a:r>
              <a:rPr lang="zh-CN" altLang="zh-CN" sz="1800" dirty="0">
                <a:latin typeface="Arial" panose="020B0604020202020204" pitchFamily="34" charset="0"/>
              </a:rPr>
              <a:t>保证一致性</a:t>
            </a:r>
            <a:endParaRPr lang="en-US" altLang="zh-CN" sz="1800" dirty="0">
              <a:latin typeface="Arial" panose="020B0604020202020204" pitchFamily="34" charset="0"/>
            </a:endParaRPr>
          </a:p>
          <a:p>
            <a:r>
              <a:rPr lang="zh-CN" altLang="zh-CN" sz="1800" dirty="0">
                <a:latin typeface="Arial" panose="020B0604020202020204" pitchFamily="34" charset="0"/>
              </a:rPr>
              <a:t>“软状态” </a:t>
            </a:r>
            <a:r>
              <a:rPr lang="zh-CN" altLang="en-US" sz="1800" dirty="0">
                <a:latin typeface="Arial" panose="020B0604020202020204" pitchFamily="34" charset="0"/>
              </a:rPr>
              <a:t>：</a:t>
            </a:r>
            <a:endParaRPr lang="en-US" altLang="zh-CN" sz="1800" dirty="0">
              <a:latin typeface="Arial" panose="020B0604020202020204" pitchFamily="34" charset="0"/>
            </a:endParaRPr>
          </a:p>
          <a:p>
            <a:r>
              <a:rPr lang="zh-CN" altLang="zh-CN" sz="1800" dirty="0">
                <a:latin typeface="Arial" panose="020B0604020202020204" pitchFamily="34" charset="0"/>
              </a:rPr>
              <a:t>可一段时间不同步，</a:t>
            </a:r>
            <a:r>
              <a:rPr lang="zh-CN" altLang="en-US" sz="1800" dirty="0">
                <a:latin typeface="Arial" panose="020B0604020202020204" pitchFamily="34" charset="0"/>
              </a:rPr>
              <a:t>具有</a:t>
            </a:r>
            <a:r>
              <a:rPr lang="zh-CN" altLang="zh-CN" sz="1800" dirty="0">
                <a:latin typeface="Arial" panose="020B0604020202020204" pitchFamily="34" charset="0"/>
              </a:rPr>
              <a:t>滞后性</a:t>
            </a:r>
            <a:endParaRPr lang="zh-CN" altLang="en-US" dirty="0"/>
          </a:p>
        </p:txBody>
      </p:sp>
      <p:sp>
        <p:nvSpPr>
          <p:cNvPr id="8" name="文本框 7"/>
          <p:cNvSpPr txBox="1"/>
          <p:nvPr/>
        </p:nvSpPr>
        <p:spPr>
          <a:xfrm>
            <a:off x="8311243" y="4354027"/>
            <a:ext cx="3790561" cy="1476743"/>
          </a:xfrm>
          <a:prstGeom prst="wedgeRoundRectCallout">
            <a:avLst>
              <a:gd name="adj1" fmla="val -78404"/>
              <a:gd name="adj2" fmla="val -27611"/>
              <a:gd name="adj3" fmla="val 16667"/>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R="0" defTabSz="914400">
              <a:lnSpc>
                <a:spcPct val="150000"/>
              </a:lnSpc>
              <a:buClrTx/>
              <a:buSzTx/>
              <a:buFontTx/>
              <a:buNone/>
              <a:defRPr/>
            </a:pPr>
            <a:r>
              <a:rPr kumimoji="0" lang="zh-CN" altLang="zh-CN" kern="1200" cap="none" spc="0" normalizeH="0" baseline="0" noProof="0" dirty="0">
                <a:latin typeface="Arial" panose="020B0604020202020204" pitchFamily="34" charset="0"/>
                <a:ea typeface="宋体" panose="02010600030101010101" pitchFamily="2" charset="-122"/>
                <a:cs typeface="+mn-cs"/>
              </a:rPr>
              <a:t>弱一致性的一种特例，</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R="0" defTabSz="914400">
              <a:lnSpc>
                <a:spcPct val="150000"/>
              </a:lnSpc>
              <a:buClrTx/>
              <a:buSzTx/>
              <a:buFontTx/>
              <a:buNone/>
              <a:defRPr/>
            </a:pPr>
            <a:r>
              <a:rPr kumimoji="0" lang="zh-CN" altLang="zh-CN" kern="1200" cap="none" spc="0" normalizeH="0" baseline="0" noProof="0" dirty="0">
                <a:latin typeface="Arial" panose="020B0604020202020204" pitchFamily="34" charset="0"/>
                <a:ea typeface="宋体" panose="02010600030101010101" pitchFamily="2" charset="-122"/>
                <a:cs typeface="+mn-cs"/>
              </a:rPr>
              <a:t>可暂时读不到更新后的数据，</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a:p>
            <a:pPr marR="0" defTabSz="914400">
              <a:lnSpc>
                <a:spcPct val="150000"/>
              </a:lnSpc>
              <a:buClrTx/>
              <a:buSzTx/>
              <a:buFontTx/>
              <a:buNone/>
              <a:defRPr/>
            </a:pPr>
            <a:r>
              <a:rPr kumimoji="0" lang="zh-CN" altLang="zh-CN" kern="1200" cap="none" spc="0" normalizeH="0" baseline="0" noProof="0" dirty="0">
                <a:latin typeface="Arial" panose="020B0604020202020204" pitchFamily="34" charset="0"/>
                <a:ea typeface="宋体" panose="02010600030101010101" pitchFamily="2" charset="-122"/>
                <a:cs typeface="+mn-cs"/>
              </a:rPr>
              <a:t>但</a:t>
            </a:r>
            <a:r>
              <a:rPr kumimoji="0" lang="zh-CN" altLang="en-US" kern="1200" cap="none" spc="0" normalizeH="0" baseline="0" noProof="0" dirty="0">
                <a:latin typeface="Arial" panose="020B0604020202020204" pitchFamily="34" charset="0"/>
                <a:ea typeface="宋体" panose="02010600030101010101" pitchFamily="2" charset="-122"/>
                <a:cs typeface="+mn-cs"/>
              </a:rPr>
              <a:t>过后</a:t>
            </a:r>
            <a:r>
              <a:rPr kumimoji="0" lang="zh-CN" altLang="zh-CN" kern="1200" cap="none" spc="0" normalizeH="0" baseline="0" noProof="0" dirty="0">
                <a:latin typeface="Arial" panose="020B0604020202020204" pitchFamily="34" charset="0"/>
                <a:ea typeface="宋体" panose="02010600030101010101" pitchFamily="2" charset="-122"/>
                <a:cs typeface="+mn-cs"/>
              </a:rPr>
              <a:t>必须最终读到更新后的数据。</a:t>
            </a:r>
            <a:endParaRPr kumimoji="0" lang="en-US" altLang="zh-CN" kern="1200" cap="none" spc="0" normalizeH="0" baseline="0" noProof="0" dirty="0">
              <a:latin typeface="Arial" panose="020B0604020202020204" pitchFamily="34" charset="0"/>
              <a:ea typeface="宋体" panose="02010600030101010101" pitchFamily="2" charset="-122"/>
              <a:cs typeface="+mn-cs"/>
            </a:endParaRPr>
          </a:p>
        </p:txBody>
      </p:sp>
      <p:graphicFrame>
        <p:nvGraphicFramePr>
          <p:cNvPr id="5" name="表格 4"/>
          <p:cNvGraphicFramePr>
            <a:graphicFrameLocks noGrp="1"/>
          </p:cNvGraphicFramePr>
          <p:nvPr/>
        </p:nvGraphicFramePr>
        <p:xfrm>
          <a:off x="292100" y="1962785"/>
          <a:ext cx="3523615" cy="3388995"/>
        </p:xfrm>
        <a:graphic>
          <a:graphicData uri="http://schemas.openxmlformats.org/drawingml/2006/table">
            <a:tbl>
              <a:tblPr/>
              <a:tblGrid>
                <a:gridCol w="3523615"/>
              </a:tblGrid>
              <a:tr h="485140">
                <a:tc>
                  <a:txBody>
                    <a:bodyPr/>
                    <a:lstStyle/>
                    <a:p>
                      <a:pPr algn="ctr" fontAlgn="t"/>
                      <a:r>
                        <a:rPr lang="en-US" sz="2800" dirty="0">
                          <a:solidFill>
                            <a:srgbClr val="FFFFFF"/>
                          </a:solidFill>
                        </a:rPr>
                        <a:t>ACID</a:t>
                      </a:r>
                      <a:endParaRPr lang="en-US" sz="2800" dirty="0">
                        <a:solidFill>
                          <a:srgbClr val="FFFFFF"/>
                        </a:solidFill>
                      </a:endParaRPr>
                    </a:p>
                  </a:txBody>
                  <a:tcPr marL="25086" marR="25086" marT="25086" marB="25086" anchor="ctr">
                    <a:lnL w="9525" cap="flat" cmpd="sng" algn="ctr">
                      <a:solidFill>
                        <a:srgbClr val="555555"/>
                      </a:solidFill>
                      <a:prstDash val="solid"/>
                      <a:round/>
                      <a:headEnd type="none" w="med" len="med"/>
                      <a:tailEnd type="none" w="med" len="med"/>
                    </a:lnL>
                    <a:lnR w="9525" cap="flat" cmpd="sng" algn="ctr">
                      <a:solidFill>
                        <a:srgbClr val="555555"/>
                      </a:solidFill>
                      <a:prstDash val="solid"/>
                      <a:round/>
                      <a:headEnd type="none" w="med" len="med"/>
                      <a:tailEnd type="none" w="med" len="med"/>
                    </a:lnR>
                    <a:lnT w="9525" cap="flat" cmpd="sng" algn="ctr">
                      <a:solidFill>
                        <a:srgbClr val="555555"/>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555555"/>
                    </a:solidFill>
                  </a:tcPr>
                </a:tc>
              </a:tr>
              <a:tr h="708025">
                <a:tc>
                  <a:txBody>
                    <a:bodyPr/>
                    <a:lstStyle/>
                    <a:p>
                      <a:pPr algn="ctr" fontAlgn="t"/>
                      <a:r>
                        <a:rPr lang="zh-CN" altLang="en-US" sz="2800" dirty="0"/>
                        <a:t>原子性</a:t>
                      </a:r>
                      <a:r>
                        <a:rPr lang="en-US" altLang="zh-CN" sz="2800" dirty="0"/>
                        <a:t>(</a:t>
                      </a:r>
                      <a:r>
                        <a:rPr lang="en-US" sz="2800" b="1" dirty="0"/>
                        <a:t>A</a:t>
                      </a:r>
                      <a:r>
                        <a:rPr lang="en-US" sz="2800" dirty="0"/>
                        <a:t>tomicity)</a:t>
                      </a:r>
                      <a:endParaRPr lang="en-US" sz="2800" dirty="0"/>
                    </a:p>
                  </a:txBody>
                  <a:tcPr marL="41811" marR="41811" marT="58535" marB="58535"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r h="707390">
                <a:tc>
                  <a:txBody>
                    <a:bodyPr/>
                    <a:lstStyle/>
                    <a:p>
                      <a:pPr algn="ctr" fontAlgn="t"/>
                      <a:r>
                        <a:rPr lang="zh-CN" altLang="en-US" sz="2800" dirty="0"/>
                        <a:t>一致性</a:t>
                      </a:r>
                      <a:r>
                        <a:rPr lang="en-US" altLang="zh-CN" sz="2800" dirty="0"/>
                        <a:t>(</a:t>
                      </a:r>
                      <a:r>
                        <a:rPr lang="en-US" sz="2800" b="1" dirty="0"/>
                        <a:t>C</a:t>
                      </a:r>
                      <a:r>
                        <a:rPr lang="en-US" sz="2800" dirty="0"/>
                        <a:t>onsistency)</a:t>
                      </a:r>
                      <a:endParaRPr lang="en-US" sz="2800" dirty="0"/>
                    </a:p>
                  </a:txBody>
                  <a:tcPr marL="41811" marR="41811" marT="58535" marB="58535"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r>
              <a:tr h="780415">
                <a:tc>
                  <a:txBody>
                    <a:bodyPr/>
                    <a:lstStyle/>
                    <a:p>
                      <a:pPr algn="ctr" fontAlgn="t"/>
                      <a:r>
                        <a:rPr lang="zh-CN" altLang="en-US" sz="2800"/>
                        <a:t>隔离性</a:t>
                      </a:r>
                      <a:r>
                        <a:rPr lang="en-US" altLang="zh-CN" sz="2800"/>
                        <a:t>(</a:t>
                      </a:r>
                      <a:r>
                        <a:rPr lang="en-US" sz="2800" b="1"/>
                        <a:t>I</a:t>
                      </a:r>
                      <a:r>
                        <a:rPr lang="en-US" sz="2800"/>
                        <a:t>solation)</a:t>
                      </a:r>
                      <a:endParaRPr lang="en-US" sz="2800"/>
                    </a:p>
                  </a:txBody>
                  <a:tcPr marL="41811" marR="41811" marT="58535" marB="58535"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FFFFF"/>
                    </a:solidFill>
                  </a:tcPr>
                </a:tc>
              </a:tr>
              <a:tr h="708025">
                <a:tc>
                  <a:txBody>
                    <a:bodyPr/>
                    <a:lstStyle/>
                    <a:p>
                      <a:pPr algn="ctr" fontAlgn="t"/>
                      <a:r>
                        <a:rPr lang="zh-CN" altLang="en-US" sz="2800" dirty="0"/>
                        <a:t>持久性 </a:t>
                      </a:r>
                      <a:r>
                        <a:rPr lang="en-US" altLang="zh-CN" sz="2800" dirty="0"/>
                        <a:t>(</a:t>
                      </a:r>
                      <a:r>
                        <a:rPr lang="en-US" sz="2800" b="1" dirty="0"/>
                        <a:t>D</a:t>
                      </a:r>
                      <a:r>
                        <a:rPr lang="en-US" sz="2800" dirty="0"/>
                        <a:t>urable)</a:t>
                      </a:r>
                      <a:endParaRPr lang="en-US" sz="2800" dirty="0"/>
                    </a:p>
                  </a:txBody>
                  <a:tcPr marL="41811" marR="41811" marT="58535" marB="58535" anchor="ctr">
                    <a:lnL w="9525" cap="flat" cmpd="sng" algn="ctr">
                      <a:solidFill>
                        <a:srgbClr val="D4D4D4"/>
                      </a:solidFill>
                      <a:prstDash val="solid"/>
                      <a:round/>
                      <a:headEnd type="none" w="med" len="med"/>
                      <a:tailEnd type="none" w="med" len="med"/>
                    </a:lnL>
                    <a:lnR w="9525" cap="flat" cmpd="sng" algn="ctr">
                      <a:solidFill>
                        <a:srgbClr val="D4D4D4"/>
                      </a:solidFill>
                      <a:prstDash val="solid"/>
                      <a:round/>
                      <a:headEnd type="none" w="med" len="med"/>
                      <a:tailEnd type="none" w="med" len="med"/>
                    </a:lnR>
                    <a:lnT w="9525" cap="flat" cmpd="sng" algn="ctr">
                      <a:solidFill>
                        <a:srgbClr val="D4D4D4"/>
                      </a:solidFill>
                      <a:prstDash val="solid"/>
                      <a:round/>
                      <a:headEnd type="none" w="med" len="med"/>
                      <a:tailEnd type="none" w="med" len="med"/>
                    </a:lnT>
                    <a:lnB w="9525" cap="flat" cmpd="sng" algn="ctr">
                      <a:solidFill>
                        <a:srgbClr val="D4D4D4"/>
                      </a:solidFill>
                      <a:prstDash val="solid"/>
                      <a:round/>
                      <a:headEnd type="none" w="med" len="med"/>
                      <a:tailEnd type="none" w="med" len="med"/>
                    </a:lnB>
                    <a:solidFill>
                      <a:srgbClr val="F6F4F0"/>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6" grpId="0" bldLvl="0" animBg="1"/>
      <p:bldP spid="6" grpId="1" animBg="1"/>
      <p:bldP spid="8" grpId="0" bldLvl="0" animBg="1"/>
      <p:bldP spid="8" grpId="1"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2"/>
          <p:cNvSpPr>
            <a:spLocks noGrp="1"/>
          </p:cNvSpPr>
          <p:nvPr>
            <p:ph type="title"/>
          </p:nvPr>
        </p:nvSpPr>
        <p:spPr/>
        <p:txBody>
          <a:bodyPr vert="horz" wrap="square" lIns="91440" tIns="45720" rIns="91440" bIns="45720" anchor="ctr" anchorCtr="0"/>
          <a:lstStyle/>
          <a:p>
            <a:r>
              <a:rPr lang="en-US" altLang="zh-CN" b="1" dirty="0"/>
              <a:t>5.5.3  </a:t>
            </a:r>
            <a:r>
              <a:rPr lang="zh-CN" altLang="en-US" b="1" dirty="0"/>
              <a:t>最终一致性</a:t>
            </a:r>
            <a:endParaRPr lang="zh-CN" altLang="en-US" b="1" dirty="0"/>
          </a:p>
        </p:txBody>
      </p:sp>
      <p:sp>
        <p:nvSpPr>
          <p:cNvPr id="40963" name="文本框 4"/>
          <p:cNvSpPr txBox="1"/>
          <p:nvPr/>
        </p:nvSpPr>
        <p:spPr>
          <a:xfrm>
            <a:off x="890270" y="1320800"/>
            <a:ext cx="10055860" cy="5111115"/>
          </a:xfrm>
          <a:prstGeom prst="rect">
            <a:avLst/>
          </a:prstGeom>
          <a:noFill/>
          <a:ln w="9525">
            <a:noFill/>
          </a:ln>
        </p:spPr>
        <p:txBody>
          <a:bodyPr wrap="square">
            <a:noAutofit/>
          </a:bodyPr>
          <a:lstStyle/>
          <a:p>
            <a:pPr>
              <a:lnSpc>
                <a:spcPct val="150000"/>
              </a:lnSpc>
            </a:pPr>
            <a:r>
              <a:rPr lang="zh-CN" altLang="zh-CN" sz="2400" dirty="0">
                <a:latin typeface="Arial" panose="020B0604020202020204" pitchFamily="34" charset="0"/>
              </a:rPr>
              <a:t>根据更新数据后各进程访问到数据的时间和方式的不同，又可以区分为：</a:t>
            </a:r>
            <a:endParaRPr lang="zh-CN" altLang="zh-CN" sz="2400" dirty="0">
              <a:latin typeface="Arial" panose="020B0604020202020204" pitchFamily="34" charset="0"/>
            </a:endParaRPr>
          </a:p>
          <a:p>
            <a:pPr>
              <a:lnSpc>
                <a:spcPct val="150000"/>
              </a:lnSpc>
              <a:buFont typeface="Wingdings" panose="05000000000000000000" pitchFamily="2" charset="2"/>
              <a:buChar char="l"/>
            </a:pPr>
            <a:r>
              <a:rPr lang="zh-CN" altLang="zh-CN" sz="2400" b="1" dirty="0">
                <a:latin typeface="Arial" panose="020B0604020202020204" pitchFamily="34" charset="0"/>
              </a:rPr>
              <a:t>因果一致性</a:t>
            </a:r>
            <a:r>
              <a:rPr lang="zh-CN" altLang="zh-CN" sz="2400" dirty="0">
                <a:latin typeface="Arial" panose="020B0604020202020204" pitchFamily="34" charset="0"/>
              </a:rPr>
              <a:t>：进程</a:t>
            </a:r>
            <a:r>
              <a:rPr lang="en-US" altLang="zh-CN" sz="2400" dirty="0">
                <a:latin typeface="Arial" panose="020B0604020202020204" pitchFamily="34" charset="0"/>
              </a:rPr>
              <a:t>A</a:t>
            </a:r>
            <a:r>
              <a:rPr lang="zh-CN" altLang="zh-CN" sz="2400" dirty="0">
                <a:latin typeface="Arial" panose="020B0604020202020204" pitchFamily="34" charset="0"/>
              </a:rPr>
              <a:t>通知进程</a:t>
            </a:r>
            <a:r>
              <a:rPr lang="en-US" altLang="zh-CN" sz="2400" dirty="0">
                <a:latin typeface="Arial" panose="020B0604020202020204" pitchFamily="34" charset="0"/>
              </a:rPr>
              <a:t>B</a:t>
            </a:r>
            <a:r>
              <a:rPr lang="zh-CN" altLang="zh-CN" sz="2400" dirty="0">
                <a:latin typeface="Arial" panose="020B0604020202020204" pitchFamily="34" charset="0"/>
              </a:rPr>
              <a:t>它已更新了一个数据项，则</a:t>
            </a:r>
            <a:r>
              <a:rPr lang="en-US" altLang="zh-CN" sz="2400" dirty="0">
                <a:latin typeface="Arial" panose="020B0604020202020204" pitchFamily="34" charset="0"/>
              </a:rPr>
              <a:t>B</a:t>
            </a:r>
            <a:r>
              <a:rPr lang="zh-CN" altLang="zh-CN" sz="2400" dirty="0">
                <a:latin typeface="Arial" panose="020B0604020202020204" pitchFamily="34" charset="0"/>
              </a:rPr>
              <a:t>的后续访问将获得</a:t>
            </a:r>
            <a:r>
              <a:rPr lang="en-US" altLang="zh-CN" sz="2400" dirty="0">
                <a:latin typeface="Arial" panose="020B0604020202020204" pitchFamily="34" charset="0"/>
              </a:rPr>
              <a:t>A</a:t>
            </a:r>
            <a:r>
              <a:rPr lang="zh-CN" altLang="zh-CN" sz="2400" dirty="0">
                <a:latin typeface="Arial" panose="020B0604020202020204" pitchFamily="34" charset="0"/>
              </a:rPr>
              <a:t>写入的最新值。</a:t>
            </a:r>
            <a:endParaRPr lang="zh-CN" altLang="zh-CN" sz="2400" dirty="0">
              <a:latin typeface="Arial" panose="020B0604020202020204" pitchFamily="34" charset="0"/>
            </a:endParaRPr>
          </a:p>
          <a:p>
            <a:pPr>
              <a:lnSpc>
                <a:spcPct val="150000"/>
              </a:lnSpc>
              <a:buFont typeface="Wingdings" panose="05000000000000000000" pitchFamily="2" charset="2"/>
              <a:buChar char="l"/>
            </a:pPr>
            <a:r>
              <a:rPr lang="zh-CN" altLang="zh-CN" sz="2400" b="1" dirty="0">
                <a:latin typeface="Arial" panose="020B0604020202020204" pitchFamily="34" charset="0"/>
              </a:rPr>
              <a:t>“读己之所写”一致性</a:t>
            </a:r>
            <a:r>
              <a:rPr lang="zh-CN" altLang="zh-CN" sz="2400" dirty="0">
                <a:latin typeface="Arial" panose="020B0604020202020204" pitchFamily="34" charset="0"/>
              </a:rPr>
              <a:t>：因果一致性特例：</a:t>
            </a:r>
            <a:r>
              <a:rPr lang="en-US" altLang="zh-CN" sz="2400" dirty="0">
                <a:latin typeface="Arial" panose="020B0604020202020204" pitchFamily="34" charset="0"/>
              </a:rPr>
              <a:t>B=A</a:t>
            </a:r>
            <a:endParaRPr lang="en-US" altLang="zh-CN" sz="2400" dirty="0">
              <a:latin typeface="Arial" panose="020B0604020202020204" pitchFamily="34" charset="0"/>
            </a:endParaRPr>
          </a:p>
          <a:p>
            <a:pPr>
              <a:lnSpc>
                <a:spcPct val="150000"/>
              </a:lnSpc>
              <a:buFont typeface="Wingdings" panose="05000000000000000000" pitchFamily="2" charset="2"/>
              <a:buChar char="l"/>
            </a:pPr>
            <a:r>
              <a:rPr lang="zh-CN" altLang="zh-CN" sz="2400" b="1" dirty="0">
                <a:latin typeface="Arial" panose="020B0604020202020204" pitchFamily="34" charset="0"/>
              </a:rPr>
              <a:t>单调读一致性</a:t>
            </a:r>
            <a:r>
              <a:rPr lang="zh-CN" altLang="zh-CN" sz="2400" dirty="0">
                <a:latin typeface="Arial" panose="020B0604020202020204" pitchFamily="34" charset="0"/>
              </a:rPr>
              <a:t>：过目不忘</a:t>
            </a:r>
            <a:endParaRPr lang="zh-CN" altLang="zh-CN" sz="2400" dirty="0">
              <a:latin typeface="Arial" panose="020B0604020202020204" pitchFamily="34" charset="0"/>
            </a:endParaRPr>
          </a:p>
          <a:p>
            <a:pPr>
              <a:lnSpc>
                <a:spcPct val="150000"/>
              </a:lnSpc>
              <a:buFont typeface="Wingdings" panose="05000000000000000000" pitchFamily="2" charset="2"/>
              <a:buChar char="l"/>
            </a:pPr>
            <a:r>
              <a:rPr lang="zh-CN" altLang="zh-CN" sz="2400" b="1" dirty="0">
                <a:latin typeface="Arial" panose="020B0604020202020204" pitchFamily="34" charset="0"/>
                <a:sym typeface="+mn-ea"/>
              </a:rPr>
              <a:t>单调写一致性</a:t>
            </a:r>
            <a:r>
              <a:rPr lang="zh-CN" altLang="zh-CN" sz="2400" dirty="0">
                <a:latin typeface="Arial" panose="020B0604020202020204" pitchFamily="34" charset="0"/>
                <a:sym typeface="+mn-ea"/>
              </a:rPr>
              <a:t>：循序渐进</a:t>
            </a:r>
            <a:endParaRPr lang="zh-CN" altLang="zh-CN" sz="2400" dirty="0">
              <a:latin typeface="Arial" panose="020B0604020202020204" pitchFamily="34" charset="0"/>
              <a:sym typeface="+mn-ea"/>
            </a:endParaRPr>
          </a:p>
          <a:p>
            <a:pPr>
              <a:lnSpc>
                <a:spcPct val="150000"/>
              </a:lnSpc>
              <a:buFont typeface="Wingdings" panose="05000000000000000000" pitchFamily="2" charset="2"/>
              <a:buChar char="l"/>
            </a:pPr>
            <a:r>
              <a:rPr lang="zh-CN" altLang="zh-CN" sz="2400" b="1" dirty="0">
                <a:latin typeface="Arial" panose="020B0604020202020204" pitchFamily="34" charset="0"/>
                <a:sym typeface="+mn-ea"/>
              </a:rPr>
              <a:t>会话一致性</a:t>
            </a:r>
            <a:r>
              <a:rPr lang="zh-CN" altLang="zh-CN" sz="2400" dirty="0">
                <a:latin typeface="Arial" panose="020B0604020202020204" pitchFamily="34" charset="0"/>
                <a:sym typeface="+mn-ea"/>
              </a:rPr>
              <a:t>：它把访问存储系统的进程放到会话（</a:t>
            </a:r>
            <a:r>
              <a:rPr lang="en-US" altLang="zh-CN" sz="2400" dirty="0">
                <a:latin typeface="Arial" panose="020B0604020202020204" pitchFamily="34" charset="0"/>
                <a:sym typeface="+mn-ea"/>
              </a:rPr>
              <a:t>session</a:t>
            </a:r>
            <a:r>
              <a:rPr lang="zh-CN" altLang="zh-CN" sz="2400" dirty="0">
                <a:latin typeface="Arial" panose="020B0604020202020204" pitchFamily="34" charset="0"/>
                <a:sym typeface="+mn-ea"/>
              </a:rPr>
              <a:t>）的上下文中，只要会话还存在，系统就保证“读己之所写”一致性。如果由于某些失败情形令会话终止，就要建立新的会话，而且系统保证不会延续到新的会话</a:t>
            </a:r>
            <a:endParaRPr lang="en-US" altLang="zh-CN" sz="2400"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6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96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09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2"/>
          <p:cNvSpPr>
            <a:spLocks noGrp="1"/>
          </p:cNvSpPr>
          <p:nvPr>
            <p:ph type="title"/>
          </p:nvPr>
        </p:nvSpPr>
        <p:spPr/>
        <p:txBody>
          <a:bodyPr vert="horz" wrap="square" lIns="91440" tIns="45720" rIns="91440" bIns="45720" anchor="ctr" anchorCtr="0"/>
          <a:lstStyle/>
          <a:p>
            <a:r>
              <a:rPr lang="zh-CN" altLang="en-US" b="1" dirty="0"/>
              <a:t>一致性实现</a:t>
            </a:r>
            <a:endParaRPr lang="zh-CN" altLang="en-US" b="1" dirty="0"/>
          </a:p>
        </p:txBody>
      </p:sp>
      <p:sp>
        <p:nvSpPr>
          <p:cNvPr id="43011" name="矩形 3"/>
          <p:cNvSpPr/>
          <p:nvPr/>
        </p:nvSpPr>
        <p:spPr>
          <a:xfrm>
            <a:off x="1929130" y="1460500"/>
            <a:ext cx="8609965" cy="2233295"/>
          </a:xfrm>
          <a:prstGeom prst="rect">
            <a:avLst/>
          </a:prstGeom>
          <a:noFill/>
          <a:ln w="9525">
            <a:noFill/>
          </a:ln>
        </p:spPr>
        <p:txBody>
          <a:bodyPr>
            <a:noAutofit/>
          </a:bodyPr>
          <a:lstStyle/>
          <a:p>
            <a:r>
              <a:rPr lang="zh-CN" altLang="en-US" sz="2800" dirty="0">
                <a:latin typeface="Arial" panose="020B0604020202020204" pitchFamily="34" charset="0"/>
              </a:rPr>
              <a:t>对于分布式数据系统：</a:t>
            </a:r>
            <a:endParaRPr lang="zh-CN" altLang="en-US" sz="2800" dirty="0">
              <a:latin typeface="Arial" panose="020B0604020202020204" pitchFamily="34" charset="0"/>
            </a:endParaRPr>
          </a:p>
          <a:p>
            <a:endParaRPr lang="zh-CN" altLang="en-US" sz="2800" dirty="0">
              <a:latin typeface="Arial" panose="020B0604020202020204" pitchFamily="34" charset="0"/>
            </a:endParaRPr>
          </a:p>
          <a:p>
            <a:pPr>
              <a:buFont typeface="Arial" panose="020B0604020202020204" pitchFamily="34" charset="0"/>
              <a:buChar char="•"/>
            </a:pPr>
            <a:r>
              <a:rPr lang="en-US" altLang="zh-CN" sz="2800" dirty="0">
                <a:latin typeface="Arial" panose="020B0604020202020204" pitchFamily="34" charset="0"/>
              </a:rPr>
              <a:t>N  — </a:t>
            </a:r>
            <a:r>
              <a:rPr lang="zh-CN" altLang="en-US" sz="2800" dirty="0">
                <a:latin typeface="Arial" panose="020B0604020202020204" pitchFamily="34" charset="0"/>
              </a:rPr>
              <a:t>数据复制的份数</a:t>
            </a:r>
            <a:endParaRPr lang="zh-CN" altLang="en-US" sz="2800" dirty="0">
              <a:latin typeface="Arial" panose="020B0604020202020204" pitchFamily="34" charset="0"/>
            </a:endParaRPr>
          </a:p>
          <a:p>
            <a:pPr>
              <a:buFont typeface="Arial" panose="020B0604020202020204" pitchFamily="34" charset="0"/>
              <a:buChar char="•"/>
            </a:pPr>
            <a:r>
              <a:rPr lang="en-US" altLang="zh-CN" sz="2800" dirty="0">
                <a:latin typeface="Arial" panose="020B0604020202020204" pitchFamily="34" charset="0"/>
              </a:rPr>
              <a:t>W — </a:t>
            </a:r>
            <a:r>
              <a:rPr lang="zh-CN" altLang="en-US" sz="2800" dirty="0">
                <a:latin typeface="Arial" panose="020B0604020202020204" pitchFamily="34" charset="0"/>
              </a:rPr>
              <a:t>更新数据时需要保证写完成的节点数</a:t>
            </a:r>
            <a:endParaRPr lang="zh-CN" altLang="en-US" sz="2800" dirty="0">
              <a:latin typeface="Arial" panose="020B0604020202020204" pitchFamily="34" charset="0"/>
            </a:endParaRPr>
          </a:p>
          <a:p>
            <a:pPr>
              <a:buFont typeface="Arial" panose="020B0604020202020204" pitchFamily="34" charset="0"/>
              <a:buChar char="•"/>
            </a:pPr>
            <a:r>
              <a:rPr lang="en-US" altLang="zh-CN" sz="2800" dirty="0">
                <a:latin typeface="Arial" panose="020B0604020202020204" pitchFamily="34" charset="0"/>
              </a:rPr>
              <a:t>R  — </a:t>
            </a:r>
            <a:r>
              <a:rPr lang="zh-CN" altLang="en-US" sz="2800" dirty="0">
                <a:latin typeface="Arial" panose="020B0604020202020204" pitchFamily="34" charset="0"/>
              </a:rPr>
              <a:t>读取数据时需要读取的节点数</a:t>
            </a:r>
            <a:endParaRPr lang="zh-CN" altLang="en-US" sz="2800" dirty="0">
              <a:latin typeface="Arial" panose="020B0604020202020204" pitchFamily="34" charset="0"/>
            </a:endParaRPr>
          </a:p>
        </p:txBody>
      </p:sp>
      <p:sp>
        <p:nvSpPr>
          <p:cNvPr id="2" name="文本框 1"/>
          <p:cNvSpPr txBox="1"/>
          <p:nvPr/>
        </p:nvSpPr>
        <p:spPr>
          <a:xfrm>
            <a:off x="3081020" y="5514975"/>
            <a:ext cx="4694555" cy="521970"/>
          </a:xfrm>
          <a:prstGeom prst="rect">
            <a:avLst/>
          </a:prstGeom>
          <a:noFill/>
        </p:spPr>
        <p:txBody>
          <a:bodyPr wrap="square" rtlCol="0" anchor="t">
            <a:spAutoFit/>
          </a:bodyPr>
          <a:p>
            <a:r>
              <a:rPr lang="en-US" altLang="zh-CN" sz="2800" dirty="0">
                <a:latin typeface="Arial" panose="020B0604020202020204" pitchFamily="34" charset="0"/>
                <a:sym typeface="+mn-ea"/>
              </a:rPr>
              <a:t>HBase, HDFS: W</a:t>
            </a:r>
            <a:r>
              <a:rPr lang="zh-CN" altLang="en-US" sz="2800" dirty="0">
                <a:latin typeface="Arial" panose="020B0604020202020204" pitchFamily="34" charset="0"/>
                <a:sym typeface="+mn-ea"/>
              </a:rPr>
              <a:t>＝</a:t>
            </a:r>
            <a:r>
              <a:rPr lang="en-US" altLang="zh-CN" sz="2800" dirty="0">
                <a:latin typeface="Arial" panose="020B0604020202020204" pitchFamily="34" charset="0"/>
                <a:sym typeface="+mn-ea"/>
              </a:rPr>
              <a:t>N</a:t>
            </a:r>
            <a:r>
              <a:rPr lang="zh-CN" altLang="en-US" sz="2800" dirty="0">
                <a:latin typeface="Arial" panose="020B0604020202020204" pitchFamily="34" charset="0"/>
                <a:sym typeface="+mn-ea"/>
              </a:rPr>
              <a:t>，</a:t>
            </a:r>
            <a:r>
              <a:rPr lang="en-US" altLang="zh-CN" sz="2800" dirty="0">
                <a:latin typeface="Arial" panose="020B0604020202020204" pitchFamily="34" charset="0"/>
                <a:sym typeface="+mn-ea"/>
              </a:rPr>
              <a:t>R=1</a:t>
            </a:r>
            <a:endParaRPr lang="en-US" altLang="zh-CN" sz="2800" dirty="0">
              <a:latin typeface="Arial" panose="020B0604020202020204" pitchFamily="34" charset="0"/>
              <a:sym typeface="+mn-ea"/>
            </a:endParaRPr>
          </a:p>
        </p:txBody>
      </p:sp>
      <p:sp>
        <p:nvSpPr>
          <p:cNvPr id="3" name="文本框 2"/>
          <p:cNvSpPr txBox="1"/>
          <p:nvPr/>
        </p:nvSpPr>
        <p:spPr>
          <a:xfrm>
            <a:off x="5972175" y="4343400"/>
            <a:ext cx="3689350" cy="52197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nchor="t">
            <a:spAutoFit/>
          </a:bodyPr>
          <a:p>
            <a:r>
              <a:rPr lang="en-US" altLang="zh-CN" sz="2800" dirty="0">
                <a:latin typeface="Arial" panose="020B0604020202020204" pitchFamily="34" charset="0"/>
                <a:sym typeface="+mn-ea"/>
              </a:rPr>
              <a:t>N-W &lt; R</a:t>
            </a:r>
            <a:r>
              <a:rPr lang="zh-CN" altLang="en-US" sz="2800" dirty="0">
                <a:latin typeface="Arial" panose="020B0604020202020204" pitchFamily="34" charset="0"/>
                <a:sym typeface="+mn-ea"/>
              </a:rPr>
              <a:t>，强一致性</a:t>
            </a:r>
            <a:endParaRPr lang="zh-CN" altLang="en-US" sz="2800" dirty="0">
              <a:latin typeface="Arial" panose="020B0604020202020204" pitchFamily="34" charset="0"/>
              <a:sym typeface="+mn-ea"/>
            </a:endParaRPr>
          </a:p>
        </p:txBody>
      </p:sp>
      <p:sp>
        <p:nvSpPr>
          <p:cNvPr id="4" name="文本框 3"/>
          <p:cNvSpPr txBox="1"/>
          <p:nvPr/>
        </p:nvSpPr>
        <p:spPr>
          <a:xfrm>
            <a:off x="1668145" y="4343400"/>
            <a:ext cx="2797175" cy="52197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nchor="t">
            <a:spAutoFit/>
          </a:bodyPr>
          <a:p>
            <a:r>
              <a:rPr lang="en-US" altLang="zh-CN" sz="2800" dirty="0">
                <a:latin typeface="Arial" panose="020B0604020202020204" pitchFamily="34" charset="0"/>
                <a:sym typeface="+mn-ea"/>
              </a:rPr>
              <a:t>W</a:t>
            </a:r>
            <a:r>
              <a:rPr lang="zh-CN" altLang="en-US" sz="2800" dirty="0">
                <a:latin typeface="Arial" panose="020B0604020202020204" pitchFamily="34" charset="0"/>
                <a:sym typeface="+mn-ea"/>
              </a:rPr>
              <a:t>大，低可用性</a:t>
            </a:r>
            <a:endParaRPr lang="zh-CN" altLang="en-US" sz="2800" dirty="0">
              <a:latin typeface="Arial" panose="020B0604020202020204" pitchFamily="3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p:bldP spid="3" grpId="0" bldLvl="0" animBg="1"/>
      <p:bldP spid="3" grpId="1"/>
      <p:bldP spid="2" grpId="0"/>
      <p:bldP spid="2" grpId="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2"/>
          <p:cNvSpPr>
            <a:spLocks noGrp="1"/>
          </p:cNvSpPr>
          <p:nvPr>
            <p:ph type="title"/>
          </p:nvPr>
        </p:nvSpPr>
        <p:spPr/>
        <p:txBody>
          <a:bodyPr vert="horz" wrap="square" lIns="91440" tIns="45720" rIns="91440" bIns="45720" anchor="ctr" anchorCtr="0"/>
          <a:lstStyle/>
          <a:p>
            <a:r>
              <a:rPr lang="en-US" altLang="zh-CN" b="1" dirty="0"/>
              <a:t>5.6  </a:t>
            </a:r>
            <a:r>
              <a:rPr lang="zh-CN" altLang="en-US" b="1" dirty="0"/>
              <a:t>从</a:t>
            </a:r>
            <a:r>
              <a:rPr lang="en-US" altLang="zh-CN" b="1" dirty="0"/>
              <a:t>NoSQL</a:t>
            </a:r>
            <a:r>
              <a:rPr lang="zh-CN" altLang="en-US" b="1" dirty="0"/>
              <a:t>到</a:t>
            </a:r>
            <a:r>
              <a:rPr lang="en-US" altLang="zh-CN" b="1" dirty="0"/>
              <a:t>NewSQL</a:t>
            </a:r>
            <a:r>
              <a:rPr lang="zh-CN" altLang="en-US" b="1" dirty="0"/>
              <a:t>数据库</a:t>
            </a:r>
            <a:endParaRPr lang="zh-CN" altLang="en-US" b="1" dirty="0"/>
          </a:p>
        </p:txBody>
      </p:sp>
      <p:pic>
        <p:nvPicPr>
          <p:cNvPr id="45059" name="Picture 5"/>
          <p:cNvPicPr>
            <a:picLocks noChangeAspect="1"/>
          </p:cNvPicPr>
          <p:nvPr/>
        </p:nvPicPr>
        <p:blipFill>
          <a:blip r:embed="rId1"/>
          <a:stretch>
            <a:fillRect/>
          </a:stretch>
        </p:blipFill>
        <p:spPr>
          <a:xfrm>
            <a:off x="929640" y="1752600"/>
            <a:ext cx="10333355" cy="4118610"/>
          </a:xfrm>
          <a:prstGeom prst="rect">
            <a:avLst/>
          </a:prstGeom>
          <a:noFill/>
          <a:ln w="9525">
            <a:noFill/>
          </a:ln>
        </p:spPr>
      </p:pic>
      <p:sp>
        <p:nvSpPr>
          <p:cNvPr id="45060" name="Rectangle 6"/>
          <p:cNvSpPr/>
          <p:nvPr/>
        </p:nvSpPr>
        <p:spPr>
          <a:xfrm>
            <a:off x="3420745" y="6124734"/>
            <a:ext cx="5038725" cy="460375"/>
          </a:xfrm>
          <a:prstGeom prst="rect">
            <a:avLst/>
          </a:prstGeom>
          <a:noFill/>
          <a:ln w="9525">
            <a:noFill/>
          </a:ln>
        </p:spPr>
        <p:txBody>
          <a:bodyPr wrap="none" anchor="ctr" anchorCtr="0">
            <a:spAutoFit/>
          </a:bodyPr>
          <a:lstStyle/>
          <a:p>
            <a:r>
              <a:rPr lang="zh-CN" altLang="en-US" sz="2400" dirty="0">
                <a:latin typeface="Arial" panose="020B0604020202020204" pitchFamily="34" charset="0"/>
              </a:rPr>
              <a:t>图</a:t>
            </a:r>
            <a:r>
              <a:rPr lang="en-US" altLang="zh-CN" sz="2400" dirty="0">
                <a:latin typeface="Arial" panose="020B0604020202020204" pitchFamily="34" charset="0"/>
              </a:rPr>
              <a:t>5-6 </a:t>
            </a:r>
            <a:r>
              <a:rPr lang="zh-CN" altLang="en-US" sz="2400" dirty="0">
                <a:latin typeface="Arial" panose="020B0604020202020204" pitchFamily="34" charset="0"/>
              </a:rPr>
              <a:t>大数据引发数据处理架构变革</a:t>
            </a:r>
            <a:r>
              <a:rPr lang="zh-CN" altLang="en-US" dirty="0">
                <a:latin typeface="Arial" panose="020B0604020202020204" pitchFamily="34" charset="0"/>
              </a:rPr>
              <a:t> </a:t>
            </a:r>
            <a:endParaRPr lang="zh-CN" altLang="en-US" dirty="0">
              <a:latin typeface="Arial" panose="020B0604020202020204"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2"/>
          <p:cNvSpPr>
            <a:spLocks noGrp="1"/>
          </p:cNvSpPr>
          <p:nvPr>
            <p:ph type="title"/>
          </p:nvPr>
        </p:nvSpPr>
        <p:spPr/>
        <p:txBody>
          <a:bodyPr vert="horz" wrap="square" lIns="91440" tIns="45720" rIns="91440" bIns="45720" anchor="ctr" anchorCtr="0"/>
          <a:lstStyle/>
          <a:p>
            <a:r>
              <a:rPr lang="en-US" altLang="zh-CN" b="1" dirty="0"/>
              <a:t>5.6  </a:t>
            </a:r>
            <a:r>
              <a:rPr lang="zh-CN" altLang="en-US" b="1" dirty="0"/>
              <a:t>从</a:t>
            </a:r>
            <a:r>
              <a:rPr lang="en-US" altLang="zh-CN" b="1" dirty="0"/>
              <a:t>NoSQL</a:t>
            </a:r>
            <a:r>
              <a:rPr lang="zh-CN" altLang="en-US" b="1" dirty="0"/>
              <a:t>到</a:t>
            </a:r>
            <a:r>
              <a:rPr lang="en-US" altLang="zh-CN" b="1" dirty="0"/>
              <a:t>NewSQL</a:t>
            </a:r>
            <a:r>
              <a:rPr lang="zh-CN" altLang="en-US" b="1" dirty="0"/>
              <a:t>数据库</a:t>
            </a:r>
            <a:endParaRPr lang="zh-CN" altLang="en-US" b="1" dirty="0"/>
          </a:p>
        </p:txBody>
      </p:sp>
      <p:pic>
        <p:nvPicPr>
          <p:cNvPr id="46083" name="Picture 5"/>
          <p:cNvPicPr>
            <a:picLocks noChangeAspect="1"/>
          </p:cNvPicPr>
          <p:nvPr/>
        </p:nvPicPr>
        <p:blipFill>
          <a:blip r:embed="rId1"/>
          <a:stretch>
            <a:fillRect/>
          </a:stretch>
        </p:blipFill>
        <p:spPr>
          <a:xfrm>
            <a:off x="2523490" y="1349375"/>
            <a:ext cx="7315200" cy="4943475"/>
          </a:xfrm>
          <a:prstGeom prst="rect">
            <a:avLst/>
          </a:prstGeom>
          <a:noFill/>
          <a:ln w="9525">
            <a:noFill/>
          </a:ln>
        </p:spPr>
      </p:pic>
      <p:sp>
        <p:nvSpPr>
          <p:cNvPr id="46084" name="Rectangle 6"/>
          <p:cNvSpPr/>
          <p:nvPr/>
        </p:nvSpPr>
        <p:spPr>
          <a:xfrm>
            <a:off x="2411730" y="6246654"/>
            <a:ext cx="7888605" cy="460375"/>
          </a:xfrm>
          <a:prstGeom prst="rect">
            <a:avLst/>
          </a:prstGeom>
          <a:noFill/>
          <a:ln w="9525">
            <a:noFill/>
          </a:ln>
        </p:spPr>
        <p:txBody>
          <a:bodyPr wrap="none" anchor="ctr" anchorCtr="0">
            <a:spAutoFit/>
          </a:bodyPr>
          <a:lstStyle/>
          <a:p>
            <a:r>
              <a:rPr lang="zh-CN" altLang="en-US" sz="2400" dirty="0">
                <a:latin typeface="Arial" panose="020B0604020202020204" pitchFamily="34" charset="0"/>
              </a:rPr>
              <a:t>图</a:t>
            </a:r>
            <a:r>
              <a:rPr lang="en-US" altLang="zh-CN" sz="2400" dirty="0">
                <a:latin typeface="Arial" panose="020B0604020202020204" pitchFamily="34" charset="0"/>
              </a:rPr>
              <a:t>5-7 </a:t>
            </a:r>
            <a:r>
              <a:rPr lang="zh-CN" altLang="en-US" sz="2400" dirty="0">
                <a:latin typeface="Arial" panose="020B0604020202020204" pitchFamily="34" charset="0"/>
              </a:rPr>
              <a:t>关系数据库、</a:t>
            </a:r>
            <a:r>
              <a:rPr lang="en-US" altLang="zh-CN" sz="2400" dirty="0">
                <a:latin typeface="Arial" panose="020B0604020202020204" pitchFamily="34" charset="0"/>
              </a:rPr>
              <a:t>NoSQL</a:t>
            </a:r>
            <a:r>
              <a:rPr lang="zh-CN" altLang="en-US" sz="2400" dirty="0">
                <a:latin typeface="Arial" panose="020B0604020202020204" pitchFamily="34" charset="0"/>
              </a:rPr>
              <a:t>和</a:t>
            </a:r>
            <a:r>
              <a:rPr lang="en-US" altLang="zh-CN" sz="2400" dirty="0">
                <a:latin typeface="Arial" panose="020B0604020202020204" pitchFamily="34" charset="0"/>
              </a:rPr>
              <a:t>NewSQL</a:t>
            </a:r>
            <a:r>
              <a:rPr lang="zh-CN" altLang="en-US" sz="2400" dirty="0">
                <a:latin typeface="Arial" panose="020B0604020202020204" pitchFamily="34" charset="0"/>
              </a:rPr>
              <a:t>数据库产品分类图 </a:t>
            </a:r>
            <a:endParaRPr lang="zh-CN" altLang="en-US" sz="2400" dirty="0">
              <a:latin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p:cNvSpPr>
          <p:nvPr>
            <p:ph type="title"/>
          </p:nvPr>
        </p:nvSpPr>
        <p:spPr/>
        <p:txBody>
          <a:bodyPr vert="horz" wrap="square" lIns="91440" tIns="45720" rIns="91440" bIns="45720" anchor="ctr" anchorCtr="0"/>
          <a:lstStyle/>
          <a:p>
            <a:r>
              <a:rPr lang="zh-CN" altLang="en-US" b="1" dirty="0"/>
              <a:t>本章小结</a:t>
            </a:r>
            <a:endParaRPr lang="zh-CN" altLang="en-US" b="1" dirty="0"/>
          </a:p>
        </p:txBody>
      </p:sp>
      <p:sp>
        <p:nvSpPr>
          <p:cNvPr id="70659" name="Rectangle 3"/>
          <p:cNvSpPr>
            <a:spLocks noGrp="1"/>
          </p:cNvSpPr>
          <p:nvPr>
            <p:ph idx="4294967295"/>
          </p:nvPr>
        </p:nvSpPr>
        <p:spPr>
          <a:xfrm>
            <a:off x="774065" y="1815465"/>
            <a:ext cx="10210165" cy="4525645"/>
          </a:xfrm>
        </p:spPr>
        <p:txBody>
          <a:bodyPr vert="horz" wrap="square" lIns="91440" tIns="45720" rIns="91440" bIns="45720" anchor="t" anchorCtr="0">
            <a:normAutofit fontScale="90000" lnSpcReduction="10000"/>
          </a:bodyPr>
          <a:lstStyle/>
          <a:p>
            <a:pPr marL="0" indent="0">
              <a:lnSpc>
                <a:spcPct val="150000"/>
              </a:lnSpc>
            </a:pPr>
            <a:r>
              <a:rPr lang="en-US" altLang="zh-CN" sz="2400" dirty="0"/>
              <a:t>NoSQL</a:t>
            </a:r>
            <a:r>
              <a:rPr lang="zh-CN" altLang="en-US" sz="2400" dirty="0"/>
              <a:t>数据库较好地满足了大数据时代的各种非结构化数据的存储需求，开始得到越来越广泛的应用。</a:t>
            </a:r>
            <a:endParaRPr lang="zh-CN" altLang="en-US" sz="2400" dirty="0"/>
          </a:p>
          <a:p>
            <a:pPr marL="0" indent="0">
              <a:lnSpc>
                <a:spcPct val="150000"/>
              </a:lnSpc>
            </a:pPr>
            <a:r>
              <a:rPr lang="zh-CN" altLang="en-US" sz="2400" dirty="0"/>
              <a:t>传统的关系数据库和</a:t>
            </a:r>
            <a:r>
              <a:rPr lang="en-US" altLang="zh-CN" sz="2400" dirty="0"/>
              <a:t>NoSQL</a:t>
            </a:r>
            <a:r>
              <a:rPr lang="zh-CN" altLang="en-US" sz="2400" dirty="0"/>
              <a:t>数据库各有所长，彼此都有各自的市场空间，以满足不同应用的差异化需求</a:t>
            </a:r>
            <a:endParaRPr lang="zh-CN" altLang="en-US" sz="2400" dirty="0"/>
          </a:p>
          <a:p>
            <a:pPr marL="0" indent="0">
              <a:lnSpc>
                <a:spcPct val="150000"/>
              </a:lnSpc>
            </a:pPr>
            <a:r>
              <a:rPr lang="en-US" altLang="zh-CN" sz="2400" dirty="0"/>
              <a:t>NoSQL</a:t>
            </a:r>
            <a:r>
              <a:rPr lang="zh-CN" altLang="en-US" sz="2400" dirty="0"/>
              <a:t>数据库主要包括</a:t>
            </a:r>
            <a:r>
              <a:rPr lang="zh-CN" altLang="en-US" sz="2400" dirty="0">
                <a:highlight>
                  <a:srgbClr val="FFFF00"/>
                </a:highlight>
              </a:rPr>
              <a:t>键值数据库、列族数据库、文档型数据库和图形数据库等四种类型</a:t>
            </a:r>
            <a:r>
              <a:rPr lang="zh-CN" altLang="en-US" sz="2400" dirty="0"/>
              <a:t>，不同产品都有各自的应用场合。</a:t>
            </a:r>
            <a:endParaRPr lang="zh-CN" altLang="en-US" sz="2400" dirty="0"/>
          </a:p>
          <a:p>
            <a:pPr marL="0" indent="0">
              <a:lnSpc>
                <a:spcPct val="150000"/>
              </a:lnSpc>
            </a:pPr>
            <a:r>
              <a:rPr lang="en-US" altLang="zh-CN" sz="2400" dirty="0">
                <a:highlight>
                  <a:srgbClr val="FFFF00"/>
                </a:highlight>
              </a:rPr>
              <a:t>CAP</a:t>
            </a:r>
            <a:r>
              <a:rPr lang="zh-CN" altLang="en-US" sz="2400" dirty="0">
                <a:highlight>
                  <a:srgbClr val="FFFF00"/>
                </a:highlight>
              </a:rPr>
              <a:t>、</a:t>
            </a:r>
            <a:r>
              <a:rPr lang="en-US" altLang="zh-CN" sz="2400" dirty="0">
                <a:highlight>
                  <a:srgbClr val="FFFF00"/>
                </a:highlight>
              </a:rPr>
              <a:t>BASE</a:t>
            </a:r>
            <a:r>
              <a:rPr lang="zh-CN" altLang="en-US" sz="2400" dirty="0">
                <a:highlight>
                  <a:srgbClr val="FFFF00"/>
                </a:highlight>
              </a:rPr>
              <a:t>和最终一致性是</a:t>
            </a:r>
            <a:r>
              <a:rPr lang="en-US" altLang="zh-CN" sz="2400" dirty="0">
                <a:highlight>
                  <a:srgbClr val="FFFF00"/>
                </a:highlight>
              </a:rPr>
              <a:t>NoSQL</a:t>
            </a:r>
            <a:r>
              <a:rPr lang="zh-CN" altLang="en-US" sz="2400" dirty="0">
                <a:highlight>
                  <a:srgbClr val="FFFF00"/>
                </a:highlight>
              </a:rPr>
              <a:t>数据库的三大理论基石</a:t>
            </a:r>
            <a:endParaRPr lang="zh-CN" altLang="en-US" sz="2400" dirty="0">
              <a:highlight>
                <a:srgbClr val="FFFF00"/>
              </a:highlight>
            </a:endParaRPr>
          </a:p>
          <a:p>
            <a:pPr marL="0" indent="0">
              <a:lnSpc>
                <a:spcPct val="150000"/>
              </a:lnSpc>
            </a:pPr>
            <a:r>
              <a:rPr lang="zh-CN" altLang="en-US" sz="2400" dirty="0"/>
              <a:t>介绍了融合传统关系数据库和</a:t>
            </a:r>
            <a:r>
              <a:rPr lang="en-US" altLang="zh-CN" sz="2400" dirty="0"/>
              <a:t>NoSQL</a:t>
            </a:r>
            <a:r>
              <a:rPr lang="zh-CN" altLang="en-US" sz="2400" dirty="0"/>
              <a:t>优点的</a:t>
            </a:r>
            <a:r>
              <a:rPr lang="en-US" altLang="zh-CN" sz="2400" dirty="0"/>
              <a:t>NewSQL</a:t>
            </a:r>
            <a:r>
              <a:rPr lang="zh-CN" altLang="en-US" sz="2400" dirty="0"/>
              <a:t>数据库</a:t>
            </a:r>
            <a:endParaRPr lang="zh-CN" altLang="en-US" sz="240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UNIT_TABLE_BEAUTIFY" val="smartTable{c0374a93-9f95-4c14-a62e-1fe8d56002ea}"/>
  <p:tag name="TABLE_ENDDRAG_ORIGIN_RECT" val="277*266"/>
  <p:tag name="TABLE_ENDDRAG_RECT" val="23*154*277*266"/>
</p:tagLst>
</file>

<file path=ppt/tags/tag3.xml><?xml version="1.0" encoding="utf-8"?>
<p:tagLst xmlns:p="http://schemas.openxmlformats.org/presentationml/2006/main">
  <p:tag name="KSO_WPP_MARK_KEY" val="355b170e-25a3-4f45-bfbf-9df466d2e936"/>
  <p:tag name="COMMONDATA" val="eyJoZGlkIjoiOTRkNmFmZjRjMzI3MTQ3ZWFlYjhlZWM3YzFkOWNmNTMifQ=="/>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4626</Words>
  <Application>WPS 演示</Application>
  <PresentationFormat>宽屏</PresentationFormat>
  <Paragraphs>412</Paragraphs>
  <Slides>37</Slides>
  <Notes>0</Notes>
  <HiddenSlides>2</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37</vt:i4>
      </vt:variant>
    </vt:vector>
  </HeadingPairs>
  <TitlesOfParts>
    <vt:vector size="54" baseType="lpstr">
      <vt:lpstr>Arial</vt:lpstr>
      <vt:lpstr>宋体</vt:lpstr>
      <vt:lpstr>Wingdings</vt:lpstr>
      <vt:lpstr>黑体</vt:lpstr>
      <vt:lpstr>等线 Light</vt:lpstr>
      <vt:lpstr>微软雅黑</vt:lpstr>
      <vt:lpstr>Arial Unicode MS</vt:lpstr>
      <vt:lpstr>等线</vt:lpstr>
      <vt:lpstr>Calibri</vt:lpstr>
      <vt:lpstr>Times New Roman</vt:lpstr>
      <vt:lpstr>Arial Unicode MS</vt:lpstr>
      <vt:lpstr>-apple-system</vt:lpstr>
      <vt:lpstr>Segoe Print</vt:lpstr>
      <vt:lpstr>-apple-system</vt:lpstr>
      <vt:lpstr>Wingdings</vt:lpstr>
      <vt:lpstr>Be Happy</vt:lpstr>
      <vt:lpstr>1_Office 主题​​</vt:lpstr>
      <vt:lpstr>第5章 NoSQL数据库</vt:lpstr>
      <vt:lpstr>数据库事务具有ACID四性</vt:lpstr>
      <vt:lpstr>MySQL集群？</vt:lpstr>
      <vt:lpstr>PowerPoint 演示文稿</vt:lpstr>
      <vt:lpstr>5.1  NoSQL简介</vt:lpstr>
      <vt:lpstr>5.1  NoSQL简介</vt:lpstr>
      <vt:lpstr>5.2  NoSQL兴起的原因</vt:lpstr>
      <vt:lpstr>5.2  NoSQL兴起的原因</vt:lpstr>
      <vt:lpstr>5.3  NoSQL与关系数据库的比较</vt:lpstr>
      <vt:lpstr>5.3  NoSQL与关系数据库的比较</vt:lpstr>
      <vt:lpstr>5.3  NoSQL与关系数据库的比较</vt:lpstr>
      <vt:lpstr>5.4  NoSQL的四大类型</vt:lpstr>
      <vt:lpstr>5.4  NoSQL的四大类型</vt:lpstr>
      <vt:lpstr>5.4.1  键值数据库</vt:lpstr>
      <vt:lpstr>5.4.1  键值数据库</vt:lpstr>
      <vt:lpstr>5.4.2 列族数据库</vt:lpstr>
      <vt:lpstr>5.4.2 列族数据库</vt:lpstr>
      <vt:lpstr>5.4.3  文档数据库</vt:lpstr>
      <vt:lpstr>5.4.3  文档数据库</vt:lpstr>
      <vt:lpstr>5.4.3  文档数据库</vt:lpstr>
      <vt:lpstr>5.4.4  图数据库</vt:lpstr>
      <vt:lpstr>5.4.4  图数据库</vt:lpstr>
      <vt:lpstr>5.4.4  图数据库</vt:lpstr>
      <vt:lpstr>不同类型数据库比较分析</vt:lpstr>
      <vt:lpstr>5.5  NoSQL的三大基石</vt:lpstr>
      <vt:lpstr>5.5.1  CAP</vt:lpstr>
      <vt:lpstr>5.5.1  CAP</vt:lpstr>
      <vt:lpstr>5.5.1  CAP</vt:lpstr>
      <vt:lpstr>5.5.1  CAP</vt:lpstr>
      <vt:lpstr>5.5.1  CAP</vt:lpstr>
      <vt:lpstr>5.5.1  CAP</vt:lpstr>
      <vt:lpstr>5.5.2  BASE</vt:lpstr>
      <vt:lpstr>5.5.3  最终一致性</vt:lpstr>
      <vt:lpstr>一致性实现</vt:lpstr>
      <vt:lpstr>5.6  从NoSQL到NewSQL数据库</vt:lpstr>
      <vt:lpstr>5.6  从NoSQL到NewSQL数据库</vt:lpstr>
      <vt:lpstr>本章小结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NoSQL数据库</dc:title>
  <dc:creator/>
  <cp:lastModifiedBy>大洋儿</cp:lastModifiedBy>
  <cp:revision>227</cp:revision>
  <dcterms:created xsi:type="dcterms:W3CDTF">2019-06-19T02:08:00Z</dcterms:created>
  <dcterms:modified xsi:type="dcterms:W3CDTF">2026-03-23T15:06:23Z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A65B97DBF9D24D3D9D9063201827A5A6</vt:lpwstr>
  </property>
</Properties>
</file>